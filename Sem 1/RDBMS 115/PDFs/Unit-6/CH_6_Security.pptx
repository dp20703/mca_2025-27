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Roboto Condensed"/>
      <p:regular r:id="rId25"/>
      <p:bold r:id="rId26"/>
      <p:italic r:id="rId27"/>
      <p:boldItalic r:id="rId28"/>
    </p:embeddedFont>
    <p:embeddedFont>
      <p:font typeface="Roboto Condensed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g5JmXABgKVqvk3kR/NTMembscf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E5D796-A4FE-4217-AEF4-1E59EF0B0B01}">
  <a:tblStyle styleId="{FBE5D796-A4FE-4217-AEF4-1E59EF0B0B01}" styleName="Table_0">
    <a:wholeTbl>
      <a:tcTxStyle b="off" i="off">
        <a:font>
          <a:latin typeface="Roboto Condensed"/>
          <a:ea typeface="Roboto Condensed"/>
          <a:cs typeface="Roboto Condensed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7E7E7"/>
          </a:solidFill>
        </a:fill>
      </a:tcStyle>
    </a:band1H>
    <a:band2H>
      <a:tcTxStyle/>
    </a:band2H>
    <a:band1V>
      <a:tcTxStyle/>
      <a:tcStyle>
        <a:fill>
          <a:solidFill>
            <a:srgbClr val="E7E7E7"/>
          </a:solidFill>
        </a:fill>
      </a:tcStyle>
    </a:band1V>
    <a:band2V>
      <a:tcTxStyle/>
    </a:band2V>
    <a:lastCol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Roboto Condensed"/>
          <a:ea typeface="Roboto Condensed"/>
          <a:cs typeface="Roboto Condensed"/>
        </a:font>
        <a:schemeClr val="dk1"/>
      </a:tcTxStyle>
    </a:seCell>
    <a:swCell>
      <a:tcTxStyle b="on" i="off">
        <a:font>
          <a:latin typeface="Roboto Condensed"/>
          <a:ea typeface="Roboto Condensed"/>
          <a:cs typeface="Roboto Condensed"/>
        </a:font>
        <a:schemeClr val="dk1"/>
      </a:tcTxStyle>
    </a:swCell>
    <a:firstRow>
      <a:tcTxStyle b="on" i="off">
        <a:font>
          <a:latin typeface="Roboto Condensed"/>
          <a:ea typeface="Roboto Condensed"/>
          <a:cs typeface="Roboto Condensed"/>
        </a:font>
        <a:schemeClr val="lt1"/>
      </a:tcTxStyle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Condensed-bold.fntdata"/><Relationship Id="rId25" Type="http://schemas.openxmlformats.org/officeDocument/2006/relationships/font" Target="fonts/RobotoCondensed-regular.fntdata"/><Relationship Id="rId28" Type="http://schemas.openxmlformats.org/officeDocument/2006/relationships/font" Target="fonts/RobotoCondensed-boldItalic.fntdata"/><Relationship Id="rId27" Type="http://schemas.openxmlformats.org/officeDocument/2006/relationships/font" Target="fonts/RobotoCondense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Condensed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CondensedLight-italic.fntdata"/><Relationship Id="rId30" Type="http://schemas.openxmlformats.org/officeDocument/2006/relationships/font" Target="fonts/RobotoCondensedLight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RobotoCondensedLigh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10" Type="http://schemas.openxmlformats.org/officeDocument/2006/relationships/image" Target="../media/image13.png"/><Relationship Id="rId9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10" Type="http://schemas.openxmlformats.org/officeDocument/2006/relationships/image" Target="../media/image13.png"/><Relationship Id="rId9" Type="http://schemas.openxmlformats.org/officeDocument/2006/relationships/image" Target="../media/image25.jp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Maroon">
  <p:cSld name="Title Slide - Maroon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cdn5.vectorstock.com/i/1000x1000/21/59/dbms-database-management-system-computer-data-vector-8212159.jpg" id="16" name="Google Shape;16;p28"/>
          <p:cNvPicPr preferRelativeResize="0"/>
          <p:nvPr/>
        </p:nvPicPr>
        <p:blipFill rotWithShape="1">
          <a:blip r:embed="rId2">
            <a:alphaModFix/>
          </a:blip>
          <a:srcRect b="18089" l="6294" r="5315" t="9689"/>
          <a:stretch/>
        </p:blipFill>
        <p:spPr>
          <a:xfrm>
            <a:off x="8407803" y="2089594"/>
            <a:ext cx="2880000" cy="2678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8"/>
          <p:cNvPicPr preferRelativeResize="0"/>
          <p:nvPr/>
        </p:nvPicPr>
        <p:blipFill rotWithShape="1">
          <a:blip r:embed="rId3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8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9" name="Google Shape;19;p28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0" name="Google Shape;20;p28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1" name="Google Shape;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" name="Google Shape;22;p28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" name="Google Shape;23;p28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4" name="Google Shape;2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8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1800"/>
              <a:buNone/>
              <a:defRPr b="1" sz="1800">
                <a:solidFill>
                  <a:srgbClr val="5C232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0" name="Google Shape;3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8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8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33" name="Google Shape;33;p28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" name="Google Shape;34;p28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descr="https://cdn5.vectorstock.com/i/1000x1000/21/59/dbms-database-management-system-computer-data-vector-8212159.jpg" id="35" name="Google Shape;35;p28"/>
          <p:cNvPicPr preferRelativeResize="0"/>
          <p:nvPr/>
        </p:nvPicPr>
        <p:blipFill rotWithShape="1">
          <a:blip r:embed="rId2">
            <a:alphaModFix/>
          </a:blip>
          <a:srcRect b="18089" l="6294" r="5315" t="9689"/>
          <a:stretch/>
        </p:blipFill>
        <p:spPr>
          <a:xfrm>
            <a:off x="8453395" y="1794986"/>
            <a:ext cx="2880000" cy="2678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9"/>
          <p:cNvPicPr preferRelativeResize="0"/>
          <p:nvPr/>
        </p:nvPicPr>
        <p:blipFill rotWithShape="1">
          <a:blip r:embed="rId2">
            <a:alphaModFix/>
          </a:blip>
          <a:srcRect b="21179" l="0" r="11581" t="0"/>
          <a:stretch/>
        </p:blipFill>
        <p:spPr>
          <a:xfrm rot="-5400000">
            <a:off x="9807099" y="606901"/>
            <a:ext cx="2991808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9"/>
          <p:cNvPicPr preferRelativeResize="0"/>
          <p:nvPr/>
        </p:nvPicPr>
        <p:blipFill rotWithShape="1">
          <a:blip r:embed="rId3">
            <a:alphaModFix/>
          </a:blip>
          <a:srcRect b="17724" l="79646" r="2730" t="18062"/>
          <a:stretch/>
        </p:blipFill>
        <p:spPr>
          <a:xfrm>
            <a:off x="0" y="401568"/>
            <a:ext cx="543946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  <a:defRPr b="1" sz="6000">
                <a:solidFill>
                  <a:srgbClr val="1D3064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2000"/>
              <a:buNone/>
              <a:defRPr sz="2000">
                <a:solidFill>
                  <a:srgbClr val="8A8A8A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800"/>
              <a:buNone/>
              <a:defRPr sz="1800">
                <a:solidFill>
                  <a:srgbClr val="8A8A8A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9pPr>
          </a:lstStyle>
          <a:p/>
        </p:txBody>
      </p:sp>
      <p:sp>
        <p:nvSpPr>
          <p:cNvPr id="41" name="Google Shape;41;p29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Logo on BR">
  <p:cSld name="Title and Content - Logo on B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0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44" name="Google Shape;44;p30"/>
          <p:cNvPicPr preferRelativeResize="0"/>
          <p:nvPr/>
        </p:nvPicPr>
        <p:blipFill rotWithShape="1">
          <a:blip r:embed="rId2">
            <a:alphaModFix/>
          </a:blip>
          <a:srcRect b="3534" l="0" r="1768" t="86739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0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b="1" sz="34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131175" y="863450"/>
            <a:ext cx="11929500" cy="5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indent="-355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302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7" name="Google Shape;47;p30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" name="Google Shape;48;p30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- Maroon">
  <p:cSld name="1_Title Slide - Maro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3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3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52" name="Google Shape;52;p33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3" name="Google Shape;53;p33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4" name="Google Shape;5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33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6" name="Google Shape;5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3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1800"/>
              <a:buNone/>
              <a:defRPr b="1" sz="1800">
                <a:solidFill>
                  <a:srgbClr val="5C232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2" name="Google Shape;62;p33"/>
          <p:cNvPicPr preferRelativeResize="0"/>
          <p:nvPr/>
        </p:nvPicPr>
        <p:blipFill rotWithShape="1">
          <a:blip r:embed="rId6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3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33"/>
          <p:cNvSpPr/>
          <p:nvPr/>
        </p:nvSpPr>
        <p:spPr>
          <a:xfrm rot="5400000">
            <a:off x="4309292" y="1717040"/>
            <a:ext cx="3461658" cy="2984188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F2F2F2"/>
          </a:solidFill>
          <a:ln cap="flat" cmpd="sng" w="57150">
            <a:solidFill>
              <a:schemeClr val="accent6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" name="Google Shape;65;p33"/>
          <p:cNvSpPr txBox="1"/>
          <p:nvPr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6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Thank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6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</a:t>
            </a:r>
            <a:endParaRPr b="1" i="1" sz="6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6" name="Google Shape;66;p33"/>
          <p:cNvSpPr/>
          <p:nvPr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86333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7" name="Google Shape;67;p33"/>
          <p:cNvSpPr/>
          <p:nvPr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86333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Default Color">
  <p:cSld name="Title Slide - Default Colo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34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4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71" name="Google Shape;71;p34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dk2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2" name="Google Shape;72;p34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dk2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73" name="Google Shape;7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34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" name="Google Shape;76;p34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4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1800"/>
              <a:buNone/>
              <a:defRPr b="1" sz="1800">
                <a:solidFill>
                  <a:srgbClr val="1D3064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3" name="Google Shape;83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34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4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6" name="Google Shape;86;p34"/>
          <p:cNvPicPr preferRelativeResize="0"/>
          <p:nvPr/>
        </p:nvPicPr>
        <p:blipFill rotWithShape="1">
          <a:blip r:embed="rId9">
            <a:alphaModFix/>
          </a:blip>
          <a:srcRect b="22103" l="144383" r="-144383" t="-16142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 icon Royalty Free Vector Image - VectorStock" id="87" name="Google Shape;87;p34"/>
          <p:cNvPicPr preferRelativeResize="0"/>
          <p:nvPr/>
        </p:nvPicPr>
        <p:blipFill rotWithShape="1">
          <a:blip r:embed="rId10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" name="Google Shape;88;p34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Logo on TR">
  <p:cSld name="Title and Content - Logo on T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5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91" name="Google Shape;91;p35"/>
          <p:cNvPicPr preferRelativeResize="0"/>
          <p:nvPr/>
        </p:nvPicPr>
        <p:blipFill rotWithShape="1">
          <a:blip r:embed="rId2">
            <a:alphaModFix/>
          </a:blip>
          <a:srcRect b="3534" l="0" r="1768" t="86739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5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b="1" sz="34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5"/>
          <p:cNvSpPr txBox="1"/>
          <p:nvPr>
            <p:ph idx="1" type="body"/>
          </p:nvPr>
        </p:nvSpPr>
        <p:spPr>
          <a:xfrm>
            <a:off x="131175" y="863450"/>
            <a:ext cx="116715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indent="-355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302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94" name="Google Shape;94;p35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" name="Google Shape;95;p35"/>
          <p:cNvCxnSpPr/>
          <p:nvPr/>
        </p:nvCxnSpPr>
        <p:spPr>
          <a:xfrm>
            <a:off x="131180" y="660400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Logo on BL">
  <p:cSld name="Title and Content - Logo on BL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6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98" name="Google Shape;98;p36"/>
          <p:cNvPicPr preferRelativeResize="0"/>
          <p:nvPr/>
        </p:nvPicPr>
        <p:blipFill rotWithShape="1">
          <a:blip r:embed="rId2">
            <a:alphaModFix/>
          </a:blip>
          <a:srcRect b="3534" l="0" r="1768" t="86739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6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b="1" sz="34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6"/>
          <p:cNvSpPr txBox="1"/>
          <p:nvPr>
            <p:ph idx="1" type="body"/>
          </p:nvPr>
        </p:nvSpPr>
        <p:spPr>
          <a:xfrm>
            <a:off x="131175" y="863450"/>
            <a:ext cx="11929500" cy="5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indent="-355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302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01" name="Google Shape;101;p36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36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k - Logo on TR">
  <p:cSld name="Blanck - Logo on T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7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05" name="Google Shape;105;p37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k - Logo on BR">
  <p:cSld name="Blanck - Logo on B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8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08" name="Google Shape;108;p38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k - Logo on BL">
  <p:cSld name="Blanck - Logo on BL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9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11" name="Google Shape;111;p39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 Blanck">
  <p:cSld name="Complete Blanc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lete Blanck">
  <p:cSld name="1_Complete Blanc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1"/>
          <p:cNvSpPr txBox="1"/>
          <p:nvPr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 to Crop Circular Photo?</a:t>
            </a:r>
            <a:endParaRPr/>
          </a:p>
        </p:txBody>
      </p:sp>
      <p:sp>
        <p:nvSpPr>
          <p:cNvPr id="115" name="Google Shape;115;p41"/>
          <p:cNvSpPr/>
          <p:nvPr>
            <p:ph idx="2" type="pic"/>
          </p:nvPr>
        </p:nvSpPr>
        <p:spPr>
          <a:xfrm>
            <a:off x="4013200" y="1808163"/>
            <a:ext cx="3890962" cy="389096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Teal">
  <p:cSld name="Title Slide - Teal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42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2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19" name="Google Shape;119;p42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E4D3B"/>
              </a:gs>
              <a:gs pos="10000">
                <a:srgbClr val="0E4D3B"/>
              </a:gs>
              <a:gs pos="100000">
                <a:srgbClr val="009788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" name="Google Shape;120;p42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D3B"/>
              </a:gs>
              <a:gs pos="10000">
                <a:srgbClr val="0E4D3B"/>
              </a:gs>
              <a:gs pos="100000">
                <a:srgbClr val="009788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21" name="Google Shape;12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42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42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5" name="Google Shape;12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2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42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42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42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4D3B"/>
              </a:buClr>
              <a:buSzPts val="1800"/>
              <a:buNone/>
              <a:defRPr b="1" sz="1800">
                <a:solidFill>
                  <a:srgbClr val="0E4D3B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1" name="Google Shape;131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2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2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134" name="Google Shape;134;p42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" name="Google Shape;135;p42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Cyan">
  <p:cSld name="Title Slide - Cya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43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3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39" name="Google Shape;139;p43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05D69"/>
              </a:gs>
              <a:gs pos="10000">
                <a:srgbClr val="005D69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0" name="Google Shape;140;p43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05D69"/>
              </a:gs>
              <a:gs pos="10000">
                <a:srgbClr val="005D69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41" name="Google Shape;14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43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43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5" name="Google Shape;145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43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43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43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43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D69"/>
              </a:buClr>
              <a:buSzPts val="1800"/>
              <a:buNone/>
              <a:defRPr b="1" sz="1800">
                <a:solidFill>
                  <a:srgbClr val="005D6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1" name="Google Shape;151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3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43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154" name="Google Shape;154;p43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5" name="Google Shape;155;p43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Light Green">
  <p:cSld name="Title Slide - Light Green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44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4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59" name="Google Shape;159;p44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456220"/>
              </a:gs>
              <a:gs pos="10000">
                <a:srgbClr val="456220"/>
              </a:gs>
              <a:gs pos="100000">
                <a:schemeClr val="accent3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0" name="Google Shape;160;p44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456220"/>
              </a:gs>
              <a:gs pos="10000">
                <a:srgbClr val="456220"/>
              </a:gs>
              <a:gs pos="100000">
                <a:schemeClr val="accent3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61" name="Google Shape;16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p44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4" name="Google Shape;164;p44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5" name="Google Shape;165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4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44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44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44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6220"/>
              </a:buClr>
              <a:buSzPts val="1800"/>
              <a:buNone/>
              <a:defRPr b="1" sz="1800">
                <a:solidFill>
                  <a:srgbClr val="45622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71" name="Google Shape;171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44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44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174" name="Google Shape;174;p44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" name="Google Shape;175;p44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mber">
  <p:cSld name="Title Slide - Amber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45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5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79" name="Google Shape;179;p45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7D4F07"/>
              </a:gs>
              <a:gs pos="10000">
                <a:srgbClr val="7D4F07"/>
              </a:gs>
              <a:gs pos="100000">
                <a:schemeClr val="accent5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0" name="Google Shape;180;p45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7D4F07"/>
              </a:gs>
              <a:gs pos="10000">
                <a:srgbClr val="7D4F07"/>
              </a:gs>
              <a:gs pos="100000">
                <a:schemeClr val="accent5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81" name="Google Shape;18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45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4" name="Google Shape;184;p45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5" name="Google Shape;185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5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45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45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45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C770B"/>
              </a:buClr>
              <a:buSzPts val="1800"/>
              <a:buNone/>
              <a:defRPr b="1" sz="1800">
                <a:solidFill>
                  <a:srgbClr val="BC770B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1" name="Google Shape;191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45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5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194" name="Google Shape;194;p45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5" name="Google Shape;195;p45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Blue Gray">
  <p:cSld name="Title Slide - Blue Gray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46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46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99" name="Google Shape;199;p46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273238"/>
              </a:gs>
              <a:gs pos="10000">
                <a:srgbClr val="273238"/>
              </a:gs>
              <a:gs pos="100000">
                <a:srgbClr val="607D8B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00" name="Google Shape;200;p46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273238"/>
              </a:gs>
              <a:gs pos="10000">
                <a:srgbClr val="273238"/>
              </a:gs>
              <a:gs pos="100000">
                <a:srgbClr val="607D8B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01" name="Google Shape;20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46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" name="Google Shape;204;p46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5" name="Google Shape;205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6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46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46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46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8"/>
              </a:buClr>
              <a:buSzPts val="1800"/>
              <a:buNone/>
              <a:defRPr b="1" sz="1800">
                <a:solidFill>
                  <a:srgbClr val="273238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11" name="Google Shape;211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6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46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214" name="Google Shape;214;p46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5" name="Google Shape;215;p46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Brown">
  <p:cSld name="Title Slide - Brown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47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7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19" name="Google Shape;219;p47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3E2622"/>
              </a:gs>
              <a:gs pos="10000">
                <a:srgbClr val="3E2622"/>
              </a:gs>
              <a:gs pos="100000">
                <a:srgbClr val="795547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0" name="Google Shape;220;p47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3E2622"/>
              </a:gs>
              <a:gs pos="10000">
                <a:srgbClr val="3E2622"/>
              </a:gs>
              <a:gs pos="100000">
                <a:srgbClr val="795547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21" name="Google Shape;22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47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4" name="Google Shape;224;p47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5" name="Google Shape;225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7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47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47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47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2622"/>
              </a:buClr>
              <a:buSzPts val="1800"/>
              <a:buNone/>
              <a:defRPr b="1" sz="1800">
                <a:solidFill>
                  <a:srgbClr val="3E262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31" name="Google Shape;231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47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7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234" name="Google Shape;234;p47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5" name="Google Shape;235;p47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Deep Puple">
  <p:cSld name="Title Slide - Deep Puple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48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48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39" name="Google Shape;239;p48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301B92"/>
              </a:gs>
              <a:gs pos="10000">
                <a:srgbClr val="301B92"/>
              </a:gs>
              <a:gs pos="100000">
                <a:srgbClr val="673BB7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0" name="Google Shape;240;p48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301B92"/>
              </a:gs>
              <a:gs pos="10000">
                <a:srgbClr val="301B92"/>
              </a:gs>
              <a:gs pos="100000">
                <a:srgbClr val="673BB7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41" name="Google Shape;24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48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4" name="Google Shape;244;p48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45" name="Google Shape;245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8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p48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48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0" name="Google Shape;250;p48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1B92"/>
              </a:buClr>
              <a:buSzPts val="1800"/>
              <a:buNone/>
              <a:defRPr b="1" sz="180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51" name="Google Shape;251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8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8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254" name="Google Shape;254;p48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5" name="Google Shape;255;p48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Blue">
  <p:cSld name="Title Slide - Blue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49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9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59" name="Google Shape;259;p49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E47A1"/>
              </a:gs>
              <a:gs pos="10000">
                <a:srgbClr val="0E47A1"/>
              </a:gs>
              <a:gs pos="100000">
                <a:srgbClr val="03A9F5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0" name="Google Shape;260;p49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">
                <a:srgbClr val="0E47A1"/>
              </a:gs>
              <a:gs pos="100000">
                <a:srgbClr val="03A9F5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61" name="Google Shape;2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49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4" name="Google Shape;264;p49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5" name="Google Shape;265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9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" name="Google Shape;268;p49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p49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0" name="Google Shape;270;p49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47A1"/>
              </a:buClr>
              <a:buSzPts val="1800"/>
              <a:buNone/>
              <a:defRPr b="1" sz="1800">
                <a:solidFill>
                  <a:srgbClr val="0E47A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71" name="Google Shape;271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9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9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274" name="Google Shape;274;p49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5" name="Google Shape;275;p49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Red">
  <p:cSld name="Title Slide - Red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50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50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79" name="Google Shape;279;p50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0" name="Google Shape;280;p50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81" name="Google Shape;28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50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4" name="Google Shape;284;p50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5" name="Google Shape;285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50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8" name="Google Shape;288;p50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9" name="Google Shape;289;p50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0" name="Google Shape;290;p50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1B1C"/>
              </a:buClr>
              <a:buSzPts val="1800"/>
              <a:buNone/>
              <a:defRPr b="1" sz="1800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91" name="Google Shape;291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50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50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94" name="Google Shape;294;p50"/>
          <p:cNvPicPr preferRelativeResize="0"/>
          <p:nvPr/>
        </p:nvPicPr>
        <p:blipFill rotWithShape="1">
          <a:blip r:embed="rId9">
            <a:alphaModFix/>
          </a:blip>
          <a:srcRect b="18186" l="24746" r="25760" t="7575"/>
          <a:stretch/>
        </p:blipFill>
        <p:spPr>
          <a:xfrm>
            <a:off x="356499" y="5214354"/>
            <a:ext cx="1354234" cy="1354234"/>
          </a:xfrm>
          <a:custGeom>
            <a:rect b="b" l="l" r="r" t="t"/>
            <a:pathLst>
              <a:path extrusionOk="0" h="4572000" w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User icon Royalty Free Vector Image - VectorStock" id="295" name="Google Shape;295;p50"/>
          <p:cNvPicPr preferRelativeResize="0"/>
          <p:nvPr/>
        </p:nvPicPr>
        <p:blipFill rotWithShape="1">
          <a:blip r:embed="rId10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6" name="Google Shape;296;p50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Pink">
  <p:cSld name="Title Slide - Pink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51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51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300" name="Google Shape;300;p51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890E4F"/>
              </a:gs>
              <a:gs pos="10000">
                <a:srgbClr val="890E4F"/>
              </a:gs>
              <a:gs pos="100000">
                <a:srgbClr val="D81A60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01" name="Google Shape;301;p51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890E4F"/>
              </a:gs>
              <a:gs pos="10000">
                <a:srgbClr val="890E4F"/>
              </a:gs>
              <a:gs pos="100000">
                <a:srgbClr val="D81A60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02" name="Google Shape;30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4" name="Google Shape;304;p51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5" name="Google Shape;305;p51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6" name="Google Shape;306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1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9" name="Google Shape;309;p51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51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1" name="Google Shape;311;p51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90E4F"/>
              </a:buClr>
              <a:buSzPts val="1800"/>
              <a:buNone/>
              <a:defRPr b="1" sz="1800">
                <a:solidFill>
                  <a:srgbClr val="890E4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12" name="Google Shape;312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1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51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315" name="Google Shape;315;p51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6" name="Google Shape;316;p51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Condensed"/>
              <a:buNone/>
              <a:defRPr b="0" i="0" sz="44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jpg"/><Relationship Id="rId4" Type="http://schemas.openxmlformats.org/officeDocument/2006/relationships/image" Target="../media/image24.jpg"/><Relationship Id="rId5" Type="http://schemas.openxmlformats.org/officeDocument/2006/relationships/image" Target="../media/image26.jpg"/><Relationship Id="rId6" Type="http://schemas.openxmlformats.org/officeDocument/2006/relationships/image" Target="../media/image37.jpg"/><Relationship Id="rId7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Relationship Id="rId5" Type="http://schemas.openxmlformats.org/officeDocument/2006/relationships/image" Target="../media/image35.png"/><Relationship Id="rId6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42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Relationship Id="rId7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1" name="Google Shape;321;p2"/>
          <p:cNvCxnSpPr>
            <a:endCxn id="322" idx="0"/>
          </p:cNvCxnSpPr>
          <p:nvPr/>
        </p:nvCxnSpPr>
        <p:spPr>
          <a:xfrm>
            <a:off x="1191446" y="106"/>
            <a:ext cx="0" cy="6828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3" name="Google Shape;323;p2"/>
          <p:cNvCxnSpPr/>
          <p:nvPr/>
        </p:nvCxnSpPr>
        <p:spPr>
          <a:xfrm>
            <a:off x="1191446" y="5063613"/>
            <a:ext cx="0" cy="1794387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2" name="Google Shape;322;p2"/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✓</a:t>
            </a:r>
            <a:endParaRPr sz="2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4" name="Google Shape;324;p2"/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Looping</a:t>
            </a:r>
            <a:endParaRPr/>
          </a:p>
        </p:txBody>
      </p:sp>
      <p:cxnSp>
        <p:nvCxnSpPr>
          <p:cNvPr id="325" name="Google Shape;325;p2"/>
          <p:cNvCxnSpPr/>
          <p:nvPr/>
        </p:nvCxnSpPr>
        <p:spPr>
          <a:xfrm>
            <a:off x="1191446" y="1157468"/>
            <a:ext cx="0" cy="3979075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6" name="Google Shape;326;p2"/>
          <p:cNvSpPr txBox="1"/>
          <p:nvPr/>
        </p:nvSpPr>
        <p:spPr>
          <a:xfrm>
            <a:off x="1458962" y="731706"/>
            <a:ext cx="6824426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Outline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 is data security?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Security v/s Integrity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Authentication v/s Authorization </a:t>
            </a:r>
            <a:endParaRPr b="0" i="0" sz="2400" u="none" cap="none" strike="noStrike">
              <a:solidFill>
                <a:srgbClr val="7F7F7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encryption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 control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DAC (Discretionary access control)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MAC (Mandatory access control)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RBAC models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Intrusion detection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SQL injection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What is data security?</a:t>
            </a:r>
            <a:endParaRPr>
              <a:solidFill>
                <a:srgbClr val="5C2321"/>
              </a:solidFill>
            </a:endParaRPr>
          </a:p>
        </p:txBody>
      </p:sp>
      <p:sp>
        <p:nvSpPr>
          <p:cNvPr id="332" name="Google Shape;332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–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What is data security?</a:t>
            </a:r>
            <a:endParaRPr/>
          </a:p>
        </p:txBody>
      </p:sp>
      <p:sp>
        <p:nvSpPr>
          <p:cNvPr id="338" name="Google Shape;338;p4"/>
          <p:cNvSpPr txBox="1"/>
          <p:nvPr>
            <p:ph idx="1" type="body"/>
          </p:nvPr>
        </p:nvSpPr>
        <p:spPr>
          <a:xfrm>
            <a:off x="131175" y="863450"/>
            <a:ext cx="11929500" cy="5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Data security is the </a:t>
            </a:r>
            <a:r>
              <a:rPr b="1" lang="en-US">
                <a:solidFill>
                  <a:schemeClr val="accent6"/>
                </a:solidFill>
              </a:rPr>
              <a:t>protection of the data</a:t>
            </a:r>
            <a:r>
              <a:rPr lang="en-US"/>
              <a:t> from unauthorized users. 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Only the authorized users are allowed to access the data. 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Most of the </a:t>
            </a:r>
            <a:r>
              <a:rPr b="1" lang="en-US">
                <a:solidFill>
                  <a:schemeClr val="accent6"/>
                </a:solidFill>
              </a:rPr>
              <a:t>users are allowed to access a part of database </a:t>
            </a:r>
            <a:r>
              <a:rPr lang="en-US"/>
              <a:t>i.e., the data that is related to them or related to their department. 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Mostly, the DBA or head of department can access all the data in the database. 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Some users may be permitted only to retrieve data, whereas others are allowed to retrieve as well as to update data.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Security v/s Integrity</a:t>
            </a:r>
            <a:endParaRPr/>
          </a:p>
        </p:txBody>
      </p:sp>
      <p:sp>
        <p:nvSpPr>
          <p:cNvPr id="344" name="Google Shape;344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–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Security v/s Integrity</a:t>
            </a:r>
            <a:endParaRPr/>
          </a:p>
        </p:txBody>
      </p:sp>
      <p:sp>
        <p:nvSpPr>
          <p:cNvPr id="350" name="Google Shape;350;p6"/>
          <p:cNvSpPr txBox="1"/>
          <p:nvPr>
            <p:ph idx="1" type="body"/>
          </p:nvPr>
        </p:nvSpPr>
        <p:spPr>
          <a:xfrm>
            <a:off x="131175" y="863450"/>
            <a:ext cx="11929500" cy="5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351" name="Google Shape;351;p6"/>
          <p:cNvGraphicFramePr/>
          <p:nvPr/>
        </p:nvGraphicFramePr>
        <p:xfrm>
          <a:off x="693655" y="10508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{FBE5D796-A4FE-4217-AEF4-1E59EF0B0B01}</a:tableStyleId>
              </a:tblPr>
              <a:tblGrid>
                <a:gridCol w="5400000"/>
                <a:gridCol w="5400000"/>
              </a:tblGrid>
              <a:tr h="6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</a:rPr>
                        <a:t>Security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</a:rPr>
                        <a:t>Integrity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2" name="Google Shape;352;p6"/>
          <p:cNvGraphicFramePr/>
          <p:nvPr/>
        </p:nvGraphicFramePr>
        <p:xfrm>
          <a:off x="693655" y="16808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{FBE5D796-A4FE-4217-AEF4-1E59EF0B0B01}</a:tableStyleId>
              </a:tblPr>
              <a:tblGrid>
                <a:gridCol w="5400000"/>
                <a:gridCol w="5400000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Data security deals with </a:t>
                      </a:r>
                      <a:r>
                        <a:rPr b="0" lang="en-US" sz="2400" u="none" cap="none" strike="noStrike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protection of data</a:t>
                      </a: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4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Data integrity deals with the </a:t>
                      </a:r>
                      <a:r>
                        <a:rPr b="0" lang="en-US" sz="2400" u="none" cap="none" strike="noStrike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validity of data</a:t>
                      </a: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4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3" name="Google Shape;353;p6"/>
          <p:cNvGraphicFramePr/>
          <p:nvPr/>
        </p:nvGraphicFramePr>
        <p:xfrm>
          <a:off x="693655" y="24926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{FBE5D796-A4FE-4217-AEF4-1E59EF0B0B01}</a:tableStyleId>
              </a:tblPr>
              <a:tblGrid>
                <a:gridCol w="5400000"/>
                <a:gridCol w="5400000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Data security is </a:t>
                      </a:r>
                      <a:r>
                        <a:rPr b="0" lang="en-US" sz="2400" u="none" cap="none" strike="noStrike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making sure that only the people who should have access to the data are the only ones who can access the data</a:t>
                      </a: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4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Data integrity is </a:t>
                      </a:r>
                      <a:r>
                        <a:rPr b="0" lang="en-US" sz="2400" u="none" cap="none" strike="noStrike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making sure that the data is correct and not corrupt</a:t>
                      </a: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4" name="Google Shape;354;p6"/>
          <p:cNvGraphicFramePr/>
          <p:nvPr/>
        </p:nvGraphicFramePr>
        <p:xfrm>
          <a:off x="693655" y="36679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{FBE5D796-A4FE-4217-AEF4-1E59EF0B0B01}</a:tableStyleId>
              </a:tblPr>
              <a:tblGrid>
                <a:gridCol w="5400000"/>
                <a:gridCol w="5400000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Data security </a:t>
                      </a:r>
                      <a:r>
                        <a:rPr b="0" lang="en-US" sz="2400" u="none" cap="none" strike="noStrike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avoids from unauthorized access of data</a:t>
                      </a: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4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Data integrity </a:t>
                      </a:r>
                      <a:r>
                        <a:rPr b="0" lang="en-US" sz="2400" u="none" cap="none" strike="noStrike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avoids from human errors, when data is entered</a:t>
                      </a: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0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5" name="Google Shape;355;p6"/>
          <p:cNvGraphicFramePr/>
          <p:nvPr/>
        </p:nvGraphicFramePr>
        <p:xfrm>
          <a:off x="693655" y="44915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{FBE5D796-A4FE-4217-AEF4-1E59EF0B0B01}</a:tableStyleId>
              </a:tblPr>
              <a:tblGrid>
                <a:gridCol w="5400000"/>
                <a:gridCol w="5400000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Data security is </a:t>
                      </a:r>
                      <a:r>
                        <a:rPr b="0" lang="en-US" sz="2400" u="none" cap="none" strike="noStrike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implemented through user account (passwords)</a:t>
                      </a: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4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Data integrity is </a:t>
                      </a:r>
                      <a:r>
                        <a:rPr b="0" lang="en-US" sz="2400" u="none" cap="none" strike="noStrike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implemented through constraints such as Primary key, Foreign key, Check constraints etc.</a:t>
                      </a:r>
                      <a:endParaRPr b="0" sz="2000" u="none" cap="none" strike="noStrike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Authentication v/s Authorization</a:t>
            </a:r>
            <a:endParaRPr/>
          </a:p>
        </p:txBody>
      </p:sp>
      <p:sp>
        <p:nvSpPr>
          <p:cNvPr id="361" name="Google Shape;361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–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8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Authentication v/s Authorization</a:t>
            </a:r>
            <a:endParaRPr/>
          </a:p>
        </p:txBody>
      </p:sp>
      <p:sp>
        <p:nvSpPr>
          <p:cNvPr id="367" name="Google Shape;367;p8"/>
          <p:cNvSpPr txBox="1"/>
          <p:nvPr>
            <p:ph idx="1" type="body"/>
          </p:nvPr>
        </p:nvSpPr>
        <p:spPr>
          <a:xfrm>
            <a:off x="131175" y="863450"/>
            <a:ext cx="11929500" cy="5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368" name="Google Shape;368;p8"/>
          <p:cNvGraphicFramePr/>
          <p:nvPr/>
        </p:nvGraphicFramePr>
        <p:xfrm>
          <a:off x="693655" y="10508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{FBE5D796-A4FE-4217-AEF4-1E59EF0B0B01}</a:tableStyleId>
              </a:tblPr>
              <a:tblGrid>
                <a:gridCol w="5400000"/>
                <a:gridCol w="5400000"/>
              </a:tblGrid>
              <a:tr h="6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</a:rPr>
                        <a:t>Authentication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</a:rPr>
                        <a:t>Authorization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9" name="Google Shape;369;p8"/>
          <p:cNvGraphicFramePr/>
          <p:nvPr/>
        </p:nvGraphicFramePr>
        <p:xfrm>
          <a:off x="693655" y="16808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{FBE5D796-A4FE-4217-AEF4-1E59EF0B0B01}</a:tableStyleId>
              </a:tblPr>
              <a:tblGrid>
                <a:gridCol w="5400000"/>
                <a:gridCol w="5400000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It is the </a:t>
                      </a:r>
                      <a:r>
                        <a:rPr b="0" lang="en-US" sz="2400" u="none" cap="none" strike="noStrike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process of validating a user </a:t>
                      </a: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on the credentials (username and password).</a:t>
                      </a:r>
                      <a:endParaRPr b="0" sz="24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It is the </a:t>
                      </a:r>
                      <a:r>
                        <a:rPr b="0" lang="en-US" sz="2400" u="none" cap="none" strike="noStrike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process of verifying whether access is allowed or not</a:t>
                      </a: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4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0" name="Google Shape;370;p8"/>
          <p:cNvGraphicFramePr/>
          <p:nvPr/>
        </p:nvGraphicFramePr>
        <p:xfrm>
          <a:off x="693655" y="24926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{FBE5D796-A4FE-4217-AEF4-1E59EF0B0B01}</a:tableStyleId>
              </a:tblPr>
              <a:tblGrid>
                <a:gridCol w="5400000"/>
                <a:gridCol w="5400000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Logging on to a PC or some website or app </a:t>
                      </a: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with  username and password is authentication.</a:t>
                      </a:r>
                      <a:endParaRPr b="0" sz="24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Accessing a file (data) </a:t>
                      </a: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from hard disk or some database is authorization.</a:t>
                      </a:r>
                      <a:endParaRPr b="0" sz="20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1" name="Google Shape;371;p8"/>
          <p:cNvGraphicFramePr/>
          <p:nvPr/>
        </p:nvGraphicFramePr>
        <p:xfrm>
          <a:off x="693655" y="36679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{FBE5D796-A4FE-4217-AEF4-1E59EF0B0B01}</a:tableStyleId>
              </a:tblPr>
              <a:tblGrid>
                <a:gridCol w="5400000"/>
                <a:gridCol w="5400000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It is the </a:t>
                      </a:r>
                      <a:r>
                        <a:rPr b="0" lang="en-US" sz="2400" u="none" cap="none" strike="noStrike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process of verifying who you are</a:t>
                      </a: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</a:t>
                      </a:r>
                      <a:endParaRPr b="0" sz="24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It is the </a:t>
                      </a:r>
                      <a:r>
                        <a:rPr b="0" lang="en-US" sz="2400" u="none" cap="none" strike="noStrike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process of verifying  what you are authorized</a:t>
                      </a: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to do or not to do.</a:t>
                      </a:r>
                      <a:endParaRPr b="0" sz="20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2" name="Google Shape;372;p8"/>
          <p:cNvGraphicFramePr/>
          <p:nvPr/>
        </p:nvGraphicFramePr>
        <p:xfrm>
          <a:off x="693655" y="44915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{FBE5D796-A4FE-4217-AEF4-1E59EF0B0B01}</a:tableStyleId>
              </a:tblPr>
              <a:tblGrid>
                <a:gridCol w="5400000"/>
                <a:gridCol w="5400000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It is </a:t>
                      </a:r>
                      <a:r>
                        <a:rPr b="0" lang="en-US" sz="2400" u="none" cap="none" strike="noStrike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providing integrity control and security </a:t>
                      </a: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to the data.</a:t>
                      </a:r>
                      <a:endParaRPr b="0" sz="24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It is </a:t>
                      </a:r>
                      <a:r>
                        <a:rPr b="0" lang="en-US" sz="2400" u="none" cap="none" strike="noStrike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protecting the data</a:t>
                      </a:r>
                      <a:r>
                        <a:rPr b="0" lang="en-US" sz="24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to ensure privacy and access control of data.</a:t>
                      </a:r>
                      <a:endParaRPr b="0" sz="2000" u="none" cap="none" strike="noStrike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9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What is audit trail (audit log)?</a:t>
            </a:r>
            <a:endParaRPr/>
          </a:p>
        </p:txBody>
      </p:sp>
      <p:sp>
        <p:nvSpPr>
          <p:cNvPr id="378" name="Google Shape;378;p9"/>
          <p:cNvSpPr txBox="1"/>
          <p:nvPr>
            <p:ph idx="1" type="body"/>
          </p:nvPr>
        </p:nvSpPr>
        <p:spPr>
          <a:xfrm>
            <a:off x="131175" y="863450"/>
            <a:ext cx="11929500" cy="5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An audit trail (audit log) is a </a:t>
            </a:r>
            <a:r>
              <a:rPr b="1" lang="en-US">
                <a:solidFill>
                  <a:schemeClr val="accent6"/>
                </a:solidFill>
              </a:rPr>
              <a:t>record which will be generated for each and every transactions</a:t>
            </a:r>
            <a:r>
              <a:rPr lang="en-US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It will </a:t>
            </a:r>
            <a:r>
              <a:rPr b="1" lang="en-US">
                <a:solidFill>
                  <a:schemeClr val="accent6"/>
                </a:solidFill>
              </a:rPr>
              <a:t>keep certain information </a:t>
            </a:r>
            <a:r>
              <a:rPr lang="en-US"/>
              <a:t>about the transaction.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An audit trail (audit log) records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b="1" lang="en-US">
                <a:solidFill>
                  <a:schemeClr val="accent6"/>
                </a:solidFill>
              </a:rPr>
              <a:t>Who</a:t>
            </a:r>
            <a:r>
              <a:rPr lang="en-US"/>
              <a:t> (user or the application program and a transaction number)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b="1" lang="en-US">
                <a:solidFill>
                  <a:schemeClr val="accent6"/>
                </a:solidFill>
              </a:rPr>
              <a:t>When</a:t>
            </a:r>
            <a:r>
              <a:rPr lang="en-US"/>
              <a:t> (date and time)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From </a:t>
            </a:r>
            <a:r>
              <a:rPr b="1" lang="en-US">
                <a:solidFill>
                  <a:schemeClr val="accent6"/>
                </a:solidFill>
              </a:rPr>
              <a:t>Where</a:t>
            </a:r>
            <a:r>
              <a:rPr lang="en-US"/>
              <a:t> (location of the user and/or terminal)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b="1" lang="en-US">
                <a:solidFill>
                  <a:schemeClr val="accent6"/>
                </a:solidFill>
              </a:rPr>
              <a:t>What</a:t>
            </a:r>
            <a:r>
              <a:rPr lang="en-US"/>
              <a:t> (identification of the data affected, as well as a before-and-after image of that portion of the database that was affected by the update operation)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Data encryption</a:t>
            </a:r>
            <a:endParaRPr/>
          </a:p>
        </p:txBody>
      </p:sp>
      <p:sp>
        <p:nvSpPr>
          <p:cNvPr id="384" name="Google Shape;384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–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1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What is data encryption?</a:t>
            </a:r>
            <a:endParaRPr/>
          </a:p>
        </p:txBody>
      </p:sp>
      <p:sp>
        <p:nvSpPr>
          <p:cNvPr id="390" name="Google Shape;390;p11"/>
          <p:cNvSpPr txBox="1"/>
          <p:nvPr>
            <p:ph idx="1" type="body"/>
          </p:nvPr>
        </p:nvSpPr>
        <p:spPr>
          <a:xfrm>
            <a:off x="131180" y="863444"/>
            <a:ext cx="9462763" cy="1547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Encryption is a </a:t>
            </a:r>
            <a:r>
              <a:rPr b="1" lang="en-US">
                <a:solidFill>
                  <a:schemeClr val="accent6"/>
                </a:solidFill>
              </a:rPr>
              <a:t>security method in which information is encoded in such a way that only authorized user can read (understand) it</a:t>
            </a:r>
            <a:r>
              <a:rPr lang="en-US"/>
              <a:t>. 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It </a:t>
            </a:r>
            <a:r>
              <a:rPr b="1" lang="en-US">
                <a:solidFill>
                  <a:schemeClr val="accent6"/>
                </a:solidFill>
              </a:rPr>
              <a:t>uses encryption algorithm to generate ciphertext that can only be read if decrypted</a:t>
            </a:r>
            <a:r>
              <a:rPr lang="en-US"/>
              <a:t>.</a:t>
            </a:r>
            <a:endParaRPr/>
          </a:p>
        </p:txBody>
      </p:sp>
      <p:pic>
        <p:nvPicPr>
          <p:cNvPr descr="https://digitalguardian.com/sites/default/files/blog%202-23.jpg" id="391" name="Google Shape;391;p11"/>
          <p:cNvPicPr preferRelativeResize="0"/>
          <p:nvPr/>
        </p:nvPicPr>
        <p:blipFill rotWithShape="1">
          <a:blip r:embed="rId3">
            <a:alphaModFix/>
          </a:blip>
          <a:srcRect b="12462" l="15386" r="4698" t="12024"/>
          <a:stretch/>
        </p:blipFill>
        <p:spPr>
          <a:xfrm>
            <a:off x="9719129" y="858273"/>
            <a:ext cx="2032182" cy="1920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392" name="Google Shape;39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5600" y="2925585"/>
            <a:ext cx="1828800" cy="1250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393" name="Google Shape;39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912145"/>
            <a:ext cx="1828800" cy="1267968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1"/>
          <p:cNvSpPr txBox="1"/>
          <p:nvPr/>
        </p:nvSpPr>
        <p:spPr>
          <a:xfrm>
            <a:off x="1104900" y="2425741"/>
            <a:ext cx="11049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Sender</a:t>
            </a:r>
            <a:endParaRPr sz="240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95" name="Google Shape;395;p11"/>
          <p:cNvSpPr txBox="1"/>
          <p:nvPr/>
        </p:nvSpPr>
        <p:spPr>
          <a:xfrm>
            <a:off x="6858000" y="2442112"/>
            <a:ext cx="12763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Receiver</a:t>
            </a:r>
            <a:endParaRPr sz="240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descr="Related image" id="396" name="Google Shape;39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57600" y="2931274"/>
            <a:ext cx="1828800" cy="121981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1"/>
          <p:cNvSpPr txBox="1"/>
          <p:nvPr/>
        </p:nvSpPr>
        <p:spPr>
          <a:xfrm>
            <a:off x="3543300" y="2425741"/>
            <a:ext cx="2057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Unauthorized</a:t>
            </a:r>
            <a:endParaRPr sz="240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98" name="Google Shape;398;p11"/>
          <p:cNvCxnSpPr>
            <a:stCxn id="393" idx="2"/>
          </p:cNvCxnSpPr>
          <p:nvPr/>
        </p:nvCxnSpPr>
        <p:spPr>
          <a:xfrm flipH="1" rot="-5400000">
            <a:off x="3695700" y="2008413"/>
            <a:ext cx="1752600" cy="6096000"/>
          </a:xfrm>
          <a:prstGeom prst="bentConnector2">
            <a:avLst/>
          </a:prstGeom>
          <a:noFill/>
          <a:ln cap="flat" cmpd="sng" w="1270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9" name="Google Shape;399;p11"/>
          <p:cNvCxnSpPr/>
          <p:nvPr/>
        </p:nvCxnSpPr>
        <p:spPr>
          <a:xfrm rot="10800000">
            <a:off x="7620000" y="4162195"/>
            <a:ext cx="0" cy="1828800"/>
          </a:xfrm>
          <a:prstGeom prst="straightConnector1">
            <a:avLst/>
          </a:prstGeom>
          <a:noFill/>
          <a:ln cap="flat" cmpd="sng" w="1270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00" name="Google Shape;400;p11"/>
          <p:cNvCxnSpPr>
            <a:stCxn id="396" idx="2"/>
          </p:cNvCxnSpPr>
          <p:nvPr/>
        </p:nvCxnSpPr>
        <p:spPr>
          <a:xfrm>
            <a:off x="4572000" y="4151084"/>
            <a:ext cx="0" cy="17817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1" name="Google Shape;401;p11"/>
          <p:cNvSpPr/>
          <p:nvPr/>
        </p:nvSpPr>
        <p:spPr>
          <a:xfrm>
            <a:off x="4076700" y="4659309"/>
            <a:ext cx="990600" cy="838200"/>
          </a:xfrm>
          <a:prstGeom prst="mathMultiply">
            <a:avLst>
              <a:gd fmla="val 9082" name="adj1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02" name="Google Shape;402;p11"/>
          <p:cNvSpPr txBox="1"/>
          <p:nvPr/>
        </p:nvSpPr>
        <p:spPr>
          <a:xfrm>
            <a:off x="596900" y="4318612"/>
            <a:ext cx="835025" cy="369332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Hello</a:t>
            </a:r>
            <a:endParaRPr/>
          </a:p>
        </p:txBody>
      </p:sp>
      <p:sp>
        <p:nvSpPr>
          <p:cNvPr id="403" name="Google Shape;403;p11"/>
          <p:cNvSpPr txBox="1"/>
          <p:nvPr/>
        </p:nvSpPr>
        <p:spPr>
          <a:xfrm>
            <a:off x="604487" y="5263006"/>
            <a:ext cx="835025" cy="369332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Khoor</a:t>
            </a:r>
            <a:endParaRPr sz="180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descr="Image result for key" id="404" name="Google Shape;40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1" y="4804161"/>
            <a:ext cx="731520" cy="35330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1"/>
          <p:cNvSpPr txBox="1"/>
          <p:nvPr/>
        </p:nvSpPr>
        <p:spPr>
          <a:xfrm>
            <a:off x="7851774" y="4323344"/>
            <a:ext cx="835025" cy="369332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Hello</a:t>
            </a:r>
            <a:endParaRPr/>
          </a:p>
        </p:txBody>
      </p:sp>
      <p:sp>
        <p:nvSpPr>
          <p:cNvPr id="406" name="Google Shape;406;p11"/>
          <p:cNvSpPr txBox="1"/>
          <p:nvPr/>
        </p:nvSpPr>
        <p:spPr>
          <a:xfrm>
            <a:off x="7834947" y="5263006"/>
            <a:ext cx="835025" cy="369332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Khoor</a:t>
            </a:r>
            <a:endParaRPr sz="180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descr="Image result for key" id="407" name="Google Shape;40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7862252" y="4804161"/>
            <a:ext cx="731520" cy="353304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1"/>
          <p:cNvSpPr/>
          <p:nvPr/>
        </p:nvSpPr>
        <p:spPr>
          <a:xfrm>
            <a:off x="1774824" y="4215603"/>
            <a:ext cx="1235076" cy="443706"/>
          </a:xfrm>
          <a:prstGeom prst="wedgeRoundRectCallout">
            <a:avLst>
              <a:gd fmla="val -77511" name="adj1"/>
              <a:gd fmla="val 14269" name="adj2"/>
              <a:gd fmla="val 16667" name="adj3"/>
            </a:avLst>
          </a:prstGeom>
          <a:solidFill>
            <a:schemeClr val="accent1"/>
          </a:solidFill>
          <a:ln cap="flat" cmpd="sng" w="12700">
            <a:solidFill>
              <a:srgbClr val="69696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Plaintext</a:t>
            </a:r>
            <a:endParaRPr sz="18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1784348" y="5188632"/>
            <a:ext cx="1235076" cy="443706"/>
          </a:xfrm>
          <a:prstGeom prst="wedgeRoundRectCallout">
            <a:avLst>
              <a:gd fmla="val -78064" name="adj1"/>
              <a:gd fmla="val 10424" name="adj2"/>
              <a:gd fmla="val 16667" name="adj3"/>
            </a:avLst>
          </a:prstGeom>
          <a:solidFill>
            <a:schemeClr val="accent1"/>
          </a:solidFill>
          <a:ln cap="flat" cmpd="sng" w="12700">
            <a:solidFill>
              <a:srgbClr val="69696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Ciphertext</a:t>
            </a:r>
            <a:endParaRPr sz="18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3458510" y="6202320"/>
            <a:ext cx="3749040" cy="365760"/>
          </a:xfrm>
          <a:prstGeom prst="wedgeRoundRectCallout">
            <a:avLst>
              <a:gd fmla="val -20021" name="adj1"/>
              <a:gd fmla="val -117109" name="adj2"/>
              <a:gd fmla="val 16667" name="adj3"/>
            </a:avLst>
          </a:prstGeom>
          <a:solidFill>
            <a:srgbClr val="E3B3B1"/>
          </a:solidFill>
          <a:ln cap="flat" cmpd="sng" w="12700">
            <a:solidFill>
              <a:srgbClr val="D58E8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Should not access OR cant understand 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5994400" y="4215603"/>
            <a:ext cx="1235076" cy="443706"/>
          </a:xfrm>
          <a:prstGeom prst="wedgeRoundRectCallout">
            <a:avLst>
              <a:gd fmla="val 102001" name="adj1"/>
              <a:gd fmla="val 17092" name="adj2"/>
              <a:gd fmla="val 16667" name="adj3"/>
            </a:avLst>
          </a:prstGeom>
          <a:solidFill>
            <a:schemeClr val="accent1"/>
          </a:solidFill>
          <a:ln cap="flat" cmpd="sng" w="12700">
            <a:solidFill>
              <a:srgbClr val="69696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Plaintext</a:t>
            </a:r>
            <a:endParaRPr sz="18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6003924" y="5188632"/>
            <a:ext cx="1235076" cy="443706"/>
          </a:xfrm>
          <a:prstGeom prst="wedgeRoundRectCallout">
            <a:avLst>
              <a:gd fmla="val 97391" name="adj1"/>
              <a:gd fmla="val 13247" name="adj2"/>
              <a:gd fmla="val 16667" name="adj3"/>
            </a:avLst>
          </a:prstGeom>
          <a:solidFill>
            <a:schemeClr val="accent1"/>
          </a:solidFill>
          <a:ln cap="flat" cmpd="sng" w="12700">
            <a:solidFill>
              <a:srgbClr val="69696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Ciphertext</a:t>
            </a:r>
            <a:endParaRPr sz="18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2286003" y="4687944"/>
            <a:ext cx="228600" cy="46952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69696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4" name="Google Shape;414;p11"/>
          <p:cNvSpPr/>
          <p:nvPr/>
        </p:nvSpPr>
        <p:spPr>
          <a:xfrm flipH="1" rot="10800000">
            <a:off x="6505576" y="4687944"/>
            <a:ext cx="228600" cy="46952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69696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5" name="Google Shape;415;p11"/>
          <p:cNvSpPr txBox="1"/>
          <p:nvPr/>
        </p:nvSpPr>
        <p:spPr>
          <a:xfrm>
            <a:off x="2445321" y="4741168"/>
            <a:ext cx="1188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Encryption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6" name="Google Shape;416;p11"/>
          <p:cNvSpPr txBox="1"/>
          <p:nvPr/>
        </p:nvSpPr>
        <p:spPr>
          <a:xfrm>
            <a:off x="5230138" y="4741168"/>
            <a:ext cx="13318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Decryption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2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What is data encryption?</a:t>
            </a:r>
            <a:endParaRPr/>
          </a:p>
        </p:txBody>
      </p:sp>
      <p:sp>
        <p:nvSpPr>
          <p:cNvPr id="422" name="Google Shape;422;p12"/>
          <p:cNvSpPr txBox="1"/>
          <p:nvPr>
            <p:ph idx="1" type="body"/>
          </p:nvPr>
        </p:nvSpPr>
        <p:spPr>
          <a:xfrm>
            <a:off x="131175" y="863450"/>
            <a:ext cx="11929500" cy="5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Data encryption is the </a:t>
            </a:r>
            <a:r>
              <a:rPr b="1" lang="en-US">
                <a:solidFill>
                  <a:schemeClr val="accent6"/>
                </a:solidFill>
              </a:rPr>
              <a:t>process of encoding (translating) a message or information </a:t>
            </a:r>
            <a:r>
              <a:rPr lang="en-US"/>
              <a:t>in such a way that only authorized persons can access it and those who are not authorized cannot. 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Encryption is the </a:t>
            </a:r>
            <a:r>
              <a:rPr b="1" lang="en-US">
                <a:solidFill>
                  <a:schemeClr val="accent6"/>
                </a:solidFill>
              </a:rPr>
              <a:t>process of translating plaintext data (plaintext) into something that appears to be meaningless (ciphertext)</a:t>
            </a:r>
            <a:r>
              <a:rPr lang="en-US"/>
              <a:t>. 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Decryption is the </a:t>
            </a:r>
            <a:r>
              <a:rPr b="1" lang="en-US">
                <a:solidFill>
                  <a:schemeClr val="accent6"/>
                </a:solidFill>
              </a:rPr>
              <a:t>process of converting ciphertext back to plaintext</a:t>
            </a:r>
            <a:r>
              <a:rPr lang="en-US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Types of Encryption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Symmetric key encryption / Private key encryption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Asymmetric key encryption / Public key encryption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3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Types of Encryption</a:t>
            </a:r>
            <a:endParaRPr/>
          </a:p>
        </p:txBody>
      </p:sp>
      <p:sp>
        <p:nvSpPr>
          <p:cNvPr id="428" name="Google Shape;428;p13"/>
          <p:cNvSpPr txBox="1"/>
          <p:nvPr>
            <p:ph idx="1" type="body"/>
          </p:nvPr>
        </p:nvSpPr>
        <p:spPr>
          <a:xfrm>
            <a:off x="131175" y="863450"/>
            <a:ext cx="11929500" cy="5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Symmetric key encryption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Encryption and decryption </a:t>
            </a:r>
            <a:r>
              <a:rPr b="1" lang="en-US">
                <a:solidFill>
                  <a:schemeClr val="accent6"/>
                </a:solidFill>
              </a:rPr>
              <a:t>keys are the same</a:t>
            </a:r>
            <a:r>
              <a:rPr lang="en-US"/>
              <a:t>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The </a:t>
            </a:r>
            <a:r>
              <a:rPr b="1" lang="en-US">
                <a:solidFill>
                  <a:schemeClr val="accent6"/>
                </a:solidFill>
              </a:rPr>
              <a:t>same key is used by the sender to encrypt the data</a:t>
            </a:r>
            <a:r>
              <a:rPr lang="en-US"/>
              <a:t>, and again </a:t>
            </a:r>
            <a:r>
              <a:rPr b="1" lang="en-US">
                <a:solidFill>
                  <a:schemeClr val="accent6"/>
                </a:solidFill>
              </a:rPr>
              <a:t>by the receiver to decrypt the data</a:t>
            </a:r>
            <a:r>
              <a:rPr lang="en-US"/>
              <a:t>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Symmetric key encryption is </a:t>
            </a:r>
            <a:r>
              <a:rPr b="1" lang="en-US">
                <a:solidFill>
                  <a:schemeClr val="accent6"/>
                </a:solidFill>
              </a:rPr>
              <a:t>fast in execution</a:t>
            </a:r>
            <a:r>
              <a:rPr lang="en-US"/>
              <a:t>.</a:t>
            </a:r>
            <a:endParaRPr/>
          </a:p>
          <a:p>
            <a:pPr indent="0" lvl="1" marL="4572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Asymmetric key encryption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Encryption and decryption </a:t>
            </a:r>
            <a:r>
              <a:rPr b="1" lang="en-US">
                <a:solidFill>
                  <a:schemeClr val="accent6"/>
                </a:solidFill>
              </a:rPr>
              <a:t>keys are the different </a:t>
            </a:r>
            <a:r>
              <a:rPr lang="en-US"/>
              <a:t>(Public Key and Private Key). 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b="1" lang="en-US">
                <a:solidFill>
                  <a:schemeClr val="accent6"/>
                </a:solidFill>
              </a:rPr>
              <a:t>Messages are encrypted by sender with one key (Public Key) </a:t>
            </a:r>
            <a:r>
              <a:rPr lang="en-US"/>
              <a:t>and </a:t>
            </a:r>
            <a:r>
              <a:rPr b="1" lang="en-US">
                <a:solidFill>
                  <a:schemeClr val="accent6"/>
                </a:solidFill>
              </a:rPr>
              <a:t>can be decrypted by receiver only by the other key (Private Key)</a:t>
            </a:r>
            <a:r>
              <a:rPr lang="en-US"/>
              <a:t>. 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Asymmetric key encryption is </a:t>
            </a:r>
            <a:r>
              <a:rPr b="1" lang="en-US">
                <a:solidFill>
                  <a:schemeClr val="accent6"/>
                </a:solidFill>
              </a:rPr>
              <a:t>slow in execution due to the high computational burden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6000"/>
              <a:buFont typeface="Roboto Condensed"/>
              <a:buNone/>
            </a:pPr>
            <a:r>
              <a:rPr lang="en-US">
                <a:solidFill>
                  <a:srgbClr val="5C2321"/>
                </a:solidFill>
              </a:rPr>
              <a:t>Access control methods</a:t>
            </a:r>
            <a:endParaRPr>
              <a:solidFill>
                <a:srgbClr val="5C2321"/>
              </a:solidFill>
            </a:endParaRPr>
          </a:p>
        </p:txBody>
      </p:sp>
      <p:sp>
        <p:nvSpPr>
          <p:cNvPr id="434" name="Google Shape;434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Section –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5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Access control methods of data security</a:t>
            </a:r>
            <a:endParaRPr/>
          </a:p>
        </p:txBody>
      </p:sp>
      <p:sp>
        <p:nvSpPr>
          <p:cNvPr id="440" name="Google Shape;440;p15"/>
          <p:cNvSpPr txBox="1"/>
          <p:nvPr>
            <p:ph idx="1" type="body"/>
          </p:nvPr>
        </p:nvSpPr>
        <p:spPr>
          <a:xfrm>
            <a:off x="131175" y="863450"/>
            <a:ext cx="11929500" cy="5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There are three different methods of data access control:</a:t>
            </a:r>
            <a:endParaRPr/>
          </a:p>
          <a:p>
            <a:pPr indent="-45720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arabicPeriod"/>
            </a:pPr>
            <a:r>
              <a:rPr lang="en-US"/>
              <a:t>Discretionary access control (DAC)</a:t>
            </a:r>
            <a:endParaRPr/>
          </a:p>
          <a:p>
            <a:pPr indent="-45720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arabicPeriod"/>
            </a:pPr>
            <a:r>
              <a:rPr lang="en-US"/>
              <a:t>Mandatory access control (MAC)</a:t>
            </a:r>
            <a:endParaRPr/>
          </a:p>
          <a:p>
            <a:pPr indent="-45720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Condensed"/>
              <a:buAutoNum type="arabicPeriod"/>
            </a:pPr>
            <a:r>
              <a:rPr lang="en-US"/>
              <a:t>Role based access control (RBAC)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6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Discretionary access control</a:t>
            </a:r>
            <a:endParaRPr/>
          </a:p>
        </p:txBody>
      </p:sp>
      <p:sp>
        <p:nvSpPr>
          <p:cNvPr id="446" name="Google Shape;446;p16"/>
          <p:cNvSpPr txBox="1"/>
          <p:nvPr>
            <p:ph idx="1" type="body"/>
          </p:nvPr>
        </p:nvSpPr>
        <p:spPr>
          <a:xfrm>
            <a:off x="131175" y="863450"/>
            <a:ext cx="11929500" cy="5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In discretionary access control (DAC), the </a:t>
            </a:r>
            <a:r>
              <a:rPr b="1" lang="en-US">
                <a:solidFill>
                  <a:schemeClr val="accent6"/>
                </a:solidFill>
              </a:rPr>
              <a:t>owner of the object specifies (decides) which subjects (user) can access the object</a:t>
            </a:r>
            <a:r>
              <a:rPr lang="en-US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In this method a </a:t>
            </a:r>
            <a:r>
              <a:rPr b="1" lang="en-US">
                <a:solidFill>
                  <a:schemeClr val="accent6"/>
                </a:solidFill>
              </a:rPr>
              <a:t>single user can have different rights on different objects</a:t>
            </a:r>
            <a:r>
              <a:rPr lang="en-US"/>
              <a:t>, as well as </a:t>
            </a:r>
            <a:r>
              <a:rPr b="1" lang="en-US">
                <a:solidFill>
                  <a:schemeClr val="accent6"/>
                </a:solidFill>
              </a:rPr>
              <a:t>different user can have different rights on the same objects</a:t>
            </a:r>
            <a:r>
              <a:rPr lang="en-US"/>
              <a:t>.</a:t>
            </a:r>
            <a:endParaRPr/>
          </a:p>
        </p:txBody>
      </p:sp>
      <p:graphicFrame>
        <p:nvGraphicFramePr>
          <p:cNvPr id="447" name="Google Shape;447;p16"/>
          <p:cNvGraphicFramePr/>
          <p:nvPr/>
        </p:nvGraphicFramePr>
        <p:xfrm>
          <a:off x="4097411" y="36013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{FBE5D796-A4FE-4217-AEF4-1E59EF0B0B01}</a:tableStyleId>
              </a:tblPr>
              <a:tblGrid>
                <a:gridCol w="844875"/>
                <a:gridCol w="851225"/>
                <a:gridCol w="859150"/>
                <a:gridCol w="638500"/>
                <a:gridCol w="551175"/>
                <a:gridCol w="4734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RollNo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Branch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Sem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SPI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Raju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Mitesh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boto Condensed"/>
                        <a:buNone/>
                      </a:pPr>
                      <a:r>
                        <a:rPr lang="en-US" sz="1800"/>
                        <a:t>102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Jay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CE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8" name="Google Shape;448;p16"/>
          <p:cNvGraphicFramePr/>
          <p:nvPr/>
        </p:nvGraphicFramePr>
        <p:xfrm>
          <a:off x="4097411" y="32377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{FBE5D796-A4FE-4217-AEF4-1E59EF0B0B01}</a:tableStyleId>
              </a:tblPr>
              <a:tblGrid>
                <a:gridCol w="914400"/>
              </a:tblGrid>
              <a:tr h="28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Student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7C7"/>
                    </a:solidFill>
                  </a:tcPr>
                </a:tc>
              </a:tr>
            </a:tbl>
          </a:graphicData>
        </a:graphic>
      </p:graphicFrame>
      <p:pic>
        <p:nvPicPr>
          <p:cNvPr id="449" name="Google Shape;4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290" y="5345188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7228" y="228712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2290" y="228712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07228" y="5345188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6"/>
          <p:cNvSpPr txBox="1"/>
          <p:nvPr/>
        </p:nvSpPr>
        <p:spPr>
          <a:xfrm>
            <a:off x="9512519" y="2468696"/>
            <a:ext cx="638324" cy="369332"/>
          </a:xfrm>
          <a:prstGeom prst="rect">
            <a:avLst/>
          </a:prstGeom>
          <a:solidFill>
            <a:srgbClr val="F0D9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HOD</a:t>
            </a:r>
            <a:endParaRPr b="1"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54" name="Google Shape;454;p16"/>
          <p:cNvSpPr txBox="1"/>
          <p:nvPr/>
        </p:nvSpPr>
        <p:spPr>
          <a:xfrm>
            <a:off x="9512519" y="5554105"/>
            <a:ext cx="1280160" cy="365760"/>
          </a:xfrm>
          <a:prstGeom prst="rect">
            <a:avLst/>
          </a:prstGeom>
          <a:solidFill>
            <a:srgbClr val="C7E4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Coordinator </a:t>
            </a:r>
            <a:endParaRPr b="1"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55" name="Google Shape;455;p16"/>
          <p:cNvSpPr txBox="1"/>
          <p:nvPr/>
        </p:nvSpPr>
        <p:spPr>
          <a:xfrm>
            <a:off x="2044923" y="5552319"/>
            <a:ext cx="914400" cy="365760"/>
          </a:xfrm>
          <a:prstGeom prst="rect">
            <a:avLst/>
          </a:prstGeom>
          <a:solidFill>
            <a:srgbClr val="E6F2D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Faculty</a:t>
            </a:r>
            <a:endParaRPr b="1"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56" name="Google Shape;456;p16"/>
          <p:cNvSpPr txBox="1"/>
          <p:nvPr/>
        </p:nvSpPr>
        <p:spPr>
          <a:xfrm>
            <a:off x="2044923" y="2468696"/>
            <a:ext cx="914400" cy="36576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Student</a:t>
            </a:r>
            <a:endParaRPr b="1"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457" name="Google Shape;457;p16"/>
          <p:cNvCxnSpPr/>
          <p:nvPr/>
        </p:nvCxnSpPr>
        <p:spPr>
          <a:xfrm flipH="1" rot="10800000">
            <a:off x="8278500" y="3162300"/>
            <a:ext cx="580118" cy="451758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8" name="Google Shape;458;p16"/>
          <p:cNvCxnSpPr/>
          <p:nvPr/>
        </p:nvCxnSpPr>
        <p:spPr>
          <a:xfrm>
            <a:off x="8278500" y="5211533"/>
            <a:ext cx="745218" cy="317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9" name="Google Shape;459;p16"/>
          <p:cNvCxnSpPr/>
          <p:nvPr/>
        </p:nvCxnSpPr>
        <p:spPr>
          <a:xfrm flipH="1">
            <a:off x="3504169" y="5230582"/>
            <a:ext cx="587188" cy="284162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0" name="Google Shape;460;p16"/>
          <p:cNvCxnSpPr/>
          <p:nvPr/>
        </p:nvCxnSpPr>
        <p:spPr>
          <a:xfrm rot="10800000">
            <a:off x="3657971" y="3162300"/>
            <a:ext cx="433386" cy="451758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1" name="Google Shape;461;p16"/>
          <p:cNvSpPr txBox="1"/>
          <p:nvPr/>
        </p:nvSpPr>
        <p:spPr>
          <a:xfrm>
            <a:off x="8568559" y="3400369"/>
            <a:ext cx="3200400" cy="646331"/>
          </a:xfrm>
          <a:prstGeom prst="rect">
            <a:avLst/>
          </a:prstGeom>
          <a:solidFill>
            <a:srgbClr val="F0D9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Read and Write (Full rights)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On entire table (3 tuples)</a:t>
            </a:r>
            <a:endParaRPr b="1"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62" name="Google Shape;462;p16"/>
          <p:cNvSpPr txBox="1"/>
          <p:nvPr/>
        </p:nvSpPr>
        <p:spPr>
          <a:xfrm>
            <a:off x="8568559" y="4672741"/>
            <a:ext cx="3200400" cy="646331"/>
          </a:xfrm>
          <a:prstGeom prst="rect">
            <a:avLst/>
          </a:prstGeom>
          <a:solidFill>
            <a:srgbClr val="F0D9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Read and Write (Full rights)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Partial table (2 or 1 tuples)</a:t>
            </a:r>
            <a:endParaRPr b="1"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63" name="Google Shape;463;p16"/>
          <p:cNvSpPr txBox="1"/>
          <p:nvPr/>
        </p:nvSpPr>
        <p:spPr>
          <a:xfrm>
            <a:off x="663378" y="3400369"/>
            <a:ext cx="3200400" cy="646331"/>
          </a:xfrm>
          <a:prstGeom prst="rect">
            <a:avLst/>
          </a:prstGeom>
          <a:solidFill>
            <a:srgbClr val="F0D9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Read (Partial rights)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Partial table (Only 1 tuple)</a:t>
            </a:r>
            <a:endParaRPr b="1"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64" name="Google Shape;464;p16"/>
          <p:cNvSpPr txBox="1"/>
          <p:nvPr/>
        </p:nvSpPr>
        <p:spPr>
          <a:xfrm>
            <a:off x="663378" y="4672741"/>
            <a:ext cx="3200400" cy="646331"/>
          </a:xfrm>
          <a:prstGeom prst="rect">
            <a:avLst/>
          </a:prstGeom>
          <a:solidFill>
            <a:srgbClr val="F0D9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Read (Partial rights)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Partial table (2 or 1 tuples)</a:t>
            </a:r>
            <a:endParaRPr b="1"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7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Discretionary access control</a:t>
            </a:r>
            <a:endParaRPr/>
          </a:p>
        </p:txBody>
      </p:sp>
      <p:sp>
        <p:nvSpPr>
          <p:cNvPr id="470" name="Google Shape;470;p17"/>
          <p:cNvSpPr txBox="1"/>
          <p:nvPr>
            <p:ph idx="1" type="body"/>
          </p:nvPr>
        </p:nvSpPr>
        <p:spPr>
          <a:xfrm>
            <a:off x="131175" y="863450"/>
            <a:ext cx="11929500" cy="5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SQL support discretionary access control through the </a:t>
            </a:r>
            <a:r>
              <a:rPr b="1" lang="en-US">
                <a:solidFill>
                  <a:schemeClr val="accent6"/>
                </a:solidFill>
              </a:rPr>
              <a:t>GRANT</a:t>
            </a:r>
            <a:r>
              <a:rPr lang="en-US"/>
              <a:t> and </a:t>
            </a:r>
            <a:r>
              <a:rPr b="1" lang="en-US">
                <a:solidFill>
                  <a:schemeClr val="accent6"/>
                </a:solidFill>
              </a:rPr>
              <a:t>REVOKE</a:t>
            </a:r>
            <a:r>
              <a:rPr lang="en-US"/>
              <a:t> commands.</a:t>
            </a:r>
            <a:endParaRPr/>
          </a:p>
          <a:p>
            <a:pPr indent="-1127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GRANT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This command </a:t>
            </a:r>
            <a:r>
              <a:rPr b="1" lang="en-US">
                <a:solidFill>
                  <a:schemeClr val="accent6"/>
                </a:solidFill>
              </a:rPr>
              <a:t>gives rights to user </a:t>
            </a:r>
            <a:r>
              <a:rPr lang="en-US"/>
              <a:t>for an object.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Syntax:- 	</a:t>
            </a:r>
            <a:r>
              <a:rPr lang="en-US">
                <a:solidFill>
                  <a:schemeClr val="dk2"/>
                </a:solidFill>
              </a:rPr>
              <a:t>GRANT privilege ON object TO user [WITH GRANT OPTION]</a:t>
            </a:r>
            <a:endParaRPr/>
          </a:p>
          <a:p>
            <a:pPr indent="-1127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REVOKE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This command </a:t>
            </a:r>
            <a:r>
              <a:rPr b="1" lang="en-US">
                <a:solidFill>
                  <a:schemeClr val="accent6"/>
                </a:solidFill>
              </a:rPr>
              <a:t>takes back rights </a:t>
            </a:r>
            <a:r>
              <a:rPr lang="en-US"/>
              <a:t>from user for an object.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Syntax:- 	</a:t>
            </a:r>
            <a:r>
              <a:rPr lang="en-US">
                <a:solidFill>
                  <a:schemeClr val="dk2"/>
                </a:solidFill>
              </a:rPr>
              <a:t>REVOKE privilege ON object FROM user {RESTRICT/CASCADE}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8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Mandatory access control</a:t>
            </a:r>
            <a:endParaRPr/>
          </a:p>
        </p:txBody>
      </p:sp>
      <p:sp>
        <p:nvSpPr>
          <p:cNvPr id="476" name="Google Shape;476;p18"/>
          <p:cNvSpPr txBox="1"/>
          <p:nvPr>
            <p:ph idx="1" type="body"/>
          </p:nvPr>
        </p:nvSpPr>
        <p:spPr>
          <a:xfrm>
            <a:off x="131175" y="863450"/>
            <a:ext cx="11929500" cy="5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In this method individual user cannot get rights. 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But </a:t>
            </a:r>
            <a:r>
              <a:rPr b="1" lang="en-US">
                <a:solidFill>
                  <a:schemeClr val="accent6"/>
                </a:solidFill>
              </a:rPr>
              <a:t>all the users as well as all the objects are classified into different categories</a:t>
            </a:r>
            <a:r>
              <a:rPr lang="en-US"/>
              <a:t>. </a:t>
            </a:r>
            <a:endParaRPr/>
          </a:p>
          <a:p>
            <a:pPr indent="-1127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127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Each </a:t>
            </a:r>
            <a:r>
              <a:rPr b="1" lang="en-US">
                <a:solidFill>
                  <a:schemeClr val="accent6"/>
                </a:solidFill>
              </a:rPr>
              <a:t>user is assigned a clearance level </a:t>
            </a:r>
            <a:r>
              <a:rPr lang="en-US"/>
              <a:t>and each </a:t>
            </a:r>
            <a:r>
              <a:rPr b="1" lang="en-US">
                <a:solidFill>
                  <a:schemeClr val="accent6"/>
                </a:solidFill>
              </a:rPr>
              <a:t>object is assigned a security level</a:t>
            </a:r>
            <a:r>
              <a:rPr lang="en-US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 </a:t>
            </a:r>
            <a:r>
              <a:rPr b="1" lang="en-US">
                <a:solidFill>
                  <a:schemeClr val="accent6"/>
                </a:solidFill>
              </a:rPr>
              <a:t>user can access object of particular security level only if he has proper clearance level</a:t>
            </a:r>
            <a:r>
              <a:rPr lang="en-US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The DBMS (system) determines whether the given user can read or write a given object based on some rules.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This rule makes sure that sensitive data can never be passed to a user without necessary clearance.</a:t>
            </a:r>
            <a:endParaRPr/>
          </a:p>
        </p:txBody>
      </p:sp>
      <p:graphicFrame>
        <p:nvGraphicFramePr>
          <p:cNvPr id="477" name="Google Shape;477;p18"/>
          <p:cNvGraphicFramePr/>
          <p:nvPr/>
        </p:nvGraphicFramePr>
        <p:xfrm>
          <a:off x="406994" y="17215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{FBE5D796-A4FE-4217-AEF4-1E59EF0B0B01}</a:tableStyleId>
              </a:tblPr>
              <a:tblGrid>
                <a:gridCol w="1556050"/>
                <a:gridCol w="2077100"/>
                <a:gridCol w="2560325"/>
                <a:gridCol w="4606525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478" name="Google Shape;4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082" y="1769739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9081" y="1769739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7750" y="1769739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07354" y="1769739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0143" y="1769739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0348" y="1769739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1615" y="1769739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6511" y="1769739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0228" y="1769739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8989" y="1769739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39138" y="1769739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90325" y="1769739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22109" y="1769739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26757" y="1769739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58541" y="1769739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41512" y="1769739"/>
            <a:ext cx="640080" cy="6400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94" name="Google Shape;494;p18"/>
          <p:cNvGraphicFramePr/>
          <p:nvPr/>
        </p:nvGraphicFramePr>
        <p:xfrm>
          <a:off x="406994" y="29021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{FBE5D796-A4FE-4217-AEF4-1E59EF0B0B01}</a:tableStyleId>
              </a:tblPr>
              <a:tblGrid>
                <a:gridCol w="1556050"/>
                <a:gridCol w="2077100"/>
                <a:gridCol w="2560325"/>
                <a:gridCol w="4606525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4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Database Table Icon Png &amp; Free Database Table Icon.png Transparent Images  #74578 - PNGio" id="495" name="Google Shape;49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7082" y="294466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Table Icon Png &amp; Free Database Table Icon.png Transparent Images  #74578 - PNGio" id="496" name="Google Shape;49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35638" y="294466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Table Icon Png &amp; Free Database Table Icon.png Transparent Images  #74578 - PNGio" id="497" name="Google Shape;49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68771" y="294466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Table Icon Png &amp; Free Database Table Icon.png Transparent Images  #74578 - PNGio" id="498" name="Google Shape;49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1551" y="294466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Table Icon Png &amp; Free Database Table Icon.png Transparent Images  #74578 - PNGio" id="499" name="Google Shape;49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91927" y="2943535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Table Icon Png &amp; Free Database Table Icon.png Transparent Images  #74578 - PNGio" id="500" name="Google Shape;50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89538" y="2943535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Table Icon Png &amp; Free Database Table Icon.png Transparent Images  #74578 - PNGio" id="501" name="Google Shape;50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7149" y="294466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Table Icon Png &amp; Free Database Table Icon.png Transparent Images  #74578 - PNGio" id="502" name="Google Shape;50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25688" y="294241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Table Icon Png &amp; Free Database Table Icon.png Transparent Images  #74578 - PNGio" id="503" name="Google Shape;50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53516" y="294241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Table Icon Png &amp; Free Database Table Icon.png Transparent Images  #74578 - PNGio" id="504" name="Google Shape;50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81344" y="2943535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Table Icon Png &amp; Free Database Table Icon.png Transparent Images  #74578 - PNGio" id="505" name="Google Shape;50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09172" y="2941285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Table Icon Png &amp; Free Database Table Icon.png Transparent Images  #74578 - PNGio" id="506" name="Google Shape;50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37001" y="2941285"/>
            <a:ext cx="640080" cy="6400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7" name="Google Shape;507;p18"/>
          <p:cNvGraphicFramePr/>
          <p:nvPr/>
        </p:nvGraphicFramePr>
        <p:xfrm>
          <a:off x="406994" y="24789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{FBE5D796-A4FE-4217-AEF4-1E59EF0B0B01}</a:tableStyleId>
              </a:tblPr>
              <a:tblGrid>
                <a:gridCol w="1556050"/>
                <a:gridCol w="2077100"/>
                <a:gridCol w="2560325"/>
                <a:gridCol w="46065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Top Secret</a:t>
                      </a:r>
                      <a:endParaRPr b="0" sz="2000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Secret</a:t>
                      </a:r>
                      <a:endParaRPr b="0" sz="2400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Confidential</a:t>
                      </a:r>
                      <a:r>
                        <a:rPr lang="en-US" sz="1800">
                          <a:solidFill>
                            <a:schemeClr val="accent6"/>
                          </a:solidFill>
                        </a:rPr>
                        <a:t> </a:t>
                      </a:r>
                      <a:endParaRPr b="0" sz="2000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chemeClr val="accent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Unclassified</a:t>
                      </a:r>
                      <a:r>
                        <a:rPr lang="en-US" sz="1800">
                          <a:solidFill>
                            <a:schemeClr val="accent6"/>
                          </a:solidFill>
                        </a:rPr>
                        <a:t> </a:t>
                      </a:r>
                      <a:endParaRPr b="0" sz="2000">
                        <a:solidFill>
                          <a:schemeClr val="accent6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9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Mandatory access control</a:t>
            </a:r>
            <a:endParaRPr/>
          </a:p>
        </p:txBody>
      </p:sp>
      <p:sp>
        <p:nvSpPr>
          <p:cNvPr id="513" name="Google Shape;513;p19"/>
          <p:cNvSpPr txBox="1"/>
          <p:nvPr>
            <p:ph idx="1" type="body"/>
          </p:nvPr>
        </p:nvSpPr>
        <p:spPr>
          <a:xfrm>
            <a:off x="131175" y="863450"/>
            <a:ext cx="11929500" cy="5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Mandatory access control technique for multi-level security uses four components: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Subjects:- Such as users, accounts, programs etc.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Objects:- Such as relation (table), tuples (records), attribute (column), view etc.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Clearance level:- Such as top secret (TS), secret (S), confidential (C), Unclassified (U). Each subject is classified into one of these four classes.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Security level:- Such as top secret (TS), secret (S), confidential (C), Unclassified (U). Each object is classified into one of these four classes.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In the above system </a:t>
            </a:r>
            <a:r>
              <a:rPr b="1" lang="en-US">
                <a:solidFill>
                  <a:schemeClr val="accent6"/>
                </a:solidFill>
              </a:rPr>
              <a:t>TS&gt;S&gt;C&gt;U</a:t>
            </a:r>
            <a:r>
              <a:rPr lang="en-US"/>
              <a:t>, where </a:t>
            </a:r>
            <a:r>
              <a:rPr b="1" lang="en-US">
                <a:solidFill>
                  <a:schemeClr val="accent6"/>
                </a:solidFill>
              </a:rPr>
              <a:t>TS&gt;S means class TS object is more sensitive than class S object</a:t>
            </a:r>
            <a:r>
              <a:rPr lang="en-US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A user can access data by following two rules 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Security property:-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Security property states that a </a:t>
            </a:r>
            <a:r>
              <a:rPr b="1" lang="en-US">
                <a:solidFill>
                  <a:schemeClr val="accent6"/>
                </a:solidFill>
              </a:rPr>
              <a:t>subject at a given security level may not read an object at a higher security level</a:t>
            </a:r>
            <a:r>
              <a:rPr lang="en-US"/>
              <a:t>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Star (*) security property:-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Star (*) property states that a </a:t>
            </a:r>
            <a:r>
              <a:rPr b="1" lang="en-US">
                <a:solidFill>
                  <a:schemeClr val="accent6"/>
                </a:solidFill>
              </a:rPr>
              <a:t>subject at a given security level may not write to any object at a lower security level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0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Role based access control (RBAC) rules</a:t>
            </a:r>
            <a:endParaRPr/>
          </a:p>
        </p:txBody>
      </p:sp>
      <p:sp>
        <p:nvSpPr>
          <p:cNvPr id="519" name="Google Shape;519;p20"/>
          <p:cNvSpPr txBox="1"/>
          <p:nvPr>
            <p:ph idx="1" type="body"/>
          </p:nvPr>
        </p:nvSpPr>
        <p:spPr>
          <a:xfrm>
            <a:off x="131175" y="863450"/>
            <a:ext cx="11929500" cy="5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It restricts database access </a:t>
            </a:r>
            <a:r>
              <a:rPr b="1" lang="en-US">
                <a:solidFill>
                  <a:schemeClr val="accent6"/>
                </a:solidFill>
              </a:rPr>
              <a:t>based on a person's role within an organization</a:t>
            </a:r>
            <a:r>
              <a:rPr lang="en-US"/>
              <a:t>. The roles in RBAC refer to the levels of access that employees have to the network.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Employees are only </a:t>
            </a:r>
            <a:r>
              <a:rPr b="1" lang="en-US">
                <a:solidFill>
                  <a:schemeClr val="accent6"/>
                </a:solidFill>
              </a:rPr>
              <a:t>allowed to access the information necessary to effectively perform their job duties</a:t>
            </a:r>
            <a:r>
              <a:rPr lang="en-US"/>
              <a:t>. 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b="1" lang="en-US">
                <a:solidFill>
                  <a:schemeClr val="accent6"/>
                </a:solidFill>
              </a:rPr>
              <a:t>Access can be based </a:t>
            </a:r>
            <a:r>
              <a:rPr lang="en-US"/>
              <a:t>on several factors, such as </a:t>
            </a:r>
            <a:r>
              <a:rPr b="1" lang="en-US">
                <a:solidFill>
                  <a:schemeClr val="accent6"/>
                </a:solidFill>
              </a:rPr>
              <a:t>authority, responsibility, and job competency</a:t>
            </a:r>
            <a:r>
              <a:rPr lang="en-US"/>
              <a:t>. 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In addition, access to computer resources can be limited to specific tasks such as the ability to view, create, or modify a file.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Lower-level employees usually do not have access to sensitive data if they do not need it to fulfil their responsibilities. 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Using RBAC will help in securing your company’s sensitive data and important applications.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Jay">
      <a:dk1>
        <a:srgbClr val="212121"/>
      </a:dk1>
      <a:lt1>
        <a:srgbClr val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2020-05-01T05:09:15Z</dcterms:created>
  <dc:creator>ADMIN</dc:creator>
</cp:coreProperties>
</file>