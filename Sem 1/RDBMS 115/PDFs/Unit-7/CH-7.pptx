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y="5143500" cx="9144000"/>
  <p:notesSz cx="6858000" cy="9144000"/>
  <p:embeddedFontLst>
    <p:embeddedFont>
      <p:font typeface="Nunito"/>
      <p:regular r:id="rId40"/>
      <p:bold r:id="rId41"/>
      <p:italic r:id="rId42"/>
      <p:boldItalic r:id="rId43"/>
    </p:embeddedFont>
    <p:embeddedFont>
      <p:font typeface="PT Sans Narrow"/>
      <p:regular r:id="rId44"/>
      <p:bold r:id="rId45"/>
    </p:embeddedFont>
    <p:embeddedFont>
      <p:font typeface="Roboto Mono"/>
      <p:regular r:id="rId46"/>
      <p:bold r:id="rId47"/>
      <p:italic r:id="rId48"/>
      <p:boldItalic r:id="rId49"/>
    </p:embeddedFont>
    <p:embeddedFont>
      <p:font typeface="Open Sans"/>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29C3603-AB32-4E62-8A1A-BE80AA933B98}">
  <a:tblStyle styleId="{429C3603-AB32-4E62-8A1A-BE80AA933B9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Nunito-regular.fntdata"/><Relationship Id="rId42" Type="http://schemas.openxmlformats.org/officeDocument/2006/relationships/font" Target="fonts/Nunito-italic.fntdata"/><Relationship Id="rId41" Type="http://schemas.openxmlformats.org/officeDocument/2006/relationships/font" Target="fonts/Nunito-bold.fntdata"/><Relationship Id="rId44" Type="http://schemas.openxmlformats.org/officeDocument/2006/relationships/font" Target="fonts/PTSansNarrow-regular.fntdata"/><Relationship Id="rId43" Type="http://schemas.openxmlformats.org/officeDocument/2006/relationships/font" Target="fonts/Nunito-boldItalic.fntdata"/><Relationship Id="rId46" Type="http://schemas.openxmlformats.org/officeDocument/2006/relationships/font" Target="fonts/RobotoMono-regular.fntdata"/><Relationship Id="rId45" Type="http://schemas.openxmlformats.org/officeDocument/2006/relationships/font" Target="fonts/PTSansNarrow-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RobotoMono-italic.fntdata"/><Relationship Id="rId47" Type="http://schemas.openxmlformats.org/officeDocument/2006/relationships/font" Target="fonts/RobotoMono-bold.fntdata"/><Relationship Id="rId49" Type="http://schemas.openxmlformats.org/officeDocument/2006/relationships/font" Target="fonts/RobotoMono-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OpenSans-bold.fntdata"/><Relationship Id="rId50" Type="http://schemas.openxmlformats.org/officeDocument/2006/relationships/font" Target="fonts/OpenSans-regular.fntdata"/><Relationship Id="rId53" Type="http://schemas.openxmlformats.org/officeDocument/2006/relationships/font" Target="fonts/OpenSans-boldItalic.fntdata"/><Relationship Id="rId52" Type="http://schemas.openxmlformats.org/officeDocument/2006/relationships/font" Target="fonts/OpenSans-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a1e86e77e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a1e86e77e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a1e86e77e1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a1e86e77e1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a1e86e77e1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a1e86e77e1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a1e86e77e1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a1e86e77e1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a1e86e77e1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a1e86e77e1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a1e86e77e1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a1e86e77e1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a1e86e77e1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a1e86e77e1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a1e86e77e1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a1e86e77e1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a1e86e77e1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a1e86e77e1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a1e86e77e1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a1e86e77e1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a1e86e77e1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a1e86e77e1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a1e86e77e1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a1e86e77e1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a202f14ead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a202f14ea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a202f14ea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a202f14ea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a202f14ead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a202f14ea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a202f14ead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a202f14ead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a2485537d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a2485537d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a2485537d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a2485537d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a2485537d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a2485537d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a2485537d6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a2485537d6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a2485537d6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a2485537d6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a2485537d6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a2485537d6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a2485537d6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a2485537d6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a2485537d6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a2485537d6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a2485537d6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a2485537d6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a2485537d6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a2485537d6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a2485537d6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a2485537d6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a2f7d365a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a2f7d365a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a2f7d365a2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a2f7d365a2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a2f7d365a2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a2f7d365a2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a2f7d365a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a2f7d365a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a2f7d365a2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a2f7d365a2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2"/>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2"/>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2"/>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2"/>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9" name="Google Shape;19;p2"/>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p:txBody>
      </p:sp>
      <p:sp>
        <p:nvSpPr>
          <p:cNvPr id="24" name="Google Shape;24;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8" name="Google Shape;28;p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2" name="Google Shape;32;p5"/>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5"/>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6"/>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7" name="Google Shape;3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2" name="Shape 42"/>
        <p:cNvGrpSpPr/>
        <p:nvPr/>
      </p:nvGrpSpPr>
      <p:grpSpPr>
        <a:xfrm>
          <a:off x="0" y="0"/>
          <a:ext cx="0" cy="0"/>
          <a:chOff x="0" y="0"/>
          <a:chExt cx="0" cy="0"/>
        </a:xfrm>
      </p:grpSpPr>
      <p:sp>
        <p:nvSpPr>
          <p:cNvPr id="43" name="Google Shape;43;p8"/>
          <p:cNvSpPr txBox="1"/>
          <p:nvPr>
            <p:ph type="title"/>
          </p:nvPr>
        </p:nvSpPr>
        <p:spPr>
          <a:xfrm>
            <a:off x="490250" y="526350"/>
            <a:ext cx="56136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2"/>
              </a:buClr>
              <a:buSzPts val="5400"/>
              <a:buNone/>
              <a:defRPr b="0" sz="5400">
                <a:solidFill>
                  <a:schemeClr val="dk2"/>
                </a:solidFill>
              </a:defRPr>
            </a:lvl1pPr>
            <a:lvl2pPr lvl="1">
              <a:spcBef>
                <a:spcPts val="0"/>
              </a:spcBef>
              <a:spcAft>
                <a:spcPts val="0"/>
              </a:spcAft>
              <a:buClr>
                <a:schemeClr val="dk2"/>
              </a:buClr>
              <a:buSzPts val="5400"/>
              <a:buNone/>
              <a:defRPr b="0" sz="5400">
                <a:solidFill>
                  <a:schemeClr val="dk2"/>
                </a:solidFill>
              </a:defRPr>
            </a:lvl2pPr>
            <a:lvl3pPr lvl="2">
              <a:spcBef>
                <a:spcPts val="0"/>
              </a:spcBef>
              <a:spcAft>
                <a:spcPts val="0"/>
              </a:spcAft>
              <a:buClr>
                <a:schemeClr val="dk2"/>
              </a:buClr>
              <a:buSzPts val="5400"/>
              <a:buNone/>
              <a:defRPr b="0" sz="5400">
                <a:solidFill>
                  <a:schemeClr val="dk2"/>
                </a:solidFill>
              </a:defRPr>
            </a:lvl3pPr>
            <a:lvl4pPr lvl="3">
              <a:spcBef>
                <a:spcPts val="0"/>
              </a:spcBef>
              <a:spcAft>
                <a:spcPts val="0"/>
              </a:spcAft>
              <a:buClr>
                <a:schemeClr val="dk2"/>
              </a:buClr>
              <a:buSzPts val="5400"/>
              <a:buNone/>
              <a:defRPr b="0" sz="5400">
                <a:solidFill>
                  <a:schemeClr val="dk2"/>
                </a:solidFill>
              </a:defRPr>
            </a:lvl4pPr>
            <a:lvl5pPr lvl="4">
              <a:spcBef>
                <a:spcPts val="0"/>
              </a:spcBef>
              <a:spcAft>
                <a:spcPts val="0"/>
              </a:spcAft>
              <a:buClr>
                <a:schemeClr val="dk2"/>
              </a:buClr>
              <a:buSzPts val="5400"/>
              <a:buNone/>
              <a:defRPr b="0" sz="5400">
                <a:solidFill>
                  <a:schemeClr val="dk2"/>
                </a:solidFill>
              </a:defRPr>
            </a:lvl5pPr>
            <a:lvl6pPr lvl="5">
              <a:spcBef>
                <a:spcPts val="0"/>
              </a:spcBef>
              <a:spcAft>
                <a:spcPts val="0"/>
              </a:spcAft>
              <a:buClr>
                <a:schemeClr val="dk2"/>
              </a:buClr>
              <a:buSzPts val="5400"/>
              <a:buNone/>
              <a:defRPr b="0" sz="5400">
                <a:solidFill>
                  <a:schemeClr val="dk2"/>
                </a:solidFill>
              </a:defRPr>
            </a:lvl6pPr>
            <a:lvl7pPr lvl="6">
              <a:spcBef>
                <a:spcPts val="0"/>
              </a:spcBef>
              <a:spcAft>
                <a:spcPts val="0"/>
              </a:spcAft>
              <a:buClr>
                <a:schemeClr val="dk2"/>
              </a:buClr>
              <a:buSzPts val="5400"/>
              <a:buNone/>
              <a:defRPr b="0" sz="5400">
                <a:solidFill>
                  <a:schemeClr val="dk2"/>
                </a:solidFill>
              </a:defRPr>
            </a:lvl7pPr>
            <a:lvl8pPr lvl="7">
              <a:spcBef>
                <a:spcPts val="0"/>
              </a:spcBef>
              <a:spcAft>
                <a:spcPts val="0"/>
              </a:spcAft>
              <a:buClr>
                <a:schemeClr val="dk2"/>
              </a:buClr>
              <a:buSzPts val="5400"/>
              <a:buNone/>
              <a:defRPr b="0" sz="5400">
                <a:solidFill>
                  <a:schemeClr val="dk2"/>
                </a:solidFill>
              </a:defRPr>
            </a:lvl8pPr>
            <a:lvl9pPr lvl="8">
              <a:spcBef>
                <a:spcPts val="0"/>
              </a:spcBef>
              <a:spcAft>
                <a:spcPts val="0"/>
              </a:spcAft>
              <a:buClr>
                <a:schemeClr val="dk2"/>
              </a:buClr>
              <a:buSzPts val="5400"/>
              <a:buNone/>
              <a:defRPr b="0" sz="5400">
                <a:solidFill>
                  <a:schemeClr val="dk2"/>
                </a:solidFill>
              </a:defRPr>
            </a:lvl9pPr>
          </a:lstStyle>
          <a:p/>
        </p:txBody>
      </p:sp>
      <p:sp>
        <p:nvSpPr>
          <p:cNvPr id="44" name="Google Shape;4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 name="Google Shape;47;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p9"/>
          <p:cNvSpPr txBox="1"/>
          <p:nvPr>
            <p:ph type="title"/>
          </p:nvPr>
        </p:nvSpPr>
        <p:spPr>
          <a:xfrm>
            <a:off x="265500" y="1039675"/>
            <a:ext cx="4045200" cy="16758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9" name="Google Shape;49;p9"/>
          <p:cNvSpPr txBox="1"/>
          <p:nvPr>
            <p:ph idx="1" type="subTitle"/>
          </p:nvPr>
        </p:nvSpPr>
        <p:spPr>
          <a:xfrm>
            <a:off x="265500" y="27268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ph idx="1" type="body"/>
          </p:nvPr>
        </p:nvSpPr>
        <p:spPr>
          <a:xfrm>
            <a:off x="311700" y="4230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4" name="Google Shape;5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1"/>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p:nvPr>
            <p:ph idx="1" type="body"/>
          </p:nvPr>
        </p:nvSpPr>
        <p:spPr>
          <a:xfrm>
            <a:off x="311700" y="29956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9" name="Google Shape;5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7" name="Google Shape;7;p1"/>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www.geeksforgeeks.org/dbms/document-databases-in-nosql/" TargetMode="External"/><Relationship Id="rId4" Type="http://schemas.openxmlformats.org/officeDocument/2006/relationships/hyperlink" Target="https://www.geeksforgeeks.org/websites-apps/what-is-x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www.geeksforgeeks.org/dbms/key-value-data-model-in-nosq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www.geeksforgeeks.org/dbms/what-is-databas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www.geeksforgeeks.org/dbms/graph-based-data-model-in-nosq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3"/>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CH-7</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 to NoSQL</a:t>
            </a:r>
            <a:endParaRPr/>
          </a:p>
        </p:txBody>
      </p:sp>
      <p:sp>
        <p:nvSpPr>
          <p:cNvPr id="72" name="Google Shape;72;p14"/>
          <p:cNvSpPr txBox="1"/>
          <p:nvPr>
            <p:ph idx="1" type="body"/>
          </p:nvPr>
        </p:nvSpPr>
        <p:spPr>
          <a:xfrm>
            <a:off x="311700" y="1266325"/>
            <a:ext cx="8520600" cy="2170500"/>
          </a:xfrm>
          <a:prstGeom prst="rect">
            <a:avLst/>
          </a:prstGeom>
        </p:spPr>
        <p:txBody>
          <a:bodyPr anchorCtr="0" anchor="t" bIns="91425" lIns="91425" spcFirstLastPara="1" rIns="91425" wrap="square" tIns="91425">
            <a:normAutofit/>
          </a:bodyPr>
          <a:lstStyle/>
          <a:p>
            <a:pPr indent="0" lvl="0" marL="0" rtl="0" algn="just">
              <a:spcBef>
                <a:spcPts val="0"/>
              </a:spcBef>
              <a:spcAft>
                <a:spcPts val="1200"/>
              </a:spcAft>
              <a:buNone/>
            </a:pPr>
            <a:r>
              <a:rPr lang="en" sz="1350">
                <a:solidFill>
                  <a:srgbClr val="273239"/>
                </a:solidFill>
                <a:highlight>
                  <a:srgbClr val="FFFFFF"/>
                </a:highlight>
                <a:latin typeface="Nunito"/>
                <a:ea typeface="Nunito"/>
                <a:cs typeface="Nunito"/>
                <a:sym typeface="Nunito"/>
              </a:rPr>
              <a:t>NoSQL (Not Only SQL) databases are designed to handle large volumes of unstructured and semi-structured data. Unlike traditional relational databases that rely on fixed schemas and tables, NoSQL offers flexible data models and supports horizontal scaling. This makes them well-suited for modern applications that require high performance, scalability, and the ability to manage diverse data types efficiently.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5"/>
          <p:cNvSpPr txBox="1"/>
          <p:nvPr>
            <p:ph idx="1" type="body"/>
          </p:nvPr>
        </p:nvSpPr>
        <p:spPr>
          <a:xfrm>
            <a:off x="311700" y="549650"/>
            <a:ext cx="8520600" cy="4019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b="1" lang="en">
                <a:solidFill>
                  <a:srgbClr val="273239"/>
                </a:solidFill>
                <a:highlight>
                  <a:srgbClr val="FFFFFF"/>
                </a:highlight>
                <a:latin typeface="Nunito"/>
                <a:ea typeface="Nunito"/>
                <a:cs typeface="Nunito"/>
                <a:sym typeface="Nunito"/>
              </a:rPr>
              <a:t>Key Features of NoSQL Databases</a:t>
            </a:r>
            <a:endParaRPr b="1">
              <a:solidFill>
                <a:srgbClr val="273239"/>
              </a:solidFill>
              <a:highlight>
                <a:srgbClr val="FFFFFF"/>
              </a:highlight>
              <a:latin typeface="Nunito"/>
              <a:ea typeface="Nunito"/>
              <a:cs typeface="Nunito"/>
              <a:sym typeface="Nunito"/>
            </a:endParaRPr>
          </a:p>
          <a:p>
            <a:pPr indent="-301466" lvl="0" marL="685800" rtl="0" algn="l">
              <a:lnSpc>
                <a:spcPct val="158000"/>
              </a:lnSpc>
              <a:spcBef>
                <a:spcPts val="0"/>
              </a:spcBef>
              <a:spcAft>
                <a:spcPts val="0"/>
              </a:spcAft>
              <a:buClr>
                <a:srgbClr val="273239"/>
              </a:buClr>
              <a:buSzPct val="100000"/>
              <a:buFont typeface="Nunito"/>
              <a:buChar char="●"/>
            </a:pPr>
            <a:r>
              <a:rPr b="1" lang="en" sz="1350">
                <a:solidFill>
                  <a:srgbClr val="273239"/>
                </a:solidFill>
                <a:highlight>
                  <a:srgbClr val="FFFFFF"/>
                </a:highlight>
                <a:latin typeface="Nunito"/>
                <a:ea typeface="Nunito"/>
                <a:cs typeface="Nunito"/>
                <a:sym typeface="Nunito"/>
              </a:rPr>
              <a:t>Dynamic schema: </a:t>
            </a:r>
            <a:r>
              <a:rPr lang="en" sz="1350">
                <a:solidFill>
                  <a:srgbClr val="273239"/>
                </a:solidFill>
                <a:highlight>
                  <a:srgbClr val="FFFFFF"/>
                </a:highlight>
                <a:latin typeface="Nunito"/>
                <a:ea typeface="Nunito"/>
                <a:cs typeface="Nunito"/>
                <a:sym typeface="Nunito"/>
              </a:rPr>
              <a:t>Allow flexible shaping of data to meet new requirements without the need to migrate or change schemas.</a:t>
            </a:r>
            <a:endParaRPr sz="1350">
              <a:solidFill>
                <a:srgbClr val="273239"/>
              </a:solidFill>
              <a:highlight>
                <a:srgbClr val="FFFFFF"/>
              </a:highlight>
              <a:latin typeface="Nunito"/>
              <a:ea typeface="Nunito"/>
              <a:cs typeface="Nunito"/>
              <a:sym typeface="Nunito"/>
            </a:endParaRPr>
          </a:p>
          <a:p>
            <a:pPr indent="-301466" lvl="0" marL="685800" rtl="0" algn="l">
              <a:lnSpc>
                <a:spcPct val="158000"/>
              </a:lnSpc>
              <a:spcBef>
                <a:spcPts val="0"/>
              </a:spcBef>
              <a:spcAft>
                <a:spcPts val="0"/>
              </a:spcAft>
              <a:buClr>
                <a:srgbClr val="273239"/>
              </a:buClr>
              <a:buSzPct val="100000"/>
              <a:buFont typeface="Nunito"/>
              <a:buChar char="●"/>
            </a:pPr>
            <a:r>
              <a:rPr b="1" lang="en" sz="1350">
                <a:solidFill>
                  <a:srgbClr val="273239"/>
                </a:solidFill>
                <a:highlight>
                  <a:srgbClr val="FFFFFF"/>
                </a:highlight>
                <a:latin typeface="Nunito"/>
                <a:ea typeface="Nunito"/>
                <a:cs typeface="Nunito"/>
                <a:sym typeface="Nunito"/>
              </a:rPr>
              <a:t>Horizontal scalability:</a:t>
            </a:r>
            <a:r>
              <a:rPr lang="en" sz="1350">
                <a:solidFill>
                  <a:srgbClr val="273239"/>
                </a:solidFill>
                <a:highlight>
                  <a:srgbClr val="FFFFFF"/>
                </a:highlight>
                <a:latin typeface="Nunito"/>
                <a:ea typeface="Nunito"/>
                <a:cs typeface="Nunito"/>
                <a:sym typeface="Nunito"/>
              </a:rPr>
              <a:t> They scale horizontally for adding more nodes into the existing ones and acquire enough storage for even bigger datasets and much higher traffic by distributing the load on multiple servers.</a:t>
            </a:r>
            <a:endParaRPr sz="1350">
              <a:solidFill>
                <a:srgbClr val="273239"/>
              </a:solidFill>
              <a:highlight>
                <a:srgbClr val="FFFFFF"/>
              </a:highlight>
              <a:latin typeface="Nunito"/>
              <a:ea typeface="Nunito"/>
              <a:cs typeface="Nunito"/>
              <a:sym typeface="Nunito"/>
            </a:endParaRPr>
          </a:p>
          <a:p>
            <a:pPr indent="-301466" lvl="0" marL="685800" rtl="0" algn="l">
              <a:lnSpc>
                <a:spcPct val="158000"/>
              </a:lnSpc>
              <a:spcBef>
                <a:spcPts val="0"/>
              </a:spcBef>
              <a:spcAft>
                <a:spcPts val="0"/>
              </a:spcAft>
              <a:buClr>
                <a:srgbClr val="273239"/>
              </a:buClr>
              <a:buSzPct val="100000"/>
              <a:buFont typeface="Nunito"/>
              <a:buChar char="●"/>
            </a:pPr>
            <a:r>
              <a:rPr b="1" lang="en" sz="1350">
                <a:solidFill>
                  <a:srgbClr val="273239"/>
                </a:solidFill>
                <a:highlight>
                  <a:srgbClr val="FFFFFF"/>
                </a:highlight>
                <a:latin typeface="Nunito"/>
                <a:ea typeface="Nunito"/>
                <a:cs typeface="Nunito"/>
                <a:sym typeface="Nunito"/>
              </a:rPr>
              <a:t>Document-based: </a:t>
            </a:r>
            <a:r>
              <a:rPr lang="en" sz="1350">
                <a:solidFill>
                  <a:srgbClr val="273239"/>
                </a:solidFill>
                <a:highlight>
                  <a:srgbClr val="FFFFFF"/>
                </a:highlight>
                <a:latin typeface="Nunito"/>
                <a:ea typeface="Nunito"/>
                <a:cs typeface="Nunito"/>
                <a:sym typeface="Nunito"/>
              </a:rPr>
              <a:t>Data are presented in flexible, semi-structured formats like JSON/BSON (e.g., MongoDB).</a:t>
            </a:r>
            <a:endParaRPr sz="1350">
              <a:solidFill>
                <a:srgbClr val="273239"/>
              </a:solidFill>
              <a:highlight>
                <a:srgbClr val="FFFFFF"/>
              </a:highlight>
              <a:latin typeface="Nunito"/>
              <a:ea typeface="Nunito"/>
              <a:cs typeface="Nunito"/>
              <a:sym typeface="Nunito"/>
            </a:endParaRPr>
          </a:p>
          <a:p>
            <a:pPr indent="-301466" lvl="0" marL="685800" rtl="0" algn="l">
              <a:lnSpc>
                <a:spcPct val="158000"/>
              </a:lnSpc>
              <a:spcBef>
                <a:spcPts val="0"/>
              </a:spcBef>
              <a:spcAft>
                <a:spcPts val="0"/>
              </a:spcAft>
              <a:buClr>
                <a:srgbClr val="273239"/>
              </a:buClr>
              <a:buSzPct val="100000"/>
              <a:buFont typeface="Nunito"/>
              <a:buChar char="●"/>
            </a:pPr>
            <a:r>
              <a:rPr b="1" lang="en" sz="1350">
                <a:solidFill>
                  <a:srgbClr val="273239"/>
                </a:solidFill>
                <a:highlight>
                  <a:srgbClr val="FFFFFF"/>
                </a:highlight>
                <a:latin typeface="Nunito"/>
                <a:ea typeface="Nunito"/>
                <a:cs typeface="Nunito"/>
                <a:sym typeface="Nunito"/>
              </a:rPr>
              <a:t>Key-value-based:</a:t>
            </a:r>
            <a:r>
              <a:rPr lang="en" sz="1350">
                <a:solidFill>
                  <a:srgbClr val="273239"/>
                </a:solidFill>
                <a:highlight>
                  <a:srgbClr val="FFFFFF"/>
                </a:highlight>
                <a:latin typeface="Nunito"/>
                <a:ea typeface="Nunito"/>
                <a:cs typeface="Nunito"/>
                <a:sym typeface="Nunito"/>
              </a:rPr>
              <a:t> They possess a simple but fast access pattern (e.g., Redis) by storing data as pairs of keys and values.</a:t>
            </a:r>
            <a:endParaRPr sz="1350">
              <a:solidFill>
                <a:srgbClr val="273239"/>
              </a:solidFill>
              <a:highlight>
                <a:srgbClr val="FFFFFF"/>
              </a:highlight>
              <a:latin typeface="Nunito"/>
              <a:ea typeface="Nunito"/>
              <a:cs typeface="Nunito"/>
              <a:sym typeface="Nunito"/>
            </a:endParaRPr>
          </a:p>
          <a:p>
            <a:pPr indent="-301466" lvl="0" marL="685800" rtl="0" algn="l">
              <a:lnSpc>
                <a:spcPct val="158000"/>
              </a:lnSpc>
              <a:spcBef>
                <a:spcPts val="0"/>
              </a:spcBef>
              <a:spcAft>
                <a:spcPts val="0"/>
              </a:spcAft>
              <a:buClr>
                <a:srgbClr val="273239"/>
              </a:buClr>
              <a:buSzPct val="100000"/>
              <a:buFont typeface="Nunito"/>
              <a:buChar char="●"/>
            </a:pPr>
            <a:r>
              <a:rPr b="1" lang="en" sz="1350">
                <a:solidFill>
                  <a:srgbClr val="273239"/>
                </a:solidFill>
                <a:highlight>
                  <a:srgbClr val="FFFFFF"/>
                </a:highlight>
                <a:latin typeface="Nunito"/>
                <a:ea typeface="Nunito"/>
                <a:cs typeface="Nunito"/>
                <a:sym typeface="Nunito"/>
              </a:rPr>
              <a:t>Column-based: </a:t>
            </a:r>
            <a:r>
              <a:rPr lang="en" sz="1350">
                <a:solidFill>
                  <a:srgbClr val="273239"/>
                </a:solidFill>
                <a:highlight>
                  <a:srgbClr val="FFFFFF"/>
                </a:highlight>
                <a:latin typeface="Nunito"/>
                <a:ea typeface="Nunito"/>
                <a:cs typeface="Nunito"/>
                <a:sym typeface="Nunito"/>
              </a:rPr>
              <a:t>Data are organized into columns instead of rows (e.g., CASSANDRA).</a:t>
            </a:r>
            <a:endParaRPr sz="1350">
              <a:solidFill>
                <a:srgbClr val="273239"/>
              </a:solidFill>
              <a:highlight>
                <a:srgbClr val="FFFFFF"/>
              </a:highlight>
              <a:latin typeface="Nunito"/>
              <a:ea typeface="Nunito"/>
              <a:cs typeface="Nunito"/>
              <a:sym typeface="Nunito"/>
            </a:endParaRPr>
          </a:p>
          <a:p>
            <a:pPr indent="-301466" lvl="0" marL="685800" rtl="0" algn="l">
              <a:lnSpc>
                <a:spcPct val="158000"/>
              </a:lnSpc>
              <a:spcBef>
                <a:spcPts val="0"/>
              </a:spcBef>
              <a:spcAft>
                <a:spcPts val="0"/>
              </a:spcAft>
              <a:buClr>
                <a:srgbClr val="273239"/>
              </a:buClr>
              <a:buSzPct val="100000"/>
              <a:buFont typeface="Nunito"/>
              <a:buChar char="●"/>
            </a:pPr>
            <a:r>
              <a:rPr b="1" lang="en" sz="1350">
                <a:solidFill>
                  <a:srgbClr val="273239"/>
                </a:solidFill>
                <a:highlight>
                  <a:srgbClr val="FFFFFF"/>
                </a:highlight>
                <a:latin typeface="Nunito"/>
                <a:ea typeface="Nunito"/>
                <a:cs typeface="Nunito"/>
                <a:sym typeface="Nunito"/>
              </a:rPr>
              <a:t>Distributed and high availability:</a:t>
            </a:r>
            <a:r>
              <a:rPr lang="en" sz="1350">
                <a:solidFill>
                  <a:srgbClr val="273239"/>
                </a:solidFill>
                <a:highlight>
                  <a:srgbClr val="FFFFFF"/>
                </a:highlight>
                <a:latin typeface="Nunito"/>
                <a:ea typeface="Nunito"/>
                <a:cs typeface="Nunito"/>
                <a:sym typeface="Nunito"/>
              </a:rPr>
              <a:t> They are designed to be highly available and to automatically handle node failures and data replication across multiple nodes in a database cluster.</a:t>
            </a:r>
            <a:endParaRPr sz="1350">
              <a:solidFill>
                <a:srgbClr val="273239"/>
              </a:solidFill>
              <a:highlight>
                <a:srgbClr val="FFFFFF"/>
              </a:highlight>
              <a:latin typeface="Nunito"/>
              <a:ea typeface="Nunito"/>
              <a:cs typeface="Nunito"/>
              <a:sym typeface="Nunito"/>
            </a:endParaRPr>
          </a:p>
          <a:p>
            <a:pPr indent="-301466" lvl="0" marL="685800" rtl="0" algn="l">
              <a:lnSpc>
                <a:spcPct val="158000"/>
              </a:lnSpc>
              <a:spcBef>
                <a:spcPts val="0"/>
              </a:spcBef>
              <a:spcAft>
                <a:spcPts val="0"/>
              </a:spcAft>
              <a:buClr>
                <a:srgbClr val="273239"/>
              </a:buClr>
              <a:buSzPct val="100000"/>
              <a:buFont typeface="Nunito"/>
              <a:buChar char="●"/>
            </a:pPr>
            <a:r>
              <a:rPr b="1" lang="en" sz="1350">
                <a:solidFill>
                  <a:srgbClr val="273239"/>
                </a:solidFill>
                <a:highlight>
                  <a:srgbClr val="FFFFFF"/>
                </a:highlight>
                <a:latin typeface="Nunito"/>
                <a:ea typeface="Nunito"/>
                <a:cs typeface="Nunito"/>
                <a:sym typeface="Nunito"/>
              </a:rPr>
              <a:t>Flexibility:</a:t>
            </a:r>
            <a:r>
              <a:rPr lang="en" sz="1350">
                <a:solidFill>
                  <a:srgbClr val="273239"/>
                </a:solidFill>
                <a:highlight>
                  <a:srgbClr val="FFFFFF"/>
                </a:highlight>
                <a:latin typeface="Nunito"/>
                <a:ea typeface="Nunito"/>
                <a:cs typeface="Nunito"/>
                <a:sym typeface="Nunito"/>
              </a:rPr>
              <a:t> Allow developers to store and retrieve data in a flexible and dynamic manner, with support for multiple data types and changing data structures.</a:t>
            </a:r>
            <a:endParaRPr sz="1350">
              <a:solidFill>
                <a:srgbClr val="273239"/>
              </a:solidFill>
              <a:highlight>
                <a:srgbClr val="FFFFFF"/>
              </a:highlight>
              <a:latin typeface="Nunito"/>
              <a:ea typeface="Nunito"/>
              <a:cs typeface="Nunito"/>
              <a:sym typeface="Nunito"/>
            </a:endParaRPr>
          </a:p>
          <a:p>
            <a:pPr indent="-301466" lvl="0" marL="685800" rtl="0" algn="l">
              <a:lnSpc>
                <a:spcPct val="158000"/>
              </a:lnSpc>
              <a:spcBef>
                <a:spcPts val="0"/>
              </a:spcBef>
              <a:spcAft>
                <a:spcPts val="0"/>
              </a:spcAft>
              <a:buClr>
                <a:srgbClr val="273239"/>
              </a:buClr>
              <a:buSzPct val="100000"/>
              <a:buFont typeface="Nunito"/>
              <a:buChar char="●"/>
            </a:pPr>
            <a:r>
              <a:rPr b="1" lang="en" sz="1350">
                <a:solidFill>
                  <a:srgbClr val="273239"/>
                </a:solidFill>
                <a:highlight>
                  <a:srgbClr val="FFFFFF"/>
                </a:highlight>
                <a:latin typeface="Nunito"/>
                <a:ea typeface="Nunito"/>
                <a:cs typeface="Nunito"/>
                <a:sym typeface="Nunito"/>
              </a:rPr>
              <a:t>Performance: </a:t>
            </a:r>
            <a:r>
              <a:rPr lang="en" sz="1350">
                <a:solidFill>
                  <a:srgbClr val="273239"/>
                </a:solidFill>
                <a:highlight>
                  <a:srgbClr val="FFFFFF"/>
                </a:highlight>
                <a:latin typeface="Nunito"/>
                <a:ea typeface="Nunito"/>
                <a:cs typeface="Nunito"/>
                <a:sym typeface="Nunito"/>
              </a:rPr>
              <a:t>Perfect for big data and real-time analytics and high volume applications.</a:t>
            </a:r>
            <a:endParaRPr sz="1350">
              <a:solidFill>
                <a:srgbClr val="273239"/>
              </a:solidFill>
              <a:highlight>
                <a:srgbClr val="FFFFFF"/>
              </a:highlight>
              <a:latin typeface="Nunito"/>
              <a:ea typeface="Nunito"/>
              <a:cs typeface="Nunito"/>
              <a:sym typeface="Nunito"/>
            </a:endParaRPr>
          </a:p>
          <a:p>
            <a:pPr indent="0" lvl="0" marL="0" rtl="0" algn="l">
              <a:spcBef>
                <a:spcPts val="18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6"/>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of NoSQL Databases</a:t>
            </a:r>
            <a:endParaRPr/>
          </a:p>
        </p:txBody>
      </p:sp>
      <p:sp>
        <p:nvSpPr>
          <p:cNvPr id="83" name="Google Shape;83;p16"/>
          <p:cNvSpPr txBox="1"/>
          <p:nvPr>
            <p:ph idx="1" type="body"/>
          </p:nvPr>
        </p:nvSpPr>
        <p:spPr>
          <a:xfrm>
            <a:off x="311700" y="1266325"/>
            <a:ext cx="8520600" cy="3539400"/>
          </a:xfrm>
          <a:prstGeom prst="rect">
            <a:avLst/>
          </a:prstGeom>
        </p:spPr>
        <p:txBody>
          <a:bodyPr anchorCtr="0" anchor="t" bIns="91425" lIns="91425" spcFirstLastPara="1" rIns="91425" wrap="square" tIns="91425">
            <a:normAutofit lnSpcReduction="20000"/>
          </a:bodyPr>
          <a:lstStyle/>
          <a:p>
            <a:pPr indent="0" lvl="0" marL="0" rtl="0" algn="just">
              <a:spcBef>
                <a:spcPts val="0"/>
              </a:spcBef>
              <a:spcAft>
                <a:spcPts val="0"/>
              </a:spcAft>
              <a:buNone/>
            </a:pPr>
            <a:r>
              <a:rPr lang="en" sz="1350">
                <a:solidFill>
                  <a:srgbClr val="273239"/>
                </a:solidFill>
                <a:highlight>
                  <a:srgbClr val="FFFFFF"/>
                </a:highlight>
                <a:latin typeface="Nunito"/>
                <a:ea typeface="Nunito"/>
                <a:cs typeface="Nunito"/>
                <a:sym typeface="Nunito"/>
              </a:rPr>
              <a:t>Databases store organized data for easy access and management. Traditional relational databases use structured tables, but modern applications and big data have driven the rise of NoSQL systems. NoSQL databases handle large volumes of unstructured and semi-structured data, offering the scalability and flexibility today’s diverse workloads demand.</a:t>
            </a:r>
            <a:endParaRPr sz="1350">
              <a:solidFill>
                <a:srgbClr val="273239"/>
              </a:solidFill>
              <a:highlight>
                <a:srgbClr val="FFFFFF"/>
              </a:highlight>
              <a:latin typeface="Nunito"/>
              <a:ea typeface="Nunito"/>
              <a:cs typeface="Nunito"/>
              <a:sym typeface="Nunito"/>
            </a:endParaRPr>
          </a:p>
          <a:p>
            <a:pPr indent="0" lvl="0" marL="0" rtl="0" algn="l">
              <a:spcBef>
                <a:spcPts val="800"/>
              </a:spcBef>
              <a:spcAft>
                <a:spcPts val="0"/>
              </a:spcAft>
              <a:buNone/>
            </a:pPr>
            <a:r>
              <a:rPr b="1" lang="en">
                <a:solidFill>
                  <a:srgbClr val="273239"/>
                </a:solidFill>
                <a:highlight>
                  <a:srgbClr val="FFFFFF"/>
                </a:highlight>
                <a:latin typeface="Nunito"/>
                <a:ea typeface="Nunito"/>
                <a:cs typeface="Nunito"/>
                <a:sym typeface="Nunito"/>
              </a:rPr>
              <a:t>Types of NoSQL Database</a:t>
            </a:r>
            <a:endParaRPr b="1">
              <a:solidFill>
                <a:srgbClr val="273239"/>
              </a:solidFill>
              <a:highlight>
                <a:srgbClr val="FFFFFF"/>
              </a:highlight>
              <a:latin typeface="Nunito"/>
              <a:ea typeface="Nunito"/>
              <a:cs typeface="Nunito"/>
              <a:sym typeface="Nunito"/>
            </a:endParaRPr>
          </a:p>
          <a:p>
            <a:pPr indent="0" lvl="0" marL="0" rtl="0" algn="just">
              <a:spcBef>
                <a:spcPts val="0"/>
              </a:spcBef>
              <a:spcAft>
                <a:spcPts val="0"/>
              </a:spcAft>
              <a:buNone/>
            </a:pPr>
            <a:r>
              <a:rPr lang="en" sz="1350">
                <a:solidFill>
                  <a:srgbClr val="273239"/>
                </a:solidFill>
                <a:highlight>
                  <a:srgbClr val="FFFFFF"/>
                </a:highlight>
                <a:latin typeface="Nunito"/>
                <a:ea typeface="Nunito"/>
                <a:cs typeface="Nunito"/>
                <a:sym typeface="Nunito"/>
              </a:rPr>
              <a:t>NoSQL databases can be classified into </a:t>
            </a:r>
            <a:r>
              <a:rPr b="1" lang="en" sz="1350">
                <a:solidFill>
                  <a:srgbClr val="273239"/>
                </a:solidFill>
                <a:highlight>
                  <a:srgbClr val="FFFFFF"/>
                </a:highlight>
                <a:latin typeface="Nunito"/>
                <a:ea typeface="Nunito"/>
                <a:cs typeface="Nunito"/>
                <a:sym typeface="Nunito"/>
              </a:rPr>
              <a:t>four main types</a:t>
            </a:r>
            <a:r>
              <a:rPr lang="en" sz="1350">
                <a:solidFill>
                  <a:srgbClr val="273239"/>
                </a:solidFill>
                <a:highlight>
                  <a:srgbClr val="FFFFFF"/>
                </a:highlight>
                <a:latin typeface="Nunito"/>
                <a:ea typeface="Nunito"/>
                <a:cs typeface="Nunito"/>
                <a:sym typeface="Nunito"/>
              </a:rPr>
              <a:t>, based on their data storage and retrieval methods:</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800"/>
              </a:spcBef>
              <a:spcAft>
                <a:spcPts val="0"/>
              </a:spcAft>
              <a:buClr>
                <a:srgbClr val="273239"/>
              </a:buClr>
              <a:buSzPts val="1350"/>
              <a:buFont typeface="Nunito"/>
              <a:buAutoNum type="arabicPeriod"/>
            </a:pPr>
            <a:r>
              <a:rPr lang="en" sz="1350">
                <a:solidFill>
                  <a:srgbClr val="273239"/>
                </a:solidFill>
                <a:highlight>
                  <a:srgbClr val="FFFFFF"/>
                </a:highlight>
                <a:latin typeface="Nunito"/>
                <a:ea typeface="Nunito"/>
                <a:cs typeface="Nunito"/>
                <a:sym typeface="Nunito"/>
              </a:rPr>
              <a:t>Document-based databases</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AutoNum type="arabicPeriod"/>
            </a:pPr>
            <a:r>
              <a:rPr lang="en" sz="1350">
                <a:solidFill>
                  <a:srgbClr val="273239"/>
                </a:solidFill>
                <a:highlight>
                  <a:srgbClr val="FFFFFF"/>
                </a:highlight>
                <a:latin typeface="Nunito"/>
                <a:ea typeface="Nunito"/>
                <a:cs typeface="Nunito"/>
                <a:sym typeface="Nunito"/>
              </a:rPr>
              <a:t>Key-value stores</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AutoNum type="arabicPeriod"/>
            </a:pPr>
            <a:r>
              <a:rPr lang="en" sz="1350">
                <a:solidFill>
                  <a:srgbClr val="273239"/>
                </a:solidFill>
                <a:highlight>
                  <a:srgbClr val="FFFFFF"/>
                </a:highlight>
                <a:latin typeface="Nunito"/>
                <a:ea typeface="Nunito"/>
                <a:cs typeface="Nunito"/>
                <a:sym typeface="Nunito"/>
              </a:rPr>
              <a:t>Column-oriented databases</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AutoNum type="arabicPeriod"/>
            </a:pPr>
            <a:r>
              <a:rPr lang="en" sz="1350">
                <a:solidFill>
                  <a:srgbClr val="273239"/>
                </a:solidFill>
                <a:highlight>
                  <a:srgbClr val="FFFFFF"/>
                </a:highlight>
                <a:latin typeface="Nunito"/>
                <a:ea typeface="Nunito"/>
                <a:cs typeface="Nunito"/>
                <a:sym typeface="Nunito"/>
              </a:rPr>
              <a:t>Graph-based databases</a:t>
            </a:r>
            <a:endParaRPr sz="1350">
              <a:solidFill>
                <a:srgbClr val="273239"/>
              </a:solidFill>
              <a:highlight>
                <a:srgbClr val="FFFFFF"/>
              </a:highlight>
              <a:latin typeface="Nunito"/>
              <a:ea typeface="Nunito"/>
              <a:cs typeface="Nunito"/>
              <a:sym typeface="Nunito"/>
            </a:endParaRPr>
          </a:p>
          <a:p>
            <a:pPr indent="0" lvl="0" marL="0" rtl="0" algn="l">
              <a:spcBef>
                <a:spcPts val="1800"/>
              </a:spcBef>
              <a:spcAft>
                <a:spcPts val="1200"/>
              </a:spcAft>
              <a:buNone/>
            </a:pPr>
            <a:r>
              <a:rPr lang="en" sz="1350">
                <a:solidFill>
                  <a:srgbClr val="273239"/>
                </a:solidFill>
                <a:highlight>
                  <a:srgbClr val="FFFFFF"/>
                </a:highlight>
                <a:latin typeface="Nunito"/>
                <a:ea typeface="Nunito"/>
                <a:cs typeface="Nunito"/>
                <a:sym typeface="Nunito"/>
              </a:rPr>
              <a:t>Each type has unique advantages and use cases, making NoSQL a preferred choice for big data applications, real-time analytics, cloud computing and distributed systems.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ph idx="1" type="body"/>
          </p:nvPr>
        </p:nvSpPr>
        <p:spPr>
          <a:xfrm>
            <a:off x="311700" y="528250"/>
            <a:ext cx="8520600" cy="4040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89" name="Google Shape;89;p17"/>
          <p:cNvPicPr preferRelativeResize="0"/>
          <p:nvPr/>
        </p:nvPicPr>
        <p:blipFill>
          <a:blip r:embed="rId3">
            <a:alphaModFix/>
          </a:blip>
          <a:stretch>
            <a:fillRect/>
          </a:stretch>
        </p:blipFill>
        <p:spPr>
          <a:xfrm>
            <a:off x="2517850" y="1475975"/>
            <a:ext cx="3686426" cy="30930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8"/>
          <p:cNvSpPr txBox="1"/>
          <p:nvPr>
            <p:ph idx="1" type="body"/>
          </p:nvPr>
        </p:nvSpPr>
        <p:spPr>
          <a:xfrm>
            <a:off x="311700" y="325075"/>
            <a:ext cx="8520600" cy="44913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b="1" lang="en">
                <a:solidFill>
                  <a:srgbClr val="273239"/>
                </a:solidFill>
                <a:highlight>
                  <a:srgbClr val="FFFFFF"/>
                </a:highlight>
                <a:latin typeface="Nunito"/>
                <a:ea typeface="Nunito"/>
                <a:cs typeface="Nunito"/>
                <a:sym typeface="Nunito"/>
              </a:rPr>
              <a:t>1. Document-Based Database</a:t>
            </a:r>
            <a:endParaRPr b="1">
              <a:solidFill>
                <a:srgbClr val="273239"/>
              </a:solidFill>
              <a:highlight>
                <a:srgbClr val="FFFFFF"/>
              </a:highlight>
              <a:latin typeface="Nunito"/>
              <a:ea typeface="Nunito"/>
              <a:cs typeface="Nunito"/>
              <a:sym typeface="Nunito"/>
            </a:endParaRPr>
          </a:p>
          <a:p>
            <a:pPr indent="0" lvl="0" marL="0" rtl="0" algn="just">
              <a:spcBef>
                <a:spcPts val="0"/>
              </a:spcBef>
              <a:spcAft>
                <a:spcPts val="0"/>
              </a:spcAft>
              <a:buNone/>
            </a:pPr>
            <a:r>
              <a:rPr lang="en" sz="1350">
                <a:solidFill>
                  <a:srgbClr val="273239"/>
                </a:solidFill>
                <a:highlight>
                  <a:srgbClr val="FFFFFF"/>
                </a:highlight>
                <a:latin typeface="Nunito"/>
                <a:ea typeface="Nunito"/>
                <a:cs typeface="Nunito"/>
                <a:sym typeface="Nunito"/>
              </a:rPr>
              <a:t>The </a:t>
            </a:r>
            <a:r>
              <a:rPr lang="en" sz="1350" u="sng">
                <a:solidFill>
                  <a:srgbClr val="357960"/>
                </a:solidFill>
                <a:highlight>
                  <a:srgbClr val="FFFFFF"/>
                </a:highlight>
                <a:latin typeface="Nunito"/>
                <a:ea typeface="Nunito"/>
                <a:cs typeface="Nunito"/>
                <a:sym typeface="Nunito"/>
                <a:hlinkClick r:id="rId3">
                  <a:extLst>
                    <a:ext uri="{A12FA001-AC4F-418D-AE19-62706E023703}">
                      <ahyp:hlinkClr val="tx"/>
                    </a:ext>
                  </a:extLst>
                </a:hlinkClick>
              </a:rPr>
              <a:t>document-based database</a:t>
            </a:r>
            <a:r>
              <a:rPr lang="en" sz="1350">
                <a:solidFill>
                  <a:srgbClr val="273239"/>
                </a:solidFill>
                <a:highlight>
                  <a:srgbClr val="FFFFFF"/>
                </a:highlight>
                <a:latin typeface="Nunito"/>
                <a:ea typeface="Nunito"/>
                <a:cs typeface="Nunito"/>
                <a:sym typeface="Nunito"/>
              </a:rPr>
              <a:t> is a nonrelational database. Instead of storing the data in rows and columns (tables), it uses the documents to store the data in the database. A document database stores data in JSON, BSON or </a:t>
            </a:r>
            <a:r>
              <a:rPr lang="en" sz="1350" u="sng">
                <a:solidFill>
                  <a:srgbClr val="357960"/>
                </a:solidFill>
                <a:highlight>
                  <a:srgbClr val="FFFFFF"/>
                </a:highlight>
                <a:latin typeface="Nunito"/>
                <a:ea typeface="Nunito"/>
                <a:cs typeface="Nunito"/>
                <a:sym typeface="Nunito"/>
                <a:hlinkClick r:id="rId4">
                  <a:extLst>
                    <a:ext uri="{A12FA001-AC4F-418D-AE19-62706E023703}">
                      <ahyp:hlinkClr val="tx"/>
                    </a:ext>
                  </a:extLst>
                </a:hlinkClick>
              </a:rPr>
              <a:t>XML</a:t>
            </a:r>
            <a:r>
              <a:rPr lang="en" sz="1350">
                <a:solidFill>
                  <a:srgbClr val="273239"/>
                </a:solidFill>
                <a:highlight>
                  <a:srgbClr val="FFFFFF"/>
                </a:highlight>
                <a:latin typeface="Nunito"/>
                <a:ea typeface="Nunito"/>
                <a:cs typeface="Nunito"/>
                <a:sym typeface="Nunito"/>
              </a:rPr>
              <a:t> documents.</a:t>
            </a:r>
            <a:endParaRPr sz="1350">
              <a:solidFill>
                <a:srgbClr val="273239"/>
              </a:solidFill>
              <a:highlight>
                <a:srgbClr val="FFFFFF"/>
              </a:highlight>
              <a:latin typeface="Nunito"/>
              <a:ea typeface="Nunito"/>
              <a:cs typeface="Nunito"/>
              <a:sym typeface="Nunito"/>
            </a:endParaRPr>
          </a:p>
          <a:p>
            <a:pPr indent="0" lvl="0" marL="0" rtl="0" algn="just">
              <a:spcBef>
                <a:spcPts val="800"/>
              </a:spcBef>
              <a:spcAft>
                <a:spcPts val="0"/>
              </a:spcAft>
              <a:buNone/>
            </a:pPr>
            <a:r>
              <a:rPr lang="en" sz="1350">
                <a:solidFill>
                  <a:srgbClr val="273239"/>
                </a:solidFill>
                <a:highlight>
                  <a:srgbClr val="FFFFFF"/>
                </a:highlight>
                <a:latin typeface="Nunito"/>
                <a:ea typeface="Nunito"/>
                <a:cs typeface="Nunito"/>
                <a:sym typeface="Nunito"/>
              </a:rPr>
              <a:t>Documents can be stored and retrieved in a form that is much closer to the data objects used in applications which means less translation is required to use these data in the applications. In the Document database, the particular elements can be accessed by using the index value that is assigned for faster querying.</a:t>
            </a:r>
            <a:endParaRPr sz="1350">
              <a:solidFill>
                <a:srgbClr val="273239"/>
              </a:solidFill>
              <a:highlight>
                <a:srgbClr val="FFFFFF"/>
              </a:highlight>
              <a:latin typeface="Nunito"/>
              <a:ea typeface="Nunito"/>
              <a:cs typeface="Nunito"/>
              <a:sym typeface="Nunito"/>
            </a:endParaRPr>
          </a:p>
          <a:p>
            <a:pPr indent="0" lvl="0" marL="0" rtl="0" algn="just">
              <a:spcBef>
                <a:spcPts val="800"/>
              </a:spcBef>
              <a:spcAft>
                <a:spcPts val="0"/>
              </a:spcAft>
              <a:buNone/>
            </a:pPr>
            <a:r>
              <a:rPr lang="en" sz="1350">
                <a:solidFill>
                  <a:srgbClr val="273239"/>
                </a:solidFill>
                <a:highlight>
                  <a:srgbClr val="FFFFFF"/>
                </a:highlight>
                <a:latin typeface="Nunito"/>
                <a:ea typeface="Nunito"/>
                <a:cs typeface="Nunito"/>
                <a:sym typeface="Nunito"/>
              </a:rPr>
              <a:t>Collections are the group of documents that store documents that have similar contents. Not all the documents are in any collection as they require a similar schema because document databases have a flexible schema.</a:t>
            </a:r>
            <a:endParaRPr sz="1350">
              <a:solidFill>
                <a:srgbClr val="273239"/>
              </a:solidFill>
              <a:highlight>
                <a:srgbClr val="FFFFFF"/>
              </a:highlight>
              <a:latin typeface="Nunito"/>
              <a:ea typeface="Nunito"/>
              <a:cs typeface="Nunito"/>
              <a:sym typeface="Nunito"/>
            </a:endParaRPr>
          </a:p>
          <a:p>
            <a:pPr indent="0" lvl="0" marL="0" rtl="0" algn="l">
              <a:spcBef>
                <a:spcPts val="1800"/>
              </a:spcBef>
              <a:spcAft>
                <a:spcPts val="0"/>
              </a:spcAft>
              <a:buNone/>
            </a:pPr>
            <a:r>
              <a:rPr b="1" lang="en" sz="1500">
                <a:solidFill>
                  <a:srgbClr val="273239"/>
                </a:solidFill>
                <a:highlight>
                  <a:srgbClr val="FFFFFF"/>
                </a:highlight>
                <a:latin typeface="Nunito"/>
                <a:ea typeface="Nunito"/>
                <a:cs typeface="Nunito"/>
                <a:sym typeface="Nunito"/>
              </a:rPr>
              <a:t>Key features of document database:</a:t>
            </a:r>
            <a:endParaRPr b="1" sz="1500">
              <a:solidFill>
                <a:srgbClr val="273239"/>
              </a:solidFill>
              <a:highlight>
                <a:srgbClr val="FFFFFF"/>
              </a:highlight>
              <a:latin typeface="Nunito"/>
              <a:ea typeface="Nunito"/>
              <a:cs typeface="Nunito"/>
              <a:sym typeface="Nunito"/>
            </a:endParaRPr>
          </a:p>
          <a:p>
            <a:pPr indent="-301466" lvl="0" marL="685800" rtl="0" algn="l">
              <a:lnSpc>
                <a:spcPct val="158000"/>
              </a:lnSpc>
              <a:spcBef>
                <a:spcPts val="1800"/>
              </a:spcBef>
              <a:spcAft>
                <a:spcPts val="0"/>
              </a:spcAft>
              <a:buClr>
                <a:srgbClr val="273239"/>
              </a:buClr>
              <a:buSzPct val="100000"/>
              <a:buFont typeface="Nunito"/>
              <a:buChar char="●"/>
            </a:pPr>
            <a:r>
              <a:rPr b="1" lang="en" sz="1350">
                <a:solidFill>
                  <a:srgbClr val="273239"/>
                </a:solidFill>
                <a:highlight>
                  <a:srgbClr val="FFFFFF"/>
                </a:highlight>
                <a:latin typeface="Nunito"/>
                <a:ea typeface="Nunito"/>
                <a:cs typeface="Nunito"/>
                <a:sym typeface="Nunito"/>
              </a:rPr>
              <a:t>Flexible schema:</a:t>
            </a:r>
            <a:r>
              <a:rPr lang="en" sz="1350">
                <a:solidFill>
                  <a:srgbClr val="273239"/>
                </a:solidFill>
                <a:highlight>
                  <a:srgbClr val="FFFFFF"/>
                </a:highlight>
                <a:latin typeface="Nunito"/>
                <a:ea typeface="Nunito"/>
                <a:cs typeface="Nunito"/>
                <a:sym typeface="Nunito"/>
              </a:rPr>
              <a:t> Documents in the database has a flexible schema. It means the documents in the database need not be the same schema. </a:t>
            </a:r>
            <a:endParaRPr sz="1350">
              <a:solidFill>
                <a:srgbClr val="273239"/>
              </a:solidFill>
              <a:highlight>
                <a:srgbClr val="FFFFFF"/>
              </a:highlight>
              <a:latin typeface="Nunito"/>
              <a:ea typeface="Nunito"/>
              <a:cs typeface="Nunito"/>
              <a:sym typeface="Nunito"/>
            </a:endParaRPr>
          </a:p>
          <a:p>
            <a:pPr indent="-301466" lvl="0" marL="685800" rtl="0" algn="l">
              <a:lnSpc>
                <a:spcPct val="158000"/>
              </a:lnSpc>
              <a:spcBef>
                <a:spcPts val="0"/>
              </a:spcBef>
              <a:spcAft>
                <a:spcPts val="0"/>
              </a:spcAft>
              <a:buClr>
                <a:srgbClr val="273239"/>
              </a:buClr>
              <a:buSzPct val="100000"/>
              <a:buFont typeface="Nunito"/>
              <a:buChar char="●"/>
            </a:pPr>
            <a:r>
              <a:rPr b="1" lang="en" sz="1350">
                <a:solidFill>
                  <a:srgbClr val="273239"/>
                </a:solidFill>
                <a:highlight>
                  <a:srgbClr val="FFFFFF"/>
                </a:highlight>
                <a:latin typeface="Nunito"/>
                <a:ea typeface="Nunito"/>
                <a:cs typeface="Nunito"/>
                <a:sym typeface="Nunito"/>
              </a:rPr>
              <a:t>Faster creation and maintenance:</a:t>
            </a:r>
            <a:r>
              <a:rPr lang="en" sz="1350">
                <a:solidFill>
                  <a:srgbClr val="273239"/>
                </a:solidFill>
                <a:highlight>
                  <a:srgbClr val="FFFFFF"/>
                </a:highlight>
                <a:latin typeface="Nunito"/>
                <a:ea typeface="Nunito"/>
                <a:cs typeface="Nunito"/>
                <a:sym typeface="Nunito"/>
              </a:rPr>
              <a:t> the creation of documents is easy and minimal maintenance is required once we create the document. </a:t>
            </a:r>
            <a:endParaRPr sz="1350">
              <a:solidFill>
                <a:srgbClr val="273239"/>
              </a:solidFill>
              <a:highlight>
                <a:srgbClr val="FFFFFF"/>
              </a:highlight>
              <a:latin typeface="Nunito"/>
              <a:ea typeface="Nunito"/>
              <a:cs typeface="Nunito"/>
              <a:sym typeface="Nunito"/>
            </a:endParaRPr>
          </a:p>
          <a:p>
            <a:pPr indent="-301466" lvl="0" marL="685800" rtl="0" algn="l">
              <a:lnSpc>
                <a:spcPct val="158000"/>
              </a:lnSpc>
              <a:spcBef>
                <a:spcPts val="0"/>
              </a:spcBef>
              <a:spcAft>
                <a:spcPts val="0"/>
              </a:spcAft>
              <a:buClr>
                <a:srgbClr val="273239"/>
              </a:buClr>
              <a:buSzPct val="100000"/>
              <a:buFont typeface="Nunito"/>
              <a:buChar char="●"/>
            </a:pPr>
            <a:r>
              <a:rPr b="1" lang="en" sz="1350">
                <a:solidFill>
                  <a:srgbClr val="273239"/>
                </a:solidFill>
                <a:highlight>
                  <a:srgbClr val="FFFFFF"/>
                </a:highlight>
                <a:latin typeface="Nunito"/>
                <a:ea typeface="Nunito"/>
                <a:cs typeface="Nunito"/>
                <a:sym typeface="Nunito"/>
              </a:rPr>
              <a:t>No foreign keys:</a:t>
            </a:r>
            <a:r>
              <a:rPr lang="en" sz="1350">
                <a:solidFill>
                  <a:srgbClr val="273239"/>
                </a:solidFill>
                <a:highlight>
                  <a:srgbClr val="FFFFFF"/>
                </a:highlight>
                <a:latin typeface="Nunito"/>
                <a:ea typeface="Nunito"/>
                <a:cs typeface="Nunito"/>
                <a:sym typeface="Nunito"/>
              </a:rPr>
              <a:t> There is no dynamic relationship between two documents so documents can be independent of one another. So, there is no requirement for a foreign key in a document database.</a:t>
            </a:r>
            <a:endParaRPr sz="1350">
              <a:solidFill>
                <a:srgbClr val="273239"/>
              </a:solidFill>
              <a:highlight>
                <a:srgbClr val="FFFFFF"/>
              </a:highlight>
              <a:latin typeface="Nunito"/>
              <a:ea typeface="Nunito"/>
              <a:cs typeface="Nunito"/>
              <a:sym typeface="Nunito"/>
            </a:endParaRPr>
          </a:p>
          <a:p>
            <a:pPr indent="-301466" lvl="0" marL="685800" rtl="0" algn="l">
              <a:lnSpc>
                <a:spcPct val="158000"/>
              </a:lnSpc>
              <a:spcBef>
                <a:spcPts val="0"/>
              </a:spcBef>
              <a:spcAft>
                <a:spcPts val="0"/>
              </a:spcAft>
              <a:buClr>
                <a:srgbClr val="273239"/>
              </a:buClr>
              <a:buSzPct val="100000"/>
              <a:buFont typeface="Nunito"/>
              <a:buChar char="●"/>
            </a:pPr>
            <a:r>
              <a:rPr b="1" lang="en" sz="1350">
                <a:solidFill>
                  <a:srgbClr val="273239"/>
                </a:solidFill>
                <a:highlight>
                  <a:srgbClr val="FFFFFF"/>
                </a:highlight>
                <a:latin typeface="Nunito"/>
                <a:ea typeface="Nunito"/>
                <a:cs typeface="Nunito"/>
                <a:sym typeface="Nunito"/>
              </a:rPr>
              <a:t>Open formats</a:t>
            </a:r>
            <a:r>
              <a:rPr lang="en" sz="1350">
                <a:solidFill>
                  <a:srgbClr val="273239"/>
                </a:solidFill>
                <a:highlight>
                  <a:srgbClr val="FFFFFF"/>
                </a:highlight>
                <a:latin typeface="Nunito"/>
                <a:ea typeface="Nunito"/>
                <a:cs typeface="Nunito"/>
                <a:sym typeface="Nunito"/>
              </a:rPr>
              <a:t>: To build a document we use XML, JSON, and others.</a:t>
            </a:r>
            <a:endParaRPr sz="1350">
              <a:solidFill>
                <a:srgbClr val="273239"/>
              </a:solidFill>
              <a:highlight>
                <a:srgbClr val="FFFFFF"/>
              </a:highlight>
              <a:latin typeface="Nunito"/>
              <a:ea typeface="Nunito"/>
              <a:cs typeface="Nunito"/>
              <a:sym typeface="Nuni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idx="1" type="body"/>
          </p:nvPr>
        </p:nvSpPr>
        <p:spPr>
          <a:xfrm>
            <a:off x="311700" y="314375"/>
            <a:ext cx="8520600" cy="4254600"/>
          </a:xfrm>
          <a:prstGeom prst="rect">
            <a:avLst/>
          </a:prstGeom>
        </p:spPr>
        <p:txBody>
          <a:bodyPr anchorCtr="0" anchor="t" bIns="91425" lIns="91425" spcFirstLastPara="1" rIns="91425" wrap="square" tIns="91425">
            <a:normAutofit lnSpcReduction="10000"/>
          </a:bodyPr>
          <a:lstStyle/>
          <a:p>
            <a:pPr indent="0" lvl="0" marL="0" rtl="0" algn="just">
              <a:spcBef>
                <a:spcPts val="0"/>
              </a:spcBef>
              <a:spcAft>
                <a:spcPts val="0"/>
              </a:spcAft>
              <a:buNone/>
            </a:pPr>
            <a:r>
              <a:rPr lang="en" sz="1350">
                <a:solidFill>
                  <a:srgbClr val="273239"/>
                </a:solidFill>
                <a:highlight>
                  <a:srgbClr val="FFFFFF"/>
                </a:highlight>
                <a:latin typeface="Nunito"/>
                <a:ea typeface="Nunito"/>
                <a:cs typeface="Nunito"/>
                <a:sym typeface="Nunito"/>
              </a:rPr>
              <a:t>A</a:t>
            </a:r>
            <a:r>
              <a:rPr b="1" lang="en" sz="1350">
                <a:solidFill>
                  <a:srgbClr val="273239"/>
                </a:solidFill>
                <a:highlight>
                  <a:srgbClr val="FFFFFF"/>
                </a:highlight>
                <a:latin typeface="Nunito"/>
                <a:ea typeface="Nunito"/>
                <a:cs typeface="Nunito"/>
                <a:sym typeface="Nunito"/>
              </a:rPr>
              <a:t> </a:t>
            </a:r>
            <a:r>
              <a:rPr lang="en" sz="1350">
                <a:solidFill>
                  <a:srgbClr val="273239"/>
                </a:solidFill>
                <a:highlight>
                  <a:srgbClr val="FFFFFF"/>
                </a:highlight>
                <a:latin typeface="Nunito"/>
                <a:ea typeface="Nunito"/>
                <a:cs typeface="Nunito"/>
                <a:sym typeface="Nunito"/>
              </a:rPr>
              <a:t>Document Data Model is a lot different than other data models because it stores data in JSON, BSON, or XML documents. in this data model, we can move documents under one document and apart from this, any particular elements can be indexed to run queries faster. Often documents are stored and retrieved in such a way that it becomes close to the data objects which are used in many applications which means very less translations are required to use data in applications. JSON is a native language that is often used to store and query data too. </a:t>
            </a:r>
            <a:endParaRPr sz="1350">
              <a:solidFill>
                <a:srgbClr val="273239"/>
              </a:solidFill>
              <a:highlight>
                <a:srgbClr val="FFFFFF"/>
              </a:highlight>
              <a:latin typeface="Nunito"/>
              <a:ea typeface="Nunito"/>
              <a:cs typeface="Nunito"/>
              <a:sym typeface="Nunito"/>
            </a:endParaRPr>
          </a:p>
          <a:p>
            <a:pPr indent="0" lvl="0" marL="0" rtl="0" algn="just">
              <a:spcBef>
                <a:spcPts val="800"/>
              </a:spcBef>
              <a:spcAft>
                <a:spcPts val="0"/>
              </a:spcAft>
              <a:buNone/>
            </a:pPr>
            <a:r>
              <a:rPr lang="en" sz="1350">
                <a:solidFill>
                  <a:srgbClr val="273239"/>
                </a:solidFill>
                <a:highlight>
                  <a:srgbClr val="FFFFFF"/>
                </a:highlight>
                <a:latin typeface="Nunito"/>
                <a:ea typeface="Nunito"/>
                <a:cs typeface="Nunito"/>
                <a:sym typeface="Nunito"/>
              </a:rPr>
              <a:t>So in the document data model, each document has a key-value pair below is an example for the same.</a:t>
            </a:r>
            <a:endParaRPr sz="1200">
              <a:solidFill>
                <a:srgbClr val="000000"/>
              </a:solidFill>
              <a:highlight>
                <a:srgbClr val="E0E0E0"/>
              </a:highlight>
              <a:latin typeface="Courier New"/>
              <a:ea typeface="Courier New"/>
              <a:cs typeface="Courier New"/>
              <a:sym typeface="Courier New"/>
            </a:endParaRPr>
          </a:p>
          <a:p>
            <a:pPr indent="0" lvl="0" marL="0" rtl="0" algn="l">
              <a:spcBef>
                <a:spcPts val="800"/>
              </a:spcBef>
              <a:spcAft>
                <a:spcPts val="0"/>
              </a:spcAft>
              <a:buNone/>
            </a:pPr>
            <a:r>
              <a:rPr lang="en" sz="1200">
                <a:solidFill>
                  <a:srgbClr val="000000"/>
                </a:solidFill>
                <a:highlight>
                  <a:srgbClr val="E0E0E0"/>
                </a:highlight>
                <a:latin typeface="Courier New"/>
                <a:ea typeface="Courier New"/>
                <a:cs typeface="Courier New"/>
                <a:sym typeface="Courier New"/>
              </a:rPr>
              <a:t>{</a:t>
            </a:r>
            <a:endParaRPr sz="1200">
              <a:solidFill>
                <a:srgbClr val="000000"/>
              </a:solidFill>
              <a:highlight>
                <a:srgbClr val="E0E0E0"/>
              </a:highlight>
              <a:latin typeface="Courier New"/>
              <a:ea typeface="Courier New"/>
              <a:cs typeface="Courier New"/>
              <a:sym typeface="Courier New"/>
            </a:endParaRPr>
          </a:p>
          <a:p>
            <a:pPr indent="0" lvl="0" marL="0" rtl="0" algn="l">
              <a:spcBef>
                <a:spcPts val="1200"/>
              </a:spcBef>
              <a:spcAft>
                <a:spcPts val="0"/>
              </a:spcAft>
              <a:buNone/>
            </a:pPr>
            <a:r>
              <a:rPr lang="en" sz="1200">
                <a:solidFill>
                  <a:srgbClr val="000000"/>
                </a:solidFill>
                <a:highlight>
                  <a:srgbClr val="E0E0E0"/>
                </a:highlight>
                <a:latin typeface="Courier New"/>
                <a:ea typeface="Courier New"/>
                <a:cs typeface="Courier New"/>
                <a:sym typeface="Courier New"/>
              </a:rPr>
              <a:t>"Name" : "Yashodhra",</a:t>
            </a:r>
            <a:endParaRPr sz="1200">
              <a:solidFill>
                <a:srgbClr val="000000"/>
              </a:solidFill>
              <a:highlight>
                <a:srgbClr val="E0E0E0"/>
              </a:highlight>
              <a:latin typeface="Courier New"/>
              <a:ea typeface="Courier New"/>
              <a:cs typeface="Courier New"/>
              <a:sym typeface="Courier New"/>
            </a:endParaRPr>
          </a:p>
          <a:p>
            <a:pPr indent="0" lvl="0" marL="0" rtl="0" algn="l">
              <a:spcBef>
                <a:spcPts val="1200"/>
              </a:spcBef>
              <a:spcAft>
                <a:spcPts val="0"/>
              </a:spcAft>
              <a:buNone/>
            </a:pPr>
            <a:r>
              <a:rPr lang="en" sz="1200">
                <a:solidFill>
                  <a:srgbClr val="000000"/>
                </a:solidFill>
                <a:highlight>
                  <a:srgbClr val="E0E0E0"/>
                </a:highlight>
                <a:latin typeface="Courier New"/>
                <a:ea typeface="Courier New"/>
                <a:cs typeface="Courier New"/>
                <a:sym typeface="Courier New"/>
              </a:rPr>
              <a:t>"Address" : "Near Patel Nagar",</a:t>
            </a:r>
            <a:endParaRPr sz="1200">
              <a:solidFill>
                <a:srgbClr val="000000"/>
              </a:solidFill>
              <a:highlight>
                <a:srgbClr val="E0E0E0"/>
              </a:highlight>
              <a:latin typeface="Courier New"/>
              <a:ea typeface="Courier New"/>
              <a:cs typeface="Courier New"/>
              <a:sym typeface="Courier New"/>
            </a:endParaRPr>
          </a:p>
          <a:p>
            <a:pPr indent="0" lvl="0" marL="0" rtl="0" algn="l">
              <a:spcBef>
                <a:spcPts val="1200"/>
              </a:spcBef>
              <a:spcAft>
                <a:spcPts val="0"/>
              </a:spcAft>
              <a:buNone/>
            </a:pPr>
            <a:r>
              <a:rPr lang="en" sz="1200">
                <a:solidFill>
                  <a:srgbClr val="000000"/>
                </a:solidFill>
                <a:highlight>
                  <a:srgbClr val="E0E0E0"/>
                </a:highlight>
                <a:latin typeface="Courier New"/>
                <a:ea typeface="Courier New"/>
                <a:cs typeface="Courier New"/>
                <a:sym typeface="Courier New"/>
              </a:rPr>
              <a:t>"Email" : "yahoo123@yahoo.com",</a:t>
            </a:r>
            <a:endParaRPr sz="1200">
              <a:solidFill>
                <a:srgbClr val="000000"/>
              </a:solidFill>
              <a:highlight>
                <a:srgbClr val="E0E0E0"/>
              </a:highlight>
              <a:latin typeface="Courier New"/>
              <a:ea typeface="Courier New"/>
              <a:cs typeface="Courier New"/>
              <a:sym typeface="Courier New"/>
            </a:endParaRPr>
          </a:p>
          <a:p>
            <a:pPr indent="0" lvl="0" marL="0" rtl="0" algn="l">
              <a:spcBef>
                <a:spcPts val="1200"/>
              </a:spcBef>
              <a:spcAft>
                <a:spcPts val="0"/>
              </a:spcAft>
              <a:buNone/>
            </a:pPr>
            <a:r>
              <a:rPr lang="en" sz="1200">
                <a:solidFill>
                  <a:srgbClr val="000000"/>
                </a:solidFill>
                <a:highlight>
                  <a:srgbClr val="E0E0E0"/>
                </a:highlight>
                <a:latin typeface="Courier New"/>
                <a:ea typeface="Courier New"/>
                <a:cs typeface="Courier New"/>
                <a:sym typeface="Courier New"/>
              </a:rPr>
              <a:t>"Contact" : "12345"</a:t>
            </a:r>
            <a:endParaRPr sz="1200">
              <a:solidFill>
                <a:srgbClr val="000000"/>
              </a:solidFill>
              <a:highlight>
                <a:srgbClr val="E0E0E0"/>
              </a:highlight>
              <a:latin typeface="Courier New"/>
              <a:ea typeface="Courier New"/>
              <a:cs typeface="Courier New"/>
              <a:sym typeface="Courier New"/>
            </a:endParaRPr>
          </a:p>
          <a:p>
            <a:pPr indent="0" lvl="0" marL="0" marR="190500" rtl="0" algn="l">
              <a:spcBef>
                <a:spcPts val="1200"/>
              </a:spcBef>
              <a:spcAft>
                <a:spcPts val="0"/>
              </a:spcAft>
              <a:buNone/>
            </a:pPr>
            <a:r>
              <a:rPr lang="en" sz="1200">
                <a:solidFill>
                  <a:srgbClr val="000000"/>
                </a:solidFill>
                <a:highlight>
                  <a:srgbClr val="E0E0E0"/>
                </a:highlight>
                <a:latin typeface="Courier New"/>
                <a:ea typeface="Courier New"/>
                <a:cs typeface="Courier New"/>
                <a:sym typeface="Courier New"/>
              </a:rPr>
              <a:t>}</a:t>
            </a:r>
            <a:endParaRPr sz="1200">
              <a:solidFill>
                <a:srgbClr val="000000"/>
              </a:solidFill>
              <a:highlight>
                <a:srgbClr val="E0E0E0"/>
              </a:highlight>
              <a:latin typeface="Courier New"/>
              <a:ea typeface="Courier New"/>
              <a:cs typeface="Courier New"/>
              <a:sym typeface="Courier New"/>
            </a:endParaRPr>
          </a:p>
          <a:p>
            <a:pPr indent="0" lvl="0" marL="0" rtl="0" algn="l">
              <a:spcBef>
                <a:spcPts val="8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idx="1" type="body"/>
          </p:nvPr>
        </p:nvSpPr>
        <p:spPr>
          <a:xfrm>
            <a:off x="311700" y="335775"/>
            <a:ext cx="8520600" cy="4233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rgbClr val="273239"/>
                </a:solidFill>
                <a:highlight>
                  <a:srgbClr val="FFFFFF"/>
                </a:highlight>
                <a:latin typeface="Nunito"/>
                <a:ea typeface="Nunito"/>
                <a:cs typeface="Nunito"/>
                <a:sym typeface="Nunito"/>
              </a:rPr>
              <a:t>2. Key-Value Stores</a:t>
            </a:r>
            <a:endParaRPr b="1">
              <a:solidFill>
                <a:srgbClr val="273239"/>
              </a:solidFill>
              <a:highlight>
                <a:srgbClr val="FFFFFF"/>
              </a:highlight>
              <a:latin typeface="Nunito"/>
              <a:ea typeface="Nunito"/>
              <a:cs typeface="Nunito"/>
              <a:sym typeface="Nunito"/>
            </a:endParaRPr>
          </a:p>
          <a:p>
            <a:pPr indent="0" lvl="0" marL="0" rtl="0" algn="just">
              <a:spcBef>
                <a:spcPts val="0"/>
              </a:spcBef>
              <a:spcAft>
                <a:spcPts val="0"/>
              </a:spcAft>
              <a:buNone/>
            </a:pPr>
            <a:r>
              <a:rPr lang="en" sz="1350">
                <a:solidFill>
                  <a:srgbClr val="273239"/>
                </a:solidFill>
                <a:highlight>
                  <a:srgbClr val="FFFFFF"/>
                </a:highlight>
                <a:latin typeface="Nunito"/>
                <a:ea typeface="Nunito"/>
                <a:cs typeface="Nunito"/>
                <a:sym typeface="Nunito"/>
              </a:rPr>
              <a:t>A </a:t>
            </a:r>
            <a:r>
              <a:rPr lang="en" sz="1350" u="sng">
                <a:solidFill>
                  <a:srgbClr val="357960"/>
                </a:solidFill>
                <a:highlight>
                  <a:srgbClr val="FFFFFF"/>
                </a:highlight>
                <a:latin typeface="Nunito"/>
                <a:ea typeface="Nunito"/>
                <a:cs typeface="Nunito"/>
                <a:sym typeface="Nunito"/>
                <a:hlinkClick r:id="rId3">
                  <a:extLst>
                    <a:ext uri="{A12FA001-AC4F-418D-AE19-62706E023703}">
                      <ahyp:hlinkClr val="tx"/>
                    </a:ext>
                  </a:extLst>
                </a:hlinkClick>
              </a:rPr>
              <a:t>key-value store</a:t>
            </a:r>
            <a:r>
              <a:rPr lang="en" sz="1350">
                <a:solidFill>
                  <a:srgbClr val="273239"/>
                </a:solidFill>
                <a:highlight>
                  <a:srgbClr val="FFFFFF"/>
                </a:highlight>
                <a:latin typeface="Nunito"/>
                <a:ea typeface="Nunito"/>
                <a:cs typeface="Nunito"/>
                <a:sym typeface="Nunito"/>
              </a:rPr>
              <a:t> is a nonrelational database. The simplest form of a NoSQL database is a</a:t>
            </a:r>
            <a:r>
              <a:rPr b="1" lang="en" sz="1350">
                <a:solidFill>
                  <a:srgbClr val="273239"/>
                </a:solidFill>
                <a:highlight>
                  <a:srgbClr val="FFFFFF"/>
                </a:highlight>
                <a:latin typeface="Nunito"/>
                <a:ea typeface="Nunito"/>
                <a:cs typeface="Nunito"/>
                <a:sym typeface="Nunito"/>
              </a:rPr>
              <a:t> key-value store</a:t>
            </a:r>
            <a:r>
              <a:rPr lang="en" sz="1350">
                <a:solidFill>
                  <a:srgbClr val="273239"/>
                </a:solidFill>
                <a:highlight>
                  <a:srgbClr val="FFFFFF"/>
                </a:highlight>
                <a:latin typeface="Nunito"/>
                <a:ea typeface="Nunito"/>
                <a:cs typeface="Nunito"/>
                <a:sym typeface="Nunito"/>
              </a:rPr>
              <a:t>. Every data element in the database is stored in key-value pairs. The data can be retrieved by using a unique key allotted to each element in the database. The values can be simple data types like strings, numbers or complex objects. A key-value store is like a relational database with only two columns which is the key and the value. </a:t>
            </a:r>
            <a:endParaRPr sz="1350">
              <a:solidFill>
                <a:srgbClr val="273239"/>
              </a:solidFill>
              <a:highlight>
                <a:srgbClr val="FFFFFF"/>
              </a:highlight>
              <a:latin typeface="Nunito"/>
              <a:ea typeface="Nunito"/>
              <a:cs typeface="Nunito"/>
              <a:sym typeface="Nunito"/>
            </a:endParaRPr>
          </a:p>
          <a:p>
            <a:pPr indent="0" lvl="0" marL="0" rtl="0" algn="l">
              <a:spcBef>
                <a:spcPts val="1800"/>
              </a:spcBef>
              <a:spcAft>
                <a:spcPts val="0"/>
              </a:spcAft>
              <a:buNone/>
            </a:pPr>
            <a:r>
              <a:rPr b="1" lang="en" sz="1500">
                <a:solidFill>
                  <a:srgbClr val="273239"/>
                </a:solidFill>
                <a:highlight>
                  <a:srgbClr val="FFFFFF"/>
                </a:highlight>
                <a:latin typeface="Nunito"/>
                <a:ea typeface="Nunito"/>
                <a:cs typeface="Nunito"/>
                <a:sym typeface="Nunito"/>
              </a:rPr>
              <a:t>Key features of the key-value store:</a:t>
            </a:r>
            <a:endParaRPr b="1" sz="1500">
              <a:solidFill>
                <a:srgbClr val="273239"/>
              </a:solidFill>
              <a:highlight>
                <a:srgbClr val="FFFFFF"/>
              </a:highlight>
              <a:latin typeface="Nunito"/>
              <a:ea typeface="Nunito"/>
              <a:cs typeface="Nunito"/>
              <a:sym typeface="Nunito"/>
            </a:endParaRPr>
          </a:p>
          <a:p>
            <a:pPr indent="-314325" lvl="0" marL="685800" rtl="0" algn="l">
              <a:lnSpc>
                <a:spcPct val="158000"/>
              </a:lnSpc>
              <a:spcBef>
                <a:spcPts val="180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Simplicity:</a:t>
            </a:r>
            <a:r>
              <a:rPr lang="en" sz="1350">
                <a:solidFill>
                  <a:srgbClr val="273239"/>
                </a:solidFill>
                <a:highlight>
                  <a:srgbClr val="FFFFFF"/>
                </a:highlight>
                <a:latin typeface="Nunito"/>
                <a:ea typeface="Nunito"/>
                <a:cs typeface="Nunito"/>
                <a:sym typeface="Nunito"/>
              </a:rPr>
              <a:t> Data retrieval is extremely fast due to direct key access.</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Scalability:</a:t>
            </a:r>
            <a:r>
              <a:rPr lang="en" sz="1350">
                <a:solidFill>
                  <a:srgbClr val="273239"/>
                </a:solidFill>
                <a:highlight>
                  <a:srgbClr val="FFFFFF"/>
                </a:highlight>
                <a:latin typeface="Nunito"/>
                <a:ea typeface="Nunito"/>
                <a:cs typeface="Nunito"/>
                <a:sym typeface="Nunito"/>
              </a:rPr>
              <a:t> Designed for horizontal scaling and distributed storage.</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Speed:</a:t>
            </a:r>
            <a:r>
              <a:rPr lang="en" sz="1350">
                <a:solidFill>
                  <a:srgbClr val="273239"/>
                </a:solidFill>
                <a:highlight>
                  <a:srgbClr val="FFFFFF"/>
                </a:highlight>
                <a:latin typeface="Nunito"/>
                <a:ea typeface="Nunito"/>
                <a:cs typeface="Nunito"/>
                <a:sym typeface="Nunito"/>
              </a:rPr>
              <a:t> Ideal for caching and real-time applications.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graphicFrame>
        <p:nvGraphicFramePr>
          <p:cNvPr id="109" name="Google Shape;109;p21"/>
          <p:cNvGraphicFramePr/>
          <p:nvPr/>
        </p:nvGraphicFramePr>
        <p:xfrm>
          <a:off x="824175" y="1204975"/>
          <a:ext cx="3000000" cy="3000000"/>
        </p:xfrm>
        <a:graphic>
          <a:graphicData uri="http://schemas.openxmlformats.org/drawingml/2006/table">
            <a:tbl>
              <a:tblPr>
                <a:noFill/>
                <a:tableStyleId>{429C3603-AB32-4E62-8A1A-BE80AA933B98}</a:tableStyleId>
              </a:tblPr>
              <a:tblGrid>
                <a:gridCol w="3619500"/>
                <a:gridCol w="3619500"/>
              </a:tblGrid>
              <a:tr h="381000">
                <a:tc>
                  <a:txBody>
                    <a:bodyPr/>
                    <a:lstStyle/>
                    <a:p>
                      <a:pPr indent="0" lvl="0" marL="0" rtl="0" algn="ctr">
                        <a:lnSpc>
                          <a:spcPct val="115000"/>
                        </a:lnSpc>
                        <a:spcBef>
                          <a:spcPts val="0"/>
                        </a:spcBef>
                        <a:spcAft>
                          <a:spcPts val="0"/>
                        </a:spcAft>
                        <a:buNone/>
                      </a:pPr>
                      <a:r>
                        <a:rPr b="1" lang="en" sz="1100"/>
                        <a:t>Key</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Value</a:t>
                      </a:r>
                      <a:endParaRPr b="1" sz="1100"/>
                    </a:p>
                  </a:txBody>
                  <a:tcPr marT="91425" marB="91425" marR="91425" marL="91425"/>
                </a:tc>
              </a:tr>
              <a:tr h="381000">
                <a:tc>
                  <a:txBody>
                    <a:bodyPr/>
                    <a:lstStyle/>
                    <a:p>
                      <a:pPr indent="0" lvl="0" marL="0" rtl="0" algn="l">
                        <a:spcBef>
                          <a:spcPts val="0"/>
                        </a:spcBef>
                        <a:spcAft>
                          <a:spcPts val="0"/>
                        </a:spcAft>
                        <a:buNone/>
                      </a:pPr>
                      <a:r>
                        <a:rPr lang="en"/>
                        <a:t>user101</a:t>
                      </a:r>
                      <a:endParaRPr/>
                    </a:p>
                  </a:txBody>
                  <a:tcPr marT="91425" marB="91425" marR="91425" marL="91425"/>
                </a:tc>
                <a:tc>
                  <a:txBody>
                    <a:bodyPr/>
                    <a:lstStyle/>
                    <a:p>
                      <a:pPr indent="0" lvl="0" marL="0" rtl="0" algn="l">
                        <a:spcBef>
                          <a:spcPts val="0"/>
                        </a:spcBef>
                        <a:spcAft>
                          <a:spcPts val="0"/>
                        </a:spcAft>
                        <a:buNone/>
                      </a:pPr>
                      <a:r>
                        <a:rPr lang="en"/>
                        <a:t>{"name":"Anita","city":"Delhi"}</a:t>
                      </a:r>
                      <a:endParaRPr/>
                    </a:p>
                  </a:txBody>
                  <a:tcPr marT="91425" marB="91425" marR="91425" marL="91425"/>
                </a:tc>
              </a:tr>
              <a:tr h="381000">
                <a:tc>
                  <a:txBody>
                    <a:bodyPr/>
                    <a:lstStyle/>
                    <a:p>
                      <a:pPr indent="0" lvl="0" marL="0" rtl="0" algn="l">
                        <a:spcBef>
                          <a:spcPts val="0"/>
                        </a:spcBef>
                        <a:spcAft>
                          <a:spcPts val="0"/>
                        </a:spcAft>
                        <a:buNone/>
                      </a:pPr>
                      <a:r>
                        <a:rPr lang="en"/>
                        <a:t>cart42</a:t>
                      </a:r>
                      <a:endParaRPr/>
                    </a:p>
                  </a:txBody>
                  <a:tcPr marT="91425" marB="91425" marR="91425" marL="91425"/>
                </a:tc>
                <a:tc>
                  <a:txBody>
                    <a:bodyPr/>
                    <a:lstStyle/>
                    <a:p>
                      <a:pPr indent="0" lvl="0" marL="0" rtl="0" algn="l">
                        <a:spcBef>
                          <a:spcPts val="0"/>
                        </a:spcBef>
                        <a:spcAft>
                          <a:spcPts val="0"/>
                        </a:spcAft>
                        <a:buNone/>
                      </a:pPr>
                      <a:r>
                        <a:rPr lang="en"/>
                        <a:t>{"items":["book","pen"],"total":450}</a:t>
                      </a:r>
                      <a:endParaRPr/>
                    </a:p>
                  </a:txBody>
                  <a:tcPr marT="91425" marB="91425" marR="91425" marL="91425"/>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ph idx="1" type="body"/>
          </p:nvPr>
        </p:nvSpPr>
        <p:spPr>
          <a:xfrm>
            <a:off x="311700" y="346475"/>
            <a:ext cx="8520600" cy="42225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0"/>
              </a:spcAft>
              <a:buNone/>
            </a:pPr>
            <a:r>
              <a:rPr b="1" lang="en">
                <a:solidFill>
                  <a:srgbClr val="000000"/>
                </a:solidFill>
              </a:rPr>
              <a:t>3</a:t>
            </a:r>
            <a:r>
              <a:rPr lang="en"/>
              <a:t>. </a:t>
            </a:r>
            <a:r>
              <a:rPr b="1" lang="en">
                <a:solidFill>
                  <a:srgbClr val="273239"/>
                </a:solidFill>
                <a:highlight>
                  <a:srgbClr val="FFFFFF"/>
                </a:highlight>
                <a:latin typeface="Nunito"/>
                <a:ea typeface="Nunito"/>
                <a:cs typeface="Nunito"/>
                <a:sym typeface="Nunito"/>
              </a:rPr>
              <a:t>Column Oriented Databases</a:t>
            </a:r>
            <a:endParaRPr b="1">
              <a:solidFill>
                <a:srgbClr val="273239"/>
              </a:solidFill>
              <a:highlight>
                <a:srgbClr val="FFFFFF"/>
              </a:highlight>
              <a:latin typeface="Nunito"/>
              <a:ea typeface="Nunito"/>
              <a:cs typeface="Nunito"/>
              <a:sym typeface="Nunito"/>
            </a:endParaRPr>
          </a:p>
          <a:p>
            <a:pPr indent="0" lvl="0" marL="0" rtl="0" algn="just">
              <a:spcBef>
                <a:spcPts val="1200"/>
              </a:spcBef>
              <a:spcAft>
                <a:spcPts val="0"/>
              </a:spcAft>
              <a:buNone/>
            </a:pPr>
            <a:r>
              <a:rPr b="1" lang="en" sz="1350">
                <a:solidFill>
                  <a:srgbClr val="273239"/>
                </a:solidFill>
                <a:highlight>
                  <a:srgbClr val="FFFFFF"/>
                </a:highlight>
                <a:latin typeface="Nunito"/>
                <a:ea typeface="Nunito"/>
                <a:cs typeface="Nunito"/>
                <a:sym typeface="Nunito"/>
              </a:rPr>
              <a:t>Columnar databases </a:t>
            </a:r>
            <a:r>
              <a:rPr lang="en" sz="1350">
                <a:solidFill>
                  <a:srgbClr val="273239"/>
                </a:solidFill>
                <a:highlight>
                  <a:srgbClr val="FFFFFF"/>
                </a:highlight>
                <a:latin typeface="Nunito"/>
                <a:ea typeface="Nunito"/>
                <a:cs typeface="Nunito"/>
                <a:sym typeface="Nunito"/>
              </a:rPr>
              <a:t>are those where the data is stored in </a:t>
            </a:r>
            <a:r>
              <a:rPr b="1" lang="en" sz="1350">
                <a:solidFill>
                  <a:srgbClr val="273239"/>
                </a:solidFill>
                <a:highlight>
                  <a:srgbClr val="FFFFFF"/>
                </a:highlight>
                <a:latin typeface="Nunito"/>
                <a:ea typeface="Nunito"/>
                <a:cs typeface="Nunito"/>
                <a:sym typeface="Nunito"/>
              </a:rPr>
              <a:t>columns </a:t>
            </a:r>
            <a:r>
              <a:rPr lang="en" sz="1350">
                <a:solidFill>
                  <a:srgbClr val="273239"/>
                </a:solidFill>
                <a:highlight>
                  <a:srgbClr val="FFFFFF"/>
                </a:highlight>
                <a:latin typeface="Nunito"/>
                <a:ea typeface="Nunito"/>
                <a:cs typeface="Nunito"/>
                <a:sym typeface="Nunito"/>
              </a:rPr>
              <a:t>instead of rows as is done in the traditional </a:t>
            </a:r>
            <a:r>
              <a:rPr b="1" lang="en" sz="1350">
                <a:solidFill>
                  <a:srgbClr val="273239"/>
                </a:solidFill>
                <a:highlight>
                  <a:srgbClr val="FFFFFF"/>
                </a:highlight>
                <a:latin typeface="Nunito"/>
                <a:ea typeface="Nunito"/>
                <a:cs typeface="Nunito"/>
                <a:sym typeface="Nunito"/>
              </a:rPr>
              <a:t>row-based databases </a:t>
            </a:r>
            <a:r>
              <a:rPr lang="en" sz="1350">
                <a:solidFill>
                  <a:srgbClr val="273239"/>
                </a:solidFill>
                <a:highlight>
                  <a:srgbClr val="FFFFFF"/>
                </a:highlight>
                <a:latin typeface="Nunito"/>
                <a:ea typeface="Nunito"/>
                <a:cs typeface="Nunito"/>
                <a:sym typeface="Nunito"/>
              </a:rPr>
              <a:t>as they offer impressive benefits in certain types of queries and </a:t>
            </a:r>
            <a:r>
              <a:rPr b="1" lang="en" sz="1350">
                <a:solidFill>
                  <a:srgbClr val="273239"/>
                </a:solidFill>
                <a:highlight>
                  <a:srgbClr val="FFFFFF"/>
                </a:highlight>
                <a:latin typeface="Nunito"/>
                <a:ea typeface="Nunito"/>
                <a:cs typeface="Nunito"/>
                <a:sym typeface="Nunito"/>
              </a:rPr>
              <a:t>data manipulation</a:t>
            </a:r>
            <a:r>
              <a:rPr lang="en" sz="1350">
                <a:solidFill>
                  <a:srgbClr val="273239"/>
                </a:solidFill>
                <a:highlight>
                  <a:srgbClr val="FFFFFF"/>
                </a:highlight>
                <a:latin typeface="Nunito"/>
                <a:ea typeface="Nunito"/>
                <a:cs typeface="Nunito"/>
                <a:sym typeface="Nunito"/>
              </a:rPr>
              <a:t> operations. Therefore, databases that are organized in columns provide better performances for operations that require applications to read data such as data analytics and data warehousing. This approach enhances the rate of query processing and reduces disk I/O making it suitable for cases that involve a large number of queries that are processed on large amounts of data.</a:t>
            </a:r>
            <a:endParaRPr sz="1350">
              <a:solidFill>
                <a:srgbClr val="273239"/>
              </a:solidFill>
              <a:highlight>
                <a:srgbClr val="FFFFFF"/>
              </a:highlight>
              <a:latin typeface="Nunito"/>
              <a:ea typeface="Nunito"/>
              <a:cs typeface="Nunito"/>
              <a:sym typeface="Nunito"/>
            </a:endParaRPr>
          </a:p>
          <a:p>
            <a:pPr indent="0" lvl="0" marL="0" rtl="0" algn="l">
              <a:spcBef>
                <a:spcPts val="800"/>
              </a:spcBef>
              <a:spcAft>
                <a:spcPts val="0"/>
              </a:spcAft>
              <a:buNone/>
            </a:pPr>
            <a:r>
              <a:rPr b="1" lang="en">
                <a:solidFill>
                  <a:srgbClr val="273239"/>
                </a:solidFill>
                <a:highlight>
                  <a:srgbClr val="FFFFFF"/>
                </a:highlight>
                <a:latin typeface="Nunito"/>
                <a:ea typeface="Nunito"/>
                <a:cs typeface="Nunito"/>
                <a:sym typeface="Nunito"/>
              </a:rPr>
              <a:t>Columnar Database VS Row Database</a:t>
            </a:r>
            <a:endParaRPr b="1">
              <a:solidFill>
                <a:srgbClr val="273239"/>
              </a:solidFill>
              <a:highlight>
                <a:srgbClr val="FFFFFF"/>
              </a:highlight>
              <a:latin typeface="Nunito"/>
              <a:ea typeface="Nunito"/>
              <a:cs typeface="Nunito"/>
              <a:sym typeface="Nunito"/>
            </a:endParaRPr>
          </a:p>
          <a:p>
            <a:pPr indent="0" lvl="0" marL="0" rtl="0" algn="just">
              <a:spcBef>
                <a:spcPts val="0"/>
              </a:spcBef>
              <a:spcAft>
                <a:spcPts val="0"/>
              </a:spcAft>
              <a:buNone/>
            </a:pPr>
            <a:r>
              <a:rPr lang="en" sz="1350">
                <a:solidFill>
                  <a:srgbClr val="273239"/>
                </a:solidFill>
                <a:highlight>
                  <a:srgbClr val="FFFFFF"/>
                </a:highlight>
                <a:latin typeface="Nunito"/>
                <a:ea typeface="Nunito"/>
                <a:cs typeface="Nunito"/>
                <a:sym typeface="Nunito"/>
              </a:rPr>
              <a:t>Both </a:t>
            </a:r>
            <a:r>
              <a:rPr b="1" lang="en" sz="1350">
                <a:solidFill>
                  <a:srgbClr val="273239"/>
                </a:solidFill>
                <a:highlight>
                  <a:srgbClr val="FFFFFF"/>
                </a:highlight>
                <a:latin typeface="Nunito"/>
                <a:ea typeface="Nunito"/>
                <a:cs typeface="Nunito"/>
                <a:sym typeface="Nunito"/>
              </a:rPr>
              <a:t>Columnar </a:t>
            </a:r>
            <a:r>
              <a:rPr lang="en" sz="1350">
                <a:solidFill>
                  <a:srgbClr val="273239"/>
                </a:solidFill>
                <a:highlight>
                  <a:srgbClr val="FFFFFF"/>
                </a:highlight>
                <a:latin typeface="Nunito"/>
                <a:ea typeface="Nunito"/>
                <a:cs typeface="Nunito"/>
                <a:sym typeface="Nunito"/>
              </a:rPr>
              <a:t>and </a:t>
            </a:r>
            <a:r>
              <a:rPr b="1" lang="en" sz="1350">
                <a:solidFill>
                  <a:srgbClr val="273239"/>
                </a:solidFill>
                <a:highlight>
                  <a:srgbClr val="FFFFFF"/>
                </a:highlight>
                <a:latin typeface="Nunito"/>
                <a:ea typeface="Nunito"/>
                <a:cs typeface="Nunito"/>
                <a:sym typeface="Nunito"/>
              </a:rPr>
              <a:t>Row </a:t>
            </a:r>
            <a:r>
              <a:rPr b="1" lang="en" sz="1350" u="sng">
                <a:solidFill>
                  <a:srgbClr val="357960"/>
                </a:solidFill>
                <a:highlight>
                  <a:srgbClr val="FFFFFF"/>
                </a:highlight>
                <a:latin typeface="Nunito"/>
                <a:ea typeface="Nunito"/>
                <a:cs typeface="Nunito"/>
                <a:sym typeface="Nunito"/>
                <a:hlinkClick r:id="rId3">
                  <a:extLst>
                    <a:ext uri="{A12FA001-AC4F-418D-AE19-62706E023703}">
                      <ahyp:hlinkClr val="tx"/>
                    </a:ext>
                  </a:extLst>
                </a:hlinkClick>
              </a:rPr>
              <a:t>databases </a:t>
            </a:r>
            <a:r>
              <a:rPr lang="en" sz="1350">
                <a:solidFill>
                  <a:srgbClr val="273239"/>
                </a:solidFill>
                <a:highlight>
                  <a:srgbClr val="FFFFFF"/>
                </a:highlight>
                <a:latin typeface="Nunito"/>
                <a:ea typeface="Nunito"/>
                <a:cs typeface="Nunito"/>
                <a:sym typeface="Nunito"/>
              </a:rPr>
              <a:t>are a few methods used for processing big data analytics and data warehousing. But their approach is different from each other. </a:t>
            </a:r>
            <a:endParaRPr sz="1350">
              <a:solidFill>
                <a:srgbClr val="273239"/>
              </a:solidFill>
              <a:highlight>
                <a:srgbClr val="FFFFFF"/>
              </a:highlight>
              <a:latin typeface="Nunito"/>
              <a:ea typeface="Nunito"/>
              <a:cs typeface="Nunito"/>
              <a:sym typeface="Nunito"/>
            </a:endParaRPr>
          </a:p>
          <a:p>
            <a:pPr indent="0" lvl="0" marL="0" rtl="0" algn="just">
              <a:spcBef>
                <a:spcPts val="800"/>
              </a:spcBef>
              <a:spcAft>
                <a:spcPts val="0"/>
              </a:spcAft>
              <a:buNone/>
            </a:pPr>
            <a:r>
              <a:rPr lang="en" sz="1350">
                <a:solidFill>
                  <a:srgbClr val="273239"/>
                </a:solidFill>
                <a:highlight>
                  <a:srgbClr val="FFFFFF"/>
                </a:highlight>
                <a:latin typeface="Nunito"/>
                <a:ea typeface="Nunito"/>
                <a:cs typeface="Nunito"/>
                <a:sym typeface="Nunito"/>
              </a:rPr>
              <a:t>For example:</a:t>
            </a:r>
            <a:endParaRPr sz="1350">
              <a:solidFill>
                <a:srgbClr val="273239"/>
              </a:solidFill>
              <a:highlight>
                <a:srgbClr val="FFFFFF"/>
              </a:highlight>
              <a:latin typeface="Nunito"/>
              <a:ea typeface="Nunito"/>
              <a:cs typeface="Nunito"/>
              <a:sym typeface="Nunito"/>
            </a:endParaRPr>
          </a:p>
          <a:p>
            <a:pPr indent="-301466" lvl="0" marL="685800" rtl="0" algn="l">
              <a:lnSpc>
                <a:spcPct val="158000"/>
              </a:lnSpc>
              <a:spcBef>
                <a:spcPts val="800"/>
              </a:spcBef>
              <a:spcAft>
                <a:spcPts val="0"/>
              </a:spcAft>
              <a:buClr>
                <a:srgbClr val="273239"/>
              </a:buClr>
              <a:buSzPct val="100000"/>
              <a:buFont typeface="Nunito"/>
              <a:buChar char="●"/>
            </a:pPr>
            <a:r>
              <a:rPr lang="en" sz="1350">
                <a:solidFill>
                  <a:srgbClr val="273239"/>
                </a:solidFill>
                <a:highlight>
                  <a:srgbClr val="FFFFFF"/>
                </a:highlight>
                <a:latin typeface="Nunito"/>
                <a:ea typeface="Nunito"/>
                <a:cs typeface="Nunito"/>
                <a:sym typeface="Nunito"/>
              </a:rPr>
              <a:t>Row Database: "Customer 1: Name, Address, Location."(The fields for each new record are stored in a long row).</a:t>
            </a:r>
            <a:endParaRPr sz="1350">
              <a:solidFill>
                <a:srgbClr val="273239"/>
              </a:solidFill>
              <a:highlight>
                <a:srgbClr val="FFFFFF"/>
              </a:highlight>
              <a:latin typeface="Nunito"/>
              <a:ea typeface="Nunito"/>
              <a:cs typeface="Nunito"/>
              <a:sym typeface="Nunito"/>
            </a:endParaRPr>
          </a:p>
          <a:p>
            <a:pPr indent="-301466" lvl="0" marL="685800" rtl="0" algn="l">
              <a:lnSpc>
                <a:spcPct val="158000"/>
              </a:lnSpc>
              <a:spcBef>
                <a:spcPts val="0"/>
              </a:spcBef>
              <a:spcAft>
                <a:spcPts val="0"/>
              </a:spcAft>
              <a:buClr>
                <a:srgbClr val="273239"/>
              </a:buClr>
              <a:buSzPct val="100000"/>
              <a:buFont typeface="Nunito"/>
              <a:buChar char="●"/>
            </a:pPr>
            <a:r>
              <a:rPr lang="en" sz="1350">
                <a:solidFill>
                  <a:srgbClr val="273239"/>
                </a:solidFill>
                <a:highlight>
                  <a:srgbClr val="FFFFFF"/>
                </a:highlight>
                <a:latin typeface="Nunito"/>
                <a:ea typeface="Nunito"/>
                <a:cs typeface="Nunito"/>
                <a:sym typeface="Nunito"/>
              </a:rPr>
              <a:t>Columnar Database: "Customer 1: Name, Address, Location."(Each field has its own set of columns).</a:t>
            </a:r>
            <a:endParaRPr sz="1350">
              <a:solidFill>
                <a:srgbClr val="273239"/>
              </a:solidFill>
              <a:highlight>
                <a:srgbClr val="FFFFFF"/>
              </a:highlight>
              <a:latin typeface="Nunito"/>
              <a:ea typeface="Nunito"/>
              <a:cs typeface="Nunito"/>
              <a:sym typeface="Nunito"/>
            </a:endParaRPr>
          </a:p>
          <a:p>
            <a:pPr indent="0" lvl="0" marL="0" rtl="0" algn="l">
              <a:spcBef>
                <a:spcPts val="1800"/>
              </a:spcBef>
              <a:spcAft>
                <a:spcPts val="0"/>
              </a:spcAft>
              <a:buNone/>
            </a:pPr>
            <a:r>
              <a:t/>
            </a:r>
            <a:endParaRPr b="1">
              <a:solidFill>
                <a:srgbClr val="273239"/>
              </a:solidFill>
              <a:highlight>
                <a:srgbClr val="FFFFFF"/>
              </a:highlight>
              <a:latin typeface="Nunito"/>
              <a:ea typeface="Nunito"/>
              <a:cs typeface="Nunito"/>
              <a:sym typeface="Nunito"/>
            </a:endParaRPr>
          </a:p>
          <a:p>
            <a:pPr indent="0" lvl="0" marL="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3"/>
          <p:cNvSpPr txBox="1"/>
          <p:nvPr>
            <p:ph idx="1" type="body"/>
          </p:nvPr>
        </p:nvSpPr>
        <p:spPr>
          <a:xfrm>
            <a:off x="311700" y="635175"/>
            <a:ext cx="8520600" cy="3933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n">
                <a:solidFill>
                  <a:srgbClr val="273239"/>
                </a:solidFill>
                <a:highlight>
                  <a:srgbClr val="FFFFFF"/>
                </a:highlight>
                <a:latin typeface="Nunito"/>
                <a:ea typeface="Nunito"/>
                <a:cs typeface="Nunito"/>
                <a:sym typeface="Nunito"/>
              </a:rPr>
              <a:t>4. Graph-Based Databases</a:t>
            </a:r>
            <a:endParaRPr b="1">
              <a:solidFill>
                <a:srgbClr val="273239"/>
              </a:solidFill>
              <a:highlight>
                <a:srgbClr val="FFFFFF"/>
              </a:highlight>
              <a:latin typeface="Nunito"/>
              <a:ea typeface="Nunito"/>
              <a:cs typeface="Nunito"/>
              <a:sym typeface="Nunito"/>
            </a:endParaRPr>
          </a:p>
          <a:p>
            <a:pPr indent="0" lvl="0" marL="0" rtl="0" algn="just">
              <a:spcBef>
                <a:spcPts val="0"/>
              </a:spcBef>
              <a:spcAft>
                <a:spcPts val="0"/>
              </a:spcAft>
              <a:buNone/>
            </a:pPr>
            <a:r>
              <a:rPr lang="en" sz="1350" u="sng">
                <a:solidFill>
                  <a:srgbClr val="357960"/>
                </a:solidFill>
                <a:highlight>
                  <a:srgbClr val="FFFFFF"/>
                </a:highlight>
                <a:latin typeface="Nunito"/>
                <a:ea typeface="Nunito"/>
                <a:cs typeface="Nunito"/>
                <a:sym typeface="Nunito"/>
                <a:hlinkClick r:id="rId3">
                  <a:extLst>
                    <a:ext uri="{A12FA001-AC4F-418D-AE19-62706E023703}">
                      <ahyp:hlinkClr val="tx"/>
                    </a:ext>
                  </a:extLst>
                </a:hlinkClick>
              </a:rPr>
              <a:t>Graph-based </a:t>
            </a:r>
            <a:r>
              <a:rPr lang="en" sz="1350">
                <a:solidFill>
                  <a:srgbClr val="273239"/>
                </a:solidFill>
                <a:highlight>
                  <a:srgbClr val="FFFFFF"/>
                </a:highlight>
                <a:latin typeface="Nunito"/>
                <a:ea typeface="Nunito"/>
                <a:cs typeface="Nunito"/>
                <a:sym typeface="Nunito"/>
              </a:rPr>
              <a:t>databases focus on the relationship between the elements. It stores the data in the form of nodes in the database. The connections between the nodes are called links or relationships, making them ideal for complex relationship-based queries.</a:t>
            </a:r>
            <a:endParaRPr sz="1350">
              <a:solidFill>
                <a:srgbClr val="273239"/>
              </a:solidFill>
              <a:highlight>
                <a:srgbClr val="FFFFFF"/>
              </a:highlight>
              <a:latin typeface="Nunito"/>
              <a:ea typeface="Nunito"/>
              <a:cs typeface="Nunito"/>
              <a:sym typeface="Nunito"/>
            </a:endParaRPr>
          </a:p>
          <a:p>
            <a:pPr indent="-307895" lvl="0" marL="685800" rtl="0" algn="l">
              <a:lnSpc>
                <a:spcPct val="158000"/>
              </a:lnSpc>
              <a:spcBef>
                <a:spcPts val="800"/>
              </a:spcBef>
              <a:spcAft>
                <a:spcPts val="0"/>
              </a:spcAft>
              <a:buClr>
                <a:srgbClr val="273239"/>
              </a:buClr>
              <a:buSzPct val="100000"/>
              <a:buFont typeface="Nunito"/>
              <a:buChar char="●"/>
            </a:pPr>
            <a:r>
              <a:rPr lang="en" sz="1350">
                <a:solidFill>
                  <a:srgbClr val="273239"/>
                </a:solidFill>
                <a:highlight>
                  <a:srgbClr val="FFFFFF"/>
                </a:highlight>
                <a:latin typeface="Nunito"/>
                <a:ea typeface="Nunito"/>
                <a:cs typeface="Nunito"/>
                <a:sym typeface="Nunito"/>
              </a:rPr>
              <a:t>Data is represented as nodes (objects) and edges (connections).</a:t>
            </a:r>
            <a:endParaRPr sz="1350">
              <a:solidFill>
                <a:srgbClr val="273239"/>
              </a:solidFill>
              <a:highlight>
                <a:srgbClr val="FFFFFF"/>
              </a:highlight>
              <a:latin typeface="Nunito"/>
              <a:ea typeface="Nunito"/>
              <a:cs typeface="Nunito"/>
              <a:sym typeface="Nunito"/>
            </a:endParaRPr>
          </a:p>
          <a:p>
            <a:pPr indent="-307895" lvl="0" marL="685800" rtl="0" algn="l">
              <a:lnSpc>
                <a:spcPct val="158000"/>
              </a:lnSpc>
              <a:spcBef>
                <a:spcPts val="0"/>
              </a:spcBef>
              <a:spcAft>
                <a:spcPts val="0"/>
              </a:spcAft>
              <a:buClr>
                <a:srgbClr val="273239"/>
              </a:buClr>
              <a:buSzPct val="100000"/>
              <a:buFont typeface="Nunito"/>
              <a:buChar char="●"/>
            </a:pPr>
            <a:r>
              <a:rPr lang="en" sz="1350">
                <a:solidFill>
                  <a:srgbClr val="273239"/>
                </a:solidFill>
                <a:highlight>
                  <a:srgbClr val="FFFFFF"/>
                </a:highlight>
                <a:latin typeface="Nunito"/>
                <a:ea typeface="Nunito"/>
                <a:cs typeface="Nunito"/>
                <a:sym typeface="Nunito"/>
              </a:rPr>
              <a:t>Fast graph traversal algorithms help retrieve relationships quickly.</a:t>
            </a:r>
            <a:endParaRPr sz="1350">
              <a:solidFill>
                <a:srgbClr val="273239"/>
              </a:solidFill>
              <a:highlight>
                <a:srgbClr val="FFFFFF"/>
              </a:highlight>
              <a:latin typeface="Nunito"/>
              <a:ea typeface="Nunito"/>
              <a:cs typeface="Nunito"/>
              <a:sym typeface="Nunito"/>
            </a:endParaRPr>
          </a:p>
          <a:p>
            <a:pPr indent="-307895" lvl="0" marL="685800" rtl="0" algn="l">
              <a:lnSpc>
                <a:spcPct val="158000"/>
              </a:lnSpc>
              <a:spcBef>
                <a:spcPts val="0"/>
              </a:spcBef>
              <a:spcAft>
                <a:spcPts val="0"/>
              </a:spcAft>
              <a:buClr>
                <a:srgbClr val="273239"/>
              </a:buClr>
              <a:buSzPct val="100000"/>
              <a:buFont typeface="Nunito"/>
              <a:buChar char="●"/>
            </a:pPr>
            <a:r>
              <a:rPr lang="en" sz="1350">
                <a:solidFill>
                  <a:srgbClr val="273239"/>
                </a:solidFill>
                <a:highlight>
                  <a:srgbClr val="FFFFFF"/>
                </a:highlight>
                <a:latin typeface="Nunito"/>
                <a:ea typeface="Nunito"/>
                <a:cs typeface="Nunito"/>
                <a:sym typeface="Nunito"/>
              </a:rPr>
              <a:t>Used in scenarios where relationships are as important as the data itself.</a:t>
            </a:r>
            <a:endParaRPr sz="1350">
              <a:solidFill>
                <a:srgbClr val="273239"/>
              </a:solidFill>
              <a:highlight>
                <a:srgbClr val="FFFFFF"/>
              </a:highlight>
              <a:latin typeface="Nunito"/>
              <a:ea typeface="Nunito"/>
              <a:cs typeface="Nunito"/>
              <a:sym typeface="Nunito"/>
            </a:endParaRPr>
          </a:p>
          <a:p>
            <a:pPr indent="0" lvl="0" marL="0" rtl="0" algn="l">
              <a:spcBef>
                <a:spcPts val="1800"/>
              </a:spcBef>
              <a:spcAft>
                <a:spcPts val="0"/>
              </a:spcAft>
              <a:buNone/>
            </a:pPr>
            <a:r>
              <a:rPr b="1" lang="en" sz="1500">
                <a:solidFill>
                  <a:srgbClr val="273239"/>
                </a:solidFill>
                <a:highlight>
                  <a:srgbClr val="FFFFFF"/>
                </a:highlight>
                <a:latin typeface="Nunito"/>
                <a:ea typeface="Nunito"/>
                <a:cs typeface="Nunito"/>
                <a:sym typeface="Nunito"/>
              </a:rPr>
              <a:t>Key features of Graph Database</a:t>
            </a:r>
            <a:endParaRPr b="1" sz="1500">
              <a:solidFill>
                <a:srgbClr val="273239"/>
              </a:solidFill>
              <a:highlight>
                <a:srgbClr val="FFFFFF"/>
              </a:highlight>
              <a:latin typeface="Nunito"/>
              <a:ea typeface="Nunito"/>
              <a:cs typeface="Nunito"/>
              <a:sym typeface="Nunito"/>
            </a:endParaRPr>
          </a:p>
          <a:p>
            <a:pPr indent="-307895" lvl="0" marL="685800" rtl="0" algn="l">
              <a:lnSpc>
                <a:spcPct val="158000"/>
              </a:lnSpc>
              <a:spcBef>
                <a:spcPts val="1800"/>
              </a:spcBef>
              <a:spcAft>
                <a:spcPts val="0"/>
              </a:spcAft>
              <a:buClr>
                <a:srgbClr val="273239"/>
              </a:buClr>
              <a:buSzPct val="100000"/>
              <a:buFont typeface="Nunito"/>
              <a:buChar char="●"/>
            </a:pPr>
            <a:r>
              <a:rPr b="1" lang="en" sz="1350">
                <a:solidFill>
                  <a:srgbClr val="273239"/>
                </a:solidFill>
                <a:highlight>
                  <a:srgbClr val="FFFFFF"/>
                </a:highlight>
                <a:latin typeface="Nunito"/>
                <a:ea typeface="Nunito"/>
                <a:cs typeface="Nunito"/>
                <a:sym typeface="Nunito"/>
              </a:rPr>
              <a:t>Relationship-Centric Storage:</a:t>
            </a:r>
            <a:r>
              <a:rPr lang="en" sz="1350">
                <a:solidFill>
                  <a:srgbClr val="273239"/>
                </a:solidFill>
                <a:highlight>
                  <a:srgbClr val="FFFFFF"/>
                </a:highlight>
                <a:latin typeface="Nunito"/>
                <a:ea typeface="Nunito"/>
                <a:cs typeface="Nunito"/>
                <a:sym typeface="Nunito"/>
              </a:rPr>
              <a:t> Perfect for social networks, fraud detection, recommendation engines.</a:t>
            </a:r>
            <a:endParaRPr sz="1350">
              <a:solidFill>
                <a:srgbClr val="273239"/>
              </a:solidFill>
              <a:highlight>
                <a:srgbClr val="FFFFFF"/>
              </a:highlight>
              <a:latin typeface="Nunito"/>
              <a:ea typeface="Nunito"/>
              <a:cs typeface="Nunito"/>
              <a:sym typeface="Nunito"/>
            </a:endParaRPr>
          </a:p>
          <a:p>
            <a:pPr indent="-307895" lvl="0" marL="685800" rtl="0" algn="l">
              <a:lnSpc>
                <a:spcPct val="158000"/>
              </a:lnSpc>
              <a:spcBef>
                <a:spcPts val="0"/>
              </a:spcBef>
              <a:spcAft>
                <a:spcPts val="0"/>
              </a:spcAft>
              <a:buClr>
                <a:srgbClr val="273239"/>
              </a:buClr>
              <a:buSzPct val="100000"/>
              <a:buFont typeface="Nunito"/>
              <a:buChar char="●"/>
            </a:pPr>
            <a:r>
              <a:rPr b="1" lang="en" sz="1350">
                <a:solidFill>
                  <a:srgbClr val="273239"/>
                </a:solidFill>
                <a:highlight>
                  <a:srgbClr val="FFFFFF"/>
                </a:highlight>
                <a:latin typeface="Nunito"/>
                <a:ea typeface="Nunito"/>
                <a:cs typeface="Nunito"/>
                <a:sym typeface="Nunito"/>
              </a:rPr>
              <a:t>Real-Time Query Processing:</a:t>
            </a:r>
            <a:r>
              <a:rPr lang="en" sz="1350">
                <a:solidFill>
                  <a:srgbClr val="273239"/>
                </a:solidFill>
                <a:highlight>
                  <a:srgbClr val="FFFFFF"/>
                </a:highlight>
                <a:latin typeface="Nunito"/>
                <a:ea typeface="Nunito"/>
                <a:cs typeface="Nunito"/>
                <a:sym typeface="Nunito"/>
              </a:rPr>
              <a:t> Queries return results almost instantly.</a:t>
            </a:r>
            <a:endParaRPr sz="1350">
              <a:solidFill>
                <a:srgbClr val="273239"/>
              </a:solidFill>
              <a:highlight>
                <a:srgbClr val="FFFFFF"/>
              </a:highlight>
              <a:latin typeface="Nunito"/>
              <a:ea typeface="Nunito"/>
              <a:cs typeface="Nunito"/>
              <a:sym typeface="Nunito"/>
            </a:endParaRPr>
          </a:p>
          <a:p>
            <a:pPr indent="-307895" lvl="0" marL="685800" rtl="0" algn="l">
              <a:lnSpc>
                <a:spcPct val="158000"/>
              </a:lnSpc>
              <a:spcBef>
                <a:spcPts val="0"/>
              </a:spcBef>
              <a:spcAft>
                <a:spcPts val="0"/>
              </a:spcAft>
              <a:buClr>
                <a:srgbClr val="273239"/>
              </a:buClr>
              <a:buSzPct val="100000"/>
              <a:buFont typeface="Nunito"/>
              <a:buChar char="●"/>
            </a:pPr>
            <a:r>
              <a:rPr b="1" lang="en" sz="1350">
                <a:solidFill>
                  <a:srgbClr val="273239"/>
                </a:solidFill>
                <a:highlight>
                  <a:srgbClr val="FFFFFF"/>
                </a:highlight>
                <a:latin typeface="Nunito"/>
                <a:ea typeface="Nunito"/>
                <a:cs typeface="Nunito"/>
                <a:sym typeface="Nunito"/>
              </a:rPr>
              <a:t>Schema Flexibility: </a:t>
            </a:r>
            <a:r>
              <a:rPr lang="en" sz="1350">
                <a:solidFill>
                  <a:srgbClr val="273239"/>
                </a:solidFill>
                <a:highlight>
                  <a:srgbClr val="FFFFFF"/>
                </a:highlight>
                <a:latin typeface="Nunito"/>
                <a:ea typeface="Nunito"/>
                <a:cs typeface="Nunito"/>
                <a:sym typeface="Nunito"/>
              </a:rPr>
              <a:t>Easily adapts to evolving relationship structures</a:t>
            </a:r>
            <a:endParaRPr sz="1350">
              <a:solidFill>
                <a:srgbClr val="273239"/>
              </a:solidFill>
              <a:highlight>
                <a:srgbClr val="FFFFFF"/>
              </a:highlight>
              <a:latin typeface="Nunito"/>
              <a:ea typeface="Nunito"/>
              <a:cs typeface="Nunito"/>
              <a:sym typeface="Nunito"/>
            </a:endParaRPr>
          </a:p>
          <a:p>
            <a:pPr indent="0" lvl="0" marL="0" rtl="0" algn="l">
              <a:spcBef>
                <a:spcPts val="18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4"/>
          <p:cNvSpPr txBox="1"/>
          <p:nvPr>
            <p:ph idx="1" type="body"/>
          </p:nvPr>
        </p:nvSpPr>
        <p:spPr>
          <a:xfrm>
            <a:off x="311700" y="688650"/>
            <a:ext cx="8520600" cy="4245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5" name="Google Shape;125;p24"/>
          <p:cNvPicPr preferRelativeResize="0"/>
          <p:nvPr/>
        </p:nvPicPr>
        <p:blipFill>
          <a:blip r:embed="rId3">
            <a:alphaModFix/>
          </a:blip>
          <a:stretch>
            <a:fillRect/>
          </a:stretch>
        </p:blipFill>
        <p:spPr>
          <a:xfrm>
            <a:off x="2506798" y="1570923"/>
            <a:ext cx="3879276" cy="31049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5"/>
          <p:cNvSpPr txBox="1"/>
          <p:nvPr>
            <p:ph type="title"/>
          </p:nvPr>
        </p:nvSpPr>
        <p:spPr>
          <a:xfrm>
            <a:off x="311700" y="121900"/>
            <a:ext cx="8520600" cy="663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NoSQl Database Works</a:t>
            </a:r>
            <a:endParaRPr/>
          </a:p>
        </p:txBody>
      </p:sp>
      <p:sp>
        <p:nvSpPr>
          <p:cNvPr id="131" name="Google Shape;131;p25"/>
          <p:cNvSpPr txBox="1"/>
          <p:nvPr>
            <p:ph idx="1" type="body"/>
          </p:nvPr>
        </p:nvSpPr>
        <p:spPr>
          <a:xfrm>
            <a:off x="311700" y="784900"/>
            <a:ext cx="8520600" cy="3784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100">
                <a:solidFill>
                  <a:srgbClr val="000000"/>
                </a:solidFill>
                <a:latin typeface="Arial"/>
                <a:ea typeface="Arial"/>
                <a:cs typeface="Arial"/>
                <a:sym typeface="Arial"/>
              </a:rPr>
              <a:t>Let’s understand this through a </a:t>
            </a:r>
            <a:r>
              <a:rPr b="1" lang="en" sz="1100">
                <a:solidFill>
                  <a:srgbClr val="000000"/>
                </a:solidFill>
                <a:latin typeface="Arial"/>
                <a:ea typeface="Arial"/>
                <a:cs typeface="Arial"/>
                <a:sym typeface="Arial"/>
              </a:rPr>
              <a:t>step-by-step working concept</a:t>
            </a:r>
            <a:endParaRPr b="1"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1. Data Storage Model</a:t>
            </a:r>
            <a:endParaRPr b="1" sz="1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Unlike relational databases, which use </a:t>
            </a:r>
            <a:r>
              <a:rPr b="1" lang="en" sz="1100">
                <a:solidFill>
                  <a:srgbClr val="000000"/>
                </a:solidFill>
                <a:latin typeface="Arial"/>
                <a:ea typeface="Arial"/>
                <a:cs typeface="Arial"/>
                <a:sym typeface="Arial"/>
              </a:rPr>
              <a:t>tables</a:t>
            </a:r>
            <a:r>
              <a:rPr lang="en" sz="1100">
                <a:solidFill>
                  <a:srgbClr val="000000"/>
                </a:solidFill>
                <a:latin typeface="Arial"/>
                <a:ea typeface="Arial"/>
                <a:cs typeface="Arial"/>
                <a:sym typeface="Arial"/>
              </a:rPr>
              <a:t>, NoSQL uses different data storage models:</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b="1" sz="1100">
              <a:solidFill>
                <a:srgbClr val="000000"/>
              </a:solidFill>
              <a:latin typeface="Arial"/>
              <a:ea typeface="Arial"/>
              <a:cs typeface="Arial"/>
              <a:sym typeface="Arial"/>
            </a:endParaRPr>
          </a:p>
        </p:txBody>
      </p:sp>
      <p:graphicFrame>
        <p:nvGraphicFramePr>
          <p:cNvPr id="132" name="Google Shape;132;p25"/>
          <p:cNvGraphicFramePr/>
          <p:nvPr/>
        </p:nvGraphicFramePr>
        <p:xfrm>
          <a:off x="952500" y="1900025"/>
          <a:ext cx="3000000" cy="3000000"/>
        </p:xfrm>
        <a:graphic>
          <a:graphicData uri="http://schemas.openxmlformats.org/drawingml/2006/table">
            <a:tbl>
              <a:tblPr>
                <a:noFill/>
                <a:tableStyleId>{429C3603-AB32-4E62-8A1A-BE80AA933B98}</a:tableStyleId>
              </a:tblPr>
              <a:tblGrid>
                <a:gridCol w="1456850"/>
                <a:gridCol w="1627975"/>
                <a:gridCol w="1521025"/>
                <a:gridCol w="2633150"/>
              </a:tblGrid>
              <a:tr h="381000">
                <a:tc>
                  <a:txBody>
                    <a:bodyPr/>
                    <a:lstStyle/>
                    <a:p>
                      <a:pPr indent="0" lvl="0" marL="0" rtl="0" algn="ctr">
                        <a:lnSpc>
                          <a:spcPct val="115000"/>
                        </a:lnSpc>
                        <a:spcBef>
                          <a:spcPts val="0"/>
                        </a:spcBef>
                        <a:spcAft>
                          <a:spcPts val="0"/>
                        </a:spcAft>
                        <a:buNone/>
                      </a:pPr>
                      <a:r>
                        <a:rPr b="1" lang="en" sz="1000"/>
                        <a:t>Type</a:t>
                      </a:r>
                      <a:endParaRPr b="1" sz="1000"/>
                    </a:p>
                  </a:txBody>
                  <a:tcPr marT="91425" marB="91425" marR="91425" marL="91425"/>
                </a:tc>
                <a:tc>
                  <a:txBody>
                    <a:bodyPr/>
                    <a:lstStyle/>
                    <a:p>
                      <a:pPr indent="0" lvl="0" marL="0" rtl="0" algn="ctr">
                        <a:lnSpc>
                          <a:spcPct val="115000"/>
                        </a:lnSpc>
                        <a:spcBef>
                          <a:spcPts val="0"/>
                        </a:spcBef>
                        <a:spcAft>
                          <a:spcPts val="0"/>
                        </a:spcAft>
                        <a:buNone/>
                      </a:pPr>
                      <a:r>
                        <a:rPr b="1" lang="en" sz="1000"/>
                        <a:t>Example</a:t>
                      </a:r>
                      <a:endParaRPr b="1" sz="1000"/>
                    </a:p>
                  </a:txBody>
                  <a:tcPr marT="91425" marB="91425" marR="91425" marL="91425"/>
                </a:tc>
                <a:tc>
                  <a:txBody>
                    <a:bodyPr/>
                    <a:lstStyle/>
                    <a:p>
                      <a:pPr indent="0" lvl="0" marL="0" rtl="0" algn="ctr">
                        <a:lnSpc>
                          <a:spcPct val="115000"/>
                        </a:lnSpc>
                        <a:spcBef>
                          <a:spcPts val="0"/>
                        </a:spcBef>
                        <a:spcAft>
                          <a:spcPts val="0"/>
                        </a:spcAft>
                        <a:buNone/>
                      </a:pPr>
                      <a:r>
                        <a:rPr b="1" lang="en" sz="1000"/>
                        <a:t>Data Model</a:t>
                      </a:r>
                      <a:endParaRPr b="1" sz="1000"/>
                    </a:p>
                  </a:txBody>
                  <a:tcPr marT="91425" marB="91425" marR="91425" marL="91425"/>
                </a:tc>
                <a:tc>
                  <a:txBody>
                    <a:bodyPr/>
                    <a:lstStyle/>
                    <a:p>
                      <a:pPr indent="0" lvl="0" marL="0" rtl="0" algn="ctr">
                        <a:lnSpc>
                          <a:spcPct val="115000"/>
                        </a:lnSpc>
                        <a:spcBef>
                          <a:spcPts val="0"/>
                        </a:spcBef>
                        <a:spcAft>
                          <a:spcPts val="0"/>
                        </a:spcAft>
                        <a:buNone/>
                      </a:pPr>
                      <a:r>
                        <a:rPr b="1" lang="en" sz="1000"/>
                        <a:t>Description</a:t>
                      </a:r>
                      <a:endParaRPr b="1" sz="1000"/>
                    </a:p>
                  </a:txBody>
                  <a:tcPr marT="91425" marB="91425" marR="91425" marL="91425"/>
                </a:tc>
              </a:tr>
              <a:tr h="381000">
                <a:tc>
                  <a:txBody>
                    <a:bodyPr/>
                    <a:lstStyle/>
                    <a:p>
                      <a:pPr indent="0" lvl="0" marL="0" rtl="0" algn="l">
                        <a:spcBef>
                          <a:spcPts val="0"/>
                        </a:spcBef>
                        <a:spcAft>
                          <a:spcPts val="0"/>
                        </a:spcAft>
                        <a:buNone/>
                      </a:pPr>
                      <a:r>
                        <a:rPr b="1" lang="en" sz="1000"/>
                        <a:t>Key–Value Store</a:t>
                      </a:r>
                      <a:endParaRPr b="1" sz="1000"/>
                    </a:p>
                  </a:txBody>
                  <a:tcPr marT="91425" marB="91425" marR="91425" marL="91425"/>
                </a:tc>
                <a:tc>
                  <a:txBody>
                    <a:bodyPr/>
                    <a:lstStyle/>
                    <a:p>
                      <a:pPr indent="0" lvl="0" marL="0" rtl="0" algn="l">
                        <a:spcBef>
                          <a:spcPts val="0"/>
                        </a:spcBef>
                        <a:spcAft>
                          <a:spcPts val="0"/>
                        </a:spcAft>
                        <a:buNone/>
                      </a:pPr>
                      <a:r>
                        <a:rPr lang="en" sz="1300"/>
                        <a:t>Redis, DynamoDB</a:t>
                      </a:r>
                      <a:endParaRPr sz="1300"/>
                    </a:p>
                  </a:txBody>
                  <a:tcPr marT="91425" marB="91425" marR="91425" marL="91425"/>
                </a:tc>
                <a:tc>
                  <a:txBody>
                    <a:bodyPr/>
                    <a:lstStyle/>
                    <a:p>
                      <a:pPr indent="0" lvl="0" marL="0" rtl="0" algn="l">
                        <a:spcBef>
                          <a:spcPts val="0"/>
                        </a:spcBef>
                        <a:spcAft>
                          <a:spcPts val="0"/>
                        </a:spcAft>
                        <a:buNone/>
                      </a:pPr>
                      <a:r>
                        <a:rPr lang="en" sz="1000">
                          <a:latin typeface="Roboto Mono"/>
                          <a:ea typeface="Roboto Mono"/>
                          <a:cs typeface="Roboto Mono"/>
                          <a:sym typeface="Roboto Mono"/>
                        </a:rPr>
                        <a:t>{ key: value }</a:t>
                      </a:r>
                      <a:endParaRPr sz="1000">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en" sz="1300"/>
                        <a:t>Data stored as key-value pairs, like a dictionary.</a:t>
                      </a:r>
                      <a:endParaRPr sz="1300"/>
                    </a:p>
                  </a:txBody>
                  <a:tcPr marT="91425" marB="91425" marR="91425" marL="91425"/>
                </a:tc>
              </a:tr>
              <a:tr h="381000">
                <a:tc>
                  <a:txBody>
                    <a:bodyPr/>
                    <a:lstStyle/>
                    <a:p>
                      <a:pPr indent="0" lvl="0" marL="0" rtl="0" algn="l">
                        <a:spcBef>
                          <a:spcPts val="0"/>
                        </a:spcBef>
                        <a:spcAft>
                          <a:spcPts val="0"/>
                        </a:spcAft>
                        <a:buNone/>
                      </a:pPr>
                      <a:r>
                        <a:rPr b="1" lang="en" sz="1000"/>
                        <a:t>Document Store</a:t>
                      </a:r>
                      <a:endParaRPr b="1" sz="1000"/>
                    </a:p>
                  </a:txBody>
                  <a:tcPr marT="91425" marB="91425" marR="91425" marL="91425"/>
                </a:tc>
                <a:tc>
                  <a:txBody>
                    <a:bodyPr/>
                    <a:lstStyle/>
                    <a:p>
                      <a:pPr indent="0" lvl="0" marL="0" rtl="0" algn="l">
                        <a:spcBef>
                          <a:spcPts val="0"/>
                        </a:spcBef>
                        <a:spcAft>
                          <a:spcPts val="0"/>
                        </a:spcAft>
                        <a:buNone/>
                      </a:pPr>
                      <a:r>
                        <a:rPr lang="en" sz="1300"/>
                        <a:t>MongoDB, CouchDB</a:t>
                      </a:r>
                      <a:endParaRPr sz="1300"/>
                    </a:p>
                  </a:txBody>
                  <a:tcPr marT="91425" marB="91425" marR="91425" marL="91425"/>
                </a:tc>
                <a:tc>
                  <a:txBody>
                    <a:bodyPr/>
                    <a:lstStyle/>
                    <a:p>
                      <a:pPr indent="0" lvl="0" marL="0" rtl="0" algn="l">
                        <a:spcBef>
                          <a:spcPts val="0"/>
                        </a:spcBef>
                        <a:spcAft>
                          <a:spcPts val="0"/>
                        </a:spcAft>
                        <a:buNone/>
                      </a:pPr>
                      <a:r>
                        <a:rPr lang="en" sz="1000">
                          <a:latin typeface="Roboto Mono"/>
                          <a:ea typeface="Roboto Mono"/>
                          <a:cs typeface="Roboto Mono"/>
                          <a:sym typeface="Roboto Mono"/>
                        </a:rPr>
                        <a:t>{ "name": "John", "age": 25 }</a:t>
                      </a:r>
                      <a:endParaRPr sz="1000">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en" sz="1300"/>
                        <a:t>Stores JSON-like documents with flexible structure.</a:t>
                      </a:r>
                      <a:endParaRPr sz="1300"/>
                    </a:p>
                  </a:txBody>
                  <a:tcPr marT="91425" marB="91425" marR="91425" marL="91425"/>
                </a:tc>
              </a:tr>
              <a:tr h="381000">
                <a:tc>
                  <a:txBody>
                    <a:bodyPr/>
                    <a:lstStyle/>
                    <a:p>
                      <a:pPr indent="0" lvl="0" marL="0" rtl="0" algn="l">
                        <a:spcBef>
                          <a:spcPts val="0"/>
                        </a:spcBef>
                        <a:spcAft>
                          <a:spcPts val="0"/>
                        </a:spcAft>
                        <a:buNone/>
                      </a:pPr>
                      <a:r>
                        <a:rPr b="1" lang="en" sz="1000"/>
                        <a:t>Column Store</a:t>
                      </a:r>
                      <a:endParaRPr b="1" sz="1000"/>
                    </a:p>
                  </a:txBody>
                  <a:tcPr marT="91425" marB="91425" marR="91425" marL="91425"/>
                </a:tc>
                <a:tc>
                  <a:txBody>
                    <a:bodyPr/>
                    <a:lstStyle/>
                    <a:p>
                      <a:pPr indent="0" lvl="0" marL="0" rtl="0" algn="l">
                        <a:spcBef>
                          <a:spcPts val="0"/>
                        </a:spcBef>
                        <a:spcAft>
                          <a:spcPts val="0"/>
                        </a:spcAft>
                        <a:buNone/>
                      </a:pPr>
                      <a:r>
                        <a:rPr lang="en" sz="1300"/>
                        <a:t>Cassandra, HBase</a:t>
                      </a:r>
                      <a:endParaRPr sz="1300"/>
                    </a:p>
                  </a:txBody>
                  <a:tcPr marT="91425" marB="91425" marR="91425" marL="91425"/>
                </a:tc>
                <a:tc>
                  <a:txBody>
                    <a:bodyPr/>
                    <a:lstStyle/>
                    <a:p>
                      <a:pPr indent="0" lvl="0" marL="0" rtl="0" algn="l">
                        <a:spcBef>
                          <a:spcPts val="0"/>
                        </a:spcBef>
                        <a:spcAft>
                          <a:spcPts val="0"/>
                        </a:spcAft>
                        <a:buNone/>
                      </a:pPr>
                      <a:r>
                        <a:rPr lang="en" sz="1300"/>
                        <a:t>Columns grouped into families</a:t>
                      </a:r>
                      <a:endParaRPr sz="1300"/>
                    </a:p>
                  </a:txBody>
                  <a:tcPr marT="91425" marB="91425" marR="91425" marL="91425"/>
                </a:tc>
                <a:tc>
                  <a:txBody>
                    <a:bodyPr/>
                    <a:lstStyle/>
                    <a:p>
                      <a:pPr indent="0" lvl="0" marL="0" rtl="0" algn="l">
                        <a:spcBef>
                          <a:spcPts val="0"/>
                        </a:spcBef>
                        <a:spcAft>
                          <a:spcPts val="0"/>
                        </a:spcAft>
                        <a:buNone/>
                      </a:pPr>
                      <a:r>
                        <a:rPr lang="en" sz="1300"/>
                        <a:t>Optimized for fast retrieval of columns rather than rows.</a:t>
                      </a:r>
                      <a:endParaRPr sz="1300"/>
                    </a:p>
                  </a:txBody>
                  <a:tcPr marT="91425" marB="91425" marR="91425" marL="91425"/>
                </a:tc>
              </a:tr>
              <a:tr h="381000">
                <a:tc>
                  <a:txBody>
                    <a:bodyPr/>
                    <a:lstStyle/>
                    <a:p>
                      <a:pPr indent="0" lvl="0" marL="0" rtl="0" algn="l">
                        <a:spcBef>
                          <a:spcPts val="0"/>
                        </a:spcBef>
                        <a:spcAft>
                          <a:spcPts val="0"/>
                        </a:spcAft>
                        <a:buNone/>
                      </a:pPr>
                      <a:r>
                        <a:rPr b="1" lang="en" sz="1000"/>
                        <a:t>Graph Store</a:t>
                      </a:r>
                      <a:endParaRPr b="1" sz="1000"/>
                    </a:p>
                  </a:txBody>
                  <a:tcPr marT="91425" marB="91425" marR="91425" marL="91425"/>
                </a:tc>
                <a:tc>
                  <a:txBody>
                    <a:bodyPr/>
                    <a:lstStyle/>
                    <a:p>
                      <a:pPr indent="0" lvl="0" marL="0" rtl="0" algn="l">
                        <a:spcBef>
                          <a:spcPts val="0"/>
                        </a:spcBef>
                        <a:spcAft>
                          <a:spcPts val="0"/>
                        </a:spcAft>
                        <a:buNone/>
                      </a:pPr>
                      <a:r>
                        <a:rPr lang="en" sz="1300"/>
                        <a:t>Neo4j</a:t>
                      </a:r>
                      <a:endParaRPr sz="1300"/>
                    </a:p>
                  </a:txBody>
                  <a:tcPr marT="91425" marB="91425" marR="91425" marL="91425"/>
                </a:tc>
                <a:tc>
                  <a:txBody>
                    <a:bodyPr/>
                    <a:lstStyle/>
                    <a:p>
                      <a:pPr indent="0" lvl="0" marL="0" rtl="0" algn="l">
                        <a:spcBef>
                          <a:spcPts val="0"/>
                        </a:spcBef>
                        <a:spcAft>
                          <a:spcPts val="0"/>
                        </a:spcAft>
                        <a:buNone/>
                      </a:pPr>
                      <a:r>
                        <a:rPr lang="en" sz="1300"/>
                        <a:t>Nodes and edges</a:t>
                      </a:r>
                      <a:endParaRPr sz="1300"/>
                    </a:p>
                  </a:txBody>
                  <a:tcPr marT="91425" marB="91425" marR="91425" marL="91425"/>
                </a:tc>
                <a:tc>
                  <a:txBody>
                    <a:bodyPr/>
                    <a:lstStyle/>
                    <a:p>
                      <a:pPr indent="0" lvl="0" marL="0" rtl="0" algn="l">
                        <a:spcBef>
                          <a:spcPts val="0"/>
                        </a:spcBef>
                        <a:spcAft>
                          <a:spcPts val="0"/>
                        </a:spcAft>
                        <a:buNone/>
                      </a:pPr>
                      <a:r>
                        <a:rPr lang="en" sz="1300"/>
                        <a:t>Used to represent relationships (e.g., social networks).</a:t>
                      </a:r>
                      <a:endParaRPr sz="1300"/>
                    </a:p>
                  </a:txBody>
                  <a:tcPr marT="91425" marB="91425" marR="91425" marL="91425"/>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6"/>
          <p:cNvSpPr txBox="1"/>
          <p:nvPr>
            <p:ph idx="1" type="body"/>
          </p:nvPr>
        </p:nvSpPr>
        <p:spPr>
          <a:xfrm>
            <a:off x="311700" y="367850"/>
            <a:ext cx="8520600" cy="4201200"/>
          </a:xfrm>
          <a:prstGeom prst="rect">
            <a:avLst/>
          </a:prstGeom>
        </p:spPr>
        <p:txBody>
          <a:bodyPr anchorCtr="0" anchor="t" bIns="91425" lIns="91425" spcFirstLastPara="1" rIns="91425" wrap="square" tIns="91425">
            <a:normAutofit lnSpcReduction="20000"/>
          </a:bodyPr>
          <a:lstStyle/>
          <a:p>
            <a:pPr indent="0" lvl="0" marL="0" rtl="0" algn="l">
              <a:spcBef>
                <a:spcPts val="1400"/>
              </a:spcBef>
              <a:spcAft>
                <a:spcPts val="0"/>
              </a:spcAft>
              <a:buNone/>
            </a:pPr>
            <a:r>
              <a:rPr b="1" lang="en" sz="1300">
                <a:solidFill>
                  <a:srgbClr val="000000"/>
                </a:solidFill>
                <a:latin typeface="Arial"/>
                <a:ea typeface="Arial"/>
                <a:cs typeface="Arial"/>
                <a:sym typeface="Arial"/>
              </a:rPr>
              <a:t>2. Schema Flexibility</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You don’t have to predefine a schema.</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Each record (like a document) can have </a:t>
            </a:r>
            <a:r>
              <a:rPr b="1" lang="en" sz="1100">
                <a:solidFill>
                  <a:srgbClr val="000000"/>
                </a:solidFill>
                <a:latin typeface="Arial"/>
                <a:ea typeface="Arial"/>
                <a:cs typeface="Arial"/>
                <a:sym typeface="Arial"/>
              </a:rPr>
              <a:t>different fields</a:t>
            </a:r>
            <a:r>
              <a:rPr lang="en" sz="1100">
                <a:solidFill>
                  <a:srgbClr val="000000"/>
                </a:solidFill>
                <a:latin typeface="Arial"/>
                <a:ea typeface="Arial"/>
                <a:cs typeface="Arial"/>
                <a:sym typeface="Arial"/>
              </a:rPr>
              <a:t>.</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This allows easy updates and addition of new data fields.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200">
                <a:solidFill>
                  <a:srgbClr val="000000"/>
                </a:solidFill>
                <a:latin typeface="Arial"/>
                <a:ea typeface="Arial"/>
                <a:cs typeface="Arial"/>
                <a:sym typeface="Arial"/>
              </a:rPr>
              <a:t>Example (Document-based):</a:t>
            </a:r>
            <a:endParaRPr sz="1200">
              <a:solidFill>
                <a:srgbClr val="000000"/>
              </a:solidFill>
              <a:latin typeface="Arial"/>
              <a:ea typeface="Arial"/>
              <a:cs typeface="Arial"/>
              <a:sym typeface="Arial"/>
            </a:endParaRPr>
          </a:p>
          <a:p>
            <a:pPr indent="0" lvl="0" marL="457200" rtl="0" algn="l">
              <a:spcBef>
                <a:spcPts val="1200"/>
              </a:spcBef>
              <a:spcAft>
                <a:spcPts val="0"/>
              </a:spcAft>
              <a:buNone/>
            </a:pPr>
            <a:r>
              <a:rPr lang="en" sz="1100">
                <a:solidFill>
                  <a:srgbClr val="000000"/>
                </a:solidFill>
                <a:latin typeface="Arial"/>
                <a:ea typeface="Arial"/>
                <a:cs typeface="Arial"/>
                <a:sym typeface="Arial"/>
              </a:rPr>
              <a:t>{                                                   </a:t>
            </a:r>
            <a:endParaRPr sz="1100">
              <a:solidFill>
                <a:srgbClr val="000000"/>
              </a:solidFill>
              <a:latin typeface="Arial"/>
              <a:ea typeface="Arial"/>
              <a:cs typeface="Arial"/>
              <a:sym typeface="Arial"/>
            </a:endParaRPr>
          </a:p>
          <a:p>
            <a:pPr indent="0" lvl="0" marL="457200" rtl="0" algn="l">
              <a:spcBef>
                <a:spcPts val="0"/>
              </a:spcBef>
              <a:spcAft>
                <a:spcPts val="0"/>
              </a:spcAft>
              <a:buNone/>
            </a:pPr>
            <a:r>
              <a:rPr lang="en" sz="1100">
                <a:solidFill>
                  <a:srgbClr val="000000"/>
                </a:solidFill>
                <a:latin typeface="Arial"/>
                <a:ea typeface="Arial"/>
                <a:cs typeface="Arial"/>
                <a:sym typeface="Arial"/>
              </a:rPr>
              <a:t>  "name": "John",</a:t>
            </a:r>
            <a:endParaRPr sz="1100">
              <a:solidFill>
                <a:srgbClr val="000000"/>
              </a:solidFill>
              <a:latin typeface="Arial"/>
              <a:ea typeface="Arial"/>
              <a:cs typeface="Arial"/>
              <a:sym typeface="Arial"/>
            </a:endParaRPr>
          </a:p>
          <a:p>
            <a:pPr indent="0" lvl="0" marL="457200" rtl="0" algn="l">
              <a:spcBef>
                <a:spcPts val="0"/>
              </a:spcBef>
              <a:spcAft>
                <a:spcPts val="0"/>
              </a:spcAft>
              <a:buNone/>
            </a:pPr>
            <a:r>
              <a:rPr lang="en" sz="1100">
                <a:solidFill>
                  <a:srgbClr val="000000"/>
                </a:solidFill>
                <a:latin typeface="Arial"/>
                <a:ea typeface="Arial"/>
                <a:cs typeface="Arial"/>
                <a:sym typeface="Arial"/>
              </a:rPr>
              <a:t>  "age": 25,</a:t>
            </a:r>
            <a:endParaRPr sz="1100">
              <a:solidFill>
                <a:srgbClr val="000000"/>
              </a:solidFill>
              <a:latin typeface="Arial"/>
              <a:ea typeface="Arial"/>
              <a:cs typeface="Arial"/>
              <a:sym typeface="Arial"/>
            </a:endParaRPr>
          </a:p>
          <a:p>
            <a:pPr indent="0" lvl="0" marL="457200" rtl="0" algn="l">
              <a:spcBef>
                <a:spcPts val="0"/>
              </a:spcBef>
              <a:spcAft>
                <a:spcPts val="0"/>
              </a:spcAft>
              <a:buNone/>
            </a:pPr>
            <a:r>
              <a:rPr lang="en" sz="1100">
                <a:solidFill>
                  <a:srgbClr val="000000"/>
                </a:solidFill>
                <a:latin typeface="Arial"/>
                <a:ea typeface="Arial"/>
                <a:cs typeface="Arial"/>
                <a:sym typeface="Arial"/>
              </a:rPr>
              <a:t>  "skills": ["HTML", "CSS", "JS"]</a:t>
            </a:r>
            <a:endParaRPr sz="1100">
              <a:solidFill>
                <a:srgbClr val="000000"/>
              </a:solidFill>
              <a:latin typeface="Arial"/>
              <a:ea typeface="Arial"/>
              <a:cs typeface="Arial"/>
              <a:sym typeface="Arial"/>
            </a:endParaRPr>
          </a:p>
          <a:p>
            <a:pPr indent="0" lvl="0" marL="457200" rtl="0" algn="l">
              <a:spcBef>
                <a:spcPts val="0"/>
              </a:spcBef>
              <a:spcAft>
                <a:spcPts val="0"/>
              </a:spcAft>
              <a:buNone/>
            </a:pP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200">
                <a:solidFill>
                  <a:srgbClr val="000000"/>
                </a:solidFill>
                <a:latin typeface="Arial"/>
                <a:ea typeface="Arial"/>
                <a:cs typeface="Arial"/>
                <a:sym typeface="Arial"/>
              </a:rPr>
              <a:t>and another document in the same collection could be:</a:t>
            </a:r>
            <a:endParaRPr sz="1200">
              <a:solidFill>
                <a:srgbClr val="000000"/>
              </a:solidFill>
              <a:latin typeface="Arial"/>
              <a:ea typeface="Arial"/>
              <a:cs typeface="Arial"/>
              <a:sym typeface="Arial"/>
            </a:endParaRPr>
          </a:p>
          <a:p>
            <a:pPr indent="0" lvl="0" marL="457200" rtl="0" algn="l">
              <a:spcBef>
                <a:spcPts val="1200"/>
              </a:spcBef>
              <a:spcAft>
                <a:spcPts val="0"/>
              </a:spcAft>
              <a:buNone/>
            </a:pP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457200" rtl="0" algn="l">
              <a:spcBef>
                <a:spcPts val="0"/>
              </a:spcBef>
              <a:spcAft>
                <a:spcPts val="0"/>
              </a:spcAft>
              <a:buNone/>
            </a:pPr>
            <a:r>
              <a:rPr lang="en" sz="1100">
                <a:solidFill>
                  <a:srgbClr val="000000"/>
                </a:solidFill>
                <a:latin typeface="Arial"/>
                <a:ea typeface="Arial"/>
                <a:cs typeface="Arial"/>
                <a:sym typeface="Arial"/>
              </a:rPr>
              <a:t>  "name": "Sara",</a:t>
            </a:r>
            <a:endParaRPr sz="1100">
              <a:solidFill>
                <a:srgbClr val="000000"/>
              </a:solidFill>
              <a:latin typeface="Arial"/>
              <a:ea typeface="Arial"/>
              <a:cs typeface="Arial"/>
              <a:sym typeface="Arial"/>
            </a:endParaRPr>
          </a:p>
          <a:p>
            <a:pPr indent="0" lvl="0" marL="457200" rtl="0" algn="l">
              <a:spcBef>
                <a:spcPts val="0"/>
              </a:spcBef>
              <a:spcAft>
                <a:spcPts val="0"/>
              </a:spcAft>
              <a:buNone/>
            </a:pPr>
            <a:r>
              <a:rPr lang="en" sz="1100">
                <a:solidFill>
                  <a:srgbClr val="000000"/>
                </a:solidFill>
                <a:latin typeface="Arial"/>
                <a:ea typeface="Arial"/>
                <a:cs typeface="Arial"/>
                <a:sym typeface="Arial"/>
              </a:rPr>
              <a:t>  "department": "Sales",</a:t>
            </a:r>
            <a:endParaRPr sz="1100">
              <a:solidFill>
                <a:srgbClr val="000000"/>
              </a:solidFill>
              <a:latin typeface="Arial"/>
              <a:ea typeface="Arial"/>
              <a:cs typeface="Arial"/>
              <a:sym typeface="Arial"/>
            </a:endParaRPr>
          </a:p>
          <a:p>
            <a:pPr indent="0" lvl="0" marL="457200" rtl="0" algn="l">
              <a:spcBef>
                <a:spcPts val="0"/>
              </a:spcBef>
              <a:spcAft>
                <a:spcPts val="0"/>
              </a:spcAft>
              <a:buNone/>
            </a:pPr>
            <a:r>
              <a:rPr lang="en" sz="1100">
                <a:solidFill>
                  <a:srgbClr val="000000"/>
                </a:solidFill>
                <a:latin typeface="Arial"/>
                <a:ea typeface="Arial"/>
                <a:cs typeface="Arial"/>
                <a:sym typeface="Arial"/>
              </a:rPr>
              <a:t>  "experience": 3</a:t>
            </a:r>
            <a:endParaRPr sz="1100">
              <a:solidFill>
                <a:srgbClr val="000000"/>
              </a:solidFill>
              <a:latin typeface="Arial"/>
              <a:ea typeface="Arial"/>
              <a:cs typeface="Arial"/>
              <a:sym typeface="Arial"/>
            </a:endParaRPr>
          </a:p>
          <a:p>
            <a:pPr indent="0" lvl="0" marL="457200" rtl="0" algn="l">
              <a:spcBef>
                <a:spcPts val="0"/>
              </a:spcBef>
              <a:spcAft>
                <a:spcPts val="0"/>
              </a:spcAft>
              <a:buNone/>
            </a:pP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0"/>
              </a:spcBef>
              <a:spcAft>
                <a:spcPts val="0"/>
              </a:spcAft>
              <a:buNone/>
            </a:pPr>
            <a:r>
              <a:t/>
            </a:r>
            <a:endParaRPr sz="1100">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7"/>
          <p:cNvSpPr txBox="1"/>
          <p:nvPr>
            <p:ph idx="1" type="body"/>
          </p:nvPr>
        </p:nvSpPr>
        <p:spPr>
          <a:xfrm>
            <a:off x="311700" y="506875"/>
            <a:ext cx="8520600" cy="40623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None/>
            </a:pPr>
            <a:r>
              <a:rPr b="1" lang="en" sz="1300">
                <a:solidFill>
                  <a:srgbClr val="000000"/>
                </a:solidFill>
                <a:latin typeface="Arial"/>
                <a:ea typeface="Arial"/>
                <a:cs typeface="Arial"/>
                <a:sym typeface="Arial"/>
              </a:rPr>
              <a:t>3. Data Access</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NoSQL databases use their own </a:t>
            </a:r>
            <a:r>
              <a:rPr b="1" lang="en" sz="1100">
                <a:solidFill>
                  <a:srgbClr val="000000"/>
                </a:solidFill>
                <a:latin typeface="Arial"/>
                <a:ea typeface="Arial"/>
                <a:cs typeface="Arial"/>
                <a:sym typeface="Arial"/>
              </a:rPr>
              <a:t>query methods or APIs</a:t>
            </a:r>
            <a:r>
              <a:rPr lang="en" sz="1100">
                <a:solidFill>
                  <a:srgbClr val="000000"/>
                </a:solidFill>
                <a:latin typeface="Arial"/>
                <a:ea typeface="Arial"/>
                <a:cs typeface="Arial"/>
                <a:sym typeface="Arial"/>
              </a:rPr>
              <a:t>.</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Example (MongoDB):</a:t>
            </a:r>
            <a:endParaRPr sz="1100">
              <a:solidFill>
                <a:srgbClr val="000000"/>
              </a:solidFill>
              <a:latin typeface="Arial"/>
              <a:ea typeface="Arial"/>
              <a:cs typeface="Arial"/>
              <a:sym typeface="Arial"/>
            </a:endParaRPr>
          </a:p>
          <a:p>
            <a:pPr indent="0" lvl="0" marL="457200" rtl="0" algn="l">
              <a:spcBef>
                <a:spcPts val="1200"/>
              </a:spcBef>
              <a:spcAft>
                <a:spcPts val="0"/>
              </a:spcAft>
              <a:buNone/>
            </a:pPr>
            <a:r>
              <a:rPr lang="en" sz="1200">
                <a:solidFill>
                  <a:srgbClr val="980000"/>
                </a:solidFill>
                <a:latin typeface="Arial"/>
                <a:ea typeface="Arial"/>
                <a:cs typeface="Arial"/>
                <a:sym typeface="Arial"/>
              </a:rPr>
              <a:t>db.students.find({ age: { $gt: 20 } })</a:t>
            </a:r>
            <a:endParaRPr sz="1200">
              <a:solidFill>
                <a:srgbClr val="98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4. Replication and Sharding (Scalability)</a:t>
            </a:r>
            <a:endParaRPr b="1" sz="1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This is one of the </a:t>
            </a:r>
            <a:r>
              <a:rPr b="1" lang="en" sz="1100">
                <a:solidFill>
                  <a:srgbClr val="000000"/>
                </a:solidFill>
                <a:latin typeface="Arial"/>
                <a:ea typeface="Arial"/>
                <a:cs typeface="Arial"/>
                <a:sym typeface="Arial"/>
              </a:rPr>
              <a:t>core strengths</a:t>
            </a:r>
            <a:r>
              <a:rPr lang="en" sz="1100">
                <a:solidFill>
                  <a:srgbClr val="000000"/>
                </a:solidFill>
                <a:latin typeface="Arial"/>
                <a:ea typeface="Arial"/>
                <a:cs typeface="Arial"/>
                <a:sym typeface="Arial"/>
              </a:rPr>
              <a:t> of NoSQL:</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en" sz="1100">
                <a:solidFill>
                  <a:srgbClr val="000000"/>
                </a:solidFill>
                <a:latin typeface="Arial"/>
                <a:ea typeface="Arial"/>
                <a:cs typeface="Arial"/>
                <a:sym typeface="Arial"/>
              </a:rPr>
              <a:t>Replication</a:t>
            </a:r>
            <a:r>
              <a:rPr lang="en" sz="1100">
                <a:solidFill>
                  <a:srgbClr val="000000"/>
                </a:solidFill>
                <a:latin typeface="Arial"/>
                <a:ea typeface="Arial"/>
                <a:cs typeface="Arial"/>
                <a:sym typeface="Arial"/>
              </a:rPr>
              <a:t>: Copies of data are stored on multiple servers for reliability.</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Sharding</a:t>
            </a:r>
            <a:r>
              <a:rPr lang="en" sz="1100">
                <a:solidFill>
                  <a:srgbClr val="000000"/>
                </a:solidFill>
                <a:latin typeface="Arial"/>
                <a:ea typeface="Arial"/>
                <a:cs typeface="Arial"/>
                <a:sym typeface="Arial"/>
              </a:rPr>
              <a:t>: Data is split across multiple machines to handle large-scale workloads.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0" lvl="0" marL="0" rtl="0" algn="l">
              <a:spcBef>
                <a:spcPts val="1200"/>
              </a:spcBef>
              <a:spcAft>
                <a:spcPts val="1200"/>
              </a:spcAft>
              <a:buNone/>
            </a:pPr>
            <a:r>
              <a:rPr lang="en" sz="1100">
                <a:solidFill>
                  <a:srgbClr val="000000"/>
                </a:solidFill>
                <a:latin typeface="Arial"/>
                <a:ea typeface="Arial"/>
                <a:cs typeface="Arial"/>
                <a:sym typeface="Arial"/>
              </a:rPr>
              <a:t>Think of it like —</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instead of one giant machine handling everything, </a:t>
            </a:r>
            <a:r>
              <a:rPr b="1" lang="en" sz="1100">
                <a:solidFill>
                  <a:srgbClr val="000000"/>
                </a:solidFill>
                <a:latin typeface="Arial"/>
                <a:ea typeface="Arial"/>
                <a:cs typeface="Arial"/>
                <a:sym typeface="Arial"/>
              </a:rPr>
              <a:t>many smaller ones</a:t>
            </a:r>
            <a:r>
              <a:rPr lang="en" sz="1100">
                <a:solidFill>
                  <a:srgbClr val="000000"/>
                </a:solidFill>
                <a:latin typeface="Arial"/>
                <a:ea typeface="Arial"/>
                <a:cs typeface="Arial"/>
                <a:sym typeface="Arial"/>
              </a:rPr>
              <a:t> share the load.</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8"/>
          <p:cNvSpPr txBox="1"/>
          <p:nvPr>
            <p:ph idx="1" type="body"/>
          </p:nvPr>
        </p:nvSpPr>
        <p:spPr>
          <a:xfrm>
            <a:off x="311700" y="442725"/>
            <a:ext cx="8520600" cy="44484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None/>
            </a:pPr>
            <a:r>
              <a:rPr b="1" lang="en" sz="1300">
                <a:solidFill>
                  <a:srgbClr val="000000"/>
                </a:solidFill>
                <a:latin typeface="Arial"/>
                <a:ea typeface="Arial"/>
                <a:cs typeface="Arial"/>
                <a:sym typeface="Arial"/>
              </a:rPr>
              <a:t>5. Consistency Model</a:t>
            </a:r>
            <a:endParaRPr b="1" sz="1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NoSQL databases often follow the </a:t>
            </a:r>
            <a:r>
              <a:rPr b="1" lang="en" sz="1100">
                <a:solidFill>
                  <a:srgbClr val="000000"/>
                </a:solidFill>
                <a:latin typeface="Arial"/>
                <a:ea typeface="Arial"/>
                <a:cs typeface="Arial"/>
                <a:sym typeface="Arial"/>
              </a:rPr>
              <a:t>BASE</a:t>
            </a:r>
            <a:r>
              <a:rPr lang="en" sz="1100">
                <a:solidFill>
                  <a:srgbClr val="000000"/>
                </a:solidFill>
                <a:latin typeface="Arial"/>
                <a:ea typeface="Arial"/>
                <a:cs typeface="Arial"/>
                <a:sym typeface="Arial"/>
              </a:rPr>
              <a:t> model (instead of ACID):</a:t>
            </a:r>
            <a:endParaRPr sz="1100">
              <a:solidFill>
                <a:srgbClr val="000000"/>
              </a:solidFill>
              <a:latin typeface="Arial"/>
              <a:ea typeface="Arial"/>
              <a:cs typeface="Arial"/>
              <a:sym typeface="Arial"/>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sz="1100">
                <a:solidFill>
                  <a:srgbClr val="000000"/>
                </a:solidFill>
                <a:latin typeface="Arial"/>
                <a:ea typeface="Arial"/>
                <a:cs typeface="Arial"/>
                <a:sym typeface="Arial"/>
              </a:rPr>
              <a:t>This means:</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They focus more on </a:t>
            </a:r>
            <a:r>
              <a:rPr b="1" lang="en" sz="1100">
                <a:solidFill>
                  <a:srgbClr val="000000"/>
                </a:solidFill>
                <a:latin typeface="Arial"/>
                <a:ea typeface="Arial"/>
                <a:cs typeface="Arial"/>
                <a:sym typeface="Arial"/>
              </a:rPr>
              <a:t>availability and speed</a:t>
            </a:r>
            <a:r>
              <a:rPr lang="en" sz="1100">
                <a:solidFill>
                  <a:srgbClr val="000000"/>
                </a:solidFill>
                <a:latin typeface="Arial"/>
                <a:ea typeface="Arial"/>
                <a:cs typeface="Arial"/>
                <a:sym typeface="Arial"/>
              </a:rPr>
              <a:t>,</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while allowing </a:t>
            </a:r>
            <a:r>
              <a:rPr b="1" lang="en" sz="1100">
                <a:solidFill>
                  <a:srgbClr val="000000"/>
                </a:solidFill>
                <a:latin typeface="Arial"/>
                <a:ea typeface="Arial"/>
                <a:cs typeface="Arial"/>
                <a:sym typeface="Arial"/>
              </a:rPr>
              <a:t>eventual consistency</a:t>
            </a:r>
            <a:r>
              <a:rPr lang="en" sz="1100">
                <a:solidFill>
                  <a:srgbClr val="000000"/>
                </a:solidFill>
                <a:latin typeface="Arial"/>
                <a:ea typeface="Arial"/>
                <a:cs typeface="Arial"/>
                <a:sym typeface="Arial"/>
              </a:rPr>
              <a:t> (data syncs across servers over time).</a:t>
            </a:r>
            <a:endParaRPr/>
          </a:p>
        </p:txBody>
      </p:sp>
      <p:graphicFrame>
        <p:nvGraphicFramePr>
          <p:cNvPr id="148" name="Google Shape;148;p28"/>
          <p:cNvGraphicFramePr/>
          <p:nvPr/>
        </p:nvGraphicFramePr>
        <p:xfrm>
          <a:off x="834875" y="1397450"/>
          <a:ext cx="3000000" cy="3000000"/>
        </p:xfrm>
        <a:graphic>
          <a:graphicData uri="http://schemas.openxmlformats.org/drawingml/2006/table">
            <a:tbl>
              <a:tblPr>
                <a:noFill/>
                <a:tableStyleId>{429C3603-AB32-4E62-8A1A-BE80AA933B98}</a:tableStyleId>
              </a:tblPr>
              <a:tblGrid>
                <a:gridCol w="3619500"/>
                <a:gridCol w="3619500"/>
              </a:tblGrid>
              <a:tr h="381000">
                <a:tc>
                  <a:txBody>
                    <a:bodyPr/>
                    <a:lstStyle/>
                    <a:p>
                      <a:pPr indent="0" lvl="0" marL="0" rtl="0" algn="ctr">
                        <a:lnSpc>
                          <a:spcPct val="115000"/>
                        </a:lnSpc>
                        <a:spcBef>
                          <a:spcPts val="0"/>
                        </a:spcBef>
                        <a:spcAft>
                          <a:spcPts val="0"/>
                        </a:spcAft>
                        <a:buNone/>
                      </a:pPr>
                      <a:r>
                        <a:rPr b="1" lang="en" sz="1100"/>
                        <a:t>Relational (SQL)</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NoSQL (BASE)</a:t>
                      </a:r>
                      <a:endParaRPr b="1" sz="1100"/>
                    </a:p>
                  </a:txBody>
                  <a:tcPr marT="91425" marB="91425" marR="91425" marL="91425"/>
                </a:tc>
              </a:tr>
              <a:tr h="381000">
                <a:tc>
                  <a:txBody>
                    <a:bodyPr/>
                    <a:lstStyle/>
                    <a:p>
                      <a:pPr indent="0" lvl="0" marL="0" rtl="0" algn="l">
                        <a:spcBef>
                          <a:spcPts val="0"/>
                        </a:spcBef>
                        <a:spcAft>
                          <a:spcPts val="0"/>
                        </a:spcAft>
                        <a:buNone/>
                      </a:pPr>
                      <a:r>
                        <a:rPr b="1" lang="en" sz="1100"/>
                        <a:t>A</a:t>
                      </a:r>
                      <a:r>
                        <a:rPr lang="en" sz="1100"/>
                        <a:t>tomic</a:t>
                      </a:r>
                      <a:endParaRPr sz="1100"/>
                    </a:p>
                  </a:txBody>
                  <a:tcPr marT="91425" marB="91425" marR="91425" marL="91425"/>
                </a:tc>
                <a:tc>
                  <a:txBody>
                    <a:bodyPr/>
                    <a:lstStyle/>
                    <a:p>
                      <a:pPr indent="0" lvl="0" marL="0" rtl="0" algn="l">
                        <a:spcBef>
                          <a:spcPts val="0"/>
                        </a:spcBef>
                        <a:spcAft>
                          <a:spcPts val="0"/>
                        </a:spcAft>
                        <a:buNone/>
                      </a:pPr>
                      <a:r>
                        <a:rPr b="1" lang="en" sz="1100"/>
                        <a:t>B</a:t>
                      </a:r>
                      <a:r>
                        <a:rPr lang="en" sz="1100"/>
                        <a:t>asically Available</a:t>
                      </a:r>
                      <a:endParaRPr sz="1100"/>
                    </a:p>
                  </a:txBody>
                  <a:tcPr marT="91425" marB="91425" marR="91425" marL="91425"/>
                </a:tc>
              </a:tr>
              <a:tr h="381000">
                <a:tc>
                  <a:txBody>
                    <a:bodyPr/>
                    <a:lstStyle/>
                    <a:p>
                      <a:pPr indent="0" lvl="0" marL="0" rtl="0" algn="l">
                        <a:spcBef>
                          <a:spcPts val="0"/>
                        </a:spcBef>
                        <a:spcAft>
                          <a:spcPts val="0"/>
                        </a:spcAft>
                        <a:buNone/>
                      </a:pPr>
                      <a:r>
                        <a:rPr b="1" lang="en" sz="1100"/>
                        <a:t>C</a:t>
                      </a:r>
                      <a:r>
                        <a:rPr lang="en" sz="1100"/>
                        <a:t>onsistent</a:t>
                      </a:r>
                      <a:endParaRPr sz="1100"/>
                    </a:p>
                  </a:txBody>
                  <a:tcPr marT="91425" marB="91425" marR="91425" marL="91425"/>
                </a:tc>
                <a:tc>
                  <a:txBody>
                    <a:bodyPr/>
                    <a:lstStyle/>
                    <a:p>
                      <a:pPr indent="0" lvl="0" marL="0" rtl="0" algn="l">
                        <a:spcBef>
                          <a:spcPts val="0"/>
                        </a:spcBef>
                        <a:spcAft>
                          <a:spcPts val="0"/>
                        </a:spcAft>
                        <a:buNone/>
                      </a:pPr>
                      <a:r>
                        <a:rPr b="1" lang="en" sz="1100"/>
                        <a:t>S</a:t>
                      </a:r>
                      <a:r>
                        <a:rPr lang="en" sz="1100"/>
                        <a:t>oft state</a:t>
                      </a:r>
                      <a:endParaRPr sz="1100"/>
                    </a:p>
                  </a:txBody>
                  <a:tcPr marT="91425" marB="91425" marR="91425" marL="91425"/>
                </a:tc>
              </a:tr>
              <a:tr h="381000">
                <a:tc>
                  <a:txBody>
                    <a:bodyPr/>
                    <a:lstStyle/>
                    <a:p>
                      <a:pPr indent="0" lvl="0" marL="0" rtl="0" algn="l">
                        <a:spcBef>
                          <a:spcPts val="0"/>
                        </a:spcBef>
                        <a:spcAft>
                          <a:spcPts val="0"/>
                        </a:spcAft>
                        <a:buNone/>
                      </a:pPr>
                      <a:r>
                        <a:rPr b="1" lang="en" sz="1100"/>
                        <a:t>I</a:t>
                      </a:r>
                      <a:r>
                        <a:rPr lang="en" sz="1100"/>
                        <a:t>solated</a:t>
                      </a:r>
                      <a:endParaRPr sz="1100"/>
                    </a:p>
                  </a:txBody>
                  <a:tcPr marT="91425" marB="91425" marR="91425" marL="91425"/>
                </a:tc>
                <a:tc>
                  <a:txBody>
                    <a:bodyPr/>
                    <a:lstStyle/>
                    <a:p>
                      <a:pPr indent="0" lvl="0" marL="0" rtl="0" algn="l">
                        <a:spcBef>
                          <a:spcPts val="0"/>
                        </a:spcBef>
                        <a:spcAft>
                          <a:spcPts val="0"/>
                        </a:spcAft>
                        <a:buNone/>
                      </a:pPr>
                      <a:r>
                        <a:rPr b="1" lang="en" sz="1100"/>
                        <a:t>E</a:t>
                      </a:r>
                      <a:r>
                        <a:rPr lang="en" sz="1100"/>
                        <a:t>ventually consistent</a:t>
                      </a:r>
                      <a:endParaRPr sz="1100"/>
                    </a:p>
                  </a:txBody>
                  <a:tcPr marT="91425" marB="91425" marR="91425" marL="91425"/>
                </a:tc>
              </a:tr>
              <a:tr h="381000">
                <a:tc>
                  <a:txBody>
                    <a:bodyPr/>
                    <a:lstStyle/>
                    <a:p>
                      <a:pPr indent="0" lvl="0" marL="0" rtl="0" algn="l">
                        <a:spcBef>
                          <a:spcPts val="0"/>
                        </a:spcBef>
                        <a:spcAft>
                          <a:spcPts val="0"/>
                        </a:spcAft>
                        <a:buNone/>
                      </a:pPr>
                      <a:r>
                        <a:rPr b="1" lang="en" sz="1100"/>
                        <a:t>D</a:t>
                      </a:r>
                      <a:r>
                        <a:rPr lang="en" sz="1100"/>
                        <a:t>urable</a:t>
                      </a:r>
                      <a:endParaRPr sz="1100"/>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9"/>
          <p:cNvSpPr txBox="1"/>
          <p:nvPr>
            <p:ph idx="1" type="body"/>
          </p:nvPr>
        </p:nvSpPr>
        <p:spPr>
          <a:xfrm>
            <a:off x="311700" y="784900"/>
            <a:ext cx="8520600" cy="37839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None/>
            </a:pPr>
            <a:r>
              <a:rPr b="1" lang="en" sz="1300">
                <a:solidFill>
                  <a:srgbClr val="000000"/>
                </a:solidFill>
                <a:latin typeface="Arial"/>
                <a:ea typeface="Arial"/>
                <a:cs typeface="Arial"/>
                <a:sym typeface="Arial"/>
              </a:rPr>
              <a:t>6. Data Retrieval and Indexing</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NoSQL uses indexes for fast lookups (similar to SQL but more flexible).</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Indexes can be on any field — even nested fields (in document databases).</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7. Performance Optimization</a:t>
            </a:r>
            <a:endParaRPr b="1" sz="1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Because data is often stored </a:t>
            </a:r>
            <a:r>
              <a:rPr b="1" lang="en" sz="1100">
                <a:solidFill>
                  <a:srgbClr val="000000"/>
                </a:solidFill>
                <a:latin typeface="Arial"/>
                <a:ea typeface="Arial"/>
                <a:cs typeface="Arial"/>
                <a:sym typeface="Arial"/>
              </a:rPr>
              <a:t>close to how it’s used by the application</a:t>
            </a:r>
            <a:r>
              <a:rPr lang="en" sz="1100">
                <a:solidFill>
                  <a:srgbClr val="000000"/>
                </a:solidFill>
                <a:latin typeface="Arial"/>
                <a:ea typeface="Arial"/>
                <a:cs typeface="Arial"/>
                <a:sym typeface="Arial"/>
              </a:rPr>
              <a:t>, you avoid complex joins — this makes it much </a:t>
            </a:r>
            <a:r>
              <a:rPr b="1" lang="en" sz="1100">
                <a:solidFill>
                  <a:srgbClr val="000000"/>
                </a:solidFill>
                <a:latin typeface="Arial"/>
                <a:ea typeface="Arial"/>
                <a:cs typeface="Arial"/>
                <a:sym typeface="Arial"/>
              </a:rPr>
              <a:t>faster</a:t>
            </a:r>
            <a:r>
              <a:rPr lang="en" sz="1100">
                <a:solidFill>
                  <a:srgbClr val="000000"/>
                </a:solidFill>
                <a:latin typeface="Arial"/>
                <a:ea typeface="Arial"/>
                <a:cs typeface="Arial"/>
                <a:sym typeface="Arial"/>
              </a:rPr>
              <a:t> for many use cases like:</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Real-time analytics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E-commerce recommendation systems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Social media feeds</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0"/>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 to MongoDB</a:t>
            </a:r>
            <a:endParaRPr/>
          </a:p>
        </p:txBody>
      </p:sp>
      <p:sp>
        <p:nvSpPr>
          <p:cNvPr id="159" name="Google Shape;159;p30"/>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100">
                <a:solidFill>
                  <a:srgbClr val="000000"/>
                </a:solidFill>
                <a:latin typeface="Arial"/>
                <a:ea typeface="Arial"/>
                <a:cs typeface="Arial"/>
                <a:sym typeface="Arial"/>
              </a:rPr>
              <a:t>MongoDB</a:t>
            </a:r>
            <a:r>
              <a:rPr lang="en" sz="1100">
                <a:solidFill>
                  <a:srgbClr val="000000"/>
                </a:solidFill>
                <a:latin typeface="Arial"/>
                <a:ea typeface="Arial"/>
                <a:cs typeface="Arial"/>
                <a:sym typeface="Arial"/>
              </a:rPr>
              <a:t> is a </a:t>
            </a:r>
            <a:r>
              <a:rPr b="1" lang="en" sz="1100">
                <a:solidFill>
                  <a:srgbClr val="000000"/>
                </a:solidFill>
                <a:latin typeface="Arial"/>
                <a:ea typeface="Arial"/>
                <a:cs typeface="Arial"/>
                <a:sym typeface="Arial"/>
              </a:rPr>
              <a:t>NoSQL (non-relational)</a:t>
            </a:r>
            <a:r>
              <a:rPr lang="en" sz="1100">
                <a:solidFill>
                  <a:srgbClr val="000000"/>
                </a:solidFill>
                <a:latin typeface="Arial"/>
                <a:ea typeface="Arial"/>
                <a:cs typeface="Arial"/>
                <a:sym typeface="Arial"/>
              </a:rPr>
              <a:t>, </a:t>
            </a:r>
            <a:r>
              <a:rPr b="1" lang="en" sz="1100">
                <a:solidFill>
                  <a:srgbClr val="000000"/>
                </a:solidFill>
                <a:latin typeface="Arial"/>
                <a:ea typeface="Arial"/>
                <a:cs typeface="Arial"/>
                <a:sym typeface="Arial"/>
              </a:rPr>
              <a:t>document-oriented</a:t>
            </a:r>
            <a:r>
              <a:rPr lang="en" sz="1100">
                <a:solidFill>
                  <a:srgbClr val="000000"/>
                </a:solidFill>
                <a:latin typeface="Arial"/>
                <a:ea typeface="Arial"/>
                <a:cs typeface="Arial"/>
                <a:sym typeface="Arial"/>
              </a:rPr>
              <a:t> database.</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It stores data in a </a:t>
            </a:r>
            <a:r>
              <a:rPr b="1" lang="en" sz="1100">
                <a:solidFill>
                  <a:srgbClr val="000000"/>
                </a:solidFill>
                <a:latin typeface="Arial"/>
                <a:ea typeface="Arial"/>
                <a:cs typeface="Arial"/>
                <a:sym typeface="Arial"/>
              </a:rPr>
              <a:t>flexible JSON-like format</a:t>
            </a:r>
            <a:r>
              <a:rPr lang="en" sz="1100">
                <a:solidFill>
                  <a:srgbClr val="000000"/>
                </a:solidFill>
                <a:latin typeface="Arial"/>
                <a:ea typeface="Arial"/>
                <a:cs typeface="Arial"/>
                <a:sym typeface="Arial"/>
              </a:rPr>
              <a:t> instead of tables and rows like SQL databases.</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 In short:</a:t>
            </a:r>
            <a:endParaRPr sz="1100">
              <a:solidFill>
                <a:srgbClr val="000000"/>
              </a:solidFill>
              <a:latin typeface="Arial"/>
              <a:ea typeface="Arial"/>
              <a:cs typeface="Arial"/>
              <a:sym typeface="Arial"/>
            </a:endParaRPr>
          </a:p>
          <a:p>
            <a:pPr indent="0" lvl="0" marL="381000" marR="381000" rtl="0" algn="l">
              <a:spcBef>
                <a:spcPts val="1200"/>
              </a:spcBef>
              <a:spcAft>
                <a:spcPts val="0"/>
              </a:spcAft>
              <a:buNone/>
            </a:pPr>
            <a:r>
              <a:rPr lang="en" sz="1100">
                <a:solidFill>
                  <a:srgbClr val="000000"/>
                </a:solidFill>
                <a:latin typeface="Arial"/>
                <a:ea typeface="Arial"/>
                <a:cs typeface="Arial"/>
                <a:sym typeface="Arial"/>
              </a:rPr>
              <a:t>MongoDB = “Database that stores data as documents (like JSON), not as tables.”</a:t>
            </a:r>
            <a:endParaRPr sz="1100">
              <a:solidFill>
                <a:srgbClr val="000000"/>
              </a:solidFill>
              <a:latin typeface="Arial"/>
              <a:ea typeface="Arial"/>
              <a:cs typeface="Arial"/>
              <a:sym typeface="Arial"/>
            </a:endParaRPr>
          </a:p>
          <a:p>
            <a:pPr indent="0" lvl="0" marL="0" rtl="0" algn="l">
              <a:spcBef>
                <a:spcPts val="1800"/>
              </a:spcBef>
              <a:spcAft>
                <a:spcPts val="0"/>
              </a:spcAft>
              <a:buNone/>
            </a:pPr>
            <a:r>
              <a:rPr b="1" lang="en" sz="1700">
                <a:solidFill>
                  <a:srgbClr val="000000"/>
                </a:solidFill>
                <a:latin typeface="Arial"/>
                <a:ea typeface="Arial"/>
                <a:cs typeface="Arial"/>
                <a:sym typeface="Arial"/>
              </a:rPr>
              <a:t>Key Idea</a:t>
            </a:r>
            <a:endParaRPr b="1" sz="17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In a relational database (SQL), data is stored like this:</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graphicFrame>
        <p:nvGraphicFramePr>
          <p:cNvPr id="160" name="Google Shape;160;p30"/>
          <p:cNvGraphicFramePr/>
          <p:nvPr/>
        </p:nvGraphicFramePr>
        <p:xfrm>
          <a:off x="952500" y="3514750"/>
          <a:ext cx="3000000" cy="3000000"/>
        </p:xfrm>
        <a:graphic>
          <a:graphicData uri="http://schemas.openxmlformats.org/drawingml/2006/table">
            <a:tbl>
              <a:tblPr>
                <a:noFill/>
                <a:tableStyleId>{429C3603-AB32-4E62-8A1A-BE80AA933B98}</a:tableStyleId>
              </a:tblPr>
              <a:tblGrid>
                <a:gridCol w="1809750"/>
                <a:gridCol w="1809750"/>
                <a:gridCol w="1809750"/>
                <a:gridCol w="1809750"/>
              </a:tblGrid>
              <a:tr h="381000">
                <a:tc>
                  <a:txBody>
                    <a:bodyPr/>
                    <a:lstStyle/>
                    <a:p>
                      <a:pPr indent="0" lvl="0" marL="0" rtl="0" algn="ctr">
                        <a:lnSpc>
                          <a:spcPct val="115000"/>
                        </a:lnSpc>
                        <a:spcBef>
                          <a:spcPts val="0"/>
                        </a:spcBef>
                        <a:spcAft>
                          <a:spcPts val="0"/>
                        </a:spcAft>
                        <a:buNone/>
                      </a:pPr>
                      <a:r>
                        <a:rPr b="1" lang="en" sz="1100"/>
                        <a:t>ID</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Name</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Age</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City</a:t>
                      </a:r>
                      <a:endParaRPr b="1" sz="1100"/>
                    </a:p>
                  </a:txBody>
                  <a:tcPr marT="91425" marB="91425" marR="91425" marL="91425"/>
                </a:tc>
              </a:tr>
              <a:tr h="381000">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Riya</a:t>
                      </a:r>
                      <a:endParaRPr/>
                    </a:p>
                  </a:txBody>
                  <a:tcPr marT="91425" marB="91425" marR="91425" marL="91425"/>
                </a:tc>
                <a:tc>
                  <a:txBody>
                    <a:bodyPr/>
                    <a:lstStyle/>
                    <a:p>
                      <a:pPr indent="0" lvl="0" marL="0" rtl="0" algn="l">
                        <a:spcBef>
                          <a:spcPts val="0"/>
                        </a:spcBef>
                        <a:spcAft>
                          <a:spcPts val="0"/>
                        </a:spcAft>
                        <a:buNone/>
                      </a:pPr>
                      <a:r>
                        <a:rPr lang="en"/>
                        <a:t>22</a:t>
                      </a:r>
                      <a:endParaRPr/>
                    </a:p>
                  </a:txBody>
                  <a:tcPr marT="91425" marB="91425" marR="91425" marL="91425"/>
                </a:tc>
                <a:tc>
                  <a:txBody>
                    <a:bodyPr/>
                    <a:lstStyle/>
                    <a:p>
                      <a:pPr indent="0" lvl="0" marL="0" rtl="0" algn="l">
                        <a:spcBef>
                          <a:spcPts val="0"/>
                        </a:spcBef>
                        <a:spcAft>
                          <a:spcPts val="0"/>
                        </a:spcAft>
                        <a:buNone/>
                      </a:pPr>
                      <a:r>
                        <a:rPr lang="en"/>
                        <a:t>Mumbai</a:t>
                      </a:r>
                      <a:endParaRPr/>
                    </a:p>
                  </a:txBody>
                  <a:tcPr marT="91425" marB="91425" marR="91425" marL="91425"/>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1"/>
          <p:cNvSpPr txBox="1"/>
          <p:nvPr>
            <p:ph idx="1" type="body"/>
          </p:nvPr>
        </p:nvSpPr>
        <p:spPr>
          <a:xfrm>
            <a:off x="311700" y="314375"/>
            <a:ext cx="8520600" cy="42546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100">
                <a:solidFill>
                  <a:srgbClr val="000000"/>
                </a:solidFill>
                <a:latin typeface="Arial"/>
                <a:ea typeface="Arial"/>
                <a:cs typeface="Arial"/>
                <a:sym typeface="Arial"/>
              </a:rPr>
              <a:t>But in </a:t>
            </a:r>
            <a:r>
              <a:rPr b="1" lang="en" sz="1100">
                <a:solidFill>
                  <a:srgbClr val="000000"/>
                </a:solidFill>
                <a:latin typeface="Arial"/>
                <a:ea typeface="Arial"/>
                <a:cs typeface="Arial"/>
                <a:sym typeface="Arial"/>
              </a:rPr>
              <a:t>MongoDB</a:t>
            </a:r>
            <a:r>
              <a:rPr lang="en" sz="1100">
                <a:solidFill>
                  <a:srgbClr val="000000"/>
                </a:solidFill>
                <a:latin typeface="Arial"/>
                <a:ea typeface="Arial"/>
                <a:cs typeface="Arial"/>
                <a:sym typeface="Arial"/>
              </a:rPr>
              <a:t>, the same record is stored as a </a:t>
            </a:r>
            <a:r>
              <a:rPr b="1" lang="en" sz="1100">
                <a:solidFill>
                  <a:srgbClr val="000000"/>
                </a:solidFill>
                <a:latin typeface="Arial"/>
                <a:ea typeface="Arial"/>
                <a:cs typeface="Arial"/>
                <a:sym typeface="Arial"/>
              </a:rPr>
              <a:t>document</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a:t>{</a:t>
            </a:r>
            <a:endParaRPr/>
          </a:p>
          <a:p>
            <a:pPr indent="0" lvl="0" marL="0" rtl="0" algn="l">
              <a:spcBef>
                <a:spcPts val="1200"/>
              </a:spcBef>
              <a:spcAft>
                <a:spcPts val="0"/>
              </a:spcAft>
              <a:buNone/>
            </a:pPr>
            <a:r>
              <a:rPr lang="en"/>
              <a:t>  "_id": 1,</a:t>
            </a:r>
            <a:endParaRPr/>
          </a:p>
          <a:p>
            <a:pPr indent="0" lvl="0" marL="0" rtl="0" algn="l">
              <a:spcBef>
                <a:spcPts val="1200"/>
              </a:spcBef>
              <a:spcAft>
                <a:spcPts val="0"/>
              </a:spcAft>
              <a:buNone/>
            </a:pPr>
            <a:r>
              <a:rPr lang="en"/>
              <a:t>  "name": "Riya",</a:t>
            </a:r>
            <a:endParaRPr/>
          </a:p>
          <a:p>
            <a:pPr indent="0" lvl="0" marL="0" rtl="0" algn="l">
              <a:spcBef>
                <a:spcPts val="1200"/>
              </a:spcBef>
              <a:spcAft>
                <a:spcPts val="0"/>
              </a:spcAft>
              <a:buNone/>
            </a:pPr>
            <a:r>
              <a:rPr lang="en"/>
              <a:t>  "age": 22,</a:t>
            </a:r>
            <a:endParaRPr/>
          </a:p>
          <a:p>
            <a:pPr indent="0" lvl="0" marL="0" rtl="0" algn="l">
              <a:spcBef>
                <a:spcPts val="1200"/>
              </a:spcBef>
              <a:spcAft>
                <a:spcPts val="0"/>
              </a:spcAft>
              <a:buNone/>
            </a:pPr>
            <a:r>
              <a:rPr lang="en"/>
              <a:t>  "city": "Mumbai"</a:t>
            </a:r>
            <a:endParaRPr/>
          </a:p>
          <a:p>
            <a:pPr indent="0" lvl="0" marL="0" rtl="0" algn="l">
              <a:spcBef>
                <a:spcPts val="1200"/>
              </a:spcBef>
              <a:spcAft>
                <a:spcPts val="0"/>
              </a:spcAft>
              <a:buNone/>
            </a:pPr>
            <a:r>
              <a:rPr lang="en"/>
              <a:t>}</a:t>
            </a:r>
            <a:endParaRPr/>
          </a:p>
          <a:p>
            <a:pPr indent="0" lvl="0" marL="0" rtl="0" algn="l">
              <a:spcBef>
                <a:spcPts val="1200"/>
              </a:spcBef>
              <a:spcAft>
                <a:spcPts val="1200"/>
              </a:spcAft>
              <a:buNone/>
            </a:pPr>
            <a:r>
              <a:rPr lang="en" sz="1100">
                <a:solidFill>
                  <a:srgbClr val="000000"/>
                </a:solidFill>
                <a:latin typeface="Arial"/>
                <a:ea typeface="Arial"/>
                <a:cs typeface="Arial"/>
                <a:sym typeface="Arial"/>
              </a:rPr>
              <a:t>So MongoDB works with </a:t>
            </a:r>
            <a:r>
              <a:rPr b="1" lang="en" sz="1100">
                <a:solidFill>
                  <a:srgbClr val="000000"/>
                </a:solidFill>
                <a:latin typeface="Arial"/>
                <a:ea typeface="Arial"/>
                <a:cs typeface="Arial"/>
                <a:sym typeface="Arial"/>
              </a:rPr>
              <a:t>collections of documents</a:t>
            </a:r>
            <a:r>
              <a:rPr lang="en" sz="1100">
                <a:solidFill>
                  <a:srgbClr val="000000"/>
                </a:solidFill>
                <a:latin typeface="Arial"/>
                <a:ea typeface="Arial"/>
                <a:cs typeface="Arial"/>
                <a:sym typeface="Arial"/>
              </a:rPr>
              <a:t> rather than tables of rows.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2"/>
          <p:cNvSpPr txBox="1"/>
          <p:nvPr>
            <p:ph idx="1" type="body"/>
          </p:nvPr>
        </p:nvSpPr>
        <p:spPr>
          <a:xfrm>
            <a:off x="311700" y="472650"/>
            <a:ext cx="8520600" cy="4096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MongoDB Structure (Basic Terms)</a:t>
            </a:r>
            <a:endParaRPr/>
          </a:p>
        </p:txBody>
      </p:sp>
      <p:graphicFrame>
        <p:nvGraphicFramePr>
          <p:cNvPr id="171" name="Google Shape;171;p32"/>
          <p:cNvGraphicFramePr/>
          <p:nvPr/>
        </p:nvGraphicFramePr>
        <p:xfrm>
          <a:off x="888350" y="1108750"/>
          <a:ext cx="3000000" cy="3000000"/>
        </p:xfrm>
        <a:graphic>
          <a:graphicData uri="http://schemas.openxmlformats.org/drawingml/2006/table">
            <a:tbl>
              <a:tblPr>
                <a:noFill/>
                <a:tableStyleId>{429C3603-AB32-4E62-8A1A-BE80AA933B98}</a:tableStyleId>
              </a:tblPr>
              <a:tblGrid>
                <a:gridCol w="2413000"/>
                <a:gridCol w="2413000"/>
                <a:gridCol w="2413000"/>
              </a:tblGrid>
              <a:tr h="390500">
                <a:tc>
                  <a:txBody>
                    <a:bodyPr/>
                    <a:lstStyle/>
                    <a:p>
                      <a:pPr indent="0" lvl="0" marL="0" rtl="0" algn="ctr">
                        <a:lnSpc>
                          <a:spcPct val="115000"/>
                        </a:lnSpc>
                        <a:spcBef>
                          <a:spcPts val="0"/>
                        </a:spcBef>
                        <a:spcAft>
                          <a:spcPts val="0"/>
                        </a:spcAft>
                        <a:buNone/>
                      </a:pPr>
                      <a:r>
                        <a:rPr b="1" lang="en" sz="1100"/>
                        <a:t>SQL Term</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MongoDB Equivalent</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Meaning</a:t>
                      </a:r>
                      <a:endParaRPr b="1" sz="1100"/>
                    </a:p>
                  </a:txBody>
                  <a:tcPr marT="91425" marB="91425" marR="91425" marL="91425"/>
                </a:tc>
              </a:tr>
              <a:tr h="406075">
                <a:tc>
                  <a:txBody>
                    <a:bodyPr/>
                    <a:lstStyle/>
                    <a:p>
                      <a:pPr indent="0" lvl="0" marL="0" rtl="0" algn="l">
                        <a:spcBef>
                          <a:spcPts val="0"/>
                        </a:spcBef>
                        <a:spcAft>
                          <a:spcPts val="0"/>
                        </a:spcAft>
                        <a:buNone/>
                      </a:pPr>
                      <a:r>
                        <a:rPr lang="en"/>
                        <a:t>Database</a:t>
                      </a:r>
                      <a:endParaRPr/>
                    </a:p>
                  </a:txBody>
                  <a:tcPr marT="91425" marB="91425" marR="91425" marL="91425"/>
                </a:tc>
                <a:tc>
                  <a:txBody>
                    <a:bodyPr/>
                    <a:lstStyle/>
                    <a:p>
                      <a:pPr indent="0" lvl="0" marL="0" rtl="0" algn="l">
                        <a:spcBef>
                          <a:spcPts val="0"/>
                        </a:spcBef>
                        <a:spcAft>
                          <a:spcPts val="0"/>
                        </a:spcAft>
                        <a:buNone/>
                      </a:pPr>
                      <a:r>
                        <a:rPr lang="en"/>
                        <a:t>Database</a:t>
                      </a:r>
                      <a:endParaRPr/>
                    </a:p>
                  </a:txBody>
                  <a:tcPr marT="91425" marB="91425" marR="91425" marL="91425"/>
                </a:tc>
                <a:tc>
                  <a:txBody>
                    <a:bodyPr/>
                    <a:lstStyle/>
                    <a:p>
                      <a:pPr indent="0" lvl="0" marL="0" rtl="0" algn="l">
                        <a:spcBef>
                          <a:spcPts val="0"/>
                        </a:spcBef>
                        <a:spcAft>
                          <a:spcPts val="0"/>
                        </a:spcAft>
                        <a:buNone/>
                      </a:pPr>
                      <a:r>
                        <a:rPr lang="en"/>
                        <a:t>Container for collections</a:t>
                      </a:r>
                      <a:endParaRPr/>
                    </a:p>
                  </a:txBody>
                  <a:tcPr marT="91425" marB="91425" marR="91425" marL="91425"/>
                </a:tc>
              </a:tr>
              <a:tr h="406075">
                <a:tc>
                  <a:txBody>
                    <a:bodyPr/>
                    <a:lstStyle/>
                    <a:p>
                      <a:pPr indent="0" lvl="0" marL="0" rtl="0" algn="l">
                        <a:spcBef>
                          <a:spcPts val="0"/>
                        </a:spcBef>
                        <a:spcAft>
                          <a:spcPts val="0"/>
                        </a:spcAft>
                        <a:buNone/>
                      </a:pPr>
                      <a:r>
                        <a:rPr lang="en"/>
                        <a:t>Table</a:t>
                      </a:r>
                      <a:endParaRPr/>
                    </a:p>
                  </a:txBody>
                  <a:tcPr marT="91425" marB="91425" marR="91425" marL="91425"/>
                </a:tc>
                <a:tc>
                  <a:txBody>
                    <a:bodyPr/>
                    <a:lstStyle/>
                    <a:p>
                      <a:pPr indent="0" lvl="0" marL="0" rtl="0" algn="l">
                        <a:spcBef>
                          <a:spcPts val="0"/>
                        </a:spcBef>
                        <a:spcAft>
                          <a:spcPts val="0"/>
                        </a:spcAft>
                        <a:buNone/>
                      </a:pPr>
                      <a:r>
                        <a:rPr b="1" lang="en" sz="1100"/>
                        <a:t>Collection</a:t>
                      </a:r>
                      <a:endParaRPr b="1" sz="1100"/>
                    </a:p>
                  </a:txBody>
                  <a:tcPr marT="91425" marB="91425" marR="91425" marL="91425"/>
                </a:tc>
                <a:tc>
                  <a:txBody>
                    <a:bodyPr/>
                    <a:lstStyle/>
                    <a:p>
                      <a:pPr indent="0" lvl="0" marL="0" rtl="0" algn="l">
                        <a:spcBef>
                          <a:spcPts val="0"/>
                        </a:spcBef>
                        <a:spcAft>
                          <a:spcPts val="0"/>
                        </a:spcAft>
                        <a:buNone/>
                      </a:pPr>
                      <a:r>
                        <a:rPr lang="en"/>
                        <a:t>Group of related documents</a:t>
                      </a:r>
                      <a:endParaRPr/>
                    </a:p>
                  </a:txBody>
                  <a:tcPr marT="91425" marB="91425" marR="91425" marL="91425"/>
                </a:tc>
              </a:tr>
              <a:tr h="624750">
                <a:tc>
                  <a:txBody>
                    <a:bodyPr/>
                    <a:lstStyle/>
                    <a:p>
                      <a:pPr indent="0" lvl="0" marL="0" rtl="0" algn="l">
                        <a:spcBef>
                          <a:spcPts val="0"/>
                        </a:spcBef>
                        <a:spcAft>
                          <a:spcPts val="0"/>
                        </a:spcAft>
                        <a:buNone/>
                      </a:pPr>
                      <a:r>
                        <a:rPr lang="en"/>
                        <a:t>Row</a:t>
                      </a:r>
                      <a:endParaRPr/>
                    </a:p>
                  </a:txBody>
                  <a:tcPr marT="91425" marB="91425" marR="91425" marL="91425"/>
                </a:tc>
                <a:tc>
                  <a:txBody>
                    <a:bodyPr/>
                    <a:lstStyle/>
                    <a:p>
                      <a:pPr indent="0" lvl="0" marL="0" rtl="0" algn="l">
                        <a:spcBef>
                          <a:spcPts val="0"/>
                        </a:spcBef>
                        <a:spcAft>
                          <a:spcPts val="0"/>
                        </a:spcAft>
                        <a:buNone/>
                      </a:pPr>
                      <a:r>
                        <a:rPr b="1" lang="en" sz="1100"/>
                        <a:t>Document</a:t>
                      </a:r>
                      <a:endParaRPr b="1" sz="1100"/>
                    </a:p>
                  </a:txBody>
                  <a:tcPr marT="91425" marB="91425" marR="91425" marL="91425"/>
                </a:tc>
                <a:tc>
                  <a:txBody>
                    <a:bodyPr/>
                    <a:lstStyle/>
                    <a:p>
                      <a:pPr indent="0" lvl="0" marL="0" rtl="0" algn="l">
                        <a:spcBef>
                          <a:spcPts val="0"/>
                        </a:spcBef>
                        <a:spcAft>
                          <a:spcPts val="0"/>
                        </a:spcAft>
                        <a:buNone/>
                      </a:pPr>
                      <a:r>
                        <a:rPr lang="en"/>
                        <a:t>A single record (JSON object)</a:t>
                      </a:r>
                      <a:endParaRPr/>
                    </a:p>
                  </a:txBody>
                  <a:tcPr marT="91425" marB="91425" marR="91425" marL="91425"/>
                </a:tc>
              </a:tr>
              <a:tr h="624750">
                <a:tc>
                  <a:txBody>
                    <a:bodyPr/>
                    <a:lstStyle/>
                    <a:p>
                      <a:pPr indent="0" lvl="0" marL="0" rtl="0" algn="l">
                        <a:spcBef>
                          <a:spcPts val="0"/>
                        </a:spcBef>
                        <a:spcAft>
                          <a:spcPts val="0"/>
                        </a:spcAft>
                        <a:buNone/>
                      </a:pPr>
                      <a:r>
                        <a:rPr lang="en"/>
                        <a:t>Column</a:t>
                      </a:r>
                      <a:endParaRPr/>
                    </a:p>
                  </a:txBody>
                  <a:tcPr marT="91425" marB="91425" marR="91425" marL="91425"/>
                </a:tc>
                <a:tc>
                  <a:txBody>
                    <a:bodyPr/>
                    <a:lstStyle/>
                    <a:p>
                      <a:pPr indent="0" lvl="0" marL="0" rtl="0" algn="l">
                        <a:spcBef>
                          <a:spcPts val="0"/>
                        </a:spcBef>
                        <a:spcAft>
                          <a:spcPts val="0"/>
                        </a:spcAft>
                        <a:buNone/>
                      </a:pPr>
                      <a:r>
                        <a:rPr b="1" lang="en" sz="1100"/>
                        <a:t>Field</a:t>
                      </a:r>
                      <a:endParaRPr b="1" sz="1100"/>
                    </a:p>
                  </a:txBody>
                  <a:tcPr marT="91425" marB="91425" marR="91425" marL="91425"/>
                </a:tc>
                <a:tc>
                  <a:txBody>
                    <a:bodyPr/>
                    <a:lstStyle/>
                    <a:p>
                      <a:pPr indent="0" lvl="0" marL="0" rtl="0" algn="l">
                        <a:spcBef>
                          <a:spcPts val="0"/>
                        </a:spcBef>
                        <a:spcAft>
                          <a:spcPts val="0"/>
                        </a:spcAft>
                        <a:buNone/>
                      </a:pPr>
                      <a:r>
                        <a:rPr lang="en"/>
                        <a:t>Key-value pair inside a document</a:t>
                      </a:r>
                      <a:endParaRPr/>
                    </a:p>
                  </a:txBody>
                  <a:tcPr marT="91425" marB="91425" marR="91425" marL="91425"/>
                </a:tc>
              </a:tr>
              <a:tr h="624750">
                <a:tc>
                  <a:txBody>
                    <a:bodyPr/>
                    <a:lstStyle/>
                    <a:p>
                      <a:pPr indent="0" lvl="0" marL="0" rtl="0" algn="l">
                        <a:spcBef>
                          <a:spcPts val="0"/>
                        </a:spcBef>
                        <a:spcAft>
                          <a:spcPts val="0"/>
                        </a:spcAft>
                        <a:buNone/>
                      </a:pPr>
                      <a:r>
                        <a:rPr lang="en"/>
                        <a:t>Primary Key</a:t>
                      </a:r>
                      <a:endParaRPr/>
                    </a:p>
                  </a:txBody>
                  <a:tcPr marT="91425" marB="91425" marR="91425" marL="91425"/>
                </a:tc>
                <a:tc>
                  <a:txBody>
                    <a:bodyPr/>
                    <a:lstStyle/>
                    <a:p>
                      <a:pPr indent="0" lvl="0" marL="0" rtl="0" algn="l">
                        <a:spcBef>
                          <a:spcPts val="0"/>
                        </a:spcBef>
                        <a:spcAft>
                          <a:spcPts val="0"/>
                        </a:spcAft>
                        <a:buNone/>
                      </a:pPr>
                      <a:r>
                        <a:rPr b="1" lang="en" sz="1100"/>
                        <a:t>_id</a:t>
                      </a:r>
                      <a:endParaRPr b="1" sz="1100"/>
                    </a:p>
                  </a:txBody>
                  <a:tcPr marT="91425" marB="91425" marR="91425" marL="91425"/>
                </a:tc>
                <a:tc>
                  <a:txBody>
                    <a:bodyPr/>
                    <a:lstStyle/>
                    <a:p>
                      <a:pPr indent="0" lvl="0" marL="0" rtl="0" algn="l">
                        <a:spcBef>
                          <a:spcPts val="0"/>
                        </a:spcBef>
                        <a:spcAft>
                          <a:spcPts val="0"/>
                        </a:spcAft>
                        <a:buNone/>
                      </a:pPr>
                      <a:r>
                        <a:rPr lang="en"/>
                        <a:t>Unique identifier for each document</a:t>
                      </a:r>
                      <a:endParaRPr/>
                    </a:p>
                  </a:txBody>
                  <a:tcPr marT="91425" marB="91425" marR="91425" marL="91425"/>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3"/>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77" name="Google Shape;177;p33"/>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None/>
            </a:pPr>
            <a:r>
              <a:rPr b="1" lang="en" sz="1700">
                <a:solidFill>
                  <a:srgbClr val="000000"/>
                </a:solidFill>
                <a:latin typeface="Arial"/>
                <a:ea typeface="Arial"/>
                <a:cs typeface="Arial"/>
                <a:sym typeface="Arial"/>
              </a:rPr>
              <a:t>How MongoDB Works</a:t>
            </a:r>
            <a:endParaRPr b="1" sz="17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AutoNum type="arabicPeriod"/>
            </a:pPr>
            <a:r>
              <a:rPr b="1" lang="en" sz="1100">
                <a:solidFill>
                  <a:srgbClr val="000000"/>
                </a:solidFill>
                <a:latin typeface="Arial"/>
                <a:ea typeface="Arial"/>
                <a:cs typeface="Arial"/>
                <a:sym typeface="Arial"/>
              </a:rPr>
              <a:t>Data stored as documents</a:t>
            </a:r>
            <a:r>
              <a:rPr lang="en" sz="1100">
                <a:solidFill>
                  <a:srgbClr val="000000"/>
                </a:solidFill>
                <a:latin typeface="Arial"/>
                <a:ea typeface="Arial"/>
                <a:cs typeface="Arial"/>
                <a:sym typeface="Arial"/>
              </a:rPr>
              <a:t> in a collection.</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Each document is a JSON (internally stored as BSON – Binary JSON).</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You can insert, read, update, or delete documents using simple commands.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No fixed schema – every document can have different fields.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It supports indexing, aggregation, replication, and sharding for performance and scalability.</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4"/>
          <p:cNvSpPr txBox="1"/>
          <p:nvPr>
            <p:ph idx="1" type="body"/>
          </p:nvPr>
        </p:nvSpPr>
        <p:spPr>
          <a:xfrm>
            <a:off x="311700" y="293000"/>
            <a:ext cx="8520600" cy="464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rgbClr val="000000"/>
                </a:solidFill>
                <a:latin typeface="Times New Roman"/>
                <a:ea typeface="Times New Roman"/>
                <a:cs typeface="Times New Roman"/>
                <a:sym typeface="Times New Roman"/>
              </a:rPr>
              <a:t>Example:</a:t>
            </a:r>
            <a:endParaRPr b="1" sz="15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b="1" lang="en" sz="1500">
                <a:solidFill>
                  <a:srgbClr val="000000"/>
                </a:solidFill>
                <a:latin typeface="Times New Roman"/>
                <a:ea typeface="Times New Roman"/>
                <a:cs typeface="Times New Roman"/>
                <a:sym typeface="Times New Roman"/>
              </a:rPr>
              <a:t>Insert Document:</a:t>
            </a:r>
            <a:endParaRPr b="1" sz="1500">
              <a:solidFill>
                <a:srgbClr val="000000"/>
              </a:solidFill>
              <a:latin typeface="Times New Roman"/>
              <a:ea typeface="Times New Roman"/>
              <a:cs typeface="Times New Roman"/>
              <a:sym typeface="Times New Roman"/>
            </a:endParaRPr>
          </a:p>
          <a:p>
            <a:pPr indent="0" lvl="0" marL="457200" rtl="0" algn="l">
              <a:spcBef>
                <a:spcPts val="1200"/>
              </a:spcBef>
              <a:spcAft>
                <a:spcPts val="0"/>
              </a:spcAft>
              <a:buNone/>
            </a:pPr>
            <a:r>
              <a:rPr lang="en" sz="1500">
                <a:solidFill>
                  <a:srgbClr val="000000"/>
                </a:solidFill>
                <a:latin typeface="Times New Roman"/>
                <a:ea typeface="Times New Roman"/>
                <a:cs typeface="Times New Roman"/>
                <a:sym typeface="Times New Roman"/>
              </a:rPr>
              <a:t>db.students.insertOne({</a:t>
            </a:r>
            <a:endParaRPr sz="1500">
              <a:solidFill>
                <a:srgbClr val="000000"/>
              </a:solidFill>
              <a:latin typeface="Times New Roman"/>
              <a:ea typeface="Times New Roman"/>
              <a:cs typeface="Times New Roman"/>
              <a:sym typeface="Times New Roman"/>
            </a:endParaRPr>
          </a:p>
          <a:p>
            <a:pPr indent="0" lvl="0" marL="457200" rtl="0" algn="l">
              <a:spcBef>
                <a:spcPts val="0"/>
              </a:spcBef>
              <a:spcAft>
                <a:spcPts val="0"/>
              </a:spcAft>
              <a:buNone/>
            </a:pPr>
            <a:r>
              <a:rPr lang="en" sz="1500">
                <a:solidFill>
                  <a:srgbClr val="000000"/>
                </a:solidFill>
                <a:latin typeface="Times New Roman"/>
                <a:ea typeface="Times New Roman"/>
                <a:cs typeface="Times New Roman"/>
                <a:sym typeface="Times New Roman"/>
              </a:rPr>
              <a:t>  name: "Amit",</a:t>
            </a:r>
            <a:endParaRPr sz="1500">
              <a:solidFill>
                <a:srgbClr val="000000"/>
              </a:solidFill>
              <a:latin typeface="Times New Roman"/>
              <a:ea typeface="Times New Roman"/>
              <a:cs typeface="Times New Roman"/>
              <a:sym typeface="Times New Roman"/>
            </a:endParaRPr>
          </a:p>
          <a:p>
            <a:pPr indent="0" lvl="0" marL="457200" rtl="0" algn="l">
              <a:spcBef>
                <a:spcPts val="0"/>
              </a:spcBef>
              <a:spcAft>
                <a:spcPts val="0"/>
              </a:spcAft>
              <a:buNone/>
            </a:pPr>
            <a:r>
              <a:rPr lang="en" sz="1500">
                <a:solidFill>
                  <a:srgbClr val="000000"/>
                </a:solidFill>
                <a:latin typeface="Times New Roman"/>
                <a:ea typeface="Times New Roman"/>
                <a:cs typeface="Times New Roman"/>
                <a:sym typeface="Times New Roman"/>
              </a:rPr>
              <a:t>  age: 23,</a:t>
            </a:r>
            <a:endParaRPr sz="1500">
              <a:solidFill>
                <a:srgbClr val="000000"/>
              </a:solidFill>
              <a:latin typeface="Times New Roman"/>
              <a:ea typeface="Times New Roman"/>
              <a:cs typeface="Times New Roman"/>
              <a:sym typeface="Times New Roman"/>
            </a:endParaRPr>
          </a:p>
          <a:p>
            <a:pPr indent="0" lvl="0" marL="457200" rtl="0" algn="l">
              <a:spcBef>
                <a:spcPts val="0"/>
              </a:spcBef>
              <a:spcAft>
                <a:spcPts val="0"/>
              </a:spcAft>
              <a:buNone/>
            </a:pPr>
            <a:r>
              <a:rPr lang="en" sz="1500">
                <a:solidFill>
                  <a:srgbClr val="000000"/>
                </a:solidFill>
                <a:latin typeface="Times New Roman"/>
                <a:ea typeface="Times New Roman"/>
                <a:cs typeface="Times New Roman"/>
                <a:sym typeface="Times New Roman"/>
              </a:rPr>
              <a:t>  course: "MCA",</a:t>
            </a:r>
            <a:endParaRPr sz="1500">
              <a:solidFill>
                <a:srgbClr val="000000"/>
              </a:solidFill>
              <a:latin typeface="Times New Roman"/>
              <a:ea typeface="Times New Roman"/>
              <a:cs typeface="Times New Roman"/>
              <a:sym typeface="Times New Roman"/>
            </a:endParaRPr>
          </a:p>
          <a:p>
            <a:pPr indent="0" lvl="0" marL="457200" rtl="0" algn="l">
              <a:spcBef>
                <a:spcPts val="0"/>
              </a:spcBef>
              <a:spcAft>
                <a:spcPts val="0"/>
              </a:spcAft>
              <a:buNone/>
            </a:pPr>
            <a:r>
              <a:rPr lang="en" sz="1500">
                <a:solidFill>
                  <a:srgbClr val="000000"/>
                </a:solidFill>
                <a:latin typeface="Times New Roman"/>
                <a:ea typeface="Times New Roman"/>
                <a:cs typeface="Times New Roman"/>
                <a:sym typeface="Times New Roman"/>
              </a:rPr>
              <a:t>  marks: 85</a:t>
            </a:r>
            <a:endParaRPr sz="1500">
              <a:solidFill>
                <a:srgbClr val="000000"/>
              </a:solidFill>
              <a:latin typeface="Times New Roman"/>
              <a:ea typeface="Times New Roman"/>
              <a:cs typeface="Times New Roman"/>
              <a:sym typeface="Times New Roman"/>
            </a:endParaRPr>
          </a:p>
          <a:p>
            <a:pPr indent="0" lvl="0" marL="457200" rtl="0" algn="l">
              <a:spcBef>
                <a:spcPts val="0"/>
              </a:spcBef>
              <a:spcAft>
                <a:spcPts val="0"/>
              </a:spcAft>
              <a:buNone/>
            </a:pPr>
            <a:r>
              <a:rPr lang="en" sz="1500">
                <a:solidFill>
                  <a:srgbClr val="000000"/>
                </a:solidFill>
                <a:latin typeface="Times New Roman"/>
                <a:ea typeface="Times New Roman"/>
                <a:cs typeface="Times New Roman"/>
                <a:sym typeface="Times New Roman"/>
              </a:rPr>
              <a:t>})</a:t>
            </a:r>
            <a:endParaRPr sz="1500">
              <a:solidFill>
                <a:srgbClr val="000000"/>
              </a:solidFill>
              <a:latin typeface="Times New Roman"/>
              <a:ea typeface="Times New Roman"/>
              <a:cs typeface="Times New Roman"/>
              <a:sym typeface="Times New Roman"/>
            </a:endParaRPr>
          </a:p>
          <a:p>
            <a:pPr indent="0" lvl="0" marL="457200" rtl="0" algn="l">
              <a:spcBef>
                <a:spcPts val="0"/>
              </a:spcBef>
              <a:spcAft>
                <a:spcPts val="0"/>
              </a:spcAft>
              <a:buNone/>
            </a:pPr>
            <a:r>
              <a:rPr lang="en" sz="1500">
                <a:solidFill>
                  <a:srgbClr val="000000"/>
                </a:solidFill>
                <a:latin typeface="Times New Roman"/>
                <a:ea typeface="Times New Roman"/>
                <a:cs typeface="Times New Roman"/>
                <a:sym typeface="Times New Roman"/>
              </a:rPr>
              <a:t>db.students.insertOne({</a:t>
            </a:r>
            <a:endParaRPr sz="1500">
              <a:solidFill>
                <a:srgbClr val="000000"/>
              </a:solidFill>
              <a:latin typeface="Times New Roman"/>
              <a:ea typeface="Times New Roman"/>
              <a:cs typeface="Times New Roman"/>
              <a:sym typeface="Times New Roman"/>
            </a:endParaRPr>
          </a:p>
          <a:p>
            <a:pPr indent="0" lvl="0" marL="457200" rtl="0" algn="l">
              <a:spcBef>
                <a:spcPts val="0"/>
              </a:spcBef>
              <a:spcAft>
                <a:spcPts val="0"/>
              </a:spcAft>
              <a:buNone/>
            </a:pPr>
            <a:r>
              <a:rPr lang="en" sz="1500">
                <a:solidFill>
                  <a:srgbClr val="000000"/>
                </a:solidFill>
                <a:latin typeface="Times New Roman"/>
                <a:ea typeface="Times New Roman"/>
                <a:cs typeface="Times New Roman"/>
                <a:sym typeface="Times New Roman"/>
              </a:rPr>
              <a:t>  name: "Priya",</a:t>
            </a:r>
            <a:endParaRPr sz="1500">
              <a:solidFill>
                <a:srgbClr val="000000"/>
              </a:solidFill>
              <a:latin typeface="Times New Roman"/>
              <a:ea typeface="Times New Roman"/>
              <a:cs typeface="Times New Roman"/>
              <a:sym typeface="Times New Roman"/>
            </a:endParaRPr>
          </a:p>
          <a:p>
            <a:pPr indent="0" lvl="0" marL="457200" rtl="0" algn="l">
              <a:spcBef>
                <a:spcPts val="0"/>
              </a:spcBef>
              <a:spcAft>
                <a:spcPts val="0"/>
              </a:spcAft>
              <a:buNone/>
            </a:pPr>
            <a:r>
              <a:rPr lang="en" sz="1500">
                <a:solidFill>
                  <a:srgbClr val="000000"/>
                </a:solidFill>
                <a:latin typeface="Times New Roman"/>
                <a:ea typeface="Times New Roman"/>
                <a:cs typeface="Times New Roman"/>
                <a:sym typeface="Times New Roman"/>
              </a:rPr>
              <a:t>  course: "MSc IT",</a:t>
            </a:r>
            <a:endParaRPr sz="1500">
              <a:solidFill>
                <a:srgbClr val="000000"/>
              </a:solidFill>
              <a:latin typeface="Times New Roman"/>
              <a:ea typeface="Times New Roman"/>
              <a:cs typeface="Times New Roman"/>
              <a:sym typeface="Times New Roman"/>
            </a:endParaRPr>
          </a:p>
          <a:p>
            <a:pPr indent="0" lvl="0" marL="457200" rtl="0" algn="l">
              <a:spcBef>
                <a:spcPts val="0"/>
              </a:spcBef>
              <a:spcAft>
                <a:spcPts val="0"/>
              </a:spcAft>
              <a:buNone/>
            </a:pPr>
            <a:r>
              <a:rPr lang="en" sz="1500">
                <a:solidFill>
                  <a:srgbClr val="000000"/>
                </a:solidFill>
                <a:latin typeface="Times New Roman"/>
                <a:ea typeface="Times New Roman"/>
                <a:cs typeface="Times New Roman"/>
                <a:sym typeface="Times New Roman"/>
              </a:rPr>
              <a:t>  hobbies: ["reading", "coding"]</a:t>
            </a:r>
            <a:endParaRPr sz="1500">
              <a:solidFill>
                <a:srgbClr val="000000"/>
              </a:solidFill>
              <a:latin typeface="Times New Roman"/>
              <a:ea typeface="Times New Roman"/>
              <a:cs typeface="Times New Roman"/>
              <a:sym typeface="Times New Roman"/>
            </a:endParaRPr>
          </a:p>
          <a:p>
            <a:pPr indent="0" lvl="0" marL="457200" rtl="0" algn="l">
              <a:spcBef>
                <a:spcPts val="0"/>
              </a:spcBef>
              <a:spcAft>
                <a:spcPts val="0"/>
              </a:spcAft>
              <a:buNone/>
            </a:pPr>
            <a:r>
              <a:rPr lang="en" sz="1500">
                <a:solidFill>
                  <a:srgbClr val="000000"/>
                </a:solidFill>
                <a:latin typeface="Times New Roman"/>
                <a:ea typeface="Times New Roman"/>
                <a:cs typeface="Times New Roman"/>
                <a:sym typeface="Times New Roman"/>
              </a:rPr>
              <a:t>})</a:t>
            </a:r>
            <a:endParaRPr sz="1500">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t/>
            </a:r>
            <a:endParaRPr sz="1100">
              <a:solidFill>
                <a:srgbClr val="000000"/>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1100">
              <a:solidFill>
                <a:srgbClr val="000000"/>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5"/>
          <p:cNvSpPr txBox="1"/>
          <p:nvPr>
            <p:ph idx="1" type="body"/>
          </p:nvPr>
        </p:nvSpPr>
        <p:spPr>
          <a:xfrm>
            <a:off x="311700" y="635175"/>
            <a:ext cx="8520600" cy="39339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solidFill>
                  <a:srgbClr val="000000"/>
                </a:solidFill>
                <a:latin typeface="Times New Roman"/>
                <a:ea typeface="Times New Roman"/>
                <a:cs typeface="Times New Roman"/>
                <a:sym typeface="Times New Roman"/>
              </a:rPr>
              <a:t>Retrieve documents:</a:t>
            </a:r>
            <a:endParaRPr>
              <a:solidFill>
                <a:srgbClr val="000000"/>
              </a:solidFill>
              <a:latin typeface="Times New Roman"/>
              <a:ea typeface="Times New Roman"/>
              <a:cs typeface="Times New Roman"/>
              <a:sym typeface="Times New Roman"/>
            </a:endParaRPr>
          </a:p>
          <a:p>
            <a:pPr indent="457200" lvl="0" marL="0" rtl="0" algn="l">
              <a:spcBef>
                <a:spcPts val="1200"/>
              </a:spcBef>
              <a:spcAft>
                <a:spcPts val="0"/>
              </a:spcAft>
              <a:buNone/>
            </a:pPr>
            <a:r>
              <a:rPr lang="en">
                <a:solidFill>
                  <a:srgbClr val="000000"/>
                </a:solidFill>
                <a:latin typeface="Times New Roman"/>
                <a:ea typeface="Times New Roman"/>
                <a:cs typeface="Times New Roman"/>
                <a:sym typeface="Times New Roman"/>
              </a:rPr>
              <a:t>db.students.find()</a:t>
            </a:r>
            <a:endParaRPr>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lang="en">
                <a:solidFill>
                  <a:srgbClr val="000000"/>
                </a:solidFill>
                <a:latin typeface="Times New Roman"/>
                <a:ea typeface="Times New Roman"/>
                <a:cs typeface="Times New Roman"/>
                <a:sym typeface="Times New Roman"/>
              </a:rPr>
              <a:t>Output:</a:t>
            </a:r>
            <a:endParaRPr>
              <a:solidFill>
                <a:srgbClr val="000000"/>
              </a:solidFill>
              <a:latin typeface="Times New Roman"/>
              <a:ea typeface="Times New Roman"/>
              <a:cs typeface="Times New Roman"/>
              <a:sym typeface="Times New Roman"/>
            </a:endParaRPr>
          </a:p>
          <a:p>
            <a:pPr indent="0" lvl="0" marL="457200" rtl="0" algn="l">
              <a:spcBef>
                <a:spcPts val="1200"/>
              </a:spcBef>
              <a:spcAft>
                <a:spcPts val="0"/>
              </a:spcAft>
              <a:buNone/>
            </a:pPr>
            <a:r>
              <a:rPr lang="en">
                <a:solidFill>
                  <a:srgbClr val="000000"/>
                </a:solidFill>
                <a:latin typeface="Times New Roman"/>
                <a:ea typeface="Times New Roman"/>
                <a:cs typeface="Times New Roman"/>
                <a:sym typeface="Times New Roman"/>
              </a:rPr>
              <a:t>[</a:t>
            </a:r>
            <a:endParaRPr>
              <a:solidFill>
                <a:srgbClr val="000000"/>
              </a:solidFill>
              <a:latin typeface="Times New Roman"/>
              <a:ea typeface="Times New Roman"/>
              <a:cs typeface="Times New Roman"/>
              <a:sym typeface="Times New Roman"/>
            </a:endParaRPr>
          </a:p>
          <a:p>
            <a:pPr indent="0" lvl="0" marL="457200" rtl="0" algn="l">
              <a:spcBef>
                <a:spcPts val="1200"/>
              </a:spcBef>
              <a:spcAft>
                <a:spcPts val="0"/>
              </a:spcAft>
              <a:buNone/>
            </a:pPr>
            <a:r>
              <a:rPr lang="en">
                <a:solidFill>
                  <a:srgbClr val="000000"/>
                </a:solidFill>
                <a:latin typeface="Times New Roman"/>
                <a:ea typeface="Times New Roman"/>
                <a:cs typeface="Times New Roman"/>
                <a:sym typeface="Times New Roman"/>
              </a:rPr>
              <a:t>  { "name": "Amit", "age": 23, "course": "MCA", "marks": 85 },</a:t>
            </a:r>
            <a:endParaRPr>
              <a:solidFill>
                <a:srgbClr val="000000"/>
              </a:solidFill>
              <a:latin typeface="Times New Roman"/>
              <a:ea typeface="Times New Roman"/>
              <a:cs typeface="Times New Roman"/>
              <a:sym typeface="Times New Roman"/>
            </a:endParaRPr>
          </a:p>
          <a:p>
            <a:pPr indent="0" lvl="0" marL="457200" rtl="0" algn="l">
              <a:spcBef>
                <a:spcPts val="1200"/>
              </a:spcBef>
              <a:spcAft>
                <a:spcPts val="0"/>
              </a:spcAft>
              <a:buNone/>
            </a:pPr>
            <a:r>
              <a:rPr lang="en">
                <a:solidFill>
                  <a:srgbClr val="000000"/>
                </a:solidFill>
                <a:latin typeface="Times New Roman"/>
                <a:ea typeface="Times New Roman"/>
                <a:cs typeface="Times New Roman"/>
                <a:sym typeface="Times New Roman"/>
              </a:rPr>
              <a:t>  { "name": "Priya", "course": "MSc IT", "hobbies": ["reading", "coding"] }</a:t>
            </a:r>
            <a:endParaRPr>
              <a:solidFill>
                <a:srgbClr val="000000"/>
              </a:solidFill>
              <a:latin typeface="Times New Roman"/>
              <a:ea typeface="Times New Roman"/>
              <a:cs typeface="Times New Roman"/>
              <a:sym typeface="Times New Roman"/>
            </a:endParaRPr>
          </a:p>
          <a:p>
            <a:pPr indent="0" lvl="0" marL="457200" rtl="0" algn="l">
              <a:spcBef>
                <a:spcPts val="1200"/>
              </a:spcBef>
              <a:spcAft>
                <a:spcPts val="0"/>
              </a:spcAft>
              <a:buNone/>
            </a:pPr>
            <a:r>
              <a:rPr lang="en">
                <a:solidFill>
                  <a:srgbClr val="000000"/>
                </a:solidFill>
                <a:latin typeface="Times New Roman"/>
                <a:ea typeface="Times New Roman"/>
                <a:cs typeface="Times New Roman"/>
                <a:sym typeface="Times New Roman"/>
              </a:rPr>
              <a:t>]</a:t>
            </a:r>
            <a:endParaRPr>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lang="en">
                <a:solidFill>
                  <a:srgbClr val="000000"/>
                </a:solidFill>
                <a:latin typeface="Times New Roman"/>
                <a:ea typeface="Times New Roman"/>
                <a:cs typeface="Times New Roman"/>
                <a:sym typeface="Times New Roman"/>
              </a:rPr>
              <a:t>Query example:</a:t>
            </a:r>
            <a:endParaRPr>
              <a:solidFill>
                <a:srgbClr val="000000"/>
              </a:solidFill>
              <a:latin typeface="Times New Roman"/>
              <a:ea typeface="Times New Roman"/>
              <a:cs typeface="Times New Roman"/>
              <a:sym typeface="Times New Roman"/>
            </a:endParaRPr>
          </a:p>
          <a:p>
            <a:pPr indent="457200" lvl="0" marL="0" rtl="0" algn="l">
              <a:spcBef>
                <a:spcPts val="1200"/>
              </a:spcBef>
              <a:spcAft>
                <a:spcPts val="1200"/>
              </a:spcAft>
              <a:buNone/>
            </a:pPr>
            <a:r>
              <a:rPr lang="en">
                <a:solidFill>
                  <a:srgbClr val="000000"/>
                </a:solidFill>
                <a:latin typeface="Times New Roman"/>
                <a:ea typeface="Times New Roman"/>
                <a:cs typeface="Times New Roman"/>
                <a:sym typeface="Times New Roman"/>
              </a:rPr>
              <a:t>db.students.find({ course: "MCA" })</a:t>
            </a:r>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6"/>
          <p:cNvSpPr txBox="1"/>
          <p:nvPr>
            <p:ph idx="1" type="body"/>
          </p:nvPr>
        </p:nvSpPr>
        <p:spPr>
          <a:xfrm>
            <a:off x="311700" y="677950"/>
            <a:ext cx="8520600" cy="389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rgbClr val="000000"/>
                </a:solidFill>
              </a:rPr>
              <a:t>Main Features of MongoDB:</a:t>
            </a:r>
            <a:endParaRPr>
              <a:solidFill>
                <a:srgbClr val="000000"/>
              </a:solidFill>
            </a:endParaRPr>
          </a:p>
          <a:p>
            <a:pPr indent="-311150" lvl="0" marL="457200" rtl="0" algn="l">
              <a:spcBef>
                <a:spcPts val="1200"/>
              </a:spcBef>
              <a:spcAft>
                <a:spcPts val="0"/>
              </a:spcAft>
              <a:buClr>
                <a:srgbClr val="000000"/>
              </a:buClr>
              <a:buSzPts val="1300"/>
              <a:buFont typeface="Arial"/>
              <a:buChar char="●"/>
            </a:pPr>
            <a:r>
              <a:rPr b="1" lang="en" sz="1300">
                <a:solidFill>
                  <a:srgbClr val="000000"/>
                </a:solidFill>
                <a:latin typeface="Times New Roman"/>
                <a:ea typeface="Times New Roman"/>
                <a:cs typeface="Times New Roman"/>
                <a:sym typeface="Times New Roman"/>
              </a:rPr>
              <a:t>Schema-less:</a:t>
            </a:r>
            <a:r>
              <a:rPr lang="en" sz="1300">
                <a:solidFill>
                  <a:srgbClr val="000000"/>
                </a:solidFill>
                <a:latin typeface="Times New Roman"/>
                <a:ea typeface="Times New Roman"/>
                <a:cs typeface="Times New Roman"/>
                <a:sym typeface="Times New Roman"/>
              </a:rPr>
              <a:t> Flexible structure (no need to predefine columns).</a:t>
            </a:r>
            <a:endParaRPr sz="1300">
              <a:solidFill>
                <a:srgbClr val="000000"/>
              </a:solidFill>
              <a:latin typeface="Times New Roman"/>
              <a:ea typeface="Times New Roman"/>
              <a:cs typeface="Times New Roman"/>
              <a:sym typeface="Times New Roman"/>
            </a:endParaRPr>
          </a:p>
          <a:p>
            <a:pPr indent="-311150" lvl="0" marL="457200" rtl="0" algn="l">
              <a:spcBef>
                <a:spcPts val="1000"/>
              </a:spcBef>
              <a:spcAft>
                <a:spcPts val="0"/>
              </a:spcAft>
              <a:buClr>
                <a:srgbClr val="000000"/>
              </a:buClr>
              <a:buSzPts val="1300"/>
              <a:buFont typeface="Arial"/>
              <a:buChar char="●"/>
            </a:pPr>
            <a:r>
              <a:rPr b="1" lang="en" sz="1300">
                <a:solidFill>
                  <a:srgbClr val="000000"/>
                </a:solidFill>
                <a:latin typeface="Times New Roman"/>
                <a:ea typeface="Times New Roman"/>
                <a:cs typeface="Times New Roman"/>
                <a:sym typeface="Times New Roman"/>
              </a:rPr>
              <a:t>Document-oriented:</a:t>
            </a:r>
            <a:r>
              <a:rPr lang="en" sz="1300">
                <a:solidFill>
                  <a:srgbClr val="000000"/>
                </a:solidFill>
                <a:latin typeface="Times New Roman"/>
                <a:ea typeface="Times New Roman"/>
                <a:cs typeface="Times New Roman"/>
                <a:sym typeface="Times New Roman"/>
              </a:rPr>
              <a:t> Stores data in JSON-like documents.</a:t>
            </a:r>
            <a:endParaRPr sz="1300">
              <a:solidFill>
                <a:srgbClr val="000000"/>
              </a:solidFill>
              <a:latin typeface="Times New Roman"/>
              <a:ea typeface="Times New Roman"/>
              <a:cs typeface="Times New Roman"/>
              <a:sym typeface="Times New Roman"/>
            </a:endParaRPr>
          </a:p>
          <a:p>
            <a:pPr indent="-311150" lvl="0" marL="457200" rtl="0" algn="l">
              <a:spcBef>
                <a:spcPts val="1000"/>
              </a:spcBef>
              <a:spcAft>
                <a:spcPts val="0"/>
              </a:spcAft>
              <a:buClr>
                <a:srgbClr val="000000"/>
              </a:buClr>
              <a:buSzPts val="1300"/>
              <a:buFont typeface="Arial"/>
              <a:buChar char="●"/>
            </a:pPr>
            <a:r>
              <a:rPr b="1" lang="en" sz="1300">
                <a:solidFill>
                  <a:srgbClr val="000000"/>
                </a:solidFill>
                <a:latin typeface="Times New Roman"/>
                <a:ea typeface="Times New Roman"/>
                <a:cs typeface="Times New Roman"/>
                <a:sym typeface="Times New Roman"/>
              </a:rPr>
              <a:t>Scalable:</a:t>
            </a:r>
            <a:r>
              <a:rPr lang="en" sz="1300">
                <a:solidFill>
                  <a:srgbClr val="000000"/>
                </a:solidFill>
                <a:latin typeface="Times New Roman"/>
                <a:ea typeface="Times New Roman"/>
                <a:cs typeface="Times New Roman"/>
                <a:sym typeface="Times New Roman"/>
              </a:rPr>
              <a:t> Supports horizontal scaling (sharding).</a:t>
            </a:r>
            <a:endParaRPr sz="1300">
              <a:solidFill>
                <a:srgbClr val="000000"/>
              </a:solidFill>
              <a:latin typeface="Times New Roman"/>
              <a:ea typeface="Times New Roman"/>
              <a:cs typeface="Times New Roman"/>
              <a:sym typeface="Times New Roman"/>
            </a:endParaRPr>
          </a:p>
          <a:p>
            <a:pPr indent="-311150" lvl="0" marL="457200" rtl="0" algn="l">
              <a:spcBef>
                <a:spcPts val="1000"/>
              </a:spcBef>
              <a:spcAft>
                <a:spcPts val="0"/>
              </a:spcAft>
              <a:buClr>
                <a:srgbClr val="000000"/>
              </a:buClr>
              <a:buSzPts val="1300"/>
              <a:buFont typeface="Arial"/>
              <a:buChar char="●"/>
            </a:pPr>
            <a:r>
              <a:rPr b="1" lang="en" sz="1300">
                <a:solidFill>
                  <a:srgbClr val="000000"/>
                </a:solidFill>
                <a:latin typeface="Times New Roman"/>
                <a:ea typeface="Times New Roman"/>
                <a:cs typeface="Times New Roman"/>
                <a:sym typeface="Times New Roman"/>
              </a:rPr>
              <a:t>High performance:</a:t>
            </a:r>
            <a:r>
              <a:rPr lang="en" sz="1300">
                <a:solidFill>
                  <a:srgbClr val="000000"/>
                </a:solidFill>
                <a:latin typeface="Times New Roman"/>
                <a:ea typeface="Times New Roman"/>
                <a:cs typeface="Times New Roman"/>
                <a:sym typeface="Times New Roman"/>
              </a:rPr>
              <a:t> Uses indexing and in-memory storage.</a:t>
            </a:r>
            <a:endParaRPr sz="1300">
              <a:solidFill>
                <a:srgbClr val="000000"/>
              </a:solidFill>
              <a:latin typeface="Times New Roman"/>
              <a:ea typeface="Times New Roman"/>
              <a:cs typeface="Times New Roman"/>
              <a:sym typeface="Times New Roman"/>
            </a:endParaRPr>
          </a:p>
          <a:p>
            <a:pPr indent="-311150" lvl="0" marL="457200" rtl="0" algn="l">
              <a:spcBef>
                <a:spcPts val="1000"/>
              </a:spcBef>
              <a:spcAft>
                <a:spcPts val="0"/>
              </a:spcAft>
              <a:buClr>
                <a:srgbClr val="000000"/>
              </a:buClr>
              <a:buSzPts val="1300"/>
              <a:buFont typeface="Arial"/>
              <a:buChar char="●"/>
            </a:pPr>
            <a:r>
              <a:rPr b="1" lang="en" sz="1300">
                <a:solidFill>
                  <a:srgbClr val="000000"/>
                </a:solidFill>
                <a:latin typeface="Times New Roman"/>
                <a:ea typeface="Times New Roman"/>
                <a:cs typeface="Times New Roman"/>
                <a:sym typeface="Times New Roman"/>
              </a:rPr>
              <a:t>Replication:</a:t>
            </a:r>
            <a:r>
              <a:rPr lang="en" sz="1300">
                <a:solidFill>
                  <a:srgbClr val="000000"/>
                </a:solidFill>
                <a:latin typeface="Times New Roman"/>
                <a:ea typeface="Times New Roman"/>
                <a:cs typeface="Times New Roman"/>
                <a:sym typeface="Times New Roman"/>
              </a:rPr>
              <a:t> Data copied across servers for reliability.</a:t>
            </a:r>
            <a:endParaRPr sz="1300">
              <a:solidFill>
                <a:srgbClr val="000000"/>
              </a:solidFill>
              <a:latin typeface="Times New Roman"/>
              <a:ea typeface="Times New Roman"/>
              <a:cs typeface="Times New Roman"/>
              <a:sym typeface="Times New Roman"/>
            </a:endParaRPr>
          </a:p>
          <a:p>
            <a:pPr indent="-311150" lvl="0" marL="457200" rtl="0" algn="l">
              <a:spcBef>
                <a:spcPts val="1000"/>
              </a:spcBef>
              <a:spcAft>
                <a:spcPts val="0"/>
              </a:spcAft>
              <a:buClr>
                <a:srgbClr val="000000"/>
              </a:buClr>
              <a:buSzPts val="1300"/>
              <a:buFont typeface="Arial"/>
              <a:buChar char="●"/>
            </a:pPr>
            <a:r>
              <a:rPr b="1" lang="en" sz="1300">
                <a:solidFill>
                  <a:srgbClr val="000000"/>
                </a:solidFill>
                <a:latin typeface="Times New Roman"/>
                <a:ea typeface="Times New Roman"/>
                <a:cs typeface="Times New Roman"/>
                <a:sym typeface="Times New Roman"/>
              </a:rPr>
              <a:t>Aggregation framework:</a:t>
            </a:r>
            <a:r>
              <a:rPr lang="en" sz="1300">
                <a:solidFill>
                  <a:srgbClr val="000000"/>
                </a:solidFill>
                <a:latin typeface="Times New Roman"/>
                <a:ea typeface="Times New Roman"/>
                <a:cs typeface="Times New Roman"/>
                <a:sym typeface="Times New Roman"/>
              </a:rPr>
              <a:t> For analyzing and summarizing data (like SQL GROUP BY).</a:t>
            </a:r>
            <a:endParaRPr sz="1300">
              <a:solidFill>
                <a:srgbClr val="000000"/>
              </a:solidFill>
              <a:latin typeface="Times New Roman"/>
              <a:ea typeface="Times New Roman"/>
              <a:cs typeface="Times New Roman"/>
              <a:sym typeface="Times New Roman"/>
            </a:endParaRPr>
          </a:p>
          <a:p>
            <a:pPr indent="-311150" lvl="0" marL="457200" rtl="0" algn="l">
              <a:spcBef>
                <a:spcPts val="1000"/>
              </a:spcBef>
              <a:spcAft>
                <a:spcPts val="1000"/>
              </a:spcAft>
              <a:buClr>
                <a:srgbClr val="000000"/>
              </a:buClr>
              <a:buSzPts val="1300"/>
              <a:buFont typeface="Arial"/>
              <a:buChar char="●"/>
            </a:pPr>
            <a:r>
              <a:rPr b="1" lang="en" sz="1300">
                <a:solidFill>
                  <a:srgbClr val="000000"/>
                </a:solidFill>
                <a:latin typeface="Times New Roman"/>
                <a:ea typeface="Times New Roman"/>
                <a:cs typeface="Times New Roman"/>
                <a:sym typeface="Times New Roman"/>
              </a:rPr>
              <a:t>Supports rich queries:</a:t>
            </a:r>
            <a:r>
              <a:rPr lang="en" sz="1300">
                <a:solidFill>
                  <a:srgbClr val="000000"/>
                </a:solidFill>
                <a:latin typeface="Times New Roman"/>
                <a:ea typeface="Times New Roman"/>
                <a:cs typeface="Times New Roman"/>
                <a:sym typeface="Times New Roman"/>
              </a:rPr>
              <a:t> Filters, ranges, sorting, projections.</a:t>
            </a:r>
            <a:endParaRPr sz="2000">
              <a:solidFill>
                <a:srgbClr val="000000"/>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7"/>
          <p:cNvSpPr txBox="1"/>
          <p:nvPr>
            <p:ph idx="1" type="body"/>
          </p:nvPr>
        </p:nvSpPr>
        <p:spPr>
          <a:xfrm>
            <a:off x="311700" y="656575"/>
            <a:ext cx="8520600" cy="39126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None/>
            </a:pPr>
            <a:r>
              <a:rPr b="1" lang="en" sz="1700">
                <a:solidFill>
                  <a:srgbClr val="000000"/>
                </a:solidFill>
                <a:latin typeface="Arial"/>
                <a:ea typeface="Arial"/>
                <a:cs typeface="Arial"/>
                <a:sym typeface="Arial"/>
              </a:rPr>
              <a:t>Where MongoDB Is Used</a:t>
            </a:r>
            <a:endParaRPr b="1" sz="17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E-commerce platforms (product catalogs, reviews)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Social networking apps (user profiles, posts)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Content management systems (blogs, articles)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Real-time analytics dashboards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IoT and mobile apps (fast data storage)</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8"/>
          <p:cNvSpPr txBox="1"/>
          <p:nvPr>
            <p:ph idx="1" type="body"/>
          </p:nvPr>
        </p:nvSpPr>
        <p:spPr>
          <a:xfrm>
            <a:off x="311700" y="645875"/>
            <a:ext cx="8520600" cy="3923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03" name="Google Shape;203;p38"/>
          <p:cNvPicPr preferRelativeResize="0"/>
          <p:nvPr/>
        </p:nvPicPr>
        <p:blipFill>
          <a:blip r:embed="rId3">
            <a:alphaModFix/>
          </a:blip>
          <a:stretch>
            <a:fillRect/>
          </a:stretch>
        </p:blipFill>
        <p:spPr>
          <a:xfrm>
            <a:off x="1082800" y="859225"/>
            <a:ext cx="6605400" cy="33027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9"/>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Client Application:</a:t>
            </a:r>
            <a:r>
              <a:rPr lang="en" sz="1350">
                <a:solidFill>
                  <a:srgbClr val="273239"/>
                </a:solidFill>
                <a:highlight>
                  <a:srgbClr val="FFFFFF"/>
                </a:highlight>
                <a:latin typeface="Nunito"/>
                <a:ea typeface="Nunito"/>
                <a:cs typeface="Nunito"/>
                <a:sym typeface="Nunito"/>
              </a:rPr>
              <a:t> The application sends requests to MongoDB to read or write data.</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Query Router (mongos):</a:t>
            </a:r>
            <a:r>
              <a:rPr lang="en" sz="1350">
                <a:solidFill>
                  <a:srgbClr val="273239"/>
                </a:solidFill>
                <a:highlight>
                  <a:srgbClr val="FFFFFF"/>
                </a:highlight>
                <a:latin typeface="Nunito"/>
                <a:ea typeface="Nunito"/>
                <a:cs typeface="Nunito"/>
                <a:sym typeface="Nunito"/>
              </a:rPr>
              <a:t> The query router receives the client request and determines which shard should handle it.</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Config Servers:</a:t>
            </a:r>
            <a:r>
              <a:rPr lang="en" sz="1350">
                <a:solidFill>
                  <a:srgbClr val="273239"/>
                </a:solidFill>
                <a:highlight>
                  <a:srgbClr val="FFFFFF"/>
                </a:highlight>
                <a:latin typeface="Nunito"/>
                <a:ea typeface="Nunito"/>
                <a:cs typeface="Nunito"/>
                <a:sym typeface="Nunito"/>
              </a:rPr>
              <a:t> Store metadata about the cluster, including which data resides on which shard.</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Shards: </a:t>
            </a:r>
            <a:r>
              <a:rPr lang="en" sz="1350">
                <a:solidFill>
                  <a:srgbClr val="273239"/>
                </a:solidFill>
                <a:highlight>
                  <a:srgbClr val="FFFFFF"/>
                </a:highlight>
                <a:latin typeface="Nunito"/>
                <a:ea typeface="Nunito"/>
                <a:cs typeface="Nunito"/>
                <a:sym typeface="Nunito"/>
              </a:rPr>
              <a:t>Data is horizontally distributed across replica sets, with the primary handling writes and secondaries providing replication and reads.</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Primary Node:</a:t>
            </a:r>
            <a:r>
              <a:rPr lang="en" sz="1350">
                <a:solidFill>
                  <a:srgbClr val="273239"/>
                </a:solidFill>
                <a:highlight>
                  <a:srgbClr val="FFFFFF"/>
                </a:highlight>
                <a:latin typeface="Nunito"/>
                <a:ea typeface="Nunito"/>
                <a:cs typeface="Nunito"/>
                <a:sym typeface="Nunito"/>
              </a:rPr>
              <a:t> Handles all write operations.</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Secondary Nodes:</a:t>
            </a:r>
            <a:r>
              <a:rPr lang="en" sz="1350">
                <a:solidFill>
                  <a:srgbClr val="273239"/>
                </a:solidFill>
                <a:highlight>
                  <a:srgbClr val="FFFFFF"/>
                </a:highlight>
                <a:latin typeface="Nunito"/>
                <a:ea typeface="Nunito"/>
                <a:cs typeface="Nunito"/>
                <a:sym typeface="Nunito"/>
              </a:rPr>
              <a:t> Replicate data from the primary for high availability and read operations.</a:t>
            </a:r>
            <a:endParaRPr sz="1350">
              <a:solidFill>
                <a:srgbClr val="273239"/>
              </a:solidFill>
              <a:highlight>
                <a:srgbClr val="FFFFFF"/>
              </a:highlight>
              <a:latin typeface="Nunito"/>
              <a:ea typeface="Nunito"/>
              <a:cs typeface="Nunito"/>
              <a:sym typeface="Nunito"/>
            </a:endParaRPr>
          </a:p>
          <a:p>
            <a:pPr indent="0" lvl="0" marL="0" rtl="0" algn="l">
              <a:spcBef>
                <a:spcPts val="1800"/>
              </a:spcBef>
              <a:spcAft>
                <a:spcPts val="120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40"/>
          <p:cNvSpPr txBox="1"/>
          <p:nvPr>
            <p:ph type="title"/>
          </p:nvPr>
        </p:nvSpPr>
        <p:spPr>
          <a:xfrm>
            <a:off x="311700" y="252550"/>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SQL vs NoSQL</a:t>
            </a:r>
            <a:endParaRPr/>
          </a:p>
        </p:txBody>
      </p:sp>
      <p:graphicFrame>
        <p:nvGraphicFramePr>
          <p:cNvPr id="214" name="Google Shape;214;p40"/>
          <p:cNvGraphicFramePr/>
          <p:nvPr/>
        </p:nvGraphicFramePr>
        <p:xfrm>
          <a:off x="482025" y="1055250"/>
          <a:ext cx="3000000" cy="3000000"/>
        </p:xfrm>
        <a:graphic>
          <a:graphicData uri="http://schemas.openxmlformats.org/drawingml/2006/table">
            <a:tbl>
              <a:tblPr>
                <a:noFill/>
                <a:tableStyleId>{429C3603-AB32-4E62-8A1A-BE80AA933B98}</a:tableStyleId>
              </a:tblPr>
              <a:tblGrid>
                <a:gridCol w="1498600"/>
                <a:gridCol w="2997725"/>
                <a:gridCol w="3544650"/>
              </a:tblGrid>
              <a:tr h="381000">
                <a:tc>
                  <a:txBody>
                    <a:bodyPr/>
                    <a:lstStyle/>
                    <a:p>
                      <a:pPr indent="0" lvl="0" marL="0" rtl="0" algn="ctr">
                        <a:lnSpc>
                          <a:spcPct val="115000"/>
                        </a:lnSpc>
                        <a:spcBef>
                          <a:spcPts val="0"/>
                        </a:spcBef>
                        <a:spcAft>
                          <a:spcPts val="0"/>
                        </a:spcAft>
                        <a:buNone/>
                      </a:pPr>
                      <a:r>
                        <a:rPr b="1" lang="en" sz="1300">
                          <a:latin typeface="Times New Roman"/>
                          <a:ea typeface="Times New Roman"/>
                          <a:cs typeface="Times New Roman"/>
                          <a:sym typeface="Times New Roman"/>
                        </a:rPr>
                        <a:t>Feature</a:t>
                      </a:r>
                      <a:endParaRPr b="1"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b="1" lang="en" sz="1300">
                          <a:latin typeface="Times New Roman"/>
                          <a:ea typeface="Times New Roman"/>
                          <a:cs typeface="Times New Roman"/>
                          <a:sym typeface="Times New Roman"/>
                        </a:rPr>
                        <a:t>SQL (Relational Database)</a:t>
                      </a:r>
                      <a:endParaRPr b="1"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b="1" lang="en" sz="1300">
                          <a:latin typeface="Times New Roman"/>
                          <a:ea typeface="Times New Roman"/>
                          <a:cs typeface="Times New Roman"/>
                          <a:sym typeface="Times New Roman"/>
                        </a:rPr>
                        <a:t>NoSQL (Non-Relational Database)</a:t>
                      </a:r>
                      <a:endParaRPr b="1" sz="1300">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b="1" lang="en" sz="1300">
                          <a:latin typeface="Times New Roman"/>
                          <a:ea typeface="Times New Roman"/>
                          <a:cs typeface="Times New Roman"/>
                          <a:sym typeface="Times New Roman"/>
                        </a:rPr>
                        <a:t>Full Form</a:t>
                      </a:r>
                      <a:endParaRPr b="1" sz="13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Structured Query Language</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Not Only SQL</a:t>
                      </a:r>
                      <a:endParaRPr sz="1300">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b="1" lang="en" sz="1300">
                          <a:latin typeface="Times New Roman"/>
                          <a:ea typeface="Times New Roman"/>
                          <a:cs typeface="Times New Roman"/>
                          <a:sym typeface="Times New Roman"/>
                        </a:rPr>
                        <a:t>Data Model</a:t>
                      </a:r>
                      <a:endParaRPr b="1" sz="13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Table-based (Rows &amp; Columns)</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Document, Key-Value, Column, or Graph</a:t>
                      </a:r>
                      <a:endParaRPr sz="1300">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b="1" lang="en" sz="1300">
                          <a:latin typeface="Times New Roman"/>
                          <a:ea typeface="Times New Roman"/>
                          <a:cs typeface="Times New Roman"/>
                          <a:sym typeface="Times New Roman"/>
                        </a:rPr>
                        <a:t>Schema</a:t>
                      </a:r>
                      <a:endParaRPr b="1" sz="13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Fixed Schema (structure predefined)</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Dynamic / Flexible Schema</a:t>
                      </a:r>
                      <a:endParaRPr sz="1300">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b="1" lang="en" sz="1300">
                          <a:latin typeface="Times New Roman"/>
                          <a:ea typeface="Times New Roman"/>
                          <a:cs typeface="Times New Roman"/>
                          <a:sym typeface="Times New Roman"/>
                        </a:rPr>
                        <a:t>Scalability</a:t>
                      </a:r>
                      <a:endParaRPr b="1" sz="13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Vertically Scalable (add more CPU/RAM)</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Horizontally Scalable (add more servers)</a:t>
                      </a:r>
                      <a:endParaRPr sz="1300">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b="1" lang="en" sz="1300">
                          <a:latin typeface="Times New Roman"/>
                          <a:ea typeface="Times New Roman"/>
                          <a:cs typeface="Times New Roman"/>
                          <a:sym typeface="Times New Roman"/>
                        </a:rPr>
                        <a:t>Examples</a:t>
                      </a:r>
                      <a:endParaRPr b="1" sz="13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MySQL, PostgreSQL, Oracle, SQL Server</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MongoDB, Cassandra, Redis, CouchDB</a:t>
                      </a:r>
                      <a:endParaRPr sz="1300">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b="1" lang="en" sz="1300">
                          <a:latin typeface="Times New Roman"/>
                          <a:ea typeface="Times New Roman"/>
                          <a:cs typeface="Times New Roman"/>
                          <a:sym typeface="Times New Roman"/>
                        </a:rPr>
                        <a:t>Query Language</a:t>
                      </a:r>
                      <a:endParaRPr b="1" sz="13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Uses SQL commands (</a:t>
                      </a:r>
                      <a:r>
                        <a:rPr lang="en" sz="1300">
                          <a:solidFill>
                            <a:srgbClr val="188038"/>
                          </a:solidFill>
                          <a:latin typeface="Times New Roman"/>
                          <a:ea typeface="Times New Roman"/>
                          <a:cs typeface="Times New Roman"/>
                          <a:sym typeface="Times New Roman"/>
                        </a:rPr>
                        <a:t>SELECT</a:t>
                      </a:r>
                      <a:r>
                        <a:rPr lang="en" sz="1300">
                          <a:latin typeface="Times New Roman"/>
                          <a:ea typeface="Times New Roman"/>
                          <a:cs typeface="Times New Roman"/>
                          <a:sym typeface="Times New Roman"/>
                        </a:rPr>
                        <a:t>, </a:t>
                      </a:r>
                      <a:r>
                        <a:rPr lang="en" sz="1300">
                          <a:solidFill>
                            <a:srgbClr val="188038"/>
                          </a:solidFill>
                          <a:latin typeface="Times New Roman"/>
                          <a:ea typeface="Times New Roman"/>
                          <a:cs typeface="Times New Roman"/>
                          <a:sym typeface="Times New Roman"/>
                        </a:rPr>
                        <a:t>JOIN</a:t>
                      </a:r>
                      <a:r>
                        <a:rPr lang="en" sz="1300">
                          <a:latin typeface="Times New Roman"/>
                          <a:ea typeface="Times New Roman"/>
                          <a:cs typeface="Times New Roman"/>
                          <a:sym typeface="Times New Roman"/>
                        </a:rPr>
                        <a:t>, etc.)</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Uses various APIs / Query languages</a:t>
                      </a:r>
                      <a:endParaRPr sz="1300">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b="1" lang="en" sz="1300">
                          <a:latin typeface="Times New Roman"/>
                          <a:ea typeface="Times New Roman"/>
                          <a:cs typeface="Times New Roman"/>
                          <a:sym typeface="Times New Roman"/>
                        </a:rPr>
                        <a:t>Best For</a:t>
                      </a:r>
                      <a:endParaRPr b="1" sz="13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Complex queries, ACID transactions</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Large, unstructured or semi-structured data</a:t>
                      </a:r>
                      <a:endParaRPr sz="1300">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b="1" lang="en" sz="1300">
                          <a:latin typeface="Times New Roman"/>
                          <a:ea typeface="Times New Roman"/>
                          <a:cs typeface="Times New Roman"/>
                          <a:sym typeface="Times New Roman"/>
                        </a:rPr>
                        <a:t>Consistency</a:t>
                      </a:r>
                      <a:endParaRPr b="1" sz="13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Strong consistency (ACID)</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Eventual consistency (BASE)</a:t>
                      </a:r>
                      <a:endParaRPr sz="1300">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41"/>
          <p:cNvSpPr txBox="1"/>
          <p:nvPr>
            <p:ph type="title"/>
          </p:nvPr>
        </p:nvSpPr>
        <p:spPr>
          <a:xfrm>
            <a:off x="311700" y="2739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Use of JSON with Document Database</a:t>
            </a:r>
            <a:endParaRPr/>
          </a:p>
        </p:txBody>
      </p:sp>
      <p:sp>
        <p:nvSpPr>
          <p:cNvPr id="220" name="Google Shape;220;p41"/>
          <p:cNvSpPr txBox="1"/>
          <p:nvPr>
            <p:ph idx="1" type="body"/>
          </p:nvPr>
        </p:nvSpPr>
        <p:spPr>
          <a:xfrm>
            <a:off x="311700" y="934600"/>
            <a:ext cx="8520600" cy="36345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rgbClr val="000000"/>
              </a:buClr>
              <a:buSzPts val="1200"/>
              <a:buFont typeface="Arial"/>
              <a:buChar char="●"/>
            </a:pPr>
            <a:r>
              <a:rPr lang="en" sz="1200">
                <a:solidFill>
                  <a:srgbClr val="000000"/>
                </a:solidFill>
                <a:latin typeface="Arial"/>
                <a:ea typeface="Arial"/>
                <a:cs typeface="Arial"/>
                <a:sym typeface="Arial"/>
              </a:rPr>
              <a:t>JSON (</a:t>
            </a:r>
            <a:r>
              <a:rPr b="1" lang="en" sz="1200">
                <a:solidFill>
                  <a:srgbClr val="000000"/>
                </a:solidFill>
                <a:latin typeface="Arial"/>
                <a:ea typeface="Arial"/>
                <a:cs typeface="Arial"/>
                <a:sym typeface="Arial"/>
              </a:rPr>
              <a:t>JavaScript Object Notation</a:t>
            </a:r>
            <a:r>
              <a:rPr lang="en" sz="1200">
                <a:solidFill>
                  <a:srgbClr val="000000"/>
                </a:solidFill>
                <a:latin typeface="Arial"/>
                <a:ea typeface="Arial"/>
                <a:cs typeface="Arial"/>
                <a:sym typeface="Arial"/>
              </a:rPr>
              <a:t>) is the </a:t>
            </a:r>
            <a:r>
              <a:rPr b="1" lang="en" sz="1200">
                <a:solidFill>
                  <a:srgbClr val="000000"/>
                </a:solidFill>
                <a:latin typeface="Arial"/>
                <a:ea typeface="Arial"/>
                <a:cs typeface="Arial"/>
                <a:sym typeface="Arial"/>
              </a:rPr>
              <a:t>standard format</a:t>
            </a:r>
            <a:r>
              <a:rPr lang="en" sz="1200">
                <a:solidFill>
                  <a:srgbClr val="000000"/>
                </a:solidFill>
                <a:latin typeface="Arial"/>
                <a:ea typeface="Arial"/>
                <a:cs typeface="Arial"/>
                <a:sym typeface="Arial"/>
              </a:rPr>
              <a:t> for storing and exchanging data.</a:t>
            </a:r>
            <a:br>
              <a:rPr lang="en" sz="1200">
                <a:solidFill>
                  <a:srgbClr val="000000"/>
                </a:solidFill>
                <a:latin typeface="Arial"/>
                <a:ea typeface="Arial"/>
                <a:cs typeface="Arial"/>
                <a:sym typeface="Arial"/>
              </a:rPr>
            </a:br>
            <a:endParaRPr sz="12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Char char="●"/>
            </a:pPr>
            <a:r>
              <a:rPr lang="en" sz="1200">
                <a:solidFill>
                  <a:srgbClr val="000000"/>
                </a:solidFill>
                <a:latin typeface="Arial"/>
                <a:ea typeface="Arial"/>
                <a:cs typeface="Arial"/>
                <a:sym typeface="Arial"/>
              </a:rPr>
              <a:t>Document databases like </a:t>
            </a:r>
            <a:r>
              <a:rPr b="1" lang="en" sz="1200">
                <a:solidFill>
                  <a:srgbClr val="000000"/>
                </a:solidFill>
                <a:latin typeface="Arial"/>
                <a:ea typeface="Arial"/>
                <a:cs typeface="Arial"/>
                <a:sym typeface="Arial"/>
              </a:rPr>
              <a:t>MongoDB</a:t>
            </a:r>
            <a:r>
              <a:rPr lang="en" sz="1200">
                <a:solidFill>
                  <a:srgbClr val="000000"/>
                </a:solidFill>
                <a:latin typeface="Arial"/>
                <a:ea typeface="Arial"/>
                <a:cs typeface="Arial"/>
                <a:sym typeface="Arial"/>
              </a:rPr>
              <a:t> store documents as </a:t>
            </a:r>
            <a:r>
              <a:rPr b="1" lang="en" sz="1200">
                <a:solidFill>
                  <a:srgbClr val="000000"/>
                </a:solidFill>
                <a:latin typeface="Arial"/>
                <a:ea typeface="Arial"/>
                <a:cs typeface="Arial"/>
                <a:sym typeface="Arial"/>
              </a:rPr>
              <a:t>JSON or BSON</a:t>
            </a:r>
            <a:r>
              <a:rPr lang="en" sz="1200">
                <a:solidFill>
                  <a:srgbClr val="000000"/>
                </a:solidFill>
                <a:latin typeface="Arial"/>
                <a:ea typeface="Arial"/>
                <a:cs typeface="Arial"/>
                <a:sym typeface="Arial"/>
              </a:rPr>
              <a:t>.</a:t>
            </a:r>
            <a:br>
              <a:rPr lang="en" sz="1200">
                <a:solidFill>
                  <a:srgbClr val="000000"/>
                </a:solidFill>
                <a:latin typeface="Arial"/>
                <a:ea typeface="Arial"/>
                <a:cs typeface="Arial"/>
                <a:sym typeface="Arial"/>
              </a:rPr>
            </a:br>
            <a:endParaRPr sz="12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Char char="●"/>
            </a:pPr>
            <a:r>
              <a:rPr lang="en" sz="1200">
                <a:solidFill>
                  <a:srgbClr val="000000"/>
                </a:solidFill>
                <a:latin typeface="Arial"/>
                <a:ea typeface="Arial"/>
                <a:cs typeface="Arial"/>
                <a:sym typeface="Arial"/>
              </a:rPr>
              <a:t>JSON allows </a:t>
            </a:r>
            <a:r>
              <a:rPr b="1" lang="en" sz="1200">
                <a:solidFill>
                  <a:srgbClr val="000000"/>
                </a:solidFill>
                <a:latin typeface="Arial"/>
                <a:ea typeface="Arial"/>
                <a:cs typeface="Arial"/>
                <a:sym typeface="Arial"/>
              </a:rPr>
              <a:t>nesting of data</a:t>
            </a:r>
            <a:r>
              <a:rPr lang="en" sz="1200">
                <a:solidFill>
                  <a:srgbClr val="000000"/>
                </a:solidFill>
                <a:latin typeface="Arial"/>
                <a:ea typeface="Arial"/>
                <a:cs typeface="Arial"/>
                <a:sym typeface="Arial"/>
              </a:rPr>
              <a:t>, making it ideal for storing real-world entities (like users, orders, products).</a:t>
            </a:r>
            <a:endParaRPr sz="1200">
              <a:solidFill>
                <a:srgbClr val="000000"/>
              </a:solidFill>
              <a:latin typeface="Arial"/>
              <a:ea typeface="Arial"/>
              <a:cs typeface="Arial"/>
              <a:sym typeface="Arial"/>
            </a:endParaRPr>
          </a:p>
          <a:p>
            <a:pPr indent="0" lvl="0" marL="457200" rtl="0" algn="l">
              <a:spcBef>
                <a:spcPts val="1200"/>
              </a:spcBef>
              <a:spcAft>
                <a:spcPts val="0"/>
              </a:spcAft>
              <a:buNone/>
            </a:pPr>
            <a:r>
              <a:rPr lang="en" sz="1400">
                <a:solidFill>
                  <a:srgbClr val="000000"/>
                </a:solidFill>
                <a:latin typeface="Times New Roman"/>
                <a:ea typeface="Times New Roman"/>
                <a:cs typeface="Times New Roman"/>
                <a:sym typeface="Times New Roman"/>
              </a:rPr>
              <a:t>{</a:t>
            </a:r>
            <a:endParaRPr sz="1400">
              <a:solidFill>
                <a:srgbClr val="000000"/>
              </a:solidFill>
              <a:latin typeface="Times New Roman"/>
              <a:ea typeface="Times New Roman"/>
              <a:cs typeface="Times New Roman"/>
              <a:sym typeface="Times New Roman"/>
            </a:endParaRPr>
          </a:p>
          <a:p>
            <a:pPr indent="0" lvl="0" marL="914400" rtl="0" algn="l">
              <a:spcBef>
                <a:spcPts val="0"/>
              </a:spcBef>
              <a:spcAft>
                <a:spcPts val="0"/>
              </a:spcAft>
              <a:buNone/>
            </a:pPr>
            <a:r>
              <a:rPr lang="en" sz="1400">
                <a:solidFill>
                  <a:srgbClr val="000000"/>
                </a:solidFill>
                <a:latin typeface="Times New Roman"/>
                <a:ea typeface="Times New Roman"/>
                <a:cs typeface="Times New Roman"/>
                <a:sym typeface="Times New Roman"/>
              </a:rPr>
              <a:t>  "product_id": 123,</a:t>
            </a:r>
            <a:endParaRPr sz="1400">
              <a:solidFill>
                <a:srgbClr val="000000"/>
              </a:solidFill>
              <a:latin typeface="Times New Roman"/>
              <a:ea typeface="Times New Roman"/>
              <a:cs typeface="Times New Roman"/>
              <a:sym typeface="Times New Roman"/>
            </a:endParaRPr>
          </a:p>
          <a:p>
            <a:pPr indent="0" lvl="0" marL="914400" rtl="0" algn="l">
              <a:spcBef>
                <a:spcPts val="0"/>
              </a:spcBef>
              <a:spcAft>
                <a:spcPts val="0"/>
              </a:spcAft>
              <a:buNone/>
            </a:pPr>
            <a:r>
              <a:rPr lang="en" sz="1400">
                <a:solidFill>
                  <a:srgbClr val="000000"/>
                </a:solidFill>
                <a:latin typeface="Times New Roman"/>
                <a:ea typeface="Times New Roman"/>
                <a:cs typeface="Times New Roman"/>
                <a:sym typeface="Times New Roman"/>
              </a:rPr>
              <a:t>  "name": "Bluetooth Headphones",</a:t>
            </a:r>
            <a:endParaRPr sz="1400">
              <a:solidFill>
                <a:srgbClr val="000000"/>
              </a:solidFill>
              <a:latin typeface="Times New Roman"/>
              <a:ea typeface="Times New Roman"/>
              <a:cs typeface="Times New Roman"/>
              <a:sym typeface="Times New Roman"/>
            </a:endParaRPr>
          </a:p>
          <a:p>
            <a:pPr indent="0" lvl="0" marL="914400" rtl="0" algn="l">
              <a:spcBef>
                <a:spcPts val="0"/>
              </a:spcBef>
              <a:spcAft>
                <a:spcPts val="0"/>
              </a:spcAft>
              <a:buNone/>
            </a:pPr>
            <a:r>
              <a:rPr lang="en" sz="1400">
                <a:solidFill>
                  <a:srgbClr val="000000"/>
                </a:solidFill>
                <a:latin typeface="Times New Roman"/>
                <a:ea typeface="Times New Roman"/>
                <a:cs typeface="Times New Roman"/>
                <a:sym typeface="Times New Roman"/>
              </a:rPr>
              <a:t>  "price": 2499,</a:t>
            </a:r>
            <a:endParaRPr sz="1400">
              <a:solidFill>
                <a:srgbClr val="000000"/>
              </a:solidFill>
              <a:latin typeface="Times New Roman"/>
              <a:ea typeface="Times New Roman"/>
              <a:cs typeface="Times New Roman"/>
              <a:sym typeface="Times New Roman"/>
            </a:endParaRPr>
          </a:p>
          <a:p>
            <a:pPr indent="0" lvl="0" marL="914400" rtl="0" algn="l">
              <a:spcBef>
                <a:spcPts val="0"/>
              </a:spcBef>
              <a:spcAft>
                <a:spcPts val="0"/>
              </a:spcAft>
              <a:buNone/>
            </a:pPr>
            <a:r>
              <a:rPr lang="en" sz="1400">
                <a:solidFill>
                  <a:srgbClr val="000000"/>
                </a:solidFill>
                <a:latin typeface="Times New Roman"/>
                <a:ea typeface="Times New Roman"/>
                <a:cs typeface="Times New Roman"/>
                <a:sym typeface="Times New Roman"/>
              </a:rPr>
              <a:t>  "features": ["Wireless", "Noise Cancellation", "Mic"],</a:t>
            </a:r>
            <a:endParaRPr sz="1400">
              <a:solidFill>
                <a:srgbClr val="000000"/>
              </a:solidFill>
              <a:latin typeface="Times New Roman"/>
              <a:ea typeface="Times New Roman"/>
              <a:cs typeface="Times New Roman"/>
              <a:sym typeface="Times New Roman"/>
            </a:endParaRPr>
          </a:p>
          <a:p>
            <a:pPr indent="0" lvl="0" marL="914400" rtl="0" algn="l">
              <a:spcBef>
                <a:spcPts val="0"/>
              </a:spcBef>
              <a:spcAft>
                <a:spcPts val="0"/>
              </a:spcAft>
              <a:buNone/>
            </a:pPr>
            <a:r>
              <a:rPr lang="en" sz="1400">
                <a:solidFill>
                  <a:srgbClr val="000000"/>
                </a:solidFill>
                <a:latin typeface="Times New Roman"/>
                <a:ea typeface="Times New Roman"/>
                <a:cs typeface="Times New Roman"/>
                <a:sym typeface="Times New Roman"/>
              </a:rPr>
              <a:t>  "reviews": [</a:t>
            </a:r>
            <a:endParaRPr sz="1400">
              <a:solidFill>
                <a:srgbClr val="000000"/>
              </a:solidFill>
              <a:latin typeface="Times New Roman"/>
              <a:ea typeface="Times New Roman"/>
              <a:cs typeface="Times New Roman"/>
              <a:sym typeface="Times New Roman"/>
            </a:endParaRPr>
          </a:p>
          <a:p>
            <a:pPr indent="0" lvl="0" marL="914400" rtl="0" algn="l">
              <a:spcBef>
                <a:spcPts val="0"/>
              </a:spcBef>
              <a:spcAft>
                <a:spcPts val="0"/>
              </a:spcAft>
              <a:buNone/>
            </a:pPr>
            <a:r>
              <a:rPr lang="en" sz="1400">
                <a:solidFill>
                  <a:srgbClr val="000000"/>
                </a:solidFill>
                <a:latin typeface="Times New Roman"/>
                <a:ea typeface="Times New Roman"/>
                <a:cs typeface="Times New Roman"/>
                <a:sym typeface="Times New Roman"/>
              </a:rPr>
              <a:t>    { "user": "Raj", "rating": 5 },</a:t>
            </a:r>
            <a:endParaRPr sz="1400">
              <a:solidFill>
                <a:srgbClr val="000000"/>
              </a:solidFill>
              <a:latin typeface="Times New Roman"/>
              <a:ea typeface="Times New Roman"/>
              <a:cs typeface="Times New Roman"/>
              <a:sym typeface="Times New Roman"/>
            </a:endParaRPr>
          </a:p>
          <a:p>
            <a:pPr indent="0" lvl="0" marL="914400" rtl="0" algn="l">
              <a:spcBef>
                <a:spcPts val="0"/>
              </a:spcBef>
              <a:spcAft>
                <a:spcPts val="0"/>
              </a:spcAft>
              <a:buNone/>
            </a:pPr>
            <a:r>
              <a:rPr lang="en" sz="1400">
                <a:solidFill>
                  <a:srgbClr val="000000"/>
                </a:solidFill>
                <a:latin typeface="Times New Roman"/>
                <a:ea typeface="Times New Roman"/>
                <a:cs typeface="Times New Roman"/>
                <a:sym typeface="Times New Roman"/>
              </a:rPr>
              <a:t>    { "user": "Simran", "rating": 4 }</a:t>
            </a:r>
            <a:endParaRPr sz="1400">
              <a:solidFill>
                <a:srgbClr val="000000"/>
              </a:solidFill>
              <a:latin typeface="Times New Roman"/>
              <a:ea typeface="Times New Roman"/>
              <a:cs typeface="Times New Roman"/>
              <a:sym typeface="Times New Roman"/>
            </a:endParaRPr>
          </a:p>
          <a:p>
            <a:pPr indent="0" lvl="0" marL="914400" rtl="0" algn="l">
              <a:spcBef>
                <a:spcPts val="0"/>
              </a:spcBef>
              <a:spcAft>
                <a:spcPts val="0"/>
              </a:spcAft>
              <a:buNone/>
            </a:pPr>
            <a:r>
              <a:rPr lang="en" sz="1400">
                <a:solidFill>
                  <a:srgbClr val="000000"/>
                </a:solidFill>
                <a:latin typeface="Times New Roman"/>
                <a:ea typeface="Times New Roman"/>
                <a:cs typeface="Times New Roman"/>
                <a:sym typeface="Times New Roman"/>
              </a:rPr>
              <a:t>  ]</a:t>
            </a:r>
            <a:endParaRPr sz="1400">
              <a:solidFill>
                <a:srgbClr val="000000"/>
              </a:solidFill>
              <a:latin typeface="Times New Roman"/>
              <a:ea typeface="Times New Roman"/>
              <a:cs typeface="Times New Roman"/>
              <a:sym typeface="Times New Roman"/>
            </a:endParaRPr>
          </a:p>
          <a:p>
            <a:pPr indent="0" lvl="0" marL="457200" rtl="0" algn="l">
              <a:spcBef>
                <a:spcPts val="0"/>
              </a:spcBef>
              <a:spcAft>
                <a:spcPts val="0"/>
              </a:spcAft>
              <a:buNone/>
            </a:pPr>
            <a:r>
              <a:rPr lang="en" sz="1400">
                <a:solidFill>
                  <a:srgbClr val="000000"/>
                </a:solidFill>
                <a:latin typeface="Times New Roman"/>
                <a:ea typeface="Times New Roman"/>
                <a:cs typeface="Times New Roman"/>
                <a:sym typeface="Times New Roman"/>
              </a:rPr>
              <a:t>}</a:t>
            </a:r>
            <a:endParaRPr sz="1400">
              <a:solidFill>
                <a:srgbClr val="000000"/>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42"/>
          <p:cNvSpPr txBox="1"/>
          <p:nvPr>
            <p:ph idx="1" type="body"/>
          </p:nvPr>
        </p:nvSpPr>
        <p:spPr>
          <a:xfrm>
            <a:off x="311700" y="412775"/>
            <a:ext cx="8520600" cy="4156500"/>
          </a:xfrm>
          <a:prstGeom prst="rect">
            <a:avLst/>
          </a:prstGeom>
        </p:spPr>
        <p:txBody>
          <a:bodyPr anchorCtr="0" anchor="t" bIns="91425" lIns="91425" spcFirstLastPara="1" rIns="91425" wrap="square" tIns="91425">
            <a:normAutofit lnSpcReduction="10000"/>
          </a:bodyPr>
          <a:lstStyle/>
          <a:p>
            <a:pPr indent="0" lvl="0" marL="0" rtl="0" algn="l">
              <a:spcBef>
                <a:spcPts val="1200"/>
              </a:spcBef>
              <a:spcAft>
                <a:spcPts val="0"/>
              </a:spcAft>
              <a:buNone/>
            </a:pPr>
            <a:r>
              <a:rPr b="1" lang="en" sz="1100">
                <a:solidFill>
                  <a:srgbClr val="000000"/>
                </a:solidFill>
                <a:latin typeface="Arial"/>
                <a:ea typeface="Arial"/>
                <a:cs typeface="Arial"/>
                <a:sym typeface="Arial"/>
              </a:rPr>
              <a:t>Example: Product Data in an E-commerce Website</a:t>
            </a:r>
            <a:endParaRPr sz="1100">
              <a:solidFill>
                <a:srgbClr val="000000"/>
              </a:solidFill>
              <a:latin typeface="Arial"/>
              <a:ea typeface="Arial"/>
              <a:cs typeface="Arial"/>
              <a:sym typeface="Arial"/>
            </a:endParaRPr>
          </a:p>
          <a:p>
            <a:pPr indent="0" lvl="0" marL="457200" rtl="0" algn="l">
              <a:spcBef>
                <a:spcPts val="1200"/>
              </a:spcBef>
              <a:spcAft>
                <a:spcPts val="0"/>
              </a:spcAft>
              <a:buNone/>
            </a:pPr>
            <a:r>
              <a:rPr lang="en" sz="1400">
                <a:solidFill>
                  <a:srgbClr val="000000"/>
                </a:solidFill>
                <a:latin typeface="Times New Roman"/>
                <a:ea typeface="Times New Roman"/>
                <a:cs typeface="Times New Roman"/>
                <a:sym typeface="Times New Roman"/>
              </a:rPr>
              <a:t>{</a:t>
            </a:r>
            <a:endParaRPr sz="1400">
              <a:solidFill>
                <a:srgbClr val="000000"/>
              </a:solidFill>
              <a:latin typeface="Times New Roman"/>
              <a:ea typeface="Times New Roman"/>
              <a:cs typeface="Times New Roman"/>
              <a:sym typeface="Times New Roman"/>
            </a:endParaRPr>
          </a:p>
          <a:p>
            <a:pPr indent="0" lvl="0" marL="457200" rtl="0" algn="l">
              <a:spcBef>
                <a:spcPts val="0"/>
              </a:spcBef>
              <a:spcAft>
                <a:spcPts val="0"/>
              </a:spcAft>
              <a:buNone/>
            </a:pPr>
            <a:r>
              <a:rPr lang="en" sz="1400">
                <a:solidFill>
                  <a:srgbClr val="000000"/>
                </a:solidFill>
                <a:latin typeface="Times New Roman"/>
                <a:ea typeface="Times New Roman"/>
                <a:cs typeface="Times New Roman"/>
                <a:sym typeface="Times New Roman"/>
              </a:rPr>
              <a:t>  "product_id": 2025,</a:t>
            </a:r>
            <a:endParaRPr sz="1400">
              <a:solidFill>
                <a:srgbClr val="000000"/>
              </a:solidFill>
              <a:latin typeface="Times New Roman"/>
              <a:ea typeface="Times New Roman"/>
              <a:cs typeface="Times New Roman"/>
              <a:sym typeface="Times New Roman"/>
            </a:endParaRPr>
          </a:p>
          <a:p>
            <a:pPr indent="0" lvl="0" marL="457200" rtl="0" algn="l">
              <a:spcBef>
                <a:spcPts val="0"/>
              </a:spcBef>
              <a:spcAft>
                <a:spcPts val="0"/>
              </a:spcAft>
              <a:buNone/>
            </a:pPr>
            <a:r>
              <a:rPr lang="en" sz="1400">
                <a:solidFill>
                  <a:srgbClr val="000000"/>
                </a:solidFill>
                <a:latin typeface="Times New Roman"/>
                <a:ea typeface="Times New Roman"/>
                <a:cs typeface="Times New Roman"/>
                <a:sym typeface="Times New Roman"/>
              </a:rPr>
              <a:t>  "name": "Bluetooth Headphones",</a:t>
            </a:r>
            <a:endParaRPr sz="1400">
              <a:solidFill>
                <a:srgbClr val="000000"/>
              </a:solidFill>
              <a:latin typeface="Times New Roman"/>
              <a:ea typeface="Times New Roman"/>
              <a:cs typeface="Times New Roman"/>
              <a:sym typeface="Times New Roman"/>
            </a:endParaRPr>
          </a:p>
          <a:p>
            <a:pPr indent="0" lvl="0" marL="457200" rtl="0" algn="l">
              <a:spcBef>
                <a:spcPts val="0"/>
              </a:spcBef>
              <a:spcAft>
                <a:spcPts val="0"/>
              </a:spcAft>
              <a:buNone/>
            </a:pPr>
            <a:r>
              <a:rPr lang="en" sz="1400">
                <a:solidFill>
                  <a:srgbClr val="000000"/>
                </a:solidFill>
                <a:latin typeface="Times New Roman"/>
                <a:ea typeface="Times New Roman"/>
                <a:cs typeface="Times New Roman"/>
                <a:sym typeface="Times New Roman"/>
              </a:rPr>
              <a:t>  "brand": "Boat",</a:t>
            </a:r>
            <a:endParaRPr sz="1400">
              <a:solidFill>
                <a:srgbClr val="000000"/>
              </a:solidFill>
              <a:latin typeface="Times New Roman"/>
              <a:ea typeface="Times New Roman"/>
              <a:cs typeface="Times New Roman"/>
              <a:sym typeface="Times New Roman"/>
            </a:endParaRPr>
          </a:p>
          <a:p>
            <a:pPr indent="0" lvl="0" marL="457200" rtl="0" algn="l">
              <a:spcBef>
                <a:spcPts val="0"/>
              </a:spcBef>
              <a:spcAft>
                <a:spcPts val="0"/>
              </a:spcAft>
              <a:buNone/>
            </a:pPr>
            <a:r>
              <a:rPr lang="en" sz="1400">
                <a:solidFill>
                  <a:srgbClr val="000000"/>
                </a:solidFill>
                <a:latin typeface="Times New Roman"/>
                <a:ea typeface="Times New Roman"/>
                <a:cs typeface="Times New Roman"/>
                <a:sym typeface="Times New Roman"/>
              </a:rPr>
              <a:t>  "price": 1999,</a:t>
            </a:r>
            <a:endParaRPr sz="1400">
              <a:solidFill>
                <a:srgbClr val="000000"/>
              </a:solidFill>
              <a:latin typeface="Times New Roman"/>
              <a:ea typeface="Times New Roman"/>
              <a:cs typeface="Times New Roman"/>
              <a:sym typeface="Times New Roman"/>
            </a:endParaRPr>
          </a:p>
          <a:p>
            <a:pPr indent="0" lvl="0" marL="457200" rtl="0" algn="l">
              <a:spcBef>
                <a:spcPts val="0"/>
              </a:spcBef>
              <a:spcAft>
                <a:spcPts val="0"/>
              </a:spcAft>
              <a:buNone/>
            </a:pPr>
            <a:r>
              <a:rPr lang="en" sz="1400">
                <a:solidFill>
                  <a:srgbClr val="000000"/>
                </a:solidFill>
                <a:latin typeface="Times New Roman"/>
                <a:ea typeface="Times New Roman"/>
                <a:cs typeface="Times New Roman"/>
                <a:sym typeface="Times New Roman"/>
              </a:rPr>
              <a:t>  "stock": 150,</a:t>
            </a:r>
            <a:endParaRPr sz="1400">
              <a:solidFill>
                <a:srgbClr val="000000"/>
              </a:solidFill>
              <a:latin typeface="Times New Roman"/>
              <a:ea typeface="Times New Roman"/>
              <a:cs typeface="Times New Roman"/>
              <a:sym typeface="Times New Roman"/>
            </a:endParaRPr>
          </a:p>
          <a:p>
            <a:pPr indent="0" lvl="0" marL="457200" rtl="0" algn="l">
              <a:spcBef>
                <a:spcPts val="0"/>
              </a:spcBef>
              <a:spcAft>
                <a:spcPts val="0"/>
              </a:spcAft>
              <a:buNone/>
            </a:pPr>
            <a:r>
              <a:rPr lang="en" sz="1400">
                <a:solidFill>
                  <a:srgbClr val="000000"/>
                </a:solidFill>
                <a:latin typeface="Times New Roman"/>
                <a:ea typeface="Times New Roman"/>
                <a:cs typeface="Times New Roman"/>
                <a:sym typeface="Times New Roman"/>
              </a:rPr>
              <a:t>  "reviews": [</a:t>
            </a:r>
            <a:endParaRPr sz="1400">
              <a:solidFill>
                <a:srgbClr val="000000"/>
              </a:solidFill>
              <a:latin typeface="Times New Roman"/>
              <a:ea typeface="Times New Roman"/>
              <a:cs typeface="Times New Roman"/>
              <a:sym typeface="Times New Roman"/>
            </a:endParaRPr>
          </a:p>
          <a:p>
            <a:pPr indent="0" lvl="0" marL="457200" rtl="0" algn="l">
              <a:spcBef>
                <a:spcPts val="0"/>
              </a:spcBef>
              <a:spcAft>
                <a:spcPts val="0"/>
              </a:spcAft>
              <a:buNone/>
            </a:pPr>
            <a:r>
              <a:rPr lang="en" sz="1400">
                <a:solidFill>
                  <a:srgbClr val="000000"/>
                </a:solidFill>
                <a:latin typeface="Times New Roman"/>
                <a:ea typeface="Times New Roman"/>
                <a:cs typeface="Times New Roman"/>
                <a:sym typeface="Times New Roman"/>
              </a:rPr>
              <a:t>    { "user": "Neha", "rating": 5, "comment": "Excellent sound quality!" },</a:t>
            </a:r>
            <a:endParaRPr sz="1400">
              <a:solidFill>
                <a:srgbClr val="000000"/>
              </a:solidFill>
              <a:latin typeface="Times New Roman"/>
              <a:ea typeface="Times New Roman"/>
              <a:cs typeface="Times New Roman"/>
              <a:sym typeface="Times New Roman"/>
            </a:endParaRPr>
          </a:p>
          <a:p>
            <a:pPr indent="0" lvl="0" marL="457200" rtl="0" algn="l">
              <a:spcBef>
                <a:spcPts val="0"/>
              </a:spcBef>
              <a:spcAft>
                <a:spcPts val="0"/>
              </a:spcAft>
              <a:buNone/>
            </a:pPr>
            <a:r>
              <a:rPr lang="en" sz="1400">
                <a:solidFill>
                  <a:srgbClr val="000000"/>
                </a:solidFill>
                <a:latin typeface="Times New Roman"/>
                <a:ea typeface="Times New Roman"/>
                <a:cs typeface="Times New Roman"/>
                <a:sym typeface="Times New Roman"/>
              </a:rPr>
              <a:t>    { "user": "Amit", "rating": 4, "comment": "Good battery life." }</a:t>
            </a:r>
            <a:endParaRPr sz="1400">
              <a:solidFill>
                <a:srgbClr val="000000"/>
              </a:solidFill>
              <a:latin typeface="Times New Roman"/>
              <a:ea typeface="Times New Roman"/>
              <a:cs typeface="Times New Roman"/>
              <a:sym typeface="Times New Roman"/>
            </a:endParaRPr>
          </a:p>
          <a:p>
            <a:pPr indent="0" lvl="0" marL="457200" rtl="0" algn="l">
              <a:spcBef>
                <a:spcPts val="0"/>
              </a:spcBef>
              <a:spcAft>
                <a:spcPts val="0"/>
              </a:spcAft>
              <a:buNone/>
            </a:pPr>
            <a:r>
              <a:rPr lang="en" sz="1400">
                <a:solidFill>
                  <a:srgbClr val="000000"/>
                </a:solidFill>
                <a:latin typeface="Times New Roman"/>
                <a:ea typeface="Times New Roman"/>
                <a:cs typeface="Times New Roman"/>
                <a:sym typeface="Times New Roman"/>
              </a:rPr>
              <a:t>  ],</a:t>
            </a:r>
            <a:endParaRPr sz="1400">
              <a:solidFill>
                <a:srgbClr val="000000"/>
              </a:solidFill>
              <a:latin typeface="Times New Roman"/>
              <a:ea typeface="Times New Roman"/>
              <a:cs typeface="Times New Roman"/>
              <a:sym typeface="Times New Roman"/>
            </a:endParaRPr>
          </a:p>
          <a:p>
            <a:pPr indent="0" lvl="0" marL="457200" rtl="0" algn="l">
              <a:spcBef>
                <a:spcPts val="0"/>
              </a:spcBef>
              <a:spcAft>
                <a:spcPts val="0"/>
              </a:spcAft>
              <a:buNone/>
            </a:pPr>
            <a:r>
              <a:rPr lang="en" sz="1400">
                <a:solidFill>
                  <a:srgbClr val="000000"/>
                </a:solidFill>
                <a:latin typeface="Times New Roman"/>
                <a:ea typeface="Times New Roman"/>
                <a:cs typeface="Times New Roman"/>
                <a:sym typeface="Times New Roman"/>
              </a:rPr>
              <a:t>  "specifications": {</a:t>
            </a:r>
            <a:endParaRPr sz="1400">
              <a:solidFill>
                <a:srgbClr val="000000"/>
              </a:solidFill>
              <a:latin typeface="Times New Roman"/>
              <a:ea typeface="Times New Roman"/>
              <a:cs typeface="Times New Roman"/>
              <a:sym typeface="Times New Roman"/>
            </a:endParaRPr>
          </a:p>
          <a:p>
            <a:pPr indent="0" lvl="0" marL="457200" rtl="0" algn="l">
              <a:spcBef>
                <a:spcPts val="0"/>
              </a:spcBef>
              <a:spcAft>
                <a:spcPts val="0"/>
              </a:spcAft>
              <a:buNone/>
            </a:pPr>
            <a:r>
              <a:rPr lang="en" sz="1400">
                <a:solidFill>
                  <a:srgbClr val="000000"/>
                </a:solidFill>
                <a:latin typeface="Times New Roman"/>
                <a:ea typeface="Times New Roman"/>
                <a:cs typeface="Times New Roman"/>
                <a:sym typeface="Times New Roman"/>
              </a:rPr>
              <a:t>    "color": "Black",</a:t>
            </a:r>
            <a:endParaRPr sz="1400">
              <a:solidFill>
                <a:srgbClr val="000000"/>
              </a:solidFill>
              <a:latin typeface="Times New Roman"/>
              <a:ea typeface="Times New Roman"/>
              <a:cs typeface="Times New Roman"/>
              <a:sym typeface="Times New Roman"/>
            </a:endParaRPr>
          </a:p>
          <a:p>
            <a:pPr indent="0" lvl="0" marL="457200" rtl="0" algn="l">
              <a:spcBef>
                <a:spcPts val="0"/>
              </a:spcBef>
              <a:spcAft>
                <a:spcPts val="0"/>
              </a:spcAft>
              <a:buNone/>
            </a:pPr>
            <a:r>
              <a:rPr lang="en" sz="1400">
                <a:solidFill>
                  <a:srgbClr val="000000"/>
                </a:solidFill>
                <a:latin typeface="Times New Roman"/>
                <a:ea typeface="Times New Roman"/>
                <a:cs typeface="Times New Roman"/>
                <a:sym typeface="Times New Roman"/>
              </a:rPr>
              <a:t>    "connectivity": "Bluetooth 5.0",</a:t>
            </a:r>
            <a:endParaRPr sz="1400">
              <a:solidFill>
                <a:srgbClr val="000000"/>
              </a:solidFill>
              <a:latin typeface="Times New Roman"/>
              <a:ea typeface="Times New Roman"/>
              <a:cs typeface="Times New Roman"/>
              <a:sym typeface="Times New Roman"/>
            </a:endParaRPr>
          </a:p>
          <a:p>
            <a:pPr indent="0" lvl="0" marL="457200" rtl="0" algn="l">
              <a:spcBef>
                <a:spcPts val="0"/>
              </a:spcBef>
              <a:spcAft>
                <a:spcPts val="0"/>
              </a:spcAft>
              <a:buNone/>
            </a:pPr>
            <a:r>
              <a:rPr lang="en" sz="1400">
                <a:solidFill>
                  <a:srgbClr val="000000"/>
                </a:solidFill>
                <a:latin typeface="Times New Roman"/>
                <a:ea typeface="Times New Roman"/>
                <a:cs typeface="Times New Roman"/>
                <a:sym typeface="Times New Roman"/>
              </a:rPr>
              <a:t>    "warranty": "1 year"</a:t>
            </a:r>
            <a:endParaRPr sz="1400">
              <a:solidFill>
                <a:srgbClr val="000000"/>
              </a:solidFill>
              <a:latin typeface="Times New Roman"/>
              <a:ea typeface="Times New Roman"/>
              <a:cs typeface="Times New Roman"/>
              <a:sym typeface="Times New Roman"/>
            </a:endParaRPr>
          </a:p>
          <a:p>
            <a:pPr indent="0" lvl="0" marL="457200" rtl="0" algn="l">
              <a:spcBef>
                <a:spcPts val="0"/>
              </a:spcBef>
              <a:spcAft>
                <a:spcPts val="0"/>
              </a:spcAft>
              <a:buNone/>
            </a:pPr>
            <a:r>
              <a:rPr lang="en" sz="1400">
                <a:solidFill>
                  <a:srgbClr val="000000"/>
                </a:solidFill>
                <a:latin typeface="Times New Roman"/>
                <a:ea typeface="Times New Roman"/>
                <a:cs typeface="Times New Roman"/>
                <a:sym typeface="Times New Roman"/>
              </a:rPr>
              <a:t>  }</a:t>
            </a:r>
            <a:endParaRPr sz="1400">
              <a:solidFill>
                <a:srgbClr val="000000"/>
              </a:solidFill>
              <a:latin typeface="Times New Roman"/>
              <a:ea typeface="Times New Roman"/>
              <a:cs typeface="Times New Roman"/>
              <a:sym typeface="Times New Roman"/>
            </a:endParaRPr>
          </a:p>
          <a:p>
            <a:pPr indent="0" lvl="0" marL="457200" rtl="0" algn="l">
              <a:spcBef>
                <a:spcPts val="0"/>
              </a:spcBef>
              <a:spcAft>
                <a:spcPts val="0"/>
              </a:spcAft>
              <a:buNone/>
            </a:pPr>
            <a:r>
              <a:rPr lang="en" sz="1400">
                <a:solidFill>
                  <a:srgbClr val="000000"/>
                </a:solidFill>
                <a:latin typeface="Times New Roman"/>
                <a:ea typeface="Times New Roman"/>
                <a:cs typeface="Times New Roman"/>
                <a:sym typeface="Times New Roman"/>
              </a:rPr>
              <a:t>}</a:t>
            </a:r>
            <a:endParaRPr sz="1400">
              <a:solidFill>
                <a:srgbClr val="000000"/>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43"/>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SzPts val="1018"/>
              <a:buNone/>
            </a:pPr>
            <a:r>
              <a:rPr lang="en" sz="1565">
                <a:solidFill>
                  <a:srgbClr val="000000"/>
                </a:solidFill>
                <a:latin typeface="Times New Roman"/>
                <a:ea typeface="Times New Roman"/>
                <a:cs typeface="Times New Roman"/>
                <a:sym typeface="Times New Roman"/>
              </a:rPr>
              <a:t>Querying JSON Documents (Example in MongoDB):</a:t>
            </a:r>
            <a:endParaRPr sz="1565">
              <a:solidFill>
                <a:srgbClr val="000000"/>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1018"/>
              <a:buNone/>
            </a:pPr>
            <a:r>
              <a:rPr lang="en" sz="1565">
                <a:solidFill>
                  <a:srgbClr val="000000"/>
                </a:solidFill>
                <a:latin typeface="Times New Roman"/>
                <a:ea typeface="Times New Roman"/>
                <a:cs typeface="Times New Roman"/>
                <a:sym typeface="Times New Roman"/>
              </a:rPr>
              <a:t>// Find all products by brand 'Boat'</a:t>
            </a:r>
            <a:endParaRPr sz="1565">
              <a:solidFill>
                <a:srgbClr val="000000"/>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1018"/>
              <a:buNone/>
            </a:pPr>
            <a:r>
              <a:rPr lang="en" sz="1565">
                <a:solidFill>
                  <a:srgbClr val="000000"/>
                </a:solidFill>
                <a:latin typeface="Times New Roman"/>
                <a:ea typeface="Times New Roman"/>
                <a:cs typeface="Times New Roman"/>
                <a:sym typeface="Times New Roman"/>
              </a:rPr>
              <a:t>db.products.find({ "brand": "Boat" });</a:t>
            </a:r>
            <a:endParaRPr sz="1565">
              <a:solidFill>
                <a:srgbClr val="000000"/>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1018"/>
              <a:buNone/>
            </a:pPr>
            <a:r>
              <a:t/>
            </a:r>
            <a:endParaRPr sz="1565">
              <a:solidFill>
                <a:srgbClr val="000000"/>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1018"/>
              <a:buNone/>
            </a:pPr>
            <a:r>
              <a:rPr lang="en" sz="1565">
                <a:solidFill>
                  <a:srgbClr val="000000"/>
                </a:solidFill>
                <a:latin typeface="Times New Roman"/>
                <a:ea typeface="Times New Roman"/>
                <a:cs typeface="Times New Roman"/>
                <a:sym typeface="Times New Roman"/>
              </a:rPr>
              <a:t>// Find product with rating &gt;= 4</a:t>
            </a:r>
            <a:endParaRPr sz="1565">
              <a:solidFill>
                <a:srgbClr val="000000"/>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1018"/>
              <a:buNone/>
            </a:pPr>
            <a:r>
              <a:rPr lang="en" sz="1565">
                <a:solidFill>
                  <a:srgbClr val="000000"/>
                </a:solidFill>
                <a:latin typeface="Times New Roman"/>
                <a:ea typeface="Times New Roman"/>
                <a:cs typeface="Times New Roman"/>
                <a:sym typeface="Times New Roman"/>
              </a:rPr>
              <a:t>db.products.find({ "reviews.rating": { $gte: 4 } });</a:t>
            </a:r>
            <a:endParaRPr sz="1565">
              <a:solidFill>
                <a:srgbClr val="000000"/>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1018"/>
              <a:buNone/>
            </a:pPr>
            <a:r>
              <a:t/>
            </a:r>
            <a:endParaRPr sz="1565">
              <a:latin typeface="Times New Roman"/>
              <a:ea typeface="Times New Roman"/>
              <a:cs typeface="Times New Roman"/>
              <a:sym typeface="Times New Roman"/>
            </a:endParaRPr>
          </a:p>
          <a:p>
            <a:pPr indent="0" lvl="0" marL="0" rtl="0" algn="l">
              <a:lnSpc>
                <a:spcPct val="95000"/>
              </a:lnSpc>
              <a:spcBef>
                <a:spcPts val="1200"/>
              </a:spcBef>
              <a:spcAft>
                <a:spcPts val="1200"/>
              </a:spcAft>
              <a:buSzPts val="1018"/>
              <a:buNone/>
            </a:pPr>
            <a:r>
              <a:t/>
            </a:r>
            <a:endParaRPr sz="1565">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4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JSON in Relational Databases</a:t>
            </a:r>
            <a:endParaRPr/>
          </a:p>
        </p:txBody>
      </p:sp>
      <p:sp>
        <p:nvSpPr>
          <p:cNvPr id="236" name="Google Shape;236;p44"/>
          <p:cNvSpPr txBox="1"/>
          <p:nvPr>
            <p:ph idx="1" type="body"/>
          </p:nvPr>
        </p:nvSpPr>
        <p:spPr>
          <a:xfrm>
            <a:off x="311700" y="1052225"/>
            <a:ext cx="8520600" cy="40359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sz="1100">
                <a:solidFill>
                  <a:srgbClr val="000000"/>
                </a:solidFill>
                <a:latin typeface="Arial"/>
                <a:ea typeface="Arial"/>
                <a:cs typeface="Arial"/>
                <a:sym typeface="Arial"/>
              </a:rPr>
              <a:t>Traditional </a:t>
            </a:r>
            <a:r>
              <a:rPr b="1" lang="en" sz="1100">
                <a:solidFill>
                  <a:srgbClr val="000000"/>
                </a:solidFill>
                <a:latin typeface="Arial"/>
                <a:ea typeface="Arial"/>
                <a:cs typeface="Arial"/>
                <a:sym typeface="Arial"/>
              </a:rPr>
              <a:t>SQL databases</a:t>
            </a:r>
            <a:r>
              <a:rPr lang="en" sz="1100">
                <a:solidFill>
                  <a:srgbClr val="000000"/>
                </a:solidFill>
                <a:latin typeface="Arial"/>
                <a:ea typeface="Arial"/>
                <a:cs typeface="Arial"/>
                <a:sym typeface="Arial"/>
              </a:rPr>
              <a:t> (like MySQL, PostgreSQL, SQL Server) now also </a:t>
            </a:r>
            <a:r>
              <a:rPr b="1" lang="en" sz="1100">
                <a:solidFill>
                  <a:srgbClr val="000000"/>
                </a:solidFill>
                <a:latin typeface="Arial"/>
                <a:ea typeface="Arial"/>
                <a:cs typeface="Arial"/>
                <a:sym typeface="Arial"/>
              </a:rPr>
              <a:t>support JSON</a:t>
            </a:r>
            <a:r>
              <a:rPr lang="en" sz="1100">
                <a:solidFill>
                  <a:srgbClr val="000000"/>
                </a:solidFill>
                <a:latin typeface="Arial"/>
                <a:ea typeface="Arial"/>
                <a:cs typeface="Arial"/>
                <a:sym typeface="Arial"/>
              </a:rPr>
              <a:t> to handle semi-structured data.</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This allows combining the </a:t>
            </a:r>
            <a:r>
              <a:rPr b="1" lang="en" sz="1100">
                <a:solidFill>
                  <a:srgbClr val="000000"/>
                </a:solidFill>
                <a:latin typeface="Arial"/>
                <a:ea typeface="Arial"/>
                <a:cs typeface="Arial"/>
                <a:sym typeface="Arial"/>
              </a:rPr>
              <a:t>power of SQL queries</a:t>
            </a:r>
            <a:r>
              <a:rPr lang="en" sz="1100">
                <a:solidFill>
                  <a:srgbClr val="000000"/>
                </a:solidFill>
                <a:latin typeface="Arial"/>
                <a:ea typeface="Arial"/>
                <a:cs typeface="Arial"/>
                <a:sym typeface="Arial"/>
              </a:rPr>
              <a:t> with the </a:t>
            </a:r>
            <a:r>
              <a:rPr b="1" lang="en" sz="1100">
                <a:solidFill>
                  <a:srgbClr val="000000"/>
                </a:solidFill>
                <a:latin typeface="Arial"/>
                <a:ea typeface="Arial"/>
                <a:cs typeface="Arial"/>
                <a:sym typeface="Arial"/>
              </a:rPr>
              <a:t>flexibility of JSON</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200">
                <a:solidFill>
                  <a:srgbClr val="000000"/>
                </a:solidFill>
                <a:latin typeface="Times New Roman"/>
                <a:ea typeface="Times New Roman"/>
                <a:cs typeface="Times New Roman"/>
                <a:sym typeface="Times New Roman"/>
              </a:rPr>
              <a:t>Example (MySQL / PostgreSQL):</a:t>
            </a:r>
            <a:endParaRPr sz="1200">
              <a:solidFill>
                <a:srgbClr val="000000"/>
              </a:solidFill>
              <a:latin typeface="Times New Roman"/>
              <a:ea typeface="Times New Roman"/>
              <a:cs typeface="Times New Roman"/>
              <a:sym typeface="Times New Roman"/>
            </a:endParaRPr>
          </a:p>
          <a:p>
            <a:pPr indent="0" lvl="0" marL="457200" rtl="0" algn="l">
              <a:spcBef>
                <a:spcPts val="0"/>
              </a:spcBef>
              <a:spcAft>
                <a:spcPts val="0"/>
              </a:spcAft>
              <a:buNone/>
            </a:pPr>
            <a:r>
              <a:rPr lang="en" sz="1200">
                <a:solidFill>
                  <a:srgbClr val="000000"/>
                </a:solidFill>
                <a:latin typeface="Times New Roman"/>
                <a:ea typeface="Times New Roman"/>
                <a:cs typeface="Times New Roman"/>
                <a:sym typeface="Times New Roman"/>
              </a:rPr>
              <a:t>CREATE TABLE products (</a:t>
            </a:r>
            <a:endParaRPr sz="1200">
              <a:solidFill>
                <a:srgbClr val="000000"/>
              </a:solidFill>
              <a:latin typeface="Times New Roman"/>
              <a:ea typeface="Times New Roman"/>
              <a:cs typeface="Times New Roman"/>
              <a:sym typeface="Times New Roman"/>
            </a:endParaRPr>
          </a:p>
          <a:p>
            <a:pPr indent="0" lvl="0" marL="457200" rtl="0" algn="l">
              <a:spcBef>
                <a:spcPts val="0"/>
              </a:spcBef>
              <a:spcAft>
                <a:spcPts val="0"/>
              </a:spcAft>
              <a:buNone/>
            </a:pPr>
            <a:r>
              <a:rPr lang="en" sz="1200">
                <a:solidFill>
                  <a:srgbClr val="000000"/>
                </a:solidFill>
                <a:latin typeface="Times New Roman"/>
                <a:ea typeface="Times New Roman"/>
                <a:cs typeface="Times New Roman"/>
                <a:sym typeface="Times New Roman"/>
              </a:rPr>
              <a:t>  id INT,</a:t>
            </a:r>
            <a:endParaRPr sz="1200">
              <a:solidFill>
                <a:srgbClr val="000000"/>
              </a:solidFill>
              <a:latin typeface="Times New Roman"/>
              <a:ea typeface="Times New Roman"/>
              <a:cs typeface="Times New Roman"/>
              <a:sym typeface="Times New Roman"/>
            </a:endParaRPr>
          </a:p>
          <a:p>
            <a:pPr indent="0" lvl="0" marL="457200" rtl="0" algn="l">
              <a:spcBef>
                <a:spcPts val="0"/>
              </a:spcBef>
              <a:spcAft>
                <a:spcPts val="0"/>
              </a:spcAft>
              <a:buNone/>
            </a:pPr>
            <a:r>
              <a:rPr lang="en" sz="1200">
                <a:solidFill>
                  <a:srgbClr val="000000"/>
                </a:solidFill>
                <a:latin typeface="Times New Roman"/>
                <a:ea typeface="Times New Roman"/>
                <a:cs typeface="Times New Roman"/>
                <a:sym typeface="Times New Roman"/>
              </a:rPr>
              <a:t>  name VARCHAR(100),</a:t>
            </a:r>
            <a:endParaRPr sz="1200">
              <a:solidFill>
                <a:srgbClr val="000000"/>
              </a:solidFill>
              <a:latin typeface="Times New Roman"/>
              <a:ea typeface="Times New Roman"/>
              <a:cs typeface="Times New Roman"/>
              <a:sym typeface="Times New Roman"/>
            </a:endParaRPr>
          </a:p>
          <a:p>
            <a:pPr indent="0" lvl="0" marL="457200" rtl="0" algn="l">
              <a:spcBef>
                <a:spcPts val="0"/>
              </a:spcBef>
              <a:spcAft>
                <a:spcPts val="0"/>
              </a:spcAft>
              <a:buNone/>
            </a:pPr>
            <a:r>
              <a:rPr lang="en" sz="1200">
                <a:solidFill>
                  <a:srgbClr val="000000"/>
                </a:solidFill>
                <a:latin typeface="Times New Roman"/>
                <a:ea typeface="Times New Roman"/>
                <a:cs typeface="Times New Roman"/>
                <a:sym typeface="Times New Roman"/>
              </a:rPr>
              <a:t>  details JSON</a:t>
            </a:r>
            <a:endParaRPr sz="1200">
              <a:solidFill>
                <a:srgbClr val="000000"/>
              </a:solidFill>
              <a:latin typeface="Times New Roman"/>
              <a:ea typeface="Times New Roman"/>
              <a:cs typeface="Times New Roman"/>
              <a:sym typeface="Times New Roman"/>
            </a:endParaRPr>
          </a:p>
          <a:p>
            <a:pPr indent="0" lvl="0" marL="457200" rtl="0" algn="l">
              <a:spcBef>
                <a:spcPts val="0"/>
              </a:spcBef>
              <a:spcAft>
                <a:spcPts val="0"/>
              </a:spcAft>
              <a:buNone/>
            </a:pPr>
            <a:r>
              <a:rPr lang="en" sz="1200">
                <a:solidFill>
                  <a:srgbClr val="000000"/>
                </a:solidFill>
                <a:latin typeface="Times New Roman"/>
                <a:ea typeface="Times New Roman"/>
                <a:cs typeface="Times New Roman"/>
                <a:sym typeface="Times New Roman"/>
              </a:rPr>
              <a:t>);</a:t>
            </a:r>
            <a:endParaRPr sz="1200">
              <a:solidFill>
                <a:srgbClr val="000000"/>
              </a:solidFill>
              <a:latin typeface="Times New Roman"/>
              <a:ea typeface="Times New Roman"/>
              <a:cs typeface="Times New Roman"/>
              <a:sym typeface="Times New Roman"/>
            </a:endParaRPr>
          </a:p>
          <a:p>
            <a:pPr indent="0" lvl="0" marL="457200" rtl="0" algn="l">
              <a:spcBef>
                <a:spcPts val="0"/>
              </a:spcBef>
              <a:spcAft>
                <a:spcPts val="0"/>
              </a:spcAft>
              <a:buNone/>
            </a:pPr>
            <a:r>
              <a:t/>
            </a:r>
            <a:endParaRPr sz="1200">
              <a:solidFill>
                <a:srgbClr val="000000"/>
              </a:solidFill>
              <a:latin typeface="Times New Roman"/>
              <a:ea typeface="Times New Roman"/>
              <a:cs typeface="Times New Roman"/>
              <a:sym typeface="Times New Roman"/>
            </a:endParaRPr>
          </a:p>
          <a:p>
            <a:pPr indent="0" lvl="0" marL="457200" rtl="0" algn="l">
              <a:spcBef>
                <a:spcPts val="0"/>
              </a:spcBef>
              <a:spcAft>
                <a:spcPts val="0"/>
              </a:spcAft>
              <a:buNone/>
            </a:pPr>
            <a:r>
              <a:rPr lang="en" sz="1200">
                <a:solidFill>
                  <a:srgbClr val="000000"/>
                </a:solidFill>
                <a:latin typeface="Times New Roman"/>
                <a:ea typeface="Times New Roman"/>
                <a:cs typeface="Times New Roman"/>
                <a:sym typeface="Times New Roman"/>
              </a:rPr>
              <a:t>INSERT INTO products VALUES</a:t>
            </a:r>
            <a:endParaRPr sz="1200">
              <a:solidFill>
                <a:srgbClr val="000000"/>
              </a:solidFill>
              <a:latin typeface="Times New Roman"/>
              <a:ea typeface="Times New Roman"/>
              <a:cs typeface="Times New Roman"/>
              <a:sym typeface="Times New Roman"/>
            </a:endParaRPr>
          </a:p>
          <a:p>
            <a:pPr indent="0" lvl="0" marL="457200" rtl="0" algn="l">
              <a:spcBef>
                <a:spcPts val="0"/>
              </a:spcBef>
              <a:spcAft>
                <a:spcPts val="0"/>
              </a:spcAft>
              <a:buNone/>
            </a:pPr>
            <a:r>
              <a:rPr lang="en" sz="1200">
                <a:solidFill>
                  <a:srgbClr val="000000"/>
                </a:solidFill>
                <a:latin typeface="Times New Roman"/>
                <a:ea typeface="Times New Roman"/>
                <a:cs typeface="Times New Roman"/>
                <a:sym typeface="Times New Roman"/>
              </a:rPr>
              <a:t>(1, 'Laptop', '{"brand": "HP", "RAM": "16GB", "SSD": "512GB"}');</a:t>
            </a:r>
            <a:endParaRPr sz="1200">
              <a:solidFill>
                <a:srgbClr val="000000"/>
              </a:solidFill>
              <a:latin typeface="Times New Roman"/>
              <a:ea typeface="Times New Roman"/>
              <a:cs typeface="Times New Roman"/>
              <a:sym typeface="Times New Roman"/>
            </a:endParaRPr>
          </a:p>
          <a:p>
            <a:pPr indent="0" lvl="0" marL="457200" rtl="0" algn="l">
              <a:spcBef>
                <a:spcPts val="0"/>
              </a:spcBef>
              <a:spcAft>
                <a:spcPts val="0"/>
              </a:spcAft>
              <a:buNone/>
            </a:pPr>
            <a:r>
              <a:t/>
            </a:r>
            <a:endParaRPr sz="1200">
              <a:solidFill>
                <a:srgbClr val="000000"/>
              </a:solidFill>
              <a:latin typeface="Times New Roman"/>
              <a:ea typeface="Times New Roman"/>
              <a:cs typeface="Times New Roman"/>
              <a:sym typeface="Times New Roman"/>
            </a:endParaRPr>
          </a:p>
          <a:p>
            <a:pPr indent="0" lvl="0" marL="457200" rtl="0" algn="l">
              <a:spcBef>
                <a:spcPts val="0"/>
              </a:spcBef>
              <a:spcAft>
                <a:spcPts val="0"/>
              </a:spcAft>
              <a:buNone/>
            </a:pPr>
            <a:r>
              <a:rPr lang="en" sz="1200">
                <a:solidFill>
                  <a:srgbClr val="000000"/>
                </a:solidFill>
                <a:latin typeface="Times New Roman"/>
                <a:ea typeface="Times New Roman"/>
                <a:cs typeface="Times New Roman"/>
                <a:sym typeface="Times New Roman"/>
              </a:rPr>
              <a:t>SELECT</a:t>
            </a:r>
            <a:endParaRPr sz="1200">
              <a:solidFill>
                <a:srgbClr val="000000"/>
              </a:solidFill>
              <a:latin typeface="Times New Roman"/>
              <a:ea typeface="Times New Roman"/>
              <a:cs typeface="Times New Roman"/>
              <a:sym typeface="Times New Roman"/>
            </a:endParaRPr>
          </a:p>
          <a:p>
            <a:pPr indent="0" lvl="0" marL="457200" rtl="0" algn="l">
              <a:spcBef>
                <a:spcPts val="0"/>
              </a:spcBef>
              <a:spcAft>
                <a:spcPts val="0"/>
              </a:spcAft>
              <a:buNone/>
            </a:pPr>
            <a:r>
              <a:rPr lang="en" sz="1200">
                <a:solidFill>
                  <a:srgbClr val="000000"/>
                </a:solidFill>
                <a:latin typeface="Times New Roman"/>
                <a:ea typeface="Times New Roman"/>
                <a:cs typeface="Times New Roman"/>
                <a:sym typeface="Times New Roman"/>
              </a:rPr>
              <a:t>  name,</a:t>
            </a:r>
            <a:endParaRPr sz="1200">
              <a:solidFill>
                <a:srgbClr val="000000"/>
              </a:solidFill>
              <a:latin typeface="Times New Roman"/>
              <a:ea typeface="Times New Roman"/>
              <a:cs typeface="Times New Roman"/>
              <a:sym typeface="Times New Roman"/>
            </a:endParaRPr>
          </a:p>
          <a:p>
            <a:pPr indent="0" lvl="0" marL="457200" rtl="0" algn="l">
              <a:spcBef>
                <a:spcPts val="0"/>
              </a:spcBef>
              <a:spcAft>
                <a:spcPts val="0"/>
              </a:spcAft>
              <a:buNone/>
            </a:pPr>
            <a:r>
              <a:rPr lang="en" sz="1200">
                <a:solidFill>
                  <a:srgbClr val="000000"/>
                </a:solidFill>
                <a:latin typeface="Times New Roman"/>
                <a:ea typeface="Times New Roman"/>
                <a:cs typeface="Times New Roman"/>
                <a:sym typeface="Times New Roman"/>
              </a:rPr>
              <a:t>  details-&gt;&gt;'brand' AS brand_name</a:t>
            </a:r>
            <a:endParaRPr sz="1200">
              <a:solidFill>
                <a:srgbClr val="000000"/>
              </a:solidFill>
              <a:latin typeface="Times New Roman"/>
              <a:ea typeface="Times New Roman"/>
              <a:cs typeface="Times New Roman"/>
              <a:sym typeface="Times New Roman"/>
            </a:endParaRPr>
          </a:p>
          <a:p>
            <a:pPr indent="0" lvl="0" marL="457200" rtl="0" algn="l">
              <a:spcBef>
                <a:spcPts val="0"/>
              </a:spcBef>
              <a:spcAft>
                <a:spcPts val="0"/>
              </a:spcAft>
              <a:buNone/>
            </a:pPr>
            <a:r>
              <a:rPr lang="en" sz="1200">
                <a:solidFill>
                  <a:srgbClr val="000000"/>
                </a:solidFill>
                <a:latin typeface="Times New Roman"/>
                <a:ea typeface="Times New Roman"/>
                <a:cs typeface="Times New Roman"/>
                <a:sym typeface="Times New Roman"/>
              </a:rPr>
              <a:t>FROM products;</a:t>
            </a:r>
            <a:endParaRPr sz="1200">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45"/>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100">
                <a:solidFill>
                  <a:srgbClr val="000000"/>
                </a:solidFill>
                <a:latin typeface="Arial"/>
                <a:ea typeface="Arial"/>
                <a:cs typeface="Arial"/>
                <a:sym typeface="Arial"/>
              </a:rPr>
              <a:t>Advantages:</a:t>
            </a:r>
            <a:endParaRPr b="1"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Store both structured and semi-structured data</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Query inside JSON objects using SQL functions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Easier migration between SQL and NoSQL models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