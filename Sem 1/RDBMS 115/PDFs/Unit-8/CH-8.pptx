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2.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Lst>
  <p:sldSz cy="5143500" cx="9144000"/>
  <p:notesSz cx="6858000" cy="9144000"/>
  <p:embeddedFontLst>
    <p:embeddedFont>
      <p:font typeface="Nunito"/>
      <p:regular r:id="rId107"/>
      <p:bold r:id="rId108"/>
      <p:italic r:id="rId109"/>
      <p:boldItalic r:id="rId110"/>
    </p:embeddedFont>
    <p:embeddedFont>
      <p:font typeface="PT Sans Narrow"/>
      <p:regular r:id="rId111"/>
      <p:bold r:id="rId112"/>
    </p:embeddedFont>
    <p:embeddedFont>
      <p:font typeface="Roboto Mono"/>
      <p:regular r:id="rId113"/>
      <p:bold r:id="rId114"/>
      <p:italic r:id="rId115"/>
      <p:boldItalic r:id="rId116"/>
    </p:embeddedFont>
    <p:embeddedFont>
      <p:font typeface="Open Sans"/>
      <p:regular r:id="rId117"/>
      <p:bold r:id="rId118"/>
      <p:italic r:id="rId119"/>
      <p:boldItalic r:id="rId1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021A1ED-3B1C-4B97-93D2-70483F01EADD}">
  <a:tblStyle styleId="{4021A1ED-3B1C-4B97-93D2-70483F01EADD}"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07" Type="http://schemas.openxmlformats.org/officeDocument/2006/relationships/font" Target="fonts/Nunito-regular.fntdata"/><Relationship Id="rId106" Type="http://schemas.openxmlformats.org/officeDocument/2006/relationships/slide" Target="slides/slide100.xml"/><Relationship Id="rId105" Type="http://schemas.openxmlformats.org/officeDocument/2006/relationships/slide" Target="slides/slide99.xml"/><Relationship Id="rId104" Type="http://schemas.openxmlformats.org/officeDocument/2006/relationships/slide" Target="slides/slide98.xml"/><Relationship Id="rId109" Type="http://schemas.openxmlformats.org/officeDocument/2006/relationships/font" Target="fonts/Nunito-italic.fntdata"/><Relationship Id="rId108" Type="http://schemas.openxmlformats.org/officeDocument/2006/relationships/font" Target="fonts/Nunito-bold.fntdata"/><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103" Type="http://schemas.openxmlformats.org/officeDocument/2006/relationships/slide" Target="slides/slide97.xml"/><Relationship Id="rId102" Type="http://schemas.openxmlformats.org/officeDocument/2006/relationships/slide" Target="slides/slide96.xml"/><Relationship Id="rId101" Type="http://schemas.openxmlformats.org/officeDocument/2006/relationships/slide" Target="slides/slide95.xml"/><Relationship Id="rId100" Type="http://schemas.openxmlformats.org/officeDocument/2006/relationships/slide" Target="slides/slide94.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120" Type="http://schemas.openxmlformats.org/officeDocument/2006/relationships/font" Target="fonts/OpenSans-boldItalic.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11" Type="http://schemas.openxmlformats.org/officeDocument/2006/relationships/slide" Target="slides/slide5.xml"/><Relationship Id="rId99" Type="http://schemas.openxmlformats.org/officeDocument/2006/relationships/slide" Target="slides/slide93.xml"/><Relationship Id="rId10" Type="http://schemas.openxmlformats.org/officeDocument/2006/relationships/slide" Target="slides/slide4.xml"/><Relationship Id="rId98" Type="http://schemas.openxmlformats.org/officeDocument/2006/relationships/slide" Target="slides/slide92.xml"/><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18" Type="http://schemas.openxmlformats.org/officeDocument/2006/relationships/font" Target="fonts/OpenSans-bold.fntdata"/><Relationship Id="rId117" Type="http://schemas.openxmlformats.org/officeDocument/2006/relationships/font" Target="fonts/OpenSans-regular.fntdata"/><Relationship Id="rId116" Type="http://schemas.openxmlformats.org/officeDocument/2006/relationships/font" Target="fonts/RobotoMono-boldItalic.fntdata"/><Relationship Id="rId115" Type="http://schemas.openxmlformats.org/officeDocument/2006/relationships/font" Target="fonts/RobotoMono-italic.fntdata"/><Relationship Id="rId119" Type="http://schemas.openxmlformats.org/officeDocument/2006/relationships/font" Target="fonts/OpenSans-italic.fntdata"/><Relationship Id="rId15" Type="http://schemas.openxmlformats.org/officeDocument/2006/relationships/slide" Target="slides/slide9.xml"/><Relationship Id="rId110" Type="http://schemas.openxmlformats.org/officeDocument/2006/relationships/font" Target="fonts/Nunito-boldItalic.fntdata"/><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14" Type="http://schemas.openxmlformats.org/officeDocument/2006/relationships/font" Target="fonts/RobotoMono-bold.fntdata"/><Relationship Id="rId18" Type="http://schemas.openxmlformats.org/officeDocument/2006/relationships/slide" Target="slides/slide12.xml"/><Relationship Id="rId113" Type="http://schemas.openxmlformats.org/officeDocument/2006/relationships/font" Target="fonts/RobotoMono-regular.fntdata"/><Relationship Id="rId112" Type="http://schemas.openxmlformats.org/officeDocument/2006/relationships/font" Target="fonts/PTSansNarrow-bold.fntdata"/><Relationship Id="rId111" Type="http://schemas.openxmlformats.org/officeDocument/2006/relationships/font" Target="fonts/PTSansNarrow-regular.fntdata"/><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slide" Target="slides/slide62.xml"/><Relationship Id="rId67" Type="http://schemas.openxmlformats.org/officeDocument/2006/relationships/slide" Target="slides/slide61.xml"/><Relationship Id="rId60" Type="http://schemas.openxmlformats.org/officeDocument/2006/relationships/slide" Target="slides/slide54.xml"/><Relationship Id="rId69" Type="http://schemas.openxmlformats.org/officeDocument/2006/relationships/slide" Target="slides/slide6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58"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a3029b0afe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a3029b0afe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a3029b0afe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a3029b0afe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a3029b0afe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a3029b0afe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a35b0b3b76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a35b0b3b76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a35b0b3b76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a35b0b3b76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a35b0b3b76_1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a35b0b3b76_1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a35b0b3b76_1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a35b0b3b76_1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a35b0b3b76_1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a35b0b3b76_1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a35b0b3b76_1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a35b0b3b76_1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a35b0b3b76_1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a35b0b3b76_1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a35b0b3b76_1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a35b0b3b76_1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a35b0b3b76_1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a35b0b3b76_1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a35b0b3b76_1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a35b0b3b76_1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a35b0b3b76_1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a35b0b3b76_1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a35b0b3b76_1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a35b0b3b76_1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a35b0b3b76_1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a35b0b3b76_1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a35b0b3b76_1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a35b0b3b76_1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a35b0b3b76_1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a35b0b3b76_1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a35b0b3b76_1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a35b0b3b76_1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a35b0b3b76_1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a35b0b3b76_1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a35b0b3b76_1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a35b0b3b76_1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a35b0b3b76_1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a35b0b3b76_1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a35b0b3b76_1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a35b0b3b76_1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a35b0b3b76_1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a35b0b3b76_1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a35b0b3b76_1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a35b0b3b76_1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a3029b0afe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a3029b0afe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a35b0b3b76_1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a35b0b3b76_1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a35b0b3b76_1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a35b0b3b76_1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a35b0b3b76_1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a35b0b3b76_1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a35b0b3b76_1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3a35b0b3b76_1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a35b0b3b76_1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a35b0b3b76_1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a35b0b3b76_1_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3a35b0b3b76_1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a35b0b3b76_1_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3a35b0b3b76_1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a35b0b3b76_1_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3a35b0b3b76_1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a35b0b3b76_1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3a35b0b3b76_1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a35b0b3b76_1_2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3a35b0b3b76_1_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a35b0b3b76_1_2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3a35b0b3b76_1_2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a35b0b3b76_1_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3a35b0b3b76_1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8656fc09a3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38656fc09a3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8656fc09a3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38656fc09a3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8656fc09a3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38656fc09a3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a4743067d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3a4743067d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a4743067d6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3a4743067d6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a4743067d6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3a4743067d6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a4743067d6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3a4743067d6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8656fc09a3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38656fc09a3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a4743067d6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3a4743067d6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8656fc09a3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38656fc09a3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8656fc09a3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38656fc09a3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a4743067d6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3a4743067d6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3a4743067d6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3a4743067d6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3a4743067d6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3a4743067d6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a4743067d6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3a4743067d6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3a4743067d6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3a4743067d6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3a4743067d6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3a4743067d6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3a4743067d6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3a4743067d6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3a4743067d6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3a4743067d6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3a4743067d6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3a4743067d6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3a4743067d6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3a4743067d6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3a4743067d6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3a4743067d6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3a4743067d6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3a4743067d6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3a4743067d6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8" name="Google Shape;398;g3a4743067d6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3a4743067d6_0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3a4743067d6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3a4743067d6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3a4743067d6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3a4743067d6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3a4743067d6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3a4743067d6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3a4743067d6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3a48294639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g3a48294639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3a48294639b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0" name="Google Shape;430;g3a48294639b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3a48294639b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3a48294639b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3a48294639b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0" name="Google Shape;440;g3a48294639b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3a48294639b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6" name="Google Shape;446;g3a48294639b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399b6a01561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2" name="Google Shape;452;g399b6a01561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399b6a01561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7" name="Google Shape;457;g399b6a01561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399b6a01561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3" name="Google Shape;463;g399b6a01561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3a56073ecf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8" name="Google Shape;468;g3a56073ecf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3a56073ecf4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4" name="Google Shape;474;g3a56073ecf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3a56073ecf4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0" name="Google Shape;480;g3a56073ecf4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3a56073ecf4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5" name="Google Shape;485;g3a56073ecf4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3a56073ecf4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0" name="Google Shape;490;g3a56073ecf4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3a56073ecf4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5" name="Google Shape;495;g3a56073ecf4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3a56073ecf4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1" name="Google Shape;501;g3a56073ecf4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3a56073ecf4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7" name="Google Shape;507;g3a56073ecf4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3a56073ecf4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2" name="Google Shape;512;g3a56073ecf4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3a56073ecf4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8" name="Google Shape;518;g3a56073ecf4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g3a56073ecf4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3" name="Google Shape;523;g3a56073ecf4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g3a56073ecf4_1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0" name="Google Shape;530;g3a56073ecf4_1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g3a7ba4dcbed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7" name="Google Shape;537;g3a7ba4dcbed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g3a56073ecf4_1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4" name="Google Shape;544;g3a56073ecf4_1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3a76bad053b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0" name="Google Shape;550;g3a76bad053b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g3a76bad053b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7" name="Google Shape;557;g3a76bad053b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g3a76bad053b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3" name="Google Shape;563;g3a76bad053b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g3a76bad053b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9" name="Google Shape;569;g3a76bad053b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g3a76bad053b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5" name="Google Shape;575;g3a76bad053b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g3a76bad053b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0" name="Google Shape;580;g3a76bad053b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g3a76bad053b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6" name="Google Shape;586;g3a76bad053b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3a7ba4dcbe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2" name="Google Shape;592;g3a7ba4dcbe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g3a7ba4dcbed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8" name="Google Shape;598;g3a7ba4dcbe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3a7ba4dcbed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4" name="Google Shape;604;g3a7ba4dcbed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3a7ba4dcbed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0" name="Google Shape;610;g3a7ba4dcbed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cxnSp>
        <p:nvCxnSpPr>
          <p:cNvPr id="10" name="Google Shape;10;p2"/>
          <p:cNvCxnSpPr/>
          <p:nvPr/>
        </p:nvCxnSpPr>
        <p:spPr>
          <a:xfrm>
            <a:off x="7007735" y="3176888"/>
            <a:ext cx="562200" cy="0"/>
          </a:xfrm>
          <a:prstGeom prst="straightConnector1">
            <a:avLst/>
          </a:prstGeom>
          <a:noFill/>
          <a:ln cap="flat" cmpd="sng" w="76200">
            <a:solidFill>
              <a:schemeClr val="lt2"/>
            </a:solidFill>
            <a:prstDash val="solid"/>
            <a:round/>
            <a:headEnd len="sm" w="sm" type="none"/>
            <a:tailEnd len="sm" w="sm" type="none"/>
          </a:ln>
        </p:spPr>
      </p:cxnSp>
      <p:cxnSp>
        <p:nvCxnSpPr>
          <p:cNvPr id="11" name="Google Shape;11;p2"/>
          <p:cNvCxnSpPr/>
          <p:nvPr/>
        </p:nvCxnSpPr>
        <p:spPr>
          <a:xfrm>
            <a:off x="1575035" y="3158252"/>
            <a:ext cx="562200" cy="0"/>
          </a:xfrm>
          <a:prstGeom prst="straightConnector1">
            <a:avLst/>
          </a:prstGeom>
          <a:noFill/>
          <a:ln cap="flat" cmpd="sng" w="76200">
            <a:solidFill>
              <a:schemeClr val="lt2"/>
            </a:solidFill>
            <a:prstDash val="solid"/>
            <a:round/>
            <a:headEnd len="sm" w="sm" type="none"/>
            <a:tailEnd len="sm" w="sm" type="none"/>
          </a:ln>
        </p:spPr>
      </p:cxnSp>
      <p:grpSp>
        <p:nvGrpSpPr>
          <p:cNvPr id="12" name="Google Shape;12;p2"/>
          <p:cNvGrpSpPr/>
          <p:nvPr/>
        </p:nvGrpSpPr>
        <p:grpSpPr>
          <a:xfrm>
            <a:off x="1004144" y="1022025"/>
            <a:ext cx="7136668" cy="152400"/>
            <a:chOff x="1346429" y="1011300"/>
            <a:chExt cx="6452100" cy="152400"/>
          </a:xfrm>
        </p:grpSpPr>
        <p:cxnSp>
          <p:nvCxnSpPr>
            <p:cNvPr id="13" name="Google Shape;13;p2"/>
            <p:cNvCxnSpPr/>
            <p:nvPr/>
          </p:nvCxnSpPr>
          <p:spPr>
            <a:xfrm rot="10800000">
              <a:off x="1346429" y="1011300"/>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4" name="Google Shape;14;p2"/>
            <p:cNvCxnSpPr/>
            <p:nvPr/>
          </p:nvCxnSpPr>
          <p:spPr>
            <a:xfrm rot="10800000">
              <a:off x="1346429" y="1163700"/>
              <a:ext cx="6452100" cy="0"/>
            </a:xfrm>
            <a:prstGeom prst="straightConnector1">
              <a:avLst/>
            </a:prstGeom>
            <a:noFill/>
            <a:ln cap="flat" cmpd="sng" w="9525">
              <a:solidFill>
                <a:schemeClr val="accent3"/>
              </a:solidFill>
              <a:prstDash val="solid"/>
              <a:round/>
              <a:headEnd len="sm" w="sm" type="none"/>
              <a:tailEnd len="sm" w="sm" type="none"/>
            </a:ln>
          </p:spPr>
        </p:cxnSp>
      </p:grpSp>
      <p:grpSp>
        <p:nvGrpSpPr>
          <p:cNvPr id="15" name="Google Shape;15;p2"/>
          <p:cNvGrpSpPr/>
          <p:nvPr/>
        </p:nvGrpSpPr>
        <p:grpSpPr>
          <a:xfrm>
            <a:off x="1004151" y="3969100"/>
            <a:ext cx="7136668" cy="152400"/>
            <a:chOff x="1346435" y="3969088"/>
            <a:chExt cx="6452100" cy="152400"/>
          </a:xfrm>
        </p:grpSpPr>
        <p:cxnSp>
          <p:nvCxnSpPr>
            <p:cNvPr id="16" name="Google Shape;16;p2"/>
            <p:cNvCxnSpPr/>
            <p:nvPr/>
          </p:nvCxnSpPr>
          <p:spPr>
            <a:xfrm>
              <a:off x="1346435" y="4121488"/>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7" name="Google Shape;17;p2"/>
            <p:cNvCxnSpPr/>
            <p:nvPr/>
          </p:nvCxnSpPr>
          <p:spPr>
            <a:xfrm>
              <a:off x="1346435" y="3969088"/>
              <a:ext cx="6452100" cy="0"/>
            </a:xfrm>
            <a:prstGeom prst="straightConnector1">
              <a:avLst/>
            </a:prstGeom>
            <a:noFill/>
            <a:ln cap="flat" cmpd="sng" w="9525">
              <a:solidFill>
                <a:schemeClr val="accent3"/>
              </a:solidFill>
              <a:prstDash val="solid"/>
              <a:round/>
              <a:headEnd len="sm" w="sm" type="none"/>
              <a:tailEnd len="sm" w="sm" type="none"/>
            </a:ln>
          </p:spPr>
        </p:cxnSp>
      </p:grpSp>
      <p:sp>
        <p:nvSpPr>
          <p:cNvPr id="18" name="Google Shape;18;p2"/>
          <p:cNvSpPr txBox="1"/>
          <p:nvPr>
            <p:ph type="ctrTitle"/>
          </p:nvPr>
        </p:nvSpPr>
        <p:spPr>
          <a:xfrm>
            <a:off x="1004150" y="1751764"/>
            <a:ext cx="7136700" cy="10224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19" name="Google Shape;19;p2"/>
          <p:cNvSpPr txBox="1"/>
          <p:nvPr>
            <p:ph idx="1" type="subTitle"/>
          </p:nvPr>
        </p:nvSpPr>
        <p:spPr>
          <a:xfrm>
            <a:off x="2137225" y="2850039"/>
            <a:ext cx="48705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0" name="Google Shape;20;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3"/>
          <p:cNvSpPr/>
          <p:nvPr/>
        </p:nvSpPr>
        <p:spPr>
          <a:xfrm>
            <a:off x="-50" y="2571900"/>
            <a:ext cx="9144000" cy="2571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txBox="1"/>
          <p:nvPr>
            <p:ph type="title"/>
          </p:nvPr>
        </p:nvSpPr>
        <p:spPr>
          <a:xfrm>
            <a:off x="311700" y="814800"/>
            <a:ext cx="8571300" cy="942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a:lvl1pPr>
            <a:lvl2pPr lvl="1" algn="ctr">
              <a:spcBef>
                <a:spcPts val="0"/>
              </a:spcBef>
              <a:spcAft>
                <a:spcPts val="0"/>
              </a:spcAft>
              <a:buSzPts val="3600"/>
              <a:buNone/>
              <a:defRPr/>
            </a:lvl2pPr>
            <a:lvl3pPr lvl="2" algn="ctr">
              <a:spcBef>
                <a:spcPts val="0"/>
              </a:spcBef>
              <a:spcAft>
                <a:spcPts val="0"/>
              </a:spcAft>
              <a:buSzPts val="3600"/>
              <a:buNone/>
              <a:defRPr/>
            </a:lvl3pPr>
            <a:lvl4pPr lvl="3" algn="ctr">
              <a:spcBef>
                <a:spcPts val="0"/>
              </a:spcBef>
              <a:spcAft>
                <a:spcPts val="0"/>
              </a:spcAft>
              <a:buSzPts val="3600"/>
              <a:buNone/>
              <a:defRPr/>
            </a:lvl4pPr>
            <a:lvl5pPr lvl="4" algn="ctr">
              <a:spcBef>
                <a:spcPts val="0"/>
              </a:spcBef>
              <a:spcAft>
                <a:spcPts val="0"/>
              </a:spcAft>
              <a:buSzPts val="3600"/>
              <a:buNone/>
              <a:defRPr/>
            </a:lvl5pPr>
            <a:lvl6pPr lvl="5" algn="ctr">
              <a:spcBef>
                <a:spcPts val="0"/>
              </a:spcBef>
              <a:spcAft>
                <a:spcPts val="0"/>
              </a:spcAft>
              <a:buSzPts val="3600"/>
              <a:buNone/>
              <a:defRPr/>
            </a:lvl6pPr>
            <a:lvl7pPr lvl="6" algn="ctr">
              <a:spcBef>
                <a:spcPts val="0"/>
              </a:spcBef>
              <a:spcAft>
                <a:spcPts val="0"/>
              </a:spcAft>
              <a:buSzPts val="3600"/>
              <a:buNone/>
              <a:defRPr/>
            </a:lvl7pPr>
            <a:lvl8pPr lvl="7" algn="ctr">
              <a:spcBef>
                <a:spcPts val="0"/>
              </a:spcBef>
              <a:spcAft>
                <a:spcPts val="0"/>
              </a:spcAft>
              <a:buSzPts val="3600"/>
              <a:buNone/>
              <a:defRPr/>
            </a:lvl8pPr>
            <a:lvl9pPr lvl="8" algn="ctr">
              <a:spcBef>
                <a:spcPts val="0"/>
              </a:spcBef>
              <a:spcAft>
                <a:spcPts val="0"/>
              </a:spcAft>
              <a:buSzPts val="3600"/>
              <a:buNone/>
              <a:defRPr/>
            </a:lvl9pPr>
          </a:lstStyle>
          <a:p/>
        </p:txBody>
      </p:sp>
      <p:sp>
        <p:nvSpPr>
          <p:cNvPr id="24" name="Google Shape;24;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5" name="Shape 25"/>
        <p:cNvGrpSpPr/>
        <p:nvPr/>
      </p:nvGrpSpPr>
      <p:grpSpPr>
        <a:xfrm>
          <a:off x="0" y="0"/>
          <a:ext cx="0" cy="0"/>
          <a:chOff x="0" y="0"/>
          <a:chExt cx="0" cy="0"/>
        </a:xfrm>
      </p:grpSpPr>
      <p:sp>
        <p:nvSpPr>
          <p:cNvPr id="26" name="Google Shape;26;p4"/>
          <p:cNvSpPr/>
          <p:nvPr/>
        </p:nvSpPr>
        <p:spPr>
          <a:xfrm>
            <a:off x="-75" y="5045700"/>
            <a:ext cx="9144000" cy="978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28" name="Google Shape;28;p4"/>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9" name="Google Shape;2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5"/>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32" name="Google Shape;32;p5"/>
          <p:cNvSpPr txBox="1"/>
          <p:nvPr>
            <p:ph idx="1" type="body"/>
          </p:nvPr>
        </p:nvSpPr>
        <p:spPr>
          <a:xfrm>
            <a:off x="311700" y="1266175"/>
            <a:ext cx="3999900" cy="330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5"/>
          <p:cNvSpPr txBox="1"/>
          <p:nvPr>
            <p:ph idx="2" type="body"/>
          </p:nvPr>
        </p:nvSpPr>
        <p:spPr>
          <a:xfrm>
            <a:off x="4832400" y="1266175"/>
            <a:ext cx="3999900" cy="330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6"/>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37" name="Google Shape;3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8" name="Shape 38"/>
        <p:cNvGrpSpPr/>
        <p:nvPr/>
      </p:nvGrpSpPr>
      <p:grpSpPr>
        <a:xfrm>
          <a:off x="0" y="0"/>
          <a:ext cx="0" cy="0"/>
          <a:chOff x="0" y="0"/>
          <a:chExt cx="0" cy="0"/>
        </a:xfrm>
      </p:grpSpPr>
      <p:sp>
        <p:nvSpPr>
          <p:cNvPr id="39" name="Google Shape;3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 name="Google Shape;4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6"/>
        </a:solidFill>
      </p:bgPr>
    </p:bg>
    <p:spTree>
      <p:nvGrpSpPr>
        <p:cNvPr id="42" name="Shape 42"/>
        <p:cNvGrpSpPr/>
        <p:nvPr/>
      </p:nvGrpSpPr>
      <p:grpSpPr>
        <a:xfrm>
          <a:off x="0" y="0"/>
          <a:ext cx="0" cy="0"/>
          <a:chOff x="0" y="0"/>
          <a:chExt cx="0" cy="0"/>
        </a:xfrm>
      </p:grpSpPr>
      <p:sp>
        <p:nvSpPr>
          <p:cNvPr id="43" name="Google Shape;43;p8"/>
          <p:cNvSpPr txBox="1"/>
          <p:nvPr>
            <p:ph type="title"/>
          </p:nvPr>
        </p:nvSpPr>
        <p:spPr>
          <a:xfrm>
            <a:off x="490250" y="526350"/>
            <a:ext cx="56136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dk2"/>
              </a:buClr>
              <a:buSzPts val="5400"/>
              <a:buNone/>
              <a:defRPr b="0" sz="5400">
                <a:solidFill>
                  <a:schemeClr val="dk2"/>
                </a:solidFill>
              </a:defRPr>
            </a:lvl1pPr>
            <a:lvl2pPr lvl="1">
              <a:spcBef>
                <a:spcPts val="0"/>
              </a:spcBef>
              <a:spcAft>
                <a:spcPts val="0"/>
              </a:spcAft>
              <a:buClr>
                <a:schemeClr val="dk2"/>
              </a:buClr>
              <a:buSzPts val="5400"/>
              <a:buNone/>
              <a:defRPr b="0" sz="5400">
                <a:solidFill>
                  <a:schemeClr val="dk2"/>
                </a:solidFill>
              </a:defRPr>
            </a:lvl2pPr>
            <a:lvl3pPr lvl="2">
              <a:spcBef>
                <a:spcPts val="0"/>
              </a:spcBef>
              <a:spcAft>
                <a:spcPts val="0"/>
              </a:spcAft>
              <a:buClr>
                <a:schemeClr val="dk2"/>
              </a:buClr>
              <a:buSzPts val="5400"/>
              <a:buNone/>
              <a:defRPr b="0" sz="5400">
                <a:solidFill>
                  <a:schemeClr val="dk2"/>
                </a:solidFill>
              </a:defRPr>
            </a:lvl3pPr>
            <a:lvl4pPr lvl="3">
              <a:spcBef>
                <a:spcPts val="0"/>
              </a:spcBef>
              <a:spcAft>
                <a:spcPts val="0"/>
              </a:spcAft>
              <a:buClr>
                <a:schemeClr val="dk2"/>
              </a:buClr>
              <a:buSzPts val="5400"/>
              <a:buNone/>
              <a:defRPr b="0" sz="5400">
                <a:solidFill>
                  <a:schemeClr val="dk2"/>
                </a:solidFill>
              </a:defRPr>
            </a:lvl4pPr>
            <a:lvl5pPr lvl="4">
              <a:spcBef>
                <a:spcPts val="0"/>
              </a:spcBef>
              <a:spcAft>
                <a:spcPts val="0"/>
              </a:spcAft>
              <a:buClr>
                <a:schemeClr val="dk2"/>
              </a:buClr>
              <a:buSzPts val="5400"/>
              <a:buNone/>
              <a:defRPr b="0" sz="5400">
                <a:solidFill>
                  <a:schemeClr val="dk2"/>
                </a:solidFill>
              </a:defRPr>
            </a:lvl5pPr>
            <a:lvl6pPr lvl="5">
              <a:spcBef>
                <a:spcPts val="0"/>
              </a:spcBef>
              <a:spcAft>
                <a:spcPts val="0"/>
              </a:spcAft>
              <a:buClr>
                <a:schemeClr val="dk2"/>
              </a:buClr>
              <a:buSzPts val="5400"/>
              <a:buNone/>
              <a:defRPr b="0" sz="5400">
                <a:solidFill>
                  <a:schemeClr val="dk2"/>
                </a:solidFill>
              </a:defRPr>
            </a:lvl6pPr>
            <a:lvl7pPr lvl="6">
              <a:spcBef>
                <a:spcPts val="0"/>
              </a:spcBef>
              <a:spcAft>
                <a:spcPts val="0"/>
              </a:spcAft>
              <a:buClr>
                <a:schemeClr val="dk2"/>
              </a:buClr>
              <a:buSzPts val="5400"/>
              <a:buNone/>
              <a:defRPr b="0" sz="5400">
                <a:solidFill>
                  <a:schemeClr val="dk2"/>
                </a:solidFill>
              </a:defRPr>
            </a:lvl7pPr>
            <a:lvl8pPr lvl="7">
              <a:spcBef>
                <a:spcPts val="0"/>
              </a:spcBef>
              <a:spcAft>
                <a:spcPts val="0"/>
              </a:spcAft>
              <a:buClr>
                <a:schemeClr val="dk2"/>
              </a:buClr>
              <a:buSzPts val="5400"/>
              <a:buNone/>
              <a:defRPr b="0" sz="5400">
                <a:solidFill>
                  <a:schemeClr val="dk2"/>
                </a:solidFill>
              </a:defRPr>
            </a:lvl8pPr>
            <a:lvl9pPr lvl="8">
              <a:spcBef>
                <a:spcPts val="0"/>
              </a:spcBef>
              <a:spcAft>
                <a:spcPts val="0"/>
              </a:spcAft>
              <a:buClr>
                <a:schemeClr val="dk2"/>
              </a:buClr>
              <a:buSzPts val="5400"/>
              <a:buNone/>
              <a:defRPr b="0" sz="5400">
                <a:solidFill>
                  <a:schemeClr val="dk2"/>
                </a:solidFill>
              </a:defRPr>
            </a:lvl9pPr>
          </a:lstStyle>
          <a:p/>
        </p:txBody>
      </p:sp>
      <p:sp>
        <p:nvSpPr>
          <p:cNvPr id="44" name="Google Shape;4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a:off x="4572000" y="0"/>
            <a:ext cx="45720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7" name="Google Shape;47;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8" name="Google Shape;48;p9"/>
          <p:cNvSpPr txBox="1"/>
          <p:nvPr>
            <p:ph type="title"/>
          </p:nvPr>
        </p:nvSpPr>
        <p:spPr>
          <a:xfrm>
            <a:off x="265500" y="1039675"/>
            <a:ext cx="4045200" cy="16758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9" name="Google Shape;49;p9"/>
          <p:cNvSpPr txBox="1"/>
          <p:nvPr>
            <p:ph idx="1" type="subTitle"/>
          </p:nvPr>
        </p:nvSpPr>
        <p:spPr>
          <a:xfrm>
            <a:off x="265500" y="27268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ph idx="1" type="body"/>
          </p:nvPr>
        </p:nvSpPr>
        <p:spPr>
          <a:xfrm>
            <a:off x="311700" y="42307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p:txBody>
      </p:sp>
      <p:sp>
        <p:nvSpPr>
          <p:cNvPr id="54" name="Google Shape;5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5" name="Shape 55"/>
        <p:cNvGrpSpPr/>
        <p:nvPr/>
      </p:nvGrpSpPr>
      <p:grpSpPr>
        <a:xfrm>
          <a:off x="0" y="0"/>
          <a:ext cx="0" cy="0"/>
          <a:chOff x="0" y="0"/>
          <a:chExt cx="0" cy="0"/>
        </a:xfrm>
      </p:grpSpPr>
      <p:sp>
        <p:nvSpPr>
          <p:cNvPr id="56" name="Google Shape;56;p11"/>
          <p:cNvSpPr/>
          <p:nvPr/>
        </p:nvSpPr>
        <p:spPr>
          <a:xfrm>
            <a:off x="-75"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1"/>
          <p:cNvSpPr txBox="1"/>
          <p:nvPr>
            <p:ph hasCustomPrompt="1" type="title"/>
          </p:nvPr>
        </p:nvSpPr>
        <p:spPr>
          <a:xfrm>
            <a:off x="311700" y="1304850"/>
            <a:ext cx="8520600" cy="15384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accent3"/>
              </a:buClr>
              <a:buSzPts val="13000"/>
              <a:buNone/>
              <a:defRPr sz="13000">
                <a:solidFill>
                  <a:schemeClr val="accent3"/>
                </a:solidFill>
              </a:defRPr>
            </a:lvl1pPr>
            <a:lvl2pPr lvl="1" algn="ctr">
              <a:spcBef>
                <a:spcPts val="0"/>
              </a:spcBef>
              <a:spcAft>
                <a:spcPts val="0"/>
              </a:spcAft>
              <a:buClr>
                <a:schemeClr val="accent3"/>
              </a:buClr>
              <a:buSzPts val="13000"/>
              <a:buNone/>
              <a:defRPr sz="13000">
                <a:solidFill>
                  <a:schemeClr val="accent3"/>
                </a:solidFill>
              </a:defRPr>
            </a:lvl2pPr>
            <a:lvl3pPr lvl="2" algn="ctr">
              <a:spcBef>
                <a:spcPts val="0"/>
              </a:spcBef>
              <a:spcAft>
                <a:spcPts val="0"/>
              </a:spcAft>
              <a:buClr>
                <a:schemeClr val="accent3"/>
              </a:buClr>
              <a:buSzPts val="13000"/>
              <a:buNone/>
              <a:defRPr sz="13000">
                <a:solidFill>
                  <a:schemeClr val="accent3"/>
                </a:solidFill>
              </a:defRPr>
            </a:lvl3pPr>
            <a:lvl4pPr lvl="3" algn="ctr">
              <a:spcBef>
                <a:spcPts val="0"/>
              </a:spcBef>
              <a:spcAft>
                <a:spcPts val="0"/>
              </a:spcAft>
              <a:buClr>
                <a:schemeClr val="accent3"/>
              </a:buClr>
              <a:buSzPts val="13000"/>
              <a:buNone/>
              <a:defRPr sz="13000">
                <a:solidFill>
                  <a:schemeClr val="accent3"/>
                </a:solidFill>
              </a:defRPr>
            </a:lvl4pPr>
            <a:lvl5pPr lvl="4" algn="ctr">
              <a:spcBef>
                <a:spcPts val="0"/>
              </a:spcBef>
              <a:spcAft>
                <a:spcPts val="0"/>
              </a:spcAft>
              <a:buClr>
                <a:schemeClr val="accent3"/>
              </a:buClr>
              <a:buSzPts val="13000"/>
              <a:buNone/>
              <a:defRPr sz="13000">
                <a:solidFill>
                  <a:schemeClr val="accent3"/>
                </a:solidFill>
              </a:defRPr>
            </a:lvl5pPr>
            <a:lvl6pPr lvl="5" algn="ctr">
              <a:spcBef>
                <a:spcPts val="0"/>
              </a:spcBef>
              <a:spcAft>
                <a:spcPts val="0"/>
              </a:spcAft>
              <a:buClr>
                <a:schemeClr val="accent3"/>
              </a:buClr>
              <a:buSzPts val="13000"/>
              <a:buNone/>
              <a:defRPr sz="13000">
                <a:solidFill>
                  <a:schemeClr val="accent3"/>
                </a:solidFill>
              </a:defRPr>
            </a:lvl6pPr>
            <a:lvl7pPr lvl="6" algn="ctr">
              <a:spcBef>
                <a:spcPts val="0"/>
              </a:spcBef>
              <a:spcAft>
                <a:spcPts val="0"/>
              </a:spcAft>
              <a:buClr>
                <a:schemeClr val="accent3"/>
              </a:buClr>
              <a:buSzPts val="13000"/>
              <a:buNone/>
              <a:defRPr sz="13000">
                <a:solidFill>
                  <a:schemeClr val="accent3"/>
                </a:solidFill>
              </a:defRPr>
            </a:lvl7pPr>
            <a:lvl8pPr lvl="7" algn="ctr">
              <a:spcBef>
                <a:spcPts val="0"/>
              </a:spcBef>
              <a:spcAft>
                <a:spcPts val="0"/>
              </a:spcAft>
              <a:buClr>
                <a:schemeClr val="accent3"/>
              </a:buClr>
              <a:buSzPts val="13000"/>
              <a:buNone/>
              <a:defRPr sz="13000">
                <a:solidFill>
                  <a:schemeClr val="accent3"/>
                </a:solidFill>
              </a:defRPr>
            </a:lvl8pPr>
            <a:lvl9pPr lvl="8" algn="ctr">
              <a:spcBef>
                <a:spcPts val="0"/>
              </a:spcBef>
              <a:spcAft>
                <a:spcPts val="0"/>
              </a:spcAft>
              <a:buClr>
                <a:schemeClr val="accent3"/>
              </a:buClr>
              <a:buSzPts val="13000"/>
              <a:buNone/>
              <a:defRPr sz="13000">
                <a:solidFill>
                  <a:schemeClr val="accent3"/>
                </a:solidFill>
              </a:defRPr>
            </a:lvl9pPr>
          </a:lstStyle>
          <a:p>
            <a:r>
              <a:t>xx%</a:t>
            </a:r>
          </a:p>
        </p:txBody>
      </p:sp>
      <p:sp>
        <p:nvSpPr>
          <p:cNvPr id="58" name="Google Shape;58;p11"/>
          <p:cNvSpPr txBox="1"/>
          <p:nvPr>
            <p:ph idx="1" type="body"/>
          </p:nvPr>
        </p:nvSpPr>
        <p:spPr>
          <a:xfrm>
            <a:off x="311700" y="299565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9" name="Google Shape;59;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trop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1pPr>
            <a:lvl2pPr lvl="1">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2pPr>
            <a:lvl3pPr lvl="2">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3pPr>
            <a:lvl4pPr lvl="3">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4pPr>
            <a:lvl5pPr lvl="4">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5pPr>
            <a:lvl6pPr lvl="5">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6pPr>
            <a:lvl7pPr lvl="6">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7pPr>
            <a:lvl8pPr lvl="7">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8pPr>
            <a:lvl9pPr lvl="8">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9pPr>
          </a:lstStyle>
          <a:p/>
        </p:txBody>
      </p:sp>
      <p:sp>
        <p:nvSpPr>
          <p:cNvPr id="7" name="Google Shape;7;p1"/>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indent="-317500" lvl="1" marL="9144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indent="-317500" lvl="2" marL="13716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indent="-317500" lvl="3" marL="18288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indent="-317500" lvl="4" marL="22860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indent="-317500" lvl="5" marL="27432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indent="-317500" lvl="6" marL="32004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indent="-317500" lvl="7" marL="36576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indent="-317500" lvl="8" marL="41148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Open Sans"/>
                <a:ea typeface="Open Sans"/>
                <a:cs typeface="Open Sans"/>
                <a:sym typeface="Open Sans"/>
              </a:defRPr>
            </a:lvl1pPr>
            <a:lvl2pPr lvl="1" algn="r">
              <a:buNone/>
              <a:defRPr sz="1000">
                <a:solidFill>
                  <a:schemeClr val="dk2"/>
                </a:solidFill>
                <a:latin typeface="Open Sans"/>
                <a:ea typeface="Open Sans"/>
                <a:cs typeface="Open Sans"/>
                <a:sym typeface="Open Sans"/>
              </a:defRPr>
            </a:lvl2pPr>
            <a:lvl3pPr lvl="2" algn="r">
              <a:buNone/>
              <a:defRPr sz="1000">
                <a:solidFill>
                  <a:schemeClr val="dk2"/>
                </a:solidFill>
                <a:latin typeface="Open Sans"/>
                <a:ea typeface="Open Sans"/>
                <a:cs typeface="Open Sans"/>
                <a:sym typeface="Open Sans"/>
              </a:defRPr>
            </a:lvl3pPr>
            <a:lvl4pPr lvl="3" algn="r">
              <a:buNone/>
              <a:defRPr sz="1000">
                <a:solidFill>
                  <a:schemeClr val="dk2"/>
                </a:solidFill>
                <a:latin typeface="Open Sans"/>
                <a:ea typeface="Open Sans"/>
                <a:cs typeface="Open Sans"/>
                <a:sym typeface="Open Sans"/>
              </a:defRPr>
            </a:lvl4pPr>
            <a:lvl5pPr lvl="4" algn="r">
              <a:buNone/>
              <a:defRPr sz="1000">
                <a:solidFill>
                  <a:schemeClr val="dk2"/>
                </a:solidFill>
                <a:latin typeface="Open Sans"/>
                <a:ea typeface="Open Sans"/>
                <a:cs typeface="Open Sans"/>
                <a:sym typeface="Open Sans"/>
              </a:defRPr>
            </a:lvl5pPr>
            <a:lvl6pPr lvl="5" algn="r">
              <a:buNone/>
              <a:defRPr sz="1000">
                <a:solidFill>
                  <a:schemeClr val="dk2"/>
                </a:solidFill>
                <a:latin typeface="Open Sans"/>
                <a:ea typeface="Open Sans"/>
                <a:cs typeface="Open Sans"/>
                <a:sym typeface="Open Sans"/>
              </a:defRPr>
            </a:lvl6pPr>
            <a:lvl7pPr lvl="6" algn="r">
              <a:buNone/>
              <a:defRPr sz="1000">
                <a:solidFill>
                  <a:schemeClr val="dk2"/>
                </a:solidFill>
                <a:latin typeface="Open Sans"/>
                <a:ea typeface="Open Sans"/>
                <a:cs typeface="Open Sans"/>
                <a:sym typeface="Open Sans"/>
              </a:defRPr>
            </a:lvl7pPr>
            <a:lvl8pPr lvl="7" algn="r">
              <a:buNone/>
              <a:defRPr sz="1000">
                <a:solidFill>
                  <a:schemeClr val="dk2"/>
                </a:solidFill>
                <a:latin typeface="Open Sans"/>
                <a:ea typeface="Open Sans"/>
                <a:cs typeface="Open Sans"/>
                <a:sym typeface="Open Sans"/>
              </a:defRPr>
            </a:lvl8pPr>
            <a:lvl9pPr lvl="8" algn="r">
              <a:buNone/>
              <a:defRPr sz="1000">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png"/><Relationship Id="rId4" Type="http://schemas.openxmlformats.org/officeDocument/2006/relationships/image" Target="../media/image1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1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6.xml"/><Relationship Id="rId3" Type="http://schemas.openxmlformats.org/officeDocument/2006/relationships/image" Target="../media/image10.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7.xml"/><Relationship Id="rId3" Type="http://schemas.openxmlformats.org/officeDocument/2006/relationships/image" Target="../media/image14.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8.xml"/><Relationship Id="rId3" Type="http://schemas.openxmlformats.org/officeDocument/2006/relationships/image" Target="../media/image11.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3"/>
          <p:cNvSpPr txBox="1"/>
          <p:nvPr>
            <p:ph type="ctrTitle"/>
          </p:nvPr>
        </p:nvSpPr>
        <p:spPr>
          <a:xfrm>
            <a:off x="1004150" y="1751764"/>
            <a:ext cx="7136700" cy="10224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CH-8</a:t>
            </a:r>
            <a:endParaRPr/>
          </a:p>
        </p:txBody>
      </p:sp>
      <p:sp>
        <p:nvSpPr>
          <p:cNvPr id="67" name="Google Shape;67;p13"/>
          <p:cNvSpPr txBox="1"/>
          <p:nvPr>
            <p:ph idx="1" type="subTitle"/>
          </p:nvPr>
        </p:nvSpPr>
        <p:spPr>
          <a:xfrm>
            <a:off x="2137225" y="2850039"/>
            <a:ext cx="48705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Introduction to Other Databases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4"/>
          <p:cNvSpPr txBox="1"/>
          <p:nvPr>
            <p:ph type="title"/>
          </p:nvPr>
        </p:nvSpPr>
        <p:spPr>
          <a:xfrm>
            <a:off x="311700" y="209750"/>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Database-System Architectures</a:t>
            </a:r>
            <a:endParaRPr/>
          </a:p>
        </p:txBody>
      </p:sp>
      <p:sp>
        <p:nvSpPr>
          <p:cNvPr id="73" name="Google Shape;73;p14"/>
          <p:cNvSpPr txBox="1"/>
          <p:nvPr>
            <p:ph idx="1" type="body"/>
          </p:nvPr>
        </p:nvSpPr>
        <p:spPr>
          <a:xfrm>
            <a:off x="311700" y="917150"/>
            <a:ext cx="8520600" cy="40275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300">
                <a:solidFill>
                  <a:srgbClr val="000000"/>
                </a:solidFill>
                <a:latin typeface="Times New Roman"/>
                <a:ea typeface="Times New Roman"/>
                <a:cs typeface="Times New Roman"/>
                <a:sym typeface="Times New Roman"/>
              </a:rPr>
              <a:t>A database system runs on a computer, so </a:t>
            </a:r>
            <a:r>
              <a:rPr b="1" lang="en" sz="1300">
                <a:solidFill>
                  <a:srgbClr val="000000"/>
                </a:solidFill>
                <a:latin typeface="Times New Roman"/>
                <a:ea typeface="Times New Roman"/>
                <a:cs typeface="Times New Roman"/>
                <a:sym typeface="Times New Roman"/>
              </a:rPr>
              <a:t>the computer’s architecture affects how the database works</a:t>
            </a:r>
            <a:r>
              <a:rPr lang="en" sz="1300">
                <a:solidFill>
                  <a:srgbClr val="000000"/>
                </a:solidFill>
                <a:latin typeface="Times New Roman"/>
                <a:ea typeface="Times New Roman"/>
                <a:cs typeface="Times New Roman"/>
                <a:sym typeface="Times New Roman"/>
              </a:rPr>
              <a:t>.</a:t>
            </a:r>
            <a:endParaRPr sz="1300">
              <a:solidFill>
                <a:srgbClr val="000000"/>
              </a:solidFill>
              <a:latin typeface="Times New Roman"/>
              <a:ea typeface="Times New Roman"/>
              <a:cs typeface="Times New Roman"/>
              <a:sym typeface="Times New Roman"/>
            </a:endParaRPr>
          </a:p>
          <a:p>
            <a:pPr indent="0" lvl="0" marL="0" rtl="0" algn="l">
              <a:lnSpc>
                <a:spcPct val="115000"/>
              </a:lnSpc>
              <a:spcBef>
                <a:spcPts val="400"/>
              </a:spcBef>
              <a:spcAft>
                <a:spcPts val="0"/>
              </a:spcAft>
              <a:buNone/>
            </a:pPr>
            <a:r>
              <a:rPr lang="en" sz="1300">
                <a:solidFill>
                  <a:srgbClr val="000000"/>
                </a:solidFill>
                <a:latin typeface="Times New Roman"/>
                <a:ea typeface="Times New Roman"/>
                <a:cs typeface="Times New Roman"/>
                <a:sym typeface="Times New Roman"/>
              </a:rPr>
              <a:t>Three major computer concepts affect database architecture:</a:t>
            </a:r>
            <a:endParaRPr sz="1300">
              <a:solidFill>
                <a:srgbClr val="000000"/>
              </a:solidFill>
              <a:latin typeface="Times New Roman"/>
              <a:ea typeface="Times New Roman"/>
              <a:cs typeface="Times New Roman"/>
              <a:sym typeface="Times New Roman"/>
            </a:endParaRPr>
          </a:p>
          <a:p>
            <a:pPr indent="-361950" lvl="0" marL="457200" rtl="0" algn="l">
              <a:lnSpc>
                <a:spcPct val="115000"/>
              </a:lnSpc>
              <a:spcBef>
                <a:spcPts val="400"/>
              </a:spcBef>
              <a:spcAft>
                <a:spcPts val="0"/>
              </a:spcAft>
              <a:buClr>
                <a:srgbClr val="000000"/>
              </a:buClr>
              <a:buSzPts val="2100"/>
              <a:buFont typeface="Times New Roman"/>
              <a:buAutoNum type="arabicPeriod"/>
            </a:pPr>
            <a:r>
              <a:rPr b="1" lang="en" sz="2100">
                <a:solidFill>
                  <a:srgbClr val="000000"/>
                </a:solidFill>
                <a:latin typeface="Times New Roman"/>
                <a:ea typeface="Times New Roman"/>
                <a:cs typeface="Times New Roman"/>
                <a:sym typeface="Times New Roman"/>
              </a:rPr>
              <a:t>Networking → Client–Server Databases</a:t>
            </a:r>
            <a:endParaRPr b="1" sz="2100">
              <a:solidFill>
                <a:srgbClr val="000000"/>
              </a:solidFill>
              <a:latin typeface="Times New Roman"/>
              <a:ea typeface="Times New Roman"/>
              <a:cs typeface="Times New Roman"/>
              <a:sym typeface="Times New Roman"/>
            </a:endParaRPr>
          </a:p>
          <a:p>
            <a:pPr indent="0" lvl="0" marL="457200" rtl="0" algn="l">
              <a:lnSpc>
                <a:spcPct val="115000"/>
              </a:lnSpc>
              <a:spcBef>
                <a:spcPts val="400"/>
              </a:spcBef>
              <a:spcAft>
                <a:spcPts val="0"/>
              </a:spcAft>
              <a:buNone/>
            </a:pPr>
            <a:r>
              <a:rPr b="1" lang="en" sz="1500">
                <a:solidFill>
                  <a:srgbClr val="000000"/>
                </a:solidFill>
                <a:latin typeface="Times New Roman"/>
                <a:ea typeface="Times New Roman"/>
                <a:cs typeface="Times New Roman"/>
                <a:sym typeface="Times New Roman"/>
              </a:rPr>
              <a:t>What is Networking?</a:t>
            </a:r>
            <a:endParaRPr b="1" sz="1500">
              <a:solidFill>
                <a:srgbClr val="000000"/>
              </a:solidFill>
              <a:latin typeface="Times New Roman"/>
              <a:ea typeface="Times New Roman"/>
              <a:cs typeface="Times New Roman"/>
              <a:sym typeface="Times New Roman"/>
            </a:endParaRPr>
          </a:p>
          <a:p>
            <a:pPr indent="0" lvl="0" marL="457200" rtl="0" algn="l">
              <a:lnSpc>
                <a:spcPct val="115000"/>
              </a:lnSpc>
              <a:spcBef>
                <a:spcPts val="400"/>
              </a:spcBef>
              <a:spcAft>
                <a:spcPts val="0"/>
              </a:spcAft>
              <a:buNone/>
            </a:pPr>
            <a:r>
              <a:rPr lang="en" sz="1300">
                <a:solidFill>
                  <a:srgbClr val="000000"/>
                </a:solidFill>
                <a:latin typeface="Times New Roman"/>
                <a:ea typeface="Times New Roman"/>
                <a:cs typeface="Times New Roman"/>
                <a:sym typeface="Times New Roman"/>
              </a:rPr>
              <a:t>When many computers connect to each other.</a:t>
            </a:r>
            <a:endParaRPr sz="1300">
              <a:solidFill>
                <a:srgbClr val="000000"/>
              </a:solidFill>
              <a:latin typeface="Times New Roman"/>
              <a:ea typeface="Times New Roman"/>
              <a:cs typeface="Times New Roman"/>
              <a:sym typeface="Times New Roman"/>
            </a:endParaRPr>
          </a:p>
          <a:p>
            <a:pPr indent="0" lvl="0" marL="457200" rtl="0" algn="l">
              <a:lnSpc>
                <a:spcPct val="115000"/>
              </a:lnSpc>
              <a:spcBef>
                <a:spcPts val="400"/>
              </a:spcBef>
              <a:spcAft>
                <a:spcPts val="0"/>
              </a:spcAft>
              <a:buNone/>
            </a:pPr>
            <a:r>
              <a:rPr b="1" lang="en" sz="1500">
                <a:solidFill>
                  <a:srgbClr val="000000"/>
                </a:solidFill>
                <a:latin typeface="Times New Roman"/>
                <a:ea typeface="Times New Roman"/>
                <a:cs typeface="Times New Roman"/>
                <a:sym typeface="Times New Roman"/>
              </a:rPr>
              <a:t>What happens because of networking?</a:t>
            </a:r>
            <a:endParaRPr b="1" sz="1500">
              <a:solidFill>
                <a:srgbClr val="000000"/>
              </a:solidFill>
              <a:latin typeface="Times New Roman"/>
              <a:ea typeface="Times New Roman"/>
              <a:cs typeface="Times New Roman"/>
              <a:sym typeface="Times New Roman"/>
            </a:endParaRPr>
          </a:p>
          <a:p>
            <a:pPr indent="0" lvl="0" marL="457200" rtl="0" algn="l">
              <a:lnSpc>
                <a:spcPct val="115000"/>
              </a:lnSpc>
              <a:spcBef>
                <a:spcPts val="400"/>
              </a:spcBef>
              <a:spcAft>
                <a:spcPts val="0"/>
              </a:spcAft>
              <a:buNone/>
            </a:pPr>
            <a:r>
              <a:rPr lang="en" sz="1300">
                <a:solidFill>
                  <a:srgbClr val="000000"/>
                </a:solidFill>
                <a:latin typeface="Times New Roman"/>
                <a:ea typeface="Times New Roman"/>
                <a:cs typeface="Times New Roman"/>
                <a:sym typeface="Times New Roman"/>
              </a:rPr>
              <a:t>Some work can be done on </a:t>
            </a:r>
            <a:r>
              <a:rPr b="1" lang="en" sz="1300">
                <a:solidFill>
                  <a:srgbClr val="000000"/>
                </a:solidFill>
                <a:latin typeface="Times New Roman"/>
                <a:ea typeface="Times New Roman"/>
                <a:cs typeface="Times New Roman"/>
                <a:sym typeface="Times New Roman"/>
              </a:rPr>
              <a:t>server computers</a:t>
            </a:r>
            <a:r>
              <a:rPr lang="en" sz="1300">
                <a:solidFill>
                  <a:srgbClr val="000000"/>
                </a:solidFill>
                <a:latin typeface="Times New Roman"/>
                <a:ea typeface="Times New Roman"/>
                <a:cs typeface="Times New Roman"/>
                <a:sym typeface="Times New Roman"/>
              </a:rPr>
              <a:t>, and some work on </a:t>
            </a:r>
            <a:r>
              <a:rPr b="1" lang="en" sz="1300">
                <a:solidFill>
                  <a:srgbClr val="000000"/>
                </a:solidFill>
                <a:latin typeface="Times New Roman"/>
                <a:ea typeface="Times New Roman"/>
                <a:cs typeface="Times New Roman"/>
                <a:sym typeface="Times New Roman"/>
              </a:rPr>
              <a:t>client computers</a:t>
            </a:r>
            <a:r>
              <a:rPr lang="en" sz="1300">
                <a:solidFill>
                  <a:srgbClr val="000000"/>
                </a:solidFill>
                <a:latin typeface="Times New Roman"/>
                <a:ea typeface="Times New Roman"/>
                <a:cs typeface="Times New Roman"/>
                <a:sym typeface="Times New Roman"/>
              </a:rPr>
              <a:t>.</a:t>
            </a:r>
            <a:endParaRPr sz="1300">
              <a:solidFill>
                <a:srgbClr val="000000"/>
              </a:solidFill>
              <a:latin typeface="Times New Roman"/>
              <a:ea typeface="Times New Roman"/>
              <a:cs typeface="Times New Roman"/>
              <a:sym typeface="Times New Roman"/>
            </a:endParaRPr>
          </a:p>
          <a:p>
            <a:pPr indent="0" lvl="0" marL="457200" rtl="0" algn="l">
              <a:lnSpc>
                <a:spcPct val="115000"/>
              </a:lnSpc>
              <a:spcBef>
                <a:spcPts val="400"/>
              </a:spcBef>
              <a:spcAft>
                <a:spcPts val="0"/>
              </a:spcAft>
              <a:buNone/>
            </a:pPr>
            <a:r>
              <a:rPr b="1" lang="en" sz="1500">
                <a:solidFill>
                  <a:srgbClr val="000000"/>
                </a:solidFill>
                <a:latin typeface="Times New Roman"/>
                <a:ea typeface="Times New Roman"/>
                <a:cs typeface="Times New Roman"/>
                <a:sym typeface="Times New Roman"/>
              </a:rPr>
              <a:t>Result?</a:t>
            </a:r>
            <a:endParaRPr b="1" sz="1500">
              <a:solidFill>
                <a:srgbClr val="000000"/>
              </a:solidFill>
              <a:latin typeface="Times New Roman"/>
              <a:ea typeface="Times New Roman"/>
              <a:cs typeface="Times New Roman"/>
              <a:sym typeface="Times New Roman"/>
            </a:endParaRPr>
          </a:p>
          <a:p>
            <a:pPr indent="0" lvl="0" marL="457200" rtl="0" algn="l">
              <a:lnSpc>
                <a:spcPct val="115000"/>
              </a:lnSpc>
              <a:spcBef>
                <a:spcPts val="400"/>
              </a:spcBef>
              <a:spcAft>
                <a:spcPts val="0"/>
              </a:spcAft>
              <a:buNone/>
            </a:pPr>
            <a:r>
              <a:rPr b="1" lang="en" sz="1300">
                <a:solidFill>
                  <a:srgbClr val="000000"/>
                </a:solidFill>
                <a:latin typeface="Times New Roman"/>
                <a:ea typeface="Times New Roman"/>
                <a:cs typeface="Times New Roman"/>
                <a:sym typeface="Times New Roman"/>
              </a:rPr>
              <a:t>Client–Server database systems</a:t>
            </a:r>
            <a:br>
              <a:rPr b="1" lang="en" sz="1300">
                <a:solidFill>
                  <a:srgbClr val="000000"/>
                </a:solidFill>
                <a:latin typeface="Times New Roman"/>
                <a:ea typeface="Times New Roman"/>
                <a:cs typeface="Times New Roman"/>
                <a:sym typeface="Times New Roman"/>
              </a:rPr>
            </a:br>
            <a:r>
              <a:rPr lang="en" sz="1300">
                <a:solidFill>
                  <a:srgbClr val="000000"/>
                </a:solidFill>
                <a:latin typeface="Times New Roman"/>
                <a:ea typeface="Times New Roman"/>
                <a:cs typeface="Times New Roman"/>
                <a:sym typeface="Times New Roman"/>
              </a:rPr>
              <a:t> Client = Your laptop/mobile</a:t>
            </a:r>
            <a:br>
              <a:rPr lang="en" sz="1300">
                <a:solidFill>
                  <a:srgbClr val="000000"/>
                </a:solidFill>
                <a:latin typeface="Times New Roman"/>
                <a:ea typeface="Times New Roman"/>
                <a:cs typeface="Times New Roman"/>
                <a:sym typeface="Times New Roman"/>
              </a:rPr>
            </a:br>
            <a:r>
              <a:rPr lang="en" sz="1300">
                <a:solidFill>
                  <a:srgbClr val="000000"/>
                </a:solidFill>
                <a:latin typeface="Times New Roman"/>
                <a:ea typeface="Times New Roman"/>
                <a:cs typeface="Times New Roman"/>
                <a:sym typeface="Times New Roman"/>
              </a:rPr>
              <a:t> Server = A powerful computer storing the main database</a:t>
            </a:r>
            <a:endParaRPr sz="1300">
              <a:solidFill>
                <a:srgbClr val="000000"/>
              </a:solidFill>
              <a:latin typeface="Times New Roman"/>
              <a:ea typeface="Times New Roman"/>
              <a:cs typeface="Times New Roman"/>
              <a:sym typeface="Times New Roman"/>
            </a:endParaRPr>
          </a:p>
          <a:p>
            <a:pPr indent="0" lvl="0" marL="457200" rtl="0" algn="l">
              <a:lnSpc>
                <a:spcPct val="115000"/>
              </a:lnSpc>
              <a:spcBef>
                <a:spcPts val="400"/>
              </a:spcBef>
              <a:spcAft>
                <a:spcPts val="400"/>
              </a:spcAft>
              <a:buNone/>
            </a:pPr>
            <a:r>
              <a:rPr lang="en" sz="1300">
                <a:solidFill>
                  <a:srgbClr val="000000"/>
                </a:solidFill>
                <a:latin typeface="Times New Roman"/>
                <a:ea typeface="Times New Roman"/>
                <a:cs typeface="Times New Roman"/>
                <a:sym typeface="Times New Roman"/>
              </a:rPr>
              <a:t>Client sends request → Server processes → Client receives result</a:t>
            </a:r>
            <a:endParaRPr sz="1300">
              <a:solidFill>
                <a:srgbClr val="000000"/>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5"/>
          <p:cNvSpPr txBox="1"/>
          <p:nvPr>
            <p:ph idx="1" type="body"/>
          </p:nvPr>
        </p:nvSpPr>
        <p:spPr>
          <a:xfrm>
            <a:off x="311700" y="335775"/>
            <a:ext cx="8520600" cy="4233300"/>
          </a:xfrm>
          <a:prstGeom prst="rect">
            <a:avLst/>
          </a:prstGeom>
        </p:spPr>
        <p:txBody>
          <a:bodyPr anchorCtr="0" anchor="t" bIns="91425" lIns="91425" spcFirstLastPara="1" rIns="91425" wrap="square" tIns="91425">
            <a:normAutofit lnSpcReduction="10000"/>
          </a:bodyPr>
          <a:lstStyle/>
          <a:p>
            <a:pPr indent="0" lvl="0" marL="0" rtl="0" algn="l">
              <a:spcBef>
                <a:spcPts val="2400"/>
              </a:spcBef>
              <a:spcAft>
                <a:spcPts val="0"/>
              </a:spcAft>
              <a:buNone/>
            </a:pPr>
            <a:r>
              <a:rPr b="1" lang="en" sz="2300">
                <a:solidFill>
                  <a:srgbClr val="000000"/>
                </a:solidFill>
                <a:latin typeface="Arial"/>
                <a:ea typeface="Arial"/>
                <a:cs typeface="Arial"/>
                <a:sym typeface="Arial"/>
              </a:rPr>
              <a:t>2. Parallel Processing → Parallel Databases</a:t>
            </a:r>
            <a:endParaRPr b="1" sz="2300">
              <a:solidFill>
                <a:srgbClr val="000000"/>
              </a:solidFill>
              <a:latin typeface="Arial"/>
              <a:ea typeface="Arial"/>
              <a:cs typeface="Arial"/>
              <a:sym typeface="Arial"/>
            </a:endParaRPr>
          </a:p>
          <a:p>
            <a:pPr indent="0" lvl="0" marL="0" rtl="0" algn="l">
              <a:spcBef>
                <a:spcPts val="1400"/>
              </a:spcBef>
              <a:spcAft>
                <a:spcPts val="0"/>
              </a:spcAft>
              <a:buNone/>
            </a:pPr>
            <a:r>
              <a:rPr b="1" lang="en" sz="1300">
                <a:solidFill>
                  <a:srgbClr val="000000"/>
                </a:solidFill>
                <a:latin typeface="Arial"/>
                <a:ea typeface="Arial"/>
                <a:cs typeface="Arial"/>
                <a:sym typeface="Arial"/>
              </a:rPr>
              <a:t>What is parallel processing?</a:t>
            </a:r>
            <a:endParaRPr b="1" sz="13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A computer has </a:t>
            </a:r>
            <a:r>
              <a:rPr i="1" lang="en" sz="1100">
                <a:solidFill>
                  <a:srgbClr val="000000"/>
                </a:solidFill>
                <a:latin typeface="Arial"/>
                <a:ea typeface="Arial"/>
                <a:cs typeface="Arial"/>
                <a:sym typeface="Arial"/>
              </a:rPr>
              <a:t>many processors (CPU cores)</a:t>
            </a:r>
            <a:r>
              <a:rPr lang="en" sz="1100">
                <a:solidFill>
                  <a:srgbClr val="000000"/>
                </a:solidFill>
                <a:latin typeface="Arial"/>
                <a:ea typeface="Arial"/>
                <a:cs typeface="Arial"/>
                <a:sym typeface="Arial"/>
              </a:rPr>
              <a:t> that can work at the same time.</a:t>
            </a:r>
            <a:endParaRPr sz="1100">
              <a:solidFill>
                <a:srgbClr val="000000"/>
              </a:solidFill>
              <a:latin typeface="Arial"/>
              <a:ea typeface="Arial"/>
              <a:cs typeface="Arial"/>
              <a:sym typeface="Arial"/>
            </a:endParaRPr>
          </a:p>
          <a:p>
            <a:pPr indent="0" lvl="0" marL="0" rtl="0" algn="l">
              <a:spcBef>
                <a:spcPts val="1400"/>
              </a:spcBef>
              <a:spcAft>
                <a:spcPts val="0"/>
              </a:spcAft>
              <a:buNone/>
            </a:pPr>
            <a:r>
              <a:rPr b="1" lang="en" sz="1300">
                <a:solidFill>
                  <a:srgbClr val="000000"/>
                </a:solidFill>
                <a:latin typeface="Arial"/>
                <a:ea typeface="Arial"/>
                <a:cs typeface="Arial"/>
                <a:sym typeface="Arial"/>
              </a:rPr>
              <a:t>Why do we use it?</a:t>
            </a:r>
            <a:endParaRPr b="1" sz="13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To run transactions faster</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To run many queries at the same time</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To break a big query into smaller parts and process them in parallel</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0" lvl="0" marL="0" rtl="0" algn="l">
              <a:spcBef>
                <a:spcPts val="1400"/>
              </a:spcBef>
              <a:spcAft>
                <a:spcPts val="0"/>
              </a:spcAft>
              <a:buNone/>
            </a:pPr>
            <a:r>
              <a:rPr b="1" lang="en" sz="1300">
                <a:solidFill>
                  <a:srgbClr val="000000"/>
                </a:solidFill>
                <a:latin typeface="Arial"/>
                <a:ea typeface="Arial"/>
                <a:cs typeface="Arial"/>
                <a:sym typeface="Arial"/>
              </a:rPr>
              <a:t>Result?</a:t>
            </a:r>
            <a:endParaRPr b="1" sz="13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 </a:t>
            </a:r>
            <a:r>
              <a:rPr b="1" lang="en" sz="1100">
                <a:solidFill>
                  <a:srgbClr val="000000"/>
                </a:solidFill>
                <a:latin typeface="Arial"/>
                <a:ea typeface="Arial"/>
                <a:cs typeface="Arial"/>
                <a:sym typeface="Arial"/>
              </a:rPr>
              <a:t>Parallel Database Systems</a:t>
            </a:r>
            <a:br>
              <a:rPr b="1" lang="en" sz="1100">
                <a:solidFill>
                  <a:srgbClr val="000000"/>
                </a:solidFill>
                <a:latin typeface="Arial"/>
                <a:ea typeface="Arial"/>
                <a:cs typeface="Arial"/>
                <a:sym typeface="Arial"/>
              </a:rPr>
            </a:br>
            <a:r>
              <a:rPr lang="en" sz="1100">
                <a:solidFill>
                  <a:srgbClr val="000000"/>
                </a:solidFill>
                <a:latin typeface="Arial"/>
                <a:ea typeface="Arial"/>
                <a:cs typeface="Arial"/>
                <a:sym typeface="Arial"/>
              </a:rPr>
              <a:t> They use multiple processors to speed up query processing.</a:t>
            </a: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6"/>
          <p:cNvSpPr txBox="1"/>
          <p:nvPr>
            <p:ph idx="1" type="body"/>
          </p:nvPr>
        </p:nvSpPr>
        <p:spPr>
          <a:xfrm>
            <a:off x="311700" y="410625"/>
            <a:ext cx="8520600" cy="4158300"/>
          </a:xfrm>
          <a:prstGeom prst="rect">
            <a:avLst/>
          </a:prstGeom>
        </p:spPr>
        <p:txBody>
          <a:bodyPr anchorCtr="0" anchor="t" bIns="91425" lIns="91425" spcFirstLastPara="1" rIns="91425" wrap="square" tIns="91425">
            <a:normAutofit lnSpcReduction="20000"/>
          </a:bodyPr>
          <a:lstStyle/>
          <a:p>
            <a:pPr indent="0" lvl="0" marL="0" rtl="0" algn="l">
              <a:spcBef>
                <a:spcPts val="2400"/>
              </a:spcBef>
              <a:spcAft>
                <a:spcPts val="0"/>
              </a:spcAft>
              <a:buNone/>
            </a:pPr>
            <a:r>
              <a:rPr b="1" lang="en" sz="2300">
                <a:solidFill>
                  <a:srgbClr val="000000"/>
                </a:solidFill>
                <a:latin typeface="Arial"/>
                <a:ea typeface="Arial"/>
                <a:cs typeface="Arial"/>
                <a:sym typeface="Arial"/>
              </a:rPr>
              <a:t>3. </a:t>
            </a:r>
            <a:r>
              <a:rPr b="1" lang="en" sz="2300">
                <a:solidFill>
                  <a:srgbClr val="000000"/>
                </a:solidFill>
                <a:latin typeface="Arial"/>
                <a:ea typeface="Arial"/>
                <a:cs typeface="Arial"/>
                <a:sym typeface="Arial"/>
              </a:rPr>
              <a:t>D</a:t>
            </a:r>
            <a:r>
              <a:rPr b="1" lang="en" sz="2300">
                <a:solidFill>
                  <a:srgbClr val="000000"/>
                </a:solidFill>
                <a:latin typeface="Arial"/>
                <a:ea typeface="Arial"/>
                <a:cs typeface="Arial"/>
                <a:sym typeface="Arial"/>
              </a:rPr>
              <a:t>istribution → Distributed Databases</a:t>
            </a:r>
            <a:endParaRPr b="1" sz="2300">
              <a:solidFill>
                <a:srgbClr val="000000"/>
              </a:solidFill>
              <a:latin typeface="Arial"/>
              <a:ea typeface="Arial"/>
              <a:cs typeface="Arial"/>
              <a:sym typeface="Arial"/>
            </a:endParaRPr>
          </a:p>
          <a:p>
            <a:pPr indent="0" lvl="0" marL="0" rtl="0" algn="l">
              <a:spcBef>
                <a:spcPts val="1400"/>
              </a:spcBef>
              <a:spcAft>
                <a:spcPts val="0"/>
              </a:spcAft>
              <a:buNone/>
            </a:pPr>
            <a:r>
              <a:rPr b="1" lang="en" sz="1300">
                <a:solidFill>
                  <a:srgbClr val="000000"/>
                </a:solidFill>
                <a:latin typeface="Arial"/>
                <a:ea typeface="Arial"/>
                <a:cs typeface="Arial"/>
                <a:sym typeface="Arial"/>
              </a:rPr>
              <a:t>What is distribution?</a:t>
            </a:r>
            <a:endParaRPr b="1" sz="13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Data is stored across </a:t>
            </a:r>
            <a:r>
              <a:rPr b="1" lang="en" sz="1100">
                <a:solidFill>
                  <a:srgbClr val="000000"/>
                </a:solidFill>
                <a:latin typeface="Arial"/>
                <a:ea typeface="Arial"/>
                <a:cs typeface="Arial"/>
                <a:sym typeface="Arial"/>
              </a:rPr>
              <a:t>multiple locations (different sites/cities/countries)</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0" rtl="0" algn="l">
              <a:spcBef>
                <a:spcPts val="1400"/>
              </a:spcBef>
              <a:spcAft>
                <a:spcPts val="0"/>
              </a:spcAft>
              <a:buNone/>
            </a:pPr>
            <a:r>
              <a:rPr b="1" lang="en" sz="1300">
                <a:solidFill>
                  <a:srgbClr val="000000"/>
                </a:solidFill>
                <a:latin typeface="Arial"/>
                <a:ea typeface="Arial"/>
                <a:cs typeface="Arial"/>
                <a:sym typeface="Arial"/>
              </a:rPr>
              <a:t>Why store data in multiple places?</a:t>
            </a:r>
            <a:endParaRPr b="1" sz="13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Data stays close to where it is needed</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Faster local access</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Backup if one site is damaged (fire, flood, disaster)</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0" lvl="0" marL="0" rtl="0" algn="l">
              <a:spcBef>
                <a:spcPts val="1400"/>
              </a:spcBef>
              <a:spcAft>
                <a:spcPts val="0"/>
              </a:spcAft>
              <a:buNone/>
            </a:pPr>
            <a:r>
              <a:rPr b="1" lang="en" sz="1300">
                <a:solidFill>
                  <a:srgbClr val="000000"/>
                </a:solidFill>
                <a:latin typeface="Arial"/>
                <a:ea typeface="Arial"/>
                <a:cs typeface="Arial"/>
                <a:sym typeface="Arial"/>
              </a:rPr>
              <a:t>Result?</a:t>
            </a:r>
            <a:endParaRPr b="1" sz="13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 </a:t>
            </a:r>
            <a:r>
              <a:rPr b="1" lang="en" sz="1100">
                <a:solidFill>
                  <a:srgbClr val="000000"/>
                </a:solidFill>
                <a:latin typeface="Arial"/>
                <a:ea typeface="Arial"/>
                <a:cs typeface="Arial"/>
                <a:sym typeface="Arial"/>
              </a:rPr>
              <a:t>Distributed Database Systems</a:t>
            </a:r>
            <a:br>
              <a:rPr b="1" lang="en" sz="1100">
                <a:solidFill>
                  <a:srgbClr val="000000"/>
                </a:solidFill>
                <a:latin typeface="Arial"/>
                <a:ea typeface="Arial"/>
                <a:cs typeface="Arial"/>
                <a:sym typeface="Arial"/>
              </a:rPr>
            </a:br>
            <a:r>
              <a:rPr lang="en" sz="1100">
                <a:solidFill>
                  <a:srgbClr val="000000"/>
                </a:solidFill>
                <a:latin typeface="Arial"/>
                <a:ea typeface="Arial"/>
                <a:cs typeface="Arial"/>
                <a:sym typeface="Arial"/>
              </a:rPr>
              <a:t> Multiple database servers at different places but working together as one system.</a:t>
            </a: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7"/>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Types of Architectures</a:t>
            </a:r>
            <a:endParaRPr/>
          </a:p>
        </p:txBody>
      </p:sp>
      <p:sp>
        <p:nvSpPr>
          <p:cNvPr id="89" name="Google Shape;89;p17"/>
          <p:cNvSpPr txBox="1"/>
          <p:nvPr>
            <p:ph idx="1" type="body"/>
          </p:nvPr>
        </p:nvSpPr>
        <p:spPr>
          <a:xfrm>
            <a:off x="311700" y="1266325"/>
            <a:ext cx="8520600" cy="3302700"/>
          </a:xfrm>
          <a:prstGeom prst="rect">
            <a:avLst/>
          </a:prstGeom>
        </p:spPr>
        <p:txBody>
          <a:bodyPr anchorCtr="0" anchor="t" bIns="91425" lIns="91425" spcFirstLastPara="1" rIns="91425" wrap="square" tIns="91425">
            <a:noAutofit/>
          </a:bodyPr>
          <a:lstStyle/>
          <a:p>
            <a:pPr indent="0" lvl="0" marL="0" rtl="0" algn="l">
              <a:spcBef>
                <a:spcPts val="1800"/>
              </a:spcBef>
              <a:spcAft>
                <a:spcPts val="0"/>
              </a:spcAft>
              <a:buNone/>
            </a:pPr>
            <a:r>
              <a:rPr b="1" lang="en" sz="1700">
                <a:solidFill>
                  <a:srgbClr val="000000"/>
                </a:solidFill>
                <a:latin typeface="Arial"/>
                <a:ea typeface="Arial"/>
                <a:cs typeface="Arial"/>
                <a:sym typeface="Arial"/>
              </a:rPr>
              <a:t>A. Centralized Systems</a:t>
            </a:r>
            <a:endParaRPr b="1" sz="1700">
              <a:solidFill>
                <a:srgbClr val="000000"/>
              </a:solidFill>
              <a:latin typeface="Arial"/>
              <a:ea typeface="Arial"/>
              <a:cs typeface="Arial"/>
              <a:sym typeface="Arial"/>
            </a:endParaRPr>
          </a:p>
          <a:p>
            <a:pPr indent="0" lvl="0" marL="0" rtl="0" algn="l">
              <a:spcBef>
                <a:spcPts val="1200"/>
              </a:spcBef>
              <a:spcAft>
                <a:spcPts val="0"/>
              </a:spcAft>
              <a:buNone/>
            </a:pPr>
            <a:r>
              <a:rPr lang="en" sz="1400">
                <a:solidFill>
                  <a:srgbClr val="000000"/>
                </a:solidFill>
                <a:latin typeface="Times New Roman"/>
                <a:ea typeface="Times New Roman"/>
                <a:cs typeface="Times New Roman"/>
                <a:sym typeface="Times New Roman"/>
              </a:rPr>
              <a:t>Everything runs on </a:t>
            </a:r>
            <a:r>
              <a:rPr b="1" lang="en" sz="1400">
                <a:solidFill>
                  <a:srgbClr val="000000"/>
                </a:solidFill>
                <a:latin typeface="Times New Roman"/>
                <a:ea typeface="Times New Roman"/>
                <a:cs typeface="Times New Roman"/>
                <a:sym typeface="Times New Roman"/>
              </a:rPr>
              <a:t>one single computer</a:t>
            </a:r>
            <a:br>
              <a:rPr b="1" lang="en" sz="1400">
                <a:solidFill>
                  <a:srgbClr val="000000"/>
                </a:solidFill>
                <a:latin typeface="Times New Roman"/>
                <a:ea typeface="Times New Roman"/>
                <a:cs typeface="Times New Roman"/>
                <a:sym typeface="Times New Roman"/>
              </a:rPr>
            </a:br>
            <a:r>
              <a:rPr lang="en" sz="1400">
                <a:solidFill>
                  <a:srgbClr val="000000"/>
                </a:solidFill>
                <a:latin typeface="Times New Roman"/>
                <a:ea typeface="Times New Roman"/>
                <a:cs typeface="Times New Roman"/>
                <a:sym typeface="Times New Roman"/>
              </a:rPr>
              <a:t> Examples:</a:t>
            </a:r>
            <a:endParaRPr sz="1400">
              <a:solidFill>
                <a:srgbClr val="000000"/>
              </a:solidFill>
              <a:latin typeface="Times New Roman"/>
              <a:ea typeface="Times New Roman"/>
              <a:cs typeface="Times New Roman"/>
              <a:sym typeface="Times New Roman"/>
            </a:endParaRPr>
          </a:p>
          <a:p>
            <a:pPr indent="-317500" lvl="0" marL="457200" rtl="0" algn="l">
              <a:spcBef>
                <a:spcPts val="1200"/>
              </a:spcBef>
              <a:spcAft>
                <a:spcPts val="0"/>
              </a:spcAft>
              <a:buClr>
                <a:srgbClr val="000000"/>
              </a:buClr>
              <a:buSzPts val="1400"/>
              <a:buFont typeface="Times New Roman"/>
              <a:buChar char="●"/>
            </a:pPr>
            <a:r>
              <a:rPr lang="en" sz="1400">
                <a:solidFill>
                  <a:srgbClr val="000000"/>
                </a:solidFill>
                <a:latin typeface="Times New Roman"/>
                <a:ea typeface="Times New Roman"/>
                <a:cs typeface="Times New Roman"/>
                <a:sym typeface="Times New Roman"/>
              </a:rPr>
              <a:t>A desktop database used by one person</a:t>
            </a:r>
            <a:endParaRPr sz="1400">
              <a:solidFill>
                <a:srgbClr val="000000"/>
              </a:solidFill>
              <a:latin typeface="Times New Roman"/>
              <a:ea typeface="Times New Roman"/>
              <a:cs typeface="Times New Roman"/>
              <a:sym typeface="Times New Roman"/>
            </a:endParaRPr>
          </a:p>
          <a:p>
            <a:pPr indent="-317500" lvl="0" marL="457200" rtl="0" algn="l">
              <a:spcBef>
                <a:spcPts val="0"/>
              </a:spcBef>
              <a:spcAft>
                <a:spcPts val="0"/>
              </a:spcAft>
              <a:buClr>
                <a:srgbClr val="000000"/>
              </a:buClr>
              <a:buSzPts val="1400"/>
              <a:buFont typeface="Times New Roman"/>
              <a:buChar char="●"/>
            </a:pPr>
            <a:r>
              <a:rPr lang="en" sz="1400">
                <a:solidFill>
                  <a:srgbClr val="000000"/>
                </a:solidFill>
                <a:latin typeface="Times New Roman"/>
                <a:ea typeface="Times New Roman"/>
                <a:cs typeface="Times New Roman"/>
                <a:sym typeface="Times New Roman"/>
              </a:rPr>
              <a:t>A server with one main machine storing and processing everything</a:t>
            </a:r>
            <a:endParaRPr sz="1400">
              <a:solidFill>
                <a:srgbClr val="000000"/>
              </a:solidFill>
              <a:latin typeface="Times New Roman"/>
              <a:ea typeface="Times New Roman"/>
              <a:cs typeface="Times New Roman"/>
              <a:sym typeface="Times New Roman"/>
            </a:endParaRPr>
          </a:p>
          <a:p>
            <a:pPr indent="0" lvl="0" marL="0" rtl="0" algn="l">
              <a:spcBef>
                <a:spcPts val="1400"/>
              </a:spcBef>
              <a:spcAft>
                <a:spcPts val="0"/>
              </a:spcAft>
              <a:buNone/>
            </a:pPr>
            <a:r>
              <a:rPr b="1" lang="en" sz="1400">
                <a:solidFill>
                  <a:srgbClr val="000000"/>
                </a:solidFill>
                <a:latin typeface="Times New Roman"/>
                <a:ea typeface="Times New Roman"/>
                <a:cs typeface="Times New Roman"/>
                <a:sym typeface="Times New Roman"/>
              </a:rPr>
              <a:t>Features:</a:t>
            </a:r>
            <a:endParaRPr b="1" sz="1400">
              <a:solidFill>
                <a:srgbClr val="000000"/>
              </a:solidFill>
              <a:latin typeface="Times New Roman"/>
              <a:ea typeface="Times New Roman"/>
              <a:cs typeface="Times New Roman"/>
              <a:sym typeface="Times New Roman"/>
            </a:endParaRPr>
          </a:p>
          <a:p>
            <a:pPr indent="-317500" lvl="0" marL="457200" rtl="0" algn="l">
              <a:spcBef>
                <a:spcPts val="1200"/>
              </a:spcBef>
              <a:spcAft>
                <a:spcPts val="0"/>
              </a:spcAft>
              <a:buClr>
                <a:srgbClr val="000000"/>
              </a:buClr>
              <a:buSzPts val="1400"/>
              <a:buFont typeface="Times New Roman"/>
              <a:buChar char="●"/>
            </a:pPr>
            <a:r>
              <a:rPr lang="en" sz="1400">
                <a:solidFill>
                  <a:srgbClr val="000000"/>
                </a:solidFill>
                <a:latin typeface="Times New Roman"/>
                <a:ea typeface="Times New Roman"/>
                <a:cs typeface="Times New Roman"/>
                <a:sym typeface="Times New Roman"/>
              </a:rPr>
              <a:t>Simple</a:t>
            </a:r>
            <a:endParaRPr sz="1400">
              <a:solidFill>
                <a:srgbClr val="000000"/>
              </a:solidFill>
              <a:latin typeface="Times New Roman"/>
              <a:ea typeface="Times New Roman"/>
              <a:cs typeface="Times New Roman"/>
              <a:sym typeface="Times New Roman"/>
            </a:endParaRPr>
          </a:p>
          <a:p>
            <a:pPr indent="-317500" lvl="0" marL="457200" rtl="0" algn="l">
              <a:spcBef>
                <a:spcPts val="0"/>
              </a:spcBef>
              <a:spcAft>
                <a:spcPts val="0"/>
              </a:spcAft>
              <a:buClr>
                <a:srgbClr val="000000"/>
              </a:buClr>
              <a:buSzPts val="1400"/>
              <a:buFont typeface="Times New Roman"/>
              <a:buChar char="●"/>
            </a:pPr>
            <a:r>
              <a:rPr lang="en" sz="1400">
                <a:solidFill>
                  <a:srgbClr val="000000"/>
                </a:solidFill>
                <a:latin typeface="Times New Roman"/>
                <a:ea typeface="Times New Roman"/>
                <a:cs typeface="Times New Roman"/>
                <a:sym typeface="Times New Roman"/>
              </a:rPr>
              <a:t>No networking</a:t>
            </a:r>
            <a:endParaRPr sz="1400">
              <a:solidFill>
                <a:srgbClr val="000000"/>
              </a:solidFill>
              <a:latin typeface="Times New Roman"/>
              <a:ea typeface="Times New Roman"/>
              <a:cs typeface="Times New Roman"/>
              <a:sym typeface="Times New Roman"/>
            </a:endParaRPr>
          </a:p>
          <a:p>
            <a:pPr indent="-317500" lvl="0" marL="457200" rtl="0" algn="l">
              <a:spcBef>
                <a:spcPts val="0"/>
              </a:spcBef>
              <a:spcAft>
                <a:spcPts val="0"/>
              </a:spcAft>
              <a:buClr>
                <a:srgbClr val="000000"/>
              </a:buClr>
              <a:buSzPts val="1400"/>
              <a:buFont typeface="Times New Roman"/>
              <a:buChar char="●"/>
            </a:pPr>
            <a:r>
              <a:rPr lang="en" sz="1400">
                <a:solidFill>
                  <a:srgbClr val="000000"/>
                </a:solidFill>
                <a:latin typeface="Times New Roman"/>
                <a:ea typeface="Times New Roman"/>
                <a:cs typeface="Times New Roman"/>
                <a:sym typeface="Times New Roman"/>
              </a:rPr>
              <a:t>Best for single-user or small systems</a:t>
            </a:r>
            <a:endParaRPr sz="1400">
              <a:solidFill>
                <a:srgbClr val="000000"/>
              </a:solidFill>
              <a:latin typeface="Times New Roman"/>
              <a:ea typeface="Times New Roman"/>
              <a:cs typeface="Times New Roman"/>
              <a:sym typeface="Times New Roman"/>
            </a:endParaRPr>
          </a:p>
          <a:p>
            <a:pPr indent="0" lvl="0" marL="0" rtl="0" algn="l">
              <a:spcBef>
                <a:spcPts val="120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8"/>
          <p:cNvSpPr txBox="1"/>
          <p:nvPr>
            <p:ph idx="1" type="body"/>
          </p:nvPr>
        </p:nvSpPr>
        <p:spPr>
          <a:xfrm>
            <a:off x="311700" y="506875"/>
            <a:ext cx="8520600" cy="40623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95" name="Google Shape;95;p18"/>
          <p:cNvPicPr preferRelativeResize="0"/>
          <p:nvPr/>
        </p:nvPicPr>
        <p:blipFill>
          <a:blip r:embed="rId3">
            <a:alphaModFix/>
          </a:blip>
          <a:stretch>
            <a:fillRect/>
          </a:stretch>
        </p:blipFill>
        <p:spPr>
          <a:xfrm>
            <a:off x="1890713" y="1085850"/>
            <a:ext cx="5362575" cy="29718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9"/>
          <p:cNvSpPr txBox="1"/>
          <p:nvPr>
            <p:ph idx="1" type="body"/>
          </p:nvPr>
        </p:nvSpPr>
        <p:spPr>
          <a:xfrm>
            <a:off x="311700" y="464100"/>
            <a:ext cx="8520600" cy="4104900"/>
          </a:xfrm>
          <a:prstGeom prst="rect">
            <a:avLst/>
          </a:prstGeom>
        </p:spPr>
        <p:txBody>
          <a:bodyPr anchorCtr="0" anchor="t" bIns="91425" lIns="91425" spcFirstLastPara="1" rIns="91425" wrap="square" tIns="91425">
            <a:normAutofit lnSpcReduction="20000"/>
          </a:bodyPr>
          <a:lstStyle/>
          <a:p>
            <a:pPr indent="0" lvl="0" marL="0" rtl="0" algn="l">
              <a:spcBef>
                <a:spcPts val="1800"/>
              </a:spcBef>
              <a:spcAft>
                <a:spcPts val="0"/>
              </a:spcAft>
              <a:buNone/>
            </a:pPr>
            <a:r>
              <a:rPr b="1" lang="en" sz="1700">
                <a:solidFill>
                  <a:srgbClr val="000000"/>
                </a:solidFill>
                <a:latin typeface="Arial"/>
                <a:ea typeface="Arial"/>
                <a:cs typeface="Arial"/>
                <a:sym typeface="Arial"/>
              </a:rPr>
              <a:t>B. Client–Server Systems</a:t>
            </a:r>
            <a:endParaRPr b="1" sz="1700">
              <a:solidFill>
                <a:srgbClr val="000000"/>
              </a:solidFill>
              <a:latin typeface="Arial"/>
              <a:ea typeface="Arial"/>
              <a:cs typeface="Arial"/>
              <a:sym typeface="Arial"/>
            </a:endParaRPr>
          </a:p>
          <a:p>
            <a:pPr indent="0" lvl="0" marL="0" rtl="0" algn="l">
              <a:spcBef>
                <a:spcPts val="1200"/>
              </a:spcBef>
              <a:spcAft>
                <a:spcPts val="0"/>
              </a:spcAft>
              <a:buNone/>
            </a:pPr>
            <a:r>
              <a:rPr lang="en" sz="1400">
                <a:solidFill>
                  <a:srgbClr val="000000"/>
                </a:solidFill>
                <a:latin typeface="Arial"/>
                <a:ea typeface="Arial"/>
                <a:cs typeface="Arial"/>
                <a:sym typeface="Arial"/>
              </a:rPr>
              <a:t>Work is divided:</a:t>
            </a:r>
            <a:endParaRPr sz="1400">
              <a:solidFill>
                <a:srgbClr val="000000"/>
              </a:solidFill>
              <a:latin typeface="Arial"/>
              <a:ea typeface="Arial"/>
              <a:cs typeface="Arial"/>
              <a:sym typeface="Arial"/>
            </a:endParaRPr>
          </a:p>
          <a:p>
            <a:pPr indent="-317500" lvl="0" marL="457200" rtl="0" algn="l">
              <a:spcBef>
                <a:spcPts val="1200"/>
              </a:spcBef>
              <a:spcAft>
                <a:spcPts val="0"/>
              </a:spcAft>
              <a:buClr>
                <a:srgbClr val="000000"/>
              </a:buClr>
              <a:buSzPts val="1400"/>
              <a:buFont typeface="Arial"/>
              <a:buChar char="●"/>
            </a:pPr>
            <a:r>
              <a:rPr b="1" lang="en" sz="1400">
                <a:solidFill>
                  <a:srgbClr val="000000"/>
                </a:solidFill>
                <a:latin typeface="Arial"/>
                <a:ea typeface="Arial"/>
                <a:cs typeface="Arial"/>
                <a:sym typeface="Arial"/>
              </a:rPr>
              <a:t>Server</a:t>
            </a:r>
            <a:r>
              <a:rPr lang="en" sz="1400">
                <a:solidFill>
                  <a:srgbClr val="000000"/>
                </a:solidFill>
                <a:latin typeface="Arial"/>
                <a:ea typeface="Arial"/>
                <a:cs typeface="Arial"/>
                <a:sym typeface="Arial"/>
              </a:rPr>
              <a:t>: Stores data, processes queries</a:t>
            </a:r>
            <a:br>
              <a:rPr lang="en" sz="1400">
                <a:solidFill>
                  <a:srgbClr val="000000"/>
                </a:solidFill>
                <a:latin typeface="Arial"/>
                <a:ea typeface="Arial"/>
                <a:cs typeface="Arial"/>
                <a:sym typeface="Arial"/>
              </a:rPr>
            </a:br>
            <a:endParaRPr sz="1400">
              <a:solidFill>
                <a:srgbClr val="000000"/>
              </a:solidFill>
              <a:latin typeface="Arial"/>
              <a:ea typeface="Arial"/>
              <a:cs typeface="Arial"/>
              <a:sym typeface="Arial"/>
            </a:endParaRPr>
          </a:p>
          <a:p>
            <a:pPr indent="-317500" lvl="0" marL="457200" rtl="0" algn="l">
              <a:spcBef>
                <a:spcPts val="0"/>
              </a:spcBef>
              <a:spcAft>
                <a:spcPts val="0"/>
              </a:spcAft>
              <a:buClr>
                <a:srgbClr val="000000"/>
              </a:buClr>
              <a:buSzPts val="1400"/>
              <a:buFont typeface="Arial"/>
              <a:buChar char="●"/>
            </a:pPr>
            <a:r>
              <a:rPr b="1" lang="en" sz="1400">
                <a:solidFill>
                  <a:srgbClr val="000000"/>
                </a:solidFill>
                <a:latin typeface="Arial"/>
                <a:ea typeface="Arial"/>
                <a:cs typeface="Arial"/>
                <a:sym typeface="Arial"/>
              </a:rPr>
              <a:t>Client</a:t>
            </a:r>
            <a:r>
              <a:rPr lang="en" sz="1400">
                <a:solidFill>
                  <a:srgbClr val="000000"/>
                </a:solidFill>
                <a:latin typeface="Arial"/>
                <a:ea typeface="Arial"/>
                <a:cs typeface="Arial"/>
                <a:sym typeface="Arial"/>
              </a:rPr>
              <a:t>: Provides user interface (forms, reports, SQL editor)</a:t>
            </a:r>
            <a:br>
              <a:rPr lang="en" sz="1400">
                <a:solidFill>
                  <a:srgbClr val="000000"/>
                </a:solidFill>
                <a:latin typeface="Arial"/>
                <a:ea typeface="Arial"/>
                <a:cs typeface="Arial"/>
                <a:sym typeface="Arial"/>
              </a:rPr>
            </a:br>
            <a:endParaRPr sz="1400">
              <a:solidFill>
                <a:srgbClr val="000000"/>
              </a:solidFill>
              <a:latin typeface="Arial"/>
              <a:ea typeface="Arial"/>
              <a:cs typeface="Arial"/>
              <a:sym typeface="Arial"/>
            </a:endParaRPr>
          </a:p>
          <a:p>
            <a:pPr indent="0" lvl="0" marL="0" rtl="0" algn="l">
              <a:spcBef>
                <a:spcPts val="1400"/>
              </a:spcBef>
              <a:spcAft>
                <a:spcPts val="0"/>
              </a:spcAft>
              <a:buNone/>
            </a:pPr>
            <a:r>
              <a:rPr b="1" lang="en" sz="1600">
                <a:solidFill>
                  <a:srgbClr val="000000"/>
                </a:solidFill>
                <a:latin typeface="Arial"/>
                <a:ea typeface="Arial"/>
                <a:cs typeface="Arial"/>
                <a:sym typeface="Arial"/>
              </a:rPr>
              <a:t>Example:</a:t>
            </a:r>
            <a:endParaRPr b="1" sz="1600">
              <a:solidFill>
                <a:srgbClr val="000000"/>
              </a:solidFill>
              <a:latin typeface="Arial"/>
              <a:ea typeface="Arial"/>
              <a:cs typeface="Arial"/>
              <a:sym typeface="Arial"/>
            </a:endParaRPr>
          </a:p>
          <a:p>
            <a:pPr indent="-317500" lvl="0" marL="457200" rtl="0" algn="l">
              <a:spcBef>
                <a:spcPts val="1200"/>
              </a:spcBef>
              <a:spcAft>
                <a:spcPts val="0"/>
              </a:spcAft>
              <a:buClr>
                <a:srgbClr val="000000"/>
              </a:buClr>
              <a:buSzPts val="1400"/>
              <a:buFont typeface="Arial"/>
              <a:buChar char="●"/>
            </a:pPr>
            <a:r>
              <a:rPr lang="en" sz="1400">
                <a:solidFill>
                  <a:srgbClr val="000000"/>
                </a:solidFill>
                <a:latin typeface="Arial"/>
                <a:ea typeface="Arial"/>
                <a:cs typeface="Arial"/>
                <a:sym typeface="Arial"/>
              </a:rPr>
              <a:t>Your computer runs SQL Developer (client)</a:t>
            </a:r>
            <a:br>
              <a:rPr lang="en" sz="1400">
                <a:solidFill>
                  <a:srgbClr val="000000"/>
                </a:solidFill>
                <a:latin typeface="Arial"/>
                <a:ea typeface="Arial"/>
                <a:cs typeface="Arial"/>
                <a:sym typeface="Arial"/>
              </a:rPr>
            </a:br>
            <a:endParaRPr sz="1400">
              <a:solidFill>
                <a:srgbClr val="000000"/>
              </a:solidFill>
              <a:latin typeface="Arial"/>
              <a:ea typeface="Arial"/>
              <a:cs typeface="Arial"/>
              <a:sym typeface="Arial"/>
            </a:endParaRPr>
          </a:p>
          <a:p>
            <a:pPr indent="-317500" lvl="0" marL="457200" rtl="0" algn="l">
              <a:spcBef>
                <a:spcPts val="0"/>
              </a:spcBef>
              <a:spcAft>
                <a:spcPts val="0"/>
              </a:spcAft>
              <a:buClr>
                <a:srgbClr val="000000"/>
              </a:buClr>
              <a:buSzPts val="1400"/>
              <a:buFont typeface="Arial"/>
              <a:buChar char="●"/>
            </a:pPr>
            <a:r>
              <a:rPr lang="en" sz="1400">
                <a:solidFill>
                  <a:srgbClr val="000000"/>
                </a:solidFill>
                <a:latin typeface="Arial"/>
                <a:ea typeface="Arial"/>
                <a:cs typeface="Arial"/>
                <a:sym typeface="Arial"/>
              </a:rPr>
              <a:t>Oracle/MySQL server stores and processes queries</a:t>
            </a:r>
            <a:br>
              <a:rPr lang="en" sz="1400">
                <a:solidFill>
                  <a:srgbClr val="000000"/>
                </a:solidFill>
                <a:latin typeface="Arial"/>
                <a:ea typeface="Arial"/>
                <a:cs typeface="Arial"/>
                <a:sym typeface="Arial"/>
              </a:rPr>
            </a:br>
            <a:endParaRPr sz="1400">
              <a:solidFill>
                <a:srgbClr val="000000"/>
              </a:solidFill>
              <a:latin typeface="Arial"/>
              <a:ea typeface="Arial"/>
              <a:cs typeface="Arial"/>
              <a:sym typeface="Arial"/>
            </a:endParaRPr>
          </a:p>
          <a:p>
            <a:pPr indent="0" lvl="0" marL="0" rtl="0" algn="l">
              <a:spcBef>
                <a:spcPts val="1200"/>
              </a:spcBef>
              <a:spcAft>
                <a:spcPts val="0"/>
              </a:spcAft>
              <a:buNone/>
            </a:pPr>
            <a:r>
              <a:rPr lang="en" sz="1400">
                <a:solidFill>
                  <a:srgbClr val="000000"/>
                </a:solidFill>
                <a:latin typeface="Arial"/>
                <a:ea typeface="Arial"/>
                <a:cs typeface="Arial"/>
                <a:sym typeface="Arial"/>
              </a:rPr>
              <a:t>Tools like </a:t>
            </a:r>
            <a:r>
              <a:rPr b="1" lang="en" sz="1400">
                <a:solidFill>
                  <a:srgbClr val="000000"/>
                </a:solidFill>
                <a:latin typeface="Arial"/>
                <a:ea typeface="Arial"/>
                <a:cs typeface="Arial"/>
                <a:sym typeface="Arial"/>
              </a:rPr>
              <a:t>ODBC, JDBC</a:t>
            </a:r>
            <a:r>
              <a:rPr lang="en" sz="1400">
                <a:solidFill>
                  <a:srgbClr val="000000"/>
                </a:solidFill>
                <a:latin typeface="Arial"/>
                <a:ea typeface="Arial"/>
                <a:cs typeface="Arial"/>
                <a:sym typeface="Arial"/>
              </a:rPr>
              <a:t> help clients talk to serve</a:t>
            </a:r>
            <a:r>
              <a:rPr lang="en" sz="1100">
                <a:solidFill>
                  <a:srgbClr val="000000"/>
                </a:solidFill>
                <a:latin typeface="Arial"/>
                <a:ea typeface="Arial"/>
                <a:cs typeface="Arial"/>
                <a:sym typeface="Arial"/>
              </a:rPr>
              <a:t>rs.</a:t>
            </a: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0"/>
          <p:cNvSpPr txBox="1"/>
          <p:nvPr>
            <p:ph idx="1" type="body"/>
          </p:nvPr>
        </p:nvSpPr>
        <p:spPr>
          <a:xfrm>
            <a:off x="311700" y="538950"/>
            <a:ext cx="8520600" cy="3848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06" name="Google Shape;106;p20"/>
          <p:cNvPicPr preferRelativeResize="0"/>
          <p:nvPr/>
        </p:nvPicPr>
        <p:blipFill>
          <a:blip r:embed="rId3">
            <a:alphaModFix/>
          </a:blip>
          <a:stretch>
            <a:fillRect/>
          </a:stretch>
        </p:blipFill>
        <p:spPr>
          <a:xfrm>
            <a:off x="1954175" y="1352700"/>
            <a:ext cx="5235650" cy="24381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1"/>
          <p:cNvSpPr txBox="1"/>
          <p:nvPr>
            <p:ph idx="1" type="body"/>
          </p:nvPr>
        </p:nvSpPr>
        <p:spPr>
          <a:xfrm>
            <a:off x="311700" y="795575"/>
            <a:ext cx="8520600" cy="3773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300">
                <a:solidFill>
                  <a:srgbClr val="000000"/>
                </a:solidFill>
                <a:latin typeface="Times New Roman"/>
                <a:ea typeface="Times New Roman"/>
                <a:cs typeface="Times New Roman"/>
                <a:sym typeface="Times New Roman"/>
              </a:rPr>
              <a:t>Summary</a:t>
            </a:r>
            <a:endParaRPr sz="2300">
              <a:solidFill>
                <a:srgbClr val="000000"/>
              </a:solidFill>
              <a:latin typeface="Times New Roman"/>
              <a:ea typeface="Times New Roman"/>
              <a:cs typeface="Times New Roman"/>
              <a:sym typeface="Times New Roman"/>
            </a:endParaRPr>
          </a:p>
          <a:p>
            <a:pPr indent="0" lvl="0" marL="0" rtl="0" algn="l">
              <a:spcBef>
                <a:spcPts val="1200"/>
              </a:spcBef>
              <a:spcAft>
                <a:spcPts val="1200"/>
              </a:spcAft>
              <a:buNone/>
            </a:pPr>
            <a:r>
              <a:t/>
            </a:r>
            <a:endParaRPr sz="2300">
              <a:solidFill>
                <a:srgbClr val="000000"/>
              </a:solidFill>
              <a:latin typeface="Times New Roman"/>
              <a:ea typeface="Times New Roman"/>
              <a:cs typeface="Times New Roman"/>
              <a:sym typeface="Times New Roman"/>
            </a:endParaRPr>
          </a:p>
        </p:txBody>
      </p:sp>
      <p:graphicFrame>
        <p:nvGraphicFramePr>
          <p:cNvPr id="112" name="Google Shape;112;p21"/>
          <p:cNvGraphicFramePr/>
          <p:nvPr/>
        </p:nvGraphicFramePr>
        <p:xfrm>
          <a:off x="834875" y="1910750"/>
          <a:ext cx="3000000" cy="3000000"/>
        </p:xfrm>
        <a:graphic>
          <a:graphicData uri="http://schemas.openxmlformats.org/drawingml/2006/table">
            <a:tbl>
              <a:tblPr>
                <a:noFill/>
                <a:tableStyleId>{4021A1ED-3B1C-4B97-93D2-70483F01EADD}</a:tableStyleId>
              </a:tblPr>
              <a:tblGrid>
                <a:gridCol w="2413000"/>
                <a:gridCol w="2413000"/>
                <a:gridCol w="2413000"/>
              </a:tblGrid>
              <a:tr h="381000">
                <a:tc>
                  <a:txBody>
                    <a:bodyPr/>
                    <a:lstStyle/>
                    <a:p>
                      <a:pPr indent="0" lvl="0" marL="0" rtl="0" algn="ctr">
                        <a:lnSpc>
                          <a:spcPct val="115000"/>
                        </a:lnSpc>
                        <a:spcBef>
                          <a:spcPts val="0"/>
                        </a:spcBef>
                        <a:spcAft>
                          <a:spcPts val="0"/>
                        </a:spcAft>
                        <a:buNone/>
                      </a:pPr>
                      <a:r>
                        <a:rPr b="1" lang="en" sz="1100"/>
                        <a:t>Concept</a:t>
                      </a:r>
                      <a:endParaRPr b="1" sz="1100"/>
                    </a:p>
                  </a:txBody>
                  <a:tcPr marT="91425" marB="91425" marR="91425" marL="91425"/>
                </a:tc>
                <a:tc>
                  <a:txBody>
                    <a:bodyPr/>
                    <a:lstStyle/>
                    <a:p>
                      <a:pPr indent="0" lvl="0" marL="0" rtl="0" algn="ctr">
                        <a:lnSpc>
                          <a:spcPct val="115000"/>
                        </a:lnSpc>
                        <a:spcBef>
                          <a:spcPts val="0"/>
                        </a:spcBef>
                        <a:spcAft>
                          <a:spcPts val="0"/>
                        </a:spcAft>
                        <a:buNone/>
                      </a:pPr>
                      <a:r>
                        <a:rPr b="1" lang="en" sz="1100"/>
                        <a:t>Meaning</a:t>
                      </a:r>
                      <a:endParaRPr b="1" sz="1100"/>
                    </a:p>
                  </a:txBody>
                  <a:tcPr marT="91425" marB="91425" marR="91425" marL="91425"/>
                </a:tc>
                <a:tc>
                  <a:txBody>
                    <a:bodyPr/>
                    <a:lstStyle/>
                    <a:p>
                      <a:pPr indent="0" lvl="0" marL="0" rtl="0" algn="ctr">
                        <a:lnSpc>
                          <a:spcPct val="115000"/>
                        </a:lnSpc>
                        <a:spcBef>
                          <a:spcPts val="0"/>
                        </a:spcBef>
                        <a:spcAft>
                          <a:spcPts val="0"/>
                        </a:spcAft>
                        <a:buNone/>
                      </a:pPr>
                      <a:r>
                        <a:rPr b="1" lang="en" sz="1100"/>
                        <a:t>Leads To</a:t>
                      </a:r>
                      <a:endParaRPr b="1" sz="1100"/>
                    </a:p>
                  </a:txBody>
                  <a:tcPr marT="91425" marB="91425" marR="91425" marL="91425"/>
                </a:tc>
              </a:tr>
              <a:tr h="381000">
                <a:tc>
                  <a:txBody>
                    <a:bodyPr/>
                    <a:lstStyle/>
                    <a:p>
                      <a:pPr indent="0" lvl="0" marL="0" rtl="0" algn="l">
                        <a:spcBef>
                          <a:spcPts val="0"/>
                        </a:spcBef>
                        <a:spcAft>
                          <a:spcPts val="0"/>
                        </a:spcAft>
                        <a:buNone/>
                      </a:pPr>
                      <a:r>
                        <a:rPr lang="en"/>
                        <a:t>Networking</a:t>
                      </a:r>
                      <a:endParaRPr/>
                    </a:p>
                  </a:txBody>
                  <a:tcPr marT="91425" marB="91425" marR="91425" marL="91425"/>
                </a:tc>
                <a:tc>
                  <a:txBody>
                    <a:bodyPr/>
                    <a:lstStyle/>
                    <a:p>
                      <a:pPr indent="0" lvl="0" marL="0" rtl="0" algn="l">
                        <a:spcBef>
                          <a:spcPts val="0"/>
                        </a:spcBef>
                        <a:spcAft>
                          <a:spcPts val="0"/>
                        </a:spcAft>
                        <a:buNone/>
                      </a:pPr>
                      <a:r>
                        <a:rPr lang="en"/>
                        <a:t>Multiple computers connected</a:t>
                      </a:r>
                      <a:endParaRPr/>
                    </a:p>
                  </a:txBody>
                  <a:tcPr marT="91425" marB="91425" marR="91425" marL="91425"/>
                </a:tc>
                <a:tc>
                  <a:txBody>
                    <a:bodyPr/>
                    <a:lstStyle/>
                    <a:p>
                      <a:pPr indent="0" lvl="0" marL="0" rtl="0" algn="l">
                        <a:spcBef>
                          <a:spcPts val="0"/>
                        </a:spcBef>
                        <a:spcAft>
                          <a:spcPts val="0"/>
                        </a:spcAft>
                        <a:buNone/>
                      </a:pPr>
                      <a:r>
                        <a:rPr lang="en"/>
                        <a:t>Client–Server DB</a:t>
                      </a:r>
                      <a:endParaRPr/>
                    </a:p>
                  </a:txBody>
                  <a:tcPr marT="91425" marB="91425" marR="91425" marL="91425"/>
                </a:tc>
              </a:tr>
              <a:tr h="381000">
                <a:tc>
                  <a:txBody>
                    <a:bodyPr/>
                    <a:lstStyle/>
                    <a:p>
                      <a:pPr indent="0" lvl="0" marL="0" rtl="0" algn="l">
                        <a:spcBef>
                          <a:spcPts val="0"/>
                        </a:spcBef>
                        <a:spcAft>
                          <a:spcPts val="0"/>
                        </a:spcAft>
                        <a:buNone/>
                      </a:pPr>
                      <a:r>
                        <a:rPr lang="en"/>
                        <a:t>Parallel Processing</a:t>
                      </a:r>
                      <a:endParaRPr/>
                    </a:p>
                  </a:txBody>
                  <a:tcPr marT="91425" marB="91425" marR="91425" marL="91425"/>
                </a:tc>
                <a:tc>
                  <a:txBody>
                    <a:bodyPr/>
                    <a:lstStyle/>
                    <a:p>
                      <a:pPr indent="0" lvl="0" marL="0" rtl="0" algn="l">
                        <a:spcBef>
                          <a:spcPts val="0"/>
                        </a:spcBef>
                        <a:spcAft>
                          <a:spcPts val="0"/>
                        </a:spcAft>
                        <a:buNone/>
                      </a:pPr>
                      <a:r>
                        <a:rPr lang="en"/>
                        <a:t>Many processors working together</a:t>
                      </a:r>
                      <a:endParaRPr/>
                    </a:p>
                  </a:txBody>
                  <a:tcPr marT="91425" marB="91425" marR="91425" marL="91425"/>
                </a:tc>
                <a:tc>
                  <a:txBody>
                    <a:bodyPr/>
                    <a:lstStyle/>
                    <a:p>
                      <a:pPr indent="0" lvl="0" marL="0" rtl="0" algn="l">
                        <a:spcBef>
                          <a:spcPts val="0"/>
                        </a:spcBef>
                        <a:spcAft>
                          <a:spcPts val="0"/>
                        </a:spcAft>
                        <a:buNone/>
                      </a:pPr>
                      <a:r>
                        <a:rPr lang="en"/>
                        <a:t>Parallel DB</a:t>
                      </a:r>
                      <a:endParaRPr/>
                    </a:p>
                  </a:txBody>
                  <a:tcPr marT="91425" marB="91425" marR="91425" marL="91425"/>
                </a:tc>
              </a:tr>
              <a:tr h="381000">
                <a:tc>
                  <a:txBody>
                    <a:bodyPr/>
                    <a:lstStyle/>
                    <a:p>
                      <a:pPr indent="0" lvl="0" marL="0" rtl="0" algn="l">
                        <a:spcBef>
                          <a:spcPts val="0"/>
                        </a:spcBef>
                        <a:spcAft>
                          <a:spcPts val="0"/>
                        </a:spcAft>
                        <a:buNone/>
                      </a:pPr>
                      <a:r>
                        <a:rPr lang="en"/>
                        <a:t>Distribution</a:t>
                      </a:r>
                      <a:endParaRPr/>
                    </a:p>
                  </a:txBody>
                  <a:tcPr marT="91425" marB="91425" marR="91425" marL="91425"/>
                </a:tc>
                <a:tc>
                  <a:txBody>
                    <a:bodyPr/>
                    <a:lstStyle/>
                    <a:p>
                      <a:pPr indent="0" lvl="0" marL="0" rtl="0" algn="l">
                        <a:spcBef>
                          <a:spcPts val="0"/>
                        </a:spcBef>
                        <a:spcAft>
                          <a:spcPts val="0"/>
                        </a:spcAft>
                        <a:buNone/>
                      </a:pPr>
                      <a:r>
                        <a:rPr lang="en"/>
                        <a:t>Data stored at multiple locations</a:t>
                      </a:r>
                      <a:endParaRPr/>
                    </a:p>
                  </a:txBody>
                  <a:tcPr marT="91425" marB="91425" marR="91425" marL="91425"/>
                </a:tc>
                <a:tc>
                  <a:txBody>
                    <a:bodyPr/>
                    <a:lstStyle/>
                    <a:p>
                      <a:pPr indent="0" lvl="0" marL="0" rtl="0" algn="l">
                        <a:spcBef>
                          <a:spcPts val="0"/>
                        </a:spcBef>
                        <a:spcAft>
                          <a:spcPts val="0"/>
                        </a:spcAft>
                        <a:buNone/>
                      </a:pPr>
                      <a:r>
                        <a:rPr lang="en"/>
                        <a:t>Distributed DB</a:t>
                      </a:r>
                      <a:endParaRPr/>
                    </a:p>
                  </a:txBody>
                  <a:tcPr marT="91425" marB="91425" marR="91425" marL="91425"/>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2"/>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Server System Architectures</a:t>
            </a:r>
            <a:endParaRPr/>
          </a:p>
        </p:txBody>
      </p:sp>
      <p:sp>
        <p:nvSpPr>
          <p:cNvPr id="118" name="Google Shape;118;p22"/>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sz="1100">
                <a:solidFill>
                  <a:srgbClr val="000000"/>
                </a:solidFill>
                <a:latin typeface="Arial"/>
                <a:ea typeface="Arial"/>
                <a:cs typeface="Arial"/>
                <a:sym typeface="Arial"/>
              </a:rPr>
              <a:t>Server systems used in databases are mainly of </a:t>
            </a:r>
            <a:r>
              <a:rPr b="1" lang="en" sz="1100">
                <a:solidFill>
                  <a:srgbClr val="000000"/>
                </a:solidFill>
                <a:latin typeface="Arial"/>
                <a:ea typeface="Arial"/>
                <a:cs typeface="Arial"/>
                <a:sym typeface="Arial"/>
              </a:rPr>
              <a:t>two types</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AutoNum type="arabicPeriod"/>
            </a:pPr>
            <a:r>
              <a:rPr b="1" lang="en" sz="1100">
                <a:solidFill>
                  <a:srgbClr val="000000"/>
                </a:solidFill>
                <a:latin typeface="Arial"/>
                <a:ea typeface="Arial"/>
                <a:cs typeface="Arial"/>
                <a:sym typeface="Arial"/>
              </a:rPr>
              <a:t>Transaction-Server Systems (Query-Server Systems) - used in RDBM</a:t>
            </a:r>
            <a:endParaRPr b="1"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AutoNum type="arabicPeriod"/>
            </a:pPr>
            <a:r>
              <a:rPr b="1" lang="en" sz="1100">
                <a:solidFill>
                  <a:srgbClr val="000000"/>
                </a:solidFill>
                <a:latin typeface="Arial"/>
                <a:ea typeface="Arial"/>
                <a:cs typeface="Arial"/>
                <a:sym typeface="Arial"/>
              </a:rPr>
              <a:t>Data-Server Systems - object oriented database system</a:t>
            </a:r>
            <a:endParaRPr/>
          </a:p>
        </p:txBody>
      </p:sp>
      <p:pic>
        <p:nvPicPr>
          <p:cNvPr id="119" name="Google Shape;119;p22"/>
          <p:cNvPicPr preferRelativeResize="0"/>
          <p:nvPr/>
        </p:nvPicPr>
        <p:blipFill>
          <a:blip r:embed="rId3">
            <a:alphaModFix/>
          </a:blip>
          <a:stretch>
            <a:fillRect/>
          </a:stretch>
        </p:blipFill>
        <p:spPr>
          <a:xfrm>
            <a:off x="2172150" y="2364100"/>
            <a:ext cx="4342225" cy="26413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3"/>
          <p:cNvSpPr txBox="1"/>
          <p:nvPr>
            <p:ph idx="1" type="body"/>
          </p:nvPr>
        </p:nvSpPr>
        <p:spPr>
          <a:xfrm>
            <a:off x="311700" y="335775"/>
            <a:ext cx="8520600" cy="4523400"/>
          </a:xfrm>
          <a:prstGeom prst="rect">
            <a:avLst/>
          </a:prstGeom>
        </p:spPr>
        <p:txBody>
          <a:bodyPr anchorCtr="0" anchor="t" bIns="91425" lIns="91425" spcFirstLastPara="1" rIns="91425" wrap="square" tIns="91425">
            <a:noAutofit/>
          </a:bodyPr>
          <a:lstStyle/>
          <a:p>
            <a:pPr indent="0" lvl="0" marL="0" rtl="0" algn="l">
              <a:spcBef>
                <a:spcPts val="2400"/>
              </a:spcBef>
              <a:spcAft>
                <a:spcPts val="0"/>
              </a:spcAft>
              <a:buNone/>
            </a:pPr>
            <a:r>
              <a:rPr b="1" lang="en" sz="2300">
                <a:solidFill>
                  <a:srgbClr val="000000"/>
                </a:solidFill>
                <a:latin typeface="Arial"/>
                <a:ea typeface="Arial"/>
                <a:cs typeface="Arial"/>
                <a:sym typeface="Arial"/>
              </a:rPr>
              <a:t>1. Transaction-Server Systems (Query-Server Systems)</a:t>
            </a:r>
            <a:endParaRPr b="1" sz="2300">
              <a:solidFill>
                <a:srgbClr val="000000"/>
              </a:solidFill>
              <a:latin typeface="Arial"/>
              <a:ea typeface="Arial"/>
              <a:cs typeface="Arial"/>
              <a:sym typeface="Arial"/>
            </a:endParaRPr>
          </a:p>
          <a:p>
            <a:pPr indent="0" lvl="0" marL="0" rtl="0" algn="l">
              <a:spcBef>
                <a:spcPts val="600"/>
              </a:spcBef>
              <a:spcAft>
                <a:spcPts val="0"/>
              </a:spcAft>
              <a:buNone/>
            </a:pPr>
            <a:r>
              <a:rPr b="1" lang="en" sz="1200">
                <a:solidFill>
                  <a:srgbClr val="000000"/>
                </a:solidFill>
                <a:latin typeface="Times New Roman"/>
                <a:ea typeface="Times New Roman"/>
                <a:cs typeface="Times New Roman"/>
                <a:sym typeface="Times New Roman"/>
              </a:rPr>
              <a:t>Meaning</a:t>
            </a:r>
            <a:endParaRPr b="1" sz="1200">
              <a:solidFill>
                <a:srgbClr val="000000"/>
              </a:solidFill>
              <a:latin typeface="Times New Roman"/>
              <a:ea typeface="Times New Roman"/>
              <a:cs typeface="Times New Roman"/>
              <a:sym typeface="Times New Roman"/>
            </a:endParaRPr>
          </a:p>
          <a:p>
            <a:pPr indent="0" lvl="0" marL="0" rtl="0" algn="l">
              <a:spcBef>
                <a:spcPts val="300"/>
              </a:spcBef>
              <a:spcAft>
                <a:spcPts val="0"/>
              </a:spcAft>
              <a:buNone/>
            </a:pPr>
            <a:r>
              <a:rPr lang="en" sz="1200">
                <a:solidFill>
                  <a:srgbClr val="000000"/>
                </a:solidFill>
                <a:latin typeface="Times New Roman"/>
                <a:ea typeface="Times New Roman"/>
                <a:cs typeface="Times New Roman"/>
                <a:sym typeface="Times New Roman"/>
              </a:rPr>
              <a:t>Clients send </a:t>
            </a:r>
            <a:r>
              <a:rPr b="1" lang="en" sz="1200">
                <a:solidFill>
                  <a:srgbClr val="000000"/>
                </a:solidFill>
                <a:latin typeface="Times New Roman"/>
                <a:ea typeface="Times New Roman"/>
                <a:cs typeface="Times New Roman"/>
                <a:sym typeface="Times New Roman"/>
              </a:rPr>
              <a:t>requests</a:t>
            </a:r>
            <a:r>
              <a:rPr lang="en" sz="1200">
                <a:solidFill>
                  <a:srgbClr val="000000"/>
                </a:solidFill>
                <a:latin typeface="Times New Roman"/>
                <a:ea typeface="Times New Roman"/>
                <a:cs typeface="Times New Roman"/>
                <a:sym typeface="Times New Roman"/>
              </a:rPr>
              <a:t> (usually SQL queries) →</a:t>
            </a:r>
            <a:br>
              <a:rPr lang="en" sz="1200">
                <a:solidFill>
                  <a:srgbClr val="000000"/>
                </a:solidFill>
                <a:latin typeface="Times New Roman"/>
                <a:ea typeface="Times New Roman"/>
                <a:cs typeface="Times New Roman"/>
                <a:sym typeface="Times New Roman"/>
              </a:rPr>
            </a:br>
            <a:r>
              <a:rPr lang="en" sz="1200">
                <a:solidFill>
                  <a:srgbClr val="000000"/>
                </a:solidFill>
                <a:latin typeface="Times New Roman"/>
                <a:ea typeface="Times New Roman"/>
                <a:cs typeface="Times New Roman"/>
                <a:sym typeface="Times New Roman"/>
              </a:rPr>
              <a:t> Server </a:t>
            </a:r>
            <a:r>
              <a:rPr b="1" lang="en" sz="1200">
                <a:solidFill>
                  <a:srgbClr val="000000"/>
                </a:solidFill>
                <a:latin typeface="Times New Roman"/>
                <a:ea typeface="Times New Roman"/>
                <a:cs typeface="Times New Roman"/>
                <a:sym typeface="Times New Roman"/>
              </a:rPr>
              <a:t>executes</a:t>
            </a:r>
            <a:r>
              <a:rPr lang="en" sz="1200">
                <a:solidFill>
                  <a:srgbClr val="000000"/>
                </a:solidFill>
                <a:latin typeface="Times New Roman"/>
                <a:ea typeface="Times New Roman"/>
                <a:cs typeface="Times New Roman"/>
                <a:sym typeface="Times New Roman"/>
              </a:rPr>
              <a:t> the request →</a:t>
            </a:r>
            <a:br>
              <a:rPr lang="en" sz="1200">
                <a:solidFill>
                  <a:srgbClr val="000000"/>
                </a:solidFill>
                <a:latin typeface="Times New Roman"/>
                <a:ea typeface="Times New Roman"/>
                <a:cs typeface="Times New Roman"/>
                <a:sym typeface="Times New Roman"/>
              </a:rPr>
            </a:br>
            <a:r>
              <a:rPr lang="en" sz="1200">
                <a:solidFill>
                  <a:srgbClr val="000000"/>
                </a:solidFill>
                <a:latin typeface="Times New Roman"/>
                <a:ea typeface="Times New Roman"/>
                <a:cs typeface="Times New Roman"/>
                <a:sym typeface="Times New Roman"/>
              </a:rPr>
              <a:t> Server </a:t>
            </a:r>
            <a:r>
              <a:rPr b="1" lang="en" sz="1200">
                <a:solidFill>
                  <a:srgbClr val="000000"/>
                </a:solidFill>
                <a:latin typeface="Times New Roman"/>
                <a:ea typeface="Times New Roman"/>
                <a:cs typeface="Times New Roman"/>
                <a:sym typeface="Times New Roman"/>
              </a:rPr>
              <a:t>returns</a:t>
            </a:r>
            <a:r>
              <a:rPr lang="en" sz="1200">
                <a:solidFill>
                  <a:srgbClr val="000000"/>
                </a:solidFill>
                <a:latin typeface="Times New Roman"/>
                <a:ea typeface="Times New Roman"/>
                <a:cs typeface="Times New Roman"/>
                <a:sym typeface="Times New Roman"/>
              </a:rPr>
              <a:t> the result to the client.</a:t>
            </a:r>
            <a:endParaRPr sz="1200">
              <a:solidFill>
                <a:srgbClr val="000000"/>
              </a:solidFill>
              <a:latin typeface="Times New Roman"/>
              <a:ea typeface="Times New Roman"/>
              <a:cs typeface="Times New Roman"/>
              <a:sym typeface="Times New Roman"/>
            </a:endParaRPr>
          </a:p>
          <a:p>
            <a:pPr indent="0" lvl="0" marL="0" rtl="0" algn="l">
              <a:spcBef>
                <a:spcPts val="300"/>
              </a:spcBef>
              <a:spcAft>
                <a:spcPts val="0"/>
              </a:spcAft>
              <a:buNone/>
            </a:pPr>
            <a:r>
              <a:rPr b="1" lang="en" sz="1200">
                <a:solidFill>
                  <a:srgbClr val="000000"/>
                </a:solidFill>
                <a:latin typeface="Times New Roman"/>
                <a:ea typeface="Times New Roman"/>
                <a:cs typeface="Times New Roman"/>
                <a:sym typeface="Times New Roman"/>
              </a:rPr>
              <a:t>How it works</a:t>
            </a:r>
            <a:endParaRPr b="1" sz="1200">
              <a:solidFill>
                <a:srgbClr val="000000"/>
              </a:solidFill>
              <a:latin typeface="Times New Roman"/>
              <a:ea typeface="Times New Roman"/>
              <a:cs typeface="Times New Roman"/>
              <a:sym typeface="Times New Roman"/>
            </a:endParaRPr>
          </a:p>
          <a:p>
            <a:pPr indent="-304800" lvl="0" marL="457200" rtl="0" algn="l">
              <a:spcBef>
                <a:spcPts val="300"/>
              </a:spcBef>
              <a:spcAft>
                <a:spcPts val="0"/>
              </a:spcAft>
              <a:buClr>
                <a:srgbClr val="000000"/>
              </a:buClr>
              <a:buSzPts val="1200"/>
              <a:buFont typeface="Arial"/>
              <a:buChar char="●"/>
            </a:pPr>
            <a:r>
              <a:rPr lang="en" sz="1200">
                <a:solidFill>
                  <a:srgbClr val="000000"/>
                </a:solidFill>
                <a:latin typeface="Times New Roman"/>
                <a:ea typeface="Times New Roman"/>
                <a:cs typeface="Times New Roman"/>
                <a:sym typeface="Times New Roman"/>
              </a:rPr>
              <a:t>Client sends a </a:t>
            </a:r>
            <a:r>
              <a:rPr b="1" lang="en" sz="1200">
                <a:solidFill>
                  <a:srgbClr val="000000"/>
                </a:solidFill>
                <a:latin typeface="Times New Roman"/>
                <a:ea typeface="Times New Roman"/>
                <a:cs typeface="Times New Roman"/>
                <a:sym typeface="Times New Roman"/>
              </a:rPr>
              <a:t>transaction</a:t>
            </a:r>
            <a:r>
              <a:rPr lang="en" sz="1200">
                <a:solidFill>
                  <a:srgbClr val="000000"/>
                </a:solidFill>
                <a:latin typeface="Times New Roman"/>
                <a:ea typeface="Times New Roman"/>
                <a:cs typeface="Times New Roman"/>
                <a:sym typeface="Times New Roman"/>
              </a:rPr>
              <a:t> (a set of SQL commands) to the server</a:t>
            </a:r>
            <a:br>
              <a:rPr lang="en" sz="1200">
                <a:solidFill>
                  <a:srgbClr val="000000"/>
                </a:solidFill>
                <a:latin typeface="Times New Roman"/>
                <a:ea typeface="Times New Roman"/>
                <a:cs typeface="Times New Roman"/>
                <a:sym typeface="Times New Roman"/>
              </a:rPr>
            </a:br>
            <a:r>
              <a:rPr lang="en" sz="1200">
                <a:solidFill>
                  <a:srgbClr val="000000"/>
                </a:solidFill>
                <a:latin typeface="Times New Roman"/>
                <a:ea typeface="Times New Roman"/>
                <a:cs typeface="Times New Roman"/>
                <a:sym typeface="Times New Roman"/>
              </a:rPr>
              <a:t> Example: SELECT * FROM Student WHERE Marks &gt; 80;</a:t>
            </a:r>
            <a:endParaRPr sz="1200">
              <a:solidFill>
                <a:srgbClr val="000000"/>
              </a:solidFill>
              <a:latin typeface="Times New Roman"/>
              <a:ea typeface="Times New Roman"/>
              <a:cs typeface="Times New Roman"/>
              <a:sym typeface="Times New Roman"/>
            </a:endParaRPr>
          </a:p>
          <a:p>
            <a:pPr indent="-304800" lvl="0" marL="457200" rtl="0" algn="l">
              <a:spcBef>
                <a:spcPts val="300"/>
              </a:spcBef>
              <a:spcAft>
                <a:spcPts val="0"/>
              </a:spcAft>
              <a:buClr>
                <a:srgbClr val="000000"/>
              </a:buClr>
              <a:buSzPts val="1200"/>
              <a:buFont typeface="Times New Roman"/>
              <a:buChar char="●"/>
            </a:pPr>
            <a:r>
              <a:rPr lang="en" sz="1200">
                <a:solidFill>
                  <a:srgbClr val="000000"/>
                </a:solidFill>
                <a:latin typeface="Times New Roman"/>
                <a:ea typeface="Times New Roman"/>
                <a:cs typeface="Times New Roman"/>
                <a:sym typeface="Times New Roman"/>
              </a:rPr>
              <a:t>Server processes the query (parsing, optimization, reading data, processing)</a:t>
            </a:r>
            <a:endParaRPr sz="1200">
              <a:solidFill>
                <a:srgbClr val="000000"/>
              </a:solidFill>
              <a:latin typeface="Times New Roman"/>
              <a:ea typeface="Times New Roman"/>
              <a:cs typeface="Times New Roman"/>
              <a:sym typeface="Times New Roman"/>
            </a:endParaRPr>
          </a:p>
          <a:p>
            <a:pPr indent="-304800" lvl="0" marL="457200" rtl="0" algn="l">
              <a:spcBef>
                <a:spcPts val="300"/>
              </a:spcBef>
              <a:spcAft>
                <a:spcPts val="0"/>
              </a:spcAft>
              <a:buClr>
                <a:srgbClr val="000000"/>
              </a:buClr>
              <a:buSzPts val="1200"/>
              <a:buFont typeface="Arial"/>
              <a:buChar char="●"/>
            </a:pPr>
            <a:r>
              <a:rPr lang="en" sz="1200">
                <a:solidFill>
                  <a:srgbClr val="000000"/>
                </a:solidFill>
                <a:latin typeface="Times New Roman"/>
                <a:ea typeface="Times New Roman"/>
                <a:cs typeface="Times New Roman"/>
                <a:sym typeface="Times New Roman"/>
              </a:rPr>
              <a:t>Server sends </a:t>
            </a:r>
            <a:r>
              <a:rPr b="1" lang="en" sz="1200">
                <a:solidFill>
                  <a:srgbClr val="000000"/>
                </a:solidFill>
                <a:latin typeface="Times New Roman"/>
                <a:ea typeface="Times New Roman"/>
                <a:cs typeface="Times New Roman"/>
                <a:sym typeface="Times New Roman"/>
              </a:rPr>
              <a:t>only the result</a:t>
            </a:r>
            <a:r>
              <a:rPr lang="en" sz="1200">
                <a:solidFill>
                  <a:srgbClr val="000000"/>
                </a:solidFill>
                <a:latin typeface="Times New Roman"/>
                <a:ea typeface="Times New Roman"/>
                <a:cs typeface="Times New Roman"/>
                <a:sym typeface="Times New Roman"/>
              </a:rPr>
              <a:t> back</a:t>
            </a:r>
            <a:endParaRPr sz="1200">
              <a:solidFill>
                <a:srgbClr val="000000"/>
              </a:solidFill>
              <a:latin typeface="Times New Roman"/>
              <a:ea typeface="Times New Roman"/>
              <a:cs typeface="Times New Roman"/>
              <a:sym typeface="Times New Roman"/>
            </a:endParaRPr>
          </a:p>
          <a:p>
            <a:pPr indent="-304800" lvl="0" marL="457200" rtl="0" algn="l">
              <a:spcBef>
                <a:spcPts val="300"/>
              </a:spcBef>
              <a:spcAft>
                <a:spcPts val="0"/>
              </a:spcAft>
              <a:buClr>
                <a:srgbClr val="000000"/>
              </a:buClr>
              <a:buSzPts val="1200"/>
              <a:buFont typeface="Times New Roman"/>
              <a:buChar char="●"/>
            </a:pPr>
            <a:r>
              <a:rPr lang="en" sz="1200">
                <a:solidFill>
                  <a:srgbClr val="000000"/>
                </a:solidFill>
                <a:latin typeface="Times New Roman"/>
                <a:ea typeface="Times New Roman"/>
                <a:cs typeface="Times New Roman"/>
                <a:sym typeface="Times New Roman"/>
              </a:rPr>
              <a:t>Client displays the result</a:t>
            </a:r>
            <a:endParaRPr sz="1200">
              <a:solidFill>
                <a:srgbClr val="000000"/>
              </a:solidFill>
              <a:latin typeface="Times New Roman"/>
              <a:ea typeface="Times New Roman"/>
              <a:cs typeface="Times New Roman"/>
              <a:sym typeface="Times New Roman"/>
            </a:endParaRPr>
          </a:p>
          <a:p>
            <a:pPr indent="0" lvl="0" marL="0" rtl="0" algn="l">
              <a:spcBef>
                <a:spcPts val="300"/>
              </a:spcBef>
              <a:spcAft>
                <a:spcPts val="0"/>
              </a:spcAft>
              <a:buNone/>
            </a:pPr>
            <a:r>
              <a:rPr b="1" lang="en" sz="1200">
                <a:solidFill>
                  <a:srgbClr val="000000"/>
                </a:solidFill>
                <a:latin typeface="Times New Roman"/>
                <a:ea typeface="Times New Roman"/>
                <a:cs typeface="Times New Roman"/>
                <a:sym typeface="Times New Roman"/>
              </a:rPr>
              <a:t>Interfaces used</a:t>
            </a:r>
            <a:endParaRPr b="1" sz="1200">
              <a:solidFill>
                <a:srgbClr val="000000"/>
              </a:solidFill>
              <a:latin typeface="Times New Roman"/>
              <a:ea typeface="Times New Roman"/>
              <a:cs typeface="Times New Roman"/>
              <a:sym typeface="Times New Roman"/>
            </a:endParaRPr>
          </a:p>
          <a:p>
            <a:pPr indent="0" lvl="0" marL="0" rtl="0" algn="l">
              <a:spcBef>
                <a:spcPts val="300"/>
              </a:spcBef>
              <a:spcAft>
                <a:spcPts val="0"/>
              </a:spcAft>
              <a:buNone/>
            </a:pPr>
            <a:r>
              <a:rPr lang="en" sz="1200">
                <a:solidFill>
                  <a:srgbClr val="000000"/>
                </a:solidFill>
                <a:latin typeface="Times New Roman"/>
                <a:ea typeface="Times New Roman"/>
                <a:cs typeface="Times New Roman"/>
                <a:sym typeface="Times New Roman"/>
              </a:rPr>
              <a:t>Clients can send requests using:</a:t>
            </a:r>
            <a:endParaRPr sz="1200">
              <a:solidFill>
                <a:srgbClr val="000000"/>
              </a:solidFill>
              <a:latin typeface="Times New Roman"/>
              <a:ea typeface="Times New Roman"/>
              <a:cs typeface="Times New Roman"/>
              <a:sym typeface="Times New Roman"/>
            </a:endParaRPr>
          </a:p>
          <a:p>
            <a:pPr indent="-304800" lvl="0" marL="457200" rtl="0" algn="l">
              <a:spcBef>
                <a:spcPts val="300"/>
              </a:spcBef>
              <a:spcAft>
                <a:spcPts val="0"/>
              </a:spcAft>
              <a:buClr>
                <a:srgbClr val="000000"/>
              </a:buClr>
              <a:buSzPts val="1200"/>
              <a:buFont typeface="Times New Roman"/>
              <a:buChar char="●"/>
            </a:pPr>
            <a:r>
              <a:rPr b="1" lang="en" sz="1200">
                <a:solidFill>
                  <a:srgbClr val="000000"/>
                </a:solidFill>
                <a:latin typeface="Times New Roman"/>
                <a:ea typeface="Times New Roman"/>
                <a:cs typeface="Times New Roman"/>
                <a:sym typeface="Times New Roman"/>
              </a:rPr>
              <a:t>SQL commands</a:t>
            </a:r>
            <a:endParaRPr b="1" sz="1200">
              <a:solidFill>
                <a:srgbClr val="000000"/>
              </a:solidFill>
              <a:latin typeface="Times New Roman"/>
              <a:ea typeface="Times New Roman"/>
              <a:cs typeface="Times New Roman"/>
              <a:sym typeface="Times New Roman"/>
            </a:endParaRPr>
          </a:p>
          <a:p>
            <a:pPr indent="-304800" lvl="0" marL="457200" rtl="0" algn="l">
              <a:spcBef>
                <a:spcPts val="300"/>
              </a:spcBef>
              <a:spcAft>
                <a:spcPts val="0"/>
              </a:spcAft>
              <a:buClr>
                <a:srgbClr val="000000"/>
              </a:buClr>
              <a:buSzPts val="1200"/>
              <a:buFont typeface="Arial"/>
              <a:buChar char="●"/>
            </a:pPr>
            <a:r>
              <a:rPr b="1" lang="en" sz="1200">
                <a:solidFill>
                  <a:srgbClr val="000000"/>
                </a:solidFill>
                <a:latin typeface="Times New Roman"/>
                <a:ea typeface="Times New Roman"/>
                <a:cs typeface="Times New Roman"/>
                <a:sym typeface="Times New Roman"/>
              </a:rPr>
              <a:t>Application interfaces</a:t>
            </a:r>
            <a:r>
              <a:rPr lang="en" sz="1200">
                <a:solidFill>
                  <a:srgbClr val="000000"/>
                </a:solidFill>
                <a:latin typeface="Times New Roman"/>
                <a:ea typeface="Times New Roman"/>
                <a:cs typeface="Times New Roman"/>
                <a:sym typeface="Times New Roman"/>
              </a:rPr>
              <a:t> (program APIs)</a:t>
            </a:r>
            <a:endParaRPr sz="1200">
              <a:solidFill>
                <a:srgbClr val="000000"/>
              </a:solidFill>
              <a:latin typeface="Times New Roman"/>
              <a:ea typeface="Times New Roman"/>
              <a:cs typeface="Times New Roman"/>
              <a:sym typeface="Times New Roman"/>
            </a:endParaRPr>
          </a:p>
          <a:p>
            <a:pPr indent="0" lvl="0" marL="0" rtl="0" algn="l">
              <a:spcBef>
                <a:spcPts val="300"/>
              </a:spcBef>
              <a:spcAft>
                <a:spcPts val="0"/>
              </a:spcAft>
              <a:buNone/>
            </a:pPr>
            <a:r>
              <a:rPr b="1" lang="en" sz="1200">
                <a:solidFill>
                  <a:srgbClr val="000000"/>
                </a:solidFill>
                <a:latin typeface="Times New Roman"/>
                <a:ea typeface="Times New Roman"/>
                <a:cs typeface="Times New Roman"/>
                <a:sym typeface="Times New Roman"/>
              </a:rPr>
              <a:t>Where it is used</a:t>
            </a:r>
            <a:endParaRPr b="1" sz="1200">
              <a:solidFill>
                <a:srgbClr val="000000"/>
              </a:solidFill>
              <a:latin typeface="Times New Roman"/>
              <a:ea typeface="Times New Roman"/>
              <a:cs typeface="Times New Roman"/>
              <a:sym typeface="Times New Roman"/>
            </a:endParaRPr>
          </a:p>
          <a:p>
            <a:pPr indent="0" lvl="0" marL="0" rtl="0" algn="l">
              <a:spcBef>
                <a:spcPts val="300"/>
              </a:spcBef>
              <a:spcAft>
                <a:spcPts val="0"/>
              </a:spcAft>
              <a:buNone/>
            </a:pPr>
            <a:r>
              <a:rPr lang="en" sz="1200">
                <a:solidFill>
                  <a:srgbClr val="000000"/>
                </a:solidFill>
                <a:latin typeface="Times New Roman"/>
                <a:ea typeface="Times New Roman"/>
                <a:cs typeface="Times New Roman"/>
                <a:sym typeface="Times New Roman"/>
              </a:rPr>
              <a:t>This is the </a:t>
            </a:r>
            <a:r>
              <a:rPr b="1" lang="en" sz="1200">
                <a:solidFill>
                  <a:srgbClr val="000000"/>
                </a:solidFill>
                <a:latin typeface="Times New Roman"/>
                <a:ea typeface="Times New Roman"/>
                <a:cs typeface="Times New Roman"/>
                <a:sym typeface="Times New Roman"/>
              </a:rPr>
              <a:t>most common architecture</a:t>
            </a:r>
            <a:r>
              <a:rPr lang="en" sz="1200">
                <a:solidFill>
                  <a:srgbClr val="000000"/>
                </a:solidFill>
                <a:latin typeface="Times New Roman"/>
                <a:ea typeface="Times New Roman"/>
                <a:cs typeface="Times New Roman"/>
                <a:sym typeface="Times New Roman"/>
              </a:rPr>
              <a:t> used in database systems (MySQL, Oracle, SQL Server).</a:t>
            </a:r>
            <a:endParaRPr sz="1200">
              <a:solidFill>
                <a:srgbClr val="000000"/>
              </a:solidFill>
              <a:latin typeface="Times New Roman"/>
              <a:ea typeface="Times New Roman"/>
              <a:cs typeface="Times New Roman"/>
              <a:sym typeface="Times New Roman"/>
            </a:endParaRPr>
          </a:p>
          <a:p>
            <a:pPr indent="0" lvl="0" marL="0" rtl="0" algn="l">
              <a:spcBef>
                <a:spcPts val="300"/>
              </a:spcBef>
              <a:spcAft>
                <a:spcPts val="12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4"/>
          <p:cNvSpPr txBox="1"/>
          <p:nvPr>
            <p:ph idx="1" type="body"/>
          </p:nvPr>
        </p:nvSpPr>
        <p:spPr>
          <a:xfrm>
            <a:off x="311700" y="293000"/>
            <a:ext cx="8520600" cy="42762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sz="1100">
                <a:solidFill>
                  <a:srgbClr val="000000"/>
                </a:solidFill>
                <a:latin typeface="Arial"/>
                <a:ea typeface="Arial"/>
                <a:cs typeface="Arial"/>
                <a:sym typeface="Arial"/>
              </a:rPr>
              <a:t>A </a:t>
            </a:r>
            <a:r>
              <a:rPr b="1" lang="en" sz="1100">
                <a:solidFill>
                  <a:srgbClr val="000000"/>
                </a:solidFill>
                <a:latin typeface="Arial"/>
                <a:ea typeface="Arial"/>
                <a:cs typeface="Arial"/>
                <a:sym typeface="Arial"/>
              </a:rPr>
              <a:t>transaction server</a:t>
            </a:r>
            <a:r>
              <a:rPr lang="en" sz="1100">
                <a:solidFill>
                  <a:srgbClr val="000000"/>
                </a:solidFill>
                <a:latin typeface="Arial"/>
                <a:ea typeface="Arial"/>
                <a:cs typeface="Arial"/>
                <a:sym typeface="Arial"/>
              </a:rPr>
              <a:t> is a system where multiple processes work together to execute user queries and manage database operations.</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It uses </a:t>
            </a:r>
            <a:r>
              <a:rPr b="1" lang="en" sz="1100">
                <a:solidFill>
                  <a:srgbClr val="000000"/>
                </a:solidFill>
                <a:latin typeface="Arial"/>
                <a:ea typeface="Arial"/>
                <a:cs typeface="Arial"/>
                <a:sym typeface="Arial"/>
              </a:rPr>
              <a:t>shared memory</a:t>
            </a:r>
            <a:r>
              <a:rPr lang="en" sz="1100">
                <a:solidFill>
                  <a:srgbClr val="000000"/>
                </a:solidFill>
                <a:latin typeface="Arial"/>
                <a:ea typeface="Arial"/>
                <a:cs typeface="Arial"/>
                <a:sym typeface="Arial"/>
              </a:rPr>
              <a:t>, so all processes can access common data like buffer pool, log buffer, lock table, etc.</a:t>
            </a:r>
            <a:endParaRPr sz="1100">
              <a:solidFill>
                <a:srgbClr val="000000"/>
              </a:solidFill>
              <a:latin typeface="Arial"/>
              <a:ea typeface="Arial"/>
              <a:cs typeface="Arial"/>
              <a:sym typeface="Arial"/>
            </a:endParaRPr>
          </a:p>
          <a:p>
            <a:pPr indent="0" lvl="0" marL="0" rtl="0" algn="l">
              <a:spcBef>
                <a:spcPts val="2400"/>
              </a:spcBef>
              <a:spcAft>
                <a:spcPts val="0"/>
              </a:spcAft>
              <a:buNone/>
            </a:pPr>
            <a:r>
              <a:rPr b="1" lang="en" sz="2300">
                <a:solidFill>
                  <a:srgbClr val="000000"/>
                </a:solidFill>
                <a:latin typeface="Arial"/>
                <a:ea typeface="Arial"/>
                <a:cs typeface="Arial"/>
                <a:sym typeface="Arial"/>
              </a:rPr>
              <a:t>Main Processes in a Transaction Server</a:t>
            </a:r>
            <a:endParaRPr b="1" sz="2300">
              <a:solidFill>
                <a:srgbClr val="000000"/>
              </a:solidFill>
              <a:latin typeface="Arial"/>
              <a:ea typeface="Arial"/>
              <a:cs typeface="Arial"/>
              <a:sym typeface="Arial"/>
            </a:endParaRPr>
          </a:p>
          <a:p>
            <a:pPr indent="-311150" lvl="0" marL="457200" rtl="0" algn="l">
              <a:spcBef>
                <a:spcPts val="1400"/>
              </a:spcBef>
              <a:spcAft>
                <a:spcPts val="0"/>
              </a:spcAft>
              <a:buClr>
                <a:srgbClr val="000000"/>
              </a:buClr>
              <a:buSzPts val="1300"/>
              <a:buFont typeface="Arial"/>
              <a:buAutoNum type="arabicPeriod"/>
            </a:pPr>
            <a:r>
              <a:rPr b="1" lang="en" sz="1300">
                <a:solidFill>
                  <a:srgbClr val="000000"/>
                </a:solidFill>
                <a:latin typeface="Arial"/>
                <a:ea typeface="Arial"/>
                <a:cs typeface="Arial"/>
                <a:sym typeface="Arial"/>
              </a:rPr>
              <a:t>Server Processes</a:t>
            </a:r>
            <a:endParaRPr b="1" sz="13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These processes receive user queries (via SQL, JDBC, ODBC, etc.).</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They execute the transaction and return the result.</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Different DBMS designs:</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One process per user session</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OR one process with multiple threads</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OR hybrid (many processes, each with many threads)</a:t>
            </a: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5"/>
          <p:cNvSpPr txBox="1"/>
          <p:nvPr>
            <p:ph idx="1" type="body"/>
          </p:nvPr>
        </p:nvSpPr>
        <p:spPr>
          <a:xfrm>
            <a:off x="311700" y="175375"/>
            <a:ext cx="8520600" cy="43938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None/>
            </a:pPr>
            <a:r>
              <a:rPr b="1" lang="en" sz="1300">
                <a:solidFill>
                  <a:srgbClr val="000000"/>
                </a:solidFill>
                <a:latin typeface="Arial"/>
                <a:ea typeface="Arial"/>
                <a:cs typeface="Arial"/>
                <a:sym typeface="Arial"/>
              </a:rPr>
              <a:t>2. Lock Manager Process</a:t>
            </a:r>
            <a:endParaRPr b="1" sz="13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Handles </a:t>
            </a:r>
            <a:r>
              <a:rPr b="1" lang="en" sz="1100">
                <a:solidFill>
                  <a:srgbClr val="000000"/>
                </a:solidFill>
                <a:latin typeface="Arial"/>
                <a:ea typeface="Arial"/>
                <a:cs typeface="Arial"/>
                <a:sym typeface="Arial"/>
              </a:rPr>
              <a:t>locking</a:t>
            </a:r>
            <a:r>
              <a:rPr lang="en" sz="1100">
                <a:solidFill>
                  <a:srgbClr val="000000"/>
                </a:solidFill>
                <a:latin typeface="Arial"/>
                <a:ea typeface="Arial"/>
                <a:cs typeface="Arial"/>
                <a:sym typeface="Arial"/>
              </a:rPr>
              <a:t>, which prevents conflicts when many users access data.</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Responsible for:</a:t>
            </a:r>
            <a:br>
              <a:rPr lang="en" sz="1100">
                <a:solidFill>
                  <a:srgbClr val="000000"/>
                </a:solidFill>
                <a:latin typeface="Arial"/>
                <a:ea typeface="Arial"/>
                <a:cs typeface="Arial"/>
                <a:sym typeface="Arial"/>
              </a:rPr>
            </a:br>
            <a:r>
              <a:rPr lang="en" sz="1100">
                <a:solidFill>
                  <a:srgbClr val="000000"/>
                </a:solidFill>
                <a:latin typeface="Arial"/>
                <a:ea typeface="Arial"/>
                <a:cs typeface="Arial"/>
                <a:sym typeface="Arial"/>
              </a:rPr>
              <a:t> Lock grant</a:t>
            </a:r>
            <a:br>
              <a:rPr lang="en" sz="1100">
                <a:solidFill>
                  <a:srgbClr val="000000"/>
                </a:solidFill>
                <a:latin typeface="Arial"/>
                <a:ea typeface="Arial"/>
                <a:cs typeface="Arial"/>
                <a:sym typeface="Arial"/>
              </a:rPr>
            </a:br>
            <a:r>
              <a:rPr lang="en" sz="1100">
                <a:solidFill>
                  <a:srgbClr val="000000"/>
                </a:solidFill>
                <a:latin typeface="Arial"/>
                <a:ea typeface="Arial"/>
                <a:cs typeface="Arial"/>
                <a:sym typeface="Arial"/>
              </a:rPr>
              <a:t> Lock release</a:t>
            </a:r>
            <a:br>
              <a:rPr lang="en" sz="1100">
                <a:solidFill>
                  <a:srgbClr val="000000"/>
                </a:solidFill>
                <a:latin typeface="Arial"/>
                <a:ea typeface="Arial"/>
                <a:cs typeface="Arial"/>
                <a:sym typeface="Arial"/>
              </a:rPr>
            </a:br>
            <a:r>
              <a:rPr lang="en" sz="1100">
                <a:solidFill>
                  <a:srgbClr val="000000"/>
                </a:solidFill>
                <a:latin typeface="Arial"/>
                <a:ea typeface="Arial"/>
                <a:cs typeface="Arial"/>
                <a:sym typeface="Arial"/>
              </a:rPr>
              <a:t> </a:t>
            </a:r>
            <a:r>
              <a:rPr lang="en" sz="1100">
                <a:solidFill>
                  <a:srgbClr val="000000"/>
                </a:solidFill>
                <a:latin typeface="Arial"/>
                <a:ea typeface="Arial"/>
                <a:cs typeface="Arial"/>
                <a:sym typeface="Arial"/>
              </a:rPr>
              <a:t>Dea</a:t>
            </a:r>
            <a:r>
              <a:rPr lang="en" sz="1100">
                <a:solidFill>
                  <a:srgbClr val="000000"/>
                </a:solidFill>
                <a:latin typeface="Arial"/>
                <a:ea typeface="Arial"/>
                <a:cs typeface="Arial"/>
                <a:sym typeface="Arial"/>
              </a:rPr>
              <a:t>dlock detection</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0" lvl="0" marL="0" rtl="0" algn="l">
              <a:spcBef>
                <a:spcPts val="1400"/>
              </a:spcBef>
              <a:spcAft>
                <a:spcPts val="0"/>
              </a:spcAft>
              <a:buNone/>
            </a:pPr>
            <a:r>
              <a:rPr b="1" lang="en" sz="1300">
                <a:solidFill>
                  <a:srgbClr val="000000"/>
                </a:solidFill>
                <a:latin typeface="Arial"/>
                <a:ea typeface="Arial"/>
                <a:cs typeface="Arial"/>
                <a:sym typeface="Arial"/>
              </a:rPr>
              <a:t>3. Database Writer Process</a:t>
            </a:r>
            <a:endParaRPr b="1" sz="13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Writes </a:t>
            </a:r>
            <a:r>
              <a:rPr b="1" lang="en" sz="1100">
                <a:solidFill>
                  <a:srgbClr val="000000"/>
                </a:solidFill>
                <a:latin typeface="Arial"/>
                <a:ea typeface="Arial"/>
                <a:cs typeface="Arial"/>
                <a:sym typeface="Arial"/>
              </a:rPr>
              <a:t>modified buffer blocks</a:t>
            </a:r>
            <a:r>
              <a:rPr lang="en" sz="1100">
                <a:solidFill>
                  <a:srgbClr val="000000"/>
                </a:solidFill>
                <a:latin typeface="Arial"/>
                <a:ea typeface="Arial"/>
                <a:cs typeface="Arial"/>
                <a:sym typeface="Arial"/>
              </a:rPr>
              <a:t> back to disk continuously.</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Ensures updated data does not stay only in memory.</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0" lvl="0" marL="0" rtl="0" algn="l">
              <a:spcBef>
                <a:spcPts val="1400"/>
              </a:spcBef>
              <a:spcAft>
                <a:spcPts val="0"/>
              </a:spcAft>
              <a:buNone/>
            </a:pPr>
            <a:r>
              <a:rPr b="1" lang="en" sz="1300">
                <a:solidFill>
                  <a:srgbClr val="000000"/>
                </a:solidFill>
                <a:latin typeface="Arial"/>
                <a:ea typeface="Arial"/>
                <a:cs typeface="Arial"/>
                <a:sym typeface="Arial"/>
              </a:rPr>
              <a:t>4. Log Writer Process</a:t>
            </a:r>
            <a:endParaRPr b="1" sz="13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Writes log records from log buffer → stable storage.</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Server processes only put log entries in memory; log writer writes them to disk.</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6"/>
          <p:cNvSpPr txBox="1"/>
          <p:nvPr>
            <p:ph idx="1" type="body"/>
          </p:nvPr>
        </p:nvSpPr>
        <p:spPr>
          <a:xfrm>
            <a:off x="311700" y="357150"/>
            <a:ext cx="8520600" cy="4212000"/>
          </a:xfrm>
          <a:prstGeom prst="rect">
            <a:avLst/>
          </a:prstGeom>
        </p:spPr>
        <p:txBody>
          <a:bodyPr anchorCtr="0" anchor="t" bIns="91425" lIns="91425" spcFirstLastPara="1" rIns="91425" wrap="square" tIns="91425">
            <a:normAutofit lnSpcReduction="10000"/>
          </a:bodyPr>
          <a:lstStyle/>
          <a:p>
            <a:pPr indent="0" lvl="0" marL="0" rtl="0" algn="l">
              <a:spcBef>
                <a:spcPts val="1400"/>
              </a:spcBef>
              <a:spcAft>
                <a:spcPts val="0"/>
              </a:spcAft>
              <a:buNone/>
            </a:pPr>
            <a:r>
              <a:rPr b="1" lang="en" sz="1300">
                <a:solidFill>
                  <a:srgbClr val="000000"/>
                </a:solidFill>
                <a:latin typeface="Arial"/>
                <a:ea typeface="Arial"/>
                <a:cs typeface="Arial"/>
                <a:sym typeface="Arial"/>
              </a:rPr>
              <a:t>5. Checkpoint Process</a:t>
            </a:r>
            <a:endParaRPr b="1" sz="13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Performs periodic </a:t>
            </a:r>
            <a:r>
              <a:rPr b="1" lang="en" sz="1100">
                <a:solidFill>
                  <a:srgbClr val="000000"/>
                </a:solidFill>
                <a:latin typeface="Arial"/>
                <a:ea typeface="Arial"/>
                <a:cs typeface="Arial"/>
                <a:sym typeface="Arial"/>
              </a:rPr>
              <a:t>checkpoints</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Helps speed up recovery after a crash.</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0" lvl="0" marL="0" rtl="0" algn="l">
              <a:spcBef>
                <a:spcPts val="1400"/>
              </a:spcBef>
              <a:spcAft>
                <a:spcPts val="0"/>
              </a:spcAft>
              <a:buNone/>
            </a:pPr>
            <a:r>
              <a:rPr b="1" lang="en" sz="1300">
                <a:solidFill>
                  <a:srgbClr val="000000"/>
                </a:solidFill>
                <a:latin typeface="Arial"/>
                <a:ea typeface="Arial"/>
                <a:cs typeface="Arial"/>
                <a:sym typeface="Arial"/>
              </a:rPr>
              <a:t>6. Process Monitor Process</a:t>
            </a:r>
            <a:endParaRPr b="1" sz="13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Keeps track of other processes.</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If a process fails:</a:t>
            </a:r>
            <a:br>
              <a:rPr lang="en" sz="1100">
                <a:solidFill>
                  <a:srgbClr val="000000"/>
                </a:solidFill>
                <a:latin typeface="Arial"/>
                <a:ea typeface="Arial"/>
                <a:cs typeface="Arial"/>
                <a:sym typeface="Arial"/>
              </a:rPr>
            </a:br>
            <a:r>
              <a:rPr lang="en" sz="1100">
                <a:solidFill>
                  <a:srgbClr val="000000"/>
                </a:solidFill>
                <a:latin typeface="Arial"/>
                <a:ea typeface="Arial"/>
                <a:cs typeface="Arial"/>
                <a:sym typeface="Arial"/>
              </a:rPr>
              <a:t> aborts its transactions</a:t>
            </a:r>
            <a:br>
              <a:rPr lang="en" sz="1100">
                <a:solidFill>
                  <a:srgbClr val="000000"/>
                </a:solidFill>
                <a:latin typeface="Arial"/>
                <a:ea typeface="Arial"/>
                <a:cs typeface="Arial"/>
                <a:sym typeface="Arial"/>
              </a:rPr>
            </a:br>
            <a:r>
              <a:rPr lang="en" sz="1100">
                <a:solidFill>
                  <a:srgbClr val="000000"/>
                </a:solidFill>
                <a:latin typeface="Arial"/>
                <a:ea typeface="Arial"/>
                <a:cs typeface="Arial"/>
                <a:sym typeface="Arial"/>
              </a:rPr>
              <a:t> restarts the failed process</a:t>
            </a:r>
            <a:endParaRPr sz="1100">
              <a:solidFill>
                <a:srgbClr val="000000"/>
              </a:solidFill>
              <a:latin typeface="Arial"/>
              <a:ea typeface="Arial"/>
              <a:cs typeface="Arial"/>
              <a:sym typeface="Arial"/>
            </a:endParaRPr>
          </a:p>
          <a:p>
            <a:pPr indent="0" lvl="0" marL="0" rtl="0" algn="l">
              <a:spcBef>
                <a:spcPts val="2400"/>
              </a:spcBef>
              <a:spcAft>
                <a:spcPts val="0"/>
              </a:spcAft>
              <a:buNone/>
            </a:pPr>
            <a:r>
              <a:rPr b="1" lang="en" sz="2300">
                <a:solidFill>
                  <a:srgbClr val="000000"/>
                </a:solidFill>
                <a:latin typeface="Arial"/>
                <a:ea typeface="Arial"/>
                <a:cs typeface="Arial"/>
                <a:sym typeface="Arial"/>
              </a:rPr>
              <a:t>Shared Memory Contains</a:t>
            </a:r>
            <a:endParaRPr b="1" sz="23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All database processes access shared memory, which stores:</a:t>
            </a:r>
            <a:endParaRPr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b="1" lang="en" sz="1100">
                <a:solidFill>
                  <a:srgbClr val="000000"/>
                </a:solidFill>
                <a:latin typeface="Arial"/>
                <a:ea typeface="Arial"/>
                <a:cs typeface="Arial"/>
                <a:sym typeface="Arial"/>
              </a:rPr>
              <a:t>Buffer Pool</a:t>
            </a:r>
            <a:r>
              <a:rPr lang="en" sz="1100">
                <a:solidFill>
                  <a:srgbClr val="000000"/>
                </a:solidFill>
                <a:latin typeface="Arial"/>
                <a:ea typeface="Arial"/>
                <a:cs typeface="Arial"/>
                <a:sym typeface="Arial"/>
              </a:rPr>
              <a:t> (database blocks in memory)</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b="1" lang="en" sz="1100">
                <a:solidFill>
                  <a:srgbClr val="000000"/>
                </a:solidFill>
                <a:latin typeface="Arial"/>
                <a:ea typeface="Arial"/>
                <a:cs typeface="Arial"/>
                <a:sym typeface="Arial"/>
              </a:rPr>
              <a:t>Lock Table</a:t>
            </a:r>
            <a:r>
              <a:rPr lang="en" sz="1100">
                <a:solidFill>
                  <a:srgbClr val="000000"/>
                </a:solidFill>
                <a:latin typeface="Arial"/>
                <a:ea typeface="Arial"/>
                <a:cs typeface="Arial"/>
                <a:sym typeface="Arial"/>
              </a:rPr>
              <a:t> (to manage locks)</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b="1" lang="en" sz="1100">
                <a:solidFill>
                  <a:srgbClr val="000000"/>
                </a:solidFill>
                <a:latin typeface="Arial"/>
                <a:ea typeface="Arial"/>
                <a:cs typeface="Arial"/>
                <a:sym typeface="Arial"/>
              </a:rPr>
              <a:t>Log Buffer</a:t>
            </a:r>
            <a:r>
              <a:rPr lang="en" sz="1100">
                <a:solidFill>
                  <a:srgbClr val="000000"/>
                </a:solidFill>
                <a:latin typeface="Arial"/>
                <a:ea typeface="Arial"/>
                <a:cs typeface="Arial"/>
                <a:sym typeface="Arial"/>
              </a:rPr>
              <a:t> (log records waiting to be written)</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b="1" lang="en" sz="1100">
                <a:solidFill>
                  <a:srgbClr val="000000"/>
                </a:solidFill>
                <a:latin typeface="Arial"/>
                <a:ea typeface="Arial"/>
                <a:cs typeface="Arial"/>
                <a:sym typeface="Arial"/>
              </a:rPr>
              <a:t>Cached Query Plans</a:t>
            </a:r>
            <a:r>
              <a:rPr lang="en" sz="1100">
                <a:solidFill>
                  <a:srgbClr val="000000"/>
                </a:solidFill>
                <a:latin typeface="Arial"/>
                <a:ea typeface="Arial"/>
                <a:cs typeface="Arial"/>
                <a:sym typeface="Arial"/>
              </a:rPr>
              <a:t> (to reuse old plans and speed up queries)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7"/>
          <p:cNvSpPr txBox="1"/>
          <p:nvPr>
            <p:ph idx="1" type="body"/>
          </p:nvPr>
        </p:nvSpPr>
        <p:spPr>
          <a:xfrm>
            <a:off x="311700" y="464100"/>
            <a:ext cx="8520600" cy="4104900"/>
          </a:xfrm>
          <a:prstGeom prst="rect">
            <a:avLst/>
          </a:prstGeom>
        </p:spPr>
        <p:txBody>
          <a:bodyPr anchorCtr="0" anchor="t" bIns="91425" lIns="91425" spcFirstLastPara="1" rIns="91425" wrap="square" tIns="91425">
            <a:normAutofit lnSpcReduction="10000"/>
          </a:bodyPr>
          <a:lstStyle/>
          <a:p>
            <a:pPr indent="0" lvl="0" marL="0" rtl="0" algn="l">
              <a:spcBef>
                <a:spcPts val="2400"/>
              </a:spcBef>
              <a:spcAft>
                <a:spcPts val="0"/>
              </a:spcAft>
              <a:buNone/>
            </a:pPr>
            <a:r>
              <a:rPr b="1" lang="en" sz="2300">
                <a:solidFill>
                  <a:srgbClr val="000000"/>
                </a:solidFill>
                <a:latin typeface="Arial"/>
                <a:ea typeface="Arial"/>
                <a:cs typeface="Arial"/>
                <a:sym typeface="Arial"/>
              </a:rPr>
              <a:t>Why Mutual Exclusion Is Needed</a:t>
            </a:r>
            <a:endParaRPr b="1" sz="23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Since many processes access shared memory → they must not modify the same data at the same time.</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Mutual exclusion ensures:</a:t>
            </a:r>
            <a:endParaRPr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Only one process updates a data structure at a time</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No one reads it while another is writing it</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Implemented using:</a:t>
            </a:r>
            <a:endParaRPr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b="1" lang="en" sz="1100">
                <a:solidFill>
                  <a:srgbClr val="000000"/>
                </a:solidFill>
                <a:latin typeface="Arial"/>
                <a:ea typeface="Arial"/>
                <a:cs typeface="Arial"/>
                <a:sym typeface="Arial"/>
              </a:rPr>
              <a:t>Semaphores</a:t>
            </a:r>
            <a:r>
              <a:rPr lang="en" sz="1100">
                <a:solidFill>
                  <a:srgbClr val="000000"/>
                </a:solidFill>
                <a:latin typeface="Arial"/>
                <a:ea typeface="Arial"/>
                <a:cs typeface="Arial"/>
                <a:sym typeface="Arial"/>
              </a:rPr>
              <a:t> (OS feature)</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OR </a:t>
            </a:r>
            <a:r>
              <a:rPr b="1" lang="en" sz="1100">
                <a:solidFill>
                  <a:srgbClr val="000000"/>
                </a:solidFill>
                <a:latin typeface="Arial"/>
                <a:ea typeface="Arial"/>
                <a:cs typeface="Arial"/>
                <a:sym typeface="Arial"/>
              </a:rPr>
              <a:t>atomic CPU instructions</a:t>
            </a:r>
            <a:r>
              <a:rPr lang="en" sz="1100">
                <a:solidFill>
                  <a:srgbClr val="000000"/>
                </a:solidFill>
                <a:latin typeface="Arial"/>
                <a:ea typeface="Arial"/>
                <a:cs typeface="Arial"/>
                <a:sym typeface="Arial"/>
              </a:rPr>
              <a:t> (faster)</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These are also used to implement </a:t>
            </a:r>
            <a:r>
              <a:rPr b="1" lang="en" sz="1100">
                <a:solidFill>
                  <a:srgbClr val="000000"/>
                </a:solidFill>
                <a:latin typeface="Arial"/>
                <a:ea typeface="Arial"/>
                <a:cs typeface="Arial"/>
                <a:sym typeface="Arial"/>
              </a:rPr>
              <a:t>latches</a:t>
            </a:r>
            <a:r>
              <a:rPr lang="en" sz="1100">
                <a:solidFill>
                  <a:srgbClr val="000000"/>
                </a:solidFill>
                <a:latin typeface="Arial"/>
                <a:ea typeface="Arial"/>
                <a:cs typeface="Arial"/>
                <a:sym typeface="Arial"/>
              </a:rPr>
              <a:t> (lightweight locks).</a:t>
            </a: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8"/>
          <p:cNvSpPr txBox="1"/>
          <p:nvPr>
            <p:ph idx="1" type="body"/>
          </p:nvPr>
        </p:nvSpPr>
        <p:spPr>
          <a:xfrm>
            <a:off x="311700" y="784900"/>
            <a:ext cx="8520600" cy="3784200"/>
          </a:xfrm>
          <a:prstGeom prst="rect">
            <a:avLst/>
          </a:prstGeom>
        </p:spPr>
        <p:txBody>
          <a:bodyPr anchorCtr="0" anchor="t" bIns="91425" lIns="91425" spcFirstLastPara="1" rIns="91425" wrap="square" tIns="91425">
            <a:normAutofit/>
          </a:bodyPr>
          <a:lstStyle/>
          <a:p>
            <a:pPr indent="0" lvl="0" marL="0" rtl="0" algn="l">
              <a:spcBef>
                <a:spcPts val="2400"/>
              </a:spcBef>
              <a:spcAft>
                <a:spcPts val="0"/>
              </a:spcAft>
              <a:buNone/>
            </a:pPr>
            <a:r>
              <a:rPr b="1" lang="en" sz="2300">
                <a:solidFill>
                  <a:srgbClr val="000000"/>
                </a:solidFill>
                <a:latin typeface="Arial"/>
                <a:ea typeface="Arial"/>
                <a:cs typeface="Arial"/>
                <a:sym typeface="Arial"/>
              </a:rPr>
              <a:t>How Locking Works in Shared Memory</a:t>
            </a:r>
            <a:endParaRPr b="1" sz="23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Many systems avoid sending lock requests via messages (slow).</a:t>
            </a:r>
            <a:br>
              <a:rPr lang="en" sz="1100">
                <a:solidFill>
                  <a:srgbClr val="000000"/>
                </a:solidFill>
                <a:latin typeface="Arial"/>
                <a:ea typeface="Arial"/>
                <a:cs typeface="Arial"/>
                <a:sym typeface="Arial"/>
              </a:rPr>
            </a:br>
            <a:r>
              <a:rPr lang="en" sz="1100">
                <a:solidFill>
                  <a:srgbClr val="000000"/>
                </a:solidFill>
                <a:latin typeface="Arial"/>
                <a:ea typeface="Arial"/>
                <a:cs typeface="Arial"/>
                <a:sym typeface="Arial"/>
              </a:rPr>
              <a:t> Instead, server processes </a:t>
            </a:r>
            <a:r>
              <a:rPr b="1" lang="en" sz="1100">
                <a:solidFill>
                  <a:srgbClr val="000000"/>
                </a:solidFill>
                <a:latin typeface="Arial"/>
                <a:ea typeface="Arial"/>
                <a:cs typeface="Arial"/>
                <a:sym typeface="Arial"/>
              </a:rPr>
              <a:t>directly update the lock table</a:t>
            </a:r>
            <a:r>
              <a:rPr lang="en" sz="1100">
                <a:solidFill>
                  <a:srgbClr val="000000"/>
                </a:solidFill>
                <a:latin typeface="Arial"/>
                <a:ea typeface="Arial"/>
                <a:cs typeface="Arial"/>
                <a:sym typeface="Arial"/>
              </a:rPr>
              <a:t> in shared memory.</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Two main differences from normal locking:</a:t>
            </a:r>
            <a:endParaRPr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AutoNum type="arabicPeriod"/>
            </a:pPr>
            <a:r>
              <a:rPr lang="en" sz="1100">
                <a:solidFill>
                  <a:srgbClr val="000000"/>
                </a:solidFill>
                <a:latin typeface="Arial"/>
                <a:ea typeface="Arial"/>
                <a:cs typeface="Arial"/>
                <a:sym typeface="Arial"/>
              </a:rPr>
              <a:t>Must ensure </a:t>
            </a:r>
            <a:r>
              <a:rPr b="1" lang="en" sz="1100">
                <a:solidFill>
                  <a:srgbClr val="000000"/>
                </a:solidFill>
                <a:latin typeface="Arial"/>
                <a:ea typeface="Arial"/>
                <a:cs typeface="Arial"/>
                <a:sym typeface="Arial"/>
              </a:rPr>
              <a:t>mutual exclusion</a:t>
            </a:r>
            <a:r>
              <a:rPr lang="en" sz="1100">
                <a:solidFill>
                  <a:srgbClr val="000000"/>
                </a:solidFill>
                <a:latin typeface="Arial"/>
                <a:ea typeface="Arial"/>
                <a:cs typeface="Arial"/>
                <a:sym typeface="Arial"/>
              </a:rPr>
              <a:t> when accessing the lock table</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AutoNum type="arabicPeriod"/>
            </a:pPr>
            <a:r>
              <a:rPr lang="en" sz="1100">
                <a:solidFill>
                  <a:srgbClr val="000000"/>
                </a:solidFill>
                <a:latin typeface="Arial"/>
                <a:ea typeface="Arial"/>
                <a:cs typeface="Arial"/>
                <a:sym typeface="Arial"/>
              </a:rPr>
              <a:t>If lock is not available:</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The process waits</a:t>
            </a: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Lock release code signals waiting processes via semaphores</a:t>
            </a:r>
            <a:endParaRPr sz="1100">
              <a:solidFill>
                <a:srgbClr val="000000"/>
              </a:solidFill>
              <a:latin typeface="Arial"/>
              <a:ea typeface="Arial"/>
              <a:cs typeface="Arial"/>
              <a:sym typeface="Arial"/>
            </a:endParaRPr>
          </a:p>
          <a:p>
            <a:pPr indent="0" lvl="0" marL="0" rtl="0" algn="l">
              <a:spcBef>
                <a:spcPts val="1200"/>
              </a:spcBef>
              <a:spcAft>
                <a:spcPts val="1200"/>
              </a:spcAft>
              <a:buNone/>
            </a:pPr>
            <a:r>
              <a:rPr lang="en" sz="1100">
                <a:solidFill>
                  <a:srgbClr val="000000"/>
                </a:solidFill>
                <a:latin typeface="Arial"/>
                <a:ea typeface="Arial"/>
                <a:cs typeface="Arial"/>
                <a:sym typeface="Arial"/>
              </a:rPr>
              <a:t>Even with shared-memory locking, </a:t>
            </a:r>
            <a:r>
              <a:rPr b="1" lang="en" sz="1100">
                <a:solidFill>
                  <a:srgbClr val="000000"/>
                </a:solidFill>
                <a:latin typeface="Arial"/>
                <a:ea typeface="Arial"/>
                <a:cs typeface="Arial"/>
                <a:sym typeface="Arial"/>
              </a:rPr>
              <a:t>deadlock detection</a:t>
            </a:r>
            <a:r>
              <a:rPr lang="en" sz="1100">
                <a:solidFill>
                  <a:srgbClr val="000000"/>
                </a:solidFill>
                <a:latin typeface="Arial"/>
                <a:ea typeface="Arial"/>
                <a:cs typeface="Arial"/>
                <a:sym typeface="Arial"/>
              </a:rPr>
              <a:t> is still done by the </a:t>
            </a:r>
            <a:r>
              <a:rPr b="1" lang="en" sz="1100">
                <a:solidFill>
                  <a:srgbClr val="000000"/>
                </a:solidFill>
                <a:latin typeface="Arial"/>
                <a:ea typeface="Arial"/>
                <a:cs typeface="Arial"/>
                <a:sym typeface="Arial"/>
              </a:rPr>
              <a:t>lock manager process</a:t>
            </a:r>
            <a:r>
              <a:rPr lang="en" sz="1100">
                <a:solidFill>
                  <a:srgbClr val="000000"/>
                </a:solidFill>
                <a:latin typeface="Arial"/>
                <a:ea typeface="Arial"/>
                <a:cs typeface="Arial"/>
                <a:sym typeface="Arial"/>
              </a:rPr>
              <a: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pic>
        <p:nvPicPr>
          <p:cNvPr id="154" name="Google Shape;154;p29"/>
          <p:cNvPicPr preferRelativeResize="0"/>
          <p:nvPr/>
        </p:nvPicPr>
        <p:blipFill>
          <a:blip r:embed="rId3">
            <a:alphaModFix/>
          </a:blip>
          <a:stretch>
            <a:fillRect/>
          </a:stretch>
        </p:blipFill>
        <p:spPr>
          <a:xfrm>
            <a:off x="2599150" y="424200"/>
            <a:ext cx="3712050" cy="43920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30"/>
          <p:cNvSpPr txBox="1"/>
          <p:nvPr>
            <p:ph idx="1" type="body"/>
          </p:nvPr>
        </p:nvSpPr>
        <p:spPr>
          <a:xfrm>
            <a:off x="311700" y="164675"/>
            <a:ext cx="8520600" cy="5036700"/>
          </a:xfrm>
          <a:prstGeom prst="rect">
            <a:avLst/>
          </a:prstGeom>
        </p:spPr>
        <p:txBody>
          <a:bodyPr anchorCtr="0" anchor="t" bIns="91425" lIns="91425" spcFirstLastPara="1" rIns="91425" wrap="square" tIns="91425">
            <a:noAutofit/>
          </a:bodyPr>
          <a:lstStyle/>
          <a:p>
            <a:pPr indent="0" lvl="0" marL="0" rtl="0" algn="l">
              <a:lnSpc>
                <a:spcPct val="115000"/>
              </a:lnSpc>
              <a:spcBef>
                <a:spcPts val="100"/>
              </a:spcBef>
              <a:spcAft>
                <a:spcPts val="0"/>
              </a:spcAft>
              <a:buNone/>
            </a:pPr>
            <a:r>
              <a:rPr b="1" lang="en" sz="1900">
                <a:solidFill>
                  <a:srgbClr val="000000"/>
                </a:solidFill>
                <a:latin typeface="Times New Roman"/>
                <a:ea typeface="Times New Roman"/>
                <a:cs typeface="Times New Roman"/>
                <a:sym typeface="Times New Roman"/>
              </a:rPr>
              <a:t>2. Data-Server Systems</a:t>
            </a:r>
            <a:endParaRPr b="1" sz="1900">
              <a:solidFill>
                <a:srgbClr val="000000"/>
              </a:solidFill>
              <a:latin typeface="Times New Roman"/>
              <a:ea typeface="Times New Roman"/>
              <a:cs typeface="Times New Roman"/>
              <a:sym typeface="Times New Roman"/>
            </a:endParaRPr>
          </a:p>
          <a:p>
            <a:pPr indent="0" lvl="0" marL="0" rtl="0" algn="l">
              <a:spcBef>
                <a:spcPts val="1200"/>
              </a:spcBef>
              <a:spcAft>
                <a:spcPts val="0"/>
              </a:spcAft>
              <a:buNone/>
            </a:pPr>
            <a:r>
              <a:rPr lang="en" sz="1100">
                <a:solidFill>
                  <a:srgbClr val="000000"/>
                </a:solidFill>
                <a:latin typeface="Arial"/>
                <a:ea typeface="Arial"/>
                <a:cs typeface="Arial"/>
                <a:sym typeface="Arial"/>
              </a:rPr>
              <a:t>Data-server systems are used mainly in </a:t>
            </a:r>
            <a:r>
              <a:rPr b="1" lang="en" sz="1100">
                <a:solidFill>
                  <a:srgbClr val="000000"/>
                </a:solidFill>
                <a:latin typeface="Arial"/>
                <a:ea typeface="Arial"/>
                <a:cs typeface="Arial"/>
                <a:sym typeface="Arial"/>
              </a:rPr>
              <a:t>local-area networks (LANs)</a:t>
            </a:r>
            <a:r>
              <a:rPr lang="en" sz="1100">
                <a:solidFill>
                  <a:srgbClr val="000000"/>
                </a:solidFill>
                <a:latin typeface="Arial"/>
                <a:ea typeface="Arial"/>
                <a:cs typeface="Arial"/>
                <a:sym typeface="Arial"/>
              </a:rPr>
              <a:t> where:</a:t>
            </a:r>
            <a:endParaRPr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Clients and server both have </a:t>
            </a:r>
            <a:r>
              <a:rPr b="1" lang="en" sz="1100">
                <a:solidFill>
                  <a:srgbClr val="000000"/>
                </a:solidFill>
                <a:latin typeface="Arial"/>
                <a:ea typeface="Arial"/>
                <a:cs typeface="Arial"/>
                <a:sym typeface="Arial"/>
              </a:rPr>
              <a:t>good processing power</a:t>
            </a:r>
            <a:br>
              <a:rPr b="1" lang="en" sz="1100">
                <a:solidFill>
                  <a:srgbClr val="000000"/>
                </a:solidFill>
                <a:latin typeface="Arial"/>
                <a:ea typeface="Arial"/>
                <a:cs typeface="Arial"/>
                <a:sym typeface="Arial"/>
              </a:rPr>
            </a:br>
            <a:endParaRPr b="1"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The network connection is </a:t>
            </a:r>
            <a:r>
              <a:rPr b="1" lang="en" sz="1100">
                <a:solidFill>
                  <a:srgbClr val="000000"/>
                </a:solidFill>
                <a:latin typeface="Arial"/>
                <a:ea typeface="Arial"/>
                <a:cs typeface="Arial"/>
                <a:sym typeface="Arial"/>
              </a:rPr>
              <a:t>fast</a:t>
            </a:r>
            <a:br>
              <a:rPr b="1" lang="en" sz="1100">
                <a:solidFill>
                  <a:srgbClr val="000000"/>
                </a:solidFill>
                <a:latin typeface="Arial"/>
                <a:ea typeface="Arial"/>
                <a:cs typeface="Arial"/>
                <a:sym typeface="Arial"/>
              </a:rPr>
            </a:br>
            <a:endParaRPr b="1"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The tasks are </a:t>
            </a:r>
            <a:r>
              <a:rPr b="1" lang="en" sz="1100">
                <a:solidFill>
                  <a:srgbClr val="000000"/>
                </a:solidFill>
                <a:latin typeface="Arial"/>
                <a:ea typeface="Arial"/>
                <a:cs typeface="Arial"/>
                <a:sym typeface="Arial"/>
              </a:rPr>
              <a:t>computationally heavy</a:t>
            </a:r>
            <a:br>
              <a:rPr b="1" lang="en" sz="1100">
                <a:solidFill>
                  <a:srgbClr val="000000"/>
                </a:solidFill>
                <a:latin typeface="Arial"/>
                <a:ea typeface="Arial"/>
                <a:cs typeface="Arial"/>
                <a:sym typeface="Arial"/>
              </a:rPr>
            </a:br>
            <a:endParaRPr b="1"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In this system, the </a:t>
            </a:r>
            <a:r>
              <a:rPr b="1" lang="en" sz="1100">
                <a:solidFill>
                  <a:srgbClr val="000000"/>
                </a:solidFill>
                <a:latin typeface="Arial"/>
                <a:ea typeface="Arial"/>
                <a:cs typeface="Arial"/>
                <a:sym typeface="Arial"/>
              </a:rPr>
              <a:t>server sends data to the client</a:t>
            </a:r>
            <a:r>
              <a:rPr lang="en" sz="1100">
                <a:solidFill>
                  <a:srgbClr val="000000"/>
                </a:solidFill>
                <a:latin typeface="Arial"/>
                <a:ea typeface="Arial"/>
                <a:cs typeface="Arial"/>
                <a:sym typeface="Arial"/>
              </a:rPr>
              <a:t>, the </a:t>
            </a:r>
            <a:r>
              <a:rPr b="1" lang="en" sz="1100">
                <a:solidFill>
                  <a:srgbClr val="000000"/>
                </a:solidFill>
                <a:latin typeface="Arial"/>
                <a:ea typeface="Arial"/>
                <a:cs typeface="Arial"/>
                <a:sym typeface="Arial"/>
              </a:rPr>
              <a:t>client processes it</a:t>
            </a:r>
            <a:r>
              <a:rPr lang="en" sz="1100">
                <a:solidFill>
                  <a:srgbClr val="000000"/>
                </a:solidFill>
                <a:latin typeface="Arial"/>
                <a:ea typeface="Arial"/>
                <a:cs typeface="Arial"/>
                <a:sym typeface="Arial"/>
              </a:rPr>
              <a:t>, and then sends results back.</a:t>
            </a:r>
            <a:br>
              <a:rPr lang="en" sz="1100">
                <a:solidFill>
                  <a:srgbClr val="000000"/>
                </a:solidFill>
                <a:latin typeface="Arial"/>
                <a:ea typeface="Arial"/>
                <a:cs typeface="Arial"/>
                <a:sym typeface="Arial"/>
              </a:rPr>
            </a:br>
            <a:r>
              <a:rPr lang="en" sz="1100">
                <a:solidFill>
                  <a:srgbClr val="000000"/>
                </a:solidFill>
                <a:latin typeface="Arial"/>
                <a:ea typeface="Arial"/>
                <a:cs typeface="Arial"/>
                <a:sym typeface="Arial"/>
              </a:rPr>
              <a:t> (This is the opposite of transaction servers, where processing happens mainly on the server.)</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This requires the </a:t>
            </a:r>
            <a:r>
              <a:rPr b="1" lang="en" sz="1100">
                <a:solidFill>
                  <a:srgbClr val="000000"/>
                </a:solidFill>
                <a:latin typeface="Arial"/>
                <a:ea typeface="Arial"/>
                <a:cs typeface="Arial"/>
                <a:sym typeface="Arial"/>
              </a:rPr>
              <a:t>clients to have full database back-end functionality</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0" rtl="0" algn="l">
              <a:spcBef>
                <a:spcPts val="2400"/>
              </a:spcBef>
              <a:spcAft>
                <a:spcPts val="0"/>
              </a:spcAft>
              <a:buNone/>
            </a:pPr>
            <a:r>
              <a:rPr b="1" lang="en" sz="2300">
                <a:solidFill>
                  <a:srgbClr val="000000"/>
                </a:solidFill>
                <a:latin typeface="Arial"/>
                <a:ea typeface="Arial"/>
                <a:cs typeface="Arial"/>
                <a:sym typeface="Arial"/>
              </a:rPr>
              <a:t>Why Data Servers Are Different</a:t>
            </a:r>
            <a:endParaRPr b="1" sz="23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Communication between client ↔ server is </a:t>
            </a:r>
            <a:r>
              <a:rPr b="1" lang="en" sz="1100">
                <a:solidFill>
                  <a:srgbClr val="000000"/>
                </a:solidFill>
                <a:latin typeface="Arial"/>
                <a:ea typeface="Arial"/>
                <a:cs typeface="Arial"/>
                <a:sym typeface="Arial"/>
              </a:rPr>
              <a:t>slow</a:t>
            </a:r>
            <a:r>
              <a:rPr lang="en" sz="1100">
                <a:solidFill>
                  <a:srgbClr val="000000"/>
                </a:solidFill>
                <a:latin typeface="Arial"/>
                <a:ea typeface="Arial"/>
                <a:cs typeface="Arial"/>
                <a:sym typeface="Arial"/>
              </a:rPr>
              <a:t> (milliseconds)</a:t>
            </a:r>
            <a:br>
              <a:rPr lang="en" sz="1100">
                <a:solidFill>
                  <a:srgbClr val="000000"/>
                </a:solidFill>
                <a:latin typeface="Arial"/>
                <a:ea typeface="Arial"/>
                <a:cs typeface="Arial"/>
                <a:sym typeface="Arial"/>
              </a:rPr>
            </a:br>
            <a:r>
              <a:rPr lang="en" sz="1100">
                <a:solidFill>
                  <a:srgbClr val="000000"/>
                </a:solidFill>
                <a:latin typeface="Arial"/>
                <a:ea typeface="Arial"/>
                <a:cs typeface="Arial"/>
                <a:sym typeface="Arial"/>
              </a:rPr>
              <a:t> but memory access inside a computer is </a:t>
            </a:r>
            <a:r>
              <a:rPr b="1" lang="en" sz="1100">
                <a:solidFill>
                  <a:srgbClr val="000000"/>
                </a:solidFill>
                <a:latin typeface="Arial"/>
                <a:ea typeface="Arial"/>
                <a:cs typeface="Arial"/>
                <a:sym typeface="Arial"/>
              </a:rPr>
              <a:t>very fast</a:t>
            </a:r>
            <a:r>
              <a:rPr lang="en" sz="1100">
                <a:solidFill>
                  <a:srgbClr val="000000"/>
                </a:solidFill>
                <a:latin typeface="Arial"/>
                <a:ea typeface="Arial"/>
                <a:cs typeface="Arial"/>
                <a:sym typeface="Arial"/>
              </a:rPr>
              <a:t> (nanoseconds).</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Because of this, some interesting issues arise.</a:t>
            </a:r>
            <a:endParaRPr b="1" sz="1300">
              <a:solidFill>
                <a:srgbClr val="000000"/>
              </a:solidFill>
              <a:latin typeface="Times New Roman"/>
              <a:ea typeface="Times New Roman"/>
              <a:cs typeface="Times New Roman"/>
              <a:sym typeface="Times New Roman"/>
            </a:endParaRPr>
          </a:p>
          <a:p>
            <a:pPr indent="0" lvl="0" marL="0" rtl="0" algn="l">
              <a:lnSpc>
                <a:spcPct val="115000"/>
              </a:lnSpc>
              <a:spcBef>
                <a:spcPts val="1200"/>
              </a:spcBef>
              <a:spcAft>
                <a:spcPts val="200"/>
              </a:spcAft>
              <a:buNone/>
            </a:pPr>
            <a:r>
              <a:t/>
            </a:r>
            <a:endParaRPr>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31"/>
          <p:cNvSpPr txBox="1"/>
          <p:nvPr>
            <p:ph idx="1" type="body"/>
          </p:nvPr>
        </p:nvSpPr>
        <p:spPr>
          <a:xfrm>
            <a:off x="311700" y="357150"/>
            <a:ext cx="8520600" cy="4212000"/>
          </a:xfrm>
          <a:prstGeom prst="rect">
            <a:avLst/>
          </a:prstGeom>
        </p:spPr>
        <p:txBody>
          <a:bodyPr anchorCtr="0" anchor="t" bIns="91425" lIns="91425" spcFirstLastPara="1" rIns="91425" wrap="square" tIns="91425">
            <a:normAutofit/>
          </a:bodyPr>
          <a:lstStyle/>
          <a:p>
            <a:pPr indent="-374650" lvl="0" marL="457200" rtl="0" algn="l">
              <a:spcBef>
                <a:spcPts val="2400"/>
              </a:spcBef>
              <a:spcAft>
                <a:spcPts val="0"/>
              </a:spcAft>
              <a:buClr>
                <a:srgbClr val="000000"/>
              </a:buClr>
              <a:buSzPts val="2300"/>
              <a:buFont typeface="Arial"/>
              <a:buAutoNum type="arabicPeriod"/>
            </a:pPr>
            <a:r>
              <a:rPr b="1" lang="en" sz="2300">
                <a:solidFill>
                  <a:srgbClr val="000000"/>
                </a:solidFill>
                <a:latin typeface="Arial"/>
                <a:ea typeface="Arial"/>
                <a:cs typeface="Arial"/>
                <a:sym typeface="Arial"/>
              </a:rPr>
              <a:t>Page Shipping vs Item Shipping</a:t>
            </a:r>
            <a:endParaRPr b="1" sz="2300">
              <a:solidFill>
                <a:srgbClr val="000000"/>
              </a:solidFill>
              <a:latin typeface="Arial"/>
              <a:ea typeface="Arial"/>
              <a:cs typeface="Arial"/>
              <a:sym typeface="Arial"/>
            </a:endParaRPr>
          </a:p>
          <a:p>
            <a:pPr indent="0" lvl="0" marL="0" rtl="0" algn="l">
              <a:spcBef>
                <a:spcPts val="1400"/>
              </a:spcBef>
              <a:spcAft>
                <a:spcPts val="0"/>
              </a:spcAft>
              <a:buNone/>
            </a:pPr>
            <a:r>
              <a:rPr b="1" lang="en" sz="1300">
                <a:solidFill>
                  <a:srgbClr val="000000"/>
                </a:solidFill>
                <a:latin typeface="Arial"/>
                <a:ea typeface="Arial"/>
                <a:cs typeface="Arial"/>
                <a:sym typeface="Arial"/>
              </a:rPr>
              <a:t>Item = tuple or object</a:t>
            </a:r>
            <a:endParaRPr b="1" sz="1300">
              <a:solidFill>
                <a:srgbClr val="000000"/>
              </a:solidFill>
              <a:latin typeface="Arial"/>
              <a:ea typeface="Arial"/>
              <a:cs typeface="Arial"/>
              <a:sym typeface="Arial"/>
            </a:endParaRPr>
          </a:p>
          <a:p>
            <a:pPr indent="0" lvl="0" marL="0" rtl="0" algn="l">
              <a:spcBef>
                <a:spcPts val="1400"/>
              </a:spcBef>
              <a:spcAft>
                <a:spcPts val="0"/>
              </a:spcAft>
              <a:buNone/>
            </a:pPr>
            <a:r>
              <a:rPr b="1" lang="en" sz="1300">
                <a:solidFill>
                  <a:srgbClr val="000000"/>
                </a:solidFill>
                <a:latin typeface="Arial"/>
                <a:ea typeface="Arial"/>
                <a:cs typeface="Arial"/>
                <a:sym typeface="Arial"/>
              </a:rPr>
              <a:t>Two approaches:</a:t>
            </a:r>
            <a:endParaRPr b="1" sz="1300">
              <a:solidFill>
                <a:srgbClr val="000000"/>
              </a:solidFill>
              <a:latin typeface="Arial"/>
              <a:ea typeface="Arial"/>
              <a:cs typeface="Arial"/>
              <a:sym typeface="Arial"/>
            </a:endParaRPr>
          </a:p>
          <a:p>
            <a:pPr indent="0" lvl="0" marL="0" rtl="0" algn="l">
              <a:spcBef>
                <a:spcPts val="1400"/>
              </a:spcBef>
              <a:spcAft>
                <a:spcPts val="0"/>
              </a:spcAft>
              <a:buNone/>
            </a:pPr>
            <a:r>
              <a:rPr b="1" lang="en" sz="1300">
                <a:solidFill>
                  <a:srgbClr val="000000"/>
                </a:solidFill>
                <a:latin typeface="Arial"/>
                <a:ea typeface="Arial"/>
                <a:cs typeface="Arial"/>
                <a:sym typeface="Arial"/>
              </a:rPr>
              <a:t>A. Item Shipping (fine-grained)</a:t>
            </a:r>
            <a:endParaRPr b="1" sz="13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Sends </a:t>
            </a:r>
            <a:r>
              <a:rPr b="1" lang="en" sz="1100">
                <a:solidFill>
                  <a:srgbClr val="000000"/>
                </a:solidFill>
                <a:latin typeface="Arial"/>
                <a:ea typeface="Arial"/>
                <a:cs typeface="Arial"/>
                <a:sym typeface="Arial"/>
              </a:rPr>
              <a:t>one item at a time</a:t>
            </a:r>
            <a:endParaRPr b="1"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Too much message overhead (slow)</a:t>
            </a:r>
            <a:endParaRPr sz="1100">
              <a:solidFill>
                <a:srgbClr val="000000"/>
              </a:solidFill>
              <a:latin typeface="Arial"/>
              <a:ea typeface="Arial"/>
              <a:cs typeface="Arial"/>
              <a:sym typeface="Arial"/>
            </a:endParaRPr>
          </a:p>
          <a:p>
            <a:pPr indent="0" lvl="0" marL="0" rtl="0" algn="l">
              <a:spcBef>
                <a:spcPts val="1400"/>
              </a:spcBef>
              <a:spcAft>
                <a:spcPts val="0"/>
              </a:spcAft>
              <a:buNone/>
            </a:pPr>
            <a:r>
              <a:rPr b="1" lang="en" sz="1300">
                <a:solidFill>
                  <a:srgbClr val="000000"/>
                </a:solidFill>
                <a:latin typeface="Arial"/>
                <a:ea typeface="Arial"/>
                <a:cs typeface="Arial"/>
                <a:sym typeface="Arial"/>
              </a:rPr>
              <a:t>B. Page Shipping (coarse-grained)</a:t>
            </a:r>
            <a:endParaRPr b="1" sz="13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Sends </a:t>
            </a:r>
            <a:r>
              <a:rPr b="1" lang="en" sz="1100">
                <a:solidFill>
                  <a:srgbClr val="000000"/>
                </a:solidFill>
                <a:latin typeface="Arial"/>
                <a:ea typeface="Arial"/>
                <a:cs typeface="Arial"/>
                <a:sym typeface="Arial"/>
              </a:rPr>
              <a:t>an entire page</a:t>
            </a:r>
            <a:r>
              <a:rPr lang="en" sz="1100">
                <a:solidFill>
                  <a:srgbClr val="000000"/>
                </a:solidFill>
                <a:latin typeface="Arial"/>
                <a:ea typeface="Arial"/>
                <a:cs typeface="Arial"/>
                <a:sym typeface="Arial"/>
              </a:rPr>
              <a:t> that contains many items</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Works like </a:t>
            </a:r>
            <a:r>
              <a:rPr b="1" lang="en" sz="1100">
                <a:solidFill>
                  <a:srgbClr val="000000"/>
                </a:solidFill>
                <a:latin typeface="Arial"/>
                <a:ea typeface="Arial"/>
                <a:cs typeface="Arial"/>
                <a:sym typeface="Arial"/>
              </a:rPr>
              <a:t>prefetching</a:t>
            </a:r>
            <a:r>
              <a:rPr lang="en" sz="1100">
                <a:solidFill>
                  <a:srgbClr val="000000"/>
                </a:solidFill>
                <a:latin typeface="Arial"/>
                <a:ea typeface="Arial"/>
                <a:cs typeface="Arial"/>
                <a:sym typeface="Arial"/>
              </a:rPr>
              <a:t> because it brings more data than asked</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Faster because fewer messages</a:t>
            </a:r>
            <a:endParaRPr sz="1100">
              <a:solidFill>
                <a:srgbClr val="000000"/>
              </a:solidFill>
              <a:latin typeface="Arial"/>
              <a:ea typeface="Arial"/>
              <a:cs typeface="Arial"/>
              <a:sym typeface="Arial"/>
            </a:endParaRPr>
          </a:p>
          <a:p>
            <a:pPr indent="0" lvl="0" marL="0" rtl="0" algn="l">
              <a:spcBef>
                <a:spcPts val="1200"/>
              </a:spcBef>
              <a:spcAft>
                <a:spcPts val="1200"/>
              </a:spcAft>
              <a:buNone/>
            </a:pPr>
            <a:r>
              <a:rPr b="1" lang="en" sz="1100">
                <a:solidFill>
                  <a:srgbClr val="000000"/>
                </a:solidFill>
                <a:latin typeface="Arial"/>
                <a:ea typeface="Arial"/>
                <a:cs typeface="Arial"/>
                <a:sym typeface="Arial"/>
              </a:rPr>
              <a:t>Page shipping is generally better</a:t>
            </a:r>
            <a:r>
              <a:rPr lang="en" sz="1100">
                <a:solidFill>
                  <a:srgbClr val="000000"/>
                </a:solidFill>
                <a:latin typeface="Arial"/>
                <a:ea typeface="Arial"/>
                <a:cs typeface="Arial"/>
                <a:sym typeface="Arial"/>
              </a:rPr>
              <a: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32"/>
          <p:cNvSpPr txBox="1"/>
          <p:nvPr>
            <p:ph idx="1" type="body"/>
          </p:nvPr>
        </p:nvSpPr>
        <p:spPr>
          <a:xfrm>
            <a:off x="311700" y="859750"/>
            <a:ext cx="8520600" cy="3709200"/>
          </a:xfrm>
          <a:prstGeom prst="rect">
            <a:avLst/>
          </a:prstGeom>
        </p:spPr>
        <p:txBody>
          <a:bodyPr anchorCtr="0" anchor="t" bIns="91425" lIns="91425" spcFirstLastPara="1" rIns="91425" wrap="square" tIns="91425">
            <a:normAutofit/>
          </a:bodyPr>
          <a:lstStyle/>
          <a:p>
            <a:pPr indent="0" lvl="0" marL="0" rtl="0" algn="l">
              <a:spcBef>
                <a:spcPts val="2400"/>
              </a:spcBef>
              <a:spcAft>
                <a:spcPts val="0"/>
              </a:spcAft>
              <a:buNone/>
            </a:pPr>
            <a:r>
              <a:rPr b="1" lang="en" sz="2300">
                <a:solidFill>
                  <a:srgbClr val="000000"/>
                </a:solidFill>
                <a:latin typeface="Arial"/>
                <a:ea typeface="Arial"/>
                <a:cs typeface="Arial"/>
                <a:sym typeface="Arial"/>
              </a:rPr>
              <a:t>2. Adaptive Lock Granularity</a:t>
            </a:r>
            <a:endParaRPr b="1" sz="23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Server gives locks </a:t>
            </a:r>
            <a:r>
              <a:rPr b="1" lang="en" sz="1100">
                <a:solidFill>
                  <a:srgbClr val="000000"/>
                </a:solidFill>
                <a:latin typeface="Arial"/>
                <a:ea typeface="Arial"/>
                <a:cs typeface="Arial"/>
                <a:sym typeface="Arial"/>
              </a:rPr>
              <a:t>for whatever it sends</a:t>
            </a:r>
            <a:r>
              <a:rPr lang="en" sz="1100">
                <a:solidFill>
                  <a:srgbClr val="000000"/>
                </a:solidFill>
                <a:latin typeface="Arial"/>
                <a:ea typeface="Arial"/>
                <a:cs typeface="Arial"/>
                <a:sym typeface="Arial"/>
              </a:rPr>
              <a:t> to the client.</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With page shipping, client gets a </a:t>
            </a:r>
            <a:r>
              <a:rPr b="1" lang="en" sz="1100">
                <a:solidFill>
                  <a:srgbClr val="000000"/>
                </a:solidFill>
                <a:latin typeface="Arial"/>
                <a:ea typeface="Arial"/>
                <a:cs typeface="Arial"/>
                <a:sym typeface="Arial"/>
              </a:rPr>
              <a:t>lock on the whole page</a:t>
            </a:r>
            <a:r>
              <a:rPr lang="en" sz="1100">
                <a:solidFill>
                  <a:srgbClr val="000000"/>
                </a:solidFill>
                <a:latin typeface="Arial"/>
                <a:ea typeface="Arial"/>
                <a:cs typeface="Arial"/>
                <a:sym typeface="Arial"/>
              </a:rPr>
              <a:t>, even if it needs only one item → too coarse.</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This may </a:t>
            </a:r>
            <a:r>
              <a:rPr b="1" lang="en" sz="1100">
                <a:solidFill>
                  <a:srgbClr val="000000"/>
                </a:solidFill>
                <a:latin typeface="Arial"/>
                <a:ea typeface="Arial"/>
                <a:cs typeface="Arial"/>
                <a:sym typeface="Arial"/>
              </a:rPr>
              <a:t>block other clients unnecessarily</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0" rtl="0" algn="l">
              <a:spcBef>
                <a:spcPts val="1400"/>
              </a:spcBef>
              <a:spcAft>
                <a:spcPts val="0"/>
              </a:spcAft>
              <a:buNone/>
            </a:pPr>
            <a:r>
              <a:rPr b="1" lang="en" sz="1300">
                <a:solidFill>
                  <a:srgbClr val="000000"/>
                </a:solidFill>
                <a:latin typeface="Arial"/>
                <a:ea typeface="Arial"/>
                <a:cs typeface="Arial"/>
                <a:sym typeface="Arial"/>
              </a:rPr>
              <a:t>Solution → Lock De-escalation</a:t>
            </a:r>
            <a:endParaRPr b="1" sz="13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Server can ask client to </a:t>
            </a:r>
            <a:r>
              <a:rPr b="1" lang="en" sz="1100">
                <a:solidFill>
                  <a:srgbClr val="000000"/>
                </a:solidFill>
                <a:latin typeface="Arial"/>
                <a:ea typeface="Arial"/>
                <a:cs typeface="Arial"/>
                <a:sym typeface="Arial"/>
              </a:rPr>
              <a:t>return locks</a:t>
            </a:r>
            <a:r>
              <a:rPr lang="en" sz="1100">
                <a:solidFill>
                  <a:srgbClr val="000000"/>
                </a:solidFill>
                <a:latin typeface="Arial"/>
                <a:ea typeface="Arial"/>
                <a:cs typeface="Arial"/>
                <a:sym typeface="Arial"/>
              </a:rPr>
              <a:t> on prefetched items it doesn’t need.</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Returned locks can then be given to other clients.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33"/>
          <p:cNvSpPr txBox="1"/>
          <p:nvPr>
            <p:ph idx="1" type="body"/>
          </p:nvPr>
        </p:nvSpPr>
        <p:spPr>
          <a:xfrm>
            <a:off x="311700" y="774200"/>
            <a:ext cx="8520600" cy="3794700"/>
          </a:xfrm>
          <a:prstGeom prst="rect">
            <a:avLst/>
          </a:prstGeom>
        </p:spPr>
        <p:txBody>
          <a:bodyPr anchorCtr="0" anchor="t" bIns="91425" lIns="91425" spcFirstLastPara="1" rIns="91425" wrap="square" tIns="91425">
            <a:normAutofit lnSpcReduction="10000"/>
          </a:bodyPr>
          <a:lstStyle/>
          <a:p>
            <a:pPr indent="0" lvl="0" marL="0" rtl="0" algn="l">
              <a:spcBef>
                <a:spcPts val="2400"/>
              </a:spcBef>
              <a:spcAft>
                <a:spcPts val="0"/>
              </a:spcAft>
              <a:buNone/>
            </a:pPr>
            <a:r>
              <a:rPr b="1" lang="en" sz="2300">
                <a:solidFill>
                  <a:srgbClr val="000000"/>
                </a:solidFill>
                <a:latin typeface="Arial"/>
                <a:ea typeface="Arial"/>
                <a:cs typeface="Arial"/>
                <a:sym typeface="Arial"/>
              </a:rPr>
              <a:t>3. Data Caching at Client</a:t>
            </a:r>
            <a:endParaRPr b="1" sz="23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Data shipped to a client can remain in the client cache even after the transaction ends.</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Next transaction on the same client can reuse it.</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0" lvl="0" marL="0" rtl="0" algn="l">
              <a:spcBef>
                <a:spcPts val="1400"/>
              </a:spcBef>
              <a:spcAft>
                <a:spcPts val="0"/>
              </a:spcAft>
              <a:buNone/>
            </a:pPr>
            <a:r>
              <a:rPr b="1" lang="en" sz="1300">
                <a:solidFill>
                  <a:srgbClr val="000000"/>
                </a:solidFill>
                <a:latin typeface="Arial"/>
                <a:ea typeface="Arial"/>
                <a:cs typeface="Arial"/>
                <a:sym typeface="Arial"/>
              </a:rPr>
              <a:t>But there is a problem → Cache Coherency</a:t>
            </a:r>
            <a:endParaRPr b="1" sz="13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Client must check:</a:t>
            </a:r>
            <a:endParaRPr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Is the cached data still valid?</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Has another client updated the data?</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Therefore, client must </a:t>
            </a:r>
            <a:r>
              <a:rPr b="1" lang="en" sz="1100">
                <a:solidFill>
                  <a:srgbClr val="000000"/>
                </a:solidFill>
                <a:latin typeface="Arial"/>
                <a:ea typeface="Arial"/>
                <a:cs typeface="Arial"/>
                <a:sym typeface="Arial"/>
              </a:rPr>
              <a:t>still talk to the server</a:t>
            </a:r>
            <a:r>
              <a:rPr lang="en" sz="1100">
                <a:solidFill>
                  <a:srgbClr val="000000"/>
                </a:solidFill>
                <a:latin typeface="Arial"/>
                <a:ea typeface="Arial"/>
                <a:cs typeface="Arial"/>
                <a:sym typeface="Arial"/>
              </a:rPr>
              <a:t> to check validity and get a lock.</a:t>
            </a: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34"/>
          <p:cNvSpPr txBox="1"/>
          <p:nvPr>
            <p:ph idx="1" type="body"/>
          </p:nvPr>
        </p:nvSpPr>
        <p:spPr>
          <a:xfrm>
            <a:off x="311700" y="645875"/>
            <a:ext cx="8520600" cy="3923100"/>
          </a:xfrm>
          <a:prstGeom prst="rect">
            <a:avLst/>
          </a:prstGeom>
        </p:spPr>
        <p:txBody>
          <a:bodyPr anchorCtr="0" anchor="t" bIns="91425" lIns="91425" spcFirstLastPara="1" rIns="91425" wrap="square" tIns="91425">
            <a:normAutofit lnSpcReduction="20000"/>
          </a:bodyPr>
          <a:lstStyle/>
          <a:p>
            <a:pPr indent="0" lvl="0" marL="0" rtl="0" algn="l">
              <a:spcBef>
                <a:spcPts val="2400"/>
              </a:spcBef>
              <a:spcAft>
                <a:spcPts val="0"/>
              </a:spcAft>
              <a:buNone/>
            </a:pPr>
            <a:r>
              <a:rPr b="1" lang="en" sz="2300">
                <a:solidFill>
                  <a:srgbClr val="000000"/>
                </a:solidFill>
                <a:latin typeface="Arial"/>
                <a:ea typeface="Arial"/>
                <a:cs typeface="Arial"/>
                <a:sym typeface="Arial"/>
              </a:rPr>
              <a:t>4. Lock Caching</a:t>
            </a:r>
            <a:endParaRPr b="1" sz="23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If clients mostly use </a:t>
            </a:r>
            <a:r>
              <a:rPr b="1" lang="en" sz="1100">
                <a:solidFill>
                  <a:srgbClr val="000000"/>
                </a:solidFill>
                <a:latin typeface="Arial"/>
                <a:ea typeface="Arial"/>
                <a:cs typeface="Arial"/>
                <a:sym typeface="Arial"/>
              </a:rPr>
              <a:t>different sets of data</a:t>
            </a:r>
            <a:r>
              <a:rPr lang="en" sz="1100">
                <a:solidFill>
                  <a:srgbClr val="000000"/>
                </a:solidFill>
                <a:latin typeface="Arial"/>
                <a:ea typeface="Arial"/>
                <a:cs typeface="Arial"/>
                <a:sym typeface="Arial"/>
              </a:rPr>
              <a:t>, locks can be cached on the client.</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If the required lock is already in cache:</a:t>
            </a:r>
            <a:br>
              <a:rPr lang="en" sz="1100">
                <a:solidFill>
                  <a:srgbClr val="000000"/>
                </a:solidFill>
                <a:latin typeface="Arial"/>
                <a:ea typeface="Arial"/>
                <a:cs typeface="Arial"/>
                <a:sym typeface="Arial"/>
              </a:rPr>
            </a:br>
            <a:r>
              <a:rPr lang="en" sz="1100">
                <a:solidFill>
                  <a:srgbClr val="000000"/>
                </a:solidFill>
                <a:latin typeface="Arial"/>
                <a:ea typeface="Arial"/>
                <a:cs typeface="Arial"/>
                <a:sym typeface="Arial"/>
              </a:rPr>
              <a:t>	 No need to contact the server</a:t>
            </a:r>
            <a:br>
              <a:rPr lang="en" sz="1100">
                <a:solidFill>
                  <a:srgbClr val="000000"/>
                </a:solidFill>
                <a:latin typeface="Arial"/>
                <a:ea typeface="Arial"/>
                <a:cs typeface="Arial"/>
                <a:sym typeface="Arial"/>
              </a:rPr>
            </a:br>
            <a:r>
              <a:rPr lang="en" sz="1100">
                <a:solidFill>
                  <a:srgbClr val="000000"/>
                </a:solidFill>
                <a:latin typeface="Arial"/>
                <a:ea typeface="Arial"/>
                <a:cs typeface="Arial"/>
                <a:sym typeface="Arial"/>
              </a:rPr>
              <a:t> 	Faster access</a:t>
            </a:r>
            <a:endParaRPr sz="1100">
              <a:solidFill>
                <a:srgbClr val="000000"/>
              </a:solidFill>
              <a:latin typeface="Arial"/>
              <a:ea typeface="Arial"/>
              <a:cs typeface="Arial"/>
              <a:sym typeface="Arial"/>
            </a:endParaRPr>
          </a:p>
          <a:p>
            <a:pPr indent="0" lvl="0" marL="0" rtl="0" algn="l">
              <a:spcBef>
                <a:spcPts val="1400"/>
              </a:spcBef>
              <a:spcAft>
                <a:spcPts val="0"/>
              </a:spcAft>
              <a:buNone/>
            </a:pPr>
            <a:r>
              <a:rPr b="1" lang="en" sz="1300">
                <a:solidFill>
                  <a:srgbClr val="000000"/>
                </a:solidFill>
                <a:latin typeface="Arial"/>
                <a:ea typeface="Arial"/>
                <a:cs typeface="Arial"/>
                <a:sym typeface="Arial"/>
              </a:rPr>
              <a:t>But:</a:t>
            </a:r>
            <a:endParaRPr b="1" sz="13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Server must track which client holds cached locks</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If another client needs a conflicting lock:</a:t>
            </a:r>
            <a:br>
              <a:rPr lang="en" sz="1100">
                <a:solidFill>
                  <a:srgbClr val="000000"/>
                </a:solidFill>
                <a:latin typeface="Arial"/>
                <a:ea typeface="Arial"/>
                <a:cs typeface="Arial"/>
                <a:sym typeface="Arial"/>
              </a:rPr>
            </a:br>
            <a:r>
              <a:rPr lang="en" sz="1100">
                <a:solidFill>
                  <a:srgbClr val="000000"/>
                </a:solidFill>
                <a:latin typeface="Arial"/>
                <a:ea typeface="Arial"/>
                <a:cs typeface="Arial"/>
                <a:sym typeface="Arial"/>
              </a:rPr>
              <a:t> 	Server must </a:t>
            </a:r>
            <a:r>
              <a:rPr b="1" lang="en" sz="1100">
                <a:solidFill>
                  <a:srgbClr val="000000"/>
                </a:solidFill>
                <a:latin typeface="Arial"/>
                <a:ea typeface="Arial"/>
                <a:cs typeface="Arial"/>
                <a:sym typeface="Arial"/>
              </a:rPr>
              <a:t>call back</a:t>
            </a:r>
            <a:r>
              <a:rPr lang="en" sz="1100">
                <a:solidFill>
                  <a:srgbClr val="000000"/>
                </a:solidFill>
                <a:latin typeface="Arial"/>
                <a:ea typeface="Arial"/>
                <a:cs typeface="Arial"/>
                <a:sym typeface="Arial"/>
              </a:rPr>
              <a:t> the lock from the old client</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Handling failures becomes complicated</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Lock caching works </a:t>
            </a:r>
            <a:r>
              <a:rPr b="1" lang="en" sz="1100">
                <a:solidFill>
                  <a:srgbClr val="000000"/>
                </a:solidFill>
                <a:latin typeface="Arial"/>
                <a:ea typeface="Arial"/>
                <a:cs typeface="Arial"/>
                <a:sym typeface="Arial"/>
              </a:rPr>
              <a:t>across transactions</a:t>
            </a:r>
            <a:r>
              <a:rPr lang="en" sz="1100">
                <a:solidFill>
                  <a:srgbClr val="000000"/>
                </a:solidFill>
                <a:latin typeface="Arial"/>
                <a:ea typeface="Arial"/>
                <a:cs typeface="Arial"/>
                <a:sym typeface="Arial"/>
              </a:rPr>
              <a:t>, unlike lock de-escalation.</a:t>
            </a: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5"/>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Parallel Systems</a:t>
            </a:r>
            <a:endParaRPr/>
          </a:p>
        </p:txBody>
      </p:sp>
      <p:sp>
        <p:nvSpPr>
          <p:cNvPr id="185" name="Google Shape;185;p35"/>
          <p:cNvSpPr txBox="1"/>
          <p:nvPr>
            <p:ph idx="1" type="body"/>
          </p:nvPr>
        </p:nvSpPr>
        <p:spPr>
          <a:xfrm>
            <a:off x="311700" y="1266325"/>
            <a:ext cx="8520600" cy="3302700"/>
          </a:xfrm>
          <a:prstGeom prst="rect">
            <a:avLst/>
          </a:prstGeom>
        </p:spPr>
        <p:txBody>
          <a:bodyPr anchorCtr="0" anchor="t" bIns="91425" lIns="91425" spcFirstLastPara="1" rIns="91425" wrap="square" tIns="91425">
            <a:normAutofit lnSpcReduction="10000"/>
          </a:bodyPr>
          <a:lstStyle/>
          <a:p>
            <a:pPr indent="0" lvl="0" marL="0" rtl="0" algn="l">
              <a:spcBef>
                <a:spcPts val="1400"/>
              </a:spcBef>
              <a:spcAft>
                <a:spcPts val="0"/>
              </a:spcAft>
              <a:buNone/>
            </a:pPr>
            <a:r>
              <a:rPr b="1" lang="en" sz="1300">
                <a:solidFill>
                  <a:srgbClr val="000000"/>
                </a:solidFill>
                <a:latin typeface="Arial"/>
                <a:ea typeface="Arial"/>
                <a:cs typeface="Arial"/>
                <a:sym typeface="Arial"/>
              </a:rPr>
              <a:t>1. Meaning</a:t>
            </a:r>
            <a:endParaRPr b="1" sz="13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Parallel systems use </a:t>
            </a:r>
            <a:r>
              <a:rPr b="1" lang="en" sz="1100">
                <a:solidFill>
                  <a:srgbClr val="000000"/>
                </a:solidFill>
                <a:latin typeface="Arial"/>
                <a:ea typeface="Arial"/>
                <a:cs typeface="Arial"/>
                <a:sym typeface="Arial"/>
              </a:rPr>
              <a:t>multiple processors and disks</a:t>
            </a:r>
            <a:r>
              <a:rPr lang="en" sz="1100">
                <a:solidFill>
                  <a:srgbClr val="000000"/>
                </a:solidFill>
                <a:latin typeface="Arial"/>
                <a:ea typeface="Arial"/>
                <a:cs typeface="Arial"/>
                <a:sym typeface="Arial"/>
              </a:rPr>
              <a:t> working simultaneously to improve the </a:t>
            </a:r>
            <a:r>
              <a:rPr b="1" lang="en" sz="1100">
                <a:solidFill>
                  <a:srgbClr val="000000"/>
                </a:solidFill>
                <a:latin typeface="Arial"/>
                <a:ea typeface="Arial"/>
                <a:cs typeface="Arial"/>
                <a:sym typeface="Arial"/>
              </a:rPr>
              <a:t>speed of processing and I/O operations</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0" rtl="0" algn="l">
              <a:spcBef>
                <a:spcPts val="1400"/>
              </a:spcBef>
              <a:spcAft>
                <a:spcPts val="0"/>
              </a:spcAft>
              <a:buNone/>
            </a:pPr>
            <a:r>
              <a:rPr b="1" lang="en" sz="1300">
                <a:solidFill>
                  <a:srgbClr val="000000"/>
                </a:solidFill>
                <a:latin typeface="Arial"/>
                <a:ea typeface="Arial"/>
                <a:cs typeface="Arial"/>
                <a:sym typeface="Arial"/>
              </a:rPr>
              <a:t>2. Need for Parallel Database Systems</a:t>
            </a:r>
            <a:endParaRPr b="1" sz="13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Used for applications that require:</a:t>
            </a:r>
            <a:endParaRPr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Querying </a:t>
            </a:r>
            <a:r>
              <a:rPr b="1" lang="en" sz="1100">
                <a:solidFill>
                  <a:srgbClr val="000000"/>
                </a:solidFill>
                <a:latin typeface="Arial"/>
                <a:ea typeface="Arial"/>
                <a:cs typeface="Arial"/>
                <a:sym typeface="Arial"/>
              </a:rPr>
              <a:t>very large databases</a:t>
            </a:r>
            <a:r>
              <a:rPr lang="en" sz="1100">
                <a:solidFill>
                  <a:srgbClr val="000000"/>
                </a:solidFill>
                <a:latin typeface="Arial"/>
                <a:ea typeface="Arial"/>
                <a:cs typeface="Arial"/>
                <a:sym typeface="Arial"/>
              </a:rPr>
              <a:t> (terabytes)</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Handling </a:t>
            </a:r>
            <a:r>
              <a:rPr b="1" lang="en" sz="1100">
                <a:solidFill>
                  <a:srgbClr val="000000"/>
                </a:solidFill>
                <a:latin typeface="Arial"/>
                <a:ea typeface="Arial"/>
                <a:cs typeface="Arial"/>
                <a:sym typeface="Arial"/>
              </a:rPr>
              <a:t>very high transaction rates</a:t>
            </a:r>
            <a:r>
              <a:rPr lang="en" sz="1100">
                <a:solidFill>
                  <a:srgbClr val="000000"/>
                </a:solidFill>
                <a:latin typeface="Arial"/>
                <a:ea typeface="Arial"/>
                <a:cs typeface="Arial"/>
                <a:sym typeface="Arial"/>
              </a:rPr>
              <a:t> (thousands per second)</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Centralized or client–server systems are not powerful enough for such workloads.</a:t>
            </a: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6"/>
          <p:cNvSpPr txBox="1"/>
          <p:nvPr>
            <p:ph idx="1" type="body"/>
          </p:nvPr>
        </p:nvSpPr>
        <p:spPr>
          <a:xfrm>
            <a:off x="311700" y="464100"/>
            <a:ext cx="8520600" cy="4104900"/>
          </a:xfrm>
          <a:prstGeom prst="rect">
            <a:avLst/>
          </a:prstGeom>
        </p:spPr>
        <p:txBody>
          <a:bodyPr anchorCtr="0" anchor="t" bIns="91425" lIns="91425" spcFirstLastPara="1" rIns="91425" wrap="square" tIns="91425">
            <a:normAutofit lnSpcReduction="10000"/>
          </a:bodyPr>
          <a:lstStyle/>
          <a:p>
            <a:pPr indent="0" lvl="0" marL="0" rtl="0" algn="l">
              <a:spcBef>
                <a:spcPts val="1400"/>
              </a:spcBef>
              <a:spcAft>
                <a:spcPts val="0"/>
              </a:spcAft>
              <a:buNone/>
            </a:pPr>
            <a:r>
              <a:rPr b="1" lang="en" sz="1300">
                <a:solidFill>
                  <a:srgbClr val="000000"/>
                </a:solidFill>
                <a:latin typeface="Arial"/>
                <a:ea typeface="Arial"/>
                <a:cs typeface="Arial"/>
                <a:sym typeface="Arial"/>
              </a:rPr>
              <a:t>3. Serial vs Parallel Processing</a:t>
            </a:r>
            <a:endParaRPr b="1" sz="13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b="1" lang="en" sz="1100">
                <a:solidFill>
                  <a:srgbClr val="000000"/>
                </a:solidFill>
                <a:latin typeface="Arial"/>
                <a:ea typeface="Arial"/>
                <a:cs typeface="Arial"/>
                <a:sym typeface="Arial"/>
              </a:rPr>
              <a:t>Serial processing</a:t>
            </a:r>
            <a:r>
              <a:rPr lang="en" sz="1100">
                <a:solidFill>
                  <a:srgbClr val="000000"/>
                </a:solidFill>
                <a:latin typeface="Arial"/>
                <a:ea typeface="Arial"/>
                <a:cs typeface="Arial"/>
                <a:sym typeface="Arial"/>
              </a:rPr>
              <a:t>: Tasks performed </a:t>
            </a:r>
            <a:r>
              <a:rPr b="1" lang="en" sz="1100">
                <a:solidFill>
                  <a:srgbClr val="000000"/>
                </a:solidFill>
                <a:latin typeface="Arial"/>
                <a:ea typeface="Arial"/>
                <a:cs typeface="Arial"/>
                <a:sym typeface="Arial"/>
              </a:rPr>
              <a:t>one after another</a:t>
            </a:r>
            <a:r>
              <a:rPr lang="en" sz="1100">
                <a:solidFill>
                  <a:srgbClr val="000000"/>
                </a:solidFill>
                <a:latin typeface="Arial"/>
                <a:ea typeface="Arial"/>
                <a:cs typeface="Arial"/>
                <a:sym typeface="Arial"/>
              </a:rPr>
              <a:t>.</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b="1" lang="en" sz="1100">
                <a:solidFill>
                  <a:srgbClr val="000000"/>
                </a:solidFill>
                <a:latin typeface="Arial"/>
                <a:ea typeface="Arial"/>
                <a:cs typeface="Arial"/>
                <a:sym typeface="Arial"/>
              </a:rPr>
              <a:t>Parallel processing</a:t>
            </a:r>
            <a:r>
              <a:rPr lang="en" sz="1100">
                <a:solidFill>
                  <a:srgbClr val="000000"/>
                </a:solidFill>
                <a:latin typeface="Arial"/>
                <a:ea typeface="Arial"/>
                <a:cs typeface="Arial"/>
                <a:sym typeface="Arial"/>
              </a:rPr>
              <a:t>: Multiple operations run </a:t>
            </a:r>
            <a:r>
              <a:rPr b="1" lang="en" sz="1100">
                <a:solidFill>
                  <a:srgbClr val="000000"/>
                </a:solidFill>
                <a:latin typeface="Arial"/>
                <a:ea typeface="Arial"/>
                <a:cs typeface="Arial"/>
                <a:sym typeface="Arial"/>
              </a:rPr>
              <a:t>at the same time</a:t>
            </a:r>
            <a:r>
              <a:rPr lang="en" sz="1100">
                <a:solidFill>
                  <a:srgbClr val="000000"/>
                </a:solidFill>
                <a:latin typeface="Arial"/>
                <a:ea typeface="Arial"/>
                <a:cs typeface="Arial"/>
                <a:sym typeface="Arial"/>
              </a:rPr>
              <a:t>, reducing time and increasing throughput.</a:t>
            </a:r>
            <a:endParaRPr sz="1100">
              <a:solidFill>
                <a:srgbClr val="000000"/>
              </a:solidFill>
              <a:latin typeface="Arial"/>
              <a:ea typeface="Arial"/>
              <a:cs typeface="Arial"/>
              <a:sym typeface="Arial"/>
            </a:endParaRPr>
          </a:p>
          <a:p>
            <a:pPr indent="0" lvl="0" marL="0" rtl="0" algn="l">
              <a:spcBef>
                <a:spcPts val="1400"/>
              </a:spcBef>
              <a:spcAft>
                <a:spcPts val="0"/>
              </a:spcAft>
              <a:buNone/>
            </a:pPr>
            <a:r>
              <a:rPr b="1" lang="en" sz="1300">
                <a:solidFill>
                  <a:srgbClr val="000000"/>
                </a:solidFill>
                <a:latin typeface="Arial"/>
                <a:ea typeface="Arial"/>
                <a:cs typeface="Arial"/>
                <a:sym typeface="Arial"/>
              </a:rPr>
              <a:t>4. Types of Parallel Machines</a:t>
            </a:r>
            <a:endParaRPr b="1" sz="13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AutoNum type="arabicPeriod"/>
            </a:pPr>
            <a:r>
              <a:rPr b="1" lang="en" sz="1100">
                <a:solidFill>
                  <a:srgbClr val="000000"/>
                </a:solidFill>
                <a:latin typeface="Arial"/>
                <a:ea typeface="Arial"/>
                <a:cs typeface="Arial"/>
                <a:sym typeface="Arial"/>
              </a:rPr>
              <a:t>Coarse-grain parallel machines</a:t>
            </a:r>
            <a:br>
              <a:rPr b="1" lang="en" sz="1100">
                <a:solidFill>
                  <a:srgbClr val="000000"/>
                </a:solidFill>
                <a:latin typeface="Arial"/>
                <a:ea typeface="Arial"/>
                <a:cs typeface="Arial"/>
                <a:sym typeface="Arial"/>
              </a:rPr>
            </a:br>
            <a:endParaRPr b="1"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Few powerful processors (2–4, or tens)</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Available in most modern high-end systems</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AutoNum type="arabicPeriod"/>
            </a:pPr>
            <a:r>
              <a:rPr b="1" lang="en" sz="1100">
                <a:solidFill>
                  <a:srgbClr val="000000"/>
                </a:solidFill>
                <a:latin typeface="Arial"/>
                <a:ea typeface="Arial"/>
                <a:cs typeface="Arial"/>
                <a:sym typeface="Arial"/>
              </a:rPr>
              <a:t>Massively parallel (fine-grain) machines</a:t>
            </a:r>
            <a:br>
              <a:rPr b="1" lang="en" sz="1100">
                <a:solidFill>
                  <a:srgbClr val="000000"/>
                </a:solidFill>
                <a:latin typeface="Arial"/>
                <a:ea typeface="Arial"/>
                <a:cs typeface="Arial"/>
                <a:sym typeface="Arial"/>
              </a:rPr>
            </a:br>
            <a:endParaRPr b="1"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Hundreds or thousands of small processors</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Used for large scientific or commercial databases</a:t>
            </a: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7"/>
          <p:cNvSpPr txBox="1"/>
          <p:nvPr>
            <p:ph idx="1" type="body"/>
          </p:nvPr>
        </p:nvSpPr>
        <p:spPr>
          <a:xfrm>
            <a:off x="311700" y="603100"/>
            <a:ext cx="8520600" cy="39231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None/>
            </a:pPr>
            <a:r>
              <a:rPr b="1" lang="en" sz="1300">
                <a:solidFill>
                  <a:srgbClr val="000000"/>
                </a:solidFill>
                <a:latin typeface="Arial"/>
                <a:ea typeface="Arial"/>
                <a:cs typeface="Arial"/>
                <a:sym typeface="Arial"/>
              </a:rPr>
              <a:t>5. Performance Measures</a:t>
            </a:r>
            <a:endParaRPr b="1" sz="13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AutoNum type="arabicPeriod"/>
            </a:pPr>
            <a:r>
              <a:rPr b="1" lang="en" sz="1100">
                <a:solidFill>
                  <a:srgbClr val="000000"/>
                </a:solidFill>
                <a:latin typeface="Arial"/>
                <a:ea typeface="Arial"/>
                <a:cs typeface="Arial"/>
                <a:sym typeface="Arial"/>
              </a:rPr>
              <a:t>Throughput</a:t>
            </a:r>
            <a:br>
              <a:rPr b="1" lang="en" sz="1100">
                <a:solidFill>
                  <a:srgbClr val="000000"/>
                </a:solidFill>
                <a:latin typeface="Arial"/>
                <a:ea typeface="Arial"/>
                <a:cs typeface="Arial"/>
                <a:sym typeface="Arial"/>
              </a:rPr>
            </a:br>
            <a:endParaRPr b="1"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Number of tasks completed in a time period</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Improves by running many transactions in parallel</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AutoNum type="arabicPeriod"/>
            </a:pPr>
            <a:r>
              <a:rPr b="1" lang="en" sz="1100">
                <a:solidFill>
                  <a:srgbClr val="000000"/>
                </a:solidFill>
                <a:latin typeface="Arial"/>
                <a:ea typeface="Arial"/>
                <a:cs typeface="Arial"/>
                <a:sym typeface="Arial"/>
              </a:rPr>
              <a:t>Response Time</a:t>
            </a:r>
            <a:br>
              <a:rPr b="1" lang="en" sz="1100">
                <a:solidFill>
                  <a:srgbClr val="000000"/>
                </a:solidFill>
                <a:latin typeface="Arial"/>
                <a:ea typeface="Arial"/>
                <a:cs typeface="Arial"/>
                <a:sym typeface="Arial"/>
              </a:rPr>
            </a:br>
            <a:endParaRPr b="1"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Time taken to complete a single task</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Improves when large tasks are split into parallel subtasks</a:t>
            </a: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8"/>
          <p:cNvSpPr txBox="1"/>
          <p:nvPr>
            <p:ph idx="1" type="body"/>
          </p:nvPr>
        </p:nvSpPr>
        <p:spPr>
          <a:xfrm>
            <a:off x="311700" y="474775"/>
            <a:ext cx="8520600" cy="40941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None/>
            </a:pPr>
            <a:r>
              <a:rPr b="1" lang="en" sz="1300">
                <a:solidFill>
                  <a:srgbClr val="000000"/>
                </a:solidFill>
                <a:latin typeface="Arial"/>
                <a:ea typeface="Arial"/>
                <a:cs typeface="Arial"/>
                <a:sym typeface="Arial"/>
              </a:rPr>
              <a:t>6. Benefits of Parallel Database Systems</a:t>
            </a:r>
            <a:endParaRPr b="1" sz="13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Faster query processing</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High transaction processing capacity</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Better resource utilization</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Improved availability and reliability</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9"/>
          <p:cNvSpPr txBox="1"/>
          <p:nvPr>
            <p:ph type="title"/>
          </p:nvPr>
        </p:nvSpPr>
        <p:spPr>
          <a:xfrm>
            <a:off x="311700" y="1832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Parallel Database</a:t>
            </a:r>
            <a:endParaRPr/>
          </a:p>
        </p:txBody>
      </p:sp>
      <p:sp>
        <p:nvSpPr>
          <p:cNvPr id="206" name="Google Shape;206;p39"/>
          <p:cNvSpPr txBox="1"/>
          <p:nvPr>
            <p:ph idx="1" type="body"/>
          </p:nvPr>
        </p:nvSpPr>
        <p:spPr>
          <a:xfrm>
            <a:off x="311700" y="890625"/>
            <a:ext cx="8520600" cy="36783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n" sz="1350">
                <a:solidFill>
                  <a:srgbClr val="273239"/>
                </a:solidFill>
                <a:highlight>
                  <a:srgbClr val="FFFFFF"/>
                </a:highlight>
                <a:latin typeface="Nunito"/>
                <a:ea typeface="Nunito"/>
                <a:cs typeface="Nunito"/>
                <a:sym typeface="Nunito"/>
              </a:rPr>
              <a:t>we will discuss the overview of Parallel Databases and then will emphasize their needs and advantages, and then finally, will cover the performance measurement factor-like Speedup and </a:t>
            </a:r>
            <a:r>
              <a:rPr lang="en" sz="1350">
                <a:solidFill>
                  <a:srgbClr val="273239"/>
                </a:solidFill>
                <a:highlight>
                  <a:srgbClr val="FFFFFF"/>
                </a:highlight>
                <a:latin typeface="Nunito"/>
                <a:ea typeface="Nunito"/>
                <a:cs typeface="Nunito"/>
                <a:sym typeface="Nunito"/>
              </a:rPr>
              <a:t>Scaleup</a:t>
            </a:r>
            <a:r>
              <a:rPr lang="en" sz="1350">
                <a:solidFill>
                  <a:srgbClr val="273239"/>
                </a:solidFill>
                <a:highlight>
                  <a:srgbClr val="FFFFFF"/>
                </a:highlight>
                <a:latin typeface="Nunito"/>
                <a:ea typeface="Nunito"/>
                <a:cs typeface="Nunito"/>
                <a:sym typeface="Nunito"/>
              </a:rPr>
              <a:t> with examples. Let's discuss it one by one.</a:t>
            </a:r>
            <a:endParaRPr sz="1350">
              <a:solidFill>
                <a:srgbClr val="273239"/>
              </a:solidFill>
              <a:highlight>
                <a:srgbClr val="FFFFFF"/>
              </a:highlight>
              <a:latin typeface="Nunito"/>
              <a:ea typeface="Nunito"/>
              <a:cs typeface="Nunito"/>
              <a:sym typeface="Nunito"/>
            </a:endParaRPr>
          </a:p>
          <a:p>
            <a:pPr indent="0" lvl="0" marL="0" rtl="0" algn="just">
              <a:spcBef>
                <a:spcPts val="800"/>
              </a:spcBef>
              <a:spcAft>
                <a:spcPts val="0"/>
              </a:spcAft>
              <a:buNone/>
            </a:pPr>
            <a:r>
              <a:rPr b="1" lang="en" sz="1350">
                <a:solidFill>
                  <a:srgbClr val="273239"/>
                </a:solidFill>
                <a:highlight>
                  <a:srgbClr val="FFFFFF"/>
                </a:highlight>
                <a:latin typeface="Nunito"/>
                <a:ea typeface="Nunito"/>
                <a:cs typeface="Nunito"/>
                <a:sym typeface="Nunito"/>
              </a:rPr>
              <a:t>Parallel Databases :</a:t>
            </a:r>
            <a:br>
              <a:rPr b="1" lang="en" sz="1350">
                <a:solidFill>
                  <a:srgbClr val="273239"/>
                </a:solidFill>
                <a:highlight>
                  <a:srgbClr val="FFFFFF"/>
                </a:highlight>
                <a:latin typeface="Nunito"/>
                <a:ea typeface="Nunito"/>
                <a:cs typeface="Nunito"/>
                <a:sym typeface="Nunito"/>
              </a:rPr>
            </a:br>
            <a:r>
              <a:rPr lang="en" sz="1350">
                <a:solidFill>
                  <a:srgbClr val="273239"/>
                </a:solidFill>
                <a:highlight>
                  <a:srgbClr val="FFFFFF"/>
                </a:highlight>
                <a:latin typeface="Nunito"/>
                <a:ea typeface="Nunito"/>
                <a:cs typeface="Nunito"/>
                <a:sym typeface="Nunito"/>
              </a:rPr>
              <a:t>Nowadays organizations need to handle a huge amount of data with a high transfer rate. For such requirements, the client-server or centralized system is not efficient. With the need to improve the efficiency of the system, the concept of the parallel database comes in picture. A parallel database system seeks to improve the performance of the system through parallelizing concept.</a:t>
            </a:r>
            <a:endParaRPr sz="1350">
              <a:solidFill>
                <a:srgbClr val="273239"/>
              </a:solidFill>
              <a:highlight>
                <a:srgbClr val="FFFFFF"/>
              </a:highlight>
              <a:latin typeface="Nunito"/>
              <a:ea typeface="Nunito"/>
              <a:cs typeface="Nunito"/>
              <a:sym typeface="Nunito"/>
            </a:endParaRPr>
          </a:p>
          <a:p>
            <a:pPr indent="0" lvl="0" marL="0" rtl="0" algn="just">
              <a:spcBef>
                <a:spcPts val="800"/>
              </a:spcBef>
              <a:spcAft>
                <a:spcPts val="800"/>
              </a:spcAft>
              <a:buNone/>
            </a:pPr>
            <a:r>
              <a:rPr b="1" lang="en" sz="1350">
                <a:solidFill>
                  <a:srgbClr val="273239"/>
                </a:solidFill>
                <a:highlight>
                  <a:srgbClr val="FFFFFF"/>
                </a:highlight>
                <a:latin typeface="Nunito"/>
                <a:ea typeface="Nunito"/>
                <a:cs typeface="Nunito"/>
                <a:sym typeface="Nunito"/>
              </a:rPr>
              <a:t>Need :</a:t>
            </a:r>
            <a:br>
              <a:rPr b="1" lang="en" sz="1350">
                <a:solidFill>
                  <a:srgbClr val="273239"/>
                </a:solidFill>
                <a:highlight>
                  <a:srgbClr val="FFFFFF"/>
                </a:highlight>
                <a:latin typeface="Nunito"/>
                <a:ea typeface="Nunito"/>
                <a:cs typeface="Nunito"/>
                <a:sym typeface="Nunito"/>
              </a:rPr>
            </a:br>
            <a:r>
              <a:rPr lang="en" sz="1350">
                <a:solidFill>
                  <a:srgbClr val="273239"/>
                </a:solidFill>
                <a:highlight>
                  <a:srgbClr val="FFFFFF"/>
                </a:highlight>
                <a:latin typeface="Nunito"/>
                <a:ea typeface="Nunito"/>
                <a:cs typeface="Nunito"/>
                <a:sym typeface="Nunito"/>
              </a:rPr>
              <a:t>Multiple resources like CPUs and Disks are used in parallel. The operations are performed simultaneously, as opposed to serial processing. A parallel server can allow access to a single database by users on multiple machines. It also performs many parallelization operations like data loading, query processing, building indexes, and evaluating queries.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40"/>
          <p:cNvSpPr txBox="1"/>
          <p:nvPr>
            <p:ph idx="1" type="body"/>
          </p:nvPr>
        </p:nvSpPr>
        <p:spPr>
          <a:xfrm>
            <a:off x="311700" y="603100"/>
            <a:ext cx="8520600" cy="3966000"/>
          </a:xfrm>
          <a:prstGeom prst="rect">
            <a:avLst/>
          </a:prstGeom>
        </p:spPr>
        <p:txBody>
          <a:bodyPr anchorCtr="0" anchor="t" bIns="91425" lIns="91425" spcFirstLastPara="1" rIns="91425" wrap="square" tIns="91425">
            <a:noAutofit/>
          </a:bodyPr>
          <a:lstStyle/>
          <a:p>
            <a:pPr indent="0" lvl="0" marL="0" rtl="0" algn="just">
              <a:lnSpc>
                <a:spcPct val="105000"/>
              </a:lnSpc>
              <a:spcBef>
                <a:spcPts val="0"/>
              </a:spcBef>
              <a:spcAft>
                <a:spcPts val="0"/>
              </a:spcAft>
              <a:buSzPts val="852"/>
              <a:buNone/>
            </a:pPr>
            <a:r>
              <a:rPr b="1" lang="en" sz="1246">
                <a:solidFill>
                  <a:srgbClr val="000000"/>
                </a:solidFill>
                <a:highlight>
                  <a:srgbClr val="FFFFFF"/>
                </a:highlight>
                <a:latin typeface="Times New Roman"/>
                <a:ea typeface="Times New Roman"/>
                <a:cs typeface="Times New Roman"/>
                <a:sym typeface="Times New Roman"/>
              </a:rPr>
              <a:t>Advantages :</a:t>
            </a:r>
            <a:br>
              <a:rPr b="1" lang="en" sz="1246">
                <a:solidFill>
                  <a:srgbClr val="000000"/>
                </a:solidFill>
                <a:highlight>
                  <a:srgbClr val="FFFFFF"/>
                </a:highlight>
                <a:latin typeface="Times New Roman"/>
                <a:ea typeface="Times New Roman"/>
                <a:cs typeface="Times New Roman"/>
                <a:sym typeface="Times New Roman"/>
              </a:rPr>
            </a:br>
            <a:r>
              <a:rPr lang="en" sz="1246">
                <a:solidFill>
                  <a:srgbClr val="000000"/>
                </a:solidFill>
                <a:highlight>
                  <a:srgbClr val="FFFFFF"/>
                </a:highlight>
                <a:latin typeface="Times New Roman"/>
                <a:ea typeface="Times New Roman"/>
                <a:cs typeface="Times New Roman"/>
                <a:sym typeface="Times New Roman"/>
              </a:rPr>
              <a:t>Here, we will discuss the advantages of parallel databases. Let's have a look.</a:t>
            </a:r>
            <a:endParaRPr sz="1246">
              <a:solidFill>
                <a:srgbClr val="000000"/>
              </a:solidFill>
              <a:highlight>
                <a:srgbClr val="FFFFFF"/>
              </a:highlight>
              <a:latin typeface="Times New Roman"/>
              <a:ea typeface="Times New Roman"/>
              <a:cs typeface="Times New Roman"/>
              <a:sym typeface="Times New Roman"/>
            </a:endParaRPr>
          </a:p>
          <a:p>
            <a:pPr indent="-307736" lvl="0" marL="685800" rtl="0" algn="just">
              <a:lnSpc>
                <a:spcPct val="148000"/>
              </a:lnSpc>
              <a:spcBef>
                <a:spcPts val="800"/>
              </a:spcBef>
              <a:spcAft>
                <a:spcPts val="0"/>
              </a:spcAft>
              <a:buClr>
                <a:srgbClr val="000000"/>
              </a:buClr>
              <a:buSzPts val="1246"/>
              <a:buFont typeface="Nunito"/>
              <a:buAutoNum type="arabicPeriod"/>
            </a:pPr>
            <a:r>
              <a:rPr b="1" lang="en" sz="1246">
                <a:solidFill>
                  <a:srgbClr val="000000"/>
                </a:solidFill>
                <a:highlight>
                  <a:srgbClr val="FFFFFF"/>
                </a:highlight>
                <a:latin typeface="Times New Roman"/>
                <a:ea typeface="Times New Roman"/>
                <a:cs typeface="Times New Roman"/>
                <a:sym typeface="Times New Roman"/>
              </a:rPr>
              <a:t>Performance Improvement - </a:t>
            </a:r>
            <a:br>
              <a:rPr b="1" lang="en" sz="1246">
                <a:solidFill>
                  <a:srgbClr val="000000"/>
                </a:solidFill>
                <a:highlight>
                  <a:srgbClr val="FFFFFF"/>
                </a:highlight>
                <a:latin typeface="Times New Roman"/>
                <a:ea typeface="Times New Roman"/>
                <a:cs typeface="Times New Roman"/>
                <a:sym typeface="Times New Roman"/>
              </a:rPr>
            </a:br>
            <a:r>
              <a:rPr lang="en" sz="1246">
                <a:solidFill>
                  <a:srgbClr val="000000"/>
                </a:solidFill>
                <a:highlight>
                  <a:srgbClr val="FFFFFF"/>
                </a:highlight>
                <a:latin typeface="Times New Roman"/>
                <a:ea typeface="Times New Roman"/>
                <a:cs typeface="Times New Roman"/>
                <a:sym typeface="Times New Roman"/>
              </a:rPr>
              <a:t>By connecting multiple resources like CPU and disks in parallel we can significantly increase the performance of the system.</a:t>
            </a:r>
            <a:endParaRPr sz="1246">
              <a:solidFill>
                <a:srgbClr val="000000"/>
              </a:solidFill>
              <a:highlight>
                <a:srgbClr val="FFFFFF"/>
              </a:highlight>
              <a:latin typeface="Times New Roman"/>
              <a:ea typeface="Times New Roman"/>
              <a:cs typeface="Times New Roman"/>
              <a:sym typeface="Times New Roman"/>
            </a:endParaRPr>
          </a:p>
          <a:p>
            <a:pPr indent="-307736" lvl="0" marL="685800" rtl="0" algn="just">
              <a:lnSpc>
                <a:spcPct val="148000"/>
              </a:lnSpc>
              <a:spcBef>
                <a:spcPts val="0"/>
              </a:spcBef>
              <a:spcAft>
                <a:spcPts val="0"/>
              </a:spcAft>
              <a:buClr>
                <a:srgbClr val="000000"/>
              </a:buClr>
              <a:buSzPts val="1246"/>
              <a:buFont typeface="Nunito"/>
              <a:buAutoNum type="arabicPeriod"/>
            </a:pPr>
            <a:r>
              <a:rPr b="1" lang="en" sz="1246">
                <a:solidFill>
                  <a:srgbClr val="000000"/>
                </a:solidFill>
                <a:highlight>
                  <a:srgbClr val="FFFFFF"/>
                </a:highlight>
                <a:latin typeface="Times New Roman"/>
                <a:ea typeface="Times New Roman"/>
                <a:cs typeface="Times New Roman"/>
                <a:sym typeface="Times New Roman"/>
              </a:rPr>
              <a:t>High availability - </a:t>
            </a:r>
            <a:br>
              <a:rPr b="1" lang="en" sz="1246">
                <a:solidFill>
                  <a:srgbClr val="000000"/>
                </a:solidFill>
                <a:highlight>
                  <a:srgbClr val="FFFFFF"/>
                </a:highlight>
                <a:latin typeface="Times New Roman"/>
                <a:ea typeface="Times New Roman"/>
                <a:cs typeface="Times New Roman"/>
                <a:sym typeface="Times New Roman"/>
              </a:rPr>
            </a:br>
            <a:r>
              <a:rPr lang="en" sz="1246">
                <a:solidFill>
                  <a:srgbClr val="000000"/>
                </a:solidFill>
                <a:highlight>
                  <a:srgbClr val="FFFFFF"/>
                </a:highlight>
                <a:latin typeface="Times New Roman"/>
                <a:ea typeface="Times New Roman"/>
                <a:cs typeface="Times New Roman"/>
                <a:sym typeface="Times New Roman"/>
              </a:rPr>
              <a:t>In the parallel database, nodes have less contact with each other, so the failure of one node doesn't cause for failure of the entire system. This amounts to significantly higher database availability.</a:t>
            </a:r>
            <a:endParaRPr sz="1246">
              <a:solidFill>
                <a:srgbClr val="000000"/>
              </a:solidFill>
              <a:highlight>
                <a:srgbClr val="FFFFFF"/>
              </a:highlight>
              <a:latin typeface="Times New Roman"/>
              <a:ea typeface="Times New Roman"/>
              <a:cs typeface="Times New Roman"/>
              <a:sym typeface="Times New Roman"/>
            </a:endParaRPr>
          </a:p>
          <a:p>
            <a:pPr indent="-307736" lvl="0" marL="685800" rtl="0" algn="just">
              <a:lnSpc>
                <a:spcPct val="148000"/>
              </a:lnSpc>
              <a:spcBef>
                <a:spcPts val="0"/>
              </a:spcBef>
              <a:spcAft>
                <a:spcPts val="0"/>
              </a:spcAft>
              <a:buClr>
                <a:srgbClr val="000000"/>
              </a:buClr>
              <a:buSzPts val="1246"/>
              <a:buFont typeface="Nunito"/>
              <a:buAutoNum type="arabicPeriod"/>
            </a:pPr>
            <a:r>
              <a:rPr b="1" lang="en" sz="1246">
                <a:solidFill>
                  <a:srgbClr val="000000"/>
                </a:solidFill>
                <a:highlight>
                  <a:srgbClr val="FFFFFF"/>
                </a:highlight>
                <a:latin typeface="Times New Roman"/>
                <a:ea typeface="Times New Roman"/>
                <a:cs typeface="Times New Roman"/>
                <a:sym typeface="Times New Roman"/>
              </a:rPr>
              <a:t>Proper resource utilization - </a:t>
            </a:r>
            <a:br>
              <a:rPr b="1" lang="en" sz="1246">
                <a:solidFill>
                  <a:srgbClr val="000000"/>
                </a:solidFill>
                <a:highlight>
                  <a:srgbClr val="FFFFFF"/>
                </a:highlight>
                <a:latin typeface="Times New Roman"/>
                <a:ea typeface="Times New Roman"/>
                <a:cs typeface="Times New Roman"/>
                <a:sym typeface="Times New Roman"/>
              </a:rPr>
            </a:br>
            <a:r>
              <a:rPr lang="en" sz="1246">
                <a:solidFill>
                  <a:srgbClr val="000000"/>
                </a:solidFill>
                <a:highlight>
                  <a:srgbClr val="FFFFFF"/>
                </a:highlight>
                <a:latin typeface="Times New Roman"/>
                <a:ea typeface="Times New Roman"/>
                <a:cs typeface="Times New Roman"/>
                <a:sym typeface="Times New Roman"/>
              </a:rPr>
              <a:t>Due to parallel execution, the CPU will never be idle. Thus, proper utilization of resources is there.</a:t>
            </a:r>
            <a:endParaRPr sz="1246">
              <a:solidFill>
                <a:srgbClr val="000000"/>
              </a:solidFill>
              <a:highlight>
                <a:srgbClr val="FFFFFF"/>
              </a:highlight>
              <a:latin typeface="Times New Roman"/>
              <a:ea typeface="Times New Roman"/>
              <a:cs typeface="Times New Roman"/>
              <a:sym typeface="Times New Roman"/>
            </a:endParaRPr>
          </a:p>
          <a:p>
            <a:pPr indent="-307736" lvl="0" marL="685800" rtl="0" algn="just">
              <a:lnSpc>
                <a:spcPct val="148000"/>
              </a:lnSpc>
              <a:spcBef>
                <a:spcPts val="0"/>
              </a:spcBef>
              <a:spcAft>
                <a:spcPts val="0"/>
              </a:spcAft>
              <a:buClr>
                <a:srgbClr val="000000"/>
              </a:buClr>
              <a:buSzPts val="1246"/>
              <a:buFont typeface="Nunito"/>
              <a:buAutoNum type="arabicPeriod"/>
            </a:pPr>
            <a:r>
              <a:rPr b="1" lang="en" sz="1246">
                <a:solidFill>
                  <a:srgbClr val="000000"/>
                </a:solidFill>
                <a:highlight>
                  <a:srgbClr val="FFFFFF"/>
                </a:highlight>
                <a:latin typeface="Times New Roman"/>
                <a:ea typeface="Times New Roman"/>
                <a:cs typeface="Times New Roman"/>
                <a:sym typeface="Times New Roman"/>
              </a:rPr>
              <a:t>Increase Reliability - </a:t>
            </a:r>
            <a:br>
              <a:rPr b="1" lang="en" sz="1246">
                <a:solidFill>
                  <a:srgbClr val="000000"/>
                </a:solidFill>
                <a:highlight>
                  <a:srgbClr val="FFFFFF"/>
                </a:highlight>
                <a:latin typeface="Times New Roman"/>
                <a:ea typeface="Times New Roman"/>
                <a:cs typeface="Times New Roman"/>
                <a:sym typeface="Times New Roman"/>
              </a:rPr>
            </a:br>
            <a:r>
              <a:rPr lang="en" sz="1246">
                <a:solidFill>
                  <a:srgbClr val="000000"/>
                </a:solidFill>
                <a:highlight>
                  <a:srgbClr val="FFFFFF"/>
                </a:highlight>
                <a:latin typeface="Times New Roman"/>
                <a:ea typeface="Times New Roman"/>
                <a:cs typeface="Times New Roman"/>
                <a:sym typeface="Times New Roman"/>
              </a:rPr>
              <a:t>When one site fails, the execution can continue with another available site which is having a copy of data. Making the system more reliable.</a:t>
            </a:r>
            <a:endParaRPr sz="1246">
              <a:solidFill>
                <a:srgbClr val="000000"/>
              </a:solidFill>
              <a:highlight>
                <a:srgbClr val="FFFFFF"/>
              </a:highlight>
              <a:latin typeface="Times New Roman"/>
              <a:ea typeface="Times New Roman"/>
              <a:cs typeface="Times New Roman"/>
              <a:sym typeface="Times New Roman"/>
            </a:endParaRPr>
          </a:p>
          <a:p>
            <a:pPr indent="0" lvl="0" marL="0" rtl="0" algn="l">
              <a:lnSpc>
                <a:spcPct val="105000"/>
              </a:lnSpc>
              <a:spcBef>
                <a:spcPts val="1800"/>
              </a:spcBef>
              <a:spcAft>
                <a:spcPts val="1200"/>
              </a:spcAft>
              <a:buSzPts val="852"/>
              <a:buNone/>
            </a:pPr>
            <a:r>
              <a:t/>
            </a:r>
            <a:endParaRPr sz="1595">
              <a:solidFill>
                <a:srgbClr val="000000"/>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41"/>
          <p:cNvSpPr txBox="1"/>
          <p:nvPr>
            <p:ph idx="1" type="body"/>
          </p:nvPr>
        </p:nvSpPr>
        <p:spPr>
          <a:xfrm>
            <a:off x="311700" y="635175"/>
            <a:ext cx="8520600" cy="39339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b="1" lang="en" sz="1350">
                <a:solidFill>
                  <a:srgbClr val="273239"/>
                </a:solidFill>
                <a:highlight>
                  <a:srgbClr val="FFFFFF"/>
                </a:highlight>
                <a:latin typeface="Nunito"/>
                <a:ea typeface="Nunito"/>
                <a:cs typeface="Nunito"/>
                <a:sym typeface="Nunito"/>
              </a:rPr>
              <a:t>Performance Measurement of Databases :</a:t>
            </a:r>
            <a:br>
              <a:rPr b="1" lang="en" sz="1350">
                <a:solidFill>
                  <a:srgbClr val="273239"/>
                </a:solidFill>
                <a:highlight>
                  <a:srgbClr val="FFFFFF"/>
                </a:highlight>
                <a:latin typeface="Nunito"/>
                <a:ea typeface="Nunito"/>
                <a:cs typeface="Nunito"/>
                <a:sym typeface="Nunito"/>
              </a:rPr>
            </a:br>
            <a:r>
              <a:rPr lang="en" sz="1350">
                <a:solidFill>
                  <a:srgbClr val="273239"/>
                </a:solidFill>
                <a:highlight>
                  <a:srgbClr val="FFFFFF"/>
                </a:highlight>
                <a:latin typeface="Nunito"/>
                <a:ea typeface="Nunito"/>
                <a:cs typeface="Nunito"/>
                <a:sym typeface="Nunito"/>
              </a:rPr>
              <a:t>Here, we will emphasize the performance measurement factor-like Speedup and Scale-up. Let's understand it one by one with the help of examples.</a:t>
            </a:r>
            <a:endParaRPr sz="1350">
              <a:solidFill>
                <a:srgbClr val="273239"/>
              </a:solidFill>
              <a:highlight>
                <a:srgbClr val="FFFFFF"/>
              </a:highlight>
              <a:latin typeface="Nunito"/>
              <a:ea typeface="Nunito"/>
              <a:cs typeface="Nunito"/>
              <a:sym typeface="Nunito"/>
            </a:endParaRPr>
          </a:p>
          <a:p>
            <a:pPr indent="0" lvl="0" marL="0" rtl="0" algn="just">
              <a:spcBef>
                <a:spcPts val="800"/>
              </a:spcBef>
              <a:spcAft>
                <a:spcPts val="0"/>
              </a:spcAft>
              <a:buNone/>
            </a:pPr>
            <a:r>
              <a:rPr b="1" lang="en" sz="1350">
                <a:solidFill>
                  <a:srgbClr val="273239"/>
                </a:solidFill>
                <a:highlight>
                  <a:srgbClr val="FFFFFF"/>
                </a:highlight>
                <a:latin typeface="Nunito"/>
                <a:ea typeface="Nunito"/>
                <a:cs typeface="Nunito"/>
                <a:sym typeface="Nunito"/>
              </a:rPr>
              <a:t>Speedup -</a:t>
            </a:r>
            <a:br>
              <a:rPr b="1" lang="en" sz="1350">
                <a:solidFill>
                  <a:srgbClr val="273239"/>
                </a:solidFill>
                <a:highlight>
                  <a:srgbClr val="FFFFFF"/>
                </a:highlight>
                <a:latin typeface="Nunito"/>
                <a:ea typeface="Nunito"/>
                <a:cs typeface="Nunito"/>
                <a:sym typeface="Nunito"/>
              </a:rPr>
            </a:br>
            <a:r>
              <a:rPr lang="en" sz="1350">
                <a:solidFill>
                  <a:srgbClr val="273239"/>
                </a:solidFill>
                <a:highlight>
                  <a:srgbClr val="FFFFFF"/>
                </a:highlight>
                <a:latin typeface="Nunito"/>
                <a:ea typeface="Nunito"/>
                <a:cs typeface="Nunito"/>
                <a:sym typeface="Nunito"/>
              </a:rPr>
              <a:t>The ability to execute the tasks in less time by increasing the number of resources is called Speedup.</a:t>
            </a:r>
            <a:endParaRPr sz="1350">
              <a:solidFill>
                <a:srgbClr val="273239"/>
              </a:solidFill>
              <a:highlight>
                <a:srgbClr val="FFFFFF"/>
              </a:highlight>
              <a:latin typeface="Nunito"/>
              <a:ea typeface="Nunito"/>
              <a:cs typeface="Nunito"/>
              <a:sym typeface="Nunito"/>
            </a:endParaRPr>
          </a:p>
          <a:p>
            <a:pPr indent="0" lvl="0" marL="0" rtl="0" algn="l">
              <a:spcBef>
                <a:spcPts val="800"/>
              </a:spcBef>
              <a:spcAft>
                <a:spcPts val="1200"/>
              </a:spcAft>
              <a:buNone/>
            </a:pPr>
            <a:r>
              <a:t/>
            </a:r>
            <a:endParaRPr/>
          </a:p>
        </p:txBody>
      </p:sp>
      <p:pic>
        <p:nvPicPr>
          <p:cNvPr id="217" name="Google Shape;217;p41"/>
          <p:cNvPicPr preferRelativeResize="0"/>
          <p:nvPr/>
        </p:nvPicPr>
        <p:blipFill>
          <a:blip r:embed="rId3">
            <a:alphaModFix/>
          </a:blip>
          <a:stretch>
            <a:fillRect/>
          </a:stretch>
        </p:blipFill>
        <p:spPr>
          <a:xfrm>
            <a:off x="3324325" y="2869200"/>
            <a:ext cx="2430825" cy="205182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42"/>
          <p:cNvSpPr txBox="1"/>
          <p:nvPr>
            <p:ph idx="1" type="body"/>
          </p:nvPr>
        </p:nvSpPr>
        <p:spPr>
          <a:xfrm>
            <a:off x="311700" y="485475"/>
            <a:ext cx="8520600" cy="4083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rgbClr val="000000"/>
                </a:solidFill>
              </a:rPr>
              <a:t>Example</a:t>
            </a:r>
            <a:r>
              <a:rPr lang="en"/>
              <a:t>: </a:t>
            </a:r>
            <a:endParaRPr/>
          </a:p>
        </p:txBody>
      </p:sp>
      <p:pic>
        <p:nvPicPr>
          <p:cNvPr id="223" name="Google Shape;223;p42"/>
          <p:cNvPicPr preferRelativeResize="0"/>
          <p:nvPr/>
        </p:nvPicPr>
        <p:blipFill>
          <a:blip r:embed="rId3">
            <a:alphaModFix/>
          </a:blip>
          <a:stretch>
            <a:fillRect/>
          </a:stretch>
        </p:blipFill>
        <p:spPr>
          <a:xfrm>
            <a:off x="2836222" y="1133172"/>
            <a:ext cx="3578500" cy="1010825"/>
          </a:xfrm>
          <a:prstGeom prst="rect">
            <a:avLst/>
          </a:prstGeom>
          <a:noFill/>
          <a:ln>
            <a:noFill/>
          </a:ln>
        </p:spPr>
      </p:pic>
      <p:pic>
        <p:nvPicPr>
          <p:cNvPr id="224" name="Google Shape;224;p42"/>
          <p:cNvPicPr preferRelativeResize="0"/>
          <p:nvPr/>
        </p:nvPicPr>
        <p:blipFill>
          <a:blip r:embed="rId4">
            <a:alphaModFix/>
          </a:blip>
          <a:stretch>
            <a:fillRect/>
          </a:stretch>
        </p:blipFill>
        <p:spPr>
          <a:xfrm>
            <a:off x="2946175" y="2458050"/>
            <a:ext cx="3251651" cy="202645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43"/>
          <p:cNvSpPr txBox="1"/>
          <p:nvPr>
            <p:ph idx="1" type="body"/>
          </p:nvPr>
        </p:nvSpPr>
        <p:spPr>
          <a:xfrm>
            <a:off x="311700" y="603100"/>
            <a:ext cx="8520600" cy="3966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350">
                <a:solidFill>
                  <a:srgbClr val="273239"/>
                </a:solidFill>
                <a:highlight>
                  <a:srgbClr val="FFFFFF"/>
                </a:highlight>
                <a:latin typeface="Nunito"/>
                <a:ea typeface="Nunito"/>
                <a:cs typeface="Nunito"/>
                <a:sym typeface="Nunito"/>
              </a:rPr>
              <a:t>Scale-up -</a:t>
            </a:r>
            <a:endParaRPr b="1" sz="1350">
              <a:solidFill>
                <a:srgbClr val="273239"/>
              </a:solidFill>
              <a:highlight>
                <a:srgbClr val="FFFFFF"/>
              </a:highlight>
              <a:latin typeface="Nunito"/>
              <a:ea typeface="Nunito"/>
              <a:cs typeface="Nunito"/>
              <a:sym typeface="Nunito"/>
            </a:endParaRPr>
          </a:p>
          <a:p>
            <a:pPr indent="0" lvl="0" marL="0" rtl="0" algn="l">
              <a:spcBef>
                <a:spcPts val="1200"/>
              </a:spcBef>
              <a:spcAft>
                <a:spcPts val="0"/>
              </a:spcAft>
              <a:buNone/>
            </a:pPr>
            <a:r>
              <a:rPr lang="en" sz="1350">
                <a:solidFill>
                  <a:srgbClr val="273239"/>
                </a:solidFill>
                <a:highlight>
                  <a:srgbClr val="FFFFFF"/>
                </a:highlight>
                <a:latin typeface="Nunito"/>
                <a:ea typeface="Nunito"/>
                <a:cs typeface="Nunito"/>
                <a:sym typeface="Nunito"/>
              </a:rPr>
              <a:t>The ability to maintain the performance of the system when both workload and resources increase proportionally.</a:t>
            </a:r>
            <a:endParaRPr sz="1350">
              <a:solidFill>
                <a:srgbClr val="273239"/>
              </a:solidFill>
              <a:highlight>
                <a:srgbClr val="FFFFFF"/>
              </a:highlight>
              <a:latin typeface="Nunito"/>
              <a:ea typeface="Nunito"/>
              <a:cs typeface="Nunito"/>
              <a:sym typeface="Nunito"/>
            </a:endParaRPr>
          </a:p>
          <a:p>
            <a:pPr indent="0" lvl="0" marL="0" rtl="0" algn="l">
              <a:spcBef>
                <a:spcPts val="1200"/>
              </a:spcBef>
              <a:spcAft>
                <a:spcPts val="1200"/>
              </a:spcAft>
              <a:buNone/>
            </a:pPr>
            <a:r>
              <a:t/>
            </a:r>
            <a:endParaRPr sz="1350">
              <a:solidFill>
                <a:srgbClr val="273239"/>
              </a:solidFill>
              <a:highlight>
                <a:srgbClr val="FFFFFF"/>
              </a:highlight>
              <a:latin typeface="Nunito"/>
              <a:ea typeface="Nunito"/>
              <a:cs typeface="Nunito"/>
              <a:sym typeface="Nunito"/>
            </a:endParaRPr>
          </a:p>
        </p:txBody>
      </p:sp>
      <p:pic>
        <p:nvPicPr>
          <p:cNvPr id="230" name="Google Shape;230;p43"/>
          <p:cNvPicPr preferRelativeResize="0"/>
          <p:nvPr/>
        </p:nvPicPr>
        <p:blipFill>
          <a:blip r:embed="rId3">
            <a:alphaModFix/>
          </a:blip>
          <a:stretch>
            <a:fillRect/>
          </a:stretch>
        </p:blipFill>
        <p:spPr>
          <a:xfrm>
            <a:off x="3242625" y="1772275"/>
            <a:ext cx="3015100" cy="26269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44"/>
          <p:cNvSpPr txBox="1"/>
          <p:nvPr>
            <p:ph idx="1" type="body"/>
          </p:nvPr>
        </p:nvSpPr>
        <p:spPr>
          <a:xfrm>
            <a:off x="311700" y="549650"/>
            <a:ext cx="8520600" cy="4019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350">
                <a:solidFill>
                  <a:srgbClr val="273239"/>
                </a:solidFill>
                <a:highlight>
                  <a:srgbClr val="FFFFFF"/>
                </a:highlight>
                <a:latin typeface="Nunito"/>
                <a:ea typeface="Nunito"/>
                <a:cs typeface="Nunito"/>
                <a:sym typeface="Nunito"/>
              </a:rPr>
              <a:t>Example -</a:t>
            </a:r>
            <a:endParaRPr b="1" sz="1350">
              <a:solidFill>
                <a:srgbClr val="273239"/>
              </a:solidFill>
              <a:highlight>
                <a:srgbClr val="FFFFFF"/>
              </a:highlight>
              <a:latin typeface="Nunito"/>
              <a:ea typeface="Nunito"/>
              <a:cs typeface="Nunito"/>
              <a:sym typeface="Nunito"/>
            </a:endParaRPr>
          </a:p>
          <a:p>
            <a:pPr indent="0" lvl="0" marL="0" rtl="0" algn="l">
              <a:spcBef>
                <a:spcPts val="1200"/>
              </a:spcBef>
              <a:spcAft>
                <a:spcPts val="0"/>
              </a:spcAft>
              <a:buNone/>
            </a:pPr>
            <a:r>
              <a:rPr lang="en" sz="1350">
                <a:solidFill>
                  <a:srgbClr val="273239"/>
                </a:solidFill>
                <a:highlight>
                  <a:srgbClr val="FFFFFF"/>
                </a:highlight>
                <a:latin typeface="Nunito"/>
                <a:ea typeface="Nunito"/>
                <a:cs typeface="Nunito"/>
                <a:sym typeface="Nunito"/>
              </a:rPr>
              <a:t>20 users are using a CPU at 100% efficiency. If we try to add more users, then it’s not possible for a single processor to handle additional users. A new processor can be added to serve the users parallel. And will provide 200% efficiency.</a:t>
            </a:r>
            <a:endParaRPr sz="1350">
              <a:solidFill>
                <a:srgbClr val="273239"/>
              </a:solidFill>
              <a:highlight>
                <a:srgbClr val="FFFFFF"/>
              </a:highlight>
              <a:latin typeface="Nunito"/>
              <a:ea typeface="Nunito"/>
              <a:cs typeface="Nunito"/>
              <a:sym typeface="Nunito"/>
            </a:endParaRPr>
          </a:p>
          <a:p>
            <a:pPr indent="0" lvl="0" marL="0" rtl="0" algn="l">
              <a:spcBef>
                <a:spcPts val="1200"/>
              </a:spcBef>
              <a:spcAft>
                <a:spcPts val="0"/>
              </a:spcAft>
              <a:buNone/>
            </a:pPr>
            <a:r>
              <a:t/>
            </a:r>
            <a:endParaRPr sz="1350">
              <a:solidFill>
                <a:srgbClr val="273239"/>
              </a:solidFill>
              <a:highlight>
                <a:srgbClr val="FFFFFF"/>
              </a:highlight>
              <a:latin typeface="Nunito"/>
              <a:ea typeface="Nunito"/>
              <a:cs typeface="Nunito"/>
              <a:sym typeface="Nunito"/>
            </a:endParaRPr>
          </a:p>
          <a:p>
            <a:pPr indent="0" lvl="0" marL="0" rtl="0" algn="l">
              <a:spcBef>
                <a:spcPts val="1200"/>
              </a:spcBef>
              <a:spcAft>
                <a:spcPts val="1200"/>
              </a:spcAft>
              <a:buNone/>
            </a:pPr>
            <a:r>
              <a:t/>
            </a:r>
            <a:endParaRPr sz="1350">
              <a:solidFill>
                <a:srgbClr val="273239"/>
              </a:solidFill>
              <a:highlight>
                <a:srgbClr val="FFFFFF"/>
              </a:highlight>
              <a:latin typeface="Nunito"/>
              <a:ea typeface="Nunito"/>
              <a:cs typeface="Nunito"/>
              <a:sym typeface="Nunito"/>
            </a:endParaRPr>
          </a:p>
        </p:txBody>
      </p:sp>
      <p:pic>
        <p:nvPicPr>
          <p:cNvPr id="236" name="Google Shape;236;p44"/>
          <p:cNvPicPr preferRelativeResize="0"/>
          <p:nvPr/>
        </p:nvPicPr>
        <p:blipFill>
          <a:blip r:embed="rId3">
            <a:alphaModFix/>
          </a:blip>
          <a:stretch>
            <a:fillRect/>
          </a:stretch>
        </p:blipFill>
        <p:spPr>
          <a:xfrm>
            <a:off x="2161750" y="2214400"/>
            <a:ext cx="4640700" cy="14684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45"/>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Parallel Database Architectures</a:t>
            </a:r>
            <a:endParaRPr/>
          </a:p>
        </p:txBody>
      </p:sp>
      <p:sp>
        <p:nvSpPr>
          <p:cNvPr id="242" name="Google Shape;242;p45"/>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100">
                <a:solidFill>
                  <a:srgbClr val="000000"/>
                </a:solidFill>
                <a:latin typeface="Arial"/>
                <a:ea typeface="Arial"/>
                <a:cs typeface="Arial"/>
                <a:sym typeface="Arial"/>
              </a:rPr>
              <a:t>Parallel databases use </a:t>
            </a:r>
            <a:r>
              <a:rPr b="1" lang="en" sz="1100">
                <a:solidFill>
                  <a:srgbClr val="000000"/>
                </a:solidFill>
                <a:latin typeface="Arial"/>
                <a:ea typeface="Arial"/>
                <a:cs typeface="Arial"/>
                <a:sym typeface="Arial"/>
              </a:rPr>
              <a:t>multiple processors</a:t>
            </a:r>
            <a:r>
              <a:rPr lang="en" sz="1100">
                <a:solidFill>
                  <a:srgbClr val="000000"/>
                </a:solidFill>
                <a:latin typeface="Arial"/>
                <a:ea typeface="Arial"/>
                <a:cs typeface="Arial"/>
                <a:sym typeface="Arial"/>
              </a:rPr>
              <a:t> to improve </a:t>
            </a:r>
            <a:r>
              <a:rPr b="1" lang="en" sz="1100">
                <a:solidFill>
                  <a:srgbClr val="000000"/>
                </a:solidFill>
                <a:latin typeface="Arial"/>
                <a:ea typeface="Arial"/>
                <a:cs typeface="Arial"/>
                <a:sym typeface="Arial"/>
              </a:rPr>
              <a:t>speed, throughput, and performance</a:t>
            </a:r>
            <a:r>
              <a:rPr lang="en" sz="1100">
                <a:solidFill>
                  <a:srgbClr val="000000"/>
                </a:solidFill>
                <a:latin typeface="Arial"/>
                <a:ea typeface="Arial"/>
                <a:cs typeface="Arial"/>
                <a:sym typeface="Arial"/>
              </a:rPr>
              <a:t> when handling huge databases.</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There are </a:t>
            </a:r>
            <a:r>
              <a:rPr b="1" lang="en" sz="1100">
                <a:solidFill>
                  <a:srgbClr val="000000"/>
                </a:solidFill>
                <a:latin typeface="Arial"/>
                <a:ea typeface="Arial"/>
                <a:cs typeface="Arial"/>
                <a:sym typeface="Arial"/>
              </a:rPr>
              <a:t>four major architectures</a:t>
            </a:r>
            <a:r>
              <a:rPr lang="en" sz="1100">
                <a:solidFill>
                  <a:srgbClr val="000000"/>
                </a:solidFill>
                <a:latin typeface="Arial"/>
                <a:ea typeface="Arial"/>
                <a:cs typeface="Arial"/>
                <a:sym typeface="Arial"/>
              </a:rPr>
              <a:t> based on how processors share memory and disks.</a:t>
            </a:r>
            <a:endParaRPr sz="1100">
              <a:solidFill>
                <a:srgbClr val="000000"/>
              </a:solidFill>
              <a:latin typeface="Arial"/>
              <a:ea typeface="Arial"/>
              <a:cs typeface="Arial"/>
              <a:sym typeface="Arial"/>
            </a:endParaRPr>
          </a:p>
          <a:p>
            <a:pPr indent="0" lvl="0" marL="0" rtl="0" algn="l">
              <a:spcBef>
                <a:spcPts val="2400"/>
              </a:spcBef>
              <a:spcAft>
                <a:spcPts val="0"/>
              </a:spcAft>
              <a:buNone/>
            </a:pPr>
            <a:r>
              <a:rPr b="1" lang="en" sz="1900">
                <a:solidFill>
                  <a:srgbClr val="000000"/>
                </a:solidFill>
                <a:latin typeface="Arial"/>
                <a:ea typeface="Arial"/>
                <a:cs typeface="Arial"/>
                <a:sym typeface="Arial"/>
              </a:rPr>
              <a:t>1. Shared Memory Architecture</a:t>
            </a:r>
            <a:endParaRPr b="1" sz="19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(Also called: </a:t>
            </a:r>
            <a:r>
              <a:rPr b="1" lang="en" sz="1100">
                <a:solidFill>
                  <a:srgbClr val="000000"/>
                </a:solidFill>
                <a:latin typeface="Arial"/>
                <a:ea typeface="Arial"/>
                <a:cs typeface="Arial"/>
                <a:sym typeface="Arial"/>
              </a:rPr>
              <a:t>SMP – Symmetric Multi-Processing</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0" rtl="0" algn="l">
              <a:spcBef>
                <a:spcPts val="1400"/>
              </a:spcBef>
              <a:spcAft>
                <a:spcPts val="0"/>
              </a:spcAft>
              <a:buNone/>
            </a:pPr>
            <a:r>
              <a:rPr b="1" lang="en" sz="1300">
                <a:solidFill>
                  <a:srgbClr val="000000"/>
                </a:solidFill>
                <a:latin typeface="Arial"/>
                <a:ea typeface="Arial"/>
                <a:cs typeface="Arial"/>
                <a:sym typeface="Arial"/>
              </a:rPr>
              <a:t>Structure</a:t>
            </a:r>
            <a:endParaRPr b="1" sz="13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All </a:t>
            </a:r>
            <a:r>
              <a:rPr b="1" lang="en" sz="1100">
                <a:solidFill>
                  <a:srgbClr val="000000"/>
                </a:solidFill>
                <a:latin typeface="Arial"/>
                <a:ea typeface="Arial"/>
                <a:cs typeface="Arial"/>
                <a:sym typeface="Arial"/>
              </a:rPr>
              <a:t>processors share ONE common memory</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All processors also share the disk subsystem.</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Connected through a </a:t>
            </a:r>
            <a:r>
              <a:rPr b="1" lang="en" sz="1100">
                <a:solidFill>
                  <a:srgbClr val="000000"/>
                </a:solidFill>
                <a:latin typeface="Arial"/>
                <a:ea typeface="Arial"/>
                <a:cs typeface="Arial"/>
                <a:sym typeface="Arial"/>
              </a:rPr>
              <a:t>bus</a:t>
            </a:r>
            <a:r>
              <a:rPr lang="en" sz="1100">
                <a:solidFill>
                  <a:srgbClr val="000000"/>
                </a:solidFill>
                <a:latin typeface="Arial"/>
                <a:ea typeface="Arial"/>
                <a:cs typeface="Arial"/>
                <a:sym typeface="Arial"/>
              </a:rPr>
              <a:t> or interconnection network.</a:t>
            </a: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sz="1100">
              <a:solidFill>
                <a:srgbClr val="000000"/>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46"/>
          <p:cNvSpPr txBox="1"/>
          <p:nvPr>
            <p:ph idx="1" type="body"/>
          </p:nvPr>
        </p:nvSpPr>
        <p:spPr>
          <a:xfrm>
            <a:off x="311700" y="282300"/>
            <a:ext cx="8520600" cy="4286700"/>
          </a:xfrm>
          <a:prstGeom prst="rect">
            <a:avLst/>
          </a:prstGeom>
        </p:spPr>
        <p:txBody>
          <a:bodyPr anchorCtr="0" anchor="t" bIns="91425" lIns="91425" spcFirstLastPara="1" rIns="91425" wrap="square" tIns="91425">
            <a:noAutofit/>
          </a:bodyPr>
          <a:lstStyle/>
          <a:p>
            <a:pPr indent="0" lvl="0" marL="0" rtl="0" algn="l">
              <a:spcBef>
                <a:spcPts val="1400"/>
              </a:spcBef>
              <a:spcAft>
                <a:spcPts val="0"/>
              </a:spcAft>
              <a:buNone/>
            </a:pPr>
            <a:r>
              <a:rPr b="1" lang="en" sz="1300">
                <a:solidFill>
                  <a:srgbClr val="000000"/>
                </a:solidFill>
                <a:latin typeface="Arial"/>
                <a:ea typeface="Arial"/>
                <a:cs typeface="Arial"/>
                <a:sym typeface="Arial"/>
              </a:rPr>
              <a:t>Advantages</a:t>
            </a:r>
            <a:endParaRPr b="1" sz="13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b="1" lang="en" sz="1100">
                <a:solidFill>
                  <a:srgbClr val="000000"/>
                </a:solidFill>
                <a:latin typeface="Arial"/>
                <a:ea typeface="Arial"/>
                <a:cs typeface="Arial"/>
                <a:sym typeface="Arial"/>
              </a:rPr>
              <a:t>Very fast communication</a:t>
            </a:r>
            <a:r>
              <a:rPr lang="en" sz="1100">
                <a:solidFill>
                  <a:srgbClr val="000000"/>
                </a:solidFill>
                <a:latin typeface="Arial"/>
                <a:ea typeface="Arial"/>
                <a:cs typeface="Arial"/>
                <a:sym typeface="Arial"/>
              </a:rPr>
              <a:t> between processors.</a:t>
            </a: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A processor writes to shared memory → other processors see it immediately.</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Best for </a:t>
            </a:r>
            <a:r>
              <a:rPr b="1" lang="en" sz="1100">
                <a:solidFill>
                  <a:srgbClr val="000000"/>
                </a:solidFill>
                <a:latin typeface="Arial"/>
                <a:ea typeface="Arial"/>
                <a:cs typeface="Arial"/>
                <a:sym typeface="Arial"/>
              </a:rPr>
              <a:t>small to medium-sized systems</a:t>
            </a:r>
            <a:r>
              <a:rPr lang="en" sz="1100">
                <a:solidFill>
                  <a:srgbClr val="000000"/>
                </a:solidFill>
                <a:latin typeface="Arial"/>
                <a:ea typeface="Arial"/>
                <a:cs typeface="Arial"/>
                <a:sym typeface="Arial"/>
              </a:rPr>
              <a:t> (8, 16, 32 processors).</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Easy programming model because everything is shared.</a:t>
            </a:r>
            <a:endParaRPr sz="1100">
              <a:solidFill>
                <a:srgbClr val="000000"/>
              </a:solidFill>
              <a:latin typeface="Arial"/>
              <a:ea typeface="Arial"/>
              <a:cs typeface="Arial"/>
              <a:sym typeface="Arial"/>
            </a:endParaRPr>
          </a:p>
          <a:p>
            <a:pPr indent="0" lvl="0" marL="0" rtl="0" algn="l">
              <a:spcBef>
                <a:spcPts val="1400"/>
              </a:spcBef>
              <a:spcAft>
                <a:spcPts val="0"/>
              </a:spcAft>
              <a:buNone/>
            </a:pPr>
            <a:r>
              <a:rPr b="1" lang="en" sz="1300">
                <a:solidFill>
                  <a:srgbClr val="000000"/>
                </a:solidFill>
                <a:latin typeface="Arial"/>
                <a:ea typeface="Arial"/>
                <a:cs typeface="Arial"/>
                <a:sym typeface="Arial"/>
              </a:rPr>
              <a:t>Disadvantages</a:t>
            </a:r>
            <a:endParaRPr b="1" sz="13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b="1" lang="en" sz="1100">
                <a:solidFill>
                  <a:srgbClr val="000000"/>
                </a:solidFill>
                <a:latin typeface="Arial"/>
                <a:ea typeface="Arial"/>
                <a:cs typeface="Arial"/>
                <a:sym typeface="Arial"/>
              </a:rPr>
              <a:t>Not scalable</a:t>
            </a:r>
            <a:r>
              <a:rPr lang="en" sz="1100">
                <a:solidFill>
                  <a:srgbClr val="000000"/>
                </a:solidFill>
                <a:latin typeface="Arial"/>
                <a:ea typeface="Arial"/>
                <a:cs typeface="Arial"/>
                <a:sym typeface="Arial"/>
              </a:rPr>
              <a:t> beyond ~32–64 processors.</a:t>
            </a: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The shared bus becomes a </a:t>
            </a:r>
            <a:r>
              <a:rPr b="1" lang="en" sz="1100">
                <a:solidFill>
                  <a:srgbClr val="000000"/>
                </a:solidFill>
                <a:latin typeface="Arial"/>
                <a:ea typeface="Arial"/>
                <a:cs typeface="Arial"/>
                <a:sym typeface="Arial"/>
              </a:rPr>
              <a:t>bottleneck</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b="1" lang="en" sz="1100">
                <a:solidFill>
                  <a:srgbClr val="000000"/>
                </a:solidFill>
                <a:latin typeface="Arial"/>
                <a:ea typeface="Arial"/>
                <a:cs typeface="Arial"/>
                <a:sym typeface="Arial"/>
              </a:rPr>
              <a:t>Cache coherence problem</a:t>
            </a:r>
            <a:endParaRPr b="1"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Every processor has its cache → must stay synchronized.</a:t>
            </a:r>
            <a:endParaRPr sz="1100">
              <a:solidFill>
                <a:srgbClr val="000000"/>
              </a:solidFill>
              <a:latin typeface="Arial"/>
              <a:ea typeface="Arial"/>
              <a:cs typeface="Arial"/>
              <a:sym typeface="Arial"/>
            </a:endParaRPr>
          </a:p>
          <a:p>
            <a:pPr indent="0" lvl="0" marL="0" rtl="0" algn="l">
              <a:spcBef>
                <a:spcPts val="1400"/>
              </a:spcBef>
              <a:spcAft>
                <a:spcPts val="0"/>
              </a:spcAft>
              <a:buNone/>
            </a:pPr>
            <a:r>
              <a:rPr b="1" lang="en" sz="1300">
                <a:solidFill>
                  <a:srgbClr val="000000"/>
                </a:solidFill>
                <a:latin typeface="Arial"/>
                <a:ea typeface="Arial"/>
                <a:cs typeface="Arial"/>
                <a:sym typeface="Arial"/>
              </a:rPr>
              <a:t>Real-life Examples</a:t>
            </a:r>
            <a:endParaRPr b="1" sz="13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Small multi-core servers</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Oracle running on SMP machines</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PostgreSQL on a high-end server</a:t>
            </a: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47"/>
          <p:cNvSpPr txBox="1"/>
          <p:nvPr>
            <p:ph idx="1" type="body"/>
          </p:nvPr>
        </p:nvSpPr>
        <p:spPr>
          <a:xfrm>
            <a:off x="311700" y="528250"/>
            <a:ext cx="8520600" cy="4040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53" name="Google Shape;253;p47"/>
          <p:cNvPicPr preferRelativeResize="0"/>
          <p:nvPr/>
        </p:nvPicPr>
        <p:blipFill>
          <a:blip r:embed="rId3">
            <a:alphaModFix/>
          </a:blip>
          <a:stretch>
            <a:fillRect/>
          </a:stretch>
        </p:blipFill>
        <p:spPr>
          <a:xfrm>
            <a:off x="1898373" y="585700"/>
            <a:ext cx="5043750" cy="372487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48"/>
          <p:cNvSpPr txBox="1"/>
          <p:nvPr>
            <p:ph idx="1" type="body"/>
          </p:nvPr>
        </p:nvSpPr>
        <p:spPr>
          <a:xfrm>
            <a:off x="311700" y="196750"/>
            <a:ext cx="8520600" cy="4372200"/>
          </a:xfrm>
          <a:prstGeom prst="rect">
            <a:avLst/>
          </a:prstGeom>
        </p:spPr>
        <p:txBody>
          <a:bodyPr anchorCtr="0" anchor="t" bIns="91425" lIns="91425" spcFirstLastPara="1" rIns="91425" wrap="square" tIns="91425">
            <a:noAutofit/>
          </a:bodyPr>
          <a:lstStyle/>
          <a:p>
            <a:pPr indent="0" lvl="0" marL="0" rtl="0" algn="l">
              <a:spcBef>
                <a:spcPts val="2400"/>
              </a:spcBef>
              <a:spcAft>
                <a:spcPts val="0"/>
              </a:spcAft>
              <a:buNone/>
            </a:pPr>
            <a:r>
              <a:rPr b="1" lang="en" sz="2300">
                <a:solidFill>
                  <a:srgbClr val="000000"/>
                </a:solidFill>
                <a:latin typeface="Arial"/>
                <a:ea typeface="Arial"/>
                <a:cs typeface="Arial"/>
                <a:sym typeface="Arial"/>
              </a:rPr>
              <a:t>2. Shared Disk Architecture</a:t>
            </a:r>
            <a:endParaRPr b="1" sz="23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(Also called: </a:t>
            </a:r>
            <a:r>
              <a:rPr b="1" lang="en" sz="1100">
                <a:solidFill>
                  <a:srgbClr val="000000"/>
                </a:solidFill>
                <a:latin typeface="Arial"/>
                <a:ea typeface="Arial"/>
                <a:cs typeface="Arial"/>
                <a:sym typeface="Arial"/>
              </a:rPr>
              <a:t>Cluster Architecture</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0" rtl="0" algn="l">
              <a:spcBef>
                <a:spcPts val="1400"/>
              </a:spcBef>
              <a:spcAft>
                <a:spcPts val="0"/>
              </a:spcAft>
              <a:buNone/>
            </a:pPr>
            <a:r>
              <a:rPr b="1" lang="en" sz="1300">
                <a:solidFill>
                  <a:srgbClr val="000000"/>
                </a:solidFill>
                <a:latin typeface="Arial"/>
                <a:ea typeface="Arial"/>
                <a:cs typeface="Arial"/>
                <a:sym typeface="Arial"/>
              </a:rPr>
              <a:t>Structure</a:t>
            </a:r>
            <a:endParaRPr b="1" sz="13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Each processor has its </a:t>
            </a:r>
            <a:r>
              <a:rPr b="1" lang="en" sz="1100">
                <a:solidFill>
                  <a:srgbClr val="000000"/>
                </a:solidFill>
                <a:latin typeface="Arial"/>
                <a:ea typeface="Arial"/>
                <a:cs typeface="Arial"/>
                <a:sym typeface="Arial"/>
              </a:rPr>
              <a:t>own private memory</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But </a:t>
            </a:r>
            <a:r>
              <a:rPr b="1" lang="en" sz="1100">
                <a:solidFill>
                  <a:srgbClr val="000000"/>
                </a:solidFill>
                <a:latin typeface="Arial"/>
                <a:ea typeface="Arial"/>
                <a:cs typeface="Arial"/>
                <a:sym typeface="Arial"/>
              </a:rPr>
              <a:t>all processors share the same disk system</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Communication happens via a network.</a:t>
            </a:r>
            <a:endParaRPr sz="1100">
              <a:solidFill>
                <a:srgbClr val="000000"/>
              </a:solidFill>
              <a:latin typeface="Arial"/>
              <a:ea typeface="Arial"/>
              <a:cs typeface="Arial"/>
              <a:sym typeface="Arial"/>
            </a:endParaRPr>
          </a:p>
          <a:p>
            <a:pPr indent="0" lvl="0" marL="0" rtl="0" algn="l">
              <a:spcBef>
                <a:spcPts val="1400"/>
              </a:spcBef>
              <a:spcAft>
                <a:spcPts val="0"/>
              </a:spcAft>
              <a:buNone/>
            </a:pPr>
            <a:r>
              <a:rPr b="1" lang="en" sz="1300">
                <a:solidFill>
                  <a:srgbClr val="000000"/>
                </a:solidFill>
                <a:latin typeface="Arial"/>
                <a:ea typeface="Arial"/>
                <a:cs typeface="Arial"/>
                <a:sym typeface="Arial"/>
              </a:rPr>
              <a:t>Advantages</a:t>
            </a:r>
            <a:endParaRPr b="1" sz="13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b="1" lang="en" sz="1100">
                <a:solidFill>
                  <a:srgbClr val="000000"/>
                </a:solidFill>
                <a:latin typeface="Arial"/>
                <a:ea typeface="Arial"/>
                <a:cs typeface="Arial"/>
                <a:sym typeface="Arial"/>
              </a:rPr>
              <a:t>Better fault tolerance</a:t>
            </a:r>
            <a:endParaRPr b="1"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If one processor fails → others continue (because disks are common).</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No contention for memory bus (unlike shared memory).</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Good for </a:t>
            </a:r>
            <a:r>
              <a:rPr b="1" lang="en" sz="1100">
                <a:solidFill>
                  <a:srgbClr val="000000"/>
                </a:solidFill>
                <a:latin typeface="Arial"/>
                <a:ea typeface="Arial"/>
                <a:cs typeface="Arial"/>
                <a:sym typeface="Arial"/>
              </a:rPr>
              <a:t>medium-sized systems</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0" rtl="0" algn="l">
              <a:spcBef>
                <a:spcPts val="1400"/>
              </a:spcBef>
              <a:spcAft>
                <a:spcPts val="0"/>
              </a:spcAft>
              <a:buNone/>
            </a:pPr>
            <a:r>
              <a:rPr b="1" lang="en" sz="1300">
                <a:solidFill>
                  <a:srgbClr val="000000"/>
                </a:solidFill>
                <a:latin typeface="Arial"/>
                <a:ea typeface="Arial"/>
                <a:cs typeface="Arial"/>
                <a:sym typeface="Arial"/>
              </a:rPr>
              <a:t>Disadvant</a:t>
            </a:r>
            <a:r>
              <a:rPr b="1" lang="en" sz="1300">
                <a:solidFill>
                  <a:srgbClr val="000000"/>
                </a:solidFill>
                <a:latin typeface="Arial"/>
                <a:ea typeface="Arial"/>
                <a:cs typeface="Arial"/>
                <a:sym typeface="Arial"/>
              </a:rPr>
              <a:t>a</a:t>
            </a:r>
            <a:r>
              <a:rPr b="1" lang="en" sz="1300">
                <a:solidFill>
                  <a:srgbClr val="000000"/>
                </a:solidFill>
                <a:latin typeface="Arial"/>
                <a:ea typeface="Arial"/>
                <a:cs typeface="Arial"/>
                <a:sym typeface="Arial"/>
              </a:rPr>
              <a:t>ges</a:t>
            </a:r>
            <a:endParaRPr b="1" sz="13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b="1" lang="en" sz="1100">
                <a:solidFill>
                  <a:srgbClr val="000000"/>
                </a:solidFill>
                <a:latin typeface="Arial"/>
                <a:ea typeface="Arial"/>
                <a:cs typeface="Arial"/>
                <a:sym typeface="Arial"/>
              </a:rPr>
              <a:t>Disk interconnection becomes a bottleneck</a:t>
            </a:r>
            <a:endParaRPr b="1"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Many processors → heavy load on disk network</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Slower communication (milliseconds) vs shared memory (nanoseconds).</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49"/>
          <p:cNvSpPr txBox="1"/>
          <p:nvPr>
            <p:ph idx="1" type="body"/>
          </p:nvPr>
        </p:nvSpPr>
        <p:spPr>
          <a:xfrm>
            <a:off x="311700" y="335775"/>
            <a:ext cx="8520600" cy="4233300"/>
          </a:xfrm>
          <a:prstGeom prst="rect">
            <a:avLst/>
          </a:prstGeom>
        </p:spPr>
        <p:txBody>
          <a:bodyPr anchorCtr="0" anchor="t" bIns="91425" lIns="91425" spcFirstLastPara="1" rIns="91425" wrap="square" tIns="91425">
            <a:normAutofit fontScale="92500" lnSpcReduction="20000"/>
          </a:bodyPr>
          <a:lstStyle/>
          <a:p>
            <a:pPr indent="0" lvl="0" marL="0" rtl="0" algn="l">
              <a:spcBef>
                <a:spcPts val="2400"/>
              </a:spcBef>
              <a:spcAft>
                <a:spcPts val="0"/>
              </a:spcAft>
              <a:buNone/>
            </a:pPr>
            <a:r>
              <a:rPr b="1" lang="en" sz="2300">
                <a:solidFill>
                  <a:srgbClr val="000000"/>
                </a:solidFill>
                <a:latin typeface="Arial"/>
                <a:ea typeface="Arial"/>
                <a:cs typeface="Arial"/>
                <a:sym typeface="Arial"/>
              </a:rPr>
              <a:t>3. Shared Nothing Architecture</a:t>
            </a:r>
            <a:endParaRPr b="1" sz="23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(The most scalable approach — used in modern big data)</a:t>
            </a:r>
            <a:endParaRPr sz="1100">
              <a:solidFill>
                <a:srgbClr val="000000"/>
              </a:solidFill>
              <a:latin typeface="Arial"/>
              <a:ea typeface="Arial"/>
              <a:cs typeface="Arial"/>
              <a:sym typeface="Arial"/>
            </a:endParaRPr>
          </a:p>
          <a:p>
            <a:pPr indent="0" lvl="0" marL="0" rtl="0" algn="l">
              <a:spcBef>
                <a:spcPts val="1400"/>
              </a:spcBef>
              <a:spcAft>
                <a:spcPts val="0"/>
              </a:spcAft>
              <a:buNone/>
            </a:pPr>
            <a:r>
              <a:rPr b="1" lang="en" sz="1300">
                <a:solidFill>
                  <a:srgbClr val="000000"/>
                </a:solidFill>
                <a:latin typeface="Arial"/>
                <a:ea typeface="Arial"/>
                <a:cs typeface="Arial"/>
                <a:sym typeface="Arial"/>
              </a:rPr>
              <a:t>Structure</a:t>
            </a:r>
            <a:endParaRPr b="1" sz="13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Each node </a:t>
            </a:r>
            <a:r>
              <a:rPr lang="en" sz="1100">
                <a:solidFill>
                  <a:srgbClr val="000000"/>
                </a:solidFill>
                <a:latin typeface="Arial"/>
                <a:ea typeface="Arial"/>
                <a:cs typeface="Arial"/>
                <a:sym typeface="Arial"/>
              </a:rPr>
              <a:t>h</a:t>
            </a:r>
            <a:r>
              <a:rPr lang="en" sz="1100">
                <a:solidFill>
                  <a:srgbClr val="000000"/>
                </a:solidFill>
                <a:latin typeface="Arial"/>
                <a:ea typeface="Arial"/>
                <a:cs typeface="Arial"/>
                <a:sym typeface="Arial"/>
              </a:rPr>
              <a:t>as:</a:t>
            </a:r>
            <a:endParaRPr sz="1100">
              <a:solidFill>
                <a:srgbClr val="000000"/>
              </a:solidFill>
              <a:latin typeface="Arial"/>
              <a:ea typeface="Arial"/>
              <a:cs typeface="Arial"/>
              <a:sym typeface="Arial"/>
            </a:endParaRPr>
          </a:p>
          <a:p>
            <a:pPr indent="-293211" lvl="0" marL="457200" rtl="0" algn="l">
              <a:spcBef>
                <a:spcPts val="1200"/>
              </a:spcBef>
              <a:spcAft>
                <a:spcPts val="0"/>
              </a:spcAft>
              <a:buClr>
                <a:srgbClr val="000000"/>
              </a:buClr>
              <a:buSzPct val="100000"/>
              <a:buFont typeface="Arial"/>
              <a:buChar char="●"/>
            </a:pPr>
            <a:r>
              <a:rPr lang="en" sz="1100">
                <a:solidFill>
                  <a:srgbClr val="000000"/>
                </a:solidFill>
                <a:latin typeface="Arial"/>
                <a:ea typeface="Arial"/>
                <a:cs typeface="Arial"/>
                <a:sym typeface="Arial"/>
              </a:rPr>
              <a:t>Its </a:t>
            </a:r>
            <a:r>
              <a:rPr b="1" lang="en" sz="1100">
                <a:solidFill>
                  <a:srgbClr val="000000"/>
                </a:solidFill>
                <a:latin typeface="Arial"/>
                <a:ea typeface="Arial"/>
                <a:cs typeface="Arial"/>
                <a:sym typeface="Arial"/>
              </a:rPr>
              <a:t>own processor</a:t>
            </a:r>
            <a:endParaRPr b="1" sz="1100">
              <a:solidFill>
                <a:srgbClr val="000000"/>
              </a:solidFill>
              <a:latin typeface="Arial"/>
              <a:ea typeface="Arial"/>
              <a:cs typeface="Arial"/>
              <a:sym typeface="Arial"/>
            </a:endParaRPr>
          </a:p>
          <a:p>
            <a:pPr indent="-293211" lvl="0" marL="457200" rtl="0" algn="l">
              <a:spcBef>
                <a:spcPts val="0"/>
              </a:spcBef>
              <a:spcAft>
                <a:spcPts val="0"/>
              </a:spcAft>
              <a:buClr>
                <a:srgbClr val="000000"/>
              </a:buClr>
              <a:buSzPct val="100000"/>
              <a:buFont typeface="Arial"/>
              <a:buChar char="●"/>
            </a:pPr>
            <a:r>
              <a:rPr lang="en" sz="1100">
                <a:solidFill>
                  <a:srgbClr val="000000"/>
                </a:solidFill>
                <a:latin typeface="Arial"/>
                <a:ea typeface="Arial"/>
                <a:cs typeface="Arial"/>
                <a:sym typeface="Arial"/>
              </a:rPr>
              <a:t>Its </a:t>
            </a:r>
            <a:r>
              <a:rPr b="1" lang="en" sz="1100">
                <a:solidFill>
                  <a:srgbClr val="000000"/>
                </a:solidFill>
                <a:latin typeface="Arial"/>
                <a:ea typeface="Arial"/>
                <a:cs typeface="Arial"/>
                <a:sym typeface="Arial"/>
              </a:rPr>
              <a:t>own memory</a:t>
            </a:r>
            <a:endParaRPr b="1" sz="1100">
              <a:solidFill>
                <a:srgbClr val="000000"/>
              </a:solidFill>
              <a:latin typeface="Arial"/>
              <a:ea typeface="Arial"/>
              <a:cs typeface="Arial"/>
              <a:sym typeface="Arial"/>
            </a:endParaRPr>
          </a:p>
          <a:p>
            <a:pPr indent="-293211" lvl="0" marL="457200" rtl="0" algn="l">
              <a:spcBef>
                <a:spcPts val="0"/>
              </a:spcBef>
              <a:spcAft>
                <a:spcPts val="0"/>
              </a:spcAft>
              <a:buClr>
                <a:srgbClr val="000000"/>
              </a:buClr>
              <a:buSzPct val="100000"/>
              <a:buFont typeface="Arial"/>
              <a:buChar char="●"/>
            </a:pPr>
            <a:r>
              <a:rPr lang="en" sz="1100">
                <a:solidFill>
                  <a:srgbClr val="000000"/>
                </a:solidFill>
                <a:latin typeface="Arial"/>
                <a:ea typeface="Arial"/>
                <a:cs typeface="Arial"/>
                <a:sym typeface="Arial"/>
              </a:rPr>
              <a:t>Its </a:t>
            </a:r>
            <a:r>
              <a:rPr b="1" lang="en" sz="1100">
                <a:solidFill>
                  <a:srgbClr val="000000"/>
                </a:solidFill>
                <a:latin typeface="Arial"/>
                <a:ea typeface="Arial"/>
                <a:cs typeface="Arial"/>
                <a:sym typeface="Arial"/>
              </a:rPr>
              <a:t>own disks</a:t>
            </a:r>
            <a:endParaRPr b="1"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Nodes communicate only over a high-speed network.</a:t>
            </a:r>
            <a:endParaRPr sz="1100">
              <a:solidFill>
                <a:srgbClr val="000000"/>
              </a:solidFill>
              <a:latin typeface="Arial"/>
              <a:ea typeface="Arial"/>
              <a:cs typeface="Arial"/>
              <a:sym typeface="Arial"/>
            </a:endParaRPr>
          </a:p>
          <a:p>
            <a:pPr indent="0" lvl="0" marL="0" rtl="0" algn="l">
              <a:spcBef>
                <a:spcPts val="1400"/>
              </a:spcBef>
              <a:spcAft>
                <a:spcPts val="0"/>
              </a:spcAft>
              <a:buNone/>
            </a:pPr>
            <a:r>
              <a:rPr b="1" lang="en" sz="1300">
                <a:solidFill>
                  <a:srgbClr val="000000"/>
                </a:solidFill>
                <a:latin typeface="Arial"/>
                <a:ea typeface="Arial"/>
                <a:cs typeface="Arial"/>
                <a:sym typeface="Arial"/>
              </a:rPr>
              <a:t>Advantages</a:t>
            </a:r>
            <a:endParaRPr b="1" sz="1300">
              <a:solidFill>
                <a:srgbClr val="000000"/>
              </a:solidFill>
              <a:latin typeface="Arial"/>
              <a:ea typeface="Arial"/>
              <a:cs typeface="Arial"/>
              <a:sym typeface="Arial"/>
            </a:endParaRPr>
          </a:p>
          <a:p>
            <a:pPr indent="-293211" lvl="0" marL="457200" rtl="0" algn="l">
              <a:spcBef>
                <a:spcPts val="1200"/>
              </a:spcBef>
              <a:spcAft>
                <a:spcPts val="0"/>
              </a:spcAft>
              <a:buClr>
                <a:srgbClr val="000000"/>
              </a:buClr>
              <a:buSzPct val="100000"/>
              <a:buFont typeface="Arial"/>
              <a:buChar char="●"/>
            </a:pPr>
            <a:r>
              <a:rPr b="1" lang="en" sz="1100">
                <a:solidFill>
                  <a:srgbClr val="000000"/>
                </a:solidFill>
                <a:latin typeface="Arial"/>
                <a:ea typeface="Arial"/>
                <a:cs typeface="Arial"/>
                <a:sym typeface="Arial"/>
              </a:rPr>
              <a:t>Highly scalable</a:t>
            </a:r>
            <a:r>
              <a:rPr lang="en" sz="1100">
                <a:solidFill>
                  <a:srgbClr val="000000"/>
                </a:solidFill>
                <a:latin typeface="Arial"/>
                <a:ea typeface="Arial"/>
                <a:cs typeface="Arial"/>
                <a:sym typeface="Arial"/>
              </a:rPr>
              <a:t> (can support 100s or 1000s of nodes)</a:t>
            </a:r>
            <a:endParaRPr sz="1100">
              <a:solidFill>
                <a:srgbClr val="000000"/>
              </a:solidFill>
              <a:latin typeface="Arial"/>
              <a:ea typeface="Arial"/>
              <a:cs typeface="Arial"/>
              <a:sym typeface="Arial"/>
            </a:endParaRPr>
          </a:p>
          <a:p>
            <a:pPr indent="-293211" lvl="0" marL="457200" rtl="0" algn="l">
              <a:spcBef>
                <a:spcPts val="0"/>
              </a:spcBef>
              <a:spcAft>
                <a:spcPts val="0"/>
              </a:spcAft>
              <a:buClr>
                <a:srgbClr val="000000"/>
              </a:buClr>
              <a:buSzPct val="100000"/>
              <a:buFont typeface="Arial"/>
              <a:buChar char="●"/>
            </a:pPr>
            <a:r>
              <a:rPr lang="en" sz="1100">
                <a:solidFill>
                  <a:srgbClr val="000000"/>
                </a:solidFill>
                <a:latin typeface="Arial"/>
                <a:ea typeface="Arial"/>
                <a:cs typeface="Arial"/>
                <a:sym typeface="Arial"/>
              </a:rPr>
              <a:t>Local disk access → </a:t>
            </a:r>
            <a:r>
              <a:rPr b="1" lang="en" sz="1100">
                <a:solidFill>
                  <a:srgbClr val="000000"/>
                </a:solidFill>
                <a:latin typeface="Arial"/>
                <a:ea typeface="Arial"/>
                <a:cs typeface="Arial"/>
                <a:sym typeface="Arial"/>
              </a:rPr>
              <a:t>fast I/O</a:t>
            </a:r>
            <a:endParaRPr b="1" sz="1100">
              <a:solidFill>
                <a:srgbClr val="000000"/>
              </a:solidFill>
              <a:latin typeface="Arial"/>
              <a:ea typeface="Arial"/>
              <a:cs typeface="Arial"/>
              <a:sym typeface="Arial"/>
            </a:endParaRPr>
          </a:p>
          <a:p>
            <a:pPr indent="-293211" lvl="0" marL="457200" rtl="0" algn="l">
              <a:spcBef>
                <a:spcPts val="0"/>
              </a:spcBef>
              <a:spcAft>
                <a:spcPts val="0"/>
              </a:spcAft>
              <a:buClr>
                <a:srgbClr val="000000"/>
              </a:buClr>
              <a:buSzPct val="100000"/>
              <a:buFont typeface="Arial"/>
              <a:buChar char="●"/>
            </a:pPr>
            <a:r>
              <a:rPr lang="en" sz="1100">
                <a:solidFill>
                  <a:srgbClr val="000000"/>
                </a:solidFill>
                <a:latin typeface="Arial"/>
                <a:ea typeface="Arial"/>
                <a:cs typeface="Arial"/>
                <a:sym typeface="Arial"/>
              </a:rPr>
              <a:t>Network capacity also increases when nodes increase</a:t>
            </a:r>
            <a:endParaRPr sz="1100">
              <a:solidFill>
                <a:srgbClr val="000000"/>
              </a:solidFill>
              <a:latin typeface="Arial"/>
              <a:ea typeface="Arial"/>
              <a:cs typeface="Arial"/>
              <a:sym typeface="Arial"/>
            </a:endParaRPr>
          </a:p>
          <a:p>
            <a:pPr indent="0" lvl="0" marL="0" rtl="0" algn="l">
              <a:spcBef>
                <a:spcPts val="1400"/>
              </a:spcBef>
              <a:spcAft>
                <a:spcPts val="0"/>
              </a:spcAft>
              <a:buNone/>
            </a:pPr>
            <a:r>
              <a:rPr b="1" lang="en" sz="1300">
                <a:solidFill>
                  <a:srgbClr val="000000"/>
                </a:solidFill>
                <a:latin typeface="Arial"/>
                <a:ea typeface="Arial"/>
                <a:cs typeface="Arial"/>
                <a:sym typeface="Arial"/>
              </a:rPr>
              <a:t>Disadvantages</a:t>
            </a:r>
            <a:endParaRPr b="1" sz="1300">
              <a:solidFill>
                <a:srgbClr val="000000"/>
              </a:solidFill>
              <a:latin typeface="Arial"/>
              <a:ea typeface="Arial"/>
              <a:cs typeface="Arial"/>
              <a:sym typeface="Arial"/>
            </a:endParaRPr>
          </a:p>
          <a:p>
            <a:pPr indent="-293211" lvl="0" marL="457200" rtl="0" algn="l">
              <a:spcBef>
                <a:spcPts val="1200"/>
              </a:spcBef>
              <a:spcAft>
                <a:spcPts val="0"/>
              </a:spcAft>
              <a:buClr>
                <a:srgbClr val="000000"/>
              </a:buClr>
              <a:buSzPct val="100000"/>
              <a:buFont typeface="Arial"/>
              <a:buChar char="●"/>
            </a:pPr>
            <a:r>
              <a:rPr lang="en" sz="1100">
                <a:solidFill>
                  <a:srgbClr val="000000"/>
                </a:solidFill>
                <a:latin typeface="Arial"/>
                <a:ea typeface="Arial"/>
                <a:cs typeface="Arial"/>
                <a:sym typeface="Arial"/>
              </a:rPr>
              <a:t>Communication cost is high (data must move through network).</a:t>
            </a:r>
            <a:endParaRPr sz="1100">
              <a:solidFill>
                <a:srgbClr val="000000"/>
              </a:solidFill>
              <a:latin typeface="Arial"/>
              <a:ea typeface="Arial"/>
              <a:cs typeface="Arial"/>
              <a:sym typeface="Arial"/>
            </a:endParaRPr>
          </a:p>
          <a:p>
            <a:pPr indent="-293211" lvl="0" marL="457200" rtl="0" algn="l">
              <a:spcBef>
                <a:spcPts val="0"/>
              </a:spcBef>
              <a:spcAft>
                <a:spcPts val="0"/>
              </a:spcAft>
              <a:buClr>
                <a:srgbClr val="000000"/>
              </a:buClr>
              <a:buSzPct val="100000"/>
              <a:buFont typeface="Arial"/>
              <a:buChar char="●"/>
            </a:pPr>
            <a:r>
              <a:rPr b="1" lang="en" sz="1100">
                <a:solidFill>
                  <a:srgbClr val="000000"/>
                </a:solidFill>
                <a:latin typeface="Arial"/>
                <a:ea typeface="Arial"/>
                <a:cs typeface="Arial"/>
                <a:sym typeface="Arial"/>
              </a:rPr>
              <a:t>Non-local data access is slow</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293211" lvl="0" marL="457200" rtl="0" algn="l">
              <a:spcBef>
                <a:spcPts val="0"/>
              </a:spcBef>
              <a:spcAft>
                <a:spcPts val="0"/>
              </a:spcAft>
              <a:buClr>
                <a:srgbClr val="000000"/>
              </a:buClr>
              <a:buSzPct val="100000"/>
              <a:buFont typeface="Arial"/>
              <a:buChar char="●"/>
            </a:pPr>
            <a:r>
              <a:rPr lang="en" sz="1100">
                <a:solidFill>
                  <a:srgbClr val="000000"/>
                </a:solidFill>
                <a:latin typeface="Arial"/>
                <a:ea typeface="Arial"/>
                <a:cs typeface="Arial"/>
                <a:sym typeface="Arial"/>
              </a:rPr>
              <a:t>More complex to program and manage.</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50"/>
          <p:cNvSpPr txBox="1"/>
          <p:nvPr>
            <p:ph idx="1" type="body"/>
          </p:nvPr>
        </p:nvSpPr>
        <p:spPr>
          <a:xfrm>
            <a:off x="311700" y="614025"/>
            <a:ext cx="8520600" cy="3302700"/>
          </a:xfrm>
          <a:prstGeom prst="rect">
            <a:avLst/>
          </a:prstGeom>
        </p:spPr>
        <p:txBody>
          <a:bodyPr anchorCtr="0" anchor="t" bIns="91425" lIns="91425" spcFirstLastPara="1" rIns="91425" wrap="square" tIns="91425">
            <a:normAutofit/>
          </a:bodyPr>
          <a:lstStyle/>
          <a:p>
            <a:pPr indent="0" lvl="0" marL="0" rtl="0" algn="l">
              <a:spcBef>
                <a:spcPts val="2400"/>
              </a:spcBef>
              <a:spcAft>
                <a:spcPts val="0"/>
              </a:spcAft>
              <a:buNone/>
            </a:pPr>
            <a:r>
              <a:rPr b="1" lang="en" sz="2300">
                <a:solidFill>
                  <a:srgbClr val="000000"/>
                </a:solidFill>
                <a:latin typeface="Arial"/>
                <a:ea typeface="Arial"/>
                <a:cs typeface="Arial"/>
                <a:sym typeface="Arial"/>
              </a:rPr>
              <a:t>4. Hierarchical Architecture</a:t>
            </a:r>
            <a:endParaRPr b="1" sz="23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Combination of all three:</a:t>
            </a:r>
            <a:endParaRPr sz="1100">
              <a:solidFill>
                <a:srgbClr val="000000"/>
              </a:solidFill>
              <a:latin typeface="Arial"/>
              <a:ea typeface="Arial"/>
              <a:cs typeface="Arial"/>
              <a:sym typeface="Arial"/>
            </a:endParaRPr>
          </a:p>
          <a:p>
            <a:pPr indent="0" lvl="0" marL="0" rtl="0" algn="l">
              <a:spcBef>
                <a:spcPts val="1400"/>
              </a:spcBef>
              <a:spcAft>
                <a:spcPts val="0"/>
              </a:spcAft>
              <a:buNone/>
            </a:pPr>
            <a:r>
              <a:rPr b="1" lang="en" sz="1300">
                <a:solidFill>
                  <a:srgbClr val="000000"/>
                </a:solidFill>
                <a:latin typeface="Arial"/>
                <a:ea typeface="Arial"/>
                <a:cs typeface="Arial"/>
                <a:sym typeface="Arial"/>
              </a:rPr>
              <a:t>Why used?</a:t>
            </a:r>
            <a:endParaRPr b="1" sz="13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To combine strengths and reduce weaknesses</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Allows very large, complex systems to work efficiently</a:t>
            </a: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51"/>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I/O Parallelism</a:t>
            </a:r>
            <a:endParaRPr/>
          </a:p>
        </p:txBody>
      </p:sp>
      <p:sp>
        <p:nvSpPr>
          <p:cNvPr id="274" name="Google Shape;274;p51"/>
          <p:cNvSpPr txBox="1"/>
          <p:nvPr>
            <p:ph idx="1" type="body"/>
          </p:nvPr>
        </p:nvSpPr>
        <p:spPr>
          <a:xfrm>
            <a:off x="311700" y="1266325"/>
            <a:ext cx="8520600" cy="3302700"/>
          </a:xfrm>
          <a:prstGeom prst="rect">
            <a:avLst/>
          </a:prstGeom>
        </p:spPr>
        <p:txBody>
          <a:bodyPr anchorCtr="0" anchor="t" bIns="91425" lIns="91425" spcFirstLastPara="1" rIns="91425" wrap="square" tIns="91425">
            <a:normAutofit lnSpcReduction="20000"/>
          </a:bodyPr>
          <a:lstStyle/>
          <a:p>
            <a:pPr indent="0" lvl="0" marL="0" rtl="0" algn="l">
              <a:spcBef>
                <a:spcPts val="1200"/>
              </a:spcBef>
              <a:spcAft>
                <a:spcPts val="0"/>
              </a:spcAft>
              <a:buNone/>
            </a:pPr>
            <a:r>
              <a:rPr lang="en" sz="1100">
                <a:solidFill>
                  <a:srgbClr val="000000"/>
                </a:solidFill>
                <a:latin typeface="Arial"/>
                <a:ea typeface="Arial"/>
                <a:cs typeface="Arial"/>
                <a:sym typeface="Arial"/>
              </a:rPr>
              <a:t>When a database becomes very large, reading data from only </a:t>
            </a:r>
            <a:r>
              <a:rPr b="1" lang="en" sz="1100">
                <a:solidFill>
                  <a:srgbClr val="000000"/>
                </a:solidFill>
                <a:latin typeface="Arial"/>
                <a:ea typeface="Arial"/>
                <a:cs typeface="Arial"/>
                <a:sym typeface="Arial"/>
              </a:rPr>
              <a:t>one disk</a:t>
            </a:r>
            <a:r>
              <a:rPr lang="en" sz="1100">
                <a:solidFill>
                  <a:srgbClr val="000000"/>
                </a:solidFill>
                <a:latin typeface="Arial"/>
                <a:ea typeface="Arial"/>
                <a:cs typeface="Arial"/>
                <a:sym typeface="Arial"/>
              </a:rPr>
              <a:t> becomes slow.</a:t>
            </a:r>
            <a:br>
              <a:rPr lang="en" sz="1100">
                <a:solidFill>
                  <a:srgbClr val="000000"/>
                </a:solidFill>
                <a:latin typeface="Arial"/>
                <a:ea typeface="Arial"/>
                <a:cs typeface="Arial"/>
                <a:sym typeface="Arial"/>
              </a:rPr>
            </a:br>
            <a:r>
              <a:rPr lang="en" sz="1100">
                <a:solidFill>
                  <a:srgbClr val="000000"/>
                </a:solidFill>
                <a:latin typeface="Arial"/>
                <a:ea typeface="Arial"/>
                <a:cs typeface="Arial"/>
                <a:sym typeface="Arial"/>
              </a:rPr>
              <a:t> </a:t>
            </a:r>
            <a:r>
              <a:rPr b="1" lang="en" sz="1100">
                <a:solidFill>
                  <a:srgbClr val="000000"/>
                </a:solidFill>
                <a:latin typeface="Arial"/>
                <a:ea typeface="Arial"/>
                <a:cs typeface="Arial"/>
                <a:sym typeface="Arial"/>
              </a:rPr>
              <a:t>I/O Parallelism</a:t>
            </a:r>
            <a:r>
              <a:rPr lang="en" sz="1100">
                <a:solidFill>
                  <a:srgbClr val="000000"/>
                </a:solidFill>
                <a:latin typeface="Arial"/>
                <a:ea typeface="Arial"/>
                <a:cs typeface="Arial"/>
                <a:sym typeface="Arial"/>
              </a:rPr>
              <a:t> means </a:t>
            </a:r>
            <a:r>
              <a:rPr i="1" lang="en" sz="1100">
                <a:solidFill>
                  <a:srgbClr val="000000"/>
                </a:solidFill>
                <a:latin typeface="Arial"/>
                <a:ea typeface="Arial"/>
                <a:cs typeface="Arial"/>
                <a:sym typeface="Arial"/>
              </a:rPr>
              <a:t>dividing the data across multiple disks</a:t>
            </a:r>
            <a:r>
              <a:rPr lang="en" sz="1100">
                <a:solidFill>
                  <a:srgbClr val="000000"/>
                </a:solidFill>
                <a:latin typeface="Arial"/>
                <a:ea typeface="Arial"/>
                <a:cs typeface="Arial"/>
                <a:sym typeface="Arial"/>
              </a:rPr>
              <a:t> so that many disks can be read </a:t>
            </a:r>
            <a:r>
              <a:rPr b="1" lang="en" sz="1100">
                <a:solidFill>
                  <a:srgbClr val="000000"/>
                </a:solidFill>
                <a:latin typeface="Arial"/>
                <a:ea typeface="Arial"/>
                <a:cs typeface="Arial"/>
                <a:sym typeface="Arial"/>
              </a:rPr>
              <a:t>simultaneously</a:t>
            </a:r>
            <a:r>
              <a:rPr lang="en" sz="1100">
                <a:solidFill>
                  <a:srgbClr val="000000"/>
                </a:solidFill>
                <a:latin typeface="Arial"/>
                <a:ea typeface="Arial"/>
                <a:cs typeface="Arial"/>
                <a:sym typeface="Arial"/>
              </a:rPr>
              <a:t>, making retrieval faster.</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Think of it like dividing a heavy load among many workers—work gets done faster.</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The most common method to divide data is </a:t>
            </a:r>
            <a:r>
              <a:rPr b="1" lang="en" sz="1100">
                <a:solidFill>
                  <a:srgbClr val="000000"/>
                </a:solidFill>
                <a:latin typeface="Arial"/>
                <a:ea typeface="Arial"/>
                <a:cs typeface="Arial"/>
                <a:sym typeface="Arial"/>
              </a:rPr>
              <a:t>horizontal partitioning</a:t>
            </a:r>
            <a:r>
              <a:rPr lang="en" sz="1100">
                <a:solidFill>
                  <a:srgbClr val="000000"/>
                </a:solidFill>
                <a:latin typeface="Arial"/>
                <a:ea typeface="Arial"/>
                <a:cs typeface="Arial"/>
                <a:sym typeface="Arial"/>
              </a:rPr>
              <a:t>, where </a:t>
            </a:r>
            <a:r>
              <a:rPr b="1" lang="en" sz="1100">
                <a:solidFill>
                  <a:srgbClr val="000000"/>
                </a:solidFill>
                <a:latin typeface="Arial"/>
                <a:ea typeface="Arial"/>
                <a:cs typeface="Arial"/>
                <a:sym typeface="Arial"/>
              </a:rPr>
              <a:t>tuples (rows)</a:t>
            </a:r>
            <a:r>
              <a:rPr lang="en" sz="1100">
                <a:solidFill>
                  <a:srgbClr val="000000"/>
                </a:solidFill>
                <a:latin typeface="Arial"/>
                <a:ea typeface="Arial"/>
                <a:cs typeface="Arial"/>
                <a:sym typeface="Arial"/>
              </a:rPr>
              <a:t> are split across disks.</a:t>
            </a:r>
            <a:endParaRPr sz="1100">
              <a:solidFill>
                <a:srgbClr val="000000"/>
              </a:solidFill>
              <a:latin typeface="Arial"/>
              <a:ea typeface="Arial"/>
              <a:cs typeface="Arial"/>
              <a:sym typeface="Arial"/>
            </a:endParaRPr>
          </a:p>
          <a:p>
            <a:pPr indent="0" lvl="0" marL="0" rtl="0" algn="l">
              <a:spcBef>
                <a:spcPts val="2400"/>
              </a:spcBef>
              <a:spcAft>
                <a:spcPts val="0"/>
              </a:spcAft>
              <a:buNone/>
            </a:pPr>
            <a:r>
              <a:rPr b="1" lang="en" sz="2300">
                <a:solidFill>
                  <a:srgbClr val="000000"/>
                </a:solidFill>
                <a:latin typeface="Arial"/>
                <a:ea typeface="Arial"/>
                <a:cs typeface="Arial"/>
                <a:sym typeface="Arial"/>
              </a:rPr>
              <a:t>1 Data Partitioning Techniques</a:t>
            </a:r>
            <a:endParaRPr b="1" sz="23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Parallel databases use three main strategies:</a:t>
            </a:r>
            <a:endParaRPr sz="1100">
              <a:solidFill>
                <a:srgbClr val="000000"/>
              </a:solidFill>
              <a:latin typeface="Arial"/>
              <a:ea typeface="Arial"/>
              <a:cs typeface="Arial"/>
              <a:sym typeface="Arial"/>
            </a:endParaRPr>
          </a:p>
          <a:p>
            <a:pPr indent="0" lvl="0" marL="0" rtl="0" algn="l">
              <a:spcBef>
                <a:spcPts val="1800"/>
              </a:spcBef>
              <a:spcAft>
                <a:spcPts val="0"/>
              </a:spcAft>
              <a:buNone/>
            </a:pPr>
            <a:r>
              <a:rPr b="1" lang="en" sz="1700">
                <a:solidFill>
                  <a:srgbClr val="000000"/>
                </a:solidFill>
                <a:latin typeface="Arial"/>
                <a:ea typeface="Arial"/>
                <a:cs typeface="Arial"/>
                <a:sym typeface="Arial"/>
              </a:rPr>
              <a:t>a. Round-Robin Partitioning</a:t>
            </a:r>
            <a:endParaRPr b="1" sz="17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Distribute rows one-by-one across disks in rotation.</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Example: Tuple 1 → Disk0, Tuple 2 → Disk1, Tuple 3 → Disk2, … repeat.</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52"/>
          <p:cNvSpPr txBox="1"/>
          <p:nvPr>
            <p:ph idx="1" type="body"/>
          </p:nvPr>
        </p:nvSpPr>
        <p:spPr>
          <a:xfrm>
            <a:off x="311700" y="303700"/>
            <a:ext cx="8520600" cy="42654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None/>
            </a:pPr>
            <a:r>
              <a:rPr b="1" lang="en" sz="1300">
                <a:solidFill>
                  <a:srgbClr val="000000"/>
                </a:solidFill>
                <a:latin typeface="Arial"/>
                <a:ea typeface="Arial"/>
                <a:cs typeface="Arial"/>
                <a:sym typeface="Arial"/>
              </a:rPr>
              <a:t>Pros</a:t>
            </a:r>
            <a:endParaRPr b="1" sz="13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Very balanced distribution.</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Good for </a:t>
            </a:r>
            <a:r>
              <a:rPr b="1" lang="en" sz="1100">
                <a:solidFill>
                  <a:srgbClr val="000000"/>
                </a:solidFill>
                <a:latin typeface="Arial"/>
                <a:ea typeface="Arial"/>
                <a:cs typeface="Arial"/>
                <a:sym typeface="Arial"/>
              </a:rPr>
              <a:t>scanning the entire table</a:t>
            </a:r>
            <a:r>
              <a:rPr lang="en" sz="1100">
                <a:solidFill>
                  <a:srgbClr val="000000"/>
                </a:solidFill>
                <a:latin typeface="Arial"/>
                <a:ea typeface="Arial"/>
                <a:cs typeface="Arial"/>
                <a:sym typeface="Arial"/>
              </a:rPr>
              <a:t>.</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0" lvl="0" marL="0" rtl="0" algn="l">
              <a:spcBef>
                <a:spcPts val="1400"/>
              </a:spcBef>
              <a:spcAft>
                <a:spcPts val="0"/>
              </a:spcAft>
              <a:buNone/>
            </a:pPr>
            <a:r>
              <a:rPr b="1" lang="en" sz="1300">
                <a:solidFill>
                  <a:srgbClr val="000000"/>
                </a:solidFill>
                <a:latin typeface="Arial"/>
                <a:ea typeface="Arial"/>
                <a:cs typeface="Arial"/>
                <a:sym typeface="Arial"/>
              </a:rPr>
              <a:t>Cons</a:t>
            </a:r>
            <a:endParaRPr b="1" sz="13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Not good for </a:t>
            </a:r>
            <a:r>
              <a:rPr b="1" lang="en" sz="1100">
                <a:solidFill>
                  <a:srgbClr val="000000"/>
                </a:solidFill>
                <a:latin typeface="Arial"/>
                <a:ea typeface="Arial"/>
                <a:cs typeface="Arial"/>
                <a:sym typeface="Arial"/>
              </a:rPr>
              <a:t>point queries</a:t>
            </a:r>
            <a:r>
              <a:rPr lang="en" sz="1100">
                <a:solidFill>
                  <a:srgbClr val="000000"/>
                </a:solidFill>
                <a:latin typeface="Arial"/>
                <a:ea typeface="Arial"/>
                <a:cs typeface="Arial"/>
                <a:sym typeface="Arial"/>
              </a:rPr>
              <a:t> or </a:t>
            </a:r>
            <a:r>
              <a:rPr b="1" lang="en" sz="1100">
                <a:solidFill>
                  <a:srgbClr val="000000"/>
                </a:solidFill>
                <a:latin typeface="Arial"/>
                <a:ea typeface="Arial"/>
                <a:cs typeface="Arial"/>
                <a:sym typeface="Arial"/>
              </a:rPr>
              <a:t>range queries</a:t>
            </a:r>
            <a:r>
              <a:rPr lang="en" sz="1100">
                <a:solidFill>
                  <a:srgbClr val="000000"/>
                </a:solidFill>
                <a:latin typeface="Arial"/>
                <a:ea typeface="Arial"/>
                <a:cs typeface="Arial"/>
                <a:sym typeface="Arial"/>
              </a:rPr>
              <a:t>, because:</a:t>
            </a:r>
            <a:br>
              <a:rPr lang="en" sz="1100">
                <a:solidFill>
                  <a:srgbClr val="000000"/>
                </a:solidFill>
                <a:latin typeface="Arial"/>
                <a:ea typeface="Arial"/>
                <a:cs typeface="Arial"/>
                <a:sym typeface="Arial"/>
              </a:rPr>
            </a:br>
            <a:r>
              <a:rPr lang="en" sz="1100">
                <a:solidFill>
                  <a:srgbClr val="000000"/>
                </a:solidFill>
                <a:latin typeface="Arial"/>
                <a:ea typeface="Arial"/>
                <a:cs typeface="Arial"/>
                <a:sym typeface="Arial"/>
              </a:rPr>
              <a:t> → You must check </a:t>
            </a:r>
            <a:r>
              <a:rPr i="1" lang="en" sz="1100">
                <a:solidFill>
                  <a:srgbClr val="000000"/>
                </a:solidFill>
                <a:latin typeface="Arial"/>
                <a:ea typeface="Arial"/>
                <a:cs typeface="Arial"/>
                <a:sym typeface="Arial"/>
              </a:rPr>
              <a:t>every</a:t>
            </a:r>
            <a:r>
              <a:rPr lang="en" sz="1100">
                <a:solidFill>
                  <a:srgbClr val="000000"/>
                </a:solidFill>
                <a:latin typeface="Arial"/>
                <a:ea typeface="Arial"/>
                <a:cs typeface="Arial"/>
                <a:sym typeface="Arial"/>
              </a:rPr>
              <a:t> disk.</a:t>
            </a:r>
            <a:endParaRPr sz="1100">
              <a:solidFill>
                <a:srgbClr val="000000"/>
              </a:solidFill>
              <a:latin typeface="Arial"/>
              <a:ea typeface="Arial"/>
              <a:cs typeface="Arial"/>
              <a:sym typeface="Arial"/>
            </a:endParaRPr>
          </a:p>
          <a:p>
            <a:pPr indent="0" lvl="0" marL="0" rtl="0" algn="l">
              <a:spcBef>
                <a:spcPts val="1800"/>
              </a:spcBef>
              <a:spcAft>
                <a:spcPts val="0"/>
              </a:spcAft>
              <a:buNone/>
            </a:pPr>
            <a:r>
              <a:rPr b="1" lang="en" sz="1700">
                <a:solidFill>
                  <a:srgbClr val="000000"/>
                </a:solidFill>
                <a:latin typeface="Arial"/>
                <a:ea typeface="Arial"/>
                <a:cs typeface="Arial"/>
                <a:sym typeface="Arial"/>
              </a:rPr>
              <a:t>b. Hash Partitioning</a:t>
            </a:r>
            <a:endParaRPr b="1" sz="17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Uses a </a:t>
            </a:r>
            <a:r>
              <a:rPr b="1" lang="en" sz="1100">
                <a:solidFill>
                  <a:srgbClr val="000000"/>
                </a:solidFill>
                <a:latin typeface="Arial"/>
                <a:ea typeface="Arial"/>
                <a:cs typeface="Arial"/>
                <a:sym typeface="Arial"/>
              </a:rPr>
              <a:t>hash function</a:t>
            </a:r>
            <a:r>
              <a:rPr lang="en" sz="1100">
                <a:solidFill>
                  <a:srgbClr val="000000"/>
                </a:solidFill>
                <a:latin typeface="Arial"/>
                <a:ea typeface="Arial"/>
                <a:cs typeface="Arial"/>
                <a:sym typeface="Arial"/>
              </a:rPr>
              <a:t> on a chosen attribute (e.g., customer_id).</a:t>
            </a:r>
            <a:endParaRPr sz="1100">
              <a:solidFill>
                <a:srgbClr val="000000"/>
              </a:solidFill>
              <a:latin typeface="Arial"/>
              <a:ea typeface="Arial"/>
              <a:cs typeface="Arial"/>
              <a:sym typeface="Arial"/>
            </a:endParaRPr>
          </a:p>
          <a:p>
            <a:pPr indent="0" lvl="0" marL="0" rtl="0" algn="l">
              <a:spcBef>
                <a:spcPts val="1200"/>
              </a:spcBef>
              <a:spcAft>
                <a:spcPts val="1200"/>
              </a:spcAft>
              <a:buNone/>
            </a:pPr>
            <a:r>
              <a:rPr lang="en" sz="1100">
                <a:solidFill>
                  <a:srgbClr val="000000"/>
                </a:solidFill>
                <a:latin typeface="Arial"/>
                <a:ea typeface="Arial"/>
                <a:cs typeface="Arial"/>
                <a:sym typeface="Arial"/>
              </a:rPr>
              <a:t>Example:</a:t>
            </a:r>
            <a:br>
              <a:rPr lang="en" sz="1100">
                <a:solidFill>
                  <a:srgbClr val="000000"/>
                </a:solidFill>
                <a:latin typeface="Arial"/>
                <a:ea typeface="Arial"/>
                <a:cs typeface="Arial"/>
                <a:sym typeface="Arial"/>
              </a:rPr>
            </a:br>
            <a:r>
              <a:rPr lang="en" sz="1100">
                <a:solidFill>
                  <a:srgbClr val="000000"/>
                </a:solidFill>
                <a:latin typeface="Arial"/>
                <a:ea typeface="Arial"/>
                <a:cs typeface="Arial"/>
                <a:sym typeface="Arial"/>
              </a:rPr>
              <a:t> If </a:t>
            </a:r>
            <a:r>
              <a:rPr lang="en" sz="1100">
                <a:solidFill>
                  <a:srgbClr val="188038"/>
                </a:solidFill>
                <a:latin typeface="Roboto Mono"/>
                <a:ea typeface="Roboto Mono"/>
                <a:cs typeface="Roboto Mono"/>
                <a:sym typeface="Roboto Mono"/>
              </a:rPr>
              <a:t>hash(customer_id)</a:t>
            </a:r>
            <a:r>
              <a:rPr lang="en" sz="1100">
                <a:solidFill>
                  <a:srgbClr val="000000"/>
                </a:solidFill>
                <a:latin typeface="Arial"/>
                <a:ea typeface="Arial"/>
                <a:cs typeface="Arial"/>
                <a:sym typeface="Arial"/>
              </a:rPr>
              <a:t> = 3 → tuple goes to Disk 3.</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53"/>
          <p:cNvSpPr txBox="1"/>
          <p:nvPr>
            <p:ph idx="1" type="body"/>
          </p:nvPr>
        </p:nvSpPr>
        <p:spPr>
          <a:xfrm>
            <a:off x="311700" y="1266325"/>
            <a:ext cx="8520600" cy="3302700"/>
          </a:xfrm>
          <a:prstGeom prst="rect">
            <a:avLst/>
          </a:prstGeom>
        </p:spPr>
        <p:txBody>
          <a:bodyPr anchorCtr="0" anchor="t" bIns="91425" lIns="91425" spcFirstLastPara="1" rIns="91425" wrap="square" tIns="91425">
            <a:normAutofit lnSpcReduction="20000"/>
          </a:bodyPr>
          <a:lstStyle/>
          <a:p>
            <a:pPr indent="0" lvl="0" marL="0" rtl="0" algn="l">
              <a:spcBef>
                <a:spcPts val="1400"/>
              </a:spcBef>
              <a:spcAft>
                <a:spcPts val="0"/>
              </a:spcAft>
              <a:buNone/>
            </a:pPr>
            <a:r>
              <a:rPr b="1" lang="en" sz="1300">
                <a:solidFill>
                  <a:srgbClr val="000000"/>
                </a:solidFill>
                <a:latin typeface="Arial"/>
                <a:ea typeface="Arial"/>
                <a:cs typeface="Arial"/>
                <a:sym typeface="Arial"/>
              </a:rPr>
              <a:t>Pros</a:t>
            </a:r>
            <a:endParaRPr b="1" sz="13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Excellent for </a:t>
            </a:r>
            <a:r>
              <a:rPr b="1" lang="en" sz="1100">
                <a:solidFill>
                  <a:srgbClr val="000000"/>
                </a:solidFill>
                <a:latin typeface="Arial"/>
                <a:ea typeface="Arial"/>
                <a:cs typeface="Arial"/>
                <a:sym typeface="Arial"/>
              </a:rPr>
              <a:t>point queries</a:t>
            </a:r>
            <a:r>
              <a:rPr lang="en" sz="1100">
                <a:solidFill>
                  <a:srgbClr val="000000"/>
                </a:solidFill>
                <a:latin typeface="Arial"/>
                <a:ea typeface="Arial"/>
                <a:cs typeface="Arial"/>
                <a:sym typeface="Arial"/>
              </a:rPr>
              <a:t> on partitioning attribute</a:t>
            </a:r>
            <a:br>
              <a:rPr lang="en" sz="1100">
                <a:solidFill>
                  <a:srgbClr val="000000"/>
                </a:solidFill>
                <a:latin typeface="Arial"/>
                <a:ea typeface="Arial"/>
                <a:cs typeface="Arial"/>
                <a:sym typeface="Arial"/>
              </a:rPr>
            </a:br>
            <a:r>
              <a:rPr lang="en" sz="1100">
                <a:solidFill>
                  <a:srgbClr val="000000"/>
                </a:solidFill>
                <a:latin typeface="Arial"/>
                <a:ea typeface="Arial"/>
                <a:cs typeface="Arial"/>
                <a:sym typeface="Arial"/>
              </a:rPr>
              <a:t> (Find customer with ID = 100 → hash to one disk only).</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Even distribution if hash is good.</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Good for scanning full relation.</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0" lvl="0" marL="0" rtl="0" algn="l">
              <a:spcBef>
                <a:spcPts val="1400"/>
              </a:spcBef>
              <a:spcAft>
                <a:spcPts val="0"/>
              </a:spcAft>
              <a:buNone/>
            </a:pPr>
            <a:r>
              <a:rPr b="1" lang="en" sz="1300">
                <a:solidFill>
                  <a:srgbClr val="000000"/>
                </a:solidFill>
                <a:latin typeface="Arial"/>
                <a:ea typeface="Arial"/>
                <a:cs typeface="Arial"/>
                <a:sym typeface="Arial"/>
              </a:rPr>
              <a:t>Cons</a:t>
            </a:r>
            <a:endParaRPr b="1" sz="13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Poor for </a:t>
            </a:r>
            <a:r>
              <a:rPr b="1" lang="en" sz="1100">
                <a:solidFill>
                  <a:srgbClr val="000000"/>
                </a:solidFill>
                <a:latin typeface="Arial"/>
                <a:ea typeface="Arial"/>
                <a:cs typeface="Arial"/>
                <a:sym typeface="Arial"/>
              </a:rPr>
              <a:t>range queries</a:t>
            </a:r>
            <a:r>
              <a:rPr lang="en" sz="1100">
                <a:solidFill>
                  <a:srgbClr val="000000"/>
                </a:solidFill>
                <a:latin typeface="Arial"/>
                <a:ea typeface="Arial"/>
                <a:cs typeface="Arial"/>
                <a:sym typeface="Arial"/>
              </a:rPr>
              <a:t> (example: salary between 20000 and 50000).</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Poor for queries on </a:t>
            </a:r>
            <a:r>
              <a:rPr b="1" lang="en" sz="1100">
                <a:solidFill>
                  <a:srgbClr val="000000"/>
                </a:solidFill>
                <a:latin typeface="Arial"/>
                <a:ea typeface="Arial"/>
                <a:cs typeface="Arial"/>
                <a:sym typeface="Arial"/>
              </a:rPr>
              <a:t>non-partitioning attributes</a:t>
            </a:r>
            <a:r>
              <a:rPr lang="en" sz="1100">
                <a:solidFill>
                  <a:srgbClr val="000000"/>
                </a:solidFill>
                <a:latin typeface="Arial"/>
                <a:ea typeface="Arial"/>
                <a:cs typeface="Arial"/>
                <a:sym typeface="Arial"/>
              </a:rPr>
              <a:t>.</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54"/>
          <p:cNvSpPr txBox="1"/>
          <p:nvPr>
            <p:ph idx="1" type="body"/>
          </p:nvPr>
        </p:nvSpPr>
        <p:spPr>
          <a:xfrm>
            <a:off x="311700" y="485475"/>
            <a:ext cx="8520600" cy="4083600"/>
          </a:xfrm>
          <a:prstGeom prst="rect">
            <a:avLst/>
          </a:prstGeom>
        </p:spPr>
        <p:txBody>
          <a:bodyPr anchorCtr="0" anchor="t" bIns="91425" lIns="91425" spcFirstLastPara="1" rIns="91425" wrap="square" tIns="91425">
            <a:normAutofit/>
          </a:bodyPr>
          <a:lstStyle/>
          <a:p>
            <a:pPr indent="0" lvl="0" marL="0" rtl="0" algn="l">
              <a:spcBef>
                <a:spcPts val="1800"/>
              </a:spcBef>
              <a:spcAft>
                <a:spcPts val="0"/>
              </a:spcAft>
              <a:buNone/>
            </a:pPr>
            <a:r>
              <a:rPr b="1" lang="en" sz="1700">
                <a:solidFill>
                  <a:srgbClr val="000000"/>
                </a:solidFill>
                <a:latin typeface="Arial"/>
                <a:ea typeface="Arial"/>
                <a:cs typeface="Arial"/>
                <a:sym typeface="Arial"/>
              </a:rPr>
              <a:t>c. Range Partitioning</a:t>
            </a:r>
            <a:endParaRPr b="1" sz="17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Data is divided based on </a:t>
            </a:r>
            <a:r>
              <a:rPr b="1" lang="en" sz="1100">
                <a:solidFill>
                  <a:srgbClr val="000000"/>
                </a:solidFill>
                <a:latin typeface="Arial"/>
                <a:ea typeface="Arial"/>
                <a:cs typeface="Arial"/>
                <a:sym typeface="Arial"/>
              </a:rPr>
              <a:t>value ranges</a:t>
            </a:r>
            <a:r>
              <a:rPr lang="en" sz="1100">
                <a:solidFill>
                  <a:srgbClr val="000000"/>
                </a:solidFill>
                <a:latin typeface="Arial"/>
                <a:ea typeface="Arial"/>
                <a:cs typeface="Arial"/>
                <a:sym typeface="Arial"/>
              </a:rPr>
              <a:t> of an attribute.</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Example (3 disks):</a:t>
            </a:r>
            <a:endParaRPr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Disk 0: values &lt; 5</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Disk 1: 5–40</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Disk 2: &gt;40</a:t>
            </a:r>
            <a:endParaRPr sz="1100">
              <a:solidFill>
                <a:srgbClr val="000000"/>
              </a:solidFill>
              <a:latin typeface="Arial"/>
              <a:ea typeface="Arial"/>
              <a:cs typeface="Arial"/>
              <a:sym typeface="Arial"/>
            </a:endParaRPr>
          </a:p>
          <a:p>
            <a:pPr indent="0" lvl="0" marL="0" rtl="0" algn="l">
              <a:spcBef>
                <a:spcPts val="1400"/>
              </a:spcBef>
              <a:spcAft>
                <a:spcPts val="0"/>
              </a:spcAft>
              <a:buNone/>
            </a:pPr>
            <a:r>
              <a:rPr b="1" lang="en" sz="1300">
                <a:solidFill>
                  <a:srgbClr val="000000"/>
                </a:solidFill>
                <a:latin typeface="Arial"/>
                <a:ea typeface="Arial"/>
                <a:cs typeface="Arial"/>
                <a:sym typeface="Arial"/>
              </a:rPr>
              <a:t>Pros</a:t>
            </a:r>
            <a:endParaRPr b="1" sz="13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Excellent for </a:t>
            </a:r>
            <a:r>
              <a:rPr b="1" lang="en" sz="1100">
                <a:solidFill>
                  <a:srgbClr val="000000"/>
                </a:solidFill>
                <a:latin typeface="Arial"/>
                <a:ea typeface="Arial"/>
                <a:cs typeface="Arial"/>
                <a:sym typeface="Arial"/>
              </a:rPr>
              <a:t>range queries</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Good for point queries on the partitioning attribute.</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Only relevant disks are searched → better throughput.</a:t>
            </a:r>
            <a:endParaRPr sz="1100">
              <a:solidFill>
                <a:srgbClr val="000000"/>
              </a:solidFill>
              <a:latin typeface="Arial"/>
              <a:ea typeface="Arial"/>
              <a:cs typeface="Arial"/>
              <a:sym typeface="Arial"/>
            </a:endParaRPr>
          </a:p>
          <a:p>
            <a:pPr indent="0" lvl="0" marL="0" rtl="0" algn="l">
              <a:spcBef>
                <a:spcPts val="1400"/>
              </a:spcBef>
              <a:spcAft>
                <a:spcPts val="0"/>
              </a:spcAft>
              <a:buNone/>
            </a:pPr>
            <a:r>
              <a:rPr b="1" lang="en" sz="1300">
                <a:solidFill>
                  <a:srgbClr val="000000"/>
                </a:solidFill>
                <a:latin typeface="Arial"/>
                <a:ea typeface="Arial"/>
                <a:cs typeface="Arial"/>
                <a:sym typeface="Arial"/>
              </a:rPr>
              <a:t>Cons</a:t>
            </a:r>
            <a:endParaRPr b="1" sz="13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If many values fall into the same range → </a:t>
            </a:r>
            <a:r>
              <a:rPr b="1" lang="en" sz="1100">
                <a:solidFill>
                  <a:srgbClr val="000000"/>
                </a:solidFill>
                <a:latin typeface="Arial"/>
                <a:ea typeface="Arial"/>
                <a:cs typeface="Arial"/>
                <a:sym typeface="Arial"/>
              </a:rPr>
              <a:t>skew</a:t>
            </a:r>
            <a:r>
              <a:rPr lang="en" sz="1100">
                <a:solidFill>
                  <a:srgbClr val="000000"/>
                </a:solidFill>
                <a:latin typeface="Arial"/>
                <a:ea typeface="Arial"/>
                <a:cs typeface="Arial"/>
                <a:sym typeface="Arial"/>
              </a:rPr>
              <a:t> → some disks overloaded.</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55"/>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95" name="Google Shape;295;p55"/>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rgbClr val="000000"/>
                </a:solidFill>
              </a:rPr>
              <a:t>2. Comparison Summary</a:t>
            </a:r>
            <a:endParaRPr>
              <a:solidFill>
                <a:srgbClr val="000000"/>
              </a:solidFill>
            </a:endParaRPr>
          </a:p>
          <a:p>
            <a:pPr indent="0" lvl="0" marL="0" rtl="0" algn="l">
              <a:spcBef>
                <a:spcPts val="1200"/>
              </a:spcBef>
              <a:spcAft>
                <a:spcPts val="1200"/>
              </a:spcAft>
              <a:buNone/>
            </a:pPr>
            <a:r>
              <a:t/>
            </a:r>
            <a:endParaRPr/>
          </a:p>
        </p:txBody>
      </p:sp>
      <p:graphicFrame>
        <p:nvGraphicFramePr>
          <p:cNvPr id="296" name="Google Shape;296;p55"/>
          <p:cNvGraphicFramePr/>
          <p:nvPr/>
        </p:nvGraphicFramePr>
        <p:xfrm>
          <a:off x="952500" y="2125275"/>
          <a:ext cx="3000000" cy="3000000"/>
        </p:xfrm>
        <a:graphic>
          <a:graphicData uri="http://schemas.openxmlformats.org/drawingml/2006/table">
            <a:tbl>
              <a:tblPr>
                <a:noFill/>
                <a:tableStyleId>{4021A1ED-3B1C-4B97-93D2-70483F01EADD}</a:tableStyleId>
              </a:tblPr>
              <a:tblGrid>
                <a:gridCol w="1809750"/>
                <a:gridCol w="1809750"/>
                <a:gridCol w="1809750"/>
                <a:gridCol w="1809750"/>
              </a:tblGrid>
              <a:tr h="381000">
                <a:tc>
                  <a:txBody>
                    <a:bodyPr/>
                    <a:lstStyle/>
                    <a:p>
                      <a:pPr indent="0" lvl="0" marL="0" rtl="0" algn="l">
                        <a:spcBef>
                          <a:spcPts val="0"/>
                        </a:spcBef>
                        <a:spcAft>
                          <a:spcPts val="0"/>
                        </a:spcAft>
                        <a:buNone/>
                      </a:pPr>
                      <a:r>
                        <a:rPr lang="en"/>
                        <a:t>Operation Type</a:t>
                      </a:r>
                      <a:endParaRPr/>
                    </a:p>
                  </a:txBody>
                  <a:tcPr marT="91425" marB="91425" marR="91425" marL="91425"/>
                </a:tc>
                <a:tc>
                  <a:txBody>
                    <a:bodyPr/>
                    <a:lstStyle/>
                    <a:p>
                      <a:pPr indent="0" lvl="0" marL="0" rtl="0" algn="l">
                        <a:spcBef>
                          <a:spcPts val="0"/>
                        </a:spcBef>
                        <a:spcAft>
                          <a:spcPts val="0"/>
                        </a:spcAft>
                        <a:buNone/>
                      </a:pPr>
                      <a:r>
                        <a:rPr lang="en"/>
                        <a:t>Round Robin</a:t>
                      </a:r>
                      <a:endParaRPr/>
                    </a:p>
                  </a:txBody>
                  <a:tcPr marT="91425" marB="91425" marR="91425" marL="91425"/>
                </a:tc>
                <a:tc>
                  <a:txBody>
                    <a:bodyPr/>
                    <a:lstStyle/>
                    <a:p>
                      <a:pPr indent="0" lvl="0" marL="0" rtl="0" algn="l">
                        <a:spcBef>
                          <a:spcPts val="0"/>
                        </a:spcBef>
                        <a:spcAft>
                          <a:spcPts val="0"/>
                        </a:spcAft>
                        <a:buNone/>
                      </a:pPr>
                      <a:r>
                        <a:rPr lang="en"/>
                        <a:t>Hash</a:t>
                      </a:r>
                      <a:endParaRPr/>
                    </a:p>
                  </a:txBody>
                  <a:tcPr marT="91425" marB="91425" marR="91425" marL="91425"/>
                </a:tc>
                <a:tc>
                  <a:txBody>
                    <a:bodyPr/>
                    <a:lstStyle/>
                    <a:p>
                      <a:pPr indent="0" lvl="0" marL="0" rtl="0" algn="l">
                        <a:spcBef>
                          <a:spcPts val="0"/>
                        </a:spcBef>
                        <a:spcAft>
                          <a:spcPts val="0"/>
                        </a:spcAft>
                        <a:buNone/>
                      </a:pPr>
                      <a:r>
                        <a:rPr lang="en"/>
                        <a:t>Range</a:t>
                      </a:r>
                      <a:endParaRPr/>
                    </a:p>
                  </a:txBody>
                  <a:tcPr marT="91425" marB="91425" marR="91425" marL="91425"/>
                </a:tc>
              </a:tr>
              <a:tr h="381000">
                <a:tc>
                  <a:txBody>
                    <a:bodyPr/>
                    <a:lstStyle/>
                    <a:p>
                      <a:pPr indent="0" lvl="0" marL="0" rtl="0" algn="l">
                        <a:spcBef>
                          <a:spcPts val="0"/>
                        </a:spcBef>
                        <a:spcAft>
                          <a:spcPts val="0"/>
                        </a:spcAft>
                        <a:buNone/>
                      </a:pPr>
                      <a:r>
                        <a:rPr lang="en"/>
                        <a:t>Full Table Scan</a:t>
                      </a:r>
                      <a:endParaRPr/>
                    </a:p>
                  </a:txBody>
                  <a:tcPr marT="91425" marB="91425" marR="91425" marL="91425"/>
                </a:tc>
                <a:tc>
                  <a:txBody>
                    <a:bodyPr/>
                    <a:lstStyle/>
                    <a:p>
                      <a:pPr indent="0" lvl="0" marL="0" rtl="0" algn="l">
                        <a:spcBef>
                          <a:spcPts val="0"/>
                        </a:spcBef>
                        <a:spcAft>
                          <a:spcPts val="0"/>
                        </a:spcAft>
                        <a:buNone/>
                      </a:pPr>
                      <a:r>
                        <a:rPr lang="en"/>
                        <a:t>Very good</a:t>
                      </a:r>
                      <a:endParaRPr/>
                    </a:p>
                  </a:txBody>
                  <a:tcPr marT="91425" marB="91425" marR="91425" marL="91425"/>
                </a:tc>
                <a:tc>
                  <a:txBody>
                    <a:bodyPr/>
                    <a:lstStyle/>
                    <a:p>
                      <a:pPr indent="0" lvl="0" marL="0" rtl="0" algn="l">
                        <a:spcBef>
                          <a:spcPts val="0"/>
                        </a:spcBef>
                        <a:spcAft>
                          <a:spcPts val="0"/>
                        </a:spcAft>
                        <a:buNone/>
                      </a:pPr>
                      <a:r>
                        <a:rPr lang="en"/>
                        <a:t>Good</a:t>
                      </a:r>
                      <a:endParaRPr/>
                    </a:p>
                  </a:txBody>
                  <a:tcPr marT="91425" marB="91425" marR="91425" marL="91425"/>
                </a:tc>
                <a:tc>
                  <a:txBody>
                    <a:bodyPr/>
                    <a:lstStyle/>
                    <a:p>
                      <a:pPr indent="0" lvl="0" marL="0" rtl="0" algn="l">
                        <a:spcBef>
                          <a:spcPts val="0"/>
                        </a:spcBef>
                        <a:spcAft>
                          <a:spcPts val="0"/>
                        </a:spcAft>
                        <a:buNone/>
                      </a:pPr>
                      <a:r>
                        <a:rPr lang="en"/>
                        <a:t>Good</a:t>
                      </a:r>
                      <a:endParaRPr/>
                    </a:p>
                  </a:txBody>
                  <a:tcPr marT="91425" marB="91425" marR="91425" marL="91425"/>
                </a:tc>
              </a:tr>
              <a:tr h="381000">
                <a:tc>
                  <a:txBody>
                    <a:bodyPr/>
                    <a:lstStyle/>
                    <a:p>
                      <a:pPr indent="0" lvl="0" marL="0" rtl="0" algn="l">
                        <a:spcBef>
                          <a:spcPts val="0"/>
                        </a:spcBef>
                        <a:spcAft>
                          <a:spcPts val="0"/>
                        </a:spcAft>
                        <a:buNone/>
                      </a:pPr>
                      <a:r>
                        <a:rPr lang="en"/>
                        <a:t>Point Query</a:t>
                      </a:r>
                      <a:endParaRPr/>
                    </a:p>
                  </a:txBody>
                  <a:tcPr marT="91425" marB="91425" marR="91425" marL="91425"/>
                </a:tc>
                <a:tc>
                  <a:txBody>
                    <a:bodyPr/>
                    <a:lstStyle/>
                    <a:p>
                      <a:pPr indent="0" lvl="0" marL="0" rtl="0" algn="l">
                        <a:spcBef>
                          <a:spcPts val="0"/>
                        </a:spcBef>
                        <a:spcAft>
                          <a:spcPts val="0"/>
                        </a:spcAft>
                        <a:buNone/>
                      </a:pPr>
                      <a:r>
                        <a:rPr lang="en"/>
                        <a:t>Poor</a:t>
                      </a:r>
                      <a:endParaRPr/>
                    </a:p>
                  </a:txBody>
                  <a:tcPr marT="91425" marB="91425" marR="91425" marL="91425"/>
                </a:tc>
                <a:tc>
                  <a:txBody>
                    <a:bodyPr/>
                    <a:lstStyle/>
                    <a:p>
                      <a:pPr indent="0" lvl="0" marL="0" rtl="0" algn="l">
                        <a:spcBef>
                          <a:spcPts val="0"/>
                        </a:spcBef>
                        <a:spcAft>
                          <a:spcPts val="0"/>
                        </a:spcAft>
                        <a:buNone/>
                      </a:pPr>
                      <a:r>
                        <a:rPr lang="en"/>
                        <a:t>Best</a:t>
                      </a:r>
                      <a:endParaRPr/>
                    </a:p>
                  </a:txBody>
                  <a:tcPr marT="91425" marB="91425" marR="91425" marL="91425"/>
                </a:tc>
                <a:tc>
                  <a:txBody>
                    <a:bodyPr/>
                    <a:lstStyle/>
                    <a:p>
                      <a:pPr indent="0" lvl="0" marL="0" rtl="0" algn="l">
                        <a:spcBef>
                          <a:spcPts val="0"/>
                        </a:spcBef>
                        <a:spcAft>
                          <a:spcPts val="0"/>
                        </a:spcAft>
                        <a:buNone/>
                      </a:pPr>
                      <a:r>
                        <a:rPr lang="en"/>
                        <a:t>Good</a:t>
                      </a:r>
                      <a:endParaRPr/>
                    </a:p>
                  </a:txBody>
                  <a:tcPr marT="91425" marB="91425" marR="91425" marL="91425"/>
                </a:tc>
              </a:tr>
              <a:tr h="381000">
                <a:tc>
                  <a:txBody>
                    <a:bodyPr/>
                    <a:lstStyle/>
                    <a:p>
                      <a:pPr indent="0" lvl="0" marL="0" rtl="0" algn="l">
                        <a:spcBef>
                          <a:spcPts val="0"/>
                        </a:spcBef>
                        <a:spcAft>
                          <a:spcPts val="0"/>
                        </a:spcAft>
                        <a:buNone/>
                      </a:pPr>
                      <a:r>
                        <a:rPr lang="en"/>
                        <a:t>Range Query</a:t>
                      </a:r>
                      <a:endParaRPr/>
                    </a:p>
                  </a:txBody>
                  <a:tcPr marT="91425" marB="91425" marR="91425" marL="91425"/>
                </a:tc>
                <a:tc>
                  <a:txBody>
                    <a:bodyPr/>
                    <a:lstStyle/>
                    <a:p>
                      <a:pPr indent="0" lvl="0" marL="0" rtl="0" algn="l">
                        <a:spcBef>
                          <a:spcPts val="0"/>
                        </a:spcBef>
                        <a:spcAft>
                          <a:spcPts val="0"/>
                        </a:spcAft>
                        <a:buNone/>
                      </a:pPr>
                      <a:r>
                        <a:rPr lang="en"/>
                        <a:t>Poor</a:t>
                      </a:r>
                      <a:endParaRPr/>
                    </a:p>
                  </a:txBody>
                  <a:tcPr marT="91425" marB="91425" marR="91425" marL="91425"/>
                </a:tc>
                <a:tc>
                  <a:txBody>
                    <a:bodyPr/>
                    <a:lstStyle/>
                    <a:p>
                      <a:pPr indent="0" lvl="0" marL="0" rtl="0" algn="l">
                        <a:spcBef>
                          <a:spcPts val="0"/>
                        </a:spcBef>
                        <a:spcAft>
                          <a:spcPts val="0"/>
                        </a:spcAft>
                        <a:buNone/>
                      </a:pPr>
                      <a:r>
                        <a:rPr lang="en"/>
                        <a:t>Poor</a:t>
                      </a:r>
                      <a:endParaRPr/>
                    </a:p>
                  </a:txBody>
                  <a:tcPr marT="91425" marB="91425" marR="91425" marL="91425"/>
                </a:tc>
                <a:tc>
                  <a:txBody>
                    <a:bodyPr/>
                    <a:lstStyle/>
                    <a:p>
                      <a:pPr indent="0" lvl="0" marL="0" rtl="0" algn="l">
                        <a:spcBef>
                          <a:spcPts val="0"/>
                        </a:spcBef>
                        <a:spcAft>
                          <a:spcPts val="0"/>
                        </a:spcAft>
                        <a:buNone/>
                      </a:pPr>
                      <a:r>
                        <a:rPr lang="en"/>
                        <a:t>Best</a:t>
                      </a:r>
                      <a:endParaRPr/>
                    </a:p>
                  </a:txBody>
                  <a:tcPr marT="91425" marB="91425" marR="91425" marL="91425"/>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56"/>
          <p:cNvSpPr txBox="1"/>
          <p:nvPr>
            <p:ph idx="1" type="body"/>
          </p:nvPr>
        </p:nvSpPr>
        <p:spPr>
          <a:xfrm>
            <a:off x="311700" y="488850"/>
            <a:ext cx="8520600" cy="4080300"/>
          </a:xfrm>
          <a:prstGeom prst="rect">
            <a:avLst/>
          </a:prstGeom>
        </p:spPr>
        <p:txBody>
          <a:bodyPr anchorCtr="0" anchor="t" bIns="91425" lIns="91425" spcFirstLastPara="1" rIns="91425" wrap="square" tIns="91425">
            <a:normAutofit lnSpcReduction="10000"/>
          </a:bodyPr>
          <a:lstStyle/>
          <a:p>
            <a:pPr indent="0" lvl="0" marL="0" rtl="0" algn="l">
              <a:spcBef>
                <a:spcPts val="2400"/>
              </a:spcBef>
              <a:spcAft>
                <a:spcPts val="0"/>
              </a:spcAft>
              <a:buNone/>
            </a:pPr>
            <a:r>
              <a:rPr b="1" lang="en" sz="2300">
                <a:solidFill>
                  <a:srgbClr val="000000"/>
                </a:solidFill>
                <a:latin typeface="Arial"/>
                <a:ea typeface="Arial"/>
                <a:cs typeface="Arial"/>
                <a:sym typeface="Arial"/>
              </a:rPr>
              <a:t>3. Handling Skew</a:t>
            </a:r>
            <a:endParaRPr b="1" sz="2300">
              <a:solidFill>
                <a:srgbClr val="000000"/>
              </a:solidFill>
              <a:latin typeface="Arial"/>
              <a:ea typeface="Arial"/>
              <a:cs typeface="Arial"/>
              <a:sym typeface="Arial"/>
            </a:endParaRPr>
          </a:p>
          <a:p>
            <a:pPr indent="0" lvl="0" marL="0" rtl="0" algn="l">
              <a:spcBef>
                <a:spcPts val="1200"/>
              </a:spcBef>
              <a:spcAft>
                <a:spcPts val="0"/>
              </a:spcAft>
              <a:buNone/>
            </a:pPr>
            <a:r>
              <a:rPr b="1" lang="en" sz="1100">
                <a:solidFill>
                  <a:srgbClr val="000000"/>
                </a:solidFill>
                <a:latin typeface="Arial"/>
                <a:ea typeface="Arial"/>
                <a:cs typeface="Arial"/>
                <a:sym typeface="Arial"/>
              </a:rPr>
              <a:t>Skew</a:t>
            </a:r>
            <a:r>
              <a:rPr lang="en" sz="1100">
                <a:solidFill>
                  <a:srgbClr val="000000"/>
                </a:solidFill>
                <a:latin typeface="Arial"/>
                <a:ea typeface="Arial"/>
                <a:cs typeface="Arial"/>
                <a:sym typeface="Arial"/>
              </a:rPr>
              <a:t> happens when some partitions get too many tuples → some disks overloaded.</a:t>
            </a:r>
            <a:br>
              <a:rPr lang="en" sz="1100">
                <a:solidFill>
                  <a:srgbClr val="000000"/>
                </a:solidFill>
                <a:latin typeface="Arial"/>
                <a:ea typeface="Arial"/>
                <a:cs typeface="Arial"/>
                <a:sym typeface="Arial"/>
              </a:rPr>
            </a:br>
            <a:r>
              <a:rPr lang="en" sz="1100">
                <a:solidFill>
                  <a:srgbClr val="000000"/>
                </a:solidFill>
                <a:latin typeface="Arial"/>
                <a:ea typeface="Arial"/>
                <a:cs typeface="Arial"/>
                <a:sym typeface="Arial"/>
              </a:rPr>
              <a:t> This reduces parallelism because the slowest disk decides the speed.</a:t>
            </a:r>
            <a:endParaRPr sz="1100">
              <a:solidFill>
                <a:srgbClr val="000000"/>
              </a:solidFill>
              <a:latin typeface="Arial"/>
              <a:ea typeface="Arial"/>
              <a:cs typeface="Arial"/>
              <a:sym typeface="Arial"/>
            </a:endParaRPr>
          </a:p>
          <a:p>
            <a:pPr indent="0" lvl="0" marL="0" rtl="0" algn="l">
              <a:spcBef>
                <a:spcPts val="1400"/>
              </a:spcBef>
              <a:spcAft>
                <a:spcPts val="0"/>
              </a:spcAft>
              <a:buNone/>
            </a:pPr>
            <a:r>
              <a:rPr b="1" lang="en" sz="1300">
                <a:solidFill>
                  <a:srgbClr val="000000"/>
                </a:solidFill>
                <a:latin typeface="Arial"/>
                <a:ea typeface="Arial"/>
                <a:cs typeface="Arial"/>
                <a:sym typeface="Arial"/>
              </a:rPr>
              <a:t>Types of Skew</a:t>
            </a:r>
            <a:endParaRPr b="1" sz="13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AutoNum type="arabicPeriod"/>
            </a:pPr>
            <a:r>
              <a:rPr b="1" lang="en" sz="1100">
                <a:solidFill>
                  <a:srgbClr val="000000"/>
                </a:solidFill>
                <a:latin typeface="Arial"/>
                <a:ea typeface="Arial"/>
                <a:cs typeface="Arial"/>
                <a:sym typeface="Arial"/>
              </a:rPr>
              <a:t>Attribute-value skew</a:t>
            </a:r>
            <a:br>
              <a:rPr b="1" lang="en" sz="1100">
                <a:solidFill>
                  <a:srgbClr val="000000"/>
                </a:solidFill>
                <a:latin typeface="Arial"/>
                <a:ea typeface="Arial"/>
                <a:cs typeface="Arial"/>
                <a:sym typeface="Arial"/>
              </a:rPr>
            </a:br>
            <a:r>
              <a:rPr lang="en" sz="1100">
                <a:solidFill>
                  <a:srgbClr val="000000"/>
                </a:solidFill>
                <a:latin typeface="Arial"/>
                <a:ea typeface="Arial"/>
                <a:cs typeface="Arial"/>
                <a:sym typeface="Arial"/>
              </a:rPr>
              <a:t> Some values appear too frequently → all go to one partition.</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AutoNum type="arabicPeriod"/>
            </a:pPr>
            <a:r>
              <a:rPr b="1" lang="en" sz="1100">
                <a:solidFill>
                  <a:srgbClr val="000000"/>
                </a:solidFill>
                <a:latin typeface="Arial"/>
                <a:ea typeface="Arial"/>
                <a:cs typeface="Arial"/>
                <a:sym typeface="Arial"/>
              </a:rPr>
              <a:t>Partition skew</a:t>
            </a:r>
            <a:br>
              <a:rPr b="1" lang="en" sz="1100">
                <a:solidFill>
                  <a:srgbClr val="000000"/>
                </a:solidFill>
                <a:latin typeface="Arial"/>
                <a:ea typeface="Arial"/>
                <a:cs typeface="Arial"/>
                <a:sym typeface="Arial"/>
              </a:rPr>
            </a:br>
            <a:r>
              <a:rPr lang="en" sz="1100">
                <a:solidFill>
                  <a:srgbClr val="000000"/>
                </a:solidFill>
                <a:latin typeface="Arial"/>
                <a:ea typeface="Arial"/>
                <a:cs typeface="Arial"/>
                <a:sym typeface="Arial"/>
              </a:rPr>
              <a:t> Design of partition ranges is poor → uneven distribution.</a:t>
            </a:r>
            <a:endParaRPr sz="1100">
              <a:solidFill>
                <a:srgbClr val="000000"/>
              </a:solidFill>
              <a:latin typeface="Arial"/>
              <a:ea typeface="Arial"/>
              <a:cs typeface="Arial"/>
              <a:sym typeface="Arial"/>
            </a:endParaRPr>
          </a:p>
          <a:p>
            <a:pPr indent="0" lvl="0" marL="0" rtl="0" algn="l">
              <a:spcBef>
                <a:spcPts val="1400"/>
              </a:spcBef>
              <a:spcAft>
                <a:spcPts val="0"/>
              </a:spcAft>
              <a:buNone/>
            </a:pPr>
            <a:r>
              <a:rPr b="1" lang="en" sz="1300">
                <a:solidFill>
                  <a:srgbClr val="000000"/>
                </a:solidFill>
                <a:latin typeface="Arial"/>
                <a:ea typeface="Arial"/>
                <a:cs typeface="Arial"/>
                <a:sym typeface="Arial"/>
              </a:rPr>
              <a:t>Effects</a:t>
            </a:r>
            <a:endParaRPr b="1" sz="13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Reduced speedup.</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Workload imbalance.</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Certain processors become hot spots.</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57"/>
          <p:cNvSpPr txBox="1"/>
          <p:nvPr>
            <p:ph idx="1" type="body"/>
          </p:nvPr>
        </p:nvSpPr>
        <p:spPr>
          <a:xfrm>
            <a:off x="311700" y="456975"/>
            <a:ext cx="8520600" cy="41121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None/>
            </a:pPr>
            <a:r>
              <a:rPr b="1" lang="en" sz="1300">
                <a:solidFill>
                  <a:srgbClr val="000000"/>
                </a:solidFill>
                <a:latin typeface="Arial"/>
                <a:ea typeface="Arial"/>
                <a:cs typeface="Arial"/>
                <a:sym typeface="Arial"/>
              </a:rPr>
              <a:t>Methods to Reduce Skew</a:t>
            </a:r>
            <a:endParaRPr b="1" sz="1300">
              <a:solidFill>
                <a:srgbClr val="000000"/>
              </a:solidFill>
              <a:latin typeface="Arial"/>
              <a:ea typeface="Arial"/>
              <a:cs typeface="Arial"/>
              <a:sym typeface="Arial"/>
            </a:endParaRPr>
          </a:p>
          <a:p>
            <a:pPr indent="0" lvl="0" marL="0" rtl="0" algn="l">
              <a:spcBef>
                <a:spcPts val="1800"/>
              </a:spcBef>
              <a:spcAft>
                <a:spcPts val="0"/>
              </a:spcAft>
              <a:buNone/>
            </a:pPr>
            <a:r>
              <a:rPr b="1" lang="en" sz="1700">
                <a:solidFill>
                  <a:srgbClr val="000000"/>
                </a:solidFill>
                <a:latin typeface="Arial"/>
                <a:ea typeface="Arial"/>
                <a:cs typeface="Arial"/>
                <a:sym typeface="Arial"/>
              </a:rPr>
              <a:t>1. Balan</a:t>
            </a:r>
            <a:r>
              <a:rPr b="1" lang="en" sz="1700">
                <a:solidFill>
                  <a:srgbClr val="000000"/>
                </a:solidFill>
                <a:latin typeface="Arial"/>
                <a:ea typeface="Arial"/>
                <a:cs typeface="Arial"/>
                <a:sym typeface="Arial"/>
              </a:rPr>
              <a:t>c</a:t>
            </a:r>
            <a:r>
              <a:rPr b="1" lang="en" sz="1700">
                <a:solidFill>
                  <a:srgbClr val="000000"/>
                </a:solidFill>
                <a:latin typeface="Arial"/>
                <a:ea typeface="Arial"/>
                <a:cs typeface="Arial"/>
                <a:sym typeface="Arial"/>
              </a:rPr>
              <a:t>ed Partition Vector (for range partitioning)</a:t>
            </a:r>
            <a:endParaRPr b="1" sz="17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Sort data by the partition attribute.</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Divide after every 1/n portion.</a:t>
            </a:r>
            <a:endParaRPr sz="1100">
              <a:solidFill>
                <a:srgbClr val="000000"/>
              </a:solidFill>
              <a:latin typeface="Arial"/>
              <a:ea typeface="Arial"/>
              <a:cs typeface="Arial"/>
              <a:sym typeface="Arial"/>
            </a:endParaRPr>
          </a:p>
          <a:p>
            <a:pPr indent="0" lvl="0" marL="0" rtl="0" algn="l">
              <a:spcBef>
                <a:spcPts val="1400"/>
              </a:spcBef>
              <a:spcAft>
                <a:spcPts val="0"/>
              </a:spcAft>
              <a:buNone/>
            </a:pPr>
            <a:r>
              <a:rPr b="1" lang="en" sz="1300">
                <a:solidFill>
                  <a:srgbClr val="000000"/>
                </a:solidFill>
                <a:latin typeface="Arial"/>
                <a:ea typeface="Arial"/>
                <a:cs typeface="Arial"/>
                <a:sym typeface="Arial"/>
              </a:rPr>
              <a:t>Cons:</a:t>
            </a:r>
            <a:endParaRPr b="1" sz="13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Requires initial sorting → extra I/O.</a:t>
            </a:r>
            <a:endParaRPr sz="1100">
              <a:solidFill>
                <a:srgbClr val="000000"/>
              </a:solidFill>
              <a:latin typeface="Arial"/>
              <a:ea typeface="Arial"/>
              <a:cs typeface="Arial"/>
              <a:sym typeface="Arial"/>
            </a:endParaRPr>
          </a:p>
          <a:p>
            <a:pPr indent="0" lvl="0" marL="0" rtl="0" algn="l">
              <a:spcBef>
                <a:spcPts val="1800"/>
              </a:spcBef>
              <a:spcAft>
                <a:spcPts val="0"/>
              </a:spcAft>
              <a:buNone/>
            </a:pPr>
            <a:r>
              <a:rPr b="1" lang="en" sz="1700">
                <a:solidFill>
                  <a:srgbClr val="000000"/>
                </a:solidFill>
                <a:latin typeface="Arial"/>
                <a:ea typeface="Arial"/>
                <a:cs typeface="Arial"/>
                <a:sym typeface="Arial"/>
              </a:rPr>
              <a:t>2. Histograms</a:t>
            </a:r>
            <a:endParaRPr b="1" sz="17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Store frequency counts of attribute values.</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Use histogram to divide ranges more evenly.</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Stored in catalog for quick access.</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58"/>
          <p:cNvSpPr txBox="1"/>
          <p:nvPr>
            <p:ph idx="1" type="body"/>
          </p:nvPr>
        </p:nvSpPr>
        <p:spPr>
          <a:xfrm>
            <a:off x="311700" y="786400"/>
            <a:ext cx="8520600" cy="3782700"/>
          </a:xfrm>
          <a:prstGeom prst="rect">
            <a:avLst/>
          </a:prstGeom>
        </p:spPr>
        <p:txBody>
          <a:bodyPr anchorCtr="0" anchor="t" bIns="91425" lIns="91425" spcFirstLastPara="1" rIns="91425" wrap="square" tIns="91425">
            <a:normAutofit/>
          </a:bodyPr>
          <a:lstStyle/>
          <a:p>
            <a:pPr indent="0" lvl="0" marL="0" rtl="0" algn="l">
              <a:spcBef>
                <a:spcPts val="1800"/>
              </a:spcBef>
              <a:spcAft>
                <a:spcPts val="0"/>
              </a:spcAft>
              <a:buNone/>
            </a:pPr>
            <a:r>
              <a:rPr b="1" lang="en" sz="1700">
                <a:solidFill>
                  <a:srgbClr val="000000"/>
                </a:solidFill>
                <a:latin typeface="Arial"/>
                <a:ea typeface="Arial"/>
                <a:cs typeface="Arial"/>
                <a:sym typeface="Arial"/>
              </a:rPr>
              <a:t>3. Sampling</a:t>
            </a:r>
            <a:endParaRPr b="1" sz="17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Take sample rows from relation.</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Estimate distribution.</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Create partitions approximately.</a:t>
            </a:r>
            <a:endParaRPr sz="1100">
              <a:solidFill>
                <a:srgbClr val="000000"/>
              </a:solidFill>
              <a:latin typeface="Arial"/>
              <a:ea typeface="Arial"/>
              <a:cs typeface="Arial"/>
              <a:sym typeface="Arial"/>
            </a:endParaRPr>
          </a:p>
          <a:p>
            <a:pPr indent="0" lvl="0" marL="0" rtl="0" algn="l">
              <a:spcBef>
                <a:spcPts val="1800"/>
              </a:spcBef>
              <a:spcAft>
                <a:spcPts val="0"/>
              </a:spcAft>
              <a:buNone/>
            </a:pPr>
            <a:r>
              <a:rPr b="1" lang="en" sz="1700">
                <a:solidFill>
                  <a:srgbClr val="000000"/>
                </a:solidFill>
                <a:latin typeface="Arial"/>
                <a:ea typeface="Arial"/>
                <a:cs typeface="Arial"/>
                <a:sym typeface="Arial"/>
              </a:rPr>
              <a:t>4. Virtua</a:t>
            </a:r>
            <a:r>
              <a:rPr b="1" lang="en" sz="1700">
                <a:solidFill>
                  <a:srgbClr val="000000"/>
                </a:solidFill>
                <a:latin typeface="Arial"/>
                <a:ea typeface="Arial"/>
                <a:cs typeface="Arial"/>
                <a:sym typeface="Arial"/>
              </a:rPr>
              <a:t>l</a:t>
            </a:r>
            <a:r>
              <a:rPr b="1" lang="en" sz="1700">
                <a:solidFill>
                  <a:srgbClr val="000000"/>
                </a:solidFill>
                <a:latin typeface="Arial"/>
                <a:ea typeface="Arial"/>
                <a:cs typeface="Arial"/>
                <a:sym typeface="Arial"/>
              </a:rPr>
              <a:t> Processors Technique</a:t>
            </a:r>
            <a:endParaRPr b="1" sz="17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Create many </a:t>
            </a:r>
            <a:r>
              <a:rPr b="1" lang="en" sz="1100">
                <a:solidFill>
                  <a:srgbClr val="000000"/>
                </a:solidFill>
                <a:latin typeface="Arial"/>
                <a:ea typeface="Arial"/>
                <a:cs typeface="Arial"/>
                <a:sym typeface="Arial"/>
              </a:rPr>
              <a:t>virtual processors</a:t>
            </a:r>
            <a:r>
              <a:rPr lang="en" sz="1100">
                <a:solidFill>
                  <a:srgbClr val="000000"/>
                </a:solidFill>
                <a:latin typeface="Arial"/>
                <a:ea typeface="Arial"/>
                <a:cs typeface="Arial"/>
                <a:sym typeface="Arial"/>
              </a:rPr>
              <a:t> (more than real processors).</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Tuples assigned to virtual processors.</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Virtual processors mapped to real ones in round-robin fashion.</a:t>
            </a:r>
            <a:endParaRPr sz="1100">
              <a:solidFill>
                <a:srgbClr val="000000"/>
              </a:solidFill>
              <a:latin typeface="Arial"/>
              <a:ea typeface="Arial"/>
              <a:cs typeface="Arial"/>
              <a:sym typeface="Arial"/>
            </a:endParaRPr>
          </a:p>
          <a:p>
            <a:pPr indent="0" lvl="0" marL="0" rtl="0" algn="l">
              <a:spcBef>
                <a:spcPts val="1400"/>
              </a:spcBef>
              <a:spcAft>
                <a:spcPts val="0"/>
              </a:spcAft>
              <a:buNone/>
            </a:pPr>
            <a:r>
              <a:rPr b="1" lang="en" sz="1300">
                <a:solidFill>
                  <a:srgbClr val="000000"/>
                </a:solidFill>
                <a:latin typeface="Arial"/>
                <a:ea typeface="Arial"/>
                <a:cs typeface="Arial"/>
                <a:sym typeface="Arial"/>
              </a:rPr>
              <a:t>Benefits</a:t>
            </a:r>
            <a:endParaRPr b="1" sz="13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Even if a range is heavy, the virtual processors distribute the load.</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Avoids hot spots.</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Better parallelism.</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59"/>
          <p:cNvSpPr txBox="1"/>
          <p:nvPr>
            <p:ph idx="1" type="body"/>
          </p:nvPr>
        </p:nvSpPr>
        <p:spPr>
          <a:xfrm>
            <a:off x="311700" y="592400"/>
            <a:ext cx="8520600" cy="39765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17" name="Google Shape;317;p59"/>
          <p:cNvPicPr preferRelativeResize="0"/>
          <p:nvPr/>
        </p:nvPicPr>
        <p:blipFill>
          <a:blip r:embed="rId3">
            <a:alphaModFix/>
          </a:blip>
          <a:stretch>
            <a:fillRect/>
          </a:stretch>
        </p:blipFill>
        <p:spPr>
          <a:xfrm>
            <a:off x="2608938" y="1033450"/>
            <a:ext cx="3648075" cy="3076575"/>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60"/>
          <p:cNvSpPr txBox="1"/>
          <p:nvPr>
            <p:ph type="title"/>
          </p:nvPr>
        </p:nvSpPr>
        <p:spPr>
          <a:xfrm>
            <a:off x="311700" y="253750"/>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Interquery Parallelism</a:t>
            </a:r>
            <a:endParaRPr/>
          </a:p>
        </p:txBody>
      </p:sp>
      <p:sp>
        <p:nvSpPr>
          <p:cNvPr id="323" name="Google Shape;323;p60"/>
          <p:cNvSpPr txBox="1"/>
          <p:nvPr>
            <p:ph idx="1" type="body"/>
          </p:nvPr>
        </p:nvSpPr>
        <p:spPr>
          <a:xfrm>
            <a:off x="311700" y="961150"/>
            <a:ext cx="8520600" cy="36078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en" sz="1200">
                <a:solidFill>
                  <a:srgbClr val="000000"/>
                </a:solidFill>
                <a:latin typeface="Arial"/>
                <a:ea typeface="Arial"/>
                <a:cs typeface="Arial"/>
                <a:sym typeface="Arial"/>
              </a:rPr>
              <a:t>Interquery parallelism</a:t>
            </a:r>
            <a:r>
              <a:rPr lang="en" sz="1200">
                <a:solidFill>
                  <a:srgbClr val="000000"/>
                </a:solidFill>
                <a:latin typeface="Arial"/>
                <a:ea typeface="Arial"/>
                <a:cs typeface="Arial"/>
                <a:sym typeface="Arial"/>
              </a:rPr>
              <a:t> means running </a:t>
            </a:r>
            <a:r>
              <a:rPr b="1" lang="en" sz="1200">
                <a:solidFill>
                  <a:srgbClr val="000000"/>
                </a:solidFill>
                <a:latin typeface="Arial"/>
                <a:ea typeface="Arial"/>
                <a:cs typeface="Arial"/>
                <a:sym typeface="Arial"/>
              </a:rPr>
              <a:t>different queries or transactions at the same time</a:t>
            </a:r>
            <a:r>
              <a:rPr lang="en" sz="1200">
                <a:solidFill>
                  <a:srgbClr val="000000"/>
                </a:solidFill>
                <a:latin typeface="Arial"/>
                <a:ea typeface="Arial"/>
                <a:cs typeface="Arial"/>
                <a:sym typeface="Arial"/>
              </a:rPr>
              <a:t> on different processors.</a:t>
            </a:r>
            <a:endParaRPr sz="1200">
              <a:solidFill>
                <a:srgbClr val="000000"/>
              </a:solidFill>
              <a:latin typeface="Arial"/>
              <a:ea typeface="Arial"/>
              <a:cs typeface="Arial"/>
              <a:sym typeface="Arial"/>
            </a:endParaRPr>
          </a:p>
          <a:p>
            <a:pPr indent="0" lvl="0" marL="0" rtl="0" algn="l">
              <a:spcBef>
                <a:spcPts val="1200"/>
              </a:spcBef>
              <a:spcAft>
                <a:spcPts val="0"/>
              </a:spcAft>
              <a:buNone/>
            </a:pPr>
            <a:r>
              <a:rPr lang="en" sz="1200">
                <a:solidFill>
                  <a:srgbClr val="000000"/>
                </a:solidFill>
                <a:latin typeface="Arial"/>
                <a:ea typeface="Arial"/>
                <a:cs typeface="Arial"/>
                <a:sym typeface="Arial"/>
              </a:rPr>
              <a:t>It increases </a:t>
            </a:r>
            <a:r>
              <a:rPr b="1" lang="en" sz="1200">
                <a:solidFill>
                  <a:srgbClr val="000000"/>
                </a:solidFill>
                <a:latin typeface="Arial"/>
                <a:ea typeface="Arial"/>
                <a:cs typeface="Arial"/>
                <a:sym typeface="Arial"/>
              </a:rPr>
              <a:t>transaction throughput</a:t>
            </a:r>
            <a:r>
              <a:rPr lang="en" sz="1200">
                <a:solidFill>
                  <a:srgbClr val="000000"/>
                </a:solidFill>
                <a:latin typeface="Arial"/>
                <a:ea typeface="Arial"/>
                <a:cs typeface="Arial"/>
                <a:sym typeface="Arial"/>
              </a:rPr>
              <a:t> (more transactions per second).</a:t>
            </a:r>
            <a:br>
              <a:rPr lang="en" sz="1200">
                <a:solidFill>
                  <a:srgbClr val="000000"/>
                </a:solidFill>
                <a:latin typeface="Arial"/>
                <a:ea typeface="Arial"/>
                <a:cs typeface="Arial"/>
                <a:sym typeface="Arial"/>
              </a:rPr>
            </a:br>
            <a:r>
              <a:rPr lang="en" sz="1200">
                <a:solidFill>
                  <a:srgbClr val="000000"/>
                </a:solidFill>
                <a:latin typeface="Arial"/>
                <a:ea typeface="Arial"/>
                <a:cs typeface="Arial"/>
                <a:sym typeface="Arial"/>
              </a:rPr>
              <a:t>It does </a:t>
            </a:r>
            <a:r>
              <a:rPr b="1" lang="en" sz="1200">
                <a:solidFill>
                  <a:srgbClr val="000000"/>
                </a:solidFill>
                <a:latin typeface="Arial"/>
                <a:ea typeface="Arial"/>
                <a:cs typeface="Arial"/>
                <a:sym typeface="Arial"/>
              </a:rPr>
              <a:t>not reduce the response time</a:t>
            </a:r>
            <a:r>
              <a:rPr lang="en" sz="1200">
                <a:solidFill>
                  <a:srgbClr val="000000"/>
                </a:solidFill>
                <a:latin typeface="Arial"/>
                <a:ea typeface="Arial"/>
                <a:cs typeface="Arial"/>
                <a:sym typeface="Arial"/>
              </a:rPr>
              <a:t> of a single query.</a:t>
            </a:r>
            <a:endParaRPr sz="1200">
              <a:solidFill>
                <a:srgbClr val="000000"/>
              </a:solidFill>
              <a:latin typeface="Arial"/>
              <a:ea typeface="Arial"/>
              <a:cs typeface="Arial"/>
              <a:sym typeface="Arial"/>
            </a:endParaRPr>
          </a:p>
          <a:p>
            <a:pPr indent="0" lvl="0" marL="0" rtl="0" algn="l">
              <a:spcBef>
                <a:spcPts val="1200"/>
              </a:spcBef>
              <a:spcAft>
                <a:spcPts val="0"/>
              </a:spcAft>
              <a:buNone/>
            </a:pPr>
            <a:r>
              <a:rPr lang="en" sz="1200">
                <a:solidFill>
                  <a:srgbClr val="000000"/>
                </a:solidFill>
                <a:latin typeface="Arial"/>
                <a:ea typeface="Arial"/>
                <a:cs typeface="Arial"/>
                <a:sym typeface="Arial"/>
              </a:rPr>
              <a:t>Think of it like many customers standing at different counters in a bank.</a:t>
            </a:r>
            <a:br>
              <a:rPr lang="en" sz="1200">
                <a:solidFill>
                  <a:srgbClr val="000000"/>
                </a:solidFill>
                <a:latin typeface="Arial"/>
                <a:ea typeface="Arial"/>
                <a:cs typeface="Arial"/>
                <a:sym typeface="Arial"/>
              </a:rPr>
            </a:br>
            <a:r>
              <a:rPr lang="en" sz="1200">
                <a:solidFill>
                  <a:srgbClr val="000000"/>
                </a:solidFill>
                <a:latin typeface="Arial"/>
                <a:ea typeface="Arial"/>
                <a:cs typeface="Arial"/>
                <a:sym typeface="Arial"/>
              </a:rPr>
              <a:t> Each customer is served at a different counter (parallel), but </a:t>
            </a:r>
            <a:r>
              <a:rPr b="1" lang="en" sz="1200">
                <a:solidFill>
                  <a:srgbClr val="000000"/>
                </a:solidFill>
                <a:latin typeface="Arial"/>
                <a:ea typeface="Arial"/>
                <a:cs typeface="Arial"/>
                <a:sym typeface="Arial"/>
              </a:rPr>
              <a:t>one person's speed of service does not increase</a:t>
            </a:r>
            <a:r>
              <a:rPr lang="e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a:p>
            <a:pPr indent="0" lvl="0" marL="0" rtl="0" algn="l">
              <a:spcBef>
                <a:spcPts val="2400"/>
              </a:spcBef>
              <a:spcAft>
                <a:spcPts val="0"/>
              </a:spcAft>
              <a:buNone/>
            </a:pPr>
            <a:r>
              <a:rPr b="1" lang="en" sz="2200">
                <a:solidFill>
                  <a:srgbClr val="000000"/>
                </a:solidFill>
                <a:latin typeface="Arial"/>
                <a:ea typeface="Arial"/>
                <a:cs typeface="Arial"/>
                <a:sym typeface="Arial"/>
              </a:rPr>
              <a:t>Why Interquery Parallelism Is Useful</a:t>
            </a:r>
            <a:endParaRPr b="1" sz="2200">
              <a:solidFill>
                <a:srgbClr val="000000"/>
              </a:solidFill>
              <a:latin typeface="Arial"/>
              <a:ea typeface="Arial"/>
              <a:cs typeface="Arial"/>
              <a:sym typeface="Arial"/>
            </a:endParaRPr>
          </a:p>
          <a:p>
            <a:pPr indent="-304800" lvl="0" marL="457200" rtl="0" algn="l">
              <a:spcBef>
                <a:spcPts val="1200"/>
              </a:spcBef>
              <a:spcAft>
                <a:spcPts val="0"/>
              </a:spcAft>
              <a:buClr>
                <a:srgbClr val="000000"/>
              </a:buClr>
              <a:buSzPts val="1200"/>
              <a:buFont typeface="Arial"/>
              <a:buChar char="●"/>
            </a:pPr>
            <a:r>
              <a:rPr lang="en" sz="1200">
                <a:solidFill>
                  <a:srgbClr val="000000"/>
                </a:solidFill>
                <a:latin typeface="Arial"/>
                <a:ea typeface="Arial"/>
                <a:cs typeface="Arial"/>
                <a:sym typeface="Arial"/>
              </a:rPr>
              <a:t>When many users or applications are accessing the database simultaneously.</a:t>
            </a:r>
            <a:endParaRPr sz="1200">
              <a:solidFill>
                <a:srgbClr val="000000"/>
              </a:solidFill>
              <a:latin typeface="Arial"/>
              <a:ea typeface="Arial"/>
              <a:cs typeface="Arial"/>
              <a:sym typeface="Arial"/>
            </a:endParaRPr>
          </a:p>
          <a:p>
            <a:pPr indent="-304800" lvl="0" marL="457200" rtl="0" algn="l">
              <a:spcBef>
                <a:spcPts val="0"/>
              </a:spcBef>
              <a:spcAft>
                <a:spcPts val="0"/>
              </a:spcAft>
              <a:buClr>
                <a:srgbClr val="000000"/>
              </a:buClr>
              <a:buSzPts val="1200"/>
              <a:buFont typeface="Arial"/>
              <a:buChar char="●"/>
            </a:pPr>
            <a:r>
              <a:rPr lang="en" sz="1200">
                <a:solidFill>
                  <a:srgbClr val="000000"/>
                </a:solidFill>
                <a:latin typeface="Arial"/>
                <a:ea typeface="Arial"/>
                <a:cs typeface="Arial"/>
                <a:sym typeface="Arial"/>
              </a:rPr>
              <a:t>To scale up a system so it can handle </a:t>
            </a:r>
            <a:r>
              <a:rPr b="1" lang="en" sz="1200">
                <a:solidFill>
                  <a:srgbClr val="000000"/>
                </a:solidFill>
                <a:latin typeface="Arial"/>
                <a:ea typeface="Arial"/>
                <a:cs typeface="Arial"/>
                <a:sym typeface="Arial"/>
              </a:rPr>
              <a:t>more load</a:t>
            </a:r>
            <a:r>
              <a:rPr lang="e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a:p>
            <a:pPr indent="-304800" lvl="0" marL="457200" rtl="0" algn="l">
              <a:spcBef>
                <a:spcPts val="0"/>
              </a:spcBef>
              <a:spcAft>
                <a:spcPts val="0"/>
              </a:spcAft>
              <a:buClr>
                <a:srgbClr val="000000"/>
              </a:buClr>
              <a:buSzPts val="1200"/>
              <a:buFont typeface="Arial"/>
              <a:buChar char="●"/>
            </a:pPr>
            <a:r>
              <a:rPr lang="en" sz="1200">
                <a:solidFill>
                  <a:srgbClr val="000000"/>
                </a:solidFill>
                <a:latin typeface="Arial"/>
                <a:ea typeface="Arial"/>
                <a:cs typeface="Arial"/>
                <a:sym typeface="Arial"/>
              </a:rPr>
              <a:t>Used heavily in </a:t>
            </a:r>
            <a:r>
              <a:rPr b="1" lang="en" sz="1200">
                <a:solidFill>
                  <a:srgbClr val="000000"/>
                </a:solidFill>
                <a:latin typeface="Arial"/>
                <a:ea typeface="Arial"/>
                <a:cs typeface="Arial"/>
                <a:sym typeface="Arial"/>
              </a:rPr>
              <a:t>OLTP systems</a:t>
            </a:r>
            <a:r>
              <a:rPr lang="en" sz="1200">
                <a:solidFill>
                  <a:srgbClr val="000000"/>
                </a:solidFill>
                <a:latin typeface="Arial"/>
                <a:ea typeface="Arial"/>
                <a:cs typeface="Arial"/>
                <a:sym typeface="Arial"/>
              </a:rPr>
              <a:t> (online transaction processing).</a:t>
            </a:r>
            <a:endParaRPr sz="1900"/>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61"/>
          <p:cNvSpPr txBox="1"/>
          <p:nvPr>
            <p:ph idx="1" type="body"/>
          </p:nvPr>
        </p:nvSpPr>
        <p:spPr>
          <a:xfrm>
            <a:off x="311700" y="488850"/>
            <a:ext cx="8520600" cy="4080300"/>
          </a:xfrm>
          <a:prstGeom prst="rect">
            <a:avLst/>
          </a:prstGeom>
        </p:spPr>
        <p:txBody>
          <a:bodyPr anchorCtr="0" anchor="t" bIns="91425" lIns="91425" spcFirstLastPara="1" rIns="91425" wrap="square" tIns="91425">
            <a:normAutofit/>
          </a:bodyPr>
          <a:lstStyle/>
          <a:p>
            <a:pPr indent="0" lvl="0" marL="0" rtl="0" algn="l">
              <a:spcBef>
                <a:spcPts val="2400"/>
              </a:spcBef>
              <a:spcAft>
                <a:spcPts val="0"/>
              </a:spcAft>
              <a:buNone/>
            </a:pPr>
            <a:r>
              <a:rPr b="1" lang="en" sz="2300">
                <a:solidFill>
                  <a:srgbClr val="000000"/>
                </a:solidFill>
                <a:latin typeface="Arial"/>
                <a:ea typeface="Arial"/>
                <a:cs typeface="Arial"/>
                <a:sym typeface="Arial"/>
              </a:rPr>
              <a:t>Where It Works Well</a:t>
            </a:r>
            <a:endParaRPr b="1" sz="2300">
              <a:solidFill>
                <a:srgbClr val="000000"/>
              </a:solidFill>
              <a:latin typeface="Arial"/>
              <a:ea typeface="Arial"/>
              <a:cs typeface="Arial"/>
              <a:sym typeface="Arial"/>
            </a:endParaRPr>
          </a:p>
          <a:p>
            <a:pPr indent="0" lvl="0" marL="0" rtl="0" algn="l">
              <a:spcBef>
                <a:spcPts val="1400"/>
              </a:spcBef>
              <a:spcAft>
                <a:spcPts val="0"/>
              </a:spcAft>
              <a:buNone/>
            </a:pPr>
            <a:r>
              <a:rPr b="1" lang="en" sz="1300">
                <a:solidFill>
                  <a:srgbClr val="000000"/>
                </a:solidFill>
                <a:latin typeface="Arial"/>
                <a:ea typeface="Arial"/>
                <a:cs typeface="Arial"/>
                <a:sym typeface="Arial"/>
              </a:rPr>
              <a:t>Shared-Memory Architecture</a:t>
            </a:r>
            <a:endParaRPr b="1" sz="13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All processors share the same memory.</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Very easy to support interquery parallelism.</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Even traditional single-CPU databases already support concurrent execution.</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So on shared-memory systems, supporting interquery parallelism requires </a:t>
            </a:r>
            <a:r>
              <a:rPr b="1" lang="en" sz="1100">
                <a:solidFill>
                  <a:srgbClr val="000000"/>
                </a:solidFill>
                <a:latin typeface="Arial"/>
                <a:ea typeface="Arial"/>
                <a:cs typeface="Arial"/>
                <a:sym typeface="Arial"/>
              </a:rPr>
              <a:t>little or no modification</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0" rtl="0" algn="l">
              <a:spcBef>
                <a:spcPts val="2400"/>
              </a:spcBef>
              <a:spcAft>
                <a:spcPts val="0"/>
              </a:spcAft>
              <a:buNone/>
            </a:pPr>
            <a:r>
              <a:rPr b="1" lang="en" sz="2300">
                <a:solidFill>
                  <a:srgbClr val="000000"/>
                </a:solidFill>
                <a:latin typeface="Arial"/>
                <a:ea typeface="Arial"/>
                <a:cs typeface="Arial"/>
                <a:sym typeface="Arial"/>
              </a:rPr>
              <a:t>Where It Becomes Difficult</a:t>
            </a:r>
            <a:endParaRPr b="1" sz="2300">
              <a:solidFill>
                <a:srgbClr val="000000"/>
              </a:solidFill>
              <a:latin typeface="Arial"/>
              <a:ea typeface="Arial"/>
              <a:cs typeface="Arial"/>
              <a:sym typeface="Arial"/>
            </a:endParaRPr>
          </a:p>
          <a:p>
            <a:pPr indent="0" lvl="0" marL="0" rtl="0" algn="l">
              <a:spcBef>
                <a:spcPts val="1400"/>
              </a:spcBef>
              <a:spcAft>
                <a:spcPts val="0"/>
              </a:spcAft>
              <a:buNone/>
            </a:pPr>
            <a:r>
              <a:rPr b="1" lang="en" sz="1300">
                <a:solidFill>
                  <a:srgbClr val="000000"/>
                </a:solidFill>
                <a:latin typeface="Arial"/>
                <a:ea typeface="Arial"/>
                <a:cs typeface="Arial"/>
                <a:sym typeface="Arial"/>
              </a:rPr>
              <a:t>Shared-Disk and Shared-Nothing Architectures</a:t>
            </a:r>
            <a:endParaRPr b="1" sz="13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Here, each processor has its </a:t>
            </a:r>
            <a:r>
              <a:rPr b="1" lang="en" sz="1100">
                <a:solidFill>
                  <a:srgbClr val="000000"/>
                </a:solidFill>
                <a:latin typeface="Arial"/>
                <a:ea typeface="Arial"/>
                <a:cs typeface="Arial"/>
                <a:sym typeface="Arial"/>
              </a:rPr>
              <a:t>own memory</a:t>
            </a:r>
            <a:r>
              <a:rPr lang="en" sz="1100">
                <a:solidFill>
                  <a:srgbClr val="000000"/>
                </a:solidFill>
                <a:latin typeface="Arial"/>
                <a:ea typeface="Arial"/>
                <a:cs typeface="Arial"/>
                <a:sym typeface="Arial"/>
              </a:rPr>
              <a:t>, and they must coordinate.</a:t>
            </a:r>
            <a:endParaRPr sz="1100">
              <a:solidFill>
                <a:srgbClr val="000000"/>
              </a:solidFill>
              <a:latin typeface="Arial"/>
              <a:ea typeface="Arial"/>
              <a:cs typeface="Arial"/>
              <a:sym typeface="Arial"/>
            </a:endParaRPr>
          </a:p>
          <a:p>
            <a:pPr indent="0" lvl="0" marL="0" rtl="0" algn="l">
              <a:spcBef>
                <a:spcPts val="1200"/>
              </a:spcBef>
              <a:spcAft>
                <a:spcPts val="1200"/>
              </a:spcAft>
              <a:buNone/>
            </a:pPr>
            <a:r>
              <a:rPr lang="en" sz="1100">
                <a:solidFill>
                  <a:srgbClr val="000000"/>
                </a:solidFill>
                <a:latin typeface="Arial"/>
                <a:ea typeface="Arial"/>
                <a:cs typeface="Arial"/>
                <a:sym typeface="Arial"/>
              </a:rPr>
              <a:t>Main challenges:</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62"/>
          <p:cNvSpPr txBox="1"/>
          <p:nvPr>
            <p:ph idx="1" type="body"/>
          </p:nvPr>
        </p:nvSpPr>
        <p:spPr>
          <a:xfrm>
            <a:off x="311700" y="223175"/>
            <a:ext cx="8520600" cy="4314000"/>
          </a:xfrm>
          <a:prstGeom prst="rect">
            <a:avLst/>
          </a:prstGeom>
        </p:spPr>
        <p:txBody>
          <a:bodyPr anchorCtr="0" anchor="t" bIns="91425" lIns="91425" spcFirstLastPara="1" rIns="91425" wrap="square" tIns="91425">
            <a:normAutofit lnSpcReduction="20000"/>
          </a:bodyPr>
          <a:lstStyle/>
          <a:p>
            <a:pPr indent="0" lvl="0" marL="0" rtl="0" algn="l">
              <a:spcBef>
                <a:spcPts val="1800"/>
              </a:spcBef>
              <a:spcAft>
                <a:spcPts val="0"/>
              </a:spcAft>
              <a:buNone/>
            </a:pPr>
            <a:r>
              <a:rPr b="1" lang="en" sz="1700">
                <a:solidFill>
                  <a:srgbClr val="000000"/>
                </a:solidFill>
                <a:latin typeface="Arial"/>
                <a:ea typeface="Arial"/>
                <a:cs typeface="Arial"/>
                <a:sym typeface="Arial"/>
              </a:rPr>
              <a:t>1. Locking Coordination</a:t>
            </a:r>
            <a:endParaRPr b="1" sz="17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Processors must share information so that:</a:t>
            </a:r>
            <a:endParaRPr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Two processors do </a:t>
            </a:r>
            <a:r>
              <a:rPr b="1" lang="en" sz="1100">
                <a:solidFill>
                  <a:srgbClr val="000000"/>
                </a:solidFill>
                <a:latin typeface="Arial"/>
                <a:ea typeface="Arial"/>
                <a:cs typeface="Arial"/>
                <a:sym typeface="Arial"/>
              </a:rPr>
              <a:t>not update the same data</a:t>
            </a:r>
            <a:r>
              <a:rPr lang="en" sz="1100">
                <a:solidFill>
                  <a:srgbClr val="000000"/>
                </a:solidFill>
                <a:latin typeface="Arial"/>
                <a:ea typeface="Arial"/>
                <a:cs typeface="Arial"/>
                <a:sym typeface="Arial"/>
              </a:rPr>
              <a:t> at the same time.</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Locks must be managed across processors.</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This requires </a:t>
            </a:r>
            <a:r>
              <a:rPr b="1" lang="en" sz="1100">
                <a:solidFill>
                  <a:srgbClr val="000000"/>
                </a:solidFill>
                <a:latin typeface="Arial"/>
                <a:ea typeface="Arial"/>
                <a:cs typeface="Arial"/>
                <a:sym typeface="Arial"/>
              </a:rPr>
              <a:t>message passing</a:t>
            </a:r>
            <a:r>
              <a:rPr lang="en" sz="1100">
                <a:solidFill>
                  <a:srgbClr val="000000"/>
                </a:solidFill>
                <a:latin typeface="Arial"/>
                <a:ea typeface="Arial"/>
                <a:cs typeface="Arial"/>
                <a:sym typeface="Arial"/>
              </a:rPr>
              <a:t> for lock management.</a:t>
            </a:r>
            <a:endParaRPr sz="1100">
              <a:solidFill>
                <a:srgbClr val="000000"/>
              </a:solidFill>
              <a:latin typeface="Arial"/>
              <a:ea typeface="Arial"/>
              <a:cs typeface="Arial"/>
              <a:sym typeface="Arial"/>
            </a:endParaRPr>
          </a:p>
          <a:p>
            <a:pPr indent="0" lvl="0" marL="0" rtl="0" algn="l">
              <a:spcBef>
                <a:spcPts val="1800"/>
              </a:spcBef>
              <a:spcAft>
                <a:spcPts val="0"/>
              </a:spcAft>
              <a:buNone/>
            </a:pPr>
            <a:r>
              <a:rPr b="1" lang="en" sz="1700">
                <a:solidFill>
                  <a:srgbClr val="000000"/>
                </a:solidFill>
                <a:latin typeface="Arial"/>
                <a:ea typeface="Arial"/>
                <a:cs typeface="Arial"/>
                <a:sym typeface="Arial"/>
              </a:rPr>
              <a:t>2. Logging Coordination</a:t>
            </a:r>
            <a:endParaRPr b="1" sz="17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All processors must maintain consistent logs for recovery.</a:t>
            </a:r>
            <a:endParaRPr sz="1100">
              <a:solidFill>
                <a:srgbClr val="000000"/>
              </a:solidFill>
              <a:latin typeface="Arial"/>
              <a:ea typeface="Arial"/>
              <a:cs typeface="Arial"/>
              <a:sym typeface="Arial"/>
            </a:endParaRPr>
          </a:p>
          <a:p>
            <a:pPr indent="0" lvl="0" marL="0" rtl="0" algn="l">
              <a:spcBef>
                <a:spcPts val="1800"/>
              </a:spcBef>
              <a:spcAft>
                <a:spcPts val="0"/>
              </a:spcAft>
              <a:buNone/>
            </a:pPr>
            <a:r>
              <a:rPr b="1" lang="en" sz="1700">
                <a:solidFill>
                  <a:srgbClr val="000000"/>
                </a:solidFill>
                <a:latin typeface="Arial"/>
                <a:ea typeface="Arial"/>
                <a:cs typeface="Arial"/>
                <a:sym typeface="Arial"/>
              </a:rPr>
              <a:t>3. Cache Coherency Problem</a:t>
            </a:r>
            <a:endParaRPr b="1" sz="17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Each processor has its own </a:t>
            </a:r>
            <a:r>
              <a:rPr b="1" lang="en" sz="1100">
                <a:solidFill>
                  <a:srgbClr val="000000"/>
                </a:solidFill>
                <a:latin typeface="Arial"/>
                <a:ea typeface="Arial"/>
                <a:cs typeface="Arial"/>
                <a:sym typeface="Arial"/>
              </a:rPr>
              <a:t>buffer cache</a:t>
            </a:r>
            <a:r>
              <a:rPr lang="en" sz="1100">
                <a:solidFill>
                  <a:srgbClr val="000000"/>
                </a:solidFill>
                <a:latin typeface="Arial"/>
                <a:ea typeface="Arial"/>
                <a:cs typeface="Arial"/>
                <a:sym typeface="Arial"/>
              </a:rPr>
              <a:t>.</a:t>
            </a:r>
            <a:br>
              <a:rPr lang="en" sz="1100">
                <a:solidFill>
                  <a:srgbClr val="000000"/>
                </a:solidFill>
                <a:latin typeface="Arial"/>
                <a:ea typeface="Arial"/>
                <a:cs typeface="Arial"/>
                <a:sym typeface="Arial"/>
              </a:rPr>
            </a:br>
            <a:r>
              <a:rPr lang="en" sz="1100">
                <a:solidFill>
                  <a:srgbClr val="000000"/>
                </a:solidFill>
                <a:latin typeface="Arial"/>
                <a:ea typeface="Arial"/>
                <a:cs typeface="Arial"/>
                <a:sym typeface="Arial"/>
              </a:rPr>
              <a:t>The database must ensure that:</a:t>
            </a:r>
            <a:endParaRPr sz="1100">
              <a:solidFill>
                <a:srgbClr val="000000"/>
              </a:solidFill>
              <a:latin typeface="Arial"/>
              <a:ea typeface="Arial"/>
              <a:cs typeface="Arial"/>
              <a:sym typeface="Arial"/>
            </a:endParaRPr>
          </a:p>
          <a:p>
            <a:pPr indent="0" lvl="0" marL="0" rtl="0" algn="l">
              <a:spcBef>
                <a:spcPts val="1200"/>
              </a:spcBef>
              <a:spcAft>
                <a:spcPts val="0"/>
              </a:spcAft>
              <a:buNone/>
            </a:pPr>
            <a:r>
              <a:rPr b="1" lang="en" sz="1100">
                <a:solidFill>
                  <a:srgbClr val="000000"/>
                </a:solidFill>
                <a:latin typeface="Arial"/>
                <a:ea typeface="Arial"/>
                <a:cs typeface="Arial"/>
                <a:sym typeface="Arial"/>
              </a:rPr>
              <a:t>Every processor reads the latest version of a page.</a:t>
            </a:r>
            <a:endParaRPr b="1"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If Processor P1 updates a data page, Processor P2 must not read an old copy.</a:t>
            </a:r>
            <a:endParaRPr sz="1100">
              <a:solidFill>
                <a:srgbClr val="000000"/>
              </a:solidFill>
              <a:latin typeface="Arial"/>
              <a:ea typeface="Arial"/>
              <a:cs typeface="Arial"/>
              <a:sym typeface="Arial"/>
            </a:endParaRPr>
          </a:p>
          <a:p>
            <a:pPr indent="0" lvl="0" marL="0" rtl="0" algn="l">
              <a:spcBef>
                <a:spcPts val="1200"/>
              </a:spcBef>
              <a:spcAft>
                <a:spcPts val="1200"/>
              </a:spcAft>
              <a:buNone/>
            </a:pPr>
            <a:r>
              <a:rPr lang="en" sz="1100">
                <a:solidFill>
                  <a:srgbClr val="000000"/>
                </a:solidFill>
                <a:latin typeface="Arial"/>
                <a:ea typeface="Arial"/>
                <a:cs typeface="Arial"/>
                <a:sym typeface="Arial"/>
              </a:rPr>
              <a:t>Maintaining this correctness is called </a:t>
            </a:r>
            <a:r>
              <a:rPr b="1" lang="en" sz="1100">
                <a:solidFill>
                  <a:srgbClr val="000000"/>
                </a:solidFill>
                <a:latin typeface="Arial"/>
                <a:ea typeface="Arial"/>
                <a:cs typeface="Arial"/>
                <a:sym typeface="Arial"/>
              </a:rPr>
              <a:t>cache coherence</a:t>
            </a:r>
            <a:r>
              <a:rPr lang="en" sz="1100">
                <a:solidFill>
                  <a:srgbClr val="000000"/>
                </a:solidFill>
                <a:latin typeface="Arial"/>
                <a:ea typeface="Arial"/>
                <a:cs typeface="Arial"/>
                <a:sym typeface="Arial"/>
              </a:rPr>
              <a:t>.</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63"/>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Intraquery Parallelism</a:t>
            </a:r>
            <a:endParaRPr/>
          </a:p>
        </p:txBody>
      </p:sp>
      <p:sp>
        <p:nvSpPr>
          <p:cNvPr id="339" name="Google Shape;339;p63"/>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100">
                <a:solidFill>
                  <a:srgbClr val="000000"/>
                </a:solidFill>
                <a:latin typeface="Arial"/>
                <a:ea typeface="Arial"/>
                <a:cs typeface="Arial"/>
                <a:sym typeface="Arial"/>
              </a:rPr>
              <a:t>Intraquery parallelism</a:t>
            </a:r>
            <a:r>
              <a:rPr lang="en" sz="1100">
                <a:solidFill>
                  <a:srgbClr val="000000"/>
                </a:solidFill>
                <a:latin typeface="Arial"/>
                <a:ea typeface="Arial"/>
                <a:cs typeface="Arial"/>
                <a:sym typeface="Arial"/>
              </a:rPr>
              <a:t> means using </a:t>
            </a:r>
            <a:r>
              <a:rPr b="1" lang="en" sz="1100">
                <a:solidFill>
                  <a:srgbClr val="000000"/>
                </a:solidFill>
                <a:latin typeface="Arial"/>
                <a:ea typeface="Arial"/>
                <a:cs typeface="Arial"/>
                <a:sym typeface="Arial"/>
              </a:rPr>
              <a:t>multiple processors</a:t>
            </a:r>
            <a:r>
              <a:rPr lang="en" sz="1100">
                <a:solidFill>
                  <a:srgbClr val="000000"/>
                </a:solidFill>
                <a:latin typeface="Arial"/>
                <a:ea typeface="Arial"/>
                <a:cs typeface="Arial"/>
                <a:sym typeface="Arial"/>
              </a:rPr>
              <a:t> to run </a:t>
            </a:r>
            <a:r>
              <a:rPr b="1" lang="en" sz="1100">
                <a:solidFill>
                  <a:srgbClr val="000000"/>
                </a:solidFill>
                <a:latin typeface="Arial"/>
                <a:ea typeface="Arial"/>
                <a:cs typeface="Arial"/>
                <a:sym typeface="Arial"/>
              </a:rPr>
              <a:t>one single query faster</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This is mainly useful for </a:t>
            </a:r>
            <a:r>
              <a:rPr b="1" lang="en" sz="1100">
                <a:solidFill>
                  <a:srgbClr val="000000"/>
                </a:solidFill>
                <a:latin typeface="Arial"/>
                <a:ea typeface="Arial"/>
                <a:cs typeface="Arial"/>
                <a:sym typeface="Arial"/>
              </a:rPr>
              <a:t>long-running queries</a:t>
            </a:r>
            <a:r>
              <a:rPr lang="en" sz="1100">
                <a:solidFill>
                  <a:srgbClr val="000000"/>
                </a:solidFill>
                <a:latin typeface="Arial"/>
                <a:ea typeface="Arial"/>
                <a:cs typeface="Arial"/>
                <a:sym typeface="Arial"/>
              </a:rPr>
              <a:t> (like large sorting, joins, aggregations) where executing one query on a single processor would take too much time.</a:t>
            </a:r>
            <a:endParaRPr sz="1100">
              <a:solidFill>
                <a:srgbClr val="000000"/>
              </a:solidFill>
              <a:latin typeface="Arial"/>
              <a:ea typeface="Arial"/>
              <a:cs typeface="Arial"/>
              <a:sym typeface="Arial"/>
            </a:endParaRPr>
          </a:p>
          <a:p>
            <a:pPr indent="0" lvl="0" marL="0" rtl="0" algn="l">
              <a:spcBef>
                <a:spcPts val="2400"/>
              </a:spcBef>
              <a:spcAft>
                <a:spcPts val="0"/>
              </a:spcAft>
              <a:buNone/>
            </a:pPr>
            <a:r>
              <a:rPr b="1" lang="en" sz="2300">
                <a:solidFill>
                  <a:srgbClr val="000000"/>
                </a:solidFill>
                <a:latin typeface="Arial"/>
                <a:ea typeface="Arial"/>
                <a:cs typeface="Arial"/>
                <a:sym typeface="Arial"/>
              </a:rPr>
              <a:t>Why Do We Need Intraquery Parallelism?</a:t>
            </a:r>
            <a:endParaRPr b="1" sz="23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b="1" lang="en" sz="1100">
                <a:solidFill>
                  <a:srgbClr val="000000"/>
                </a:solidFill>
                <a:latin typeface="Arial"/>
                <a:ea typeface="Arial"/>
                <a:cs typeface="Arial"/>
                <a:sym typeface="Arial"/>
              </a:rPr>
              <a:t>Interquery parallelism</a:t>
            </a:r>
            <a:r>
              <a:rPr lang="en" sz="1100">
                <a:solidFill>
                  <a:srgbClr val="000000"/>
                </a:solidFill>
                <a:latin typeface="Arial"/>
                <a:ea typeface="Arial"/>
                <a:cs typeface="Arial"/>
                <a:sym typeface="Arial"/>
              </a:rPr>
              <a:t> only runs </a:t>
            </a:r>
            <a:r>
              <a:rPr i="1" lang="en" sz="1100">
                <a:solidFill>
                  <a:srgbClr val="000000"/>
                </a:solidFill>
                <a:latin typeface="Arial"/>
                <a:ea typeface="Arial"/>
                <a:cs typeface="Arial"/>
                <a:sym typeface="Arial"/>
              </a:rPr>
              <a:t>different</a:t>
            </a:r>
            <a:r>
              <a:rPr lang="en" sz="1100">
                <a:solidFill>
                  <a:srgbClr val="000000"/>
                </a:solidFill>
                <a:latin typeface="Arial"/>
                <a:ea typeface="Arial"/>
                <a:cs typeface="Arial"/>
                <a:sym typeface="Arial"/>
              </a:rPr>
              <a:t> queries at the same time.</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It </a:t>
            </a:r>
            <a:r>
              <a:rPr b="1" lang="en" sz="1100">
                <a:solidFill>
                  <a:srgbClr val="000000"/>
                </a:solidFill>
                <a:latin typeface="Arial"/>
                <a:ea typeface="Arial"/>
                <a:cs typeface="Arial"/>
                <a:sym typeface="Arial"/>
              </a:rPr>
              <a:t>does NOT speed up</a:t>
            </a:r>
            <a:r>
              <a:rPr lang="en" sz="1100">
                <a:solidFill>
                  <a:srgbClr val="000000"/>
                </a:solidFill>
                <a:latin typeface="Arial"/>
                <a:ea typeface="Arial"/>
                <a:cs typeface="Arial"/>
                <a:sym typeface="Arial"/>
              </a:rPr>
              <a:t> the execution of one long query.</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So for large OLAP queries (data analytics), we use </a:t>
            </a:r>
            <a:r>
              <a:rPr b="1" lang="en" sz="1100">
                <a:solidFill>
                  <a:srgbClr val="000000"/>
                </a:solidFill>
                <a:latin typeface="Arial"/>
                <a:ea typeface="Arial"/>
                <a:cs typeface="Arial"/>
                <a:sym typeface="Arial"/>
              </a:rPr>
              <a:t>intraquery parallelism</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sz="1100">
              <a:solidFill>
                <a:srgbClr val="000000"/>
              </a:solidFill>
              <a:latin typeface="Arial"/>
              <a:ea typeface="Arial"/>
              <a:cs typeface="Arial"/>
              <a:sym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64"/>
          <p:cNvSpPr txBox="1"/>
          <p:nvPr>
            <p:ph idx="1" type="body"/>
          </p:nvPr>
        </p:nvSpPr>
        <p:spPr>
          <a:xfrm>
            <a:off x="311700" y="531350"/>
            <a:ext cx="8520600" cy="4037700"/>
          </a:xfrm>
          <a:prstGeom prst="rect">
            <a:avLst/>
          </a:prstGeom>
        </p:spPr>
        <p:txBody>
          <a:bodyPr anchorCtr="0" anchor="t" bIns="91425" lIns="91425" spcFirstLastPara="1" rIns="91425" wrap="square" tIns="91425">
            <a:normAutofit lnSpcReduction="20000"/>
          </a:bodyPr>
          <a:lstStyle/>
          <a:p>
            <a:pPr indent="0" lvl="0" marL="0" rtl="0" algn="l">
              <a:spcBef>
                <a:spcPts val="2400"/>
              </a:spcBef>
              <a:spcAft>
                <a:spcPts val="0"/>
              </a:spcAft>
              <a:buNone/>
            </a:pPr>
            <a:r>
              <a:rPr b="1" lang="en" sz="2300">
                <a:solidFill>
                  <a:srgbClr val="000000"/>
                </a:solidFill>
                <a:latin typeface="Arial"/>
                <a:ea typeface="Arial"/>
                <a:cs typeface="Arial"/>
                <a:sym typeface="Arial"/>
              </a:rPr>
              <a:t>How It Works?</a:t>
            </a:r>
            <a:endParaRPr b="1" sz="23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A query is made up of </a:t>
            </a:r>
            <a:r>
              <a:rPr b="1" lang="en" sz="1100">
                <a:solidFill>
                  <a:srgbClr val="000000"/>
                </a:solidFill>
                <a:latin typeface="Arial"/>
                <a:ea typeface="Arial"/>
                <a:cs typeface="Arial"/>
                <a:sym typeface="Arial"/>
              </a:rPr>
              <a:t>operations</a:t>
            </a:r>
            <a:r>
              <a:rPr lang="en" sz="1100">
                <a:solidFill>
                  <a:srgbClr val="000000"/>
                </a:solidFill>
                <a:latin typeface="Arial"/>
                <a:ea typeface="Arial"/>
                <a:cs typeface="Arial"/>
                <a:sym typeface="Arial"/>
              </a:rPr>
              <a:t> in an operator tree (sort → project → join → etc.).</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Intraquery parallelism works in </a:t>
            </a:r>
            <a:r>
              <a:rPr b="1" lang="en" sz="1100">
                <a:solidFill>
                  <a:srgbClr val="000000"/>
                </a:solidFill>
                <a:latin typeface="Arial"/>
                <a:ea typeface="Arial"/>
                <a:cs typeface="Arial"/>
                <a:sym typeface="Arial"/>
              </a:rPr>
              <a:t>two major ways</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0" rtl="0" algn="l">
              <a:spcBef>
                <a:spcPts val="1800"/>
              </a:spcBef>
              <a:spcAft>
                <a:spcPts val="0"/>
              </a:spcAft>
              <a:buNone/>
            </a:pPr>
            <a:r>
              <a:rPr b="1" lang="en" sz="1700">
                <a:solidFill>
                  <a:srgbClr val="000000"/>
                </a:solidFill>
                <a:latin typeface="Arial"/>
                <a:ea typeface="Arial"/>
                <a:cs typeface="Arial"/>
                <a:sym typeface="Arial"/>
              </a:rPr>
              <a:t>1️⃣ Intra-operation parallelism</a:t>
            </a:r>
            <a:endParaRPr b="1" sz="17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We parallelize </a:t>
            </a:r>
            <a:r>
              <a:rPr b="1" lang="en" sz="1100">
                <a:solidFill>
                  <a:srgbClr val="000000"/>
                </a:solidFill>
                <a:latin typeface="Arial"/>
                <a:ea typeface="Arial"/>
                <a:cs typeface="Arial"/>
                <a:sym typeface="Arial"/>
              </a:rPr>
              <a:t>a single operation</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Example: Sorting a relation</a:t>
            </a:r>
            <a:endParaRPr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Suppose a relation is stored in multiple disks using </a:t>
            </a:r>
            <a:r>
              <a:rPr b="1" lang="en" sz="1100">
                <a:solidFill>
                  <a:srgbClr val="000000"/>
                </a:solidFill>
                <a:latin typeface="Arial"/>
                <a:ea typeface="Arial"/>
                <a:cs typeface="Arial"/>
                <a:sym typeface="Arial"/>
              </a:rPr>
              <a:t>range partitioning</a:t>
            </a:r>
            <a:r>
              <a:rPr lang="en" sz="1100">
                <a:solidFill>
                  <a:srgbClr val="000000"/>
                </a:solidFill>
                <a:latin typeface="Arial"/>
                <a:ea typeface="Arial"/>
                <a:cs typeface="Arial"/>
                <a:sym typeface="Arial"/>
              </a:rPr>
              <a:t>.</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Each disk has a portion of the data.</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We can sort each partition </a:t>
            </a:r>
            <a:r>
              <a:rPr b="1" lang="en" sz="1100">
                <a:solidFill>
                  <a:srgbClr val="000000"/>
                </a:solidFill>
                <a:latin typeface="Arial"/>
                <a:ea typeface="Arial"/>
                <a:cs typeface="Arial"/>
                <a:sym typeface="Arial"/>
              </a:rPr>
              <a:t>at the same time</a:t>
            </a:r>
            <a:r>
              <a:rPr lang="en" sz="1100">
                <a:solidFill>
                  <a:srgbClr val="000000"/>
                </a:solidFill>
                <a:latin typeface="Arial"/>
                <a:ea typeface="Arial"/>
                <a:cs typeface="Arial"/>
                <a:sym typeface="Arial"/>
              </a:rPr>
              <a:t> on different processors.</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After that, the sorted partitions are </a:t>
            </a:r>
            <a:r>
              <a:rPr b="1" lang="en" sz="1100">
                <a:solidFill>
                  <a:srgbClr val="000000"/>
                </a:solidFill>
                <a:latin typeface="Arial"/>
                <a:ea typeface="Arial"/>
                <a:cs typeface="Arial"/>
                <a:sym typeface="Arial"/>
              </a:rPr>
              <a:t>concatenated</a:t>
            </a:r>
            <a:r>
              <a:rPr lang="en" sz="1100">
                <a:solidFill>
                  <a:srgbClr val="000000"/>
                </a:solidFill>
                <a:latin typeface="Arial"/>
                <a:ea typeface="Arial"/>
                <a:cs typeface="Arial"/>
                <a:sym typeface="Arial"/>
              </a:rPr>
              <a:t> to form the final sorted output.</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0" lvl="0" marL="0" rtl="0" algn="l">
              <a:spcBef>
                <a:spcPts val="1200"/>
              </a:spcBef>
              <a:spcAft>
                <a:spcPts val="1200"/>
              </a:spcAft>
              <a:buNone/>
            </a:pPr>
            <a:r>
              <a:rPr lang="en" sz="1100">
                <a:solidFill>
                  <a:srgbClr val="000000"/>
                </a:solidFill>
                <a:latin typeface="Arial"/>
                <a:ea typeface="Arial"/>
                <a:cs typeface="Arial"/>
                <a:sym typeface="Arial"/>
              </a:rPr>
              <a:t>Faster than sorting the whole relation sequentially.</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65"/>
          <p:cNvSpPr txBox="1"/>
          <p:nvPr>
            <p:ph idx="1" type="body"/>
          </p:nvPr>
        </p:nvSpPr>
        <p:spPr>
          <a:xfrm>
            <a:off x="311700" y="265675"/>
            <a:ext cx="8520600" cy="4303500"/>
          </a:xfrm>
          <a:prstGeom prst="rect">
            <a:avLst/>
          </a:prstGeom>
        </p:spPr>
        <p:txBody>
          <a:bodyPr anchorCtr="0" anchor="t" bIns="91425" lIns="91425" spcFirstLastPara="1" rIns="91425" wrap="square" tIns="91425">
            <a:normAutofit lnSpcReduction="10000"/>
          </a:bodyPr>
          <a:lstStyle/>
          <a:p>
            <a:pPr indent="0" lvl="0" marL="0" rtl="0" algn="l">
              <a:spcBef>
                <a:spcPts val="1800"/>
              </a:spcBef>
              <a:spcAft>
                <a:spcPts val="0"/>
              </a:spcAft>
              <a:buNone/>
            </a:pPr>
            <a:r>
              <a:rPr b="1" lang="en" sz="1700">
                <a:solidFill>
                  <a:srgbClr val="000000"/>
                </a:solidFill>
                <a:latin typeface="Arial"/>
                <a:ea typeface="Arial"/>
                <a:cs typeface="Arial"/>
                <a:sym typeface="Arial"/>
              </a:rPr>
              <a:t>2️⃣ Inter-operation parallelism</a:t>
            </a:r>
            <a:endParaRPr b="1" sz="17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We run </a:t>
            </a:r>
            <a:r>
              <a:rPr b="1" lang="en" sz="1100">
                <a:solidFill>
                  <a:srgbClr val="000000"/>
                </a:solidFill>
                <a:latin typeface="Arial"/>
                <a:ea typeface="Arial"/>
                <a:cs typeface="Arial"/>
                <a:sym typeface="Arial"/>
              </a:rPr>
              <a:t>different operators</a:t>
            </a:r>
            <a:r>
              <a:rPr lang="en" sz="1100">
                <a:solidFill>
                  <a:srgbClr val="000000"/>
                </a:solidFill>
                <a:latin typeface="Arial"/>
                <a:ea typeface="Arial"/>
                <a:cs typeface="Arial"/>
                <a:sym typeface="Arial"/>
              </a:rPr>
              <a:t> of a query in parallel.</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Example:</a:t>
            </a:r>
            <a:endParaRPr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If a query has:</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Select operation</a:t>
            </a: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Then a join</a:t>
            </a: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Then another operation</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Some operations may not depend on each other directly → they can run in parallel.</a:t>
            </a:r>
            <a:endParaRPr sz="1100">
              <a:solidFill>
                <a:srgbClr val="000000"/>
              </a:solidFill>
              <a:latin typeface="Arial"/>
              <a:ea typeface="Arial"/>
              <a:cs typeface="Arial"/>
              <a:sym typeface="Arial"/>
            </a:endParaRPr>
          </a:p>
          <a:p>
            <a:pPr indent="0" lvl="0" marL="0" rtl="0" algn="l">
              <a:spcBef>
                <a:spcPts val="1400"/>
              </a:spcBef>
              <a:spcAft>
                <a:spcPts val="0"/>
              </a:spcAft>
              <a:buNone/>
            </a:pPr>
            <a:r>
              <a:rPr b="1" lang="en" sz="1300">
                <a:solidFill>
                  <a:srgbClr val="000000"/>
                </a:solidFill>
                <a:latin typeface="Arial"/>
                <a:ea typeface="Arial"/>
                <a:cs typeface="Arial"/>
                <a:sym typeface="Arial"/>
              </a:rPr>
              <a:t>Pipelining</a:t>
            </a:r>
            <a:endParaRPr b="1" sz="13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If Operation A produces output that Operation B needs,</a:t>
            </a:r>
            <a:br>
              <a:rPr lang="en" sz="1100">
                <a:solidFill>
                  <a:srgbClr val="000000"/>
                </a:solidFill>
                <a:latin typeface="Arial"/>
                <a:ea typeface="Arial"/>
                <a:cs typeface="Arial"/>
                <a:sym typeface="Arial"/>
              </a:rPr>
            </a:br>
            <a:r>
              <a:rPr lang="en" sz="1100">
                <a:solidFill>
                  <a:srgbClr val="000000"/>
                </a:solidFill>
                <a:latin typeface="Arial"/>
                <a:ea typeface="Arial"/>
                <a:cs typeface="Arial"/>
                <a:sym typeface="Arial"/>
              </a:rPr>
              <a:t> we can run them together:</a:t>
            </a:r>
            <a:endParaRPr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Processor 1: Runs Operation A</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Processor 2: Immediately uses A's output and runs Operation B</a:t>
            </a:r>
            <a:endParaRPr sz="1100">
              <a:solidFill>
                <a:srgbClr val="000000"/>
              </a:solidFill>
              <a:latin typeface="Arial"/>
              <a:ea typeface="Arial"/>
              <a:cs typeface="Arial"/>
              <a:sym typeface="Arial"/>
            </a:endParaRPr>
          </a:p>
          <a:p>
            <a:pPr indent="0" lvl="0" marL="0" rtl="0" algn="l">
              <a:spcBef>
                <a:spcPts val="1200"/>
              </a:spcBef>
              <a:spcAft>
                <a:spcPts val="1200"/>
              </a:spcAft>
              <a:buNone/>
            </a:pPr>
            <a:r>
              <a:rPr lang="en" sz="1100">
                <a:solidFill>
                  <a:srgbClr val="000000"/>
                </a:solidFill>
                <a:latin typeface="Arial"/>
                <a:ea typeface="Arial"/>
                <a:cs typeface="Arial"/>
                <a:sym typeface="Arial"/>
              </a:rPr>
              <a:t>Faster because B does not wait for A to complete fully.</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66"/>
          <p:cNvSpPr txBox="1"/>
          <p:nvPr>
            <p:ph idx="1" type="body"/>
          </p:nvPr>
        </p:nvSpPr>
        <p:spPr>
          <a:xfrm>
            <a:off x="311700" y="297550"/>
            <a:ext cx="8520600" cy="4271400"/>
          </a:xfrm>
          <a:prstGeom prst="rect">
            <a:avLst/>
          </a:prstGeom>
        </p:spPr>
        <p:txBody>
          <a:bodyPr anchorCtr="0" anchor="t" bIns="91425" lIns="91425" spcFirstLastPara="1" rIns="91425" wrap="square" tIns="91425">
            <a:normAutofit lnSpcReduction="10000"/>
          </a:bodyPr>
          <a:lstStyle/>
          <a:p>
            <a:pPr indent="0" lvl="0" marL="0" rtl="0" algn="l">
              <a:spcBef>
                <a:spcPts val="2400"/>
              </a:spcBef>
              <a:spcAft>
                <a:spcPts val="0"/>
              </a:spcAft>
              <a:buNone/>
            </a:pPr>
            <a:r>
              <a:rPr b="1" lang="en" sz="2300">
                <a:solidFill>
                  <a:srgbClr val="000000"/>
                </a:solidFill>
                <a:latin typeface="Arial"/>
                <a:ea typeface="Arial"/>
                <a:cs typeface="Arial"/>
                <a:sym typeface="Arial"/>
              </a:rPr>
              <a:t>Using Both Types Together</a:t>
            </a:r>
            <a:endParaRPr b="1" sz="23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In real systems, both:</a:t>
            </a:r>
            <a:endParaRPr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b="1" lang="en" sz="1100">
                <a:solidFill>
                  <a:srgbClr val="000000"/>
                </a:solidFill>
                <a:latin typeface="Arial"/>
                <a:ea typeface="Arial"/>
                <a:cs typeface="Arial"/>
                <a:sym typeface="Arial"/>
              </a:rPr>
              <a:t>Intra-operation parallelism</a:t>
            </a:r>
            <a:r>
              <a:rPr lang="en" sz="1100">
                <a:solidFill>
                  <a:srgbClr val="000000"/>
                </a:solidFill>
                <a:latin typeface="Arial"/>
                <a:ea typeface="Arial"/>
                <a:cs typeface="Arial"/>
                <a:sym typeface="Arial"/>
              </a:rPr>
              <a:t> (parallelize one operation)</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b="1" lang="en" sz="1100">
                <a:solidFill>
                  <a:srgbClr val="000000"/>
                </a:solidFill>
                <a:latin typeface="Arial"/>
                <a:ea typeface="Arial"/>
                <a:cs typeface="Arial"/>
                <a:sym typeface="Arial"/>
              </a:rPr>
              <a:t>Inter-operation parallelism</a:t>
            </a:r>
            <a:r>
              <a:rPr lang="en" sz="1100">
                <a:solidFill>
                  <a:srgbClr val="000000"/>
                </a:solidFill>
                <a:latin typeface="Arial"/>
                <a:ea typeface="Arial"/>
                <a:cs typeface="Arial"/>
                <a:sym typeface="Arial"/>
              </a:rPr>
              <a:t> (parallelize multiple operations)</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are combined to get the best speed.</a:t>
            </a:r>
            <a:endParaRPr sz="1100">
              <a:solidFill>
                <a:srgbClr val="000000"/>
              </a:solidFill>
              <a:latin typeface="Arial"/>
              <a:ea typeface="Arial"/>
              <a:cs typeface="Arial"/>
              <a:sym typeface="Arial"/>
            </a:endParaRPr>
          </a:p>
          <a:p>
            <a:pPr indent="0" lvl="0" marL="0" rtl="0" algn="l">
              <a:spcBef>
                <a:spcPts val="2400"/>
              </a:spcBef>
              <a:spcAft>
                <a:spcPts val="0"/>
              </a:spcAft>
              <a:buNone/>
            </a:pPr>
            <a:r>
              <a:rPr b="1" lang="en" sz="2300">
                <a:solidFill>
                  <a:srgbClr val="000000"/>
                </a:solidFill>
                <a:latin typeface="Arial"/>
                <a:ea typeface="Arial"/>
                <a:cs typeface="Arial"/>
                <a:sym typeface="Arial"/>
              </a:rPr>
              <a:t>Architecture Assumption </a:t>
            </a:r>
            <a:endParaRPr b="1" sz="23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The algorithms usually assume a </a:t>
            </a:r>
            <a:r>
              <a:rPr b="1" lang="en" sz="1100">
                <a:solidFill>
                  <a:srgbClr val="000000"/>
                </a:solidFill>
                <a:latin typeface="Arial"/>
                <a:ea typeface="Arial"/>
                <a:cs typeface="Arial"/>
                <a:sym typeface="Arial"/>
              </a:rPr>
              <a:t>shared-nothing architecture</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n processors (P₀, P₁, …, Pn-1)</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Each processor has its own disk (D₀, D₁, …, Dn-1)</a:t>
            </a:r>
            <a:endParaRPr sz="1100">
              <a:solidFill>
                <a:srgbClr val="000000"/>
              </a:solidFill>
              <a:latin typeface="Arial"/>
              <a:ea typeface="Arial"/>
              <a:cs typeface="Arial"/>
              <a:sym typeface="Arial"/>
            </a:endParaRPr>
          </a:p>
          <a:p>
            <a:pPr indent="0" lvl="0" marL="0" rtl="0" algn="l">
              <a:spcBef>
                <a:spcPts val="1200"/>
              </a:spcBef>
              <a:spcAft>
                <a:spcPts val="1200"/>
              </a:spcAft>
              <a:buNone/>
            </a:pPr>
            <a:r>
              <a:rPr lang="en" sz="1100">
                <a:solidFill>
                  <a:srgbClr val="000000"/>
                </a:solidFill>
                <a:latin typeface="Arial"/>
                <a:ea typeface="Arial"/>
                <a:cs typeface="Arial"/>
                <a:sym typeface="Arial"/>
              </a:rPr>
              <a:t>Data movement between processors must be explicitly done through messages.</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67"/>
          <p:cNvSpPr txBox="1"/>
          <p:nvPr>
            <p:ph idx="1" type="body"/>
          </p:nvPr>
        </p:nvSpPr>
        <p:spPr>
          <a:xfrm>
            <a:off x="311700" y="595125"/>
            <a:ext cx="8520600" cy="3973800"/>
          </a:xfrm>
          <a:prstGeom prst="rect">
            <a:avLst/>
          </a:prstGeom>
        </p:spPr>
        <p:txBody>
          <a:bodyPr anchorCtr="0" anchor="t" bIns="91425" lIns="91425" spcFirstLastPara="1" rIns="91425" wrap="square" tIns="91425">
            <a:normAutofit/>
          </a:bodyPr>
          <a:lstStyle/>
          <a:p>
            <a:pPr indent="0" lvl="0" marL="0" rtl="0" algn="l">
              <a:spcBef>
                <a:spcPts val="2400"/>
              </a:spcBef>
              <a:spcAft>
                <a:spcPts val="0"/>
              </a:spcAft>
              <a:buNone/>
            </a:pPr>
            <a:r>
              <a:rPr b="1" lang="en" sz="2300">
                <a:solidFill>
                  <a:srgbClr val="000000"/>
                </a:solidFill>
                <a:latin typeface="Arial"/>
                <a:ea typeface="Arial"/>
                <a:cs typeface="Arial"/>
                <a:sym typeface="Arial"/>
              </a:rPr>
              <a:t>Summary </a:t>
            </a:r>
            <a:endParaRPr b="1" sz="2300">
              <a:solidFill>
                <a:srgbClr val="000000"/>
              </a:solidFill>
              <a:latin typeface="Arial"/>
              <a:ea typeface="Arial"/>
              <a:cs typeface="Arial"/>
              <a:sym typeface="Arial"/>
            </a:endParaRPr>
          </a:p>
          <a:p>
            <a:pPr indent="0" lvl="0" marL="0" rtl="0" algn="l">
              <a:spcBef>
                <a:spcPts val="1200"/>
              </a:spcBef>
              <a:spcAft>
                <a:spcPts val="0"/>
              </a:spcAft>
              <a:buNone/>
            </a:pPr>
            <a:r>
              <a:rPr b="1" lang="en" sz="1100">
                <a:solidFill>
                  <a:srgbClr val="000000"/>
                </a:solidFill>
                <a:latin typeface="Arial"/>
                <a:ea typeface="Arial"/>
                <a:cs typeface="Arial"/>
                <a:sym typeface="Arial"/>
              </a:rPr>
              <a:t>Intraquery parallelism = speeding up ONE query using multiple processors.</a:t>
            </a:r>
            <a:endParaRPr b="1"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Two forms:</a:t>
            </a:r>
            <a:endParaRPr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b="1" lang="en" sz="1100">
                <a:solidFill>
                  <a:srgbClr val="000000"/>
                </a:solidFill>
                <a:latin typeface="Arial"/>
                <a:ea typeface="Arial"/>
                <a:cs typeface="Arial"/>
                <a:sym typeface="Arial"/>
              </a:rPr>
              <a:t>Intra-operation parallelism</a:t>
            </a:r>
            <a:r>
              <a:rPr lang="en" sz="1100">
                <a:solidFill>
                  <a:srgbClr val="000000"/>
                </a:solidFill>
                <a:latin typeface="Arial"/>
                <a:ea typeface="Arial"/>
                <a:cs typeface="Arial"/>
                <a:sym typeface="Arial"/>
              </a:rPr>
              <a:t> → parallelize each operator</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b="1" lang="en" sz="1100">
                <a:solidFill>
                  <a:srgbClr val="000000"/>
                </a:solidFill>
                <a:latin typeface="Arial"/>
                <a:ea typeface="Arial"/>
                <a:cs typeface="Arial"/>
                <a:sym typeface="Arial"/>
              </a:rPr>
              <a:t>Inter-operation parallelism</a:t>
            </a:r>
            <a:r>
              <a:rPr lang="en" sz="1100">
                <a:solidFill>
                  <a:srgbClr val="000000"/>
                </a:solidFill>
                <a:latin typeface="Arial"/>
                <a:ea typeface="Arial"/>
                <a:cs typeface="Arial"/>
                <a:sym typeface="Arial"/>
              </a:rPr>
              <a:t> → run multiple operators in parallel (also pipelining)</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0" lvl="0" marL="0" rtl="0" algn="l">
              <a:spcBef>
                <a:spcPts val="1200"/>
              </a:spcBef>
              <a:spcAft>
                <a:spcPts val="1200"/>
              </a:spcAft>
              <a:buNone/>
            </a:pPr>
            <a:r>
              <a:rPr lang="en" sz="1100">
                <a:solidFill>
                  <a:srgbClr val="000000"/>
                </a:solidFill>
                <a:latin typeface="Arial"/>
                <a:ea typeface="Arial"/>
                <a:cs typeface="Arial"/>
                <a:sym typeface="Arial"/>
              </a:rPr>
              <a:t>Used mainly for </a:t>
            </a:r>
            <a:r>
              <a:rPr b="1" lang="en" sz="1100">
                <a:solidFill>
                  <a:srgbClr val="000000"/>
                </a:solidFill>
                <a:latin typeface="Arial"/>
                <a:ea typeface="Arial"/>
                <a:cs typeface="Arial"/>
                <a:sym typeface="Arial"/>
              </a:rPr>
              <a:t>large analytical queries</a:t>
            </a:r>
            <a:r>
              <a:rPr lang="en" sz="1100">
                <a:solidFill>
                  <a:srgbClr val="000000"/>
                </a:solidFill>
                <a:latin typeface="Arial"/>
                <a:ea typeface="Arial"/>
                <a:cs typeface="Arial"/>
                <a:sym typeface="Arial"/>
              </a:rPr>
              <a:t>.</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68"/>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Distributed Data Storage</a:t>
            </a:r>
            <a:endParaRPr/>
          </a:p>
        </p:txBody>
      </p:sp>
      <p:sp>
        <p:nvSpPr>
          <p:cNvPr id="365" name="Google Shape;365;p68"/>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sz="1100">
                <a:solidFill>
                  <a:srgbClr val="000000"/>
                </a:solidFill>
                <a:latin typeface="Arial"/>
                <a:ea typeface="Arial"/>
                <a:cs typeface="Arial"/>
                <a:sym typeface="Arial"/>
              </a:rPr>
              <a:t>A distributed database stores data at </a:t>
            </a:r>
            <a:r>
              <a:rPr b="1" lang="en" sz="1100">
                <a:solidFill>
                  <a:srgbClr val="000000"/>
                </a:solidFill>
                <a:latin typeface="Arial"/>
                <a:ea typeface="Arial"/>
                <a:cs typeface="Arial"/>
                <a:sym typeface="Arial"/>
              </a:rPr>
              <a:t>multiple sites (locations)</a:t>
            </a:r>
            <a:r>
              <a:rPr lang="en" sz="1100">
                <a:solidFill>
                  <a:srgbClr val="000000"/>
                </a:solidFill>
                <a:latin typeface="Arial"/>
                <a:ea typeface="Arial"/>
                <a:cs typeface="Arial"/>
                <a:sym typeface="Arial"/>
              </a:rPr>
              <a:t> instead of keeping all data in one place.</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There are </a:t>
            </a:r>
            <a:r>
              <a:rPr b="1" lang="en" sz="1100">
                <a:solidFill>
                  <a:srgbClr val="000000"/>
                </a:solidFill>
                <a:latin typeface="Arial"/>
                <a:ea typeface="Arial"/>
                <a:cs typeface="Arial"/>
                <a:sym typeface="Arial"/>
              </a:rPr>
              <a:t>two main methods</a:t>
            </a:r>
            <a:r>
              <a:rPr lang="en" sz="1100">
                <a:solidFill>
                  <a:srgbClr val="000000"/>
                </a:solidFill>
                <a:latin typeface="Arial"/>
                <a:ea typeface="Arial"/>
                <a:cs typeface="Arial"/>
                <a:sym typeface="Arial"/>
              </a:rPr>
              <a:t> to store a relation (table) across different sites:</a:t>
            </a:r>
            <a:endParaRPr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AutoNum type="arabicPeriod"/>
            </a:pPr>
            <a:r>
              <a:rPr b="1" lang="en" sz="1100">
                <a:solidFill>
                  <a:srgbClr val="000000"/>
                </a:solidFill>
                <a:latin typeface="Arial"/>
                <a:ea typeface="Arial"/>
                <a:cs typeface="Arial"/>
                <a:sym typeface="Arial"/>
              </a:rPr>
              <a:t>Replication</a:t>
            </a:r>
            <a:br>
              <a:rPr b="1" lang="en" sz="1100">
                <a:solidFill>
                  <a:srgbClr val="000000"/>
                </a:solidFill>
                <a:latin typeface="Arial"/>
                <a:ea typeface="Arial"/>
                <a:cs typeface="Arial"/>
                <a:sym typeface="Arial"/>
              </a:rPr>
            </a:br>
            <a:endParaRPr b="1"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AutoNum type="arabicPeriod"/>
            </a:pPr>
            <a:r>
              <a:rPr b="1" lang="en" sz="1100">
                <a:solidFill>
                  <a:srgbClr val="000000"/>
                </a:solidFill>
                <a:latin typeface="Arial"/>
                <a:ea typeface="Arial"/>
                <a:cs typeface="Arial"/>
                <a:sym typeface="Arial"/>
              </a:rPr>
              <a:t>Fragmentation</a:t>
            </a:r>
            <a:br>
              <a:rPr b="1" lang="en" sz="1100">
                <a:solidFill>
                  <a:srgbClr val="000000"/>
                </a:solidFill>
                <a:latin typeface="Arial"/>
                <a:ea typeface="Arial"/>
                <a:cs typeface="Arial"/>
                <a:sym typeface="Arial"/>
              </a:rPr>
            </a:br>
            <a:endParaRPr b="1"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Sometimes both are combined together.</a:t>
            </a: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69"/>
          <p:cNvSpPr txBox="1"/>
          <p:nvPr>
            <p:ph idx="1" type="body"/>
          </p:nvPr>
        </p:nvSpPr>
        <p:spPr>
          <a:xfrm>
            <a:off x="311700" y="350700"/>
            <a:ext cx="8520600" cy="4218300"/>
          </a:xfrm>
          <a:prstGeom prst="rect">
            <a:avLst/>
          </a:prstGeom>
        </p:spPr>
        <p:txBody>
          <a:bodyPr anchorCtr="0" anchor="t" bIns="91425" lIns="91425" spcFirstLastPara="1" rIns="91425" wrap="square" tIns="91425">
            <a:normAutofit lnSpcReduction="10000"/>
          </a:bodyPr>
          <a:lstStyle/>
          <a:p>
            <a:pPr indent="0" lvl="0" marL="0" rtl="0" algn="l">
              <a:spcBef>
                <a:spcPts val="2400"/>
              </a:spcBef>
              <a:spcAft>
                <a:spcPts val="0"/>
              </a:spcAft>
              <a:buNone/>
            </a:pPr>
            <a:r>
              <a:rPr b="1" lang="en" sz="2300">
                <a:solidFill>
                  <a:srgbClr val="000000"/>
                </a:solidFill>
                <a:latin typeface="Arial"/>
                <a:ea typeface="Arial"/>
                <a:cs typeface="Arial"/>
                <a:sym typeface="Arial"/>
              </a:rPr>
              <a:t>1. Data Replication (Copying the relation)</a:t>
            </a:r>
            <a:endParaRPr b="1" sz="23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Replication means:</a:t>
            </a:r>
            <a:endParaRPr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We store </a:t>
            </a:r>
            <a:r>
              <a:rPr b="1" lang="en" sz="1100">
                <a:solidFill>
                  <a:srgbClr val="000000"/>
                </a:solidFill>
                <a:latin typeface="Arial"/>
                <a:ea typeface="Arial"/>
                <a:cs typeface="Arial"/>
                <a:sym typeface="Arial"/>
              </a:rPr>
              <a:t>multiple copies</a:t>
            </a:r>
            <a:r>
              <a:rPr lang="en" sz="1100">
                <a:solidFill>
                  <a:srgbClr val="000000"/>
                </a:solidFill>
                <a:latin typeface="Arial"/>
                <a:ea typeface="Arial"/>
                <a:cs typeface="Arial"/>
                <a:sym typeface="Arial"/>
              </a:rPr>
              <a:t> of the same relation </a:t>
            </a:r>
            <a:r>
              <a:rPr b="1" lang="en" sz="1100">
                <a:solidFill>
                  <a:srgbClr val="000000"/>
                </a:solidFill>
                <a:latin typeface="Arial"/>
                <a:ea typeface="Arial"/>
                <a:cs typeface="Arial"/>
                <a:sym typeface="Arial"/>
              </a:rPr>
              <a:t>r</a:t>
            </a:r>
            <a:r>
              <a:rPr lang="en" sz="1100">
                <a:solidFill>
                  <a:srgbClr val="000000"/>
                </a:solidFill>
                <a:latin typeface="Arial"/>
                <a:ea typeface="Arial"/>
                <a:cs typeface="Arial"/>
                <a:sym typeface="Arial"/>
              </a:rPr>
              <a:t> at different sites.</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If replication is done at </a:t>
            </a:r>
            <a:r>
              <a:rPr i="1" lang="en" sz="1100">
                <a:solidFill>
                  <a:srgbClr val="000000"/>
                </a:solidFill>
                <a:latin typeface="Arial"/>
                <a:ea typeface="Arial"/>
                <a:cs typeface="Arial"/>
                <a:sym typeface="Arial"/>
              </a:rPr>
              <a:t>every</a:t>
            </a:r>
            <a:r>
              <a:rPr lang="en" sz="1100">
                <a:solidFill>
                  <a:srgbClr val="000000"/>
                </a:solidFill>
                <a:latin typeface="Arial"/>
                <a:ea typeface="Arial"/>
                <a:cs typeface="Arial"/>
                <a:sym typeface="Arial"/>
              </a:rPr>
              <a:t> site → it is called </a:t>
            </a:r>
            <a:r>
              <a:rPr b="1" lang="en" sz="1100">
                <a:solidFill>
                  <a:srgbClr val="000000"/>
                </a:solidFill>
                <a:latin typeface="Arial"/>
                <a:ea typeface="Arial"/>
                <a:cs typeface="Arial"/>
                <a:sym typeface="Arial"/>
              </a:rPr>
              <a:t>full replication</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0" rtl="0" algn="l">
              <a:spcBef>
                <a:spcPts val="1400"/>
              </a:spcBef>
              <a:spcAft>
                <a:spcPts val="0"/>
              </a:spcAft>
              <a:buNone/>
            </a:pPr>
            <a:r>
              <a:rPr b="1" lang="en" sz="1300">
                <a:solidFill>
                  <a:srgbClr val="000000"/>
                </a:solidFill>
                <a:latin typeface="Arial"/>
                <a:ea typeface="Arial"/>
                <a:cs typeface="Arial"/>
                <a:sym typeface="Arial"/>
              </a:rPr>
              <a:t>Advantages of Replication</a:t>
            </a:r>
            <a:endParaRPr b="1" sz="1300">
              <a:solidFill>
                <a:srgbClr val="000000"/>
              </a:solidFill>
              <a:latin typeface="Arial"/>
              <a:ea typeface="Arial"/>
              <a:cs typeface="Arial"/>
              <a:sym typeface="Arial"/>
            </a:endParaRPr>
          </a:p>
          <a:p>
            <a:pPr indent="0" lvl="0" marL="0" rtl="0" algn="l">
              <a:spcBef>
                <a:spcPts val="1400"/>
              </a:spcBef>
              <a:spcAft>
                <a:spcPts val="0"/>
              </a:spcAft>
              <a:buNone/>
            </a:pPr>
            <a:r>
              <a:rPr b="1" lang="en" sz="1300">
                <a:solidFill>
                  <a:srgbClr val="000000"/>
                </a:solidFill>
                <a:latin typeface="Arial"/>
                <a:ea typeface="Arial"/>
                <a:cs typeface="Arial"/>
                <a:sym typeface="Arial"/>
              </a:rPr>
              <a:t>1. High Availability</a:t>
            </a:r>
            <a:endParaRPr b="1" sz="13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If one site fails, the system can use another copy available at a different site.</a:t>
            </a:r>
            <a:br>
              <a:rPr lang="en" sz="1100">
                <a:solidFill>
                  <a:srgbClr val="000000"/>
                </a:solidFill>
                <a:latin typeface="Arial"/>
                <a:ea typeface="Arial"/>
                <a:cs typeface="Arial"/>
                <a:sym typeface="Arial"/>
              </a:rPr>
            </a:br>
            <a:r>
              <a:rPr lang="en" sz="1100">
                <a:solidFill>
                  <a:srgbClr val="000000"/>
                </a:solidFill>
                <a:latin typeface="Arial"/>
                <a:ea typeface="Arial"/>
                <a:cs typeface="Arial"/>
                <a:sym typeface="Arial"/>
              </a:rPr>
              <a:t> ➡ System keeps working even during failures.</a:t>
            </a:r>
            <a:endParaRPr sz="1100">
              <a:solidFill>
                <a:srgbClr val="000000"/>
              </a:solidFill>
              <a:latin typeface="Arial"/>
              <a:ea typeface="Arial"/>
              <a:cs typeface="Arial"/>
              <a:sym typeface="Arial"/>
            </a:endParaRPr>
          </a:p>
          <a:p>
            <a:pPr indent="0" lvl="0" marL="0" rtl="0" algn="l">
              <a:spcBef>
                <a:spcPts val="1400"/>
              </a:spcBef>
              <a:spcAft>
                <a:spcPts val="0"/>
              </a:spcAft>
              <a:buNone/>
            </a:pPr>
            <a:r>
              <a:rPr b="1" lang="en" sz="1300">
                <a:solidFill>
                  <a:srgbClr val="000000"/>
                </a:solidFill>
                <a:latin typeface="Arial"/>
                <a:ea typeface="Arial"/>
                <a:cs typeface="Arial"/>
                <a:sym typeface="Arial"/>
              </a:rPr>
              <a:t>2. Faster Read Operations</a:t>
            </a:r>
            <a:endParaRPr b="1" sz="13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If most queries are </a:t>
            </a:r>
            <a:r>
              <a:rPr b="1" lang="en" sz="1100">
                <a:solidFill>
                  <a:srgbClr val="000000"/>
                </a:solidFill>
                <a:latin typeface="Arial"/>
                <a:ea typeface="Arial"/>
                <a:cs typeface="Arial"/>
                <a:sym typeface="Arial"/>
              </a:rPr>
              <a:t>read-only</a:t>
            </a:r>
            <a:r>
              <a:rPr lang="en" sz="1100">
                <a:solidFill>
                  <a:srgbClr val="000000"/>
                </a:solidFill>
                <a:latin typeface="Arial"/>
                <a:ea typeface="Arial"/>
                <a:cs typeface="Arial"/>
                <a:sym typeface="Arial"/>
              </a:rPr>
              <a:t>, many sites can read copies </a:t>
            </a:r>
            <a:r>
              <a:rPr b="1" lang="en" sz="1100">
                <a:solidFill>
                  <a:srgbClr val="000000"/>
                </a:solidFill>
                <a:latin typeface="Arial"/>
                <a:ea typeface="Arial"/>
                <a:cs typeface="Arial"/>
                <a:sym typeface="Arial"/>
              </a:rPr>
              <a:t>in parallel</a:t>
            </a:r>
            <a:r>
              <a:rPr lang="en" sz="1100">
                <a:solidFill>
                  <a:srgbClr val="000000"/>
                </a:solidFill>
                <a:latin typeface="Arial"/>
                <a:ea typeface="Arial"/>
                <a:cs typeface="Arial"/>
                <a:sym typeface="Arial"/>
              </a:rPr>
              <a:t>.</a:t>
            </a:r>
            <a:br>
              <a:rPr lang="en" sz="1100">
                <a:solidFill>
                  <a:srgbClr val="000000"/>
                </a:solidFill>
                <a:latin typeface="Arial"/>
                <a:ea typeface="Arial"/>
                <a:cs typeface="Arial"/>
                <a:sym typeface="Arial"/>
              </a:rPr>
            </a:br>
            <a:r>
              <a:rPr lang="en" sz="1100">
                <a:solidFill>
                  <a:srgbClr val="000000"/>
                </a:solidFill>
                <a:latin typeface="Arial"/>
                <a:ea typeface="Arial"/>
                <a:cs typeface="Arial"/>
                <a:sym typeface="Arial"/>
              </a:rPr>
              <a:t> More replicas ⇒ Faster data access ⇒ Less data transfer between sites.</a:t>
            </a: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70"/>
          <p:cNvSpPr txBox="1"/>
          <p:nvPr>
            <p:ph idx="1" type="body"/>
          </p:nvPr>
        </p:nvSpPr>
        <p:spPr>
          <a:xfrm>
            <a:off x="311700" y="148775"/>
            <a:ext cx="8520600" cy="44202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None/>
            </a:pPr>
            <a:r>
              <a:rPr b="1" lang="en" sz="1300">
                <a:solidFill>
                  <a:srgbClr val="000000"/>
                </a:solidFill>
                <a:latin typeface="Arial"/>
                <a:ea typeface="Arial"/>
                <a:cs typeface="Arial"/>
                <a:sym typeface="Arial"/>
              </a:rPr>
              <a:t>Disadvantage of Replication:</a:t>
            </a:r>
            <a:endParaRPr b="1" sz="1300">
              <a:solidFill>
                <a:srgbClr val="000000"/>
              </a:solidFill>
              <a:latin typeface="Arial"/>
              <a:ea typeface="Arial"/>
              <a:cs typeface="Arial"/>
              <a:sym typeface="Arial"/>
            </a:endParaRPr>
          </a:p>
          <a:p>
            <a:pPr indent="0" lvl="0" marL="0" rtl="0" algn="l">
              <a:spcBef>
                <a:spcPts val="1400"/>
              </a:spcBef>
              <a:spcAft>
                <a:spcPts val="0"/>
              </a:spcAft>
              <a:buNone/>
            </a:pPr>
            <a:r>
              <a:rPr b="1" lang="en" sz="1300">
                <a:solidFill>
                  <a:srgbClr val="000000"/>
                </a:solidFill>
                <a:latin typeface="Arial"/>
                <a:ea typeface="Arial"/>
                <a:cs typeface="Arial"/>
                <a:sym typeface="Arial"/>
              </a:rPr>
              <a:t>High Update Overhead</a:t>
            </a:r>
            <a:endParaRPr b="1" sz="13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When data is changed, </a:t>
            </a:r>
            <a:r>
              <a:rPr b="1" lang="en" sz="1100">
                <a:solidFill>
                  <a:srgbClr val="000000"/>
                </a:solidFill>
                <a:latin typeface="Arial"/>
                <a:ea typeface="Arial"/>
                <a:cs typeface="Arial"/>
                <a:sym typeface="Arial"/>
              </a:rPr>
              <a:t>all replicas must be updated</a:t>
            </a:r>
            <a:r>
              <a:rPr lang="en" sz="1100">
                <a:solidFill>
                  <a:srgbClr val="000000"/>
                </a:solidFill>
                <a:latin typeface="Arial"/>
                <a:ea typeface="Arial"/>
                <a:cs typeface="Arial"/>
                <a:sym typeface="Arial"/>
              </a:rPr>
              <a:t> everywhere.</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Example:</a:t>
            </a:r>
            <a:endParaRPr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Suppose a bank account record is stored at 5 sites.</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When balance changes, update must occur at all 5 sites.</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This increases network traffic and complexity.</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Because of this, distributed systems often use </a:t>
            </a:r>
            <a:r>
              <a:rPr b="1" lang="en" sz="1100">
                <a:solidFill>
                  <a:srgbClr val="000000"/>
                </a:solidFill>
                <a:latin typeface="Arial"/>
                <a:ea typeface="Arial"/>
                <a:cs typeface="Arial"/>
                <a:sym typeface="Arial"/>
              </a:rPr>
              <a:t>a primary copy</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One site is considered the “main” copy.</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All updates go through this site.</a:t>
            </a: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71"/>
          <p:cNvSpPr txBox="1"/>
          <p:nvPr>
            <p:ph idx="1" type="body"/>
          </p:nvPr>
        </p:nvSpPr>
        <p:spPr>
          <a:xfrm>
            <a:off x="311700" y="627000"/>
            <a:ext cx="8520600" cy="3729600"/>
          </a:xfrm>
          <a:prstGeom prst="rect">
            <a:avLst/>
          </a:prstGeom>
        </p:spPr>
        <p:txBody>
          <a:bodyPr anchorCtr="0" anchor="t" bIns="91425" lIns="91425" spcFirstLastPara="1" rIns="91425" wrap="square" tIns="91425">
            <a:normAutofit lnSpcReduction="10000"/>
          </a:bodyPr>
          <a:lstStyle/>
          <a:p>
            <a:pPr indent="0" lvl="0" marL="0" rtl="0" algn="l">
              <a:spcBef>
                <a:spcPts val="2400"/>
              </a:spcBef>
              <a:spcAft>
                <a:spcPts val="0"/>
              </a:spcAft>
              <a:buNone/>
            </a:pPr>
            <a:r>
              <a:rPr b="1" lang="en" sz="2300">
                <a:solidFill>
                  <a:srgbClr val="000000"/>
                </a:solidFill>
                <a:latin typeface="Arial"/>
                <a:ea typeface="Arial"/>
                <a:cs typeface="Arial"/>
                <a:sym typeface="Arial"/>
              </a:rPr>
              <a:t>2. Data Fragmentation (Splitting the relation)</a:t>
            </a:r>
            <a:endParaRPr b="1" sz="23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Instead of copying the whole table, we </a:t>
            </a:r>
            <a:r>
              <a:rPr b="1" lang="en" sz="1100">
                <a:solidFill>
                  <a:srgbClr val="000000"/>
                </a:solidFill>
                <a:latin typeface="Arial"/>
                <a:ea typeface="Arial"/>
                <a:cs typeface="Arial"/>
                <a:sym typeface="Arial"/>
              </a:rPr>
              <a:t>split</a:t>
            </a:r>
            <a:r>
              <a:rPr lang="en" sz="1100">
                <a:solidFill>
                  <a:srgbClr val="000000"/>
                </a:solidFill>
                <a:latin typeface="Arial"/>
                <a:ea typeface="Arial"/>
                <a:cs typeface="Arial"/>
                <a:sym typeface="Arial"/>
              </a:rPr>
              <a:t> it into smaller parts (fragments).</a:t>
            </a:r>
            <a:br>
              <a:rPr lang="en" sz="1100">
                <a:solidFill>
                  <a:srgbClr val="000000"/>
                </a:solidFill>
                <a:latin typeface="Arial"/>
                <a:ea typeface="Arial"/>
                <a:cs typeface="Arial"/>
                <a:sym typeface="Arial"/>
              </a:rPr>
            </a:br>
            <a:r>
              <a:rPr lang="en" sz="1100">
                <a:solidFill>
                  <a:srgbClr val="000000"/>
                </a:solidFill>
                <a:latin typeface="Arial"/>
                <a:ea typeface="Arial"/>
                <a:cs typeface="Arial"/>
                <a:sym typeface="Arial"/>
              </a:rPr>
              <a:t> Each fragment is stored at a different site.</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There are </a:t>
            </a:r>
            <a:r>
              <a:rPr b="1" lang="en" sz="1100">
                <a:solidFill>
                  <a:srgbClr val="000000"/>
                </a:solidFill>
                <a:latin typeface="Arial"/>
                <a:ea typeface="Arial"/>
                <a:cs typeface="Arial"/>
                <a:sym typeface="Arial"/>
              </a:rPr>
              <a:t>two types of fragmentation</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0" rtl="0" algn="l">
              <a:spcBef>
                <a:spcPts val="1200"/>
              </a:spcBef>
              <a:spcAft>
                <a:spcPts val="0"/>
              </a:spcAft>
              <a:buNone/>
            </a:pPr>
            <a:r>
              <a:t/>
            </a:r>
            <a:endParaRPr sz="1100">
              <a:solidFill>
                <a:srgbClr val="000000"/>
              </a:solidFill>
              <a:latin typeface="Arial"/>
              <a:ea typeface="Arial"/>
              <a:cs typeface="Arial"/>
              <a:sym typeface="Arial"/>
            </a:endParaRPr>
          </a:p>
          <a:p>
            <a:pPr indent="0" lvl="0" marL="0" rtl="0" algn="l">
              <a:spcBef>
                <a:spcPts val="1800"/>
              </a:spcBef>
              <a:spcAft>
                <a:spcPts val="0"/>
              </a:spcAft>
              <a:buNone/>
            </a:pPr>
            <a:r>
              <a:rPr b="1" lang="en" sz="1700">
                <a:solidFill>
                  <a:srgbClr val="000000"/>
                </a:solidFill>
                <a:latin typeface="Arial"/>
                <a:ea typeface="Arial"/>
                <a:cs typeface="Arial"/>
                <a:sym typeface="Arial"/>
              </a:rPr>
              <a:t>A. Horizontal Fragmentation</a:t>
            </a:r>
            <a:endParaRPr b="1" sz="17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The </a:t>
            </a:r>
            <a:r>
              <a:rPr b="1" lang="en" sz="1100">
                <a:solidFill>
                  <a:srgbClr val="000000"/>
                </a:solidFill>
                <a:latin typeface="Arial"/>
                <a:ea typeface="Arial"/>
                <a:cs typeface="Arial"/>
                <a:sym typeface="Arial"/>
              </a:rPr>
              <a:t>rows</a:t>
            </a:r>
            <a:r>
              <a:rPr lang="en" sz="1100">
                <a:solidFill>
                  <a:srgbClr val="000000"/>
                </a:solidFill>
                <a:latin typeface="Arial"/>
                <a:ea typeface="Arial"/>
                <a:cs typeface="Arial"/>
                <a:sym typeface="Arial"/>
              </a:rPr>
              <a:t> (tuples) of the table are divided.</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Each fragment contains </a:t>
            </a:r>
            <a:r>
              <a:rPr b="1" lang="en" sz="1100">
                <a:solidFill>
                  <a:srgbClr val="000000"/>
                </a:solidFill>
                <a:latin typeface="Arial"/>
                <a:ea typeface="Arial"/>
                <a:cs typeface="Arial"/>
                <a:sym typeface="Arial"/>
              </a:rPr>
              <a:t>some tuples</a:t>
            </a:r>
            <a:r>
              <a:rPr lang="en" sz="1100">
                <a:solidFill>
                  <a:srgbClr val="000000"/>
                </a:solidFill>
                <a:latin typeface="Arial"/>
                <a:ea typeface="Arial"/>
                <a:cs typeface="Arial"/>
                <a:sym typeface="Arial"/>
              </a:rPr>
              <a:t>, based on a condition.</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The original table can be reconstructed by </a:t>
            </a:r>
            <a:r>
              <a:rPr b="1" lang="en" sz="1100">
                <a:solidFill>
                  <a:srgbClr val="000000"/>
                </a:solidFill>
                <a:latin typeface="Arial"/>
                <a:ea typeface="Arial"/>
                <a:cs typeface="Arial"/>
                <a:sym typeface="Arial"/>
              </a:rPr>
              <a:t>union</a:t>
            </a:r>
            <a:r>
              <a:rPr lang="en" sz="1100">
                <a:solidFill>
                  <a:srgbClr val="000000"/>
                </a:solidFill>
                <a:latin typeface="Arial"/>
                <a:ea typeface="Arial"/>
                <a:cs typeface="Arial"/>
                <a:sym typeface="Arial"/>
              </a:rPr>
              <a:t> of fragments.</a:t>
            </a: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72"/>
          <p:cNvSpPr txBox="1"/>
          <p:nvPr>
            <p:ph idx="1" type="body"/>
          </p:nvPr>
        </p:nvSpPr>
        <p:spPr>
          <a:xfrm>
            <a:off x="311700" y="456975"/>
            <a:ext cx="8520600" cy="41121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None/>
            </a:pPr>
            <a:r>
              <a:rPr b="1" lang="en" sz="1300">
                <a:solidFill>
                  <a:srgbClr val="000000"/>
                </a:solidFill>
                <a:latin typeface="Arial"/>
                <a:ea typeface="Arial"/>
                <a:cs typeface="Arial"/>
                <a:sym typeface="Arial"/>
              </a:rPr>
              <a:t>Example:</a:t>
            </a:r>
            <a:endParaRPr b="1" sz="13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A bank’s </a:t>
            </a:r>
            <a:r>
              <a:rPr b="1" lang="en" sz="1100">
                <a:solidFill>
                  <a:srgbClr val="000000"/>
                </a:solidFill>
                <a:latin typeface="Arial"/>
                <a:ea typeface="Arial"/>
                <a:cs typeface="Arial"/>
                <a:sym typeface="Arial"/>
              </a:rPr>
              <a:t>account</a:t>
            </a:r>
            <a:r>
              <a:rPr lang="en" sz="1100">
                <a:solidFill>
                  <a:srgbClr val="000000"/>
                </a:solidFill>
                <a:latin typeface="Arial"/>
                <a:ea typeface="Arial"/>
                <a:cs typeface="Arial"/>
                <a:sym typeface="Arial"/>
              </a:rPr>
              <a:t> table can be divided into:</a:t>
            </a:r>
            <a:endParaRPr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188038"/>
                </a:solidFill>
                <a:latin typeface="Roboto Mono"/>
                <a:ea typeface="Roboto Mono"/>
                <a:cs typeface="Roboto Mono"/>
                <a:sym typeface="Roboto Mono"/>
              </a:rPr>
              <a:t>account1 = accounts where branch = "Hillside"</a:t>
            </a:r>
            <a:br>
              <a:rPr lang="en" sz="1100">
                <a:solidFill>
                  <a:srgbClr val="188038"/>
                </a:solidFill>
                <a:latin typeface="Roboto Mono"/>
                <a:ea typeface="Roboto Mono"/>
                <a:cs typeface="Roboto Mono"/>
                <a:sym typeface="Roboto Mono"/>
              </a:rPr>
            </a:br>
            <a:endParaRPr sz="1100">
              <a:solidFill>
                <a:srgbClr val="188038"/>
              </a:solidFill>
              <a:latin typeface="Roboto Mono"/>
              <a:ea typeface="Roboto Mono"/>
              <a:cs typeface="Roboto Mono"/>
              <a:sym typeface="Roboto Mono"/>
            </a:endParaRPr>
          </a:p>
          <a:p>
            <a:pPr indent="-298450" lvl="0" marL="457200" rtl="0" algn="l">
              <a:spcBef>
                <a:spcPts val="0"/>
              </a:spcBef>
              <a:spcAft>
                <a:spcPts val="0"/>
              </a:spcAft>
              <a:buClr>
                <a:srgbClr val="000000"/>
              </a:buClr>
              <a:buSzPts val="1100"/>
              <a:buFont typeface="Arial"/>
              <a:buChar char="●"/>
            </a:pPr>
            <a:r>
              <a:rPr lang="en" sz="1100">
                <a:solidFill>
                  <a:srgbClr val="188038"/>
                </a:solidFill>
                <a:latin typeface="Roboto Mono"/>
                <a:ea typeface="Roboto Mono"/>
                <a:cs typeface="Roboto Mono"/>
                <a:sym typeface="Roboto Mono"/>
              </a:rPr>
              <a:t>account2 = accounts where branch = "Valleyview"</a:t>
            </a:r>
            <a:br>
              <a:rPr lang="en" sz="1100">
                <a:solidFill>
                  <a:srgbClr val="188038"/>
                </a:solidFill>
                <a:latin typeface="Roboto Mono"/>
                <a:ea typeface="Roboto Mono"/>
                <a:cs typeface="Roboto Mono"/>
                <a:sym typeface="Roboto Mono"/>
              </a:rPr>
            </a:br>
            <a:endParaRPr sz="1100">
              <a:solidFill>
                <a:srgbClr val="188038"/>
              </a:solidFill>
              <a:latin typeface="Roboto Mono"/>
              <a:ea typeface="Roboto Mono"/>
              <a:cs typeface="Roboto Mono"/>
              <a:sym typeface="Roboto Mono"/>
            </a:endParaRPr>
          </a:p>
          <a:p>
            <a:pPr indent="0" lvl="0" marL="0" rtl="0" algn="l">
              <a:spcBef>
                <a:spcPts val="1200"/>
              </a:spcBef>
              <a:spcAft>
                <a:spcPts val="0"/>
              </a:spcAft>
              <a:buNone/>
            </a:pPr>
            <a:r>
              <a:rPr lang="en" sz="1100">
                <a:solidFill>
                  <a:srgbClr val="000000"/>
                </a:solidFill>
                <a:latin typeface="Arial"/>
                <a:ea typeface="Arial"/>
                <a:cs typeface="Arial"/>
                <a:sym typeface="Arial"/>
              </a:rPr>
              <a:t>➡ Useful because data stays where it is used most → less data transfer.</a:t>
            </a:r>
            <a:endParaRPr sz="1100">
              <a:solidFill>
                <a:srgbClr val="000000"/>
              </a:solidFill>
              <a:latin typeface="Arial"/>
              <a:ea typeface="Arial"/>
              <a:cs typeface="Arial"/>
              <a:sym typeface="Arial"/>
            </a:endParaRPr>
          </a:p>
          <a:p>
            <a:pPr indent="0" lvl="0" marL="0" rtl="0" algn="l">
              <a:spcBef>
                <a:spcPts val="1400"/>
              </a:spcBef>
              <a:spcAft>
                <a:spcPts val="0"/>
              </a:spcAft>
              <a:buNone/>
            </a:pPr>
            <a:r>
              <a:rPr b="1" lang="en" sz="1300">
                <a:solidFill>
                  <a:srgbClr val="000000"/>
                </a:solidFill>
                <a:latin typeface="Arial"/>
                <a:ea typeface="Arial"/>
                <a:cs typeface="Arial"/>
                <a:sym typeface="Arial"/>
              </a:rPr>
              <a:t>General rule:</a:t>
            </a:r>
            <a:endParaRPr b="1" sz="13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Fragment rᵢ = Pᵢ(r)</a:t>
            </a:r>
            <a:br>
              <a:rPr lang="en" sz="1100">
                <a:solidFill>
                  <a:srgbClr val="000000"/>
                </a:solidFill>
                <a:latin typeface="Arial"/>
                <a:ea typeface="Arial"/>
                <a:cs typeface="Arial"/>
                <a:sym typeface="Arial"/>
              </a:rPr>
            </a:br>
            <a:r>
              <a:rPr lang="en" sz="1100">
                <a:solidFill>
                  <a:srgbClr val="000000"/>
                </a:solidFill>
                <a:latin typeface="Arial"/>
                <a:ea typeface="Arial"/>
                <a:cs typeface="Arial"/>
                <a:sym typeface="Arial"/>
              </a:rPr>
              <a:t> (where Pᵢ is a selection predicate)</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Reconstruction:</a:t>
            </a:r>
            <a:br>
              <a:rPr lang="en" sz="1100">
                <a:solidFill>
                  <a:srgbClr val="000000"/>
                </a:solidFill>
                <a:latin typeface="Arial"/>
                <a:ea typeface="Arial"/>
                <a:cs typeface="Arial"/>
                <a:sym typeface="Arial"/>
              </a:rPr>
            </a:br>
            <a:r>
              <a:rPr lang="en" sz="1100">
                <a:solidFill>
                  <a:srgbClr val="000000"/>
                </a:solidFill>
                <a:latin typeface="Arial"/>
                <a:ea typeface="Arial"/>
                <a:cs typeface="Arial"/>
                <a:sym typeface="Arial"/>
              </a:rPr>
              <a:t> r = r₁ ∪ r₂ ∪ … ∪ rₙ</a:t>
            </a: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73"/>
          <p:cNvSpPr txBox="1"/>
          <p:nvPr>
            <p:ph idx="1" type="body"/>
          </p:nvPr>
        </p:nvSpPr>
        <p:spPr>
          <a:xfrm>
            <a:off x="311700" y="318800"/>
            <a:ext cx="8520600" cy="4250100"/>
          </a:xfrm>
          <a:prstGeom prst="rect">
            <a:avLst/>
          </a:prstGeom>
        </p:spPr>
        <p:txBody>
          <a:bodyPr anchorCtr="0" anchor="t" bIns="91425" lIns="91425" spcFirstLastPara="1" rIns="91425" wrap="square" tIns="91425">
            <a:normAutofit fontScale="92500" lnSpcReduction="20000"/>
          </a:bodyPr>
          <a:lstStyle/>
          <a:p>
            <a:pPr indent="0" lvl="0" marL="0" rtl="0" algn="l">
              <a:spcBef>
                <a:spcPts val="1800"/>
              </a:spcBef>
              <a:spcAft>
                <a:spcPts val="0"/>
              </a:spcAft>
              <a:buNone/>
            </a:pPr>
            <a:r>
              <a:rPr b="1" lang="en" sz="1700">
                <a:solidFill>
                  <a:srgbClr val="000000"/>
                </a:solidFill>
                <a:latin typeface="Arial"/>
                <a:ea typeface="Arial"/>
                <a:cs typeface="Arial"/>
                <a:sym typeface="Arial"/>
              </a:rPr>
              <a:t> B. Vertical Fragmentation</a:t>
            </a:r>
            <a:endParaRPr b="1" sz="1700">
              <a:solidFill>
                <a:srgbClr val="000000"/>
              </a:solidFill>
              <a:latin typeface="Arial"/>
              <a:ea typeface="Arial"/>
              <a:cs typeface="Arial"/>
              <a:sym typeface="Arial"/>
            </a:endParaRPr>
          </a:p>
          <a:p>
            <a:pPr indent="-293211" lvl="0" marL="457200" rtl="0" algn="l">
              <a:spcBef>
                <a:spcPts val="1200"/>
              </a:spcBef>
              <a:spcAft>
                <a:spcPts val="0"/>
              </a:spcAft>
              <a:buClr>
                <a:srgbClr val="000000"/>
              </a:buClr>
              <a:buSzPct val="100000"/>
              <a:buFont typeface="Arial"/>
              <a:buChar char="●"/>
            </a:pPr>
            <a:r>
              <a:rPr lang="en" sz="1100">
                <a:solidFill>
                  <a:srgbClr val="000000"/>
                </a:solidFill>
                <a:latin typeface="Arial"/>
                <a:ea typeface="Arial"/>
                <a:cs typeface="Arial"/>
                <a:sym typeface="Arial"/>
              </a:rPr>
              <a:t>The </a:t>
            </a:r>
            <a:r>
              <a:rPr b="1" lang="en" sz="1100">
                <a:solidFill>
                  <a:srgbClr val="000000"/>
                </a:solidFill>
                <a:latin typeface="Arial"/>
                <a:ea typeface="Arial"/>
                <a:cs typeface="Arial"/>
                <a:sym typeface="Arial"/>
              </a:rPr>
              <a:t>columns</a:t>
            </a:r>
            <a:r>
              <a:rPr lang="en" sz="1100">
                <a:solidFill>
                  <a:srgbClr val="000000"/>
                </a:solidFill>
                <a:latin typeface="Arial"/>
                <a:ea typeface="Arial"/>
                <a:cs typeface="Arial"/>
                <a:sym typeface="Arial"/>
              </a:rPr>
              <a:t> (attributes) of the table are divided.</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3211" lvl="0" marL="457200" rtl="0" algn="l">
              <a:spcBef>
                <a:spcPts val="0"/>
              </a:spcBef>
              <a:spcAft>
                <a:spcPts val="0"/>
              </a:spcAft>
              <a:buClr>
                <a:srgbClr val="000000"/>
              </a:buClr>
              <a:buSzPct val="100000"/>
              <a:buFont typeface="Arial"/>
              <a:buChar char="●"/>
            </a:pPr>
            <a:r>
              <a:rPr lang="en" sz="1100">
                <a:solidFill>
                  <a:srgbClr val="000000"/>
                </a:solidFill>
                <a:latin typeface="Arial"/>
                <a:ea typeface="Arial"/>
                <a:cs typeface="Arial"/>
                <a:sym typeface="Arial"/>
              </a:rPr>
              <a:t>Each fragment contains </a:t>
            </a:r>
            <a:r>
              <a:rPr b="1" lang="en" sz="1100">
                <a:solidFill>
                  <a:srgbClr val="000000"/>
                </a:solidFill>
                <a:latin typeface="Arial"/>
                <a:ea typeface="Arial"/>
                <a:cs typeface="Arial"/>
                <a:sym typeface="Arial"/>
              </a:rPr>
              <a:t>some attributes</a:t>
            </a:r>
            <a:r>
              <a:rPr lang="en" sz="1100">
                <a:solidFill>
                  <a:srgbClr val="000000"/>
                </a:solidFill>
                <a:latin typeface="Arial"/>
                <a:ea typeface="Arial"/>
                <a:cs typeface="Arial"/>
                <a:sym typeface="Arial"/>
              </a:rPr>
              <a:t>.</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3211" lvl="0" marL="457200" rtl="0" algn="l">
              <a:spcBef>
                <a:spcPts val="0"/>
              </a:spcBef>
              <a:spcAft>
                <a:spcPts val="0"/>
              </a:spcAft>
              <a:buClr>
                <a:srgbClr val="000000"/>
              </a:buClr>
              <a:buSzPct val="100000"/>
              <a:buFont typeface="Arial"/>
              <a:buChar char="●"/>
            </a:pPr>
            <a:r>
              <a:rPr lang="en" sz="1100">
                <a:solidFill>
                  <a:srgbClr val="000000"/>
                </a:solidFill>
                <a:latin typeface="Arial"/>
                <a:ea typeface="Arial"/>
                <a:cs typeface="Arial"/>
                <a:sym typeface="Arial"/>
              </a:rPr>
              <a:t>To reconstruct the table, we use a </a:t>
            </a:r>
            <a:r>
              <a:rPr b="1" lang="en" sz="1100">
                <a:solidFill>
                  <a:srgbClr val="000000"/>
                </a:solidFill>
                <a:latin typeface="Arial"/>
                <a:ea typeface="Arial"/>
                <a:cs typeface="Arial"/>
                <a:sym typeface="Arial"/>
              </a:rPr>
              <a:t>natural join</a:t>
            </a:r>
            <a:r>
              <a:rPr lang="en" sz="1100">
                <a:solidFill>
                  <a:srgbClr val="000000"/>
                </a:solidFill>
                <a:latin typeface="Arial"/>
                <a:ea typeface="Arial"/>
                <a:cs typeface="Arial"/>
                <a:sym typeface="Arial"/>
              </a:rPr>
              <a:t> on a common key.</a:t>
            </a:r>
            <a:endParaRPr sz="1100">
              <a:solidFill>
                <a:srgbClr val="000000"/>
              </a:solidFill>
              <a:latin typeface="Arial"/>
              <a:ea typeface="Arial"/>
              <a:cs typeface="Arial"/>
              <a:sym typeface="Arial"/>
            </a:endParaRPr>
          </a:p>
          <a:p>
            <a:pPr indent="0" lvl="0" marL="0" rtl="0" algn="l">
              <a:spcBef>
                <a:spcPts val="1400"/>
              </a:spcBef>
              <a:spcAft>
                <a:spcPts val="0"/>
              </a:spcAft>
              <a:buNone/>
            </a:pPr>
            <a:r>
              <a:rPr b="1" lang="en" sz="1300">
                <a:solidFill>
                  <a:srgbClr val="000000"/>
                </a:solidFill>
                <a:latin typeface="Arial"/>
                <a:ea typeface="Arial"/>
                <a:cs typeface="Arial"/>
                <a:sym typeface="Arial"/>
              </a:rPr>
              <a:t>Example:</a:t>
            </a:r>
            <a:endParaRPr b="1" sz="13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Employee table:</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 employee_id | name | designation | salary |</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To protect salary information, create:</a:t>
            </a:r>
            <a:endParaRPr sz="1100">
              <a:solidFill>
                <a:srgbClr val="000000"/>
              </a:solidFill>
              <a:latin typeface="Arial"/>
              <a:ea typeface="Arial"/>
              <a:cs typeface="Arial"/>
              <a:sym typeface="Arial"/>
            </a:endParaRPr>
          </a:p>
          <a:p>
            <a:pPr indent="-293211" lvl="0" marL="457200" rtl="0" algn="l">
              <a:spcBef>
                <a:spcPts val="1200"/>
              </a:spcBef>
              <a:spcAft>
                <a:spcPts val="0"/>
              </a:spcAft>
              <a:buClr>
                <a:srgbClr val="000000"/>
              </a:buClr>
              <a:buSzPct val="100000"/>
              <a:buFont typeface="Arial"/>
              <a:buAutoNum type="arabicPeriod"/>
            </a:pPr>
            <a:r>
              <a:rPr b="1" lang="en" sz="1100">
                <a:solidFill>
                  <a:srgbClr val="000000"/>
                </a:solidFill>
                <a:latin typeface="Arial"/>
                <a:ea typeface="Arial"/>
                <a:cs typeface="Arial"/>
                <a:sym typeface="Arial"/>
              </a:rPr>
              <a:t>employee_private_info</a:t>
            </a:r>
            <a:r>
              <a:rPr lang="en" sz="1100">
                <a:solidFill>
                  <a:srgbClr val="000000"/>
                </a:solidFill>
                <a:latin typeface="Arial"/>
                <a:ea typeface="Arial"/>
                <a:cs typeface="Arial"/>
                <a:sym typeface="Arial"/>
              </a:rPr>
              <a:t> → (employee_id, salary)</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3211" lvl="0" marL="457200" rtl="0" algn="l">
              <a:spcBef>
                <a:spcPts val="0"/>
              </a:spcBef>
              <a:spcAft>
                <a:spcPts val="0"/>
              </a:spcAft>
              <a:buClr>
                <a:srgbClr val="000000"/>
              </a:buClr>
              <a:buSzPct val="100000"/>
              <a:buFont typeface="Arial"/>
              <a:buAutoNum type="arabicPeriod"/>
            </a:pPr>
            <a:r>
              <a:rPr b="1" lang="en" sz="1100">
                <a:solidFill>
                  <a:srgbClr val="000000"/>
                </a:solidFill>
                <a:latin typeface="Arial"/>
                <a:ea typeface="Arial"/>
                <a:cs typeface="Arial"/>
                <a:sym typeface="Arial"/>
              </a:rPr>
              <a:t>employee_public_info</a:t>
            </a:r>
            <a:r>
              <a:rPr lang="en" sz="1100">
                <a:solidFill>
                  <a:srgbClr val="000000"/>
                </a:solidFill>
                <a:latin typeface="Arial"/>
                <a:ea typeface="Arial"/>
                <a:cs typeface="Arial"/>
                <a:sym typeface="Arial"/>
              </a:rPr>
              <a:t> → (employee_id, name, designation)</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Both have </a:t>
            </a:r>
            <a:r>
              <a:rPr b="1" lang="en" sz="1100">
                <a:solidFill>
                  <a:srgbClr val="000000"/>
                </a:solidFill>
                <a:latin typeface="Arial"/>
                <a:ea typeface="Arial"/>
                <a:cs typeface="Arial"/>
                <a:sym typeface="Arial"/>
              </a:rPr>
              <a:t>employee_id</a:t>
            </a:r>
            <a:r>
              <a:rPr lang="en" sz="1100">
                <a:solidFill>
                  <a:srgbClr val="000000"/>
                </a:solidFill>
                <a:latin typeface="Arial"/>
                <a:ea typeface="Arial"/>
                <a:cs typeface="Arial"/>
                <a:sym typeface="Arial"/>
              </a:rPr>
              <a:t> as common key.</a:t>
            </a:r>
            <a:endParaRPr sz="1100">
              <a:solidFill>
                <a:srgbClr val="000000"/>
              </a:solidFill>
              <a:latin typeface="Arial"/>
              <a:ea typeface="Arial"/>
              <a:cs typeface="Arial"/>
              <a:sym typeface="Arial"/>
            </a:endParaRPr>
          </a:p>
          <a:p>
            <a:pPr indent="0" lvl="0" marL="0" rtl="0" algn="l">
              <a:spcBef>
                <a:spcPts val="1200"/>
              </a:spcBef>
              <a:spcAft>
                <a:spcPts val="1200"/>
              </a:spcAft>
              <a:buNone/>
            </a:pPr>
            <a:r>
              <a:rPr lang="en" sz="1100">
                <a:solidFill>
                  <a:srgbClr val="000000"/>
                </a:solidFill>
                <a:latin typeface="Arial"/>
                <a:ea typeface="Arial"/>
                <a:cs typeface="Arial"/>
                <a:sym typeface="Arial"/>
              </a:rPr>
              <a:t>➡ Reconstruction:</a:t>
            </a:r>
            <a:br>
              <a:rPr lang="en" sz="1100">
                <a:solidFill>
                  <a:srgbClr val="000000"/>
                </a:solidFill>
                <a:latin typeface="Arial"/>
                <a:ea typeface="Arial"/>
                <a:cs typeface="Arial"/>
                <a:sym typeface="Arial"/>
              </a:rPr>
            </a:br>
            <a:r>
              <a:rPr lang="en" sz="1100">
                <a:solidFill>
                  <a:srgbClr val="000000"/>
                </a:solidFill>
                <a:latin typeface="Arial"/>
                <a:ea typeface="Arial"/>
                <a:cs typeface="Arial"/>
                <a:sym typeface="Arial"/>
              </a:rPr>
              <a:t> employee_info = employee_private_info ⨝ employee_public_info</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74"/>
          <p:cNvSpPr txBox="1"/>
          <p:nvPr>
            <p:ph idx="1" type="body"/>
          </p:nvPr>
        </p:nvSpPr>
        <p:spPr>
          <a:xfrm>
            <a:off x="311700" y="680125"/>
            <a:ext cx="8520600" cy="38889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None/>
            </a:pPr>
            <a:r>
              <a:rPr b="1" lang="en" sz="1300">
                <a:solidFill>
                  <a:srgbClr val="000000"/>
                </a:solidFill>
                <a:latin typeface="Arial"/>
                <a:ea typeface="Arial"/>
                <a:cs typeface="Arial"/>
                <a:sym typeface="Arial"/>
              </a:rPr>
              <a:t>Combining Fragmentation + Replication</a:t>
            </a:r>
            <a:endParaRPr b="1" sz="1300">
              <a:solidFill>
                <a:srgbClr val="000000"/>
              </a:solidFill>
              <a:latin typeface="Arial"/>
              <a:ea typeface="Arial"/>
              <a:cs typeface="Arial"/>
              <a:sym typeface="Arial"/>
            </a:endParaRPr>
          </a:p>
          <a:p>
            <a:pPr indent="0" lvl="0" marL="0" rtl="0" algn="l">
              <a:spcBef>
                <a:spcPts val="1200"/>
              </a:spcBef>
              <a:spcAft>
                <a:spcPts val="0"/>
              </a:spcAft>
              <a:buNone/>
            </a:pPr>
            <a:r>
              <a:rPr lang="en" sz="1300">
                <a:solidFill>
                  <a:srgbClr val="000000"/>
                </a:solidFill>
                <a:latin typeface="Arial"/>
                <a:ea typeface="Arial"/>
                <a:cs typeface="Arial"/>
                <a:sym typeface="Arial"/>
              </a:rPr>
              <a:t>(used in real systems)</a:t>
            </a:r>
            <a:endParaRPr sz="1300">
              <a:solidFill>
                <a:srgbClr val="000000"/>
              </a:solidFill>
              <a:latin typeface="Arial"/>
              <a:ea typeface="Arial"/>
              <a:cs typeface="Arial"/>
              <a:sym typeface="Arial"/>
            </a:endParaRPr>
          </a:p>
          <a:p>
            <a:pPr indent="-311150" lvl="0" marL="457200" rtl="0" algn="l">
              <a:spcBef>
                <a:spcPts val="1200"/>
              </a:spcBef>
              <a:spcAft>
                <a:spcPts val="0"/>
              </a:spcAft>
              <a:buClr>
                <a:srgbClr val="000000"/>
              </a:buClr>
              <a:buSzPts val="1300"/>
              <a:buFont typeface="Arial"/>
              <a:buChar char="●"/>
            </a:pPr>
            <a:r>
              <a:rPr lang="en" sz="1300">
                <a:solidFill>
                  <a:srgbClr val="000000"/>
                </a:solidFill>
                <a:latin typeface="Arial"/>
                <a:ea typeface="Arial"/>
                <a:cs typeface="Arial"/>
                <a:sym typeface="Arial"/>
              </a:rPr>
              <a:t>First horizontally fragment the table by branches.</a:t>
            </a:r>
            <a:br>
              <a:rPr lang="en" sz="1300">
                <a:solidFill>
                  <a:srgbClr val="000000"/>
                </a:solidFill>
                <a:latin typeface="Arial"/>
                <a:ea typeface="Arial"/>
                <a:cs typeface="Arial"/>
                <a:sym typeface="Arial"/>
              </a:rPr>
            </a:br>
            <a:endParaRPr sz="1300">
              <a:solidFill>
                <a:srgbClr val="000000"/>
              </a:solidFill>
              <a:latin typeface="Arial"/>
              <a:ea typeface="Arial"/>
              <a:cs typeface="Arial"/>
              <a:sym typeface="Arial"/>
            </a:endParaRPr>
          </a:p>
          <a:p>
            <a:pPr indent="-311150" lvl="0" marL="457200" rtl="0" algn="l">
              <a:spcBef>
                <a:spcPts val="0"/>
              </a:spcBef>
              <a:spcAft>
                <a:spcPts val="0"/>
              </a:spcAft>
              <a:buClr>
                <a:srgbClr val="000000"/>
              </a:buClr>
              <a:buSzPts val="1300"/>
              <a:buFont typeface="Arial"/>
              <a:buChar char="●"/>
            </a:pPr>
            <a:r>
              <a:rPr lang="en" sz="1300">
                <a:solidFill>
                  <a:srgbClr val="000000"/>
                </a:solidFill>
                <a:latin typeface="Arial"/>
                <a:ea typeface="Arial"/>
                <a:cs typeface="Arial"/>
                <a:sym typeface="Arial"/>
              </a:rPr>
              <a:t>Then replicate each fragment at two nearby sites.</a:t>
            </a:r>
            <a:endParaRPr sz="1300">
              <a:solidFill>
                <a:srgbClr val="000000"/>
              </a:solidFill>
              <a:latin typeface="Arial"/>
              <a:ea typeface="Arial"/>
              <a:cs typeface="Arial"/>
              <a:sym typeface="Arial"/>
            </a:endParaRPr>
          </a:p>
          <a:p>
            <a:pPr indent="0" lvl="0" marL="0" rtl="0" algn="l">
              <a:spcBef>
                <a:spcPts val="1200"/>
              </a:spcBef>
              <a:spcAft>
                <a:spcPts val="0"/>
              </a:spcAft>
              <a:buNone/>
            </a:pPr>
            <a:r>
              <a:rPr lang="en" sz="1300">
                <a:solidFill>
                  <a:srgbClr val="000000"/>
                </a:solidFill>
                <a:latin typeface="Arial"/>
                <a:ea typeface="Arial"/>
                <a:cs typeface="Arial"/>
                <a:sym typeface="Arial"/>
              </a:rPr>
              <a:t>This gives:</a:t>
            </a:r>
            <a:br>
              <a:rPr lang="en" sz="1300">
                <a:solidFill>
                  <a:srgbClr val="000000"/>
                </a:solidFill>
                <a:latin typeface="Arial"/>
                <a:ea typeface="Arial"/>
                <a:cs typeface="Arial"/>
                <a:sym typeface="Arial"/>
              </a:rPr>
            </a:br>
            <a:r>
              <a:rPr lang="en" sz="1300">
                <a:solidFill>
                  <a:srgbClr val="000000"/>
                </a:solidFill>
                <a:latin typeface="Arial"/>
                <a:ea typeface="Arial"/>
                <a:cs typeface="Arial"/>
                <a:sym typeface="Arial"/>
              </a:rPr>
              <a:t> faster access</a:t>
            </a:r>
            <a:br>
              <a:rPr lang="en" sz="1300">
                <a:solidFill>
                  <a:srgbClr val="000000"/>
                </a:solidFill>
                <a:latin typeface="Arial"/>
                <a:ea typeface="Arial"/>
                <a:cs typeface="Arial"/>
                <a:sym typeface="Arial"/>
              </a:rPr>
            </a:br>
            <a:r>
              <a:rPr lang="en" sz="1300">
                <a:solidFill>
                  <a:srgbClr val="000000"/>
                </a:solidFill>
                <a:latin typeface="Arial"/>
                <a:ea typeface="Arial"/>
                <a:cs typeface="Arial"/>
                <a:sym typeface="Arial"/>
              </a:rPr>
              <a:t> fault tolerance</a:t>
            </a:r>
            <a:br>
              <a:rPr lang="en" sz="1300">
                <a:solidFill>
                  <a:srgbClr val="000000"/>
                </a:solidFill>
                <a:latin typeface="Arial"/>
                <a:ea typeface="Arial"/>
                <a:cs typeface="Arial"/>
                <a:sym typeface="Arial"/>
              </a:rPr>
            </a:br>
            <a:r>
              <a:rPr lang="en" sz="1300">
                <a:solidFill>
                  <a:srgbClr val="000000"/>
                </a:solidFill>
                <a:latin typeface="Arial"/>
                <a:ea typeface="Arial"/>
                <a:cs typeface="Arial"/>
                <a:sym typeface="Arial"/>
              </a:rPr>
              <a:t> flexibility</a:t>
            </a:r>
            <a:endParaRPr sz="13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75"/>
          <p:cNvSpPr txBox="1"/>
          <p:nvPr>
            <p:ph idx="1" type="body"/>
          </p:nvPr>
        </p:nvSpPr>
        <p:spPr>
          <a:xfrm>
            <a:off x="311700" y="520725"/>
            <a:ext cx="8520600" cy="4048200"/>
          </a:xfrm>
          <a:prstGeom prst="rect">
            <a:avLst/>
          </a:prstGeom>
        </p:spPr>
        <p:txBody>
          <a:bodyPr anchorCtr="0" anchor="t" bIns="91425" lIns="91425" spcFirstLastPara="1" rIns="91425" wrap="square" tIns="91425">
            <a:normAutofit/>
          </a:bodyPr>
          <a:lstStyle/>
          <a:p>
            <a:pPr indent="0" lvl="0" marL="0" rtl="0" algn="l">
              <a:spcBef>
                <a:spcPts val="2400"/>
              </a:spcBef>
              <a:spcAft>
                <a:spcPts val="0"/>
              </a:spcAft>
              <a:buNone/>
            </a:pPr>
            <a:r>
              <a:rPr b="1" lang="en" sz="2300">
                <a:solidFill>
                  <a:srgbClr val="000000"/>
                </a:solidFill>
                <a:latin typeface="Arial"/>
                <a:ea typeface="Arial"/>
                <a:cs typeface="Arial"/>
                <a:sym typeface="Arial"/>
              </a:rPr>
              <a:t>3. Data Transparency </a:t>
            </a:r>
            <a:endParaRPr b="1" sz="23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Users </a:t>
            </a:r>
            <a:r>
              <a:rPr b="1" lang="en" sz="1100">
                <a:solidFill>
                  <a:srgbClr val="000000"/>
                </a:solidFill>
                <a:latin typeface="Arial"/>
                <a:ea typeface="Arial"/>
                <a:cs typeface="Arial"/>
                <a:sym typeface="Arial"/>
              </a:rPr>
              <a:t>should not know</a:t>
            </a:r>
            <a:r>
              <a:rPr lang="en" sz="1100">
                <a:solidFill>
                  <a:srgbClr val="000000"/>
                </a:solidFill>
                <a:latin typeface="Arial"/>
                <a:ea typeface="Arial"/>
                <a:cs typeface="Arial"/>
                <a:sym typeface="Arial"/>
              </a:rPr>
              <a:t> or </a:t>
            </a:r>
            <a:r>
              <a:rPr b="1" lang="en" sz="1100">
                <a:solidFill>
                  <a:srgbClr val="000000"/>
                </a:solidFill>
                <a:latin typeface="Arial"/>
                <a:ea typeface="Arial"/>
                <a:cs typeface="Arial"/>
                <a:sym typeface="Arial"/>
              </a:rPr>
              <a:t>worry about</a:t>
            </a:r>
            <a:r>
              <a:rPr lang="en" sz="1100">
                <a:solidFill>
                  <a:srgbClr val="000000"/>
                </a:solidFill>
                <a:latin typeface="Arial"/>
                <a:ea typeface="Arial"/>
                <a:cs typeface="Arial"/>
                <a:sym typeface="Arial"/>
              </a:rPr>
              <a:t> where data is stored physically.</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This is called </a:t>
            </a:r>
            <a:r>
              <a:rPr b="1" lang="en" sz="1100">
                <a:solidFill>
                  <a:srgbClr val="000000"/>
                </a:solidFill>
                <a:latin typeface="Arial"/>
                <a:ea typeface="Arial"/>
                <a:cs typeface="Arial"/>
                <a:sym typeface="Arial"/>
              </a:rPr>
              <a:t>data transparency</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It has </a:t>
            </a:r>
            <a:r>
              <a:rPr b="1" lang="en" sz="1100">
                <a:solidFill>
                  <a:srgbClr val="000000"/>
                </a:solidFill>
                <a:latin typeface="Arial"/>
                <a:ea typeface="Arial"/>
                <a:cs typeface="Arial"/>
                <a:sym typeface="Arial"/>
              </a:rPr>
              <a:t>3 types</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0" rtl="0" algn="l">
              <a:spcBef>
                <a:spcPts val="1800"/>
              </a:spcBef>
              <a:spcAft>
                <a:spcPts val="0"/>
              </a:spcAft>
              <a:buNone/>
            </a:pPr>
            <a:r>
              <a:rPr b="1" lang="en" sz="1700">
                <a:solidFill>
                  <a:srgbClr val="000000"/>
                </a:solidFill>
                <a:latin typeface="Arial"/>
                <a:ea typeface="Arial"/>
                <a:cs typeface="Arial"/>
                <a:sym typeface="Arial"/>
              </a:rPr>
              <a:t>A. Fragmentation Transparency</a:t>
            </a:r>
            <a:endParaRPr b="1" sz="17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User does not need to know:</a:t>
            </a:r>
            <a:endParaRPr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how a table is fragmented,</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how many fragments exist,</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where they are stored.</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User simply writes:</a:t>
            </a:r>
            <a:endParaRPr sz="1100">
              <a:solidFill>
                <a:srgbClr val="000000"/>
              </a:solidFill>
              <a:latin typeface="Arial"/>
              <a:ea typeface="Arial"/>
              <a:cs typeface="Arial"/>
              <a:sym typeface="Arial"/>
            </a:endParaRPr>
          </a:p>
          <a:p>
            <a:pPr indent="0" lvl="0" marL="0" rtl="0" algn="l">
              <a:spcBef>
                <a:spcPts val="1200"/>
              </a:spcBef>
              <a:spcAft>
                <a:spcPts val="1200"/>
              </a:spcAft>
              <a:buNone/>
            </a:pPr>
            <a:r>
              <a:rPr lang="en"/>
              <a:t>SELECT * FROM account;</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76"/>
          <p:cNvSpPr txBox="1"/>
          <p:nvPr>
            <p:ph idx="1" type="body"/>
          </p:nvPr>
        </p:nvSpPr>
        <p:spPr>
          <a:xfrm>
            <a:off x="311700" y="616375"/>
            <a:ext cx="8520600" cy="3952800"/>
          </a:xfrm>
          <a:prstGeom prst="rect">
            <a:avLst/>
          </a:prstGeom>
        </p:spPr>
        <p:txBody>
          <a:bodyPr anchorCtr="0" anchor="t" bIns="91425" lIns="91425" spcFirstLastPara="1" rIns="91425" wrap="square" tIns="91425">
            <a:normAutofit/>
          </a:bodyPr>
          <a:lstStyle/>
          <a:p>
            <a:pPr indent="0" lvl="0" marL="0" rtl="0" algn="l">
              <a:spcBef>
                <a:spcPts val="1800"/>
              </a:spcBef>
              <a:spcAft>
                <a:spcPts val="0"/>
              </a:spcAft>
              <a:buNone/>
            </a:pPr>
            <a:r>
              <a:rPr b="1" lang="en" sz="1700">
                <a:solidFill>
                  <a:srgbClr val="000000"/>
                </a:solidFill>
                <a:latin typeface="Arial"/>
                <a:ea typeface="Arial"/>
                <a:cs typeface="Arial"/>
                <a:sym typeface="Arial"/>
              </a:rPr>
              <a:t>B. Replication Transparency</a:t>
            </a:r>
            <a:endParaRPr b="1" sz="17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User does not know how many replicas exist.</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System:</a:t>
            </a:r>
            <a:endParaRPr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chooses nearest replica for read,</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updates all replicas on write.</a:t>
            </a:r>
            <a:endParaRPr sz="1100">
              <a:solidFill>
                <a:srgbClr val="000000"/>
              </a:solidFill>
              <a:latin typeface="Arial"/>
              <a:ea typeface="Arial"/>
              <a:cs typeface="Arial"/>
              <a:sym typeface="Arial"/>
            </a:endParaRPr>
          </a:p>
          <a:p>
            <a:pPr indent="0" lvl="0" marL="0" rtl="0" algn="l">
              <a:spcBef>
                <a:spcPts val="1800"/>
              </a:spcBef>
              <a:spcAft>
                <a:spcPts val="0"/>
              </a:spcAft>
              <a:buNone/>
            </a:pPr>
            <a:r>
              <a:rPr b="1" lang="en" sz="1700">
                <a:solidFill>
                  <a:srgbClr val="000000"/>
                </a:solidFill>
                <a:latin typeface="Arial"/>
                <a:ea typeface="Arial"/>
                <a:cs typeface="Arial"/>
                <a:sym typeface="Arial"/>
              </a:rPr>
              <a:t>C. Location Transparency</a:t>
            </a:r>
            <a:endParaRPr b="1" sz="17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User does not care where data physically resides.</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User simply refers to table name:</a:t>
            </a:r>
            <a:endParaRPr sz="1100">
              <a:solidFill>
                <a:srgbClr val="000000"/>
              </a:solidFill>
              <a:latin typeface="Arial"/>
              <a:ea typeface="Arial"/>
              <a:cs typeface="Arial"/>
              <a:sym typeface="Arial"/>
            </a:endParaRPr>
          </a:p>
          <a:p>
            <a:pPr indent="0" lvl="0" marL="0" rtl="0" algn="l">
              <a:spcBef>
                <a:spcPts val="1200"/>
              </a:spcBef>
              <a:spcAft>
                <a:spcPts val="1200"/>
              </a:spcAft>
              <a:buNone/>
            </a:pPr>
            <a:r>
              <a:rPr lang="en"/>
              <a:t>SELECT * FROM employee;</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77"/>
          <p:cNvSpPr txBox="1"/>
          <p:nvPr>
            <p:ph idx="1" type="body"/>
          </p:nvPr>
        </p:nvSpPr>
        <p:spPr>
          <a:xfrm>
            <a:off x="311700" y="573850"/>
            <a:ext cx="8520600" cy="3995100"/>
          </a:xfrm>
          <a:prstGeom prst="rect">
            <a:avLst/>
          </a:prstGeom>
        </p:spPr>
        <p:txBody>
          <a:bodyPr anchorCtr="0" anchor="t" bIns="91425" lIns="91425" spcFirstLastPara="1" rIns="91425" wrap="square" tIns="91425">
            <a:normAutofit/>
          </a:bodyPr>
          <a:lstStyle/>
          <a:p>
            <a:pPr indent="0" lvl="0" marL="0" rtl="0" algn="l">
              <a:spcBef>
                <a:spcPts val="2400"/>
              </a:spcBef>
              <a:spcAft>
                <a:spcPts val="0"/>
              </a:spcAft>
              <a:buNone/>
            </a:pPr>
            <a:r>
              <a:rPr b="1" lang="en" sz="2300">
                <a:solidFill>
                  <a:srgbClr val="000000"/>
                </a:solidFill>
                <a:latin typeface="Arial"/>
                <a:ea typeface="Arial"/>
                <a:cs typeface="Arial"/>
                <a:sym typeface="Arial"/>
              </a:rPr>
              <a:t>Naming Problem in Distributed Databases</a:t>
            </a:r>
            <a:endParaRPr b="1" sz="23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Different sites might accidentally use the same name for different data.</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Two solutions:</a:t>
            </a:r>
            <a:endParaRPr sz="1100">
              <a:solidFill>
                <a:srgbClr val="000000"/>
              </a:solidFill>
              <a:latin typeface="Arial"/>
              <a:ea typeface="Arial"/>
              <a:cs typeface="Arial"/>
              <a:sym typeface="Arial"/>
            </a:endParaRPr>
          </a:p>
          <a:p>
            <a:pPr indent="0" lvl="0" marL="0" rtl="0" algn="l">
              <a:spcBef>
                <a:spcPts val="1400"/>
              </a:spcBef>
              <a:spcAft>
                <a:spcPts val="0"/>
              </a:spcAft>
              <a:buNone/>
            </a:pPr>
            <a:r>
              <a:rPr b="1" lang="en" sz="1300">
                <a:solidFill>
                  <a:srgbClr val="000000"/>
                </a:solidFill>
                <a:latin typeface="Arial"/>
                <a:ea typeface="Arial"/>
                <a:cs typeface="Arial"/>
                <a:sym typeface="Arial"/>
              </a:rPr>
              <a:t>1. Central Name Server</a:t>
            </a:r>
            <a:endParaRPr b="1" sz="13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All names must be registered centrally.</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Issues:</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Single point of failure</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Performance bottleneck</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78"/>
          <p:cNvSpPr txBox="1"/>
          <p:nvPr>
            <p:ph idx="1" type="body"/>
          </p:nvPr>
        </p:nvSpPr>
        <p:spPr>
          <a:xfrm>
            <a:off x="311700" y="414450"/>
            <a:ext cx="8520600" cy="4378500"/>
          </a:xfrm>
          <a:prstGeom prst="rect">
            <a:avLst/>
          </a:prstGeom>
        </p:spPr>
        <p:txBody>
          <a:bodyPr anchorCtr="0" anchor="t" bIns="91425" lIns="91425" spcFirstLastPara="1" rIns="91425" wrap="square" tIns="91425">
            <a:noAutofit/>
          </a:bodyPr>
          <a:lstStyle/>
          <a:p>
            <a:pPr indent="0" lvl="0" marL="0" rtl="0" algn="l">
              <a:lnSpc>
                <a:spcPct val="95000"/>
              </a:lnSpc>
              <a:spcBef>
                <a:spcPts val="1400"/>
              </a:spcBef>
              <a:spcAft>
                <a:spcPts val="0"/>
              </a:spcAft>
              <a:buSzPts val="935"/>
              <a:buNone/>
            </a:pPr>
            <a:r>
              <a:rPr b="1" lang="en" sz="1205">
                <a:solidFill>
                  <a:srgbClr val="000000"/>
                </a:solidFill>
                <a:latin typeface="Arial"/>
                <a:ea typeface="Arial"/>
                <a:cs typeface="Arial"/>
                <a:sym typeface="Arial"/>
              </a:rPr>
              <a:t>2. Site-ID Prefixing (Most Common)</a:t>
            </a:r>
            <a:endParaRPr b="1" sz="1205">
              <a:solidFill>
                <a:srgbClr val="000000"/>
              </a:solidFill>
              <a:latin typeface="Arial"/>
              <a:ea typeface="Arial"/>
              <a:cs typeface="Arial"/>
              <a:sym typeface="Arial"/>
            </a:endParaRPr>
          </a:p>
          <a:p>
            <a:pPr indent="0" lvl="0" marL="0" rtl="0" algn="l">
              <a:lnSpc>
                <a:spcPct val="95000"/>
              </a:lnSpc>
              <a:spcBef>
                <a:spcPts val="1200"/>
              </a:spcBef>
              <a:spcAft>
                <a:spcPts val="0"/>
              </a:spcAft>
              <a:buSzPts val="935"/>
              <a:buNone/>
            </a:pPr>
            <a:r>
              <a:rPr lang="en" sz="1035">
                <a:solidFill>
                  <a:srgbClr val="000000"/>
                </a:solidFill>
                <a:latin typeface="Arial"/>
                <a:ea typeface="Arial"/>
                <a:cs typeface="Arial"/>
                <a:sym typeface="Arial"/>
              </a:rPr>
              <a:t>Each site adds its own ID to names:</a:t>
            </a:r>
            <a:endParaRPr sz="1035">
              <a:solidFill>
                <a:srgbClr val="000000"/>
              </a:solidFill>
              <a:latin typeface="Arial"/>
              <a:ea typeface="Arial"/>
              <a:cs typeface="Arial"/>
              <a:sym typeface="Arial"/>
            </a:endParaRPr>
          </a:p>
          <a:p>
            <a:pPr indent="0" lvl="0" marL="0" rtl="0" algn="l">
              <a:lnSpc>
                <a:spcPct val="95000"/>
              </a:lnSpc>
              <a:spcBef>
                <a:spcPts val="1200"/>
              </a:spcBef>
              <a:spcAft>
                <a:spcPts val="0"/>
              </a:spcAft>
              <a:buSzPts val="935"/>
              <a:buNone/>
            </a:pPr>
            <a:r>
              <a:rPr lang="en" sz="1035">
                <a:solidFill>
                  <a:srgbClr val="000000"/>
                </a:solidFill>
                <a:latin typeface="Arial"/>
                <a:ea typeface="Arial"/>
                <a:cs typeface="Arial"/>
                <a:sym typeface="Arial"/>
              </a:rPr>
              <a:t>Examples:</a:t>
            </a:r>
            <a:endParaRPr sz="1035">
              <a:solidFill>
                <a:srgbClr val="000000"/>
              </a:solidFill>
              <a:latin typeface="Arial"/>
              <a:ea typeface="Arial"/>
              <a:cs typeface="Arial"/>
              <a:sym typeface="Arial"/>
            </a:endParaRPr>
          </a:p>
          <a:p>
            <a:pPr indent="-294322" lvl="0" marL="457200" rtl="0" algn="l">
              <a:lnSpc>
                <a:spcPct val="95000"/>
              </a:lnSpc>
              <a:spcBef>
                <a:spcPts val="1200"/>
              </a:spcBef>
              <a:spcAft>
                <a:spcPts val="0"/>
              </a:spcAft>
              <a:buClr>
                <a:srgbClr val="000000"/>
              </a:buClr>
              <a:buSzPts val="1035"/>
              <a:buFont typeface="Arial"/>
              <a:buChar char="●"/>
            </a:pPr>
            <a:r>
              <a:rPr lang="en" sz="1035">
                <a:solidFill>
                  <a:srgbClr val="000000"/>
                </a:solidFill>
                <a:latin typeface="Arial"/>
                <a:ea typeface="Arial"/>
                <a:cs typeface="Arial"/>
                <a:sym typeface="Arial"/>
              </a:rPr>
              <a:t>site17.account</a:t>
            </a:r>
            <a:endParaRPr sz="1035">
              <a:solidFill>
                <a:srgbClr val="000000"/>
              </a:solidFill>
              <a:latin typeface="Arial"/>
              <a:ea typeface="Arial"/>
              <a:cs typeface="Arial"/>
              <a:sym typeface="Arial"/>
            </a:endParaRPr>
          </a:p>
          <a:p>
            <a:pPr indent="-294322" lvl="0" marL="457200" rtl="0" algn="l">
              <a:lnSpc>
                <a:spcPct val="95000"/>
              </a:lnSpc>
              <a:spcBef>
                <a:spcPts val="0"/>
              </a:spcBef>
              <a:spcAft>
                <a:spcPts val="0"/>
              </a:spcAft>
              <a:buClr>
                <a:srgbClr val="000000"/>
              </a:buClr>
              <a:buSzPts val="1035"/>
              <a:buFont typeface="Arial"/>
              <a:buChar char="●"/>
            </a:pPr>
            <a:r>
              <a:rPr lang="en" sz="1035">
                <a:solidFill>
                  <a:srgbClr val="000000"/>
                </a:solidFill>
                <a:latin typeface="Arial"/>
                <a:ea typeface="Arial"/>
                <a:cs typeface="Arial"/>
                <a:sym typeface="Arial"/>
              </a:rPr>
              <a:t>account@site17</a:t>
            </a:r>
            <a:endParaRPr sz="1035">
              <a:solidFill>
                <a:srgbClr val="000000"/>
              </a:solidFill>
              <a:latin typeface="Arial"/>
              <a:ea typeface="Arial"/>
              <a:cs typeface="Arial"/>
              <a:sym typeface="Arial"/>
            </a:endParaRPr>
          </a:p>
          <a:p>
            <a:pPr indent="0" lvl="0" marL="0" rtl="0" algn="l">
              <a:lnSpc>
                <a:spcPct val="95000"/>
              </a:lnSpc>
              <a:spcBef>
                <a:spcPts val="1200"/>
              </a:spcBef>
              <a:spcAft>
                <a:spcPts val="0"/>
              </a:spcAft>
              <a:buSzPts val="935"/>
              <a:buNone/>
            </a:pPr>
            <a:r>
              <a:rPr lang="en" sz="1035">
                <a:solidFill>
                  <a:srgbClr val="000000"/>
                </a:solidFill>
                <a:latin typeface="Arial"/>
                <a:ea typeface="Arial"/>
                <a:cs typeface="Arial"/>
                <a:sym typeface="Arial"/>
              </a:rPr>
              <a:t>No name conflict</a:t>
            </a:r>
            <a:br>
              <a:rPr lang="en" sz="1035">
                <a:solidFill>
                  <a:srgbClr val="000000"/>
                </a:solidFill>
                <a:latin typeface="Arial"/>
                <a:ea typeface="Arial"/>
                <a:cs typeface="Arial"/>
                <a:sym typeface="Arial"/>
              </a:rPr>
            </a:br>
            <a:r>
              <a:rPr lang="en" sz="1035">
                <a:solidFill>
                  <a:srgbClr val="000000"/>
                </a:solidFill>
                <a:latin typeface="Arial"/>
                <a:ea typeface="Arial"/>
                <a:cs typeface="Arial"/>
                <a:sym typeface="Arial"/>
              </a:rPr>
              <a:t> But location transparency is lost.</a:t>
            </a:r>
            <a:endParaRPr sz="1035">
              <a:solidFill>
                <a:srgbClr val="000000"/>
              </a:solidFill>
              <a:latin typeface="Arial"/>
              <a:ea typeface="Arial"/>
              <a:cs typeface="Arial"/>
              <a:sym typeface="Arial"/>
            </a:endParaRPr>
          </a:p>
          <a:p>
            <a:pPr indent="0" lvl="0" marL="0" rtl="0" algn="l">
              <a:lnSpc>
                <a:spcPct val="95000"/>
              </a:lnSpc>
              <a:spcBef>
                <a:spcPts val="2400"/>
              </a:spcBef>
              <a:spcAft>
                <a:spcPts val="0"/>
              </a:spcAft>
              <a:buSzPts val="935"/>
              <a:buNone/>
            </a:pPr>
            <a:r>
              <a:rPr b="1" lang="en" sz="1455">
                <a:solidFill>
                  <a:srgbClr val="000000"/>
                </a:solidFill>
                <a:latin typeface="Arial"/>
                <a:ea typeface="Arial"/>
                <a:cs typeface="Arial"/>
                <a:sym typeface="Arial"/>
              </a:rPr>
              <a:t>Solution: Aliases</a:t>
            </a:r>
            <a:endParaRPr b="1" sz="1455">
              <a:solidFill>
                <a:srgbClr val="000000"/>
              </a:solidFill>
              <a:latin typeface="Arial"/>
              <a:ea typeface="Arial"/>
              <a:cs typeface="Arial"/>
              <a:sym typeface="Arial"/>
            </a:endParaRPr>
          </a:p>
          <a:p>
            <a:pPr indent="0" lvl="0" marL="0" rtl="0" algn="l">
              <a:lnSpc>
                <a:spcPct val="95000"/>
              </a:lnSpc>
              <a:spcBef>
                <a:spcPts val="1200"/>
              </a:spcBef>
              <a:spcAft>
                <a:spcPts val="0"/>
              </a:spcAft>
              <a:buSzPts val="935"/>
              <a:buNone/>
            </a:pPr>
            <a:r>
              <a:rPr lang="en" sz="1035">
                <a:solidFill>
                  <a:srgbClr val="000000"/>
                </a:solidFill>
                <a:latin typeface="Arial"/>
                <a:ea typeface="Arial"/>
                <a:cs typeface="Arial"/>
                <a:sym typeface="Arial"/>
              </a:rPr>
              <a:t>System allows simple alternative names.</a:t>
            </a:r>
            <a:endParaRPr sz="1035">
              <a:solidFill>
                <a:srgbClr val="000000"/>
              </a:solidFill>
              <a:latin typeface="Arial"/>
              <a:ea typeface="Arial"/>
              <a:cs typeface="Arial"/>
              <a:sym typeface="Arial"/>
            </a:endParaRPr>
          </a:p>
          <a:p>
            <a:pPr indent="0" lvl="0" marL="0" rtl="0" algn="l">
              <a:lnSpc>
                <a:spcPct val="95000"/>
              </a:lnSpc>
              <a:spcBef>
                <a:spcPts val="1200"/>
              </a:spcBef>
              <a:spcAft>
                <a:spcPts val="0"/>
              </a:spcAft>
              <a:buSzPts val="935"/>
              <a:buNone/>
            </a:pPr>
            <a:r>
              <a:rPr lang="en" sz="1035">
                <a:solidFill>
                  <a:srgbClr val="000000"/>
                </a:solidFill>
                <a:latin typeface="Arial"/>
                <a:ea typeface="Arial"/>
                <a:cs typeface="Arial"/>
                <a:sym typeface="Arial"/>
              </a:rPr>
              <a:t>Example:</a:t>
            </a:r>
            <a:endParaRPr sz="1035">
              <a:solidFill>
                <a:srgbClr val="000000"/>
              </a:solidFill>
              <a:latin typeface="Arial"/>
              <a:ea typeface="Arial"/>
              <a:cs typeface="Arial"/>
              <a:sym typeface="Arial"/>
            </a:endParaRPr>
          </a:p>
          <a:p>
            <a:pPr indent="-294322" lvl="0" marL="457200" rtl="0" algn="l">
              <a:lnSpc>
                <a:spcPct val="95000"/>
              </a:lnSpc>
              <a:spcBef>
                <a:spcPts val="1200"/>
              </a:spcBef>
              <a:spcAft>
                <a:spcPts val="0"/>
              </a:spcAft>
              <a:buClr>
                <a:srgbClr val="000000"/>
              </a:buClr>
              <a:buSzPts val="1035"/>
              <a:buFont typeface="Arial"/>
              <a:buChar char="●"/>
            </a:pPr>
            <a:r>
              <a:rPr lang="en" sz="1035">
                <a:solidFill>
                  <a:srgbClr val="000000"/>
                </a:solidFill>
                <a:latin typeface="Arial"/>
                <a:ea typeface="Arial"/>
                <a:cs typeface="Arial"/>
                <a:sym typeface="Arial"/>
              </a:rPr>
              <a:t>Actual name: account@site17</a:t>
            </a:r>
            <a:endParaRPr sz="1035">
              <a:solidFill>
                <a:srgbClr val="000000"/>
              </a:solidFill>
              <a:latin typeface="Arial"/>
              <a:ea typeface="Arial"/>
              <a:cs typeface="Arial"/>
              <a:sym typeface="Arial"/>
            </a:endParaRPr>
          </a:p>
          <a:p>
            <a:pPr indent="-294322" lvl="0" marL="457200" rtl="0" algn="l">
              <a:lnSpc>
                <a:spcPct val="95000"/>
              </a:lnSpc>
              <a:spcBef>
                <a:spcPts val="0"/>
              </a:spcBef>
              <a:spcAft>
                <a:spcPts val="0"/>
              </a:spcAft>
              <a:buClr>
                <a:srgbClr val="000000"/>
              </a:buClr>
              <a:buSzPts val="1035"/>
              <a:buFont typeface="Arial"/>
              <a:buChar char="●"/>
            </a:pPr>
            <a:r>
              <a:rPr lang="en" sz="1035">
                <a:solidFill>
                  <a:srgbClr val="000000"/>
                </a:solidFill>
                <a:latin typeface="Arial"/>
                <a:ea typeface="Arial"/>
                <a:cs typeface="Arial"/>
                <a:sym typeface="Arial"/>
              </a:rPr>
              <a:t>Alias: account</a:t>
            </a:r>
            <a:endParaRPr sz="1035">
              <a:solidFill>
                <a:srgbClr val="000000"/>
              </a:solidFill>
              <a:latin typeface="Arial"/>
              <a:ea typeface="Arial"/>
              <a:cs typeface="Arial"/>
              <a:sym typeface="Arial"/>
            </a:endParaRPr>
          </a:p>
          <a:p>
            <a:pPr indent="0" lvl="0" marL="0" rtl="0" algn="l">
              <a:lnSpc>
                <a:spcPct val="95000"/>
              </a:lnSpc>
              <a:spcBef>
                <a:spcPts val="1200"/>
              </a:spcBef>
              <a:spcAft>
                <a:spcPts val="0"/>
              </a:spcAft>
              <a:buSzPts val="935"/>
              <a:buNone/>
            </a:pPr>
            <a:r>
              <a:rPr lang="en" sz="1035">
                <a:solidFill>
                  <a:srgbClr val="000000"/>
                </a:solidFill>
                <a:latin typeface="Arial"/>
                <a:ea typeface="Arial"/>
                <a:cs typeface="Arial"/>
                <a:sym typeface="Arial"/>
              </a:rPr>
              <a:t>User uses alias → System maps it internally.</a:t>
            </a:r>
            <a:endParaRPr sz="1035">
              <a:solidFill>
                <a:srgbClr val="000000"/>
              </a:solidFill>
              <a:latin typeface="Arial"/>
              <a:ea typeface="Arial"/>
              <a:cs typeface="Arial"/>
              <a:sym typeface="Arial"/>
            </a:endParaRPr>
          </a:p>
          <a:p>
            <a:pPr indent="0" lvl="0" marL="0" rtl="0" algn="l">
              <a:lnSpc>
                <a:spcPct val="95000"/>
              </a:lnSpc>
              <a:spcBef>
                <a:spcPts val="1200"/>
              </a:spcBef>
              <a:spcAft>
                <a:spcPts val="1200"/>
              </a:spcAft>
              <a:buSzPts val="935"/>
              <a:buNone/>
            </a:pPr>
            <a:r>
              <a:rPr lang="en" sz="1035">
                <a:solidFill>
                  <a:srgbClr val="000000"/>
                </a:solidFill>
                <a:latin typeface="Arial"/>
                <a:ea typeface="Arial"/>
                <a:cs typeface="Arial"/>
                <a:sym typeface="Arial"/>
              </a:rPr>
              <a:t>Provides full </a:t>
            </a:r>
            <a:r>
              <a:rPr b="1" lang="en" sz="1035">
                <a:solidFill>
                  <a:srgbClr val="000000"/>
                </a:solidFill>
                <a:latin typeface="Arial"/>
                <a:ea typeface="Arial"/>
                <a:cs typeface="Arial"/>
                <a:sym typeface="Arial"/>
              </a:rPr>
              <a:t>location transparency</a:t>
            </a:r>
            <a:r>
              <a:rPr lang="en" sz="1035">
                <a:solidFill>
                  <a:srgbClr val="000000"/>
                </a:solidFill>
                <a:latin typeface="Arial"/>
                <a:ea typeface="Arial"/>
                <a:cs typeface="Arial"/>
                <a:sym typeface="Arial"/>
              </a:rPr>
              <a:t>.</a:t>
            </a:r>
            <a:endParaRPr sz="1629"/>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79"/>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Summary</a:t>
            </a:r>
            <a:endParaRPr/>
          </a:p>
        </p:txBody>
      </p:sp>
      <p:sp>
        <p:nvSpPr>
          <p:cNvPr id="421" name="Google Shape;421;p79"/>
          <p:cNvSpPr txBox="1"/>
          <p:nvPr>
            <p:ph idx="1" type="body"/>
          </p:nvPr>
        </p:nvSpPr>
        <p:spPr>
          <a:xfrm>
            <a:off x="311700" y="1266325"/>
            <a:ext cx="8520600" cy="330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92">
                <a:solidFill>
                  <a:srgbClr val="000000"/>
                </a:solidFill>
                <a:latin typeface="Times New Roman"/>
                <a:ea typeface="Times New Roman"/>
                <a:cs typeface="Times New Roman"/>
                <a:sym typeface="Times New Roman"/>
              </a:rPr>
              <a:t>Replication = storing multiple copies of a table. </a:t>
            </a:r>
            <a:endParaRPr sz="1592">
              <a:solidFill>
                <a:srgbClr val="000000"/>
              </a:solidFill>
              <a:latin typeface="Times New Roman"/>
              <a:ea typeface="Times New Roman"/>
              <a:cs typeface="Times New Roman"/>
              <a:sym typeface="Times New Roman"/>
            </a:endParaRPr>
          </a:p>
          <a:p>
            <a:pPr indent="0" lvl="0" marL="0" rtl="0" algn="l">
              <a:spcBef>
                <a:spcPts val="0"/>
              </a:spcBef>
              <a:spcAft>
                <a:spcPts val="0"/>
              </a:spcAft>
              <a:buNone/>
            </a:pPr>
            <a:r>
              <a:rPr lang="en" sz="1592">
                <a:solidFill>
                  <a:srgbClr val="000000"/>
                </a:solidFill>
                <a:latin typeface="Times New Roman"/>
                <a:ea typeface="Times New Roman"/>
                <a:cs typeface="Times New Roman"/>
                <a:sym typeface="Times New Roman"/>
              </a:rPr>
              <a:t>Pros → high availability, fast reads  </a:t>
            </a:r>
            <a:endParaRPr sz="1592">
              <a:solidFill>
                <a:srgbClr val="000000"/>
              </a:solidFill>
              <a:latin typeface="Times New Roman"/>
              <a:ea typeface="Times New Roman"/>
              <a:cs typeface="Times New Roman"/>
              <a:sym typeface="Times New Roman"/>
            </a:endParaRPr>
          </a:p>
          <a:p>
            <a:pPr indent="0" lvl="0" marL="0" rtl="0" algn="l">
              <a:spcBef>
                <a:spcPts val="0"/>
              </a:spcBef>
              <a:spcAft>
                <a:spcPts val="0"/>
              </a:spcAft>
              <a:buNone/>
            </a:pPr>
            <a:r>
              <a:rPr lang="en" sz="1592">
                <a:solidFill>
                  <a:srgbClr val="000000"/>
                </a:solidFill>
                <a:latin typeface="Times New Roman"/>
                <a:ea typeface="Times New Roman"/>
                <a:cs typeface="Times New Roman"/>
                <a:sym typeface="Times New Roman"/>
              </a:rPr>
              <a:t>Cons → high update cost</a:t>
            </a:r>
            <a:endParaRPr sz="1592">
              <a:solidFill>
                <a:srgbClr val="000000"/>
              </a:solidFill>
              <a:latin typeface="Times New Roman"/>
              <a:ea typeface="Times New Roman"/>
              <a:cs typeface="Times New Roman"/>
              <a:sym typeface="Times New Roman"/>
            </a:endParaRPr>
          </a:p>
          <a:p>
            <a:pPr indent="0" lvl="0" marL="0" rtl="0" algn="l">
              <a:spcBef>
                <a:spcPts val="0"/>
              </a:spcBef>
              <a:spcAft>
                <a:spcPts val="0"/>
              </a:spcAft>
              <a:buNone/>
            </a:pPr>
            <a:r>
              <a:t/>
            </a:r>
            <a:endParaRPr sz="1592">
              <a:solidFill>
                <a:srgbClr val="000000"/>
              </a:solidFill>
              <a:latin typeface="Times New Roman"/>
              <a:ea typeface="Times New Roman"/>
              <a:cs typeface="Times New Roman"/>
              <a:sym typeface="Times New Roman"/>
            </a:endParaRPr>
          </a:p>
          <a:p>
            <a:pPr indent="0" lvl="0" marL="0" rtl="0" algn="l">
              <a:spcBef>
                <a:spcPts val="0"/>
              </a:spcBef>
              <a:spcAft>
                <a:spcPts val="0"/>
              </a:spcAft>
              <a:buNone/>
            </a:pPr>
            <a:r>
              <a:rPr lang="en" sz="1592">
                <a:solidFill>
                  <a:srgbClr val="000000"/>
                </a:solidFill>
                <a:latin typeface="Times New Roman"/>
                <a:ea typeface="Times New Roman"/>
                <a:cs typeface="Times New Roman"/>
                <a:sym typeface="Times New Roman"/>
              </a:rPr>
              <a:t>Fragmentation = splitting a table into fragments.  </a:t>
            </a:r>
            <a:endParaRPr sz="1592">
              <a:solidFill>
                <a:srgbClr val="000000"/>
              </a:solidFill>
              <a:latin typeface="Times New Roman"/>
              <a:ea typeface="Times New Roman"/>
              <a:cs typeface="Times New Roman"/>
              <a:sym typeface="Times New Roman"/>
            </a:endParaRPr>
          </a:p>
          <a:p>
            <a:pPr indent="0" lvl="0" marL="0" rtl="0" algn="l">
              <a:spcBef>
                <a:spcPts val="0"/>
              </a:spcBef>
              <a:spcAft>
                <a:spcPts val="0"/>
              </a:spcAft>
              <a:buNone/>
            </a:pPr>
            <a:r>
              <a:rPr lang="en" sz="1592">
                <a:solidFill>
                  <a:srgbClr val="000000"/>
                </a:solidFill>
                <a:latin typeface="Times New Roman"/>
                <a:ea typeface="Times New Roman"/>
                <a:cs typeface="Times New Roman"/>
                <a:sym typeface="Times New Roman"/>
              </a:rPr>
              <a:t>Types → horizontal (rows), vertical (columns)</a:t>
            </a:r>
            <a:endParaRPr sz="1592">
              <a:solidFill>
                <a:srgbClr val="000000"/>
              </a:solidFill>
              <a:latin typeface="Times New Roman"/>
              <a:ea typeface="Times New Roman"/>
              <a:cs typeface="Times New Roman"/>
              <a:sym typeface="Times New Roman"/>
            </a:endParaRPr>
          </a:p>
          <a:p>
            <a:pPr indent="0" lvl="0" marL="0" rtl="0" algn="l">
              <a:spcBef>
                <a:spcPts val="0"/>
              </a:spcBef>
              <a:spcAft>
                <a:spcPts val="0"/>
              </a:spcAft>
              <a:buNone/>
            </a:pPr>
            <a:r>
              <a:t/>
            </a:r>
            <a:endParaRPr sz="1592">
              <a:solidFill>
                <a:srgbClr val="000000"/>
              </a:solidFill>
              <a:latin typeface="Times New Roman"/>
              <a:ea typeface="Times New Roman"/>
              <a:cs typeface="Times New Roman"/>
              <a:sym typeface="Times New Roman"/>
            </a:endParaRPr>
          </a:p>
          <a:p>
            <a:pPr indent="0" lvl="0" marL="0" rtl="0" algn="l">
              <a:spcBef>
                <a:spcPts val="0"/>
              </a:spcBef>
              <a:spcAft>
                <a:spcPts val="0"/>
              </a:spcAft>
              <a:buNone/>
            </a:pPr>
            <a:r>
              <a:rPr lang="en" sz="1592">
                <a:solidFill>
                  <a:srgbClr val="000000"/>
                </a:solidFill>
                <a:latin typeface="Times New Roman"/>
                <a:ea typeface="Times New Roman"/>
                <a:cs typeface="Times New Roman"/>
                <a:sym typeface="Times New Roman"/>
              </a:rPr>
              <a:t>Transparency = user is unaware of where/how data is stored  </a:t>
            </a:r>
            <a:endParaRPr sz="1592">
              <a:solidFill>
                <a:srgbClr val="000000"/>
              </a:solidFill>
              <a:latin typeface="Times New Roman"/>
              <a:ea typeface="Times New Roman"/>
              <a:cs typeface="Times New Roman"/>
              <a:sym typeface="Times New Roman"/>
            </a:endParaRPr>
          </a:p>
          <a:p>
            <a:pPr indent="0" lvl="0" marL="0" rtl="0" algn="l">
              <a:spcBef>
                <a:spcPts val="0"/>
              </a:spcBef>
              <a:spcAft>
                <a:spcPts val="0"/>
              </a:spcAft>
              <a:buNone/>
            </a:pPr>
            <a:r>
              <a:rPr lang="en" sz="1592">
                <a:solidFill>
                  <a:srgbClr val="000000"/>
                </a:solidFill>
                <a:latin typeface="Times New Roman"/>
                <a:ea typeface="Times New Roman"/>
                <a:cs typeface="Times New Roman"/>
                <a:sym typeface="Times New Roman"/>
              </a:rPr>
              <a:t>Types → fragmentation, replication, location</a:t>
            </a:r>
            <a:endParaRPr sz="1592">
              <a:solidFill>
                <a:srgbClr val="000000"/>
              </a:solidFill>
              <a:latin typeface="Times New Roman"/>
              <a:ea typeface="Times New Roman"/>
              <a:cs typeface="Times New Roman"/>
              <a:sym typeface="Times New Roman"/>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80"/>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Distributed Transactions</a:t>
            </a:r>
            <a:endParaRPr/>
          </a:p>
        </p:txBody>
      </p:sp>
      <p:sp>
        <p:nvSpPr>
          <p:cNvPr id="427" name="Google Shape;427;p80"/>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sz="1100">
                <a:solidFill>
                  <a:srgbClr val="000000"/>
                </a:solidFill>
                <a:latin typeface="Arial"/>
                <a:ea typeface="Arial"/>
                <a:cs typeface="Arial"/>
                <a:sym typeface="Arial"/>
              </a:rPr>
              <a:t>In a </a:t>
            </a:r>
            <a:r>
              <a:rPr b="1" lang="en" sz="1100">
                <a:solidFill>
                  <a:srgbClr val="000000"/>
                </a:solidFill>
                <a:latin typeface="Arial"/>
                <a:ea typeface="Arial"/>
                <a:cs typeface="Arial"/>
                <a:sym typeface="Arial"/>
              </a:rPr>
              <a:t>distributed database system</a:t>
            </a:r>
            <a:r>
              <a:rPr lang="en" sz="1100">
                <a:solidFill>
                  <a:srgbClr val="000000"/>
                </a:solidFill>
                <a:latin typeface="Arial"/>
                <a:ea typeface="Arial"/>
                <a:cs typeface="Arial"/>
                <a:sym typeface="Arial"/>
              </a:rPr>
              <a:t>, data is stored at multiple sites (locations).</a:t>
            </a:r>
            <a:br>
              <a:rPr lang="en" sz="1100">
                <a:solidFill>
                  <a:srgbClr val="000000"/>
                </a:solidFill>
                <a:latin typeface="Arial"/>
                <a:ea typeface="Arial"/>
                <a:cs typeface="Arial"/>
                <a:sym typeface="Arial"/>
              </a:rPr>
            </a:br>
            <a:r>
              <a:rPr lang="en" sz="1100">
                <a:solidFill>
                  <a:srgbClr val="000000"/>
                </a:solidFill>
                <a:latin typeface="Arial"/>
                <a:ea typeface="Arial"/>
                <a:cs typeface="Arial"/>
                <a:sym typeface="Arial"/>
              </a:rPr>
              <a:t> To access or update this data, we use </a:t>
            </a:r>
            <a:r>
              <a:rPr b="1" lang="en" sz="1100">
                <a:solidFill>
                  <a:srgbClr val="000000"/>
                </a:solidFill>
                <a:latin typeface="Arial"/>
                <a:ea typeface="Arial"/>
                <a:cs typeface="Arial"/>
                <a:sym typeface="Arial"/>
              </a:rPr>
              <a:t>transactions</a:t>
            </a:r>
            <a:r>
              <a:rPr lang="en" sz="1100">
                <a:solidFill>
                  <a:srgbClr val="000000"/>
                </a:solidFill>
                <a:latin typeface="Arial"/>
                <a:ea typeface="Arial"/>
                <a:cs typeface="Arial"/>
                <a:sym typeface="Arial"/>
              </a:rPr>
              <a:t>.</a:t>
            </a:r>
            <a:br>
              <a:rPr lang="en" sz="1100">
                <a:solidFill>
                  <a:srgbClr val="000000"/>
                </a:solidFill>
                <a:latin typeface="Arial"/>
                <a:ea typeface="Arial"/>
                <a:cs typeface="Arial"/>
                <a:sym typeface="Arial"/>
              </a:rPr>
            </a:br>
            <a:r>
              <a:rPr lang="en" sz="1100">
                <a:solidFill>
                  <a:srgbClr val="000000"/>
                </a:solidFill>
                <a:latin typeface="Arial"/>
                <a:ea typeface="Arial"/>
                <a:cs typeface="Arial"/>
                <a:sym typeface="Arial"/>
              </a:rPr>
              <a:t> Just like in a centralized database, all transactions must follow </a:t>
            </a:r>
            <a:r>
              <a:rPr b="1" lang="en" sz="1100">
                <a:solidFill>
                  <a:srgbClr val="000000"/>
                </a:solidFill>
                <a:latin typeface="Arial"/>
                <a:ea typeface="Arial"/>
                <a:cs typeface="Arial"/>
                <a:sym typeface="Arial"/>
              </a:rPr>
              <a:t>ACID properties</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b="1" lang="en" sz="1100">
                <a:solidFill>
                  <a:srgbClr val="000000"/>
                </a:solidFill>
                <a:latin typeface="Arial"/>
                <a:ea typeface="Arial"/>
                <a:cs typeface="Arial"/>
                <a:sym typeface="Arial"/>
              </a:rPr>
              <a:t>A</a:t>
            </a:r>
            <a:r>
              <a:rPr lang="en" sz="1100">
                <a:solidFill>
                  <a:srgbClr val="000000"/>
                </a:solidFill>
                <a:latin typeface="Arial"/>
                <a:ea typeface="Arial"/>
                <a:cs typeface="Arial"/>
                <a:sym typeface="Arial"/>
              </a:rPr>
              <a:t>tomicity</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b="1" lang="en" sz="1100">
                <a:solidFill>
                  <a:srgbClr val="000000"/>
                </a:solidFill>
                <a:latin typeface="Arial"/>
                <a:ea typeface="Arial"/>
                <a:cs typeface="Arial"/>
                <a:sym typeface="Arial"/>
              </a:rPr>
              <a:t>C</a:t>
            </a:r>
            <a:r>
              <a:rPr lang="en" sz="1100">
                <a:solidFill>
                  <a:srgbClr val="000000"/>
                </a:solidFill>
                <a:latin typeface="Arial"/>
                <a:ea typeface="Arial"/>
                <a:cs typeface="Arial"/>
                <a:sym typeface="Arial"/>
              </a:rPr>
              <a:t>onsistency</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b="1" lang="en" sz="1100">
                <a:solidFill>
                  <a:srgbClr val="000000"/>
                </a:solidFill>
                <a:latin typeface="Arial"/>
                <a:ea typeface="Arial"/>
                <a:cs typeface="Arial"/>
                <a:sym typeface="Arial"/>
              </a:rPr>
              <a:t>I</a:t>
            </a:r>
            <a:r>
              <a:rPr lang="en" sz="1100">
                <a:solidFill>
                  <a:srgbClr val="000000"/>
                </a:solidFill>
                <a:latin typeface="Arial"/>
                <a:ea typeface="Arial"/>
                <a:cs typeface="Arial"/>
                <a:sym typeface="Arial"/>
              </a:rPr>
              <a:t>solation</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b="1" lang="en" sz="1100">
                <a:solidFill>
                  <a:srgbClr val="000000"/>
                </a:solidFill>
                <a:latin typeface="Arial"/>
                <a:ea typeface="Arial"/>
                <a:cs typeface="Arial"/>
                <a:sym typeface="Arial"/>
              </a:rPr>
              <a:t>D</a:t>
            </a:r>
            <a:r>
              <a:rPr lang="en" sz="1100">
                <a:solidFill>
                  <a:srgbClr val="000000"/>
                </a:solidFill>
                <a:latin typeface="Arial"/>
                <a:ea typeface="Arial"/>
                <a:cs typeface="Arial"/>
                <a:sym typeface="Arial"/>
              </a:rPr>
              <a:t>urability</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But ensuring ACID properties becomes much harder when a transaction involves </a:t>
            </a:r>
            <a:r>
              <a:rPr b="1" lang="en" sz="1100">
                <a:solidFill>
                  <a:srgbClr val="000000"/>
                </a:solidFill>
                <a:latin typeface="Arial"/>
                <a:ea typeface="Arial"/>
                <a:cs typeface="Arial"/>
                <a:sym typeface="Arial"/>
              </a:rPr>
              <a:t>many sites</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81"/>
          <p:cNvSpPr txBox="1"/>
          <p:nvPr>
            <p:ph idx="1" type="body"/>
          </p:nvPr>
        </p:nvSpPr>
        <p:spPr>
          <a:xfrm>
            <a:off x="311700" y="549650"/>
            <a:ext cx="8520600" cy="4019400"/>
          </a:xfrm>
          <a:prstGeom prst="rect">
            <a:avLst/>
          </a:prstGeom>
        </p:spPr>
        <p:txBody>
          <a:bodyPr anchorCtr="0" anchor="t" bIns="91425" lIns="91425" spcFirstLastPara="1" rIns="91425" wrap="square" tIns="91425">
            <a:normAutofit/>
          </a:bodyPr>
          <a:lstStyle/>
          <a:p>
            <a:pPr indent="0" lvl="0" marL="0" rtl="0" algn="l">
              <a:spcBef>
                <a:spcPts val="2400"/>
              </a:spcBef>
              <a:spcAft>
                <a:spcPts val="0"/>
              </a:spcAft>
              <a:buNone/>
            </a:pPr>
            <a:r>
              <a:rPr b="1" lang="en" sz="2300">
                <a:solidFill>
                  <a:srgbClr val="000000"/>
                </a:solidFill>
                <a:latin typeface="Arial"/>
                <a:ea typeface="Arial"/>
                <a:cs typeface="Arial"/>
                <a:sym typeface="Arial"/>
              </a:rPr>
              <a:t>Types of Transactions</a:t>
            </a:r>
            <a:endParaRPr b="1" sz="2300">
              <a:solidFill>
                <a:srgbClr val="000000"/>
              </a:solidFill>
              <a:latin typeface="Arial"/>
              <a:ea typeface="Arial"/>
              <a:cs typeface="Arial"/>
              <a:sym typeface="Arial"/>
            </a:endParaRPr>
          </a:p>
          <a:p>
            <a:pPr indent="0" lvl="0" marL="0" rtl="0" algn="l">
              <a:spcBef>
                <a:spcPts val="1400"/>
              </a:spcBef>
              <a:spcAft>
                <a:spcPts val="0"/>
              </a:spcAft>
              <a:buNone/>
            </a:pPr>
            <a:r>
              <a:rPr b="1" lang="en" sz="1300">
                <a:solidFill>
                  <a:srgbClr val="000000"/>
                </a:solidFill>
                <a:latin typeface="Arial"/>
                <a:ea typeface="Arial"/>
                <a:cs typeface="Arial"/>
                <a:sym typeface="Arial"/>
              </a:rPr>
              <a:t>1. Local Transactions</a:t>
            </a:r>
            <a:endParaRPr b="1" sz="13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Access data from </a:t>
            </a:r>
            <a:r>
              <a:rPr b="1" lang="en" sz="1100">
                <a:solidFill>
                  <a:srgbClr val="000000"/>
                </a:solidFill>
                <a:latin typeface="Arial"/>
                <a:ea typeface="Arial"/>
                <a:cs typeface="Arial"/>
                <a:sym typeface="Arial"/>
              </a:rPr>
              <a:t>only one site</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Example: A transaction that updates data in the Mumbai database only.</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Easy to handle using normal techniques (like chapters 14, 15, and 16 mention).</a:t>
            </a:r>
            <a:endParaRPr sz="1100">
              <a:solidFill>
                <a:srgbClr val="000000"/>
              </a:solidFill>
              <a:latin typeface="Arial"/>
              <a:ea typeface="Arial"/>
              <a:cs typeface="Arial"/>
              <a:sym typeface="Arial"/>
            </a:endParaRPr>
          </a:p>
          <a:p>
            <a:pPr indent="0" lvl="0" marL="0" rtl="0" algn="l">
              <a:spcBef>
                <a:spcPts val="1400"/>
              </a:spcBef>
              <a:spcAft>
                <a:spcPts val="0"/>
              </a:spcAft>
              <a:buNone/>
            </a:pPr>
            <a:r>
              <a:rPr b="1" lang="en" sz="1300">
                <a:solidFill>
                  <a:srgbClr val="000000"/>
                </a:solidFill>
                <a:latin typeface="Arial"/>
                <a:ea typeface="Arial"/>
                <a:cs typeface="Arial"/>
                <a:sym typeface="Arial"/>
              </a:rPr>
              <a:t>2. Global Transactions</a:t>
            </a:r>
            <a:endParaRPr b="1" sz="13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Access data from </a:t>
            </a:r>
            <a:r>
              <a:rPr b="1" lang="en" sz="1100">
                <a:solidFill>
                  <a:srgbClr val="000000"/>
                </a:solidFill>
                <a:latin typeface="Arial"/>
                <a:ea typeface="Arial"/>
                <a:cs typeface="Arial"/>
                <a:sym typeface="Arial"/>
              </a:rPr>
              <a:t>multiple sites</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Example: A bank transfer where account info is in Delhi database but transaction logs are in Bengaluru database.</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Much more complex because:</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Many sites must respond.</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A single failure may break the transaction.</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All sites must </a:t>
            </a:r>
            <a:r>
              <a:rPr b="1" lang="en" sz="1100">
                <a:solidFill>
                  <a:srgbClr val="000000"/>
                </a:solidFill>
                <a:latin typeface="Arial"/>
                <a:ea typeface="Arial"/>
                <a:cs typeface="Arial"/>
                <a:sym typeface="Arial"/>
              </a:rPr>
              <a:t>commit or abort together</a:t>
            </a:r>
            <a:r>
              <a:rPr lang="en" sz="1100">
                <a:solidFill>
                  <a:srgbClr val="000000"/>
                </a:solidFill>
                <a:latin typeface="Arial"/>
                <a:ea typeface="Arial"/>
                <a:cs typeface="Arial"/>
                <a:sym typeface="Arial"/>
              </a:rPr>
              <a:t>.</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82"/>
          <p:cNvSpPr txBox="1"/>
          <p:nvPr>
            <p:ph idx="1" type="body"/>
          </p:nvPr>
        </p:nvSpPr>
        <p:spPr>
          <a:xfrm>
            <a:off x="311700" y="528250"/>
            <a:ext cx="8520600" cy="4040700"/>
          </a:xfrm>
          <a:prstGeom prst="rect">
            <a:avLst/>
          </a:prstGeom>
        </p:spPr>
        <p:txBody>
          <a:bodyPr anchorCtr="0" anchor="t" bIns="91425" lIns="91425" spcFirstLastPara="1" rIns="91425" wrap="square" tIns="91425">
            <a:normAutofit lnSpcReduction="10000"/>
          </a:bodyPr>
          <a:lstStyle/>
          <a:p>
            <a:pPr indent="0" lvl="0" marL="0" rtl="0" algn="l">
              <a:spcBef>
                <a:spcPts val="2400"/>
              </a:spcBef>
              <a:spcAft>
                <a:spcPts val="0"/>
              </a:spcAft>
              <a:buNone/>
            </a:pPr>
            <a:r>
              <a:rPr b="1" lang="en" sz="2300">
                <a:solidFill>
                  <a:srgbClr val="000000"/>
                </a:solidFill>
                <a:latin typeface="Arial"/>
                <a:ea typeface="Arial"/>
                <a:cs typeface="Arial"/>
                <a:sym typeface="Arial"/>
              </a:rPr>
              <a:t> System Structure (Simple View)</a:t>
            </a:r>
            <a:endParaRPr b="1" sz="23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Each site in a distributed database has two important subsystems:</a:t>
            </a:r>
            <a:endParaRPr sz="1100">
              <a:solidFill>
                <a:srgbClr val="000000"/>
              </a:solidFill>
              <a:latin typeface="Arial"/>
              <a:ea typeface="Arial"/>
              <a:cs typeface="Arial"/>
              <a:sym typeface="Arial"/>
            </a:endParaRPr>
          </a:p>
          <a:p>
            <a:pPr indent="0" lvl="0" marL="0" rtl="0" algn="l">
              <a:spcBef>
                <a:spcPts val="1800"/>
              </a:spcBef>
              <a:spcAft>
                <a:spcPts val="0"/>
              </a:spcAft>
              <a:buNone/>
            </a:pPr>
            <a:r>
              <a:rPr b="1" lang="en" sz="1700">
                <a:solidFill>
                  <a:srgbClr val="000000"/>
                </a:solidFill>
                <a:latin typeface="Arial"/>
                <a:ea typeface="Arial"/>
                <a:cs typeface="Arial"/>
                <a:sym typeface="Arial"/>
              </a:rPr>
              <a:t>1. Transaction Manager (TM)</a:t>
            </a:r>
            <a:endParaRPr b="1" sz="17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Works at the </a:t>
            </a:r>
            <a:r>
              <a:rPr b="1" lang="en" sz="1100">
                <a:solidFill>
                  <a:srgbClr val="000000"/>
                </a:solidFill>
                <a:latin typeface="Arial"/>
                <a:ea typeface="Arial"/>
                <a:cs typeface="Arial"/>
                <a:sym typeface="Arial"/>
              </a:rPr>
              <a:t>local site</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0" rtl="0" algn="l">
              <a:spcBef>
                <a:spcPts val="1400"/>
              </a:spcBef>
              <a:spcAft>
                <a:spcPts val="0"/>
              </a:spcAft>
              <a:buNone/>
            </a:pPr>
            <a:r>
              <a:rPr b="1" lang="en" sz="1300">
                <a:solidFill>
                  <a:srgbClr val="000000"/>
                </a:solidFill>
                <a:latin typeface="Arial"/>
                <a:ea typeface="Arial"/>
                <a:cs typeface="Arial"/>
                <a:sym typeface="Arial"/>
              </a:rPr>
              <a:t>✔ Responsibilities:</a:t>
            </a:r>
            <a:endParaRPr b="1" sz="13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Executes local transactions or subtransactions of global transactions.</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Maintains </a:t>
            </a:r>
            <a:r>
              <a:rPr b="1" lang="en" sz="1100">
                <a:solidFill>
                  <a:srgbClr val="000000"/>
                </a:solidFill>
                <a:latin typeface="Arial"/>
                <a:ea typeface="Arial"/>
                <a:cs typeface="Arial"/>
                <a:sym typeface="Arial"/>
              </a:rPr>
              <a:t>log files</a:t>
            </a:r>
            <a:r>
              <a:rPr lang="en" sz="1100">
                <a:solidFill>
                  <a:srgbClr val="000000"/>
                </a:solidFill>
                <a:latin typeface="Arial"/>
                <a:ea typeface="Arial"/>
                <a:cs typeface="Arial"/>
                <a:sym typeface="Arial"/>
              </a:rPr>
              <a:t> for recovery.</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Takes part in </a:t>
            </a:r>
            <a:r>
              <a:rPr b="1" lang="en" sz="1100">
                <a:solidFill>
                  <a:srgbClr val="000000"/>
                </a:solidFill>
                <a:latin typeface="Arial"/>
                <a:ea typeface="Arial"/>
                <a:cs typeface="Arial"/>
                <a:sym typeface="Arial"/>
              </a:rPr>
              <a:t>concurrency control</a:t>
            </a:r>
            <a:r>
              <a:rPr lang="en" sz="1100">
                <a:solidFill>
                  <a:srgbClr val="000000"/>
                </a:solidFill>
                <a:latin typeface="Arial"/>
                <a:ea typeface="Arial"/>
                <a:cs typeface="Arial"/>
                <a:sym typeface="Arial"/>
              </a:rPr>
              <a:t> to manage simultaneous operations.</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Similar to the transaction manager in a centralized DB, but must work with other sites.</a:t>
            </a: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83"/>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443" name="Google Shape;443;p83"/>
          <p:cNvSpPr txBox="1"/>
          <p:nvPr>
            <p:ph idx="1" type="body"/>
          </p:nvPr>
        </p:nvSpPr>
        <p:spPr>
          <a:xfrm>
            <a:off x="311700" y="1266325"/>
            <a:ext cx="8520600" cy="3302700"/>
          </a:xfrm>
          <a:prstGeom prst="rect">
            <a:avLst/>
          </a:prstGeom>
        </p:spPr>
        <p:txBody>
          <a:bodyPr anchorCtr="0" anchor="t" bIns="91425" lIns="91425" spcFirstLastPara="1" rIns="91425" wrap="square" tIns="91425">
            <a:normAutofit lnSpcReduction="20000"/>
          </a:bodyPr>
          <a:lstStyle/>
          <a:p>
            <a:pPr indent="0" lvl="0" marL="0" rtl="0" algn="l">
              <a:spcBef>
                <a:spcPts val="1800"/>
              </a:spcBef>
              <a:spcAft>
                <a:spcPts val="0"/>
              </a:spcAft>
              <a:buNone/>
            </a:pPr>
            <a:r>
              <a:rPr b="1" lang="en" sz="1700">
                <a:solidFill>
                  <a:srgbClr val="000000"/>
                </a:solidFill>
                <a:latin typeface="Arial"/>
                <a:ea typeface="Arial"/>
                <a:cs typeface="Arial"/>
                <a:sym typeface="Arial"/>
              </a:rPr>
              <a:t>2. Transaction Coordinator (TC)</a:t>
            </a:r>
            <a:endParaRPr b="1" sz="17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Works for </a:t>
            </a:r>
            <a:r>
              <a:rPr b="1" lang="en" sz="1100">
                <a:solidFill>
                  <a:srgbClr val="000000"/>
                </a:solidFill>
                <a:latin typeface="Arial"/>
                <a:ea typeface="Arial"/>
                <a:cs typeface="Arial"/>
                <a:sym typeface="Arial"/>
              </a:rPr>
              <a:t>transactions initiated at that site</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0" rtl="0" algn="l">
              <a:spcBef>
                <a:spcPts val="1400"/>
              </a:spcBef>
              <a:spcAft>
                <a:spcPts val="0"/>
              </a:spcAft>
              <a:buNone/>
            </a:pPr>
            <a:r>
              <a:rPr b="1" lang="en" sz="1300">
                <a:solidFill>
                  <a:srgbClr val="000000"/>
                </a:solidFill>
                <a:latin typeface="Arial"/>
                <a:ea typeface="Arial"/>
                <a:cs typeface="Arial"/>
                <a:sym typeface="Arial"/>
              </a:rPr>
              <a:t>✔ Responsibilities:</a:t>
            </a:r>
            <a:endParaRPr b="1" sz="13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Starts a transaction.</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Breaks it into smaller pieces called </a:t>
            </a:r>
            <a:r>
              <a:rPr b="1" lang="en" sz="1100">
                <a:solidFill>
                  <a:srgbClr val="000000"/>
                </a:solidFill>
                <a:latin typeface="Arial"/>
                <a:ea typeface="Arial"/>
                <a:cs typeface="Arial"/>
                <a:sym typeface="Arial"/>
              </a:rPr>
              <a:t>subtransactions</a:t>
            </a:r>
            <a:r>
              <a:rPr lang="en" sz="1100">
                <a:solidFill>
                  <a:srgbClr val="000000"/>
                </a:solidFill>
                <a:latin typeface="Arial"/>
                <a:ea typeface="Arial"/>
                <a:cs typeface="Arial"/>
                <a:sym typeface="Arial"/>
              </a:rPr>
              <a:t>.</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Sends subtransactions to appropriate sites.</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At the end, coordinates </a:t>
            </a:r>
            <a:r>
              <a:rPr b="1" lang="en" sz="1100">
                <a:solidFill>
                  <a:srgbClr val="000000"/>
                </a:solidFill>
                <a:latin typeface="Arial"/>
                <a:ea typeface="Arial"/>
                <a:cs typeface="Arial"/>
                <a:sym typeface="Arial"/>
              </a:rPr>
              <a:t>commit or abort</a:t>
            </a:r>
            <a:r>
              <a:rPr lang="en" sz="1100">
                <a:solidFill>
                  <a:srgbClr val="000000"/>
                </a:solidFill>
                <a:latin typeface="Arial"/>
                <a:ea typeface="Arial"/>
                <a:cs typeface="Arial"/>
                <a:sym typeface="Arial"/>
              </a:rPr>
              <a:t> across all sites.</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 </a:t>
            </a:r>
            <a:r>
              <a:rPr b="1" lang="en" sz="1100">
                <a:solidFill>
                  <a:srgbClr val="000000"/>
                </a:solidFill>
                <a:latin typeface="Arial"/>
                <a:ea typeface="Arial"/>
                <a:cs typeface="Arial"/>
                <a:sym typeface="Arial"/>
              </a:rPr>
              <a:t>Without the coordinator</a:t>
            </a:r>
            <a:r>
              <a:rPr lang="en" sz="1100">
                <a:solidFill>
                  <a:srgbClr val="000000"/>
                </a:solidFill>
                <a:latin typeface="Arial"/>
                <a:ea typeface="Arial"/>
                <a:cs typeface="Arial"/>
                <a:sym typeface="Arial"/>
              </a:rPr>
              <a:t>, a global transaction cannot be completed in a controlled manner.</a:t>
            </a: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84"/>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449" name="Google Shape;449;p84"/>
          <p:cNvSpPr txBox="1"/>
          <p:nvPr>
            <p:ph idx="1" type="body"/>
          </p:nvPr>
        </p:nvSpPr>
        <p:spPr>
          <a:xfrm>
            <a:off x="311700" y="1266325"/>
            <a:ext cx="8520600" cy="3302700"/>
          </a:xfrm>
          <a:prstGeom prst="rect">
            <a:avLst/>
          </a:prstGeom>
        </p:spPr>
        <p:txBody>
          <a:bodyPr anchorCtr="0" anchor="t" bIns="91425" lIns="91425" spcFirstLastPara="1" rIns="91425" wrap="square" tIns="91425">
            <a:normAutofit lnSpcReduction="10000"/>
          </a:bodyPr>
          <a:lstStyle/>
          <a:p>
            <a:pPr indent="0" lvl="0" marL="0" rtl="0" algn="l">
              <a:spcBef>
                <a:spcPts val="2400"/>
              </a:spcBef>
              <a:spcAft>
                <a:spcPts val="0"/>
              </a:spcAft>
              <a:buNone/>
            </a:pPr>
            <a:r>
              <a:rPr b="1" lang="en" sz="2300">
                <a:solidFill>
                  <a:srgbClr val="000000"/>
                </a:solidFill>
                <a:latin typeface="Arial"/>
                <a:ea typeface="Arial"/>
                <a:cs typeface="Arial"/>
                <a:sym typeface="Arial"/>
              </a:rPr>
              <a:t>How It Works – Simple Example</a:t>
            </a:r>
            <a:endParaRPr b="1" sz="23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Assume a global transaction T1 needs data from </a:t>
            </a:r>
            <a:r>
              <a:rPr b="1" lang="en" sz="1100">
                <a:solidFill>
                  <a:srgbClr val="000000"/>
                </a:solidFill>
                <a:latin typeface="Arial"/>
                <a:ea typeface="Arial"/>
                <a:cs typeface="Arial"/>
                <a:sym typeface="Arial"/>
              </a:rPr>
              <a:t>Site A</a:t>
            </a:r>
            <a:r>
              <a:rPr lang="en" sz="1100">
                <a:solidFill>
                  <a:srgbClr val="000000"/>
                </a:solidFill>
                <a:latin typeface="Arial"/>
                <a:ea typeface="Arial"/>
                <a:cs typeface="Arial"/>
                <a:sym typeface="Arial"/>
              </a:rPr>
              <a:t> and </a:t>
            </a:r>
            <a:r>
              <a:rPr b="1" lang="en" sz="1100">
                <a:solidFill>
                  <a:srgbClr val="000000"/>
                </a:solidFill>
                <a:latin typeface="Arial"/>
                <a:ea typeface="Arial"/>
                <a:cs typeface="Arial"/>
                <a:sym typeface="Arial"/>
              </a:rPr>
              <a:t>Site B</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AutoNum type="arabicPeriod"/>
            </a:pPr>
            <a:r>
              <a:rPr lang="en" sz="1100">
                <a:solidFill>
                  <a:srgbClr val="000000"/>
                </a:solidFill>
                <a:latin typeface="Arial"/>
                <a:ea typeface="Arial"/>
                <a:cs typeface="Arial"/>
                <a:sym typeface="Arial"/>
              </a:rPr>
              <a:t>Transaction starts at Site A → </a:t>
            </a:r>
            <a:r>
              <a:rPr b="1" lang="en" sz="1100">
                <a:solidFill>
                  <a:srgbClr val="000000"/>
                </a:solidFill>
                <a:latin typeface="Arial"/>
                <a:ea typeface="Arial"/>
                <a:cs typeface="Arial"/>
                <a:sym typeface="Arial"/>
              </a:rPr>
              <a:t>Coordinator at A</a:t>
            </a:r>
            <a:br>
              <a:rPr b="1" lang="en" sz="1100">
                <a:solidFill>
                  <a:srgbClr val="000000"/>
                </a:solidFill>
                <a:latin typeface="Arial"/>
                <a:ea typeface="Arial"/>
                <a:cs typeface="Arial"/>
                <a:sym typeface="Arial"/>
              </a:rPr>
            </a:br>
            <a:endParaRPr b="1"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AutoNum type="arabicPeriod"/>
            </a:pPr>
            <a:r>
              <a:rPr lang="en" sz="1100">
                <a:solidFill>
                  <a:srgbClr val="000000"/>
                </a:solidFill>
                <a:latin typeface="Arial"/>
                <a:ea typeface="Arial"/>
                <a:cs typeface="Arial"/>
                <a:sym typeface="Arial"/>
              </a:rPr>
              <a:t>Coordinator divides T1 into:</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T1A → goes to Site A</a:t>
            </a: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T1B → goes to Site B</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AutoNum type="arabicPeriod"/>
            </a:pPr>
            <a:r>
              <a:rPr lang="en" sz="1100">
                <a:solidFill>
                  <a:srgbClr val="000000"/>
                </a:solidFill>
                <a:latin typeface="Arial"/>
                <a:ea typeface="Arial"/>
                <a:cs typeface="Arial"/>
                <a:sym typeface="Arial"/>
              </a:rPr>
              <a:t>Each site’s </a:t>
            </a:r>
            <a:r>
              <a:rPr b="1" lang="en" sz="1100">
                <a:solidFill>
                  <a:srgbClr val="000000"/>
                </a:solidFill>
                <a:latin typeface="Arial"/>
                <a:ea typeface="Arial"/>
                <a:cs typeface="Arial"/>
                <a:sym typeface="Arial"/>
              </a:rPr>
              <a:t>Transaction Manager</a:t>
            </a:r>
            <a:r>
              <a:rPr lang="en" sz="1100">
                <a:solidFill>
                  <a:srgbClr val="000000"/>
                </a:solidFill>
                <a:latin typeface="Arial"/>
                <a:ea typeface="Arial"/>
                <a:cs typeface="Arial"/>
                <a:sym typeface="Arial"/>
              </a:rPr>
              <a:t> executes its part.</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AutoNum type="arabicPeriod"/>
            </a:pPr>
            <a:r>
              <a:rPr lang="en" sz="1100">
                <a:solidFill>
                  <a:srgbClr val="000000"/>
                </a:solidFill>
                <a:latin typeface="Arial"/>
                <a:ea typeface="Arial"/>
                <a:cs typeface="Arial"/>
                <a:sym typeface="Arial"/>
              </a:rPr>
              <a:t>Coordinator performs:</a:t>
            </a: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Final decision: </a:t>
            </a:r>
            <a:r>
              <a:rPr b="1" lang="en" sz="1100">
                <a:solidFill>
                  <a:srgbClr val="000000"/>
                </a:solidFill>
                <a:latin typeface="Arial"/>
                <a:ea typeface="Arial"/>
                <a:cs typeface="Arial"/>
                <a:sym typeface="Arial"/>
              </a:rPr>
              <a:t>Commit everywhere</a:t>
            </a:r>
            <a:r>
              <a:rPr lang="en" sz="1100">
                <a:solidFill>
                  <a:srgbClr val="000000"/>
                </a:solidFill>
                <a:latin typeface="Arial"/>
                <a:ea typeface="Arial"/>
                <a:cs typeface="Arial"/>
                <a:sym typeface="Arial"/>
              </a:rPr>
              <a:t> or </a:t>
            </a:r>
            <a:r>
              <a:rPr b="1" lang="en" sz="1100">
                <a:solidFill>
                  <a:srgbClr val="000000"/>
                </a:solidFill>
                <a:latin typeface="Arial"/>
                <a:ea typeface="Arial"/>
                <a:cs typeface="Arial"/>
                <a:sym typeface="Arial"/>
              </a:rPr>
              <a:t>Abort everywhere</a:t>
            </a:r>
            <a:endParaRPr b="1" sz="1100">
              <a:solidFill>
                <a:srgbClr val="000000"/>
              </a:solidFill>
              <a:latin typeface="Arial"/>
              <a:ea typeface="Arial"/>
              <a:cs typeface="Arial"/>
              <a:sym typeface="Arial"/>
            </a:endParaRPr>
          </a:p>
          <a:p>
            <a:pPr indent="0" lvl="0" marL="0" rtl="0" algn="l">
              <a:spcBef>
                <a:spcPts val="1200"/>
              </a:spcBef>
              <a:spcAft>
                <a:spcPts val="1200"/>
              </a:spcAft>
              <a:buNone/>
            </a:pPr>
            <a:r>
              <a:rPr lang="en" sz="1100">
                <a:solidFill>
                  <a:srgbClr val="000000"/>
                </a:solidFill>
                <a:latin typeface="Arial"/>
                <a:ea typeface="Arial"/>
                <a:cs typeface="Arial"/>
                <a:sym typeface="Arial"/>
              </a:rPr>
              <a:t>This ensures </a:t>
            </a:r>
            <a:r>
              <a:rPr b="1" lang="en" sz="1100">
                <a:solidFill>
                  <a:srgbClr val="000000"/>
                </a:solidFill>
                <a:latin typeface="Arial"/>
                <a:ea typeface="Arial"/>
                <a:cs typeface="Arial"/>
                <a:sym typeface="Arial"/>
              </a:rPr>
              <a:t>Atomicity</a:t>
            </a:r>
            <a:r>
              <a:rPr lang="en" sz="1100">
                <a:solidFill>
                  <a:srgbClr val="000000"/>
                </a:solidFill>
                <a:latin typeface="Arial"/>
                <a:ea typeface="Arial"/>
                <a:cs typeface="Arial"/>
                <a:sym typeface="Arial"/>
              </a:rPr>
              <a:t> across the whole distributed system.</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85"/>
          <p:cNvSpPr txBox="1"/>
          <p:nvPr>
            <p:ph idx="1" type="body"/>
          </p:nvPr>
        </p:nvSpPr>
        <p:spPr>
          <a:xfrm>
            <a:off x="311700" y="453400"/>
            <a:ext cx="8520600" cy="4115700"/>
          </a:xfrm>
          <a:prstGeom prst="rect">
            <a:avLst/>
          </a:prstGeom>
        </p:spPr>
        <p:txBody>
          <a:bodyPr anchorCtr="0" anchor="t" bIns="91425" lIns="91425" spcFirstLastPara="1" rIns="91425" wrap="square" tIns="91425">
            <a:normAutofit lnSpcReduction="10000"/>
          </a:bodyPr>
          <a:lstStyle/>
          <a:p>
            <a:pPr indent="0" lvl="0" marL="0" rtl="0" algn="l">
              <a:spcBef>
                <a:spcPts val="2400"/>
              </a:spcBef>
              <a:spcAft>
                <a:spcPts val="0"/>
              </a:spcAft>
              <a:buNone/>
            </a:pPr>
            <a:r>
              <a:rPr b="1" lang="en" sz="2300">
                <a:solidFill>
                  <a:srgbClr val="000000"/>
                </a:solidFill>
                <a:latin typeface="Arial"/>
                <a:ea typeface="Arial"/>
                <a:cs typeface="Arial"/>
                <a:sym typeface="Arial"/>
              </a:rPr>
              <a:t>2. System Failure Modes in Distributed DB</a:t>
            </a:r>
            <a:endParaRPr b="1" sz="23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Distributed systems face all normal failures, plus additional ones.</a:t>
            </a:r>
            <a:br>
              <a:rPr lang="en" sz="1100">
                <a:solidFill>
                  <a:srgbClr val="000000"/>
                </a:solidFill>
                <a:latin typeface="Arial"/>
                <a:ea typeface="Arial"/>
                <a:cs typeface="Arial"/>
                <a:sym typeface="Arial"/>
              </a:rPr>
            </a:br>
            <a:r>
              <a:rPr lang="en" sz="1100">
                <a:solidFill>
                  <a:srgbClr val="000000"/>
                </a:solidFill>
                <a:latin typeface="Arial"/>
                <a:ea typeface="Arial"/>
                <a:cs typeface="Arial"/>
                <a:sym typeface="Arial"/>
              </a:rPr>
              <a:t>Here are the </a:t>
            </a:r>
            <a:r>
              <a:rPr b="1" lang="en" sz="1100">
                <a:solidFill>
                  <a:srgbClr val="000000"/>
                </a:solidFill>
                <a:latin typeface="Arial"/>
                <a:ea typeface="Arial"/>
                <a:cs typeface="Arial"/>
                <a:sym typeface="Arial"/>
              </a:rPr>
              <a:t>4 main failure modes</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0" rtl="0" algn="l">
              <a:spcBef>
                <a:spcPts val="1800"/>
              </a:spcBef>
              <a:spcAft>
                <a:spcPts val="0"/>
              </a:spcAft>
              <a:buNone/>
            </a:pPr>
            <a:r>
              <a:rPr b="1" lang="en" sz="1700">
                <a:solidFill>
                  <a:srgbClr val="000000"/>
                </a:solidFill>
                <a:latin typeface="Arial"/>
                <a:ea typeface="Arial"/>
                <a:cs typeface="Arial"/>
                <a:sym typeface="Arial"/>
              </a:rPr>
              <a:t>1. Site Failure</a:t>
            </a:r>
            <a:endParaRPr b="1" sz="17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A whole machine/site crashes.</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Examples:</a:t>
            </a:r>
            <a:endParaRPr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Power failure</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OS crash</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Hardware failure</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Impact:</a:t>
            </a:r>
            <a:endParaRPr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The site becomes unreachable.</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Transactions involving that site may fail or get blocked.</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86"/>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460" name="Google Shape;460;p86"/>
          <p:cNvSpPr txBox="1"/>
          <p:nvPr>
            <p:ph idx="1" type="body"/>
          </p:nvPr>
        </p:nvSpPr>
        <p:spPr>
          <a:xfrm>
            <a:off x="311700" y="1266325"/>
            <a:ext cx="8520600" cy="3302700"/>
          </a:xfrm>
          <a:prstGeom prst="rect">
            <a:avLst/>
          </a:prstGeom>
        </p:spPr>
        <p:txBody>
          <a:bodyPr anchorCtr="0" anchor="t" bIns="91425" lIns="91425" spcFirstLastPara="1" rIns="91425" wrap="square" tIns="91425">
            <a:normAutofit lnSpcReduction="20000"/>
          </a:bodyPr>
          <a:lstStyle/>
          <a:p>
            <a:pPr indent="0" lvl="0" marL="0" rtl="0" algn="l">
              <a:spcBef>
                <a:spcPts val="1800"/>
              </a:spcBef>
              <a:spcAft>
                <a:spcPts val="0"/>
              </a:spcAft>
              <a:buNone/>
            </a:pPr>
            <a:r>
              <a:rPr b="1" lang="en" sz="1700">
                <a:solidFill>
                  <a:srgbClr val="000000"/>
                </a:solidFill>
                <a:latin typeface="Arial"/>
                <a:ea typeface="Arial"/>
                <a:cs typeface="Arial"/>
                <a:sym typeface="Arial"/>
              </a:rPr>
              <a:t>2. Loss of Messages</a:t>
            </a:r>
            <a:endParaRPr b="1" sz="17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Messages between sites may be:</a:t>
            </a:r>
            <a:endParaRPr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Lost</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Corrupted</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Duplicated</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Even though protocols like </a:t>
            </a:r>
            <a:r>
              <a:rPr b="1" lang="en" sz="1100">
                <a:solidFill>
                  <a:srgbClr val="000000"/>
                </a:solidFill>
                <a:latin typeface="Arial"/>
                <a:ea typeface="Arial"/>
                <a:cs typeface="Arial"/>
                <a:sym typeface="Arial"/>
              </a:rPr>
              <a:t>TCP/IP</a:t>
            </a:r>
            <a:r>
              <a:rPr lang="en" sz="1100">
                <a:solidFill>
                  <a:srgbClr val="000000"/>
                </a:solidFill>
                <a:latin typeface="Arial"/>
                <a:ea typeface="Arial"/>
                <a:cs typeface="Arial"/>
                <a:sym typeface="Arial"/>
              </a:rPr>
              <a:t> try to ensure safe delivery, failures can still happen.</a:t>
            </a:r>
            <a:endParaRPr sz="1100">
              <a:solidFill>
                <a:srgbClr val="000000"/>
              </a:solidFill>
              <a:latin typeface="Arial"/>
              <a:ea typeface="Arial"/>
              <a:cs typeface="Arial"/>
              <a:sym typeface="Arial"/>
            </a:endParaRPr>
          </a:p>
          <a:p>
            <a:pPr indent="0" lvl="0" marL="0" rtl="0" algn="l">
              <a:spcBef>
                <a:spcPts val="1800"/>
              </a:spcBef>
              <a:spcAft>
                <a:spcPts val="0"/>
              </a:spcAft>
              <a:buNone/>
            </a:pPr>
            <a:r>
              <a:rPr b="1" lang="en" sz="1700">
                <a:solidFill>
                  <a:srgbClr val="000000"/>
                </a:solidFill>
                <a:latin typeface="Arial"/>
                <a:ea typeface="Arial"/>
                <a:cs typeface="Arial"/>
                <a:sym typeface="Arial"/>
              </a:rPr>
              <a:t>3. Communication Link Failure</a:t>
            </a:r>
            <a:endParaRPr b="1" sz="17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The physical or network connection between two sites breaks.</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Effects:</a:t>
            </a:r>
            <a:endParaRPr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Messages cannot travel through that link.</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System tries to reroute messages via other links (if available).</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87"/>
          <p:cNvSpPr txBox="1"/>
          <p:nvPr>
            <p:ph idx="1" type="body"/>
          </p:nvPr>
        </p:nvSpPr>
        <p:spPr>
          <a:xfrm>
            <a:off x="311700" y="271600"/>
            <a:ext cx="8520600" cy="4297500"/>
          </a:xfrm>
          <a:prstGeom prst="rect">
            <a:avLst/>
          </a:prstGeom>
        </p:spPr>
        <p:txBody>
          <a:bodyPr anchorCtr="0" anchor="t" bIns="91425" lIns="91425" spcFirstLastPara="1" rIns="91425" wrap="square" tIns="91425">
            <a:noAutofit/>
          </a:bodyPr>
          <a:lstStyle/>
          <a:p>
            <a:pPr indent="0" lvl="0" marL="0" rtl="0" algn="l">
              <a:spcBef>
                <a:spcPts val="200"/>
              </a:spcBef>
              <a:spcAft>
                <a:spcPts val="0"/>
              </a:spcAft>
              <a:buNone/>
            </a:pPr>
            <a:r>
              <a:rPr b="1" lang="en">
                <a:solidFill>
                  <a:srgbClr val="000000"/>
                </a:solidFill>
                <a:latin typeface="Arial"/>
                <a:ea typeface="Arial"/>
                <a:cs typeface="Arial"/>
                <a:sym typeface="Arial"/>
              </a:rPr>
              <a:t>4. Network Partition</a:t>
            </a:r>
            <a:endParaRPr b="1">
              <a:solidFill>
                <a:srgbClr val="000000"/>
              </a:solidFill>
              <a:latin typeface="Arial"/>
              <a:ea typeface="Arial"/>
              <a:cs typeface="Arial"/>
              <a:sym typeface="Arial"/>
            </a:endParaRPr>
          </a:p>
          <a:p>
            <a:pPr indent="0" lvl="0" marL="0" rtl="0" algn="l">
              <a:spcBef>
                <a:spcPts val="200"/>
              </a:spcBef>
              <a:spcAft>
                <a:spcPts val="0"/>
              </a:spcAft>
              <a:buNone/>
            </a:pPr>
            <a:r>
              <a:rPr lang="en" sz="1200">
                <a:solidFill>
                  <a:srgbClr val="000000"/>
                </a:solidFill>
                <a:latin typeface="Arial"/>
                <a:ea typeface="Arial"/>
                <a:cs typeface="Arial"/>
                <a:sym typeface="Arial"/>
              </a:rPr>
              <a:t>A serious condition where the network splits into </a:t>
            </a:r>
            <a:r>
              <a:rPr b="1" lang="en" sz="1200">
                <a:solidFill>
                  <a:srgbClr val="000000"/>
                </a:solidFill>
                <a:latin typeface="Arial"/>
                <a:ea typeface="Arial"/>
                <a:cs typeface="Arial"/>
                <a:sym typeface="Arial"/>
              </a:rPr>
              <a:t>two or more groups</a:t>
            </a:r>
            <a:r>
              <a:rPr lang="en" sz="1200">
                <a:solidFill>
                  <a:srgbClr val="000000"/>
                </a:solidFill>
                <a:latin typeface="Arial"/>
                <a:ea typeface="Arial"/>
                <a:cs typeface="Arial"/>
                <a:sym typeface="Arial"/>
              </a:rPr>
              <a:t> of sites.</a:t>
            </a:r>
            <a:endParaRPr sz="1200">
              <a:solidFill>
                <a:srgbClr val="000000"/>
              </a:solidFill>
              <a:latin typeface="Arial"/>
              <a:ea typeface="Arial"/>
              <a:cs typeface="Arial"/>
              <a:sym typeface="Arial"/>
            </a:endParaRPr>
          </a:p>
          <a:p>
            <a:pPr indent="0" lvl="0" marL="0" rtl="0" algn="l">
              <a:spcBef>
                <a:spcPts val="200"/>
              </a:spcBef>
              <a:spcAft>
                <a:spcPts val="0"/>
              </a:spcAft>
              <a:buNone/>
            </a:pPr>
            <a:r>
              <a:rPr lang="en" sz="1200">
                <a:solidFill>
                  <a:srgbClr val="000000"/>
                </a:solidFill>
                <a:latin typeface="Arial"/>
                <a:ea typeface="Arial"/>
                <a:cs typeface="Arial"/>
                <a:sym typeface="Arial"/>
              </a:rPr>
              <a:t>Example:</a:t>
            </a:r>
            <a:endParaRPr sz="1200">
              <a:solidFill>
                <a:srgbClr val="000000"/>
              </a:solidFill>
              <a:latin typeface="Arial"/>
              <a:ea typeface="Arial"/>
              <a:cs typeface="Arial"/>
              <a:sym typeface="Arial"/>
            </a:endParaRPr>
          </a:p>
          <a:p>
            <a:pPr indent="-304800" lvl="0" marL="457200" rtl="0" algn="l">
              <a:spcBef>
                <a:spcPts val="200"/>
              </a:spcBef>
              <a:spcAft>
                <a:spcPts val="0"/>
              </a:spcAft>
              <a:buClr>
                <a:srgbClr val="000000"/>
              </a:buClr>
              <a:buSzPts val="1200"/>
              <a:buFont typeface="Arial"/>
              <a:buChar char="●"/>
            </a:pPr>
            <a:r>
              <a:rPr lang="en" sz="1200">
                <a:solidFill>
                  <a:srgbClr val="000000"/>
                </a:solidFill>
                <a:latin typeface="Arial"/>
                <a:ea typeface="Arial"/>
                <a:cs typeface="Arial"/>
                <a:sym typeface="Arial"/>
              </a:rPr>
              <a:t>Sites {A, B} get separated from sites {C, D}</a:t>
            </a:r>
            <a:endParaRPr sz="1200">
              <a:solidFill>
                <a:srgbClr val="000000"/>
              </a:solidFill>
              <a:latin typeface="Arial"/>
              <a:ea typeface="Arial"/>
              <a:cs typeface="Arial"/>
              <a:sym typeface="Arial"/>
            </a:endParaRPr>
          </a:p>
          <a:p>
            <a:pPr indent="-304800" lvl="0" marL="457200" rtl="0" algn="l">
              <a:spcBef>
                <a:spcPts val="200"/>
              </a:spcBef>
              <a:spcAft>
                <a:spcPts val="0"/>
              </a:spcAft>
              <a:buClr>
                <a:srgbClr val="000000"/>
              </a:buClr>
              <a:buSzPts val="1200"/>
              <a:buFont typeface="Arial"/>
              <a:buChar char="●"/>
            </a:pPr>
            <a:r>
              <a:rPr lang="en" sz="1200">
                <a:solidFill>
                  <a:srgbClr val="000000"/>
                </a:solidFill>
                <a:latin typeface="Arial"/>
                <a:ea typeface="Arial"/>
                <a:cs typeface="Arial"/>
                <a:sym typeface="Arial"/>
              </a:rPr>
              <a:t>No communication between the groups</a:t>
            </a:r>
            <a:endParaRPr sz="1200">
              <a:solidFill>
                <a:srgbClr val="000000"/>
              </a:solidFill>
              <a:latin typeface="Arial"/>
              <a:ea typeface="Arial"/>
              <a:cs typeface="Arial"/>
              <a:sym typeface="Arial"/>
            </a:endParaRPr>
          </a:p>
          <a:p>
            <a:pPr indent="-304800" lvl="0" marL="457200" rtl="0" algn="l">
              <a:spcBef>
                <a:spcPts val="200"/>
              </a:spcBef>
              <a:spcAft>
                <a:spcPts val="0"/>
              </a:spcAft>
              <a:buClr>
                <a:srgbClr val="000000"/>
              </a:buClr>
              <a:buSzPts val="1200"/>
              <a:buFont typeface="Arial"/>
              <a:buChar char="●"/>
            </a:pPr>
            <a:r>
              <a:rPr lang="en" sz="1200">
                <a:solidFill>
                  <a:srgbClr val="000000"/>
                </a:solidFill>
                <a:latin typeface="Arial"/>
                <a:ea typeface="Arial"/>
                <a:cs typeface="Arial"/>
                <a:sym typeface="Arial"/>
              </a:rPr>
              <a:t>Each group may continue working independently</a:t>
            </a:r>
            <a:endParaRPr sz="1200">
              <a:solidFill>
                <a:srgbClr val="000000"/>
              </a:solidFill>
              <a:latin typeface="Arial"/>
              <a:ea typeface="Arial"/>
              <a:cs typeface="Arial"/>
              <a:sym typeface="Arial"/>
            </a:endParaRPr>
          </a:p>
          <a:p>
            <a:pPr indent="0" lvl="0" marL="0" rtl="0" algn="l">
              <a:spcBef>
                <a:spcPts val="200"/>
              </a:spcBef>
              <a:spcAft>
                <a:spcPts val="0"/>
              </a:spcAft>
              <a:buNone/>
            </a:pPr>
            <a:r>
              <a:rPr lang="en" sz="1200">
                <a:solidFill>
                  <a:srgbClr val="000000"/>
                </a:solidFill>
                <a:latin typeface="Arial"/>
                <a:ea typeface="Arial"/>
                <a:cs typeface="Arial"/>
                <a:sym typeface="Arial"/>
              </a:rPr>
              <a:t>Important Note:</a:t>
            </a:r>
            <a:br>
              <a:rPr lang="en" sz="1200">
                <a:solidFill>
                  <a:srgbClr val="000000"/>
                </a:solidFill>
                <a:latin typeface="Arial"/>
                <a:ea typeface="Arial"/>
                <a:cs typeface="Arial"/>
                <a:sym typeface="Arial"/>
              </a:rPr>
            </a:br>
            <a:r>
              <a:rPr lang="en" sz="1200">
                <a:solidFill>
                  <a:srgbClr val="000000"/>
                </a:solidFill>
                <a:latin typeface="Arial"/>
                <a:ea typeface="Arial"/>
                <a:cs typeface="Arial"/>
                <a:sym typeface="Arial"/>
              </a:rPr>
              <a:t>A partition may even be a </a:t>
            </a:r>
            <a:r>
              <a:rPr b="1" lang="en" sz="1200">
                <a:solidFill>
                  <a:srgbClr val="000000"/>
                </a:solidFill>
                <a:latin typeface="Arial"/>
                <a:ea typeface="Arial"/>
                <a:cs typeface="Arial"/>
                <a:sym typeface="Arial"/>
              </a:rPr>
              <a:t>single isolated node</a:t>
            </a:r>
            <a:r>
              <a:rPr lang="e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a:p>
            <a:pPr indent="0" lvl="0" marL="0" rtl="0" algn="l">
              <a:spcBef>
                <a:spcPts val="200"/>
              </a:spcBef>
              <a:spcAft>
                <a:spcPts val="0"/>
              </a:spcAft>
              <a:buNone/>
            </a:pPr>
            <a:r>
              <a:t/>
            </a:r>
            <a:endParaRPr sz="1200">
              <a:solidFill>
                <a:srgbClr val="000000"/>
              </a:solidFill>
              <a:latin typeface="Arial"/>
              <a:ea typeface="Arial"/>
              <a:cs typeface="Arial"/>
              <a:sym typeface="Arial"/>
            </a:endParaRPr>
          </a:p>
          <a:p>
            <a:pPr indent="0" lvl="0" marL="0" rtl="0" algn="l">
              <a:spcBef>
                <a:spcPts val="200"/>
              </a:spcBef>
              <a:spcAft>
                <a:spcPts val="0"/>
              </a:spcAft>
              <a:buNone/>
            </a:pPr>
            <a:r>
              <a:rPr b="1" lang="en" sz="1700">
                <a:solidFill>
                  <a:srgbClr val="000000"/>
                </a:solidFill>
                <a:latin typeface="Arial"/>
                <a:ea typeface="Arial"/>
                <a:cs typeface="Arial"/>
                <a:sym typeface="Arial"/>
              </a:rPr>
              <a:t>Why Failures Are Critical?</a:t>
            </a:r>
            <a:endParaRPr b="1" sz="1700">
              <a:solidFill>
                <a:srgbClr val="000000"/>
              </a:solidFill>
              <a:latin typeface="Arial"/>
              <a:ea typeface="Arial"/>
              <a:cs typeface="Arial"/>
              <a:sym typeface="Arial"/>
            </a:endParaRPr>
          </a:p>
          <a:p>
            <a:pPr indent="0" lvl="0" marL="0" rtl="0" algn="l">
              <a:spcBef>
                <a:spcPts val="200"/>
              </a:spcBef>
              <a:spcAft>
                <a:spcPts val="0"/>
              </a:spcAft>
              <a:buNone/>
            </a:pPr>
            <a:r>
              <a:rPr lang="en" sz="1200">
                <a:solidFill>
                  <a:srgbClr val="000000"/>
                </a:solidFill>
                <a:latin typeface="Arial"/>
                <a:ea typeface="Arial"/>
                <a:cs typeface="Arial"/>
                <a:sym typeface="Arial"/>
              </a:rPr>
              <a:t>Because global transactions need:</a:t>
            </a:r>
            <a:endParaRPr sz="1200">
              <a:solidFill>
                <a:srgbClr val="000000"/>
              </a:solidFill>
              <a:latin typeface="Arial"/>
              <a:ea typeface="Arial"/>
              <a:cs typeface="Arial"/>
              <a:sym typeface="Arial"/>
            </a:endParaRPr>
          </a:p>
          <a:p>
            <a:pPr indent="-304800" lvl="0" marL="457200" rtl="0" algn="l">
              <a:spcBef>
                <a:spcPts val="200"/>
              </a:spcBef>
              <a:spcAft>
                <a:spcPts val="0"/>
              </a:spcAft>
              <a:buClr>
                <a:srgbClr val="000000"/>
              </a:buClr>
              <a:buSzPts val="1200"/>
              <a:buFont typeface="Arial"/>
              <a:buChar char="●"/>
            </a:pPr>
            <a:r>
              <a:rPr lang="en" sz="1200">
                <a:solidFill>
                  <a:srgbClr val="000000"/>
                </a:solidFill>
                <a:latin typeface="Arial"/>
                <a:ea typeface="Arial"/>
                <a:cs typeface="Arial"/>
                <a:sym typeface="Arial"/>
              </a:rPr>
              <a:t>All sites to communicate</a:t>
            </a:r>
            <a:endParaRPr sz="1200">
              <a:solidFill>
                <a:srgbClr val="000000"/>
              </a:solidFill>
              <a:latin typeface="Arial"/>
              <a:ea typeface="Arial"/>
              <a:cs typeface="Arial"/>
              <a:sym typeface="Arial"/>
            </a:endParaRPr>
          </a:p>
          <a:p>
            <a:pPr indent="-304800" lvl="0" marL="457200" rtl="0" algn="l">
              <a:spcBef>
                <a:spcPts val="200"/>
              </a:spcBef>
              <a:spcAft>
                <a:spcPts val="0"/>
              </a:spcAft>
              <a:buClr>
                <a:srgbClr val="000000"/>
              </a:buClr>
              <a:buSzPts val="1200"/>
              <a:buFont typeface="Arial"/>
              <a:buChar char="●"/>
            </a:pPr>
            <a:r>
              <a:rPr lang="en" sz="1200">
                <a:solidFill>
                  <a:srgbClr val="000000"/>
                </a:solidFill>
                <a:latin typeface="Arial"/>
                <a:ea typeface="Arial"/>
                <a:cs typeface="Arial"/>
                <a:sym typeface="Arial"/>
              </a:rPr>
              <a:t>All sites to coordinate commit/abort</a:t>
            </a:r>
            <a:endParaRPr sz="1200">
              <a:solidFill>
                <a:srgbClr val="000000"/>
              </a:solidFill>
              <a:latin typeface="Arial"/>
              <a:ea typeface="Arial"/>
              <a:cs typeface="Arial"/>
              <a:sym typeface="Arial"/>
            </a:endParaRPr>
          </a:p>
          <a:p>
            <a:pPr indent="0" lvl="0" marL="0" rtl="0" algn="l">
              <a:spcBef>
                <a:spcPts val="200"/>
              </a:spcBef>
              <a:spcAft>
                <a:spcPts val="0"/>
              </a:spcAft>
              <a:buNone/>
            </a:pPr>
            <a:r>
              <a:rPr lang="en" sz="1200">
                <a:solidFill>
                  <a:srgbClr val="000000"/>
                </a:solidFill>
                <a:latin typeface="Arial"/>
                <a:ea typeface="Arial"/>
                <a:cs typeface="Arial"/>
                <a:sym typeface="Arial"/>
              </a:rPr>
              <a:t>Any failure (even a small one) can cause:</a:t>
            </a:r>
            <a:endParaRPr sz="1200">
              <a:solidFill>
                <a:srgbClr val="000000"/>
              </a:solidFill>
              <a:latin typeface="Arial"/>
              <a:ea typeface="Arial"/>
              <a:cs typeface="Arial"/>
              <a:sym typeface="Arial"/>
            </a:endParaRPr>
          </a:p>
          <a:p>
            <a:pPr indent="-304800" lvl="0" marL="457200" rtl="0" algn="l">
              <a:spcBef>
                <a:spcPts val="200"/>
              </a:spcBef>
              <a:spcAft>
                <a:spcPts val="0"/>
              </a:spcAft>
              <a:buClr>
                <a:srgbClr val="000000"/>
              </a:buClr>
              <a:buSzPts val="1200"/>
              <a:buFont typeface="Arial"/>
              <a:buChar char="●"/>
            </a:pPr>
            <a:r>
              <a:rPr lang="en" sz="1200">
                <a:solidFill>
                  <a:srgbClr val="000000"/>
                </a:solidFill>
                <a:latin typeface="Arial"/>
                <a:ea typeface="Arial"/>
                <a:cs typeface="Arial"/>
                <a:sym typeface="Arial"/>
              </a:rPr>
              <a:t>Incomplete transactions</a:t>
            </a:r>
            <a:endParaRPr sz="1200">
              <a:solidFill>
                <a:srgbClr val="000000"/>
              </a:solidFill>
              <a:latin typeface="Arial"/>
              <a:ea typeface="Arial"/>
              <a:cs typeface="Arial"/>
              <a:sym typeface="Arial"/>
            </a:endParaRPr>
          </a:p>
          <a:p>
            <a:pPr indent="-304800" lvl="0" marL="457200" rtl="0" algn="l">
              <a:spcBef>
                <a:spcPts val="200"/>
              </a:spcBef>
              <a:spcAft>
                <a:spcPts val="0"/>
              </a:spcAft>
              <a:buClr>
                <a:srgbClr val="000000"/>
              </a:buClr>
              <a:buSzPts val="1200"/>
              <a:buFont typeface="Arial"/>
              <a:buChar char="●"/>
            </a:pPr>
            <a:r>
              <a:rPr lang="en" sz="1200">
                <a:solidFill>
                  <a:srgbClr val="000000"/>
                </a:solidFill>
                <a:latin typeface="Arial"/>
                <a:ea typeface="Arial"/>
                <a:cs typeface="Arial"/>
                <a:sym typeface="Arial"/>
              </a:rPr>
              <a:t>Inconsistency</a:t>
            </a:r>
            <a:endParaRPr sz="1200">
              <a:solidFill>
                <a:srgbClr val="000000"/>
              </a:solidFill>
              <a:latin typeface="Arial"/>
              <a:ea typeface="Arial"/>
              <a:cs typeface="Arial"/>
              <a:sym typeface="Arial"/>
            </a:endParaRPr>
          </a:p>
          <a:p>
            <a:pPr indent="-304800" lvl="0" marL="457200" rtl="0" algn="l">
              <a:spcBef>
                <a:spcPts val="200"/>
              </a:spcBef>
              <a:spcAft>
                <a:spcPts val="0"/>
              </a:spcAft>
              <a:buClr>
                <a:srgbClr val="000000"/>
              </a:buClr>
              <a:buSzPts val="1200"/>
              <a:buFont typeface="Arial"/>
              <a:buChar char="●"/>
            </a:pPr>
            <a:r>
              <a:rPr lang="en" sz="1200">
                <a:solidFill>
                  <a:srgbClr val="000000"/>
                </a:solidFill>
                <a:latin typeface="Arial"/>
                <a:ea typeface="Arial"/>
                <a:cs typeface="Arial"/>
                <a:sym typeface="Arial"/>
              </a:rPr>
              <a:t>Deadlocks</a:t>
            </a:r>
            <a:endParaRPr sz="1200">
              <a:solidFill>
                <a:srgbClr val="000000"/>
              </a:solidFill>
              <a:latin typeface="Arial"/>
              <a:ea typeface="Arial"/>
              <a:cs typeface="Arial"/>
              <a:sym typeface="Arial"/>
            </a:endParaRPr>
          </a:p>
          <a:p>
            <a:pPr indent="-304800" lvl="0" marL="457200" rtl="0" algn="l">
              <a:spcBef>
                <a:spcPts val="200"/>
              </a:spcBef>
              <a:spcAft>
                <a:spcPts val="200"/>
              </a:spcAft>
              <a:buClr>
                <a:srgbClr val="000000"/>
              </a:buClr>
              <a:buSzPts val="1200"/>
              <a:buFont typeface="Arial"/>
              <a:buChar char="●"/>
            </a:pPr>
            <a:r>
              <a:rPr lang="en" sz="1200">
                <a:solidFill>
                  <a:srgbClr val="000000"/>
                </a:solidFill>
                <a:latin typeface="Arial"/>
                <a:ea typeface="Arial"/>
                <a:cs typeface="Arial"/>
                <a:sym typeface="Arial"/>
              </a:rPr>
              <a:t>Data loss if systems are not designed properly</a:t>
            </a:r>
            <a:endParaRPr sz="1900"/>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88"/>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Commit Protocols</a:t>
            </a:r>
            <a:endParaRPr/>
          </a:p>
        </p:txBody>
      </p:sp>
      <p:sp>
        <p:nvSpPr>
          <p:cNvPr id="471" name="Google Shape;471;p88"/>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sz="1100">
                <a:solidFill>
                  <a:srgbClr val="000000"/>
                </a:solidFill>
                <a:latin typeface="Arial"/>
                <a:ea typeface="Arial"/>
                <a:cs typeface="Arial"/>
                <a:sym typeface="Arial"/>
              </a:rPr>
              <a:t>In </a:t>
            </a:r>
            <a:r>
              <a:rPr b="1" lang="en" sz="1100">
                <a:solidFill>
                  <a:srgbClr val="000000"/>
                </a:solidFill>
                <a:latin typeface="Arial"/>
                <a:ea typeface="Arial"/>
                <a:cs typeface="Arial"/>
                <a:sym typeface="Arial"/>
              </a:rPr>
              <a:t>distributed transactions</a:t>
            </a:r>
            <a:r>
              <a:rPr lang="en" sz="1100">
                <a:solidFill>
                  <a:srgbClr val="000000"/>
                </a:solidFill>
                <a:latin typeface="Arial"/>
                <a:ea typeface="Arial"/>
                <a:cs typeface="Arial"/>
                <a:sym typeface="Arial"/>
              </a:rPr>
              <a:t>, a single transaction may run on </a:t>
            </a:r>
            <a:r>
              <a:rPr b="1" lang="en" sz="1100">
                <a:solidFill>
                  <a:srgbClr val="000000"/>
                </a:solidFill>
                <a:latin typeface="Arial"/>
                <a:ea typeface="Arial"/>
                <a:cs typeface="Arial"/>
                <a:sym typeface="Arial"/>
              </a:rPr>
              <a:t>multiple sites</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To satisfy </a:t>
            </a:r>
            <a:r>
              <a:rPr b="1" lang="en" sz="1100">
                <a:solidFill>
                  <a:srgbClr val="000000"/>
                </a:solidFill>
                <a:latin typeface="Arial"/>
                <a:ea typeface="Arial"/>
                <a:cs typeface="Arial"/>
                <a:sym typeface="Arial"/>
              </a:rPr>
              <a:t>Atomicity</a:t>
            </a:r>
            <a:r>
              <a:rPr lang="en" sz="1100">
                <a:solidFill>
                  <a:srgbClr val="000000"/>
                </a:solidFill>
                <a:latin typeface="Arial"/>
                <a:ea typeface="Arial"/>
                <a:cs typeface="Arial"/>
                <a:sym typeface="Arial"/>
              </a:rPr>
              <a:t> (A of ACID):</a:t>
            </a:r>
            <a:endParaRPr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The transaction must </a:t>
            </a:r>
            <a:r>
              <a:rPr b="1" lang="en" sz="1100">
                <a:solidFill>
                  <a:srgbClr val="000000"/>
                </a:solidFill>
                <a:latin typeface="Arial"/>
                <a:ea typeface="Arial"/>
                <a:cs typeface="Arial"/>
                <a:sym typeface="Arial"/>
              </a:rPr>
              <a:t>commit at all sites</a:t>
            </a:r>
            <a:br>
              <a:rPr b="1" lang="en" sz="1100">
                <a:solidFill>
                  <a:srgbClr val="000000"/>
                </a:solidFill>
                <a:latin typeface="Arial"/>
                <a:ea typeface="Arial"/>
                <a:cs typeface="Arial"/>
                <a:sym typeface="Arial"/>
              </a:rPr>
            </a:br>
            <a:r>
              <a:rPr lang="en" sz="1100">
                <a:solidFill>
                  <a:srgbClr val="000000"/>
                </a:solidFill>
                <a:latin typeface="Arial"/>
                <a:ea typeface="Arial"/>
                <a:cs typeface="Arial"/>
                <a:sym typeface="Arial"/>
              </a:rPr>
              <a:t> </a:t>
            </a:r>
            <a:r>
              <a:rPr b="1" lang="en" sz="1100">
                <a:solidFill>
                  <a:srgbClr val="000000"/>
                </a:solidFill>
                <a:latin typeface="Arial"/>
                <a:ea typeface="Arial"/>
                <a:cs typeface="Arial"/>
                <a:sym typeface="Arial"/>
              </a:rPr>
              <a:t>O</a:t>
            </a:r>
            <a:r>
              <a:rPr b="1" lang="en" sz="1100">
                <a:solidFill>
                  <a:srgbClr val="000000"/>
                </a:solidFill>
                <a:latin typeface="Arial"/>
                <a:ea typeface="Arial"/>
                <a:cs typeface="Arial"/>
                <a:sym typeface="Arial"/>
              </a:rPr>
              <a:t>R</a:t>
            </a:r>
            <a:br>
              <a:rPr b="1" lang="en" sz="1100">
                <a:solidFill>
                  <a:srgbClr val="000000"/>
                </a:solidFill>
                <a:latin typeface="Arial"/>
                <a:ea typeface="Arial"/>
                <a:cs typeface="Arial"/>
                <a:sym typeface="Arial"/>
              </a:rPr>
            </a:br>
            <a:endParaRPr b="1"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The transaction must </a:t>
            </a:r>
            <a:r>
              <a:rPr b="1" lang="en" sz="1100">
                <a:solidFill>
                  <a:srgbClr val="000000"/>
                </a:solidFill>
                <a:latin typeface="Arial"/>
                <a:ea typeface="Arial"/>
                <a:cs typeface="Arial"/>
                <a:sym typeface="Arial"/>
              </a:rPr>
              <a:t>abort at all sites</a:t>
            </a:r>
            <a:br>
              <a:rPr b="1" lang="en" sz="1100">
                <a:solidFill>
                  <a:srgbClr val="000000"/>
                </a:solidFill>
                <a:latin typeface="Arial"/>
                <a:ea typeface="Arial"/>
                <a:cs typeface="Arial"/>
                <a:sym typeface="Arial"/>
              </a:rPr>
            </a:br>
            <a:endParaRPr b="1"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No mixed outcome is allowed.</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To achieve this coordination, we use </a:t>
            </a:r>
            <a:r>
              <a:rPr b="1" lang="en" sz="1100">
                <a:solidFill>
                  <a:srgbClr val="000000"/>
                </a:solidFill>
                <a:latin typeface="Arial"/>
                <a:ea typeface="Arial"/>
                <a:cs typeface="Arial"/>
                <a:sym typeface="Arial"/>
              </a:rPr>
              <a:t>Commit Protocols</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Commit protocols are rules that ensure </a:t>
            </a:r>
            <a:r>
              <a:rPr b="1" lang="en" sz="1100">
                <a:solidFill>
                  <a:srgbClr val="000000"/>
                </a:solidFill>
                <a:latin typeface="Arial"/>
                <a:ea typeface="Arial"/>
                <a:cs typeface="Arial"/>
                <a:sym typeface="Arial"/>
              </a:rPr>
              <a:t>every site agrees</a:t>
            </a:r>
            <a:r>
              <a:rPr lang="en" sz="1100">
                <a:solidFill>
                  <a:srgbClr val="000000"/>
                </a:solidFill>
                <a:latin typeface="Arial"/>
                <a:ea typeface="Arial"/>
                <a:cs typeface="Arial"/>
                <a:sym typeface="Arial"/>
              </a:rPr>
              <a:t> on the final result.</a:t>
            </a: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89"/>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477" name="Google Shape;477;p89"/>
          <p:cNvSpPr txBox="1"/>
          <p:nvPr>
            <p:ph idx="1" type="body"/>
          </p:nvPr>
        </p:nvSpPr>
        <p:spPr>
          <a:xfrm>
            <a:off x="311700" y="1266325"/>
            <a:ext cx="8520600" cy="3302700"/>
          </a:xfrm>
          <a:prstGeom prst="rect">
            <a:avLst/>
          </a:prstGeom>
        </p:spPr>
        <p:txBody>
          <a:bodyPr anchorCtr="0" anchor="t" bIns="91425" lIns="91425" spcFirstLastPara="1" rIns="91425" wrap="square" tIns="91425">
            <a:normAutofit lnSpcReduction="10000"/>
          </a:bodyPr>
          <a:lstStyle/>
          <a:p>
            <a:pPr indent="0" lvl="0" marL="0" rtl="0" algn="l">
              <a:spcBef>
                <a:spcPts val="2400"/>
              </a:spcBef>
              <a:spcAft>
                <a:spcPts val="0"/>
              </a:spcAft>
              <a:buNone/>
            </a:pPr>
            <a:r>
              <a:rPr b="1" lang="en" sz="2300">
                <a:solidFill>
                  <a:srgbClr val="000000"/>
                </a:solidFill>
                <a:latin typeface="Arial"/>
                <a:ea typeface="Arial"/>
                <a:cs typeface="Arial"/>
                <a:sym typeface="Arial"/>
              </a:rPr>
              <a:t>Why Do We Need Commit Protocols?</a:t>
            </a:r>
            <a:endParaRPr b="1" sz="23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Because in distributed systems:</a:t>
            </a:r>
            <a:endParaRPr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Sites may </a:t>
            </a:r>
            <a:r>
              <a:rPr b="1" lang="en" sz="1100">
                <a:solidFill>
                  <a:srgbClr val="000000"/>
                </a:solidFill>
                <a:latin typeface="Arial"/>
                <a:ea typeface="Arial"/>
                <a:cs typeface="Arial"/>
                <a:sym typeface="Arial"/>
              </a:rPr>
              <a:t>fail</a:t>
            </a:r>
            <a:br>
              <a:rPr b="1" lang="en" sz="1100">
                <a:solidFill>
                  <a:srgbClr val="000000"/>
                </a:solidFill>
                <a:latin typeface="Arial"/>
                <a:ea typeface="Arial"/>
                <a:cs typeface="Arial"/>
                <a:sym typeface="Arial"/>
              </a:rPr>
            </a:br>
            <a:endParaRPr b="1"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Messages may </a:t>
            </a:r>
            <a:r>
              <a:rPr b="1" lang="en" sz="1100">
                <a:solidFill>
                  <a:srgbClr val="000000"/>
                </a:solidFill>
                <a:latin typeface="Arial"/>
                <a:ea typeface="Arial"/>
                <a:cs typeface="Arial"/>
                <a:sym typeface="Arial"/>
              </a:rPr>
              <a:t>not reach</a:t>
            </a:r>
            <a:br>
              <a:rPr b="1" lang="en" sz="1100">
                <a:solidFill>
                  <a:srgbClr val="000000"/>
                </a:solidFill>
                <a:latin typeface="Arial"/>
                <a:ea typeface="Arial"/>
                <a:cs typeface="Arial"/>
                <a:sym typeface="Arial"/>
              </a:rPr>
            </a:br>
            <a:endParaRPr b="1"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Network may </a:t>
            </a:r>
            <a:r>
              <a:rPr b="1" lang="en" sz="1100">
                <a:solidFill>
                  <a:srgbClr val="000000"/>
                </a:solidFill>
                <a:latin typeface="Arial"/>
                <a:ea typeface="Arial"/>
                <a:cs typeface="Arial"/>
                <a:sym typeface="Arial"/>
              </a:rPr>
              <a:t>break</a:t>
            </a:r>
            <a:br>
              <a:rPr b="1" lang="en" sz="1100">
                <a:solidFill>
                  <a:srgbClr val="000000"/>
                </a:solidFill>
                <a:latin typeface="Arial"/>
                <a:ea typeface="Arial"/>
                <a:cs typeface="Arial"/>
                <a:sym typeface="Arial"/>
              </a:rPr>
            </a:br>
            <a:endParaRPr b="1"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Without a clear protocol, some sites may commit, others may abort → </a:t>
            </a:r>
            <a:r>
              <a:rPr b="1" lang="en" sz="1100">
                <a:solidFill>
                  <a:srgbClr val="000000"/>
                </a:solidFill>
                <a:latin typeface="Arial"/>
                <a:ea typeface="Arial"/>
                <a:cs typeface="Arial"/>
                <a:sym typeface="Arial"/>
              </a:rPr>
              <a:t>data inconsistency</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Commit protocols make sure that </a:t>
            </a:r>
            <a:r>
              <a:rPr b="1" lang="en" sz="1100">
                <a:solidFill>
                  <a:srgbClr val="000000"/>
                </a:solidFill>
                <a:latin typeface="Arial"/>
                <a:ea typeface="Arial"/>
                <a:cs typeface="Arial"/>
                <a:sym typeface="Arial"/>
              </a:rPr>
              <a:t>all sites reach the same decision</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90"/>
          <p:cNvSpPr txBox="1"/>
          <p:nvPr>
            <p:ph idx="1" type="body"/>
          </p:nvPr>
        </p:nvSpPr>
        <p:spPr>
          <a:xfrm>
            <a:off x="311700" y="393200"/>
            <a:ext cx="8520600" cy="4175700"/>
          </a:xfrm>
          <a:prstGeom prst="rect">
            <a:avLst/>
          </a:prstGeom>
        </p:spPr>
        <p:txBody>
          <a:bodyPr anchorCtr="0" anchor="t" bIns="91425" lIns="91425" spcFirstLastPara="1" rIns="91425" wrap="square" tIns="91425">
            <a:normAutofit/>
          </a:bodyPr>
          <a:lstStyle/>
          <a:p>
            <a:pPr indent="0" lvl="0" marL="0" rtl="0" algn="l">
              <a:spcBef>
                <a:spcPts val="2400"/>
              </a:spcBef>
              <a:spcAft>
                <a:spcPts val="0"/>
              </a:spcAft>
              <a:buNone/>
            </a:pPr>
            <a:r>
              <a:rPr b="1" lang="en" sz="2300">
                <a:solidFill>
                  <a:srgbClr val="000000"/>
                </a:solidFill>
                <a:latin typeface="Arial"/>
                <a:ea typeface="Arial"/>
                <a:cs typeface="Arial"/>
                <a:sym typeface="Arial"/>
              </a:rPr>
              <a:t>Two-Phase Commit (2PC) – Simple Explanation</a:t>
            </a:r>
            <a:endParaRPr b="1" sz="23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The Two-Phase Commit protocol is used to make sure that </a:t>
            </a:r>
            <a:r>
              <a:rPr b="1" lang="en" sz="1100">
                <a:solidFill>
                  <a:srgbClr val="000000"/>
                </a:solidFill>
                <a:latin typeface="Arial"/>
                <a:ea typeface="Arial"/>
                <a:cs typeface="Arial"/>
                <a:sym typeface="Arial"/>
              </a:rPr>
              <a:t>all sites participating in a distributed transaction either commit together or abort together</a:t>
            </a:r>
            <a:r>
              <a:rPr lang="en" sz="1100">
                <a:solidFill>
                  <a:srgbClr val="000000"/>
                </a:solidFill>
                <a:latin typeface="Arial"/>
                <a:ea typeface="Arial"/>
                <a:cs typeface="Arial"/>
                <a:sym typeface="Arial"/>
              </a:rPr>
              <a:t> — ensuring </a:t>
            </a:r>
            <a:r>
              <a:rPr b="1" lang="en" sz="1100">
                <a:solidFill>
                  <a:srgbClr val="000000"/>
                </a:solidFill>
                <a:latin typeface="Arial"/>
                <a:ea typeface="Arial"/>
                <a:cs typeface="Arial"/>
                <a:sym typeface="Arial"/>
              </a:rPr>
              <a:t>atomicity</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Suppose a transaction </a:t>
            </a:r>
            <a:r>
              <a:rPr b="1" lang="en" sz="1100">
                <a:solidFill>
                  <a:srgbClr val="000000"/>
                </a:solidFill>
                <a:latin typeface="Arial"/>
                <a:ea typeface="Arial"/>
                <a:cs typeface="Arial"/>
                <a:sym typeface="Arial"/>
              </a:rPr>
              <a:t>T</a:t>
            </a:r>
            <a:r>
              <a:rPr lang="en" sz="1100">
                <a:solidFill>
                  <a:srgbClr val="000000"/>
                </a:solidFill>
                <a:latin typeface="Arial"/>
                <a:ea typeface="Arial"/>
                <a:cs typeface="Arial"/>
                <a:sym typeface="Arial"/>
              </a:rPr>
              <a:t> is started at site </a:t>
            </a:r>
            <a:r>
              <a:rPr b="1" lang="en" sz="1100">
                <a:solidFill>
                  <a:srgbClr val="000000"/>
                </a:solidFill>
                <a:latin typeface="Arial"/>
                <a:ea typeface="Arial"/>
                <a:cs typeface="Arial"/>
                <a:sym typeface="Arial"/>
              </a:rPr>
              <a:t>Si</a:t>
            </a:r>
            <a:r>
              <a:rPr lang="en" sz="1100">
                <a:solidFill>
                  <a:srgbClr val="000000"/>
                </a:solidFill>
                <a:latin typeface="Arial"/>
                <a:ea typeface="Arial"/>
                <a:cs typeface="Arial"/>
                <a:sym typeface="Arial"/>
              </a:rPr>
              <a:t>, and its </a:t>
            </a:r>
            <a:r>
              <a:rPr b="1" lang="en" sz="1100">
                <a:solidFill>
                  <a:srgbClr val="000000"/>
                </a:solidFill>
                <a:latin typeface="Arial"/>
                <a:ea typeface="Arial"/>
                <a:cs typeface="Arial"/>
                <a:sym typeface="Arial"/>
              </a:rPr>
              <a:t>transaction coordinator</a:t>
            </a:r>
            <a:r>
              <a:rPr lang="en" sz="1100">
                <a:solidFill>
                  <a:srgbClr val="000000"/>
                </a:solidFill>
                <a:latin typeface="Arial"/>
                <a:ea typeface="Arial"/>
                <a:cs typeface="Arial"/>
                <a:sym typeface="Arial"/>
              </a:rPr>
              <a:t> is </a:t>
            </a:r>
            <a:r>
              <a:rPr b="1" lang="en" sz="1100">
                <a:solidFill>
                  <a:srgbClr val="000000"/>
                </a:solidFill>
                <a:latin typeface="Arial"/>
                <a:ea typeface="Arial"/>
                <a:cs typeface="Arial"/>
                <a:sym typeface="Arial"/>
              </a:rPr>
              <a:t>Ci</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When T finishes execution at all sites, Ci starts 2PC.</a:t>
            </a:r>
            <a:endParaRPr sz="1100">
              <a:solidFill>
                <a:srgbClr val="000000"/>
              </a:solidFill>
              <a:latin typeface="Arial"/>
              <a:ea typeface="Arial"/>
              <a:cs typeface="Arial"/>
              <a:sym typeface="Arial"/>
            </a:endParaRPr>
          </a:p>
          <a:p>
            <a:pPr indent="0" lvl="0" marL="0" rtl="0" algn="l">
              <a:spcBef>
                <a:spcPts val="2400"/>
              </a:spcBef>
              <a:spcAft>
                <a:spcPts val="0"/>
              </a:spcAft>
              <a:buNone/>
            </a:pPr>
            <a:r>
              <a:rPr b="1" lang="en" sz="2300">
                <a:solidFill>
                  <a:srgbClr val="000000"/>
                </a:solidFill>
                <a:latin typeface="Arial"/>
                <a:ea typeface="Arial"/>
                <a:cs typeface="Arial"/>
                <a:sym typeface="Arial"/>
              </a:rPr>
              <a:t>Phase 1: Prepare Phase (Voting Phase)</a:t>
            </a:r>
            <a:endParaRPr b="1" sz="2300">
              <a:solidFill>
                <a:srgbClr val="000000"/>
              </a:solidFill>
              <a:latin typeface="Arial"/>
              <a:ea typeface="Arial"/>
              <a:cs typeface="Arial"/>
              <a:sym typeface="Arial"/>
            </a:endParaRPr>
          </a:p>
          <a:p>
            <a:pPr indent="0" lvl="0" marL="0" rtl="0" algn="l">
              <a:spcBef>
                <a:spcPts val="1400"/>
              </a:spcBef>
              <a:spcAft>
                <a:spcPts val="0"/>
              </a:spcAft>
              <a:buNone/>
            </a:pPr>
            <a:r>
              <a:rPr b="1" lang="en" sz="1300">
                <a:solidFill>
                  <a:srgbClr val="000000"/>
                </a:solidFill>
                <a:latin typeface="Arial"/>
                <a:ea typeface="Arial"/>
                <a:cs typeface="Arial"/>
                <a:sym typeface="Arial"/>
              </a:rPr>
              <a:t>Step 1 — Coordinator Actions</a:t>
            </a:r>
            <a:endParaRPr b="1" sz="13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AutoNum type="arabicPeriod"/>
            </a:pPr>
            <a:r>
              <a:rPr lang="en" sz="1100">
                <a:solidFill>
                  <a:srgbClr val="000000"/>
                </a:solidFill>
                <a:latin typeface="Arial"/>
                <a:ea typeface="Arial"/>
                <a:cs typeface="Arial"/>
                <a:sym typeface="Arial"/>
              </a:rPr>
              <a:t>Coordinator Ci writes a log entry: </a:t>
            </a:r>
            <a:r>
              <a:rPr b="1" lang="en" sz="1100">
                <a:solidFill>
                  <a:srgbClr val="000000"/>
                </a:solidFill>
                <a:latin typeface="Arial"/>
                <a:ea typeface="Arial"/>
                <a:cs typeface="Arial"/>
                <a:sym typeface="Arial"/>
              </a:rPr>
              <a:t>&lt;prepare T&gt;</a:t>
            </a:r>
            <a:endParaRPr b="1"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AutoNum type="arabicPeriod"/>
            </a:pPr>
            <a:r>
              <a:rPr lang="en" sz="1100">
                <a:solidFill>
                  <a:srgbClr val="000000"/>
                </a:solidFill>
                <a:latin typeface="Arial"/>
                <a:ea typeface="Arial"/>
                <a:cs typeface="Arial"/>
                <a:sym typeface="Arial"/>
              </a:rPr>
              <a:t>Ci forces this log entry to </a:t>
            </a:r>
            <a:r>
              <a:rPr b="1" lang="en" sz="1100">
                <a:solidFill>
                  <a:srgbClr val="000000"/>
                </a:solidFill>
                <a:latin typeface="Arial"/>
                <a:ea typeface="Arial"/>
                <a:cs typeface="Arial"/>
                <a:sym typeface="Arial"/>
              </a:rPr>
              <a:t>stable storage</a:t>
            </a:r>
            <a:r>
              <a:rPr lang="en" sz="1100">
                <a:solidFill>
                  <a:srgbClr val="000000"/>
                </a:solidFill>
                <a:latin typeface="Arial"/>
                <a:ea typeface="Arial"/>
                <a:cs typeface="Arial"/>
                <a:sym typeface="Arial"/>
              </a:rPr>
              <a:t> (so it survives crashes)</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AutoNum type="arabicPeriod"/>
            </a:pPr>
            <a:r>
              <a:rPr lang="en" sz="1100">
                <a:solidFill>
                  <a:srgbClr val="000000"/>
                </a:solidFill>
                <a:latin typeface="Arial"/>
                <a:ea typeface="Arial"/>
                <a:cs typeface="Arial"/>
                <a:sym typeface="Arial"/>
              </a:rPr>
              <a:t>Ci sends the message:</a:t>
            </a:r>
            <a:br>
              <a:rPr lang="en" sz="1100">
                <a:solidFill>
                  <a:srgbClr val="000000"/>
                </a:solidFill>
                <a:latin typeface="Arial"/>
                <a:ea typeface="Arial"/>
                <a:cs typeface="Arial"/>
                <a:sym typeface="Arial"/>
              </a:rPr>
            </a:br>
            <a:r>
              <a:rPr lang="en" sz="1100">
                <a:solidFill>
                  <a:srgbClr val="000000"/>
                </a:solidFill>
                <a:latin typeface="Arial"/>
                <a:ea typeface="Arial"/>
                <a:cs typeface="Arial"/>
                <a:sym typeface="Arial"/>
              </a:rPr>
              <a:t> </a:t>
            </a:r>
            <a:r>
              <a:rPr b="1" lang="en" sz="1100">
                <a:solidFill>
                  <a:srgbClr val="000000"/>
                </a:solidFill>
                <a:latin typeface="Arial"/>
                <a:ea typeface="Arial"/>
                <a:cs typeface="Arial"/>
                <a:sym typeface="Arial"/>
              </a:rPr>
              <a:t>prepare T</a:t>
            </a:r>
            <a:r>
              <a:rPr lang="en" sz="1100">
                <a:solidFill>
                  <a:srgbClr val="000000"/>
                </a:solidFill>
                <a:latin typeface="Arial"/>
                <a:ea typeface="Arial"/>
                <a:cs typeface="Arial"/>
                <a:sym typeface="Arial"/>
              </a:rPr>
              <a:t> → to all sites where T executed</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91"/>
          <p:cNvSpPr txBox="1"/>
          <p:nvPr>
            <p:ph idx="1" type="body"/>
          </p:nvPr>
        </p:nvSpPr>
        <p:spPr>
          <a:xfrm>
            <a:off x="311700" y="308175"/>
            <a:ext cx="8520600" cy="4527300"/>
          </a:xfrm>
          <a:prstGeom prst="rect">
            <a:avLst/>
          </a:prstGeom>
        </p:spPr>
        <p:txBody>
          <a:bodyPr anchorCtr="0" anchor="t" bIns="91425" lIns="91425" spcFirstLastPara="1" rIns="91425" wrap="square" tIns="91425">
            <a:noAutofit/>
          </a:bodyPr>
          <a:lstStyle/>
          <a:p>
            <a:pPr indent="0" lvl="0" marL="0" rtl="0" algn="l">
              <a:spcBef>
                <a:spcPts val="200"/>
              </a:spcBef>
              <a:spcAft>
                <a:spcPts val="0"/>
              </a:spcAft>
              <a:buNone/>
            </a:pPr>
            <a:r>
              <a:rPr b="1" lang="en" sz="1300">
                <a:solidFill>
                  <a:srgbClr val="000000"/>
                </a:solidFill>
                <a:latin typeface="Arial"/>
                <a:ea typeface="Arial"/>
                <a:cs typeface="Arial"/>
                <a:sym typeface="Arial"/>
              </a:rPr>
              <a:t>Step 2 — Actions at Each Participant Site</a:t>
            </a:r>
            <a:endParaRPr b="1" sz="1300">
              <a:solidFill>
                <a:srgbClr val="000000"/>
              </a:solidFill>
              <a:latin typeface="Arial"/>
              <a:ea typeface="Arial"/>
              <a:cs typeface="Arial"/>
              <a:sym typeface="Arial"/>
            </a:endParaRPr>
          </a:p>
          <a:p>
            <a:pPr indent="0" lvl="0" marL="0" rtl="0" algn="l">
              <a:spcBef>
                <a:spcPts val="300"/>
              </a:spcBef>
              <a:spcAft>
                <a:spcPts val="0"/>
              </a:spcAft>
              <a:buNone/>
            </a:pPr>
            <a:r>
              <a:rPr lang="en" sz="1100">
                <a:solidFill>
                  <a:srgbClr val="000000"/>
                </a:solidFill>
                <a:latin typeface="Arial"/>
                <a:ea typeface="Arial"/>
                <a:cs typeface="Arial"/>
                <a:sym typeface="Arial"/>
              </a:rPr>
              <a:t>Each site receives </a:t>
            </a:r>
            <a:r>
              <a:rPr b="1" lang="en" sz="1100">
                <a:solidFill>
                  <a:srgbClr val="000000"/>
                </a:solidFill>
                <a:latin typeface="Arial"/>
                <a:ea typeface="Arial"/>
                <a:cs typeface="Arial"/>
                <a:sym typeface="Arial"/>
              </a:rPr>
              <a:t>prepare T</a:t>
            </a:r>
            <a:r>
              <a:rPr lang="en" sz="1100">
                <a:solidFill>
                  <a:srgbClr val="000000"/>
                </a:solidFill>
                <a:latin typeface="Arial"/>
                <a:ea typeface="Arial"/>
                <a:cs typeface="Arial"/>
                <a:sym typeface="Arial"/>
              </a:rPr>
              <a:t> and must decide:</a:t>
            </a:r>
            <a:endParaRPr sz="1100">
              <a:solidFill>
                <a:srgbClr val="000000"/>
              </a:solidFill>
              <a:latin typeface="Arial"/>
              <a:ea typeface="Arial"/>
              <a:cs typeface="Arial"/>
              <a:sym typeface="Arial"/>
            </a:endParaRPr>
          </a:p>
          <a:p>
            <a:pPr indent="0" lvl="0" marL="0" rtl="0" algn="l">
              <a:spcBef>
                <a:spcPts val="300"/>
              </a:spcBef>
              <a:spcAft>
                <a:spcPts val="0"/>
              </a:spcAft>
              <a:buNone/>
            </a:pPr>
            <a:r>
              <a:rPr b="1" lang="en" sz="1100">
                <a:solidFill>
                  <a:srgbClr val="000000"/>
                </a:solidFill>
                <a:latin typeface="Arial"/>
                <a:ea typeface="Arial"/>
                <a:cs typeface="Arial"/>
                <a:sym typeface="Arial"/>
              </a:rPr>
              <a:t>Can I commit my part of T?</a:t>
            </a:r>
            <a:endParaRPr b="1" sz="1100">
              <a:solidFill>
                <a:srgbClr val="000000"/>
              </a:solidFill>
              <a:latin typeface="Arial"/>
              <a:ea typeface="Arial"/>
              <a:cs typeface="Arial"/>
              <a:sym typeface="Arial"/>
            </a:endParaRPr>
          </a:p>
          <a:p>
            <a:pPr indent="0" lvl="0" marL="0" rtl="0" algn="l">
              <a:spcBef>
                <a:spcPts val="300"/>
              </a:spcBef>
              <a:spcAft>
                <a:spcPts val="0"/>
              </a:spcAft>
              <a:buNone/>
            </a:pPr>
            <a:r>
              <a:rPr lang="en" sz="1100">
                <a:solidFill>
                  <a:srgbClr val="000000"/>
                </a:solidFill>
                <a:latin typeface="Arial"/>
                <a:ea typeface="Arial"/>
                <a:cs typeface="Arial"/>
                <a:sym typeface="Arial"/>
              </a:rPr>
              <a:t>The site checks:</a:t>
            </a:r>
            <a:endParaRPr sz="1100">
              <a:solidFill>
                <a:srgbClr val="000000"/>
              </a:solidFill>
              <a:latin typeface="Arial"/>
              <a:ea typeface="Arial"/>
              <a:cs typeface="Arial"/>
              <a:sym typeface="Arial"/>
            </a:endParaRPr>
          </a:p>
          <a:p>
            <a:pPr indent="-298450" lvl="0" marL="457200" rtl="0" algn="l">
              <a:spcBef>
                <a:spcPts val="300"/>
              </a:spcBef>
              <a:spcAft>
                <a:spcPts val="0"/>
              </a:spcAft>
              <a:buClr>
                <a:srgbClr val="000000"/>
              </a:buClr>
              <a:buSzPts val="1100"/>
              <a:buFont typeface="Arial"/>
              <a:buChar char="●"/>
            </a:pPr>
            <a:r>
              <a:rPr lang="en" sz="1100">
                <a:solidFill>
                  <a:srgbClr val="000000"/>
                </a:solidFill>
                <a:latin typeface="Arial"/>
                <a:ea typeface="Arial"/>
                <a:cs typeface="Arial"/>
                <a:sym typeface="Arial"/>
              </a:rPr>
              <a:t>Are all operations completed?</a:t>
            </a:r>
            <a:endParaRPr sz="1100">
              <a:solidFill>
                <a:srgbClr val="000000"/>
              </a:solidFill>
              <a:latin typeface="Arial"/>
              <a:ea typeface="Arial"/>
              <a:cs typeface="Arial"/>
              <a:sym typeface="Arial"/>
            </a:endParaRPr>
          </a:p>
          <a:p>
            <a:pPr indent="-298450" lvl="0" marL="457200" rtl="0" algn="l">
              <a:spcBef>
                <a:spcPts val="300"/>
              </a:spcBef>
              <a:spcAft>
                <a:spcPts val="0"/>
              </a:spcAft>
              <a:buClr>
                <a:srgbClr val="000000"/>
              </a:buClr>
              <a:buSzPts val="1100"/>
              <a:buFont typeface="Arial"/>
              <a:buChar char="●"/>
            </a:pPr>
            <a:r>
              <a:rPr lang="en" sz="1100">
                <a:solidFill>
                  <a:srgbClr val="000000"/>
                </a:solidFill>
                <a:latin typeface="Arial"/>
                <a:ea typeface="Arial"/>
                <a:cs typeface="Arial"/>
                <a:sym typeface="Arial"/>
              </a:rPr>
              <a:t>Any errors?</a:t>
            </a:r>
            <a:endParaRPr sz="1100">
              <a:solidFill>
                <a:srgbClr val="000000"/>
              </a:solidFill>
              <a:latin typeface="Arial"/>
              <a:ea typeface="Arial"/>
              <a:cs typeface="Arial"/>
              <a:sym typeface="Arial"/>
            </a:endParaRPr>
          </a:p>
          <a:p>
            <a:pPr indent="-298450" lvl="0" marL="457200" rtl="0" algn="l">
              <a:spcBef>
                <a:spcPts val="300"/>
              </a:spcBef>
              <a:spcAft>
                <a:spcPts val="0"/>
              </a:spcAft>
              <a:buClr>
                <a:srgbClr val="000000"/>
              </a:buClr>
              <a:buSzPts val="1100"/>
              <a:buFont typeface="Arial"/>
              <a:buChar char="●"/>
            </a:pPr>
            <a:r>
              <a:rPr lang="en" sz="1100">
                <a:solidFill>
                  <a:srgbClr val="000000"/>
                </a:solidFill>
                <a:latin typeface="Arial"/>
                <a:ea typeface="Arial"/>
                <a:cs typeface="Arial"/>
                <a:sym typeface="Arial"/>
              </a:rPr>
              <a:t>Any local problems?</a:t>
            </a:r>
            <a:endParaRPr sz="1100">
              <a:solidFill>
                <a:srgbClr val="000000"/>
              </a:solidFill>
              <a:latin typeface="Arial"/>
              <a:ea typeface="Arial"/>
              <a:cs typeface="Arial"/>
              <a:sym typeface="Arial"/>
            </a:endParaRPr>
          </a:p>
          <a:p>
            <a:pPr indent="0" lvl="0" marL="0" rtl="0" algn="l">
              <a:spcBef>
                <a:spcPts val="300"/>
              </a:spcBef>
              <a:spcAft>
                <a:spcPts val="0"/>
              </a:spcAft>
              <a:buNone/>
            </a:pPr>
            <a:r>
              <a:rPr b="1" lang="en" sz="1300">
                <a:solidFill>
                  <a:srgbClr val="000000"/>
                </a:solidFill>
                <a:latin typeface="Arial"/>
                <a:ea typeface="Arial"/>
                <a:cs typeface="Arial"/>
                <a:sym typeface="Arial"/>
              </a:rPr>
              <a:t>If site decides NO:</a:t>
            </a:r>
            <a:endParaRPr b="1" sz="1300">
              <a:solidFill>
                <a:srgbClr val="000000"/>
              </a:solidFill>
              <a:latin typeface="Arial"/>
              <a:ea typeface="Arial"/>
              <a:cs typeface="Arial"/>
              <a:sym typeface="Arial"/>
            </a:endParaRPr>
          </a:p>
          <a:p>
            <a:pPr indent="-298450" lvl="0" marL="457200" rtl="0" algn="l">
              <a:spcBef>
                <a:spcPts val="300"/>
              </a:spcBef>
              <a:spcAft>
                <a:spcPts val="0"/>
              </a:spcAft>
              <a:buClr>
                <a:srgbClr val="000000"/>
              </a:buClr>
              <a:buSzPts val="1100"/>
              <a:buFont typeface="Arial"/>
              <a:buChar char="●"/>
            </a:pPr>
            <a:r>
              <a:rPr lang="en" sz="1100">
                <a:solidFill>
                  <a:srgbClr val="000000"/>
                </a:solidFill>
                <a:latin typeface="Arial"/>
                <a:ea typeface="Arial"/>
                <a:cs typeface="Arial"/>
                <a:sym typeface="Arial"/>
              </a:rPr>
              <a:t>Writes </a:t>
            </a:r>
            <a:r>
              <a:rPr b="1" lang="en" sz="1100">
                <a:solidFill>
                  <a:srgbClr val="000000"/>
                </a:solidFill>
                <a:latin typeface="Arial"/>
                <a:ea typeface="Arial"/>
                <a:cs typeface="Arial"/>
                <a:sym typeface="Arial"/>
              </a:rPr>
              <a:t>&lt;no T&gt;</a:t>
            </a:r>
            <a:r>
              <a:rPr lang="en" sz="1100">
                <a:solidFill>
                  <a:srgbClr val="000000"/>
                </a:solidFill>
                <a:latin typeface="Arial"/>
                <a:ea typeface="Arial"/>
                <a:cs typeface="Arial"/>
                <a:sym typeface="Arial"/>
              </a:rPr>
              <a:t> to log</a:t>
            </a:r>
            <a:endParaRPr sz="1100">
              <a:solidFill>
                <a:srgbClr val="000000"/>
              </a:solidFill>
              <a:latin typeface="Arial"/>
              <a:ea typeface="Arial"/>
              <a:cs typeface="Arial"/>
              <a:sym typeface="Arial"/>
            </a:endParaRPr>
          </a:p>
          <a:p>
            <a:pPr indent="-298450" lvl="0" marL="457200" rtl="0" algn="l">
              <a:spcBef>
                <a:spcPts val="300"/>
              </a:spcBef>
              <a:spcAft>
                <a:spcPts val="0"/>
              </a:spcAft>
              <a:buClr>
                <a:srgbClr val="000000"/>
              </a:buClr>
              <a:buSzPts val="1100"/>
              <a:buFont typeface="Arial"/>
              <a:buChar char="●"/>
            </a:pPr>
            <a:r>
              <a:rPr lang="en" sz="1100">
                <a:solidFill>
                  <a:srgbClr val="000000"/>
                </a:solidFill>
                <a:latin typeface="Arial"/>
                <a:ea typeface="Arial"/>
                <a:cs typeface="Arial"/>
                <a:sym typeface="Arial"/>
              </a:rPr>
              <a:t>Sends </a:t>
            </a:r>
            <a:r>
              <a:rPr b="1" lang="en" sz="1100">
                <a:solidFill>
                  <a:srgbClr val="000000"/>
                </a:solidFill>
                <a:latin typeface="Arial"/>
                <a:ea typeface="Arial"/>
                <a:cs typeface="Arial"/>
                <a:sym typeface="Arial"/>
              </a:rPr>
              <a:t>abort T</a:t>
            </a:r>
            <a:r>
              <a:rPr lang="en" sz="1100">
                <a:solidFill>
                  <a:srgbClr val="000000"/>
                </a:solidFill>
                <a:latin typeface="Arial"/>
                <a:ea typeface="Arial"/>
                <a:cs typeface="Arial"/>
                <a:sym typeface="Arial"/>
              </a:rPr>
              <a:t> to the coordinator</a:t>
            </a:r>
            <a:endParaRPr sz="1100">
              <a:solidFill>
                <a:srgbClr val="000000"/>
              </a:solidFill>
              <a:latin typeface="Arial"/>
              <a:ea typeface="Arial"/>
              <a:cs typeface="Arial"/>
              <a:sym typeface="Arial"/>
            </a:endParaRPr>
          </a:p>
          <a:p>
            <a:pPr indent="0" lvl="0" marL="0" rtl="0" algn="l">
              <a:spcBef>
                <a:spcPts val="300"/>
              </a:spcBef>
              <a:spcAft>
                <a:spcPts val="0"/>
              </a:spcAft>
              <a:buNone/>
            </a:pPr>
            <a:r>
              <a:rPr b="1" lang="en" sz="1300">
                <a:solidFill>
                  <a:srgbClr val="000000"/>
                </a:solidFill>
                <a:latin typeface="Arial"/>
                <a:ea typeface="Arial"/>
                <a:cs typeface="Arial"/>
                <a:sym typeface="Arial"/>
              </a:rPr>
              <a:t>If site decides YES:</a:t>
            </a:r>
            <a:endParaRPr b="1" sz="1300">
              <a:solidFill>
                <a:srgbClr val="000000"/>
              </a:solidFill>
              <a:latin typeface="Arial"/>
              <a:ea typeface="Arial"/>
              <a:cs typeface="Arial"/>
              <a:sym typeface="Arial"/>
            </a:endParaRPr>
          </a:p>
          <a:p>
            <a:pPr indent="-298450" lvl="0" marL="457200" rtl="0" algn="l">
              <a:spcBef>
                <a:spcPts val="300"/>
              </a:spcBef>
              <a:spcAft>
                <a:spcPts val="0"/>
              </a:spcAft>
              <a:buClr>
                <a:srgbClr val="000000"/>
              </a:buClr>
              <a:buSzPts val="1100"/>
              <a:buFont typeface="Arial"/>
              <a:buChar char="●"/>
            </a:pPr>
            <a:r>
              <a:rPr lang="en" sz="1100">
                <a:solidFill>
                  <a:srgbClr val="000000"/>
                </a:solidFill>
                <a:latin typeface="Arial"/>
                <a:ea typeface="Arial"/>
                <a:cs typeface="Arial"/>
                <a:sym typeface="Arial"/>
              </a:rPr>
              <a:t>Writes </a:t>
            </a:r>
            <a:r>
              <a:rPr b="1" lang="en" sz="1100">
                <a:solidFill>
                  <a:srgbClr val="000000"/>
                </a:solidFill>
                <a:latin typeface="Arial"/>
                <a:ea typeface="Arial"/>
                <a:cs typeface="Arial"/>
                <a:sym typeface="Arial"/>
              </a:rPr>
              <a:t>&lt;ready T&gt;</a:t>
            </a:r>
            <a:r>
              <a:rPr lang="en" sz="1100">
                <a:solidFill>
                  <a:srgbClr val="000000"/>
                </a:solidFill>
                <a:latin typeface="Arial"/>
                <a:ea typeface="Arial"/>
                <a:cs typeface="Arial"/>
                <a:sym typeface="Arial"/>
              </a:rPr>
              <a:t> to log</a:t>
            </a:r>
            <a:endParaRPr sz="1100">
              <a:solidFill>
                <a:srgbClr val="000000"/>
              </a:solidFill>
              <a:latin typeface="Arial"/>
              <a:ea typeface="Arial"/>
              <a:cs typeface="Arial"/>
              <a:sym typeface="Arial"/>
            </a:endParaRPr>
          </a:p>
          <a:p>
            <a:pPr indent="-298450" lvl="0" marL="457200" rtl="0" algn="l">
              <a:spcBef>
                <a:spcPts val="300"/>
              </a:spcBef>
              <a:spcAft>
                <a:spcPts val="0"/>
              </a:spcAft>
              <a:buClr>
                <a:srgbClr val="000000"/>
              </a:buClr>
              <a:buSzPts val="1100"/>
              <a:buFont typeface="Arial"/>
              <a:buChar char="●"/>
            </a:pPr>
            <a:r>
              <a:rPr lang="en" sz="1100">
                <a:solidFill>
                  <a:srgbClr val="000000"/>
                </a:solidFill>
                <a:latin typeface="Arial"/>
                <a:ea typeface="Arial"/>
                <a:cs typeface="Arial"/>
                <a:sym typeface="Arial"/>
              </a:rPr>
              <a:t>Forces all log records of T to stable storage</a:t>
            </a:r>
            <a:endParaRPr sz="1100">
              <a:solidFill>
                <a:srgbClr val="000000"/>
              </a:solidFill>
              <a:latin typeface="Arial"/>
              <a:ea typeface="Arial"/>
              <a:cs typeface="Arial"/>
              <a:sym typeface="Arial"/>
            </a:endParaRPr>
          </a:p>
          <a:p>
            <a:pPr indent="-298450" lvl="0" marL="457200" rtl="0" algn="l">
              <a:spcBef>
                <a:spcPts val="300"/>
              </a:spcBef>
              <a:spcAft>
                <a:spcPts val="0"/>
              </a:spcAft>
              <a:buClr>
                <a:srgbClr val="000000"/>
              </a:buClr>
              <a:buSzPts val="1100"/>
              <a:buFont typeface="Arial"/>
              <a:buChar char="●"/>
            </a:pPr>
            <a:r>
              <a:rPr lang="en" sz="1100">
                <a:solidFill>
                  <a:srgbClr val="000000"/>
                </a:solidFill>
                <a:latin typeface="Arial"/>
                <a:ea typeface="Arial"/>
                <a:cs typeface="Arial"/>
                <a:sym typeface="Arial"/>
              </a:rPr>
              <a:t>Sends </a:t>
            </a:r>
            <a:r>
              <a:rPr b="1" lang="en" sz="1100">
                <a:solidFill>
                  <a:srgbClr val="000000"/>
                </a:solidFill>
                <a:latin typeface="Arial"/>
                <a:ea typeface="Arial"/>
                <a:cs typeface="Arial"/>
                <a:sym typeface="Arial"/>
              </a:rPr>
              <a:t>ready T</a:t>
            </a:r>
            <a:r>
              <a:rPr lang="en" sz="1100">
                <a:solidFill>
                  <a:srgbClr val="000000"/>
                </a:solidFill>
                <a:latin typeface="Arial"/>
                <a:ea typeface="Arial"/>
                <a:cs typeface="Arial"/>
                <a:sym typeface="Arial"/>
              </a:rPr>
              <a:t> to the coordinator</a:t>
            </a:r>
            <a:endParaRPr sz="1100">
              <a:solidFill>
                <a:srgbClr val="000000"/>
              </a:solidFill>
              <a:latin typeface="Arial"/>
              <a:ea typeface="Arial"/>
              <a:cs typeface="Arial"/>
              <a:sym typeface="Arial"/>
            </a:endParaRPr>
          </a:p>
          <a:p>
            <a:pPr indent="0" lvl="0" marL="0" rtl="0" algn="l">
              <a:spcBef>
                <a:spcPts val="300"/>
              </a:spcBef>
              <a:spcAft>
                <a:spcPts val="0"/>
              </a:spcAft>
              <a:buNone/>
            </a:pPr>
            <a:r>
              <a:rPr lang="en" sz="1100">
                <a:solidFill>
                  <a:srgbClr val="000000"/>
                </a:solidFill>
                <a:latin typeface="Arial"/>
                <a:ea typeface="Arial"/>
                <a:cs typeface="Arial"/>
                <a:sym typeface="Arial"/>
              </a:rPr>
              <a:t>After a site sends </a:t>
            </a:r>
            <a:r>
              <a:rPr b="1" lang="en" sz="1100">
                <a:solidFill>
                  <a:srgbClr val="000000"/>
                </a:solidFill>
                <a:latin typeface="Arial"/>
                <a:ea typeface="Arial"/>
                <a:cs typeface="Arial"/>
                <a:sym typeface="Arial"/>
              </a:rPr>
              <a:t>ready T</a:t>
            </a:r>
            <a:r>
              <a:rPr lang="en" sz="1100">
                <a:solidFill>
                  <a:srgbClr val="000000"/>
                </a:solidFill>
                <a:latin typeface="Arial"/>
                <a:ea typeface="Arial"/>
                <a:cs typeface="Arial"/>
                <a:sym typeface="Arial"/>
              </a:rPr>
              <a:t>, it is in the </a:t>
            </a:r>
            <a:r>
              <a:rPr b="1" lang="en" sz="1100">
                <a:solidFill>
                  <a:srgbClr val="000000"/>
                </a:solidFill>
                <a:latin typeface="Arial"/>
                <a:ea typeface="Arial"/>
                <a:cs typeface="Arial"/>
                <a:sym typeface="Arial"/>
              </a:rPr>
              <a:t>READY state</a:t>
            </a:r>
            <a:r>
              <a:rPr lang="en" sz="1100">
                <a:solidFill>
                  <a:srgbClr val="000000"/>
                </a:solidFill>
                <a:latin typeface="Arial"/>
                <a:ea typeface="Arial"/>
                <a:cs typeface="Arial"/>
                <a:sym typeface="Arial"/>
              </a:rPr>
              <a:t>, meaning:</a:t>
            </a:r>
            <a:endParaRPr sz="1100">
              <a:solidFill>
                <a:srgbClr val="000000"/>
              </a:solidFill>
              <a:latin typeface="Arial"/>
              <a:ea typeface="Arial"/>
              <a:cs typeface="Arial"/>
              <a:sym typeface="Arial"/>
            </a:endParaRPr>
          </a:p>
          <a:p>
            <a:pPr indent="-298450" lvl="0" marL="457200" rtl="0" algn="l">
              <a:spcBef>
                <a:spcPts val="300"/>
              </a:spcBef>
              <a:spcAft>
                <a:spcPts val="0"/>
              </a:spcAft>
              <a:buClr>
                <a:srgbClr val="000000"/>
              </a:buClr>
              <a:buSzPts val="1100"/>
              <a:buFont typeface="Arial"/>
              <a:buChar char="●"/>
            </a:pPr>
            <a:r>
              <a:rPr lang="en" sz="1100">
                <a:solidFill>
                  <a:srgbClr val="000000"/>
                </a:solidFill>
                <a:latin typeface="Arial"/>
                <a:ea typeface="Arial"/>
                <a:cs typeface="Arial"/>
                <a:sym typeface="Arial"/>
              </a:rPr>
              <a:t>It </a:t>
            </a:r>
            <a:r>
              <a:rPr b="1" lang="en" sz="1100">
                <a:solidFill>
                  <a:srgbClr val="000000"/>
                </a:solidFill>
                <a:latin typeface="Arial"/>
                <a:ea typeface="Arial"/>
                <a:cs typeface="Arial"/>
                <a:sym typeface="Arial"/>
              </a:rPr>
              <a:t>cannot abort on its own</a:t>
            </a:r>
            <a:endParaRPr b="1" sz="1100">
              <a:solidFill>
                <a:srgbClr val="000000"/>
              </a:solidFill>
              <a:latin typeface="Arial"/>
              <a:ea typeface="Arial"/>
              <a:cs typeface="Arial"/>
              <a:sym typeface="Arial"/>
            </a:endParaRPr>
          </a:p>
          <a:p>
            <a:pPr indent="-298450" lvl="0" marL="457200" rtl="0" algn="l">
              <a:spcBef>
                <a:spcPts val="300"/>
              </a:spcBef>
              <a:spcAft>
                <a:spcPts val="0"/>
              </a:spcAft>
              <a:buClr>
                <a:srgbClr val="000000"/>
              </a:buClr>
              <a:buSzPts val="1100"/>
              <a:buFont typeface="Arial"/>
              <a:buChar char="●"/>
            </a:pPr>
            <a:r>
              <a:rPr lang="en" sz="1100">
                <a:solidFill>
                  <a:srgbClr val="000000"/>
                </a:solidFill>
                <a:latin typeface="Arial"/>
                <a:ea typeface="Arial"/>
                <a:cs typeface="Arial"/>
                <a:sym typeface="Arial"/>
              </a:rPr>
              <a:t>It must wait for the coordinator’s decision</a:t>
            </a:r>
            <a:endParaRPr sz="1100">
              <a:solidFill>
                <a:srgbClr val="000000"/>
              </a:solidFill>
              <a:latin typeface="Arial"/>
              <a:ea typeface="Arial"/>
              <a:cs typeface="Arial"/>
              <a:sym typeface="Arial"/>
            </a:endParaRPr>
          </a:p>
          <a:p>
            <a:pPr indent="-298450" lvl="0" marL="457200" rtl="0" algn="l">
              <a:spcBef>
                <a:spcPts val="300"/>
              </a:spcBef>
              <a:spcAft>
                <a:spcPts val="300"/>
              </a:spcAft>
              <a:buClr>
                <a:srgbClr val="000000"/>
              </a:buClr>
              <a:buSzPts val="1100"/>
              <a:buFont typeface="Arial"/>
              <a:buChar char="●"/>
            </a:pPr>
            <a:r>
              <a:rPr lang="en" sz="1100">
                <a:solidFill>
                  <a:srgbClr val="000000"/>
                </a:solidFill>
                <a:latin typeface="Arial"/>
                <a:ea typeface="Arial"/>
                <a:cs typeface="Arial"/>
                <a:sym typeface="Arial"/>
              </a:rPr>
              <a:t>It must </a:t>
            </a:r>
            <a:r>
              <a:rPr b="1" lang="en" sz="1100">
                <a:solidFill>
                  <a:srgbClr val="000000"/>
                </a:solidFill>
                <a:latin typeface="Arial"/>
                <a:ea typeface="Arial"/>
                <a:cs typeface="Arial"/>
                <a:sym typeface="Arial"/>
              </a:rPr>
              <a:t>hold all locks</a:t>
            </a:r>
            <a:r>
              <a:rPr lang="en" sz="1100">
                <a:solidFill>
                  <a:srgbClr val="000000"/>
                </a:solidFill>
                <a:latin typeface="Arial"/>
                <a:ea typeface="Arial"/>
                <a:cs typeface="Arial"/>
                <a:sym typeface="Arial"/>
              </a:rPr>
              <a:t> until the final commit/abort</a:t>
            </a:r>
            <a:br>
              <a:rPr lang="en" sz="1100">
                <a:solidFill>
                  <a:srgbClr val="000000"/>
                </a:solidFill>
                <a:latin typeface="Arial"/>
                <a:ea typeface="Arial"/>
                <a:cs typeface="Arial"/>
                <a:sym typeface="Arial"/>
              </a:rPr>
            </a:br>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92"/>
          <p:cNvSpPr txBox="1"/>
          <p:nvPr>
            <p:ph idx="1" type="body"/>
          </p:nvPr>
        </p:nvSpPr>
        <p:spPr>
          <a:xfrm>
            <a:off x="311700" y="286925"/>
            <a:ext cx="8520600" cy="4282200"/>
          </a:xfrm>
          <a:prstGeom prst="rect">
            <a:avLst/>
          </a:prstGeom>
        </p:spPr>
        <p:txBody>
          <a:bodyPr anchorCtr="0" anchor="t" bIns="91425" lIns="91425" spcFirstLastPara="1" rIns="91425" wrap="square" tIns="91425">
            <a:normAutofit lnSpcReduction="20000"/>
          </a:bodyPr>
          <a:lstStyle/>
          <a:p>
            <a:pPr indent="0" lvl="0" marL="0" rtl="0" algn="l">
              <a:spcBef>
                <a:spcPts val="2400"/>
              </a:spcBef>
              <a:spcAft>
                <a:spcPts val="0"/>
              </a:spcAft>
              <a:buNone/>
            </a:pPr>
            <a:r>
              <a:rPr b="1" lang="en" sz="2300">
                <a:solidFill>
                  <a:srgbClr val="000000"/>
                </a:solidFill>
                <a:latin typeface="Arial"/>
                <a:ea typeface="Arial"/>
                <a:cs typeface="Arial"/>
                <a:sym typeface="Arial"/>
              </a:rPr>
              <a:t>Phase 2: Commit/Abort Phase (Decision Phase)</a:t>
            </a:r>
            <a:endParaRPr b="1" sz="23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The coordinator waits for:</a:t>
            </a:r>
            <a:endParaRPr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Responses from </a:t>
            </a:r>
            <a:r>
              <a:rPr b="1" lang="en" sz="1100">
                <a:solidFill>
                  <a:srgbClr val="000000"/>
                </a:solidFill>
                <a:latin typeface="Arial"/>
                <a:ea typeface="Arial"/>
                <a:cs typeface="Arial"/>
                <a:sym typeface="Arial"/>
              </a:rPr>
              <a:t>all sites</a:t>
            </a:r>
            <a:endParaRPr b="1"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Or until a </a:t>
            </a:r>
            <a:r>
              <a:rPr b="1" lang="en" sz="1100">
                <a:solidFill>
                  <a:srgbClr val="000000"/>
                </a:solidFill>
                <a:latin typeface="Arial"/>
                <a:ea typeface="Arial"/>
                <a:cs typeface="Arial"/>
                <a:sym typeface="Arial"/>
              </a:rPr>
              <a:t>timeout</a:t>
            </a:r>
            <a:r>
              <a:rPr lang="en" sz="1100">
                <a:solidFill>
                  <a:srgbClr val="000000"/>
                </a:solidFill>
                <a:latin typeface="Arial"/>
                <a:ea typeface="Arial"/>
                <a:cs typeface="Arial"/>
                <a:sym typeface="Arial"/>
              </a:rPr>
              <a:t> happens</a:t>
            </a:r>
            <a:endParaRPr sz="1100">
              <a:solidFill>
                <a:srgbClr val="000000"/>
              </a:solidFill>
              <a:latin typeface="Arial"/>
              <a:ea typeface="Arial"/>
              <a:cs typeface="Arial"/>
              <a:sym typeface="Arial"/>
            </a:endParaRPr>
          </a:p>
          <a:p>
            <a:pPr indent="0" lvl="0" marL="0" rtl="0" algn="l">
              <a:spcBef>
                <a:spcPts val="1400"/>
              </a:spcBef>
              <a:spcAft>
                <a:spcPts val="0"/>
              </a:spcAft>
              <a:buNone/>
            </a:pPr>
            <a:r>
              <a:rPr b="1" lang="en" sz="1300">
                <a:solidFill>
                  <a:srgbClr val="000000"/>
                </a:solidFill>
                <a:latin typeface="Arial"/>
                <a:ea typeface="Arial"/>
                <a:cs typeface="Arial"/>
                <a:sym typeface="Arial"/>
              </a:rPr>
              <a:t>Coordinator decides outcome:</a:t>
            </a:r>
            <a:endParaRPr b="1" sz="1300">
              <a:solidFill>
                <a:srgbClr val="000000"/>
              </a:solidFill>
              <a:latin typeface="Arial"/>
              <a:ea typeface="Arial"/>
              <a:cs typeface="Arial"/>
              <a:sym typeface="Arial"/>
            </a:endParaRPr>
          </a:p>
          <a:p>
            <a:pPr indent="0" lvl="0" marL="0" rtl="0" algn="l">
              <a:spcBef>
                <a:spcPts val="1400"/>
              </a:spcBef>
              <a:spcAft>
                <a:spcPts val="0"/>
              </a:spcAft>
              <a:buNone/>
            </a:pPr>
            <a:r>
              <a:rPr b="1" lang="en" sz="1300">
                <a:solidFill>
                  <a:srgbClr val="000000"/>
                </a:solidFill>
                <a:latin typeface="Arial"/>
                <a:ea typeface="Arial"/>
                <a:cs typeface="Arial"/>
                <a:sym typeface="Arial"/>
              </a:rPr>
              <a:t>If ALL sites replied YES / ready T</a:t>
            </a:r>
            <a:endParaRPr b="1" sz="13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 Ci writes </a:t>
            </a:r>
            <a:r>
              <a:rPr b="1" lang="en" sz="1100">
                <a:solidFill>
                  <a:srgbClr val="000000"/>
                </a:solidFill>
                <a:latin typeface="Arial"/>
                <a:ea typeface="Arial"/>
                <a:cs typeface="Arial"/>
                <a:sym typeface="Arial"/>
              </a:rPr>
              <a:t>&lt;commit T&gt;</a:t>
            </a:r>
            <a:r>
              <a:rPr lang="en" sz="1100">
                <a:solidFill>
                  <a:srgbClr val="000000"/>
                </a:solidFill>
                <a:latin typeface="Arial"/>
                <a:ea typeface="Arial"/>
                <a:cs typeface="Arial"/>
                <a:sym typeface="Arial"/>
              </a:rPr>
              <a:t> to log</a:t>
            </a:r>
            <a:br>
              <a:rPr lang="en" sz="1100">
                <a:solidFill>
                  <a:srgbClr val="000000"/>
                </a:solidFill>
                <a:latin typeface="Arial"/>
                <a:ea typeface="Arial"/>
                <a:cs typeface="Arial"/>
                <a:sym typeface="Arial"/>
              </a:rPr>
            </a:br>
            <a:r>
              <a:rPr lang="en" sz="1100">
                <a:solidFill>
                  <a:srgbClr val="000000"/>
                </a:solidFill>
                <a:latin typeface="Arial"/>
                <a:ea typeface="Arial"/>
                <a:cs typeface="Arial"/>
                <a:sym typeface="Arial"/>
              </a:rPr>
              <a:t> → Forces log to stable storage</a:t>
            </a:r>
            <a:br>
              <a:rPr lang="en" sz="1100">
                <a:solidFill>
                  <a:srgbClr val="000000"/>
                </a:solidFill>
                <a:latin typeface="Arial"/>
                <a:ea typeface="Arial"/>
                <a:cs typeface="Arial"/>
                <a:sym typeface="Arial"/>
              </a:rPr>
            </a:br>
            <a:r>
              <a:rPr lang="en" sz="1100">
                <a:solidFill>
                  <a:srgbClr val="000000"/>
                </a:solidFill>
                <a:latin typeface="Arial"/>
                <a:ea typeface="Arial"/>
                <a:cs typeface="Arial"/>
                <a:sym typeface="Arial"/>
              </a:rPr>
              <a:t> → Sends </a:t>
            </a:r>
            <a:r>
              <a:rPr b="1" lang="en" sz="1100">
                <a:solidFill>
                  <a:srgbClr val="000000"/>
                </a:solidFill>
                <a:latin typeface="Arial"/>
                <a:ea typeface="Arial"/>
                <a:cs typeface="Arial"/>
                <a:sym typeface="Arial"/>
              </a:rPr>
              <a:t>commit T</a:t>
            </a:r>
            <a:r>
              <a:rPr lang="en" sz="1100">
                <a:solidFill>
                  <a:srgbClr val="000000"/>
                </a:solidFill>
                <a:latin typeface="Arial"/>
                <a:ea typeface="Arial"/>
                <a:cs typeface="Arial"/>
                <a:sym typeface="Arial"/>
              </a:rPr>
              <a:t> to all sites</a:t>
            </a:r>
            <a:endParaRPr sz="1100">
              <a:solidFill>
                <a:srgbClr val="000000"/>
              </a:solidFill>
              <a:latin typeface="Arial"/>
              <a:ea typeface="Arial"/>
              <a:cs typeface="Arial"/>
              <a:sym typeface="Arial"/>
            </a:endParaRPr>
          </a:p>
          <a:p>
            <a:pPr indent="0" lvl="0" marL="0" rtl="0" algn="l">
              <a:spcBef>
                <a:spcPts val="1400"/>
              </a:spcBef>
              <a:spcAft>
                <a:spcPts val="0"/>
              </a:spcAft>
              <a:buNone/>
            </a:pPr>
            <a:r>
              <a:rPr b="1" lang="en" sz="1300">
                <a:solidFill>
                  <a:srgbClr val="000000"/>
                </a:solidFill>
                <a:latin typeface="Arial"/>
                <a:ea typeface="Arial"/>
                <a:cs typeface="Arial"/>
                <a:sym typeface="Arial"/>
              </a:rPr>
              <a:t>If any site replied NO / abort T</a:t>
            </a:r>
            <a:endParaRPr b="1" sz="13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 Ci writes </a:t>
            </a:r>
            <a:r>
              <a:rPr b="1" lang="en" sz="1100">
                <a:solidFill>
                  <a:srgbClr val="000000"/>
                </a:solidFill>
                <a:latin typeface="Arial"/>
                <a:ea typeface="Arial"/>
                <a:cs typeface="Arial"/>
                <a:sym typeface="Arial"/>
              </a:rPr>
              <a:t>&lt;abort T&gt;</a:t>
            </a:r>
            <a:r>
              <a:rPr lang="en" sz="1100">
                <a:solidFill>
                  <a:srgbClr val="000000"/>
                </a:solidFill>
                <a:latin typeface="Arial"/>
                <a:ea typeface="Arial"/>
                <a:cs typeface="Arial"/>
                <a:sym typeface="Arial"/>
              </a:rPr>
              <a:t> to log</a:t>
            </a:r>
            <a:br>
              <a:rPr lang="en" sz="1100">
                <a:solidFill>
                  <a:srgbClr val="000000"/>
                </a:solidFill>
                <a:latin typeface="Arial"/>
                <a:ea typeface="Arial"/>
                <a:cs typeface="Arial"/>
                <a:sym typeface="Arial"/>
              </a:rPr>
            </a:br>
            <a:r>
              <a:rPr lang="en" sz="1100">
                <a:solidFill>
                  <a:srgbClr val="000000"/>
                </a:solidFill>
                <a:latin typeface="Arial"/>
                <a:ea typeface="Arial"/>
                <a:cs typeface="Arial"/>
                <a:sym typeface="Arial"/>
              </a:rPr>
              <a:t> → Forces log to stable storage</a:t>
            </a:r>
            <a:br>
              <a:rPr lang="en" sz="1100">
                <a:solidFill>
                  <a:srgbClr val="000000"/>
                </a:solidFill>
                <a:latin typeface="Arial"/>
                <a:ea typeface="Arial"/>
                <a:cs typeface="Arial"/>
                <a:sym typeface="Arial"/>
              </a:rPr>
            </a:br>
            <a:r>
              <a:rPr lang="en" sz="1100">
                <a:solidFill>
                  <a:srgbClr val="000000"/>
                </a:solidFill>
                <a:latin typeface="Arial"/>
                <a:ea typeface="Arial"/>
                <a:cs typeface="Arial"/>
                <a:sym typeface="Arial"/>
              </a:rPr>
              <a:t> → Sends </a:t>
            </a:r>
            <a:r>
              <a:rPr b="1" lang="en" sz="1100">
                <a:solidFill>
                  <a:srgbClr val="000000"/>
                </a:solidFill>
                <a:latin typeface="Arial"/>
                <a:ea typeface="Arial"/>
                <a:cs typeface="Arial"/>
                <a:sym typeface="Arial"/>
              </a:rPr>
              <a:t>abort T</a:t>
            </a:r>
            <a:r>
              <a:rPr lang="en" sz="1100">
                <a:solidFill>
                  <a:srgbClr val="000000"/>
                </a:solidFill>
                <a:latin typeface="Arial"/>
                <a:ea typeface="Arial"/>
                <a:cs typeface="Arial"/>
                <a:sym typeface="Arial"/>
              </a:rPr>
              <a:t> to all sites</a:t>
            </a:r>
            <a:endParaRPr sz="1100">
              <a:solidFill>
                <a:srgbClr val="000000"/>
              </a:solidFill>
              <a:latin typeface="Arial"/>
              <a:ea typeface="Arial"/>
              <a:cs typeface="Arial"/>
              <a:sym typeface="Arial"/>
            </a:endParaRPr>
          </a:p>
          <a:p>
            <a:pPr indent="0" lvl="0" marL="0" rtl="0" algn="l">
              <a:spcBef>
                <a:spcPts val="1200"/>
              </a:spcBef>
              <a:spcAft>
                <a:spcPts val="1200"/>
              </a:spcAft>
              <a:buNone/>
            </a:pPr>
            <a:r>
              <a:rPr b="1" lang="en" sz="1100">
                <a:solidFill>
                  <a:srgbClr val="000000"/>
                </a:solidFill>
                <a:latin typeface="Arial"/>
                <a:ea typeface="Arial"/>
                <a:cs typeface="Arial"/>
                <a:sym typeface="Arial"/>
              </a:rPr>
              <a:t>Once Ci writes commit/abort to the log and forces it</a:t>
            </a:r>
            <a:r>
              <a:rPr lang="en" sz="1100">
                <a:solidFill>
                  <a:srgbClr val="000000"/>
                </a:solidFill>
                <a:latin typeface="Arial"/>
                <a:ea typeface="Arial"/>
                <a:cs typeface="Arial"/>
                <a:sym typeface="Arial"/>
              </a:rPr>
              <a:t>,</a:t>
            </a:r>
            <a:br>
              <a:rPr lang="en" sz="1100">
                <a:solidFill>
                  <a:srgbClr val="000000"/>
                </a:solidFill>
                <a:latin typeface="Arial"/>
                <a:ea typeface="Arial"/>
                <a:cs typeface="Arial"/>
                <a:sym typeface="Arial"/>
              </a:rPr>
            </a:br>
            <a:r>
              <a:rPr lang="en" sz="1100">
                <a:solidFill>
                  <a:srgbClr val="000000"/>
                </a:solidFill>
                <a:latin typeface="Arial"/>
                <a:ea typeface="Arial"/>
                <a:cs typeface="Arial"/>
                <a:sym typeface="Arial"/>
              </a:rPr>
              <a:t> the decision is </a:t>
            </a:r>
            <a:r>
              <a:rPr b="1" lang="en" sz="1100">
                <a:solidFill>
                  <a:srgbClr val="000000"/>
                </a:solidFill>
                <a:latin typeface="Arial"/>
                <a:ea typeface="Arial"/>
                <a:cs typeface="Arial"/>
                <a:sym typeface="Arial"/>
              </a:rPr>
              <a:t>final</a:t>
            </a:r>
            <a:r>
              <a:rPr lang="en" sz="1100">
                <a:solidFill>
                  <a:srgbClr val="000000"/>
                </a:solidFill>
                <a:latin typeface="Arial"/>
                <a:ea typeface="Arial"/>
                <a:cs typeface="Arial"/>
                <a:sym typeface="Arial"/>
              </a:rPr>
              <a:t>.</a:t>
            </a:r>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93"/>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Distributed Query Processing</a:t>
            </a:r>
            <a:endParaRPr/>
          </a:p>
        </p:txBody>
      </p:sp>
      <p:sp>
        <p:nvSpPr>
          <p:cNvPr id="498" name="Google Shape;498;p93"/>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sz="1100">
                <a:solidFill>
                  <a:srgbClr val="000000"/>
                </a:solidFill>
                <a:latin typeface="Arial"/>
                <a:ea typeface="Arial"/>
                <a:cs typeface="Arial"/>
                <a:sym typeface="Arial"/>
              </a:rPr>
              <a:t>When a query is run in a distributed database, the data may be stored at </a:t>
            </a:r>
            <a:r>
              <a:rPr b="1" lang="en" sz="1100">
                <a:solidFill>
                  <a:srgbClr val="000000"/>
                </a:solidFill>
                <a:latin typeface="Arial"/>
                <a:ea typeface="Arial"/>
                <a:cs typeface="Arial"/>
                <a:sym typeface="Arial"/>
              </a:rPr>
              <a:t>different sites</a:t>
            </a:r>
            <a:r>
              <a:rPr lang="en" sz="1100">
                <a:solidFill>
                  <a:srgbClr val="000000"/>
                </a:solidFill>
                <a:latin typeface="Arial"/>
                <a:ea typeface="Arial"/>
                <a:cs typeface="Arial"/>
                <a:sym typeface="Arial"/>
              </a:rPr>
              <a:t>. Processing such queries requires extra considerations compared to a centralized DBMS.</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In a distributed system, the query optimizer must balance:</a:t>
            </a:r>
            <a:endParaRPr sz="1100">
              <a:solidFill>
                <a:srgbClr val="000000"/>
              </a:solidFill>
              <a:latin typeface="Arial"/>
              <a:ea typeface="Arial"/>
              <a:cs typeface="Arial"/>
              <a:sym typeface="Arial"/>
            </a:endParaRPr>
          </a:p>
          <a:p>
            <a:pPr indent="0" lvl="0" marL="0" rtl="0" algn="l">
              <a:spcBef>
                <a:spcPts val="1400"/>
              </a:spcBef>
              <a:spcAft>
                <a:spcPts val="0"/>
              </a:spcAft>
              <a:buNone/>
            </a:pPr>
            <a:r>
              <a:rPr b="1" lang="en" sz="1300">
                <a:solidFill>
                  <a:srgbClr val="000000"/>
                </a:solidFill>
                <a:latin typeface="Arial"/>
                <a:ea typeface="Arial"/>
                <a:cs typeface="Arial"/>
                <a:sym typeface="Arial"/>
              </a:rPr>
              <a:t>Disk access cost</a:t>
            </a:r>
            <a:endParaRPr b="1" sz="1300">
              <a:solidFill>
                <a:srgbClr val="000000"/>
              </a:solidFill>
              <a:latin typeface="Arial"/>
              <a:ea typeface="Arial"/>
              <a:cs typeface="Arial"/>
              <a:sym typeface="Arial"/>
            </a:endParaRPr>
          </a:p>
          <a:p>
            <a:pPr indent="0" lvl="0" marL="0" rtl="0" algn="l">
              <a:spcBef>
                <a:spcPts val="1400"/>
              </a:spcBef>
              <a:spcAft>
                <a:spcPts val="0"/>
              </a:spcAft>
              <a:buNone/>
            </a:pPr>
            <a:r>
              <a:rPr b="1" lang="en" sz="1300">
                <a:solidFill>
                  <a:srgbClr val="000000"/>
                </a:solidFill>
                <a:latin typeface="Arial"/>
                <a:ea typeface="Arial"/>
                <a:cs typeface="Arial"/>
                <a:sym typeface="Arial"/>
              </a:rPr>
              <a:t>Network data-transfer cost</a:t>
            </a:r>
            <a:endParaRPr b="1" sz="1300">
              <a:solidFill>
                <a:srgbClr val="000000"/>
              </a:solidFill>
              <a:latin typeface="Arial"/>
              <a:ea typeface="Arial"/>
              <a:cs typeface="Arial"/>
              <a:sym typeface="Arial"/>
            </a:endParaRPr>
          </a:p>
          <a:p>
            <a:pPr indent="0" lvl="0" marL="0" rtl="0" algn="l">
              <a:spcBef>
                <a:spcPts val="1400"/>
              </a:spcBef>
              <a:spcAft>
                <a:spcPts val="0"/>
              </a:spcAft>
              <a:buNone/>
            </a:pPr>
            <a:r>
              <a:rPr b="1" lang="en" sz="1300">
                <a:solidFill>
                  <a:srgbClr val="000000"/>
                </a:solidFill>
                <a:latin typeface="Arial"/>
                <a:ea typeface="Arial"/>
                <a:cs typeface="Arial"/>
                <a:sym typeface="Arial"/>
              </a:rPr>
              <a:t>Parallel processing benefits</a:t>
            </a:r>
            <a:endParaRPr b="1" sz="1300">
              <a:solidFill>
                <a:srgbClr val="000000"/>
              </a:solidFill>
              <a:latin typeface="Arial"/>
              <a:ea typeface="Arial"/>
              <a:cs typeface="Arial"/>
              <a:sym typeface="Arial"/>
            </a:endParaRPr>
          </a:p>
          <a:p>
            <a:pPr indent="0" lvl="0" marL="0" rtl="0" algn="l">
              <a:spcBef>
                <a:spcPts val="1200"/>
              </a:spcBef>
              <a:spcAft>
                <a:spcPts val="1200"/>
              </a:spcAft>
              <a:buNone/>
            </a:pPr>
            <a:r>
              <a:rPr lang="en" sz="1100">
                <a:solidFill>
                  <a:srgbClr val="000000"/>
                </a:solidFill>
                <a:latin typeface="Arial"/>
                <a:ea typeface="Arial"/>
                <a:cs typeface="Arial"/>
                <a:sym typeface="Arial"/>
              </a:rPr>
              <a:t>Because sending data across the network is sometimes slow and expensive.</a:t>
            </a:r>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94"/>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504" name="Google Shape;504;p94"/>
          <p:cNvSpPr txBox="1"/>
          <p:nvPr>
            <p:ph idx="1" type="body"/>
          </p:nvPr>
        </p:nvSpPr>
        <p:spPr>
          <a:xfrm>
            <a:off x="311700" y="1266325"/>
            <a:ext cx="8520600" cy="3302700"/>
          </a:xfrm>
          <a:prstGeom prst="rect">
            <a:avLst/>
          </a:prstGeom>
        </p:spPr>
        <p:txBody>
          <a:bodyPr anchorCtr="0" anchor="t" bIns="91425" lIns="91425" spcFirstLastPara="1" rIns="91425" wrap="square" tIns="91425">
            <a:normAutofit lnSpcReduction="20000"/>
          </a:bodyPr>
          <a:lstStyle/>
          <a:p>
            <a:pPr indent="-374650" lvl="0" marL="457200" rtl="0" algn="l">
              <a:spcBef>
                <a:spcPts val="2400"/>
              </a:spcBef>
              <a:spcAft>
                <a:spcPts val="0"/>
              </a:spcAft>
              <a:buClr>
                <a:srgbClr val="000000"/>
              </a:buClr>
              <a:buSzPts val="2300"/>
              <a:buFont typeface="Arial"/>
              <a:buAutoNum type="arabicPeriod"/>
            </a:pPr>
            <a:r>
              <a:rPr b="1" lang="en" sz="2300">
                <a:solidFill>
                  <a:srgbClr val="000000"/>
                </a:solidFill>
                <a:latin typeface="Arial"/>
                <a:ea typeface="Arial"/>
                <a:cs typeface="Arial"/>
                <a:sym typeface="Arial"/>
              </a:rPr>
              <a:t>Query Transformation </a:t>
            </a:r>
            <a:endParaRPr b="1" sz="23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Suppose we run this query:</a:t>
            </a:r>
            <a:endParaRPr sz="1100">
              <a:solidFill>
                <a:srgbClr val="000000"/>
              </a:solidFill>
              <a:latin typeface="Arial"/>
              <a:ea typeface="Arial"/>
              <a:cs typeface="Arial"/>
              <a:sym typeface="Arial"/>
            </a:endParaRPr>
          </a:p>
          <a:p>
            <a:pPr indent="0" lvl="0" marL="381000" marR="381000" rtl="0" algn="l">
              <a:spcBef>
                <a:spcPts val="1200"/>
              </a:spcBef>
              <a:spcAft>
                <a:spcPts val="0"/>
              </a:spcAft>
              <a:buNone/>
            </a:pPr>
            <a:r>
              <a:rPr b="1" lang="en" sz="1100">
                <a:solidFill>
                  <a:srgbClr val="000000"/>
                </a:solidFill>
                <a:latin typeface="Arial"/>
                <a:ea typeface="Arial"/>
                <a:cs typeface="Arial"/>
                <a:sym typeface="Arial"/>
              </a:rPr>
              <a:t>Find all tuples from the account relation</a:t>
            </a:r>
            <a:endParaRPr b="1"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But the </a:t>
            </a:r>
            <a:r>
              <a:rPr i="1" lang="en" sz="1100">
                <a:solidFill>
                  <a:srgbClr val="000000"/>
                </a:solidFill>
                <a:latin typeface="Arial"/>
                <a:ea typeface="Arial"/>
                <a:cs typeface="Arial"/>
                <a:sym typeface="Arial"/>
              </a:rPr>
              <a:t>account</a:t>
            </a:r>
            <a:r>
              <a:rPr lang="en" sz="1100">
                <a:solidFill>
                  <a:srgbClr val="000000"/>
                </a:solidFill>
                <a:latin typeface="Arial"/>
                <a:ea typeface="Arial"/>
                <a:cs typeface="Arial"/>
                <a:sym typeface="Arial"/>
              </a:rPr>
              <a:t> relation may be:</a:t>
            </a:r>
            <a:endParaRPr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Fragmented</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Replicated</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Or both</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Example:</a:t>
            </a:r>
            <a:endParaRPr sz="1100">
              <a:solidFill>
                <a:srgbClr val="000000"/>
              </a:solidFill>
              <a:latin typeface="Arial"/>
              <a:ea typeface="Arial"/>
              <a:cs typeface="Arial"/>
              <a:sym typeface="Arial"/>
            </a:endParaRPr>
          </a:p>
          <a:p>
            <a:pPr indent="0" lvl="0" marL="0" rtl="0" algn="l">
              <a:spcBef>
                <a:spcPts val="1200"/>
              </a:spcBef>
              <a:spcAft>
                <a:spcPts val="1200"/>
              </a:spcAft>
              <a:buNone/>
            </a:pPr>
            <a:r>
              <a:rPr lang="en"/>
              <a:t>account = account1 ∪ account2</a:t>
            </a:r>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95"/>
          <p:cNvSpPr txBox="1"/>
          <p:nvPr>
            <p:ph idx="1" type="body"/>
          </p:nvPr>
        </p:nvSpPr>
        <p:spPr>
          <a:xfrm>
            <a:off x="311700" y="340075"/>
            <a:ext cx="8520600" cy="4229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600">
                <a:solidFill>
                  <a:srgbClr val="000000"/>
                </a:solidFill>
                <a:latin typeface="Times New Roman"/>
                <a:ea typeface="Times New Roman"/>
                <a:cs typeface="Times New Roman"/>
                <a:sym typeface="Times New Roman"/>
              </a:rPr>
              <a:t>If the user writes:</a:t>
            </a:r>
            <a:endParaRPr sz="1600">
              <a:solidFill>
                <a:srgbClr val="000000"/>
              </a:solidFill>
              <a:latin typeface="Times New Roman"/>
              <a:ea typeface="Times New Roman"/>
              <a:cs typeface="Times New Roman"/>
              <a:sym typeface="Times New Roman"/>
            </a:endParaRPr>
          </a:p>
          <a:p>
            <a:pPr indent="457200" lvl="0" marL="0" rtl="0" algn="l">
              <a:spcBef>
                <a:spcPts val="1200"/>
              </a:spcBef>
              <a:spcAft>
                <a:spcPts val="0"/>
              </a:spcAft>
              <a:buNone/>
            </a:pPr>
            <a:r>
              <a:rPr lang="en" sz="1600">
                <a:solidFill>
                  <a:srgbClr val="000000"/>
                </a:solidFill>
                <a:latin typeface="Times New Roman"/>
                <a:ea typeface="Times New Roman"/>
                <a:cs typeface="Times New Roman"/>
                <a:sym typeface="Times New Roman"/>
              </a:rPr>
              <a:t>σbranch_name = "Hillside" (account)</a:t>
            </a:r>
            <a:endParaRPr sz="1600">
              <a:solidFill>
                <a:srgbClr val="000000"/>
              </a:solidFill>
              <a:latin typeface="Times New Roman"/>
              <a:ea typeface="Times New Roman"/>
              <a:cs typeface="Times New Roman"/>
              <a:sym typeface="Times New Roman"/>
            </a:endParaRPr>
          </a:p>
          <a:p>
            <a:pPr indent="0" lvl="0" marL="0" rtl="0" algn="l">
              <a:spcBef>
                <a:spcPts val="1200"/>
              </a:spcBef>
              <a:spcAft>
                <a:spcPts val="0"/>
              </a:spcAft>
              <a:buNone/>
            </a:pPr>
            <a:r>
              <a:rPr lang="en" sz="1600">
                <a:solidFill>
                  <a:srgbClr val="000000"/>
                </a:solidFill>
                <a:latin typeface="Times New Roman"/>
                <a:ea typeface="Times New Roman"/>
                <a:cs typeface="Times New Roman"/>
                <a:sym typeface="Times New Roman"/>
              </a:rPr>
              <a:t>After fragmentation expansion, it becomes:</a:t>
            </a:r>
            <a:endParaRPr sz="1600">
              <a:solidFill>
                <a:srgbClr val="000000"/>
              </a:solidFill>
              <a:latin typeface="Times New Roman"/>
              <a:ea typeface="Times New Roman"/>
              <a:cs typeface="Times New Roman"/>
              <a:sym typeface="Times New Roman"/>
            </a:endParaRPr>
          </a:p>
          <a:p>
            <a:pPr indent="457200" lvl="0" marL="0" rtl="0" algn="l">
              <a:spcBef>
                <a:spcPts val="1200"/>
              </a:spcBef>
              <a:spcAft>
                <a:spcPts val="0"/>
              </a:spcAft>
              <a:buNone/>
            </a:pPr>
            <a:r>
              <a:rPr lang="en" sz="1600">
                <a:solidFill>
                  <a:srgbClr val="000000"/>
                </a:solidFill>
                <a:latin typeface="Times New Roman"/>
                <a:ea typeface="Times New Roman"/>
                <a:cs typeface="Times New Roman"/>
                <a:sym typeface="Times New Roman"/>
              </a:rPr>
              <a:t>σbranch="Hillside"(account1 ∪ account2)</a:t>
            </a:r>
            <a:endParaRPr sz="1600">
              <a:solidFill>
                <a:srgbClr val="000000"/>
              </a:solidFill>
              <a:latin typeface="Times New Roman"/>
              <a:ea typeface="Times New Roman"/>
              <a:cs typeface="Times New Roman"/>
              <a:sym typeface="Times New Roman"/>
            </a:endParaRPr>
          </a:p>
          <a:p>
            <a:pPr indent="0" lvl="0" marL="0" rtl="0" algn="l">
              <a:spcBef>
                <a:spcPts val="1200"/>
              </a:spcBef>
              <a:spcAft>
                <a:spcPts val="0"/>
              </a:spcAft>
              <a:buNone/>
            </a:pPr>
            <a:r>
              <a:rPr lang="en" sz="1600">
                <a:solidFill>
                  <a:srgbClr val="000000"/>
                </a:solidFill>
                <a:latin typeface="Times New Roman"/>
                <a:ea typeface="Times New Roman"/>
                <a:cs typeface="Times New Roman"/>
                <a:sym typeface="Times New Roman"/>
              </a:rPr>
              <a:t>Using relational algebra rules:</a:t>
            </a:r>
            <a:endParaRPr sz="1600">
              <a:solidFill>
                <a:srgbClr val="000000"/>
              </a:solidFill>
              <a:latin typeface="Times New Roman"/>
              <a:ea typeface="Times New Roman"/>
              <a:cs typeface="Times New Roman"/>
              <a:sym typeface="Times New Roman"/>
            </a:endParaRPr>
          </a:p>
          <a:p>
            <a:pPr indent="457200" lvl="0" marL="0" rtl="0" algn="l">
              <a:spcBef>
                <a:spcPts val="1200"/>
              </a:spcBef>
              <a:spcAft>
                <a:spcPts val="0"/>
              </a:spcAft>
              <a:buNone/>
            </a:pPr>
            <a:r>
              <a:rPr lang="en" sz="1600">
                <a:solidFill>
                  <a:srgbClr val="000000"/>
                </a:solidFill>
                <a:latin typeface="Times New Roman"/>
                <a:ea typeface="Times New Roman"/>
                <a:cs typeface="Times New Roman"/>
                <a:sym typeface="Times New Roman"/>
              </a:rPr>
              <a:t>σcond(r1 ∪ r2) = σcond(r1) ∪ σcond(r2)</a:t>
            </a:r>
            <a:endParaRPr sz="1600">
              <a:solidFill>
                <a:srgbClr val="000000"/>
              </a:solidFill>
              <a:latin typeface="Times New Roman"/>
              <a:ea typeface="Times New Roman"/>
              <a:cs typeface="Times New Roman"/>
              <a:sym typeface="Times New Roman"/>
            </a:endParaRPr>
          </a:p>
          <a:p>
            <a:pPr indent="0" lvl="0" marL="0" rtl="0" algn="l">
              <a:spcBef>
                <a:spcPts val="1200"/>
              </a:spcBef>
              <a:spcAft>
                <a:spcPts val="0"/>
              </a:spcAft>
              <a:buNone/>
            </a:pPr>
            <a:r>
              <a:rPr lang="en" sz="1600">
                <a:solidFill>
                  <a:srgbClr val="000000"/>
                </a:solidFill>
                <a:latin typeface="Times New Roman"/>
                <a:ea typeface="Times New Roman"/>
                <a:cs typeface="Times New Roman"/>
                <a:sym typeface="Times New Roman"/>
              </a:rPr>
              <a:t>So:</a:t>
            </a:r>
            <a:endParaRPr sz="1600">
              <a:solidFill>
                <a:srgbClr val="000000"/>
              </a:solidFill>
              <a:latin typeface="Times New Roman"/>
              <a:ea typeface="Times New Roman"/>
              <a:cs typeface="Times New Roman"/>
              <a:sym typeface="Times New Roman"/>
            </a:endParaRPr>
          </a:p>
          <a:p>
            <a:pPr indent="457200" lvl="0" marL="0" rtl="0" algn="l">
              <a:spcBef>
                <a:spcPts val="1200"/>
              </a:spcBef>
              <a:spcAft>
                <a:spcPts val="1200"/>
              </a:spcAft>
              <a:buNone/>
            </a:pPr>
            <a:r>
              <a:rPr lang="en" sz="1600">
                <a:solidFill>
                  <a:srgbClr val="000000"/>
                </a:solidFill>
                <a:latin typeface="Times New Roman"/>
                <a:ea typeface="Times New Roman"/>
                <a:cs typeface="Times New Roman"/>
                <a:sym typeface="Times New Roman"/>
              </a:rPr>
              <a:t>σbranch="Hillside"(account1) ∪ σbranch="Hillside"(account2)</a:t>
            </a:r>
            <a:endParaRPr sz="1600">
              <a:solidFill>
                <a:srgbClr val="000000"/>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96"/>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Multidimensional Databases</a:t>
            </a:r>
            <a:endParaRPr/>
          </a:p>
        </p:txBody>
      </p:sp>
      <p:sp>
        <p:nvSpPr>
          <p:cNvPr id="515" name="Google Shape;515;p96"/>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sz="1100">
                <a:solidFill>
                  <a:srgbClr val="000000"/>
                </a:solidFill>
                <a:latin typeface="Arial"/>
                <a:ea typeface="Arial"/>
                <a:cs typeface="Arial"/>
                <a:sym typeface="Arial"/>
              </a:rPr>
              <a:t>A </a:t>
            </a:r>
            <a:r>
              <a:rPr b="1" lang="en" sz="1100">
                <a:solidFill>
                  <a:srgbClr val="000000"/>
                </a:solidFill>
                <a:latin typeface="Arial"/>
                <a:ea typeface="Arial"/>
                <a:cs typeface="Arial"/>
                <a:sym typeface="Arial"/>
              </a:rPr>
              <a:t>Multidimensional Database</a:t>
            </a:r>
            <a:r>
              <a:rPr lang="en" sz="1100">
                <a:solidFill>
                  <a:srgbClr val="000000"/>
                </a:solidFill>
                <a:latin typeface="Arial"/>
                <a:ea typeface="Arial"/>
                <a:cs typeface="Arial"/>
                <a:sym typeface="Arial"/>
              </a:rPr>
              <a:t> is a type of database optimized for </a:t>
            </a:r>
            <a:r>
              <a:rPr b="1" lang="en" sz="1100">
                <a:solidFill>
                  <a:srgbClr val="000000"/>
                </a:solidFill>
                <a:latin typeface="Arial"/>
                <a:ea typeface="Arial"/>
                <a:cs typeface="Arial"/>
                <a:sym typeface="Arial"/>
              </a:rPr>
              <a:t>fast analysis</a:t>
            </a:r>
            <a:r>
              <a:rPr lang="en" sz="1100">
                <a:solidFill>
                  <a:srgbClr val="000000"/>
                </a:solidFill>
                <a:latin typeface="Arial"/>
                <a:ea typeface="Arial"/>
                <a:cs typeface="Arial"/>
                <a:sym typeface="Arial"/>
              </a:rPr>
              <a:t> of large amounts of data.</a:t>
            </a:r>
            <a:br>
              <a:rPr lang="en" sz="1100">
                <a:solidFill>
                  <a:srgbClr val="000000"/>
                </a:solidFill>
                <a:latin typeface="Arial"/>
                <a:ea typeface="Arial"/>
                <a:cs typeface="Arial"/>
                <a:sym typeface="Arial"/>
              </a:rPr>
            </a:br>
            <a:r>
              <a:rPr lang="en" sz="1100">
                <a:solidFill>
                  <a:srgbClr val="000000"/>
                </a:solidFill>
                <a:latin typeface="Arial"/>
                <a:ea typeface="Arial"/>
                <a:cs typeface="Arial"/>
                <a:sym typeface="Arial"/>
              </a:rPr>
              <a:t> Instead of storing data in 2-D tables (rows and columns), it stores data in a </a:t>
            </a:r>
            <a:r>
              <a:rPr b="1" lang="en" sz="1100">
                <a:solidFill>
                  <a:srgbClr val="000000"/>
                </a:solidFill>
                <a:latin typeface="Arial"/>
                <a:ea typeface="Arial"/>
                <a:cs typeface="Arial"/>
                <a:sym typeface="Arial"/>
              </a:rPr>
              <a:t>multidimensional cube</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These multidimensional structures are also called:</a:t>
            </a:r>
            <a:endParaRPr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b="1" lang="en" sz="1100">
                <a:solidFill>
                  <a:srgbClr val="000000"/>
                </a:solidFill>
                <a:latin typeface="Arial"/>
                <a:ea typeface="Arial"/>
                <a:cs typeface="Arial"/>
                <a:sym typeface="Arial"/>
              </a:rPr>
              <a:t>OLAP Cubes (Online Analytical Processing Cubes)</a:t>
            </a:r>
            <a:br>
              <a:rPr b="1" lang="en" sz="1100">
                <a:solidFill>
                  <a:srgbClr val="000000"/>
                </a:solidFill>
                <a:latin typeface="Arial"/>
                <a:ea typeface="Arial"/>
                <a:cs typeface="Arial"/>
                <a:sym typeface="Arial"/>
              </a:rPr>
            </a:br>
            <a:endParaRPr b="1"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b="1" lang="en" sz="1100">
                <a:solidFill>
                  <a:srgbClr val="000000"/>
                </a:solidFill>
                <a:latin typeface="Arial"/>
                <a:ea typeface="Arial"/>
                <a:cs typeface="Arial"/>
                <a:sym typeface="Arial"/>
              </a:rPr>
              <a:t>Data Cubes</a:t>
            </a:r>
            <a:br>
              <a:rPr b="1" lang="en" sz="1100">
                <a:solidFill>
                  <a:srgbClr val="000000"/>
                </a:solidFill>
                <a:latin typeface="Arial"/>
                <a:ea typeface="Arial"/>
                <a:cs typeface="Arial"/>
                <a:sym typeface="Arial"/>
              </a:rPr>
            </a:br>
            <a:endParaRPr b="1"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MDDBs are mainly used in </a:t>
            </a:r>
            <a:r>
              <a:rPr b="1" lang="en" sz="1100">
                <a:solidFill>
                  <a:srgbClr val="000000"/>
                </a:solidFill>
                <a:latin typeface="Arial"/>
                <a:ea typeface="Arial"/>
                <a:cs typeface="Arial"/>
                <a:sym typeface="Arial"/>
              </a:rPr>
              <a:t>data warehouses</a:t>
            </a:r>
            <a:r>
              <a:rPr lang="en" sz="1100">
                <a:solidFill>
                  <a:srgbClr val="000000"/>
                </a:solidFill>
                <a:latin typeface="Arial"/>
                <a:ea typeface="Arial"/>
                <a:cs typeface="Arial"/>
                <a:sym typeface="Arial"/>
              </a:rPr>
              <a:t> and </a:t>
            </a:r>
            <a:r>
              <a:rPr b="1" lang="en" sz="1100">
                <a:solidFill>
                  <a:srgbClr val="000000"/>
                </a:solidFill>
                <a:latin typeface="Arial"/>
                <a:ea typeface="Arial"/>
                <a:cs typeface="Arial"/>
                <a:sym typeface="Arial"/>
              </a:rPr>
              <a:t>business intelligence systems</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97"/>
          <p:cNvSpPr txBox="1"/>
          <p:nvPr>
            <p:ph idx="1" type="body"/>
          </p:nvPr>
        </p:nvSpPr>
        <p:spPr>
          <a:xfrm>
            <a:off x="311700" y="378550"/>
            <a:ext cx="8520600" cy="4190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350">
                <a:solidFill>
                  <a:srgbClr val="273239"/>
                </a:solidFill>
                <a:highlight>
                  <a:srgbClr val="FFFFFF"/>
                </a:highlight>
                <a:latin typeface="Nunito"/>
                <a:ea typeface="Nunito"/>
                <a:cs typeface="Nunito"/>
                <a:sym typeface="Nunito"/>
              </a:rPr>
              <a:t>A Multidimensional Data Model is defined as a model that allows data to be organized and viewed in multiple dimensions, such as product, time and location</a:t>
            </a:r>
            <a:endParaRPr sz="1350">
              <a:solidFill>
                <a:srgbClr val="273239"/>
              </a:solidFill>
              <a:highlight>
                <a:srgbClr val="FFFFFF"/>
              </a:highlight>
              <a:latin typeface="Nunito"/>
              <a:ea typeface="Nunito"/>
              <a:cs typeface="Nunito"/>
              <a:sym typeface="Nunito"/>
            </a:endParaRPr>
          </a:p>
          <a:p>
            <a:pPr indent="0" lvl="0" marL="0" rtl="0" algn="l">
              <a:spcBef>
                <a:spcPts val="1800"/>
              </a:spcBef>
              <a:spcAft>
                <a:spcPts val="0"/>
              </a:spcAft>
              <a:buNone/>
            </a:pPr>
            <a:r>
              <a:rPr b="1" lang="en" sz="1500">
                <a:solidFill>
                  <a:srgbClr val="273239"/>
                </a:solidFill>
                <a:highlight>
                  <a:srgbClr val="FFFFFF"/>
                </a:highlight>
                <a:latin typeface="Nunito"/>
                <a:ea typeface="Nunito"/>
                <a:cs typeface="Nunito"/>
                <a:sym typeface="Nunito"/>
              </a:rPr>
              <a:t>Features of </a:t>
            </a:r>
            <a:r>
              <a:rPr b="1" lang="en" sz="1500">
                <a:solidFill>
                  <a:srgbClr val="273239"/>
                </a:solidFill>
                <a:highlight>
                  <a:srgbClr val="FFFFFF"/>
                </a:highlight>
                <a:latin typeface="Nunito"/>
                <a:ea typeface="Nunito"/>
                <a:cs typeface="Nunito"/>
                <a:sym typeface="Nunito"/>
              </a:rPr>
              <a:t>Multidimensional</a:t>
            </a:r>
            <a:r>
              <a:rPr b="1" lang="en" sz="1500">
                <a:solidFill>
                  <a:srgbClr val="273239"/>
                </a:solidFill>
                <a:highlight>
                  <a:srgbClr val="FFFFFF"/>
                </a:highlight>
                <a:latin typeface="Nunito"/>
                <a:ea typeface="Nunito"/>
                <a:cs typeface="Nunito"/>
                <a:sym typeface="Nunito"/>
              </a:rPr>
              <a:t> data model</a:t>
            </a:r>
            <a:endParaRPr b="1" sz="1500">
              <a:solidFill>
                <a:srgbClr val="273239"/>
              </a:solidFill>
              <a:highlight>
                <a:srgbClr val="FFFFFF"/>
              </a:highlight>
              <a:latin typeface="Nunito"/>
              <a:ea typeface="Nunito"/>
              <a:cs typeface="Nunito"/>
              <a:sym typeface="Nunito"/>
            </a:endParaRPr>
          </a:p>
          <a:p>
            <a:pPr indent="-314325" lvl="0" marL="685800" rtl="0" algn="l">
              <a:lnSpc>
                <a:spcPct val="158000"/>
              </a:lnSpc>
              <a:spcBef>
                <a:spcPts val="1800"/>
              </a:spcBef>
              <a:spcAft>
                <a:spcPts val="0"/>
              </a:spcAft>
              <a:buClr>
                <a:srgbClr val="273239"/>
              </a:buClr>
              <a:buSzPts val="1350"/>
              <a:buFont typeface="Nunito"/>
              <a:buChar char="●"/>
            </a:pPr>
            <a:r>
              <a:rPr lang="en" sz="1350">
                <a:solidFill>
                  <a:srgbClr val="273239"/>
                </a:solidFill>
                <a:highlight>
                  <a:srgbClr val="FFFFFF"/>
                </a:highlight>
                <a:latin typeface="Nunito"/>
                <a:ea typeface="Nunito"/>
                <a:cs typeface="Nunito"/>
                <a:sym typeface="Nunito"/>
              </a:rPr>
              <a:t>It allows users to ask analytical questions associated with multiple dimensions which help us know market or business trends.</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0"/>
              </a:spcBef>
              <a:spcAft>
                <a:spcPts val="0"/>
              </a:spcAft>
              <a:buClr>
                <a:srgbClr val="273239"/>
              </a:buClr>
              <a:buSzPts val="1350"/>
              <a:buFont typeface="Nunito"/>
              <a:buChar char="●"/>
            </a:pPr>
            <a:r>
              <a:rPr lang="en" sz="1350">
                <a:solidFill>
                  <a:srgbClr val="273239"/>
                </a:solidFill>
                <a:highlight>
                  <a:srgbClr val="FFFFFF"/>
                </a:highlight>
                <a:latin typeface="Nunito"/>
                <a:ea typeface="Nunito"/>
                <a:cs typeface="Nunito"/>
                <a:sym typeface="Nunito"/>
              </a:rPr>
              <a:t>OLAP (online analytical processing) and data warehousing uses </a:t>
            </a:r>
            <a:r>
              <a:rPr lang="en" sz="1350">
                <a:solidFill>
                  <a:srgbClr val="273239"/>
                </a:solidFill>
                <a:highlight>
                  <a:srgbClr val="FFFFFF"/>
                </a:highlight>
                <a:latin typeface="Nunito"/>
                <a:ea typeface="Nunito"/>
                <a:cs typeface="Nunito"/>
                <a:sym typeface="Nunito"/>
              </a:rPr>
              <a:t>multidimensional</a:t>
            </a:r>
            <a:r>
              <a:rPr lang="en" sz="1350">
                <a:solidFill>
                  <a:srgbClr val="273239"/>
                </a:solidFill>
                <a:highlight>
                  <a:srgbClr val="FFFFFF"/>
                </a:highlight>
                <a:latin typeface="Nunito"/>
                <a:ea typeface="Nunito"/>
                <a:cs typeface="Nunito"/>
                <a:sym typeface="Nunito"/>
              </a:rPr>
              <a:t> databases.</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0"/>
              </a:spcBef>
              <a:spcAft>
                <a:spcPts val="0"/>
              </a:spcAft>
              <a:buClr>
                <a:srgbClr val="273239"/>
              </a:buClr>
              <a:buSzPts val="1350"/>
              <a:buFont typeface="Nunito"/>
              <a:buChar char="●"/>
            </a:pPr>
            <a:r>
              <a:rPr lang="en" sz="1350">
                <a:solidFill>
                  <a:srgbClr val="273239"/>
                </a:solidFill>
                <a:highlight>
                  <a:srgbClr val="FFFFFF"/>
                </a:highlight>
                <a:latin typeface="Nunito"/>
                <a:ea typeface="Nunito"/>
                <a:cs typeface="Nunito"/>
                <a:sym typeface="Nunito"/>
              </a:rPr>
              <a:t>It represents data in the form of data cubes. Data cubes allow to model and view the data from many dimensions and perspectives.</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0"/>
              </a:spcBef>
              <a:spcAft>
                <a:spcPts val="0"/>
              </a:spcAft>
              <a:buClr>
                <a:srgbClr val="273239"/>
              </a:buClr>
              <a:buSzPts val="1350"/>
              <a:buFont typeface="Nunito"/>
              <a:buChar char="●"/>
            </a:pPr>
            <a:r>
              <a:rPr lang="en" sz="1350">
                <a:solidFill>
                  <a:srgbClr val="273239"/>
                </a:solidFill>
                <a:highlight>
                  <a:srgbClr val="FFFFFF"/>
                </a:highlight>
                <a:latin typeface="Nunito"/>
                <a:ea typeface="Nunito"/>
                <a:cs typeface="Nunito"/>
                <a:sym typeface="Nunito"/>
              </a:rPr>
              <a:t>It is defined by dimensions and facts and is represented by a fact table. Facts are numerical measures and fact tables contain measures of the related dimensional tables or names of the facts.</a:t>
            </a:r>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p98"/>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526" name="Google Shape;526;p98"/>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t/>
            </a: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pic>
        <p:nvPicPr>
          <p:cNvPr id="527" name="Google Shape;527;p98"/>
          <p:cNvPicPr preferRelativeResize="0"/>
          <p:nvPr/>
        </p:nvPicPr>
        <p:blipFill>
          <a:blip r:embed="rId3">
            <a:alphaModFix/>
          </a:blip>
          <a:stretch>
            <a:fillRect/>
          </a:stretch>
        </p:blipFill>
        <p:spPr>
          <a:xfrm>
            <a:off x="2356422" y="1516850"/>
            <a:ext cx="3573475" cy="2345750"/>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p99"/>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533" name="Google Shape;533;p99"/>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100">
                <a:solidFill>
                  <a:srgbClr val="000000"/>
                </a:solidFill>
                <a:latin typeface="Arial"/>
                <a:ea typeface="Arial"/>
                <a:cs typeface="Arial"/>
                <a:sym typeface="Arial"/>
              </a:rPr>
              <a:t>Multidimensional databases (MDDBs) are essential in </a:t>
            </a:r>
            <a:r>
              <a:rPr b="1" lang="en" sz="1100">
                <a:solidFill>
                  <a:srgbClr val="000000"/>
                </a:solidFill>
                <a:latin typeface="Arial"/>
                <a:ea typeface="Arial"/>
                <a:cs typeface="Arial"/>
                <a:sym typeface="Arial"/>
              </a:rPr>
              <a:t>data analytics</a:t>
            </a:r>
            <a:r>
              <a:rPr lang="en" sz="1100">
                <a:solidFill>
                  <a:srgbClr val="000000"/>
                </a:solidFill>
                <a:latin typeface="Arial"/>
                <a:ea typeface="Arial"/>
                <a:cs typeface="Arial"/>
                <a:sym typeface="Arial"/>
              </a:rPr>
              <a:t>, </a:t>
            </a:r>
            <a:r>
              <a:rPr b="1" lang="en" sz="1100">
                <a:solidFill>
                  <a:srgbClr val="000000"/>
                </a:solidFill>
                <a:latin typeface="Arial"/>
                <a:ea typeface="Arial"/>
                <a:cs typeface="Arial"/>
                <a:sym typeface="Arial"/>
              </a:rPr>
              <a:t>data warehousing</a:t>
            </a:r>
            <a:r>
              <a:rPr lang="en" sz="1100">
                <a:solidFill>
                  <a:srgbClr val="000000"/>
                </a:solidFill>
                <a:latin typeface="Arial"/>
                <a:ea typeface="Arial"/>
                <a:cs typeface="Arial"/>
                <a:sym typeface="Arial"/>
              </a:rPr>
              <a:t>, and </a:t>
            </a:r>
            <a:r>
              <a:rPr b="1" lang="en" sz="1100">
                <a:solidFill>
                  <a:srgbClr val="000000"/>
                </a:solidFill>
                <a:latin typeface="Arial"/>
                <a:ea typeface="Arial"/>
                <a:cs typeface="Arial"/>
                <a:sym typeface="Arial"/>
              </a:rPr>
              <a:t>business intelligence</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0" rtl="0" algn="l">
              <a:spcBef>
                <a:spcPts val="1200"/>
              </a:spcBef>
              <a:spcAft>
                <a:spcPts val="1200"/>
              </a:spcAft>
              <a:buNone/>
            </a:pPr>
            <a:r>
              <a:rPr lang="en" sz="1100">
                <a:solidFill>
                  <a:srgbClr val="000000"/>
                </a:solidFill>
                <a:latin typeface="Arial"/>
                <a:ea typeface="Arial"/>
                <a:cs typeface="Arial"/>
                <a:sym typeface="Arial"/>
              </a:rPr>
              <a:t>They allow organizations to analyze data from </a:t>
            </a:r>
            <a:r>
              <a:rPr b="1" lang="en" sz="1100">
                <a:solidFill>
                  <a:srgbClr val="000000"/>
                </a:solidFill>
                <a:latin typeface="Arial"/>
                <a:ea typeface="Arial"/>
                <a:cs typeface="Arial"/>
                <a:sym typeface="Arial"/>
              </a:rPr>
              <a:t>multiple dimensions</a:t>
            </a:r>
            <a:r>
              <a:rPr lang="en" sz="1100">
                <a:solidFill>
                  <a:srgbClr val="000000"/>
                </a:solidFill>
                <a:latin typeface="Arial"/>
                <a:ea typeface="Arial"/>
                <a:cs typeface="Arial"/>
                <a:sym typeface="Arial"/>
              </a:rPr>
              <a:t>, identify </a:t>
            </a:r>
            <a:r>
              <a:rPr b="1" lang="en" sz="1100">
                <a:solidFill>
                  <a:srgbClr val="000000"/>
                </a:solidFill>
                <a:latin typeface="Arial"/>
                <a:ea typeface="Arial"/>
                <a:cs typeface="Arial"/>
                <a:sym typeface="Arial"/>
              </a:rPr>
              <a:t>patterns, trends</a:t>
            </a:r>
            <a:r>
              <a:rPr lang="en" sz="1100">
                <a:solidFill>
                  <a:srgbClr val="000000"/>
                </a:solidFill>
                <a:latin typeface="Arial"/>
                <a:ea typeface="Arial"/>
                <a:cs typeface="Arial"/>
                <a:sym typeface="Arial"/>
              </a:rPr>
              <a:t>, and make </a:t>
            </a:r>
            <a:r>
              <a:rPr b="1" lang="en" sz="1100">
                <a:solidFill>
                  <a:srgbClr val="000000"/>
                </a:solidFill>
                <a:latin typeface="Arial"/>
                <a:ea typeface="Arial"/>
                <a:cs typeface="Arial"/>
                <a:sym typeface="Arial"/>
              </a:rPr>
              <a:t>data-driven decisions</a:t>
            </a:r>
            <a:r>
              <a:rPr lang="en" sz="1100">
                <a:solidFill>
                  <a:srgbClr val="000000"/>
                </a:solidFill>
                <a:latin typeface="Arial"/>
                <a:ea typeface="Arial"/>
                <a:cs typeface="Arial"/>
                <a:sym typeface="Arial"/>
              </a:rPr>
              <a:t> quickly.</a:t>
            </a:r>
            <a:endParaRPr/>
          </a:p>
        </p:txBody>
      </p:sp>
      <p:pic>
        <p:nvPicPr>
          <p:cNvPr id="534" name="Google Shape;534;p99"/>
          <p:cNvPicPr preferRelativeResize="0"/>
          <p:nvPr/>
        </p:nvPicPr>
        <p:blipFill>
          <a:blip r:embed="rId3">
            <a:alphaModFix/>
          </a:blip>
          <a:stretch>
            <a:fillRect/>
          </a:stretch>
        </p:blipFill>
        <p:spPr>
          <a:xfrm>
            <a:off x="1695473" y="2072223"/>
            <a:ext cx="5588824" cy="2496800"/>
          </a:xfrm>
          <a:prstGeom prst="rect">
            <a:avLst/>
          </a:prstGeom>
          <a:noFill/>
          <a:ln>
            <a:noFill/>
          </a:ln>
        </p:spPr>
      </p:pic>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100"/>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540" name="Google Shape;540;p100"/>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541" name="Google Shape;541;p100"/>
          <p:cNvPicPr preferRelativeResize="0"/>
          <p:nvPr/>
        </p:nvPicPr>
        <p:blipFill>
          <a:blip r:embed="rId3">
            <a:alphaModFix/>
          </a:blip>
          <a:stretch>
            <a:fillRect/>
          </a:stretch>
        </p:blipFill>
        <p:spPr>
          <a:xfrm>
            <a:off x="2887772" y="1495450"/>
            <a:ext cx="3070525" cy="2844450"/>
          </a:xfrm>
          <a:prstGeom prst="rect">
            <a:avLst/>
          </a:prstGeom>
          <a:noFill/>
          <a:ln>
            <a:noFill/>
          </a:ln>
        </p:spPr>
      </p:pic>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101"/>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Introduction To Temporal Database</a:t>
            </a:r>
            <a:endParaRPr/>
          </a:p>
        </p:txBody>
      </p:sp>
      <p:sp>
        <p:nvSpPr>
          <p:cNvPr id="547" name="Google Shape;547;p101"/>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sz="1300">
                <a:solidFill>
                  <a:srgbClr val="000000"/>
                </a:solidFill>
                <a:latin typeface="Arial"/>
                <a:ea typeface="Arial"/>
                <a:cs typeface="Arial"/>
                <a:sym typeface="Arial"/>
              </a:rPr>
              <a:t>A </a:t>
            </a:r>
            <a:r>
              <a:rPr b="1" lang="en" sz="1300">
                <a:solidFill>
                  <a:srgbClr val="000000"/>
                </a:solidFill>
                <a:latin typeface="Arial"/>
                <a:ea typeface="Arial"/>
                <a:cs typeface="Arial"/>
                <a:sym typeface="Arial"/>
              </a:rPr>
              <a:t>Temporal Database</a:t>
            </a:r>
            <a:r>
              <a:rPr lang="en" sz="1300">
                <a:solidFill>
                  <a:srgbClr val="000000"/>
                </a:solidFill>
                <a:latin typeface="Arial"/>
                <a:ea typeface="Arial"/>
                <a:cs typeface="Arial"/>
                <a:sym typeface="Arial"/>
              </a:rPr>
              <a:t> is a database that stores </a:t>
            </a:r>
            <a:r>
              <a:rPr b="1" lang="en" sz="1300">
                <a:solidFill>
                  <a:srgbClr val="000000"/>
                </a:solidFill>
                <a:latin typeface="Arial"/>
                <a:ea typeface="Arial"/>
                <a:cs typeface="Arial"/>
                <a:sym typeface="Arial"/>
              </a:rPr>
              <a:t>time-dependent information</a:t>
            </a:r>
            <a:r>
              <a:rPr lang="en" sz="1300">
                <a:solidFill>
                  <a:srgbClr val="000000"/>
                </a:solidFill>
                <a:latin typeface="Arial"/>
                <a:ea typeface="Arial"/>
                <a:cs typeface="Arial"/>
                <a:sym typeface="Arial"/>
              </a:rPr>
              <a:t>.</a:t>
            </a:r>
            <a:br>
              <a:rPr lang="en" sz="1300">
                <a:solidFill>
                  <a:srgbClr val="000000"/>
                </a:solidFill>
                <a:latin typeface="Arial"/>
                <a:ea typeface="Arial"/>
                <a:cs typeface="Arial"/>
                <a:sym typeface="Arial"/>
              </a:rPr>
            </a:br>
            <a:r>
              <a:rPr lang="en" sz="1300">
                <a:solidFill>
                  <a:srgbClr val="000000"/>
                </a:solidFill>
                <a:latin typeface="Arial"/>
                <a:ea typeface="Arial"/>
                <a:cs typeface="Arial"/>
                <a:sym typeface="Arial"/>
              </a:rPr>
              <a:t> It keeps track of </a:t>
            </a:r>
            <a:r>
              <a:rPr b="1" lang="en" sz="1300">
                <a:solidFill>
                  <a:srgbClr val="000000"/>
                </a:solidFill>
                <a:latin typeface="Arial"/>
                <a:ea typeface="Arial"/>
                <a:cs typeface="Arial"/>
                <a:sym typeface="Arial"/>
              </a:rPr>
              <a:t>historical data</a:t>
            </a:r>
            <a:r>
              <a:rPr lang="en" sz="1300">
                <a:solidFill>
                  <a:srgbClr val="000000"/>
                </a:solidFill>
                <a:latin typeface="Arial"/>
                <a:ea typeface="Arial"/>
                <a:cs typeface="Arial"/>
                <a:sym typeface="Arial"/>
              </a:rPr>
              <a:t>, </a:t>
            </a:r>
            <a:r>
              <a:rPr b="1" lang="en" sz="1300">
                <a:solidFill>
                  <a:srgbClr val="000000"/>
                </a:solidFill>
                <a:latin typeface="Arial"/>
                <a:ea typeface="Arial"/>
                <a:cs typeface="Arial"/>
                <a:sym typeface="Arial"/>
              </a:rPr>
              <a:t>current data</a:t>
            </a:r>
            <a:r>
              <a:rPr lang="en" sz="1300">
                <a:solidFill>
                  <a:srgbClr val="000000"/>
                </a:solidFill>
                <a:latin typeface="Arial"/>
                <a:ea typeface="Arial"/>
                <a:cs typeface="Arial"/>
                <a:sym typeface="Arial"/>
              </a:rPr>
              <a:t>, and sometimes </a:t>
            </a:r>
            <a:r>
              <a:rPr b="1" lang="en" sz="1300">
                <a:solidFill>
                  <a:srgbClr val="000000"/>
                </a:solidFill>
                <a:latin typeface="Arial"/>
                <a:ea typeface="Arial"/>
                <a:cs typeface="Arial"/>
                <a:sym typeface="Arial"/>
              </a:rPr>
              <a:t>future data</a:t>
            </a:r>
            <a:r>
              <a:rPr lang="en" sz="1300">
                <a:solidFill>
                  <a:srgbClr val="000000"/>
                </a:solidFill>
                <a:latin typeface="Arial"/>
                <a:ea typeface="Arial"/>
                <a:cs typeface="Arial"/>
                <a:sym typeface="Arial"/>
              </a:rPr>
              <a:t>.</a:t>
            </a:r>
            <a:endParaRPr sz="1300">
              <a:solidFill>
                <a:srgbClr val="000000"/>
              </a:solidFill>
              <a:latin typeface="Arial"/>
              <a:ea typeface="Arial"/>
              <a:cs typeface="Arial"/>
              <a:sym typeface="Arial"/>
            </a:endParaRPr>
          </a:p>
          <a:p>
            <a:pPr indent="0" lvl="0" marL="0" rtl="0" algn="l">
              <a:spcBef>
                <a:spcPts val="1200"/>
              </a:spcBef>
              <a:spcAft>
                <a:spcPts val="0"/>
              </a:spcAft>
              <a:buNone/>
            </a:pPr>
            <a:r>
              <a:rPr lang="en" sz="1300">
                <a:solidFill>
                  <a:srgbClr val="000000"/>
                </a:solidFill>
                <a:latin typeface="Arial"/>
                <a:ea typeface="Arial"/>
                <a:cs typeface="Arial"/>
                <a:sym typeface="Arial"/>
              </a:rPr>
              <a:t>Traditional databases keep only the </a:t>
            </a:r>
            <a:r>
              <a:rPr b="1" lang="en" sz="1300">
                <a:solidFill>
                  <a:srgbClr val="000000"/>
                </a:solidFill>
                <a:latin typeface="Arial"/>
                <a:ea typeface="Arial"/>
                <a:cs typeface="Arial"/>
                <a:sym typeface="Arial"/>
              </a:rPr>
              <a:t>latest value</a:t>
            </a:r>
            <a:r>
              <a:rPr lang="en" sz="1300">
                <a:solidFill>
                  <a:srgbClr val="000000"/>
                </a:solidFill>
                <a:latin typeface="Arial"/>
                <a:ea typeface="Arial"/>
                <a:cs typeface="Arial"/>
                <a:sym typeface="Arial"/>
              </a:rPr>
              <a:t>.</a:t>
            </a:r>
            <a:br>
              <a:rPr lang="en" sz="1300">
                <a:solidFill>
                  <a:srgbClr val="000000"/>
                </a:solidFill>
                <a:latin typeface="Arial"/>
                <a:ea typeface="Arial"/>
                <a:cs typeface="Arial"/>
                <a:sym typeface="Arial"/>
              </a:rPr>
            </a:br>
            <a:r>
              <a:rPr lang="en" sz="1300">
                <a:solidFill>
                  <a:srgbClr val="000000"/>
                </a:solidFill>
                <a:latin typeface="Arial"/>
                <a:ea typeface="Arial"/>
                <a:cs typeface="Arial"/>
                <a:sym typeface="Arial"/>
              </a:rPr>
              <a:t> Temporal databases store:</a:t>
            </a:r>
            <a:endParaRPr sz="1300">
              <a:solidFill>
                <a:srgbClr val="000000"/>
              </a:solidFill>
              <a:latin typeface="Arial"/>
              <a:ea typeface="Arial"/>
              <a:cs typeface="Arial"/>
              <a:sym typeface="Arial"/>
            </a:endParaRPr>
          </a:p>
          <a:p>
            <a:pPr indent="-311150" lvl="0" marL="457200" rtl="0" algn="l">
              <a:spcBef>
                <a:spcPts val="1200"/>
              </a:spcBef>
              <a:spcAft>
                <a:spcPts val="0"/>
              </a:spcAft>
              <a:buClr>
                <a:srgbClr val="000000"/>
              </a:buClr>
              <a:buSzPts val="1300"/>
              <a:buFont typeface="Arial"/>
              <a:buChar char="●"/>
            </a:pPr>
            <a:r>
              <a:rPr b="1" lang="en" sz="1300">
                <a:solidFill>
                  <a:srgbClr val="000000"/>
                </a:solidFill>
                <a:latin typeface="Arial"/>
                <a:ea typeface="Arial"/>
                <a:cs typeface="Arial"/>
                <a:sym typeface="Arial"/>
              </a:rPr>
              <a:t>What the data was in the past</a:t>
            </a:r>
            <a:br>
              <a:rPr b="1" lang="en" sz="1300">
                <a:solidFill>
                  <a:srgbClr val="000000"/>
                </a:solidFill>
                <a:latin typeface="Arial"/>
                <a:ea typeface="Arial"/>
                <a:cs typeface="Arial"/>
                <a:sym typeface="Arial"/>
              </a:rPr>
            </a:br>
            <a:endParaRPr b="1" sz="1300">
              <a:solidFill>
                <a:srgbClr val="000000"/>
              </a:solidFill>
              <a:latin typeface="Arial"/>
              <a:ea typeface="Arial"/>
              <a:cs typeface="Arial"/>
              <a:sym typeface="Arial"/>
            </a:endParaRPr>
          </a:p>
          <a:p>
            <a:pPr indent="-311150" lvl="0" marL="457200" rtl="0" algn="l">
              <a:spcBef>
                <a:spcPts val="0"/>
              </a:spcBef>
              <a:spcAft>
                <a:spcPts val="0"/>
              </a:spcAft>
              <a:buClr>
                <a:srgbClr val="000000"/>
              </a:buClr>
              <a:buSzPts val="1300"/>
              <a:buFont typeface="Arial"/>
              <a:buChar char="●"/>
            </a:pPr>
            <a:r>
              <a:rPr b="1" lang="en" sz="1300">
                <a:solidFill>
                  <a:srgbClr val="000000"/>
                </a:solidFill>
                <a:latin typeface="Arial"/>
                <a:ea typeface="Arial"/>
                <a:cs typeface="Arial"/>
                <a:sym typeface="Arial"/>
              </a:rPr>
              <a:t>What it is in the present</a:t>
            </a:r>
            <a:br>
              <a:rPr b="1" lang="en" sz="1300">
                <a:solidFill>
                  <a:srgbClr val="000000"/>
                </a:solidFill>
                <a:latin typeface="Arial"/>
                <a:ea typeface="Arial"/>
                <a:cs typeface="Arial"/>
                <a:sym typeface="Arial"/>
              </a:rPr>
            </a:br>
            <a:endParaRPr b="1" sz="1300">
              <a:solidFill>
                <a:srgbClr val="000000"/>
              </a:solidFill>
              <a:latin typeface="Arial"/>
              <a:ea typeface="Arial"/>
              <a:cs typeface="Arial"/>
              <a:sym typeface="Arial"/>
            </a:endParaRPr>
          </a:p>
          <a:p>
            <a:pPr indent="-311150" lvl="0" marL="457200" rtl="0" algn="l">
              <a:spcBef>
                <a:spcPts val="0"/>
              </a:spcBef>
              <a:spcAft>
                <a:spcPts val="0"/>
              </a:spcAft>
              <a:buClr>
                <a:srgbClr val="000000"/>
              </a:buClr>
              <a:buSzPts val="1300"/>
              <a:buFont typeface="Arial"/>
              <a:buChar char="●"/>
            </a:pPr>
            <a:r>
              <a:rPr lang="en" sz="1300">
                <a:solidFill>
                  <a:srgbClr val="000000"/>
                </a:solidFill>
                <a:latin typeface="Arial"/>
                <a:ea typeface="Arial"/>
                <a:cs typeface="Arial"/>
                <a:sym typeface="Arial"/>
              </a:rPr>
              <a:t>(Sometimes) </a:t>
            </a:r>
            <a:r>
              <a:rPr b="1" lang="en" sz="1300">
                <a:solidFill>
                  <a:srgbClr val="000000"/>
                </a:solidFill>
                <a:latin typeface="Arial"/>
                <a:ea typeface="Arial"/>
                <a:cs typeface="Arial"/>
                <a:sym typeface="Arial"/>
              </a:rPr>
              <a:t>What it will be in the future</a:t>
            </a:r>
            <a:endParaRPr sz="1550">
              <a:solidFill>
                <a:srgbClr val="273239"/>
              </a:solidFill>
              <a:highlight>
                <a:srgbClr val="FFFFFF"/>
              </a:highlight>
              <a:latin typeface="Nunito"/>
              <a:ea typeface="Nunito"/>
              <a:cs typeface="Nunito"/>
              <a:sym typeface="Nunito"/>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102"/>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553" name="Google Shape;553;p102"/>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2400"/>
              </a:spcBef>
              <a:spcAft>
                <a:spcPts val="0"/>
              </a:spcAft>
              <a:buNone/>
            </a:pPr>
            <a:r>
              <a:rPr b="1" lang="en" sz="2300">
                <a:solidFill>
                  <a:srgbClr val="000000"/>
                </a:solidFill>
                <a:latin typeface="Arial"/>
                <a:ea typeface="Arial"/>
                <a:cs typeface="Arial"/>
                <a:sym typeface="Arial"/>
              </a:rPr>
              <a:t>Introduction to Temporality</a:t>
            </a:r>
            <a:endParaRPr b="1" sz="2300">
              <a:solidFill>
                <a:srgbClr val="000000"/>
              </a:solidFill>
              <a:latin typeface="Arial"/>
              <a:ea typeface="Arial"/>
              <a:cs typeface="Arial"/>
              <a:sym typeface="Arial"/>
            </a:endParaRPr>
          </a:p>
          <a:p>
            <a:pPr indent="0" lvl="0" marL="0" rtl="0" algn="l">
              <a:spcBef>
                <a:spcPts val="1200"/>
              </a:spcBef>
              <a:spcAft>
                <a:spcPts val="0"/>
              </a:spcAft>
              <a:buNone/>
            </a:pPr>
            <a:r>
              <a:rPr b="1" lang="en" sz="1100">
                <a:solidFill>
                  <a:srgbClr val="000000"/>
                </a:solidFill>
                <a:latin typeface="Arial"/>
                <a:ea typeface="Arial"/>
                <a:cs typeface="Arial"/>
                <a:sym typeface="Arial"/>
              </a:rPr>
              <a:t>Temporality</a:t>
            </a:r>
            <a:r>
              <a:rPr lang="en" sz="1100">
                <a:solidFill>
                  <a:srgbClr val="000000"/>
                </a:solidFill>
                <a:latin typeface="Arial"/>
                <a:ea typeface="Arial"/>
                <a:cs typeface="Arial"/>
                <a:sym typeface="Arial"/>
              </a:rPr>
              <a:t> = “related to time”.</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In databases, temporality means:</a:t>
            </a:r>
            <a:endParaRPr sz="1100">
              <a:solidFill>
                <a:srgbClr val="000000"/>
              </a:solidFill>
              <a:latin typeface="Arial"/>
              <a:ea typeface="Arial"/>
              <a:cs typeface="Arial"/>
              <a:sym typeface="Arial"/>
            </a:endParaRPr>
          </a:p>
          <a:p>
            <a:pPr indent="0" lvl="0" marL="0" rtl="0" algn="l">
              <a:spcBef>
                <a:spcPts val="1400"/>
              </a:spcBef>
              <a:spcAft>
                <a:spcPts val="0"/>
              </a:spcAft>
              <a:buNone/>
            </a:pPr>
            <a:r>
              <a:rPr b="1" lang="en" sz="1300">
                <a:solidFill>
                  <a:srgbClr val="000000"/>
                </a:solidFill>
                <a:latin typeface="Arial"/>
                <a:ea typeface="Arial"/>
                <a:cs typeface="Arial"/>
                <a:sym typeface="Arial"/>
              </a:rPr>
              <a:t>Data changes over time</a:t>
            </a:r>
            <a:endParaRPr b="1" sz="13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Example: An employee’s salary:</a:t>
            </a:r>
            <a:endParaRPr sz="1100">
              <a:solidFill>
                <a:srgbClr val="000000"/>
              </a:solidFill>
              <a:latin typeface="Arial"/>
              <a:ea typeface="Arial"/>
              <a:cs typeface="Arial"/>
              <a:sym typeface="Arial"/>
            </a:endParaRPr>
          </a:p>
          <a:p>
            <a:pPr indent="0" lvl="0" marL="0" rtl="0" algn="l">
              <a:spcBef>
                <a:spcPts val="1200"/>
              </a:spcBef>
              <a:spcAft>
                <a:spcPts val="0"/>
              </a:spcAft>
              <a:buNone/>
            </a:pPr>
            <a:r>
              <a:t/>
            </a: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graphicFrame>
        <p:nvGraphicFramePr>
          <p:cNvPr id="554" name="Google Shape;554;p102"/>
          <p:cNvGraphicFramePr/>
          <p:nvPr/>
        </p:nvGraphicFramePr>
        <p:xfrm>
          <a:off x="952500" y="3461275"/>
          <a:ext cx="3000000" cy="3000000"/>
        </p:xfrm>
        <a:graphic>
          <a:graphicData uri="http://schemas.openxmlformats.org/drawingml/2006/table">
            <a:tbl>
              <a:tblPr>
                <a:noFill/>
                <a:tableStyleId>{4021A1ED-3B1C-4B97-93D2-70483F01EADD}</a:tableStyleId>
              </a:tblPr>
              <a:tblGrid>
                <a:gridCol w="2413000"/>
                <a:gridCol w="2413000"/>
                <a:gridCol w="2413000"/>
              </a:tblGrid>
              <a:tr h="381000">
                <a:tc>
                  <a:txBody>
                    <a:bodyPr/>
                    <a:lstStyle/>
                    <a:p>
                      <a:pPr indent="0" lvl="0" marL="0" rtl="0" algn="ctr">
                        <a:lnSpc>
                          <a:spcPct val="115000"/>
                        </a:lnSpc>
                        <a:spcBef>
                          <a:spcPts val="0"/>
                        </a:spcBef>
                        <a:spcAft>
                          <a:spcPts val="0"/>
                        </a:spcAft>
                        <a:buNone/>
                      </a:pPr>
                      <a:r>
                        <a:rPr b="1" lang="en" sz="1100"/>
                        <a:t>Salary</a:t>
                      </a:r>
                      <a:endParaRPr b="1" sz="1100"/>
                    </a:p>
                  </a:txBody>
                  <a:tcPr marT="91425" marB="91425" marR="91425" marL="91425"/>
                </a:tc>
                <a:tc>
                  <a:txBody>
                    <a:bodyPr/>
                    <a:lstStyle/>
                    <a:p>
                      <a:pPr indent="0" lvl="0" marL="0" rtl="0" algn="ctr">
                        <a:lnSpc>
                          <a:spcPct val="115000"/>
                        </a:lnSpc>
                        <a:spcBef>
                          <a:spcPts val="0"/>
                        </a:spcBef>
                        <a:spcAft>
                          <a:spcPts val="0"/>
                        </a:spcAft>
                        <a:buNone/>
                      </a:pPr>
                      <a:r>
                        <a:rPr b="1" lang="en" sz="1100"/>
                        <a:t>From Date</a:t>
                      </a:r>
                      <a:endParaRPr b="1" sz="1100"/>
                    </a:p>
                  </a:txBody>
                  <a:tcPr marT="91425" marB="91425" marR="91425" marL="91425"/>
                </a:tc>
                <a:tc>
                  <a:txBody>
                    <a:bodyPr/>
                    <a:lstStyle/>
                    <a:p>
                      <a:pPr indent="0" lvl="0" marL="0" rtl="0" algn="ctr">
                        <a:lnSpc>
                          <a:spcPct val="115000"/>
                        </a:lnSpc>
                        <a:spcBef>
                          <a:spcPts val="0"/>
                        </a:spcBef>
                        <a:spcAft>
                          <a:spcPts val="0"/>
                        </a:spcAft>
                        <a:buNone/>
                      </a:pPr>
                      <a:r>
                        <a:rPr b="1" lang="en" sz="1100"/>
                        <a:t>To Date</a:t>
                      </a:r>
                      <a:endParaRPr b="1" sz="1100"/>
                    </a:p>
                  </a:txBody>
                  <a:tcPr marT="91425" marB="91425" marR="91425" marL="91425"/>
                </a:tc>
              </a:tr>
              <a:tr h="381000">
                <a:tc>
                  <a:txBody>
                    <a:bodyPr/>
                    <a:lstStyle/>
                    <a:p>
                      <a:pPr indent="0" lvl="0" marL="0" rtl="0" algn="l">
                        <a:spcBef>
                          <a:spcPts val="0"/>
                        </a:spcBef>
                        <a:spcAft>
                          <a:spcPts val="0"/>
                        </a:spcAft>
                        <a:buNone/>
                      </a:pPr>
                      <a:r>
                        <a:rPr lang="en"/>
                        <a:t>25,000</a:t>
                      </a:r>
                      <a:endParaRPr/>
                    </a:p>
                  </a:txBody>
                  <a:tcPr marT="91425" marB="91425" marR="91425" marL="91425"/>
                </a:tc>
                <a:tc>
                  <a:txBody>
                    <a:bodyPr/>
                    <a:lstStyle/>
                    <a:p>
                      <a:pPr indent="0" lvl="0" marL="0" rtl="0" algn="l">
                        <a:spcBef>
                          <a:spcPts val="0"/>
                        </a:spcBef>
                        <a:spcAft>
                          <a:spcPts val="0"/>
                        </a:spcAft>
                        <a:buNone/>
                      </a:pPr>
                      <a:r>
                        <a:rPr lang="en"/>
                        <a:t>01-01-2020</a:t>
                      </a:r>
                      <a:endParaRPr/>
                    </a:p>
                  </a:txBody>
                  <a:tcPr marT="91425" marB="91425" marR="91425" marL="91425"/>
                </a:tc>
                <a:tc>
                  <a:txBody>
                    <a:bodyPr/>
                    <a:lstStyle/>
                    <a:p>
                      <a:pPr indent="0" lvl="0" marL="0" rtl="0" algn="l">
                        <a:spcBef>
                          <a:spcPts val="0"/>
                        </a:spcBef>
                        <a:spcAft>
                          <a:spcPts val="0"/>
                        </a:spcAft>
                        <a:buNone/>
                      </a:pPr>
                      <a:r>
                        <a:rPr lang="en"/>
                        <a:t>31-12-2021</a:t>
                      </a:r>
                      <a:endParaRPr/>
                    </a:p>
                  </a:txBody>
                  <a:tcPr marT="91425" marB="91425" marR="91425" marL="91425"/>
                </a:tc>
              </a:tr>
              <a:tr h="381000">
                <a:tc>
                  <a:txBody>
                    <a:bodyPr/>
                    <a:lstStyle/>
                    <a:p>
                      <a:pPr indent="0" lvl="0" marL="0" rtl="0" algn="l">
                        <a:spcBef>
                          <a:spcPts val="0"/>
                        </a:spcBef>
                        <a:spcAft>
                          <a:spcPts val="0"/>
                        </a:spcAft>
                        <a:buNone/>
                      </a:pPr>
                      <a:r>
                        <a:rPr lang="en"/>
                        <a:t>30,000</a:t>
                      </a:r>
                      <a:endParaRPr/>
                    </a:p>
                  </a:txBody>
                  <a:tcPr marT="91425" marB="91425" marR="91425" marL="91425"/>
                </a:tc>
                <a:tc>
                  <a:txBody>
                    <a:bodyPr/>
                    <a:lstStyle/>
                    <a:p>
                      <a:pPr indent="0" lvl="0" marL="0" rtl="0" algn="l">
                        <a:spcBef>
                          <a:spcPts val="0"/>
                        </a:spcBef>
                        <a:spcAft>
                          <a:spcPts val="0"/>
                        </a:spcAft>
                        <a:buNone/>
                      </a:pPr>
                      <a:r>
                        <a:rPr lang="en"/>
                        <a:t>01-01-2022</a:t>
                      </a:r>
                      <a:endParaRPr/>
                    </a:p>
                  </a:txBody>
                  <a:tcPr marT="91425" marB="91425" marR="91425" marL="91425"/>
                </a:tc>
                <a:tc>
                  <a:txBody>
                    <a:bodyPr/>
                    <a:lstStyle/>
                    <a:p>
                      <a:pPr indent="0" lvl="0" marL="0" rtl="0" algn="l">
                        <a:spcBef>
                          <a:spcPts val="0"/>
                        </a:spcBef>
                        <a:spcAft>
                          <a:spcPts val="0"/>
                        </a:spcAft>
                        <a:buNone/>
                      </a:pPr>
                      <a:r>
                        <a:rPr lang="en"/>
                        <a:t>CURRENT</a:t>
                      </a:r>
                      <a:endParaRPr/>
                    </a:p>
                  </a:txBody>
                  <a:tcPr marT="91425" marB="91425" marR="91425" marL="91425"/>
                </a:tc>
              </a:tr>
            </a:tbl>
          </a:graphicData>
        </a:graphic>
      </p:graphicFrame>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 name="Shape 558"/>
        <p:cNvGrpSpPr/>
        <p:nvPr/>
      </p:nvGrpSpPr>
      <p:grpSpPr>
        <a:xfrm>
          <a:off x="0" y="0"/>
          <a:ext cx="0" cy="0"/>
          <a:chOff x="0" y="0"/>
          <a:chExt cx="0" cy="0"/>
        </a:xfrm>
      </p:grpSpPr>
      <p:sp>
        <p:nvSpPr>
          <p:cNvPr id="559" name="Google Shape;559;p103"/>
          <p:cNvSpPr txBox="1"/>
          <p:nvPr>
            <p:ph idx="1" type="body"/>
          </p:nvPr>
        </p:nvSpPr>
        <p:spPr>
          <a:xfrm>
            <a:off x="311700" y="293000"/>
            <a:ext cx="8520600" cy="4587600"/>
          </a:xfrm>
          <a:prstGeom prst="rect">
            <a:avLst/>
          </a:prstGeom>
        </p:spPr>
        <p:txBody>
          <a:bodyPr anchorCtr="0" anchor="t" bIns="91425" lIns="91425" spcFirstLastPara="1" rIns="91425" wrap="square" tIns="91425">
            <a:normAutofit/>
          </a:bodyPr>
          <a:lstStyle/>
          <a:p>
            <a:pPr indent="0" lvl="0" marL="0" rtl="0" algn="l">
              <a:spcBef>
                <a:spcPts val="1800"/>
              </a:spcBef>
              <a:spcAft>
                <a:spcPts val="0"/>
              </a:spcAft>
              <a:buNone/>
            </a:pPr>
            <a:r>
              <a:rPr b="1" lang="en" sz="1700">
                <a:solidFill>
                  <a:srgbClr val="000000"/>
                </a:solidFill>
                <a:latin typeface="Arial"/>
                <a:ea typeface="Arial"/>
                <a:cs typeface="Arial"/>
                <a:sym typeface="Arial"/>
              </a:rPr>
              <a:t>Types of Time in Temporal Databases</a:t>
            </a:r>
            <a:endParaRPr b="1" sz="1700">
              <a:solidFill>
                <a:srgbClr val="000000"/>
              </a:solidFill>
              <a:latin typeface="Arial"/>
              <a:ea typeface="Arial"/>
              <a:cs typeface="Arial"/>
              <a:sym typeface="Arial"/>
            </a:endParaRPr>
          </a:p>
          <a:p>
            <a:pPr indent="-336550" lvl="0" marL="457200" rtl="0" algn="l">
              <a:spcBef>
                <a:spcPts val="1800"/>
              </a:spcBef>
              <a:spcAft>
                <a:spcPts val="0"/>
              </a:spcAft>
              <a:buClr>
                <a:srgbClr val="000000"/>
              </a:buClr>
              <a:buSzPts val="1700"/>
              <a:buFont typeface="Arial"/>
              <a:buAutoNum type="arabicPeriod"/>
            </a:pPr>
            <a:r>
              <a:rPr b="1" lang="en" sz="1700">
                <a:solidFill>
                  <a:srgbClr val="000000"/>
                </a:solidFill>
                <a:latin typeface="Arial"/>
                <a:ea typeface="Arial"/>
                <a:cs typeface="Arial"/>
                <a:sym typeface="Arial"/>
              </a:rPr>
              <a:t>Valid Time (Real-World Time)</a:t>
            </a:r>
            <a:endParaRPr b="1" sz="17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This is the time </a:t>
            </a:r>
            <a:r>
              <a:rPr b="1" lang="en" sz="1100">
                <a:solidFill>
                  <a:srgbClr val="000000"/>
                </a:solidFill>
                <a:latin typeface="Arial"/>
                <a:ea typeface="Arial"/>
                <a:cs typeface="Arial"/>
                <a:sym typeface="Arial"/>
              </a:rPr>
              <a:t>when a fact is true in the real world</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For example:</a:t>
            </a:r>
            <a:endParaRPr sz="1100">
              <a:solidFill>
                <a:srgbClr val="000000"/>
              </a:solidFill>
              <a:latin typeface="Arial"/>
              <a:ea typeface="Arial"/>
              <a:cs typeface="Arial"/>
              <a:sym typeface="Arial"/>
            </a:endParaRPr>
          </a:p>
          <a:p>
            <a:pPr indent="0" lvl="0" marL="0" rtl="0" algn="l">
              <a:spcBef>
                <a:spcPts val="1200"/>
              </a:spcBef>
              <a:spcAft>
                <a:spcPts val="0"/>
              </a:spcAft>
              <a:buNone/>
            </a:pPr>
            <a:r>
              <a:t/>
            </a:r>
            <a:endParaRPr sz="1100">
              <a:solidFill>
                <a:srgbClr val="000000"/>
              </a:solidFill>
              <a:latin typeface="Arial"/>
              <a:ea typeface="Arial"/>
              <a:cs typeface="Arial"/>
              <a:sym typeface="Arial"/>
            </a:endParaRPr>
          </a:p>
          <a:p>
            <a:pPr indent="0" lvl="0" marL="0" rtl="0" algn="l">
              <a:spcBef>
                <a:spcPts val="1200"/>
              </a:spcBef>
              <a:spcAft>
                <a:spcPts val="0"/>
              </a:spcAft>
              <a:buNone/>
            </a:pPr>
            <a:r>
              <a:t/>
            </a:r>
            <a:endParaRPr b="1" sz="1300">
              <a:solidFill>
                <a:srgbClr val="000000"/>
              </a:solidFill>
              <a:latin typeface="Arial"/>
              <a:ea typeface="Arial"/>
              <a:cs typeface="Arial"/>
              <a:sym typeface="Arial"/>
            </a:endParaRPr>
          </a:p>
          <a:p>
            <a:pPr indent="0" lvl="0" marL="0" rtl="0" algn="l">
              <a:spcBef>
                <a:spcPts val="1200"/>
              </a:spcBef>
              <a:spcAft>
                <a:spcPts val="0"/>
              </a:spcAft>
              <a:buNone/>
            </a:pPr>
            <a:r>
              <a:t/>
            </a:r>
            <a:endParaRPr b="1" sz="1300">
              <a:solidFill>
                <a:srgbClr val="000000"/>
              </a:solidFill>
              <a:latin typeface="Arial"/>
              <a:ea typeface="Arial"/>
              <a:cs typeface="Arial"/>
              <a:sym typeface="Arial"/>
            </a:endParaRPr>
          </a:p>
          <a:p>
            <a:pPr indent="0" lvl="0" marL="0" rtl="0" algn="l">
              <a:spcBef>
                <a:spcPts val="1200"/>
              </a:spcBef>
              <a:spcAft>
                <a:spcPts val="0"/>
              </a:spcAft>
              <a:buNone/>
            </a:pPr>
            <a:r>
              <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This means:</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 Amit was actually the Sales Manager </a:t>
            </a:r>
            <a:r>
              <a:rPr b="1" lang="en" sz="1100">
                <a:solidFill>
                  <a:srgbClr val="000000"/>
                </a:solidFill>
                <a:latin typeface="Arial"/>
                <a:ea typeface="Arial"/>
                <a:cs typeface="Arial"/>
                <a:sym typeface="Arial"/>
              </a:rPr>
              <a:t>from 2018 to 2022</a:t>
            </a:r>
            <a:r>
              <a:rPr lang="en" sz="1100">
                <a:solidFill>
                  <a:srgbClr val="000000"/>
                </a:solidFill>
                <a:latin typeface="Arial"/>
                <a:ea typeface="Arial"/>
                <a:cs typeface="Arial"/>
                <a:sym typeface="Arial"/>
              </a:rPr>
              <a:t> in the real world.</a:t>
            </a:r>
            <a:endParaRPr sz="1100">
              <a:solidFill>
                <a:srgbClr val="000000"/>
              </a:solidFill>
              <a:latin typeface="Arial"/>
              <a:ea typeface="Arial"/>
              <a:cs typeface="Arial"/>
              <a:sym typeface="Arial"/>
            </a:endParaRPr>
          </a:p>
          <a:p>
            <a:pPr indent="0" lvl="0" marL="0" rtl="0" algn="l">
              <a:spcBef>
                <a:spcPts val="1200"/>
              </a:spcBef>
              <a:spcAft>
                <a:spcPts val="1200"/>
              </a:spcAft>
              <a:buNone/>
            </a:pPr>
            <a:r>
              <a:rPr lang="en" sz="1100">
                <a:solidFill>
                  <a:srgbClr val="000000"/>
                </a:solidFill>
                <a:latin typeface="Arial"/>
                <a:ea typeface="Arial"/>
                <a:cs typeface="Arial"/>
                <a:sym typeface="Arial"/>
              </a:rPr>
              <a:t>Valid time </a:t>
            </a:r>
            <a:r>
              <a:rPr b="1" lang="en" sz="1100">
                <a:solidFill>
                  <a:srgbClr val="000000"/>
                </a:solidFill>
                <a:latin typeface="Arial"/>
                <a:ea typeface="Arial"/>
                <a:cs typeface="Arial"/>
                <a:sym typeface="Arial"/>
              </a:rPr>
              <a:t>cannot</a:t>
            </a:r>
            <a:r>
              <a:rPr lang="en" sz="1100">
                <a:solidFill>
                  <a:srgbClr val="000000"/>
                </a:solidFill>
                <a:latin typeface="Arial"/>
                <a:ea typeface="Arial"/>
                <a:cs typeface="Arial"/>
                <a:sym typeface="Arial"/>
              </a:rPr>
              <a:t> be automatically generated by the system.</a:t>
            </a:r>
            <a:br>
              <a:rPr lang="en" sz="1100">
                <a:solidFill>
                  <a:srgbClr val="000000"/>
                </a:solidFill>
                <a:latin typeface="Arial"/>
                <a:ea typeface="Arial"/>
                <a:cs typeface="Arial"/>
                <a:sym typeface="Arial"/>
              </a:rPr>
            </a:br>
            <a:r>
              <a:rPr lang="en" sz="1100">
                <a:solidFill>
                  <a:srgbClr val="000000"/>
                </a:solidFill>
                <a:latin typeface="Arial"/>
                <a:ea typeface="Arial"/>
                <a:cs typeface="Arial"/>
                <a:sym typeface="Arial"/>
              </a:rPr>
              <a:t>It must be </a:t>
            </a:r>
            <a:r>
              <a:rPr i="1" lang="en" sz="1100">
                <a:solidFill>
                  <a:srgbClr val="000000"/>
                </a:solidFill>
                <a:latin typeface="Arial"/>
                <a:ea typeface="Arial"/>
                <a:cs typeface="Arial"/>
                <a:sym typeface="Arial"/>
              </a:rPr>
              <a:t>given by the user</a:t>
            </a:r>
            <a:r>
              <a:rPr lang="en" sz="1100">
                <a:solidFill>
                  <a:srgbClr val="000000"/>
                </a:solidFill>
                <a:latin typeface="Arial"/>
                <a:ea typeface="Arial"/>
                <a:cs typeface="Arial"/>
                <a:sym typeface="Arial"/>
              </a:rPr>
              <a:t>, because the DBMS does not know real-world timelines.</a:t>
            </a:r>
            <a:endParaRPr b="1" sz="1300">
              <a:solidFill>
                <a:srgbClr val="000000"/>
              </a:solidFill>
              <a:latin typeface="Arial"/>
              <a:ea typeface="Arial"/>
              <a:cs typeface="Arial"/>
              <a:sym typeface="Arial"/>
            </a:endParaRPr>
          </a:p>
        </p:txBody>
      </p:sp>
      <p:graphicFrame>
        <p:nvGraphicFramePr>
          <p:cNvPr id="560" name="Google Shape;560;p103"/>
          <p:cNvGraphicFramePr/>
          <p:nvPr/>
        </p:nvGraphicFramePr>
        <p:xfrm>
          <a:off x="952500" y="2381250"/>
          <a:ext cx="3000000" cy="3000000"/>
        </p:xfrm>
        <a:graphic>
          <a:graphicData uri="http://schemas.openxmlformats.org/drawingml/2006/table">
            <a:tbl>
              <a:tblPr>
                <a:noFill/>
                <a:tableStyleId>{4021A1ED-3B1C-4B97-93D2-70483F01EADD}</a:tableStyleId>
              </a:tblPr>
              <a:tblGrid>
                <a:gridCol w="1809750"/>
                <a:gridCol w="1809750"/>
                <a:gridCol w="1809750"/>
                <a:gridCol w="1809750"/>
              </a:tblGrid>
              <a:tr h="381000">
                <a:tc>
                  <a:txBody>
                    <a:bodyPr/>
                    <a:lstStyle/>
                    <a:p>
                      <a:pPr indent="0" lvl="0" marL="0" rtl="0" algn="ctr">
                        <a:lnSpc>
                          <a:spcPct val="115000"/>
                        </a:lnSpc>
                        <a:spcBef>
                          <a:spcPts val="0"/>
                        </a:spcBef>
                        <a:spcAft>
                          <a:spcPts val="0"/>
                        </a:spcAft>
                        <a:buNone/>
                      </a:pPr>
                      <a:r>
                        <a:rPr b="1" lang="en" sz="1100"/>
                        <a:t>Department</a:t>
                      </a:r>
                      <a:endParaRPr b="1" sz="1100"/>
                    </a:p>
                  </a:txBody>
                  <a:tcPr marT="91425" marB="91425" marR="91425" marL="91425"/>
                </a:tc>
                <a:tc>
                  <a:txBody>
                    <a:bodyPr/>
                    <a:lstStyle/>
                    <a:p>
                      <a:pPr indent="0" lvl="0" marL="0" rtl="0" algn="ctr">
                        <a:lnSpc>
                          <a:spcPct val="115000"/>
                        </a:lnSpc>
                        <a:spcBef>
                          <a:spcPts val="0"/>
                        </a:spcBef>
                        <a:spcAft>
                          <a:spcPts val="0"/>
                        </a:spcAft>
                        <a:buNone/>
                      </a:pPr>
                      <a:r>
                        <a:rPr b="1" lang="en" sz="1100"/>
                        <a:t>Manager</a:t>
                      </a:r>
                      <a:endParaRPr b="1" sz="1100"/>
                    </a:p>
                  </a:txBody>
                  <a:tcPr marT="91425" marB="91425" marR="91425" marL="91425"/>
                </a:tc>
                <a:tc>
                  <a:txBody>
                    <a:bodyPr/>
                    <a:lstStyle/>
                    <a:p>
                      <a:pPr indent="0" lvl="0" marL="0" rtl="0" algn="ctr">
                        <a:lnSpc>
                          <a:spcPct val="115000"/>
                        </a:lnSpc>
                        <a:spcBef>
                          <a:spcPts val="0"/>
                        </a:spcBef>
                        <a:spcAft>
                          <a:spcPts val="0"/>
                        </a:spcAft>
                        <a:buNone/>
                      </a:pPr>
                      <a:r>
                        <a:rPr b="1" lang="en" sz="1100"/>
                        <a:t>Valid From</a:t>
                      </a:r>
                      <a:endParaRPr b="1" sz="1100"/>
                    </a:p>
                  </a:txBody>
                  <a:tcPr marT="91425" marB="91425" marR="91425" marL="91425"/>
                </a:tc>
                <a:tc>
                  <a:txBody>
                    <a:bodyPr/>
                    <a:lstStyle/>
                    <a:p>
                      <a:pPr indent="0" lvl="0" marL="0" rtl="0" algn="ctr">
                        <a:lnSpc>
                          <a:spcPct val="115000"/>
                        </a:lnSpc>
                        <a:spcBef>
                          <a:spcPts val="0"/>
                        </a:spcBef>
                        <a:spcAft>
                          <a:spcPts val="0"/>
                        </a:spcAft>
                        <a:buNone/>
                      </a:pPr>
                      <a:r>
                        <a:rPr b="1" lang="en" sz="1100"/>
                        <a:t>Valid To</a:t>
                      </a:r>
                      <a:endParaRPr b="1" sz="1100"/>
                    </a:p>
                  </a:txBody>
                  <a:tcPr marT="91425" marB="91425" marR="91425" marL="91425"/>
                </a:tc>
              </a:tr>
              <a:tr h="381000">
                <a:tc>
                  <a:txBody>
                    <a:bodyPr/>
                    <a:lstStyle/>
                    <a:p>
                      <a:pPr indent="0" lvl="0" marL="0" rtl="0" algn="l">
                        <a:spcBef>
                          <a:spcPts val="0"/>
                        </a:spcBef>
                        <a:spcAft>
                          <a:spcPts val="0"/>
                        </a:spcAft>
                        <a:buNone/>
                      </a:pPr>
                      <a:r>
                        <a:rPr lang="en"/>
                        <a:t>Sales</a:t>
                      </a:r>
                      <a:endParaRPr/>
                    </a:p>
                  </a:txBody>
                  <a:tcPr marT="91425" marB="91425" marR="91425" marL="91425"/>
                </a:tc>
                <a:tc>
                  <a:txBody>
                    <a:bodyPr/>
                    <a:lstStyle/>
                    <a:p>
                      <a:pPr indent="0" lvl="0" marL="0" rtl="0" algn="l">
                        <a:spcBef>
                          <a:spcPts val="0"/>
                        </a:spcBef>
                        <a:spcAft>
                          <a:spcPts val="0"/>
                        </a:spcAft>
                        <a:buNone/>
                      </a:pPr>
                      <a:r>
                        <a:rPr lang="en"/>
                        <a:t>Amit</a:t>
                      </a:r>
                      <a:endParaRPr/>
                    </a:p>
                  </a:txBody>
                  <a:tcPr marT="91425" marB="91425" marR="91425" marL="91425"/>
                </a:tc>
                <a:tc>
                  <a:txBody>
                    <a:bodyPr/>
                    <a:lstStyle/>
                    <a:p>
                      <a:pPr indent="0" lvl="0" marL="0" rtl="0" algn="l">
                        <a:spcBef>
                          <a:spcPts val="0"/>
                        </a:spcBef>
                        <a:spcAft>
                          <a:spcPts val="0"/>
                        </a:spcAft>
                        <a:buNone/>
                      </a:pPr>
                      <a:r>
                        <a:rPr lang="en"/>
                        <a:t>2018</a:t>
                      </a:r>
                      <a:endParaRPr/>
                    </a:p>
                  </a:txBody>
                  <a:tcPr marT="91425" marB="91425" marR="91425" marL="91425"/>
                </a:tc>
                <a:tc>
                  <a:txBody>
                    <a:bodyPr/>
                    <a:lstStyle/>
                    <a:p>
                      <a:pPr indent="0" lvl="0" marL="0" rtl="0" algn="l">
                        <a:spcBef>
                          <a:spcPts val="0"/>
                        </a:spcBef>
                        <a:spcAft>
                          <a:spcPts val="0"/>
                        </a:spcAft>
                        <a:buNone/>
                      </a:pPr>
                      <a:r>
                        <a:rPr lang="en"/>
                        <a:t>2022</a:t>
                      </a:r>
                      <a:endParaRPr/>
                    </a:p>
                  </a:txBody>
                  <a:tcPr marT="91425" marB="91425" marR="91425" marL="91425"/>
                </a:tc>
              </a:tr>
            </a:tbl>
          </a:graphicData>
        </a:graphic>
      </p:graphicFrame>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104"/>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566" name="Google Shape;566;p104"/>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1800"/>
              </a:spcBef>
              <a:spcAft>
                <a:spcPts val="0"/>
              </a:spcAft>
              <a:buNone/>
            </a:pPr>
            <a:r>
              <a:rPr b="1" lang="en" sz="1700">
                <a:solidFill>
                  <a:srgbClr val="000000"/>
                </a:solidFill>
                <a:latin typeface="Arial"/>
                <a:ea typeface="Arial"/>
                <a:cs typeface="Arial"/>
                <a:sym typeface="Arial"/>
              </a:rPr>
              <a:t>2. Transaction Time (Database Time)</a:t>
            </a:r>
            <a:endParaRPr b="1" sz="17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This is the time interval </a:t>
            </a:r>
            <a:r>
              <a:rPr b="1" lang="en" sz="1100">
                <a:solidFill>
                  <a:srgbClr val="000000"/>
                </a:solidFill>
                <a:latin typeface="Arial"/>
                <a:ea typeface="Arial"/>
                <a:cs typeface="Arial"/>
                <a:sym typeface="Arial"/>
              </a:rPr>
              <a:t>during which the fact is stored in the database</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Example:</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If the record was inserted on </a:t>
            </a:r>
            <a:r>
              <a:rPr b="1" lang="en" sz="1100">
                <a:solidFill>
                  <a:srgbClr val="000000"/>
                </a:solidFill>
                <a:latin typeface="Arial"/>
                <a:ea typeface="Arial"/>
                <a:cs typeface="Arial"/>
                <a:sym typeface="Arial"/>
              </a:rPr>
              <a:t>10 March 2023</a:t>
            </a:r>
            <a:r>
              <a:rPr lang="en" sz="1100">
                <a:solidFill>
                  <a:srgbClr val="000000"/>
                </a:solidFill>
                <a:latin typeface="Arial"/>
                <a:ea typeface="Arial"/>
                <a:cs typeface="Arial"/>
                <a:sym typeface="Arial"/>
              </a:rPr>
              <a:t>, the transaction time begins on that date.</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Even if valid time was 2018–2022, transaction time may be 2023 onwards.</a:t>
            </a:r>
            <a:endParaRPr sz="1100">
              <a:solidFill>
                <a:srgbClr val="000000"/>
              </a:solidFill>
              <a:latin typeface="Arial"/>
              <a:ea typeface="Arial"/>
              <a:cs typeface="Arial"/>
              <a:sym typeface="Arial"/>
            </a:endParaRPr>
          </a:p>
          <a:p>
            <a:pPr indent="0" lvl="0" marL="0" rtl="0" algn="l">
              <a:spcBef>
                <a:spcPts val="1200"/>
              </a:spcBef>
              <a:spcAft>
                <a:spcPts val="1200"/>
              </a:spcAft>
              <a:buNone/>
            </a:pPr>
            <a:r>
              <a:rPr lang="en" sz="1100">
                <a:solidFill>
                  <a:srgbClr val="000000"/>
                </a:solidFill>
                <a:latin typeface="Arial"/>
                <a:ea typeface="Arial"/>
                <a:cs typeface="Arial"/>
                <a:sym typeface="Arial"/>
              </a:rPr>
              <a:t>Transaction time </a:t>
            </a:r>
            <a:r>
              <a:rPr b="1" lang="en" sz="1100">
                <a:solidFill>
                  <a:srgbClr val="000000"/>
                </a:solidFill>
                <a:latin typeface="Arial"/>
                <a:ea typeface="Arial"/>
                <a:cs typeface="Arial"/>
                <a:sym typeface="Arial"/>
              </a:rPr>
              <a:t>is automatically generated by the DBMS</a:t>
            </a:r>
            <a:r>
              <a:rPr lang="en" sz="1100">
                <a:solidFill>
                  <a:srgbClr val="000000"/>
                </a:solidFill>
                <a:latin typeface="Arial"/>
                <a:ea typeface="Arial"/>
                <a:cs typeface="Arial"/>
                <a:sym typeface="Arial"/>
              </a:rPr>
              <a:t>.</a:t>
            </a:r>
            <a:br>
              <a:rPr lang="en" sz="1100">
                <a:solidFill>
                  <a:srgbClr val="000000"/>
                </a:solidFill>
                <a:latin typeface="Arial"/>
                <a:ea typeface="Arial"/>
                <a:cs typeface="Arial"/>
                <a:sym typeface="Arial"/>
              </a:rPr>
            </a:br>
            <a:r>
              <a:rPr lang="en" sz="1100">
                <a:solidFill>
                  <a:srgbClr val="000000"/>
                </a:solidFill>
                <a:latin typeface="Arial"/>
                <a:ea typeface="Arial"/>
                <a:cs typeface="Arial"/>
                <a:sym typeface="Arial"/>
              </a:rPr>
              <a:t> It depends on the transaction order, logs, and serialization.</a:t>
            </a:r>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sp>
        <p:nvSpPr>
          <p:cNvPr id="571" name="Google Shape;571;p105"/>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572" name="Google Shape;572;p105"/>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2400"/>
              </a:spcBef>
              <a:spcAft>
                <a:spcPts val="0"/>
              </a:spcAft>
              <a:buNone/>
            </a:pPr>
            <a:r>
              <a:rPr b="1" lang="en" sz="2300">
                <a:solidFill>
                  <a:srgbClr val="000000"/>
                </a:solidFill>
                <a:latin typeface="Arial"/>
                <a:ea typeface="Arial"/>
                <a:cs typeface="Arial"/>
                <a:sym typeface="Arial"/>
              </a:rPr>
              <a:t>3. Bitemporal Data</a:t>
            </a:r>
            <a:endParaRPr b="1" sz="23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If a database stores:</a:t>
            </a:r>
            <a:endParaRPr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b="1" lang="en" sz="1100">
                <a:solidFill>
                  <a:srgbClr val="000000"/>
                </a:solidFill>
                <a:latin typeface="Arial"/>
                <a:ea typeface="Arial"/>
                <a:cs typeface="Arial"/>
                <a:sym typeface="Arial"/>
              </a:rPr>
              <a:t>Valid time</a:t>
            </a:r>
            <a:endParaRPr b="1"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b="1" lang="en" sz="1100">
                <a:solidFill>
                  <a:srgbClr val="000000"/>
                </a:solidFill>
                <a:latin typeface="Arial"/>
                <a:ea typeface="Arial"/>
                <a:cs typeface="Arial"/>
                <a:sym typeface="Arial"/>
              </a:rPr>
              <a:t>Transaction time</a:t>
            </a:r>
            <a:endParaRPr b="1"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for the same tuple, it becomes a </a:t>
            </a:r>
            <a:r>
              <a:rPr b="1" lang="en" sz="1100">
                <a:solidFill>
                  <a:srgbClr val="000000"/>
                </a:solidFill>
                <a:latin typeface="Arial"/>
                <a:ea typeface="Arial"/>
                <a:cs typeface="Arial"/>
                <a:sym typeface="Arial"/>
              </a:rPr>
              <a:t>bitemporal relation</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This means the system knows:</a:t>
            </a:r>
            <a:endParaRPr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When a fact was true in the real world</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When the database recorded or changed it</a:t>
            </a:r>
            <a:endParaRPr sz="1100">
              <a:solidFill>
                <a:srgbClr val="000000"/>
              </a:solidFill>
              <a:latin typeface="Arial"/>
              <a:ea typeface="Arial"/>
              <a:cs typeface="Arial"/>
              <a:sym typeface="Arial"/>
            </a:endParaRPr>
          </a:p>
          <a:p>
            <a:pPr indent="0" lvl="0" marL="0" rtl="0" algn="l">
              <a:spcBef>
                <a:spcPts val="1200"/>
              </a:spcBef>
              <a:spcAft>
                <a:spcPts val="1200"/>
              </a:spcAft>
              <a:buNone/>
            </a:pPr>
            <a:r>
              <a:rPr lang="en" sz="1100">
                <a:solidFill>
                  <a:srgbClr val="000000"/>
                </a:solidFill>
                <a:latin typeface="Arial"/>
                <a:ea typeface="Arial"/>
                <a:cs typeface="Arial"/>
                <a:sym typeface="Arial"/>
              </a:rPr>
              <a:t>Used in systems requiring full history + audit (banking, insurance, government records).</a:t>
            </a:r>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106"/>
          <p:cNvSpPr txBox="1"/>
          <p:nvPr>
            <p:ph idx="1" type="body"/>
          </p:nvPr>
        </p:nvSpPr>
        <p:spPr>
          <a:xfrm>
            <a:off x="311700" y="389250"/>
            <a:ext cx="8520600" cy="4179900"/>
          </a:xfrm>
          <a:prstGeom prst="rect">
            <a:avLst/>
          </a:prstGeom>
        </p:spPr>
        <p:txBody>
          <a:bodyPr anchorCtr="0" anchor="t" bIns="91425" lIns="91425" spcFirstLastPara="1" rIns="91425" wrap="square" tIns="91425">
            <a:normAutofit/>
          </a:bodyPr>
          <a:lstStyle/>
          <a:p>
            <a:pPr indent="0" lvl="0" marL="0" rtl="0" algn="l">
              <a:spcBef>
                <a:spcPts val="2400"/>
              </a:spcBef>
              <a:spcAft>
                <a:spcPts val="0"/>
              </a:spcAft>
              <a:buNone/>
            </a:pPr>
            <a:r>
              <a:rPr b="1" lang="en" sz="2300">
                <a:solidFill>
                  <a:srgbClr val="000000"/>
                </a:solidFill>
                <a:latin typeface="Arial"/>
                <a:ea typeface="Arial"/>
                <a:cs typeface="Arial"/>
                <a:sym typeface="Arial"/>
              </a:rPr>
              <a:t>What Is a Temporal Relation?</a:t>
            </a:r>
            <a:endParaRPr b="1" sz="23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A </a:t>
            </a:r>
            <a:r>
              <a:rPr b="1" lang="en" sz="1100">
                <a:solidFill>
                  <a:srgbClr val="000000"/>
                </a:solidFill>
                <a:latin typeface="Arial"/>
                <a:ea typeface="Arial"/>
                <a:cs typeface="Arial"/>
                <a:sym typeface="Arial"/>
              </a:rPr>
              <a:t>temporal relation</a:t>
            </a:r>
            <a:r>
              <a:rPr lang="en" sz="1100">
                <a:solidFill>
                  <a:srgbClr val="000000"/>
                </a:solidFill>
                <a:latin typeface="Arial"/>
                <a:ea typeface="Arial"/>
                <a:cs typeface="Arial"/>
                <a:sym typeface="Arial"/>
              </a:rPr>
              <a:t> is a relation where each tuple has one (or both) types of time:</a:t>
            </a:r>
            <a:endParaRPr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Valid-time temporal relation</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Transaction-time temporal relation</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Bitemporal relation (both times)</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Each tuple is repeated for every time interval during which it is true.</a:t>
            </a:r>
            <a:endParaRPr sz="1100">
              <a:solidFill>
                <a:srgbClr val="000000"/>
              </a:solidFill>
              <a:latin typeface="Arial"/>
              <a:ea typeface="Arial"/>
              <a:cs typeface="Arial"/>
              <a:sym typeface="Arial"/>
            </a:endParaRPr>
          </a:p>
          <a:p>
            <a:pPr indent="0" lvl="0" marL="0" rtl="0" algn="l">
              <a:spcBef>
                <a:spcPts val="1400"/>
              </a:spcBef>
              <a:spcAft>
                <a:spcPts val="0"/>
              </a:spcAft>
              <a:buNone/>
            </a:pPr>
            <a:r>
              <a:rPr b="1" lang="en" sz="1300">
                <a:solidFill>
                  <a:srgbClr val="000000"/>
                </a:solidFill>
                <a:latin typeface="Arial"/>
                <a:ea typeface="Arial"/>
                <a:cs typeface="Arial"/>
                <a:sym typeface="Arial"/>
              </a:rPr>
              <a:t>Example (Simplified)</a:t>
            </a:r>
            <a:endParaRPr b="1" sz="13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A table storing employee departments over time:</a:t>
            </a:r>
            <a:endParaRPr sz="1100">
              <a:solidFill>
                <a:srgbClr val="000000"/>
              </a:solidFill>
              <a:latin typeface="Arial"/>
              <a:ea typeface="Arial"/>
              <a:cs typeface="Arial"/>
              <a:sym typeface="Arial"/>
            </a:endParaRPr>
          </a:p>
          <a:p>
            <a:pPr indent="0" lvl="0" marL="0" rtl="0" algn="l">
              <a:spcBef>
                <a:spcPts val="1200"/>
              </a:spcBef>
              <a:spcAft>
                <a:spcPts val="400"/>
              </a:spcAft>
              <a:buNone/>
            </a:pPr>
            <a:r>
              <a:t/>
            </a:r>
            <a:endParaRPr b="1" sz="2300">
              <a:solidFill>
                <a:srgbClr val="000000"/>
              </a:solidFill>
              <a:latin typeface="Arial"/>
              <a:ea typeface="Arial"/>
              <a:cs typeface="Arial"/>
              <a:sym typeface="Arial"/>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107"/>
          <p:cNvSpPr txBox="1"/>
          <p:nvPr>
            <p:ph idx="1" type="body"/>
          </p:nvPr>
        </p:nvSpPr>
        <p:spPr>
          <a:xfrm>
            <a:off x="311700" y="571025"/>
            <a:ext cx="8520600" cy="3998100"/>
          </a:xfrm>
          <a:prstGeom prst="rect">
            <a:avLst/>
          </a:prstGeom>
        </p:spPr>
        <p:txBody>
          <a:bodyPr anchorCtr="0" anchor="t" bIns="91425" lIns="91425" spcFirstLastPara="1" rIns="91425" wrap="square" tIns="91425">
            <a:noAutofit/>
          </a:bodyPr>
          <a:lstStyle/>
          <a:p>
            <a:pPr indent="0" lvl="0" marL="0" rtl="0" algn="l">
              <a:lnSpc>
                <a:spcPct val="115000"/>
              </a:lnSpc>
              <a:spcBef>
                <a:spcPts val="200"/>
              </a:spcBef>
              <a:spcAft>
                <a:spcPts val="0"/>
              </a:spcAft>
              <a:buNone/>
            </a:pPr>
            <a:r>
              <a:t/>
            </a:r>
            <a:endParaRPr/>
          </a:p>
          <a:p>
            <a:pPr indent="0" lvl="0" marL="0" rtl="0" algn="l">
              <a:lnSpc>
                <a:spcPct val="115000"/>
              </a:lnSpc>
              <a:spcBef>
                <a:spcPts val="400"/>
              </a:spcBef>
              <a:spcAft>
                <a:spcPts val="0"/>
              </a:spcAft>
              <a:buNone/>
            </a:pPr>
            <a:r>
              <a:t/>
            </a:r>
            <a:endParaRPr/>
          </a:p>
          <a:p>
            <a:pPr indent="0" lvl="0" marL="0" rtl="0" algn="l">
              <a:lnSpc>
                <a:spcPct val="115000"/>
              </a:lnSpc>
              <a:spcBef>
                <a:spcPts val="400"/>
              </a:spcBef>
              <a:spcAft>
                <a:spcPts val="0"/>
              </a:spcAft>
              <a:buNone/>
            </a:pPr>
            <a:r>
              <a:t/>
            </a:r>
            <a:endParaRPr/>
          </a:p>
          <a:p>
            <a:pPr indent="0" lvl="0" marL="0" rtl="0" algn="l">
              <a:spcBef>
                <a:spcPts val="1200"/>
              </a:spcBef>
              <a:spcAft>
                <a:spcPts val="0"/>
              </a:spcAft>
              <a:buNone/>
            </a:pPr>
            <a:r>
              <a:rPr lang="en" sz="1100">
                <a:solidFill>
                  <a:srgbClr val="000000"/>
                </a:solidFill>
                <a:latin typeface="Arial"/>
                <a:ea typeface="Arial"/>
                <a:cs typeface="Arial"/>
                <a:sym typeface="Arial"/>
              </a:rPr>
              <a:t>Here:</a:t>
            </a:r>
            <a:endParaRPr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First row is true from 2018 to 2020</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Second row is true from 2021 to present (</a:t>
            </a:r>
            <a:r>
              <a:rPr b="1" lang="en" sz="1600">
                <a:solidFill>
                  <a:srgbClr val="000000"/>
                </a:solidFill>
                <a:latin typeface="Arial"/>
                <a:ea typeface="Arial"/>
                <a:cs typeface="Arial"/>
                <a:sym typeface="Arial"/>
              </a:rPr>
              <a:t>‘*’</a:t>
            </a:r>
            <a:r>
              <a:rPr b="1" lang="en" sz="1100">
                <a:solidFill>
                  <a:srgbClr val="000000"/>
                </a:solidFill>
                <a:latin typeface="Arial"/>
                <a:ea typeface="Arial"/>
                <a:cs typeface="Arial"/>
                <a:sym typeface="Arial"/>
              </a:rPr>
              <a:t> means current</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Internally, times are not stored as text.</a:t>
            </a:r>
            <a:br>
              <a:rPr lang="en" sz="1100">
                <a:solidFill>
                  <a:srgbClr val="000000"/>
                </a:solidFill>
                <a:latin typeface="Arial"/>
                <a:ea typeface="Arial"/>
                <a:cs typeface="Arial"/>
                <a:sym typeface="Arial"/>
              </a:rPr>
            </a:br>
            <a:r>
              <a:rPr lang="en" sz="1100">
                <a:solidFill>
                  <a:srgbClr val="000000"/>
                </a:solidFill>
                <a:latin typeface="Arial"/>
                <a:ea typeface="Arial"/>
                <a:cs typeface="Arial"/>
                <a:sym typeface="Arial"/>
              </a:rPr>
              <a:t> They are stored in </a:t>
            </a:r>
            <a:r>
              <a:rPr b="1" lang="en" sz="1100">
                <a:solidFill>
                  <a:srgbClr val="000000"/>
                </a:solidFill>
                <a:latin typeface="Arial"/>
                <a:ea typeface="Arial"/>
                <a:cs typeface="Arial"/>
                <a:sym typeface="Arial"/>
              </a:rPr>
              <a:t>numeric or timestamp form</a:t>
            </a:r>
            <a:r>
              <a:rPr lang="en" sz="1100">
                <a:solidFill>
                  <a:srgbClr val="000000"/>
                </a:solidFill>
                <a:latin typeface="Arial"/>
                <a:ea typeface="Arial"/>
                <a:cs typeface="Arial"/>
                <a:sym typeface="Arial"/>
              </a:rPr>
              <a:t>, like:</a:t>
            </a:r>
            <a:endParaRPr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Number of seconds since Jan 1, 1900</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Unix timestamp</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DBMS-native datetime format</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This makes comparison and indexing faster.</a:t>
            </a:r>
            <a:endParaRPr sz="1100">
              <a:solidFill>
                <a:srgbClr val="000000"/>
              </a:solidFill>
              <a:latin typeface="Arial"/>
              <a:ea typeface="Arial"/>
              <a:cs typeface="Arial"/>
              <a:sym typeface="Arial"/>
            </a:endParaRPr>
          </a:p>
          <a:p>
            <a:pPr indent="0" lvl="0" marL="0" rtl="0" algn="l">
              <a:lnSpc>
                <a:spcPct val="115000"/>
              </a:lnSpc>
              <a:spcBef>
                <a:spcPts val="1200"/>
              </a:spcBef>
              <a:spcAft>
                <a:spcPts val="400"/>
              </a:spcAft>
              <a:buNone/>
            </a:pPr>
            <a:r>
              <a:t/>
            </a:r>
            <a:endParaRPr/>
          </a:p>
        </p:txBody>
      </p:sp>
      <p:graphicFrame>
        <p:nvGraphicFramePr>
          <p:cNvPr id="583" name="Google Shape;583;p107"/>
          <p:cNvGraphicFramePr/>
          <p:nvPr/>
        </p:nvGraphicFramePr>
        <p:xfrm>
          <a:off x="824200" y="571025"/>
          <a:ext cx="3000000" cy="3000000"/>
        </p:xfrm>
        <a:graphic>
          <a:graphicData uri="http://schemas.openxmlformats.org/drawingml/2006/table">
            <a:tbl>
              <a:tblPr>
                <a:noFill/>
                <a:tableStyleId>{4021A1ED-3B1C-4B97-93D2-70483F01EADD}</a:tableStyleId>
              </a:tblPr>
              <a:tblGrid>
                <a:gridCol w="1809750"/>
                <a:gridCol w="1809750"/>
                <a:gridCol w="1809750"/>
                <a:gridCol w="1809750"/>
              </a:tblGrid>
              <a:tr h="381000">
                <a:tc>
                  <a:txBody>
                    <a:bodyPr/>
                    <a:lstStyle/>
                    <a:p>
                      <a:pPr indent="0" lvl="0" marL="0" rtl="0" algn="ctr">
                        <a:lnSpc>
                          <a:spcPct val="115000"/>
                        </a:lnSpc>
                        <a:spcBef>
                          <a:spcPts val="0"/>
                        </a:spcBef>
                        <a:spcAft>
                          <a:spcPts val="0"/>
                        </a:spcAft>
                        <a:buNone/>
                      </a:pPr>
                      <a:r>
                        <a:rPr b="1" lang="en" sz="1100"/>
                        <a:t>EmpID</a:t>
                      </a:r>
                      <a:endParaRPr b="1" sz="1100"/>
                    </a:p>
                  </a:txBody>
                  <a:tcPr marT="91425" marB="91425" marR="91425" marL="91425"/>
                </a:tc>
                <a:tc>
                  <a:txBody>
                    <a:bodyPr/>
                    <a:lstStyle/>
                    <a:p>
                      <a:pPr indent="0" lvl="0" marL="0" rtl="0" algn="ctr">
                        <a:lnSpc>
                          <a:spcPct val="115000"/>
                        </a:lnSpc>
                        <a:spcBef>
                          <a:spcPts val="0"/>
                        </a:spcBef>
                        <a:spcAft>
                          <a:spcPts val="0"/>
                        </a:spcAft>
                        <a:buNone/>
                      </a:pPr>
                      <a:r>
                        <a:rPr b="1" lang="en" sz="1100"/>
                        <a:t>Dept</a:t>
                      </a:r>
                      <a:endParaRPr b="1" sz="1100"/>
                    </a:p>
                  </a:txBody>
                  <a:tcPr marT="91425" marB="91425" marR="91425" marL="91425"/>
                </a:tc>
                <a:tc>
                  <a:txBody>
                    <a:bodyPr/>
                    <a:lstStyle/>
                    <a:p>
                      <a:pPr indent="0" lvl="0" marL="0" rtl="0" algn="ctr">
                        <a:lnSpc>
                          <a:spcPct val="115000"/>
                        </a:lnSpc>
                        <a:spcBef>
                          <a:spcPts val="0"/>
                        </a:spcBef>
                        <a:spcAft>
                          <a:spcPts val="0"/>
                        </a:spcAft>
                        <a:buNone/>
                      </a:pPr>
                      <a:r>
                        <a:rPr b="1" lang="en" sz="1100"/>
                        <a:t>From</a:t>
                      </a:r>
                      <a:endParaRPr b="1" sz="1100"/>
                    </a:p>
                  </a:txBody>
                  <a:tcPr marT="91425" marB="91425" marR="91425" marL="91425"/>
                </a:tc>
                <a:tc>
                  <a:txBody>
                    <a:bodyPr/>
                    <a:lstStyle/>
                    <a:p>
                      <a:pPr indent="0" lvl="0" marL="0" rtl="0" algn="ctr">
                        <a:lnSpc>
                          <a:spcPct val="115000"/>
                        </a:lnSpc>
                        <a:spcBef>
                          <a:spcPts val="0"/>
                        </a:spcBef>
                        <a:spcAft>
                          <a:spcPts val="0"/>
                        </a:spcAft>
                        <a:buNone/>
                      </a:pPr>
                      <a:r>
                        <a:rPr b="1" lang="en" sz="1100"/>
                        <a:t>To</a:t>
                      </a:r>
                      <a:endParaRPr b="1" sz="1100"/>
                    </a:p>
                  </a:txBody>
                  <a:tcPr marT="91425" marB="91425" marR="91425" marL="91425"/>
                </a:tc>
              </a:tr>
              <a:tr h="381000">
                <a:tc>
                  <a:txBody>
                    <a:bodyPr/>
                    <a:lstStyle/>
                    <a:p>
                      <a:pPr indent="0" lvl="0" marL="0" rtl="0" algn="l">
                        <a:spcBef>
                          <a:spcPts val="0"/>
                        </a:spcBef>
                        <a:spcAft>
                          <a:spcPts val="0"/>
                        </a:spcAft>
                        <a:buNone/>
                      </a:pPr>
                      <a:r>
                        <a:rPr lang="en"/>
                        <a:t>101</a:t>
                      </a:r>
                      <a:endParaRPr/>
                    </a:p>
                  </a:txBody>
                  <a:tcPr marT="91425" marB="91425" marR="91425" marL="91425"/>
                </a:tc>
                <a:tc>
                  <a:txBody>
                    <a:bodyPr/>
                    <a:lstStyle/>
                    <a:p>
                      <a:pPr indent="0" lvl="0" marL="0" rtl="0" algn="l">
                        <a:spcBef>
                          <a:spcPts val="0"/>
                        </a:spcBef>
                        <a:spcAft>
                          <a:spcPts val="0"/>
                        </a:spcAft>
                        <a:buNone/>
                      </a:pPr>
                      <a:r>
                        <a:rPr lang="en"/>
                        <a:t>Sales</a:t>
                      </a:r>
                      <a:endParaRPr/>
                    </a:p>
                  </a:txBody>
                  <a:tcPr marT="91425" marB="91425" marR="91425" marL="91425"/>
                </a:tc>
                <a:tc>
                  <a:txBody>
                    <a:bodyPr/>
                    <a:lstStyle/>
                    <a:p>
                      <a:pPr indent="0" lvl="0" marL="0" rtl="0" algn="l">
                        <a:spcBef>
                          <a:spcPts val="0"/>
                        </a:spcBef>
                        <a:spcAft>
                          <a:spcPts val="0"/>
                        </a:spcAft>
                        <a:buNone/>
                      </a:pPr>
                      <a:r>
                        <a:rPr lang="en"/>
                        <a:t>2018-01-01</a:t>
                      </a:r>
                      <a:endParaRPr/>
                    </a:p>
                  </a:txBody>
                  <a:tcPr marT="91425" marB="91425" marR="91425" marL="91425"/>
                </a:tc>
                <a:tc>
                  <a:txBody>
                    <a:bodyPr/>
                    <a:lstStyle/>
                    <a:p>
                      <a:pPr indent="0" lvl="0" marL="0" rtl="0" algn="l">
                        <a:spcBef>
                          <a:spcPts val="0"/>
                        </a:spcBef>
                        <a:spcAft>
                          <a:spcPts val="0"/>
                        </a:spcAft>
                        <a:buNone/>
                      </a:pPr>
                      <a:r>
                        <a:rPr lang="en"/>
                        <a:t>2020-12-31</a:t>
                      </a:r>
                      <a:endParaRPr/>
                    </a:p>
                  </a:txBody>
                  <a:tcPr marT="91425" marB="91425" marR="91425" marL="91425"/>
                </a:tc>
              </a:tr>
              <a:tr h="381000">
                <a:tc>
                  <a:txBody>
                    <a:bodyPr/>
                    <a:lstStyle/>
                    <a:p>
                      <a:pPr indent="0" lvl="0" marL="0" rtl="0" algn="l">
                        <a:spcBef>
                          <a:spcPts val="0"/>
                        </a:spcBef>
                        <a:spcAft>
                          <a:spcPts val="0"/>
                        </a:spcAft>
                        <a:buNone/>
                      </a:pPr>
                      <a:r>
                        <a:rPr lang="en"/>
                        <a:t>101</a:t>
                      </a:r>
                      <a:endParaRPr/>
                    </a:p>
                  </a:txBody>
                  <a:tcPr marT="91425" marB="91425" marR="91425" marL="91425"/>
                </a:tc>
                <a:tc>
                  <a:txBody>
                    <a:bodyPr/>
                    <a:lstStyle/>
                    <a:p>
                      <a:pPr indent="0" lvl="0" marL="0" rtl="0" algn="l">
                        <a:spcBef>
                          <a:spcPts val="0"/>
                        </a:spcBef>
                        <a:spcAft>
                          <a:spcPts val="0"/>
                        </a:spcAft>
                        <a:buNone/>
                      </a:pPr>
                      <a:r>
                        <a:rPr lang="en"/>
                        <a:t>HR</a:t>
                      </a:r>
                      <a:endParaRPr/>
                    </a:p>
                  </a:txBody>
                  <a:tcPr marT="91425" marB="91425" marR="91425" marL="91425"/>
                </a:tc>
                <a:tc>
                  <a:txBody>
                    <a:bodyPr/>
                    <a:lstStyle/>
                    <a:p>
                      <a:pPr indent="0" lvl="0" marL="0" rtl="0" algn="l">
                        <a:spcBef>
                          <a:spcPts val="0"/>
                        </a:spcBef>
                        <a:spcAft>
                          <a:spcPts val="0"/>
                        </a:spcAft>
                        <a:buNone/>
                      </a:pPr>
                      <a:r>
                        <a:rPr lang="en"/>
                        <a:t>2021-01-01</a:t>
                      </a:r>
                      <a:endParaRPr/>
                    </a:p>
                  </a:txBody>
                  <a:tcPr marT="91425" marB="91425" marR="91425" marL="91425"/>
                </a:tc>
                <a:tc>
                  <a:txBody>
                    <a:bodyPr/>
                    <a:lstStyle/>
                    <a:p>
                      <a:pPr indent="0" lvl="0" marL="0" rtl="0" algn="l">
                        <a:spcBef>
                          <a:spcPts val="0"/>
                        </a:spcBef>
                        <a:spcAft>
                          <a:spcPts val="0"/>
                        </a:spcAft>
                        <a:buNone/>
                      </a:pPr>
                      <a:r>
                        <a:rPr lang="en"/>
                        <a:t>*</a:t>
                      </a:r>
                      <a:endParaRPr/>
                    </a:p>
                  </a:txBody>
                  <a:tcPr marT="91425" marB="91425" marR="91425" marL="91425"/>
                </a:tc>
              </a:tr>
            </a:tbl>
          </a:graphicData>
        </a:graphic>
      </p:graphicFrame>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108"/>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589" name="Google Shape;589;p108"/>
          <p:cNvSpPr txBox="1"/>
          <p:nvPr>
            <p:ph idx="1" type="body"/>
          </p:nvPr>
        </p:nvSpPr>
        <p:spPr>
          <a:xfrm>
            <a:off x="311700" y="1266325"/>
            <a:ext cx="8520600" cy="3302700"/>
          </a:xfrm>
          <a:prstGeom prst="rect">
            <a:avLst/>
          </a:prstGeom>
        </p:spPr>
        <p:txBody>
          <a:bodyPr anchorCtr="0" anchor="t" bIns="91425" lIns="91425" spcFirstLastPara="1" rIns="91425" wrap="square" tIns="91425">
            <a:normAutofit lnSpcReduction="10000"/>
          </a:bodyPr>
          <a:lstStyle/>
          <a:p>
            <a:pPr indent="0" lvl="0" marL="0" rtl="0" algn="l">
              <a:spcBef>
                <a:spcPts val="2400"/>
              </a:spcBef>
              <a:spcAft>
                <a:spcPts val="0"/>
              </a:spcAft>
              <a:buNone/>
            </a:pPr>
            <a:r>
              <a:rPr b="1" lang="en" sz="2300">
                <a:solidFill>
                  <a:srgbClr val="000000"/>
                </a:solidFill>
                <a:latin typeface="Arial"/>
                <a:ea typeface="Arial"/>
                <a:cs typeface="Arial"/>
                <a:sym typeface="Arial"/>
              </a:rPr>
              <a:t>Why Are Temporal Databases Important?</a:t>
            </a:r>
            <a:endParaRPr b="1" sz="23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They allow answering questions like:</a:t>
            </a:r>
            <a:endParaRPr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“What was the price of this product in 2020?”</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“Who was the manager of HR Department in May 2019?”</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“Show all changes made in this patient’s medical record.”</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“What were the previous readings of a sensor before failure?”</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These are impossible to answer if past states are not stored.</a:t>
            </a: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p109"/>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Spatial and Geographic Data </a:t>
            </a:r>
            <a:endParaRPr/>
          </a:p>
        </p:txBody>
      </p:sp>
      <p:sp>
        <p:nvSpPr>
          <p:cNvPr id="595" name="Google Shape;595;p109"/>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sz="1100">
                <a:solidFill>
                  <a:srgbClr val="000000"/>
                </a:solidFill>
                <a:latin typeface="Arial"/>
                <a:ea typeface="Arial"/>
                <a:cs typeface="Arial"/>
                <a:sym typeface="Arial"/>
              </a:rPr>
              <a:t>Spatial data refers to any data that represents </a:t>
            </a:r>
            <a:r>
              <a:rPr b="1" lang="en" sz="1100">
                <a:solidFill>
                  <a:srgbClr val="000000"/>
                </a:solidFill>
                <a:latin typeface="Arial"/>
                <a:ea typeface="Arial"/>
                <a:cs typeface="Arial"/>
                <a:sym typeface="Arial"/>
              </a:rPr>
              <a:t>objects or locations in space</a:t>
            </a:r>
            <a:r>
              <a:rPr lang="en" sz="1100">
                <a:solidFill>
                  <a:srgbClr val="000000"/>
                </a:solidFill>
                <a:latin typeface="Arial"/>
                <a:ea typeface="Arial"/>
                <a:cs typeface="Arial"/>
                <a:sym typeface="Arial"/>
              </a:rPr>
              <a:t> — such as roads on a map, shapes of buildings, or boundaries of land.</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Traditional databases are not built to handle spatial queries efficiently. For example:</a:t>
            </a:r>
            <a:endParaRPr sz="1100">
              <a:solidFill>
                <a:srgbClr val="000000"/>
              </a:solidFill>
              <a:latin typeface="Arial"/>
              <a:ea typeface="Arial"/>
              <a:cs typeface="Arial"/>
              <a:sym typeface="Arial"/>
            </a:endParaRPr>
          </a:p>
          <a:p>
            <a:pPr indent="0" lvl="0" marL="381000" marR="381000" rtl="0" algn="l">
              <a:spcBef>
                <a:spcPts val="1200"/>
              </a:spcBef>
              <a:spcAft>
                <a:spcPts val="0"/>
              </a:spcAft>
              <a:buNone/>
            </a:pPr>
            <a:r>
              <a:rPr b="1" lang="en" sz="1100">
                <a:solidFill>
                  <a:srgbClr val="000000"/>
                </a:solidFill>
                <a:latin typeface="Arial"/>
                <a:ea typeface="Arial"/>
                <a:cs typeface="Arial"/>
                <a:sym typeface="Arial"/>
              </a:rPr>
              <a:t>Find all polygons that intersect a given polygon.</a:t>
            </a:r>
            <a:endParaRPr b="1"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Such queries involve </a:t>
            </a:r>
            <a:r>
              <a:rPr b="1" lang="en" sz="1100">
                <a:solidFill>
                  <a:srgbClr val="000000"/>
                </a:solidFill>
                <a:latin typeface="Arial"/>
                <a:ea typeface="Arial"/>
                <a:cs typeface="Arial"/>
                <a:sym typeface="Arial"/>
              </a:rPr>
              <a:t>geometric shapes</a:t>
            </a:r>
            <a:r>
              <a:rPr lang="en" sz="1100">
                <a:solidFill>
                  <a:srgbClr val="000000"/>
                </a:solidFill>
                <a:latin typeface="Arial"/>
                <a:ea typeface="Arial"/>
                <a:cs typeface="Arial"/>
                <a:sym typeface="Arial"/>
              </a:rPr>
              <a:t>, not simple numbers or strings, so we need special support for </a:t>
            </a:r>
            <a:r>
              <a:rPr b="1" lang="en" sz="1100">
                <a:solidFill>
                  <a:srgbClr val="000000"/>
                </a:solidFill>
                <a:latin typeface="Arial"/>
                <a:ea typeface="Arial"/>
                <a:cs typeface="Arial"/>
                <a:sym typeface="Arial"/>
              </a:rPr>
              <a:t>storage, indexing, and querying</a:t>
            </a:r>
            <a:r>
              <a:rPr lang="en" sz="1100">
                <a:solidFill>
                  <a:srgbClr val="000000"/>
                </a:solidFill>
                <a:latin typeface="Arial"/>
                <a:ea typeface="Arial"/>
                <a:cs typeface="Arial"/>
                <a:sym typeface="Arial"/>
              </a:rPr>
              <a:t> of spatial information.</a:t>
            </a: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00" name="Google Shape;600;p110"/>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601" name="Google Shape;601;p110"/>
          <p:cNvSpPr txBox="1"/>
          <p:nvPr>
            <p:ph idx="1" type="body"/>
          </p:nvPr>
        </p:nvSpPr>
        <p:spPr>
          <a:xfrm>
            <a:off x="311700" y="1266325"/>
            <a:ext cx="8520600" cy="3302700"/>
          </a:xfrm>
          <a:prstGeom prst="rect">
            <a:avLst/>
          </a:prstGeom>
        </p:spPr>
        <p:txBody>
          <a:bodyPr anchorCtr="0" anchor="t" bIns="91425" lIns="91425" spcFirstLastPara="1" rIns="91425" wrap="square" tIns="91425">
            <a:normAutofit lnSpcReduction="20000"/>
          </a:bodyPr>
          <a:lstStyle/>
          <a:p>
            <a:pPr indent="0" lvl="0" marL="0" rtl="0" algn="l">
              <a:spcBef>
                <a:spcPts val="2400"/>
              </a:spcBef>
              <a:spcAft>
                <a:spcPts val="0"/>
              </a:spcAft>
              <a:buNone/>
            </a:pPr>
            <a:r>
              <a:rPr b="1" lang="en" sz="2300">
                <a:solidFill>
                  <a:srgbClr val="000000"/>
                </a:solidFill>
                <a:latin typeface="Arial"/>
                <a:ea typeface="Arial"/>
                <a:cs typeface="Arial"/>
                <a:sym typeface="Arial"/>
              </a:rPr>
              <a:t>Two Important Types of Spatial Data</a:t>
            </a:r>
            <a:endParaRPr b="1" sz="23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Spatial data can be divided into two major categories:</a:t>
            </a:r>
            <a:endParaRPr sz="1100">
              <a:solidFill>
                <a:srgbClr val="000000"/>
              </a:solidFill>
              <a:latin typeface="Arial"/>
              <a:ea typeface="Arial"/>
              <a:cs typeface="Arial"/>
              <a:sym typeface="Arial"/>
            </a:endParaRPr>
          </a:p>
          <a:p>
            <a:pPr indent="0" lvl="0" marL="0" rtl="0" algn="l">
              <a:spcBef>
                <a:spcPts val="1800"/>
              </a:spcBef>
              <a:spcAft>
                <a:spcPts val="0"/>
              </a:spcAft>
              <a:buNone/>
            </a:pPr>
            <a:r>
              <a:rPr b="1" lang="en" sz="1700">
                <a:solidFill>
                  <a:srgbClr val="000000"/>
                </a:solidFill>
                <a:latin typeface="Arial"/>
                <a:ea typeface="Arial"/>
                <a:cs typeface="Arial"/>
                <a:sym typeface="Arial"/>
              </a:rPr>
              <a:t>1. Computer-Aided Design (CAD) Data</a:t>
            </a:r>
            <a:endParaRPr b="1" sz="17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Used in engineering and design.</a:t>
            </a:r>
            <a:br>
              <a:rPr lang="en" sz="1100">
                <a:solidFill>
                  <a:srgbClr val="000000"/>
                </a:solidFill>
                <a:latin typeface="Arial"/>
                <a:ea typeface="Arial"/>
                <a:cs typeface="Arial"/>
                <a:sym typeface="Arial"/>
              </a:rPr>
            </a:br>
            <a:r>
              <a:rPr lang="en" sz="1100">
                <a:solidFill>
                  <a:srgbClr val="000000"/>
                </a:solidFill>
                <a:latin typeface="Arial"/>
                <a:ea typeface="Arial"/>
                <a:cs typeface="Arial"/>
                <a:sym typeface="Arial"/>
              </a:rPr>
              <a:t> Examples include:</a:t>
            </a:r>
            <a:endParaRPr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Building layouts</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Car, aircraft, or machine designs</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Electronic circuits and chip layouts</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0" lvl="0" marL="0" rtl="0" algn="l">
              <a:spcBef>
                <a:spcPts val="1200"/>
              </a:spcBef>
              <a:spcAft>
                <a:spcPts val="1200"/>
              </a:spcAft>
              <a:buNone/>
            </a:pPr>
            <a:r>
              <a:rPr lang="en" sz="1100">
                <a:solidFill>
                  <a:srgbClr val="000000"/>
                </a:solidFill>
                <a:latin typeface="Arial"/>
                <a:ea typeface="Arial"/>
                <a:cs typeface="Arial"/>
                <a:sym typeface="Arial"/>
              </a:rPr>
              <a:t>These applications store precise geometric shapes — points, lines, arcs, and curves.</a:t>
            </a:r>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p111"/>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607" name="Google Shape;607;p111"/>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1800"/>
              </a:spcBef>
              <a:spcAft>
                <a:spcPts val="0"/>
              </a:spcAft>
              <a:buNone/>
            </a:pPr>
            <a:r>
              <a:rPr b="1" lang="en" sz="1700">
                <a:solidFill>
                  <a:srgbClr val="000000"/>
                </a:solidFill>
                <a:latin typeface="Arial"/>
                <a:ea typeface="Arial"/>
                <a:cs typeface="Arial"/>
                <a:sym typeface="Arial"/>
              </a:rPr>
              <a:t>2. Geographic Data (GIS Data)</a:t>
            </a:r>
            <a:endParaRPr b="1" sz="17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GIS = Geographic Information Systems</a:t>
            </a:r>
            <a:br>
              <a:rPr lang="en" sz="1100">
                <a:solidFill>
                  <a:srgbClr val="000000"/>
                </a:solidFill>
                <a:latin typeface="Arial"/>
                <a:ea typeface="Arial"/>
                <a:cs typeface="Arial"/>
                <a:sym typeface="Arial"/>
              </a:rPr>
            </a:br>
            <a:r>
              <a:rPr lang="en" sz="1100">
                <a:solidFill>
                  <a:srgbClr val="000000"/>
                </a:solidFill>
                <a:latin typeface="Arial"/>
                <a:ea typeface="Arial"/>
                <a:cs typeface="Arial"/>
                <a:sym typeface="Arial"/>
              </a:rPr>
              <a:t> Used in map-based applications.</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Examples:</a:t>
            </a:r>
            <a:endParaRPr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Road maps</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Land-usage maps</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Elevation maps</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Political boundaries</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Land ownership plots</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Forest cover maps</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Flood-zone maps</a:t>
            </a:r>
            <a:endParaRPr sz="1100">
              <a:solidFill>
                <a:srgbClr val="000000"/>
              </a:solidFill>
              <a:latin typeface="Arial"/>
              <a:ea typeface="Arial"/>
              <a:cs typeface="Arial"/>
              <a:sym typeface="Arial"/>
            </a:endParaRPr>
          </a:p>
          <a:p>
            <a:pPr indent="0" lvl="0" marL="0" rtl="0" algn="l">
              <a:spcBef>
                <a:spcPts val="1200"/>
              </a:spcBef>
              <a:spcAft>
                <a:spcPts val="1200"/>
              </a:spcAft>
              <a:buNone/>
            </a:pPr>
            <a:r>
              <a:rPr lang="en" sz="1100">
                <a:solidFill>
                  <a:srgbClr val="000000"/>
                </a:solidFill>
                <a:latin typeface="Arial"/>
                <a:ea typeface="Arial"/>
                <a:cs typeface="Arial"/>
                <a:sym typeface="Arial"/>
              </a:rPr>
              <a:t>Modern databases like </a:t>
            </a:r>
            <a:r>
              <a:rPr b="1" lang="en" sz="1100">
                <a:solidFill>
                  <a:srgbClr val="000000"/>
                </a:solidFill>
                <a:latin typeface="Arial"/>
                <a:ea typeface="Arial"/>
                <a:cs typeface="Arial"/>
                <a:sym typeface="Arial"/>
              </a:rPr>
              <a:t>Oracle Spatial, IBM DB2 Spatial Extender, Informix Spatial DataBlade</a:t>
            </a:r>
            <a:r>
              <a:rPr lang="en" sz="1100">
                <a:solidFill>
                  <a:srgbClr val="000000"/>
                </a:solidFill>
                <a:latin typeface="Arial"/>
                <a:ea typeface="Arial"/>
                <a:cs typeface="Arial"/>
                <a:sym typeface="Arial"/>
              </a:rPr>
              <a:t> support GIS data.</a:t>
            </a:r>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p112"/>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613" name="Google Shape;613;p112"/>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