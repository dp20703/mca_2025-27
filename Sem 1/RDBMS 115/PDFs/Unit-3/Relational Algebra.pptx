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</p:sldIdLst>
  <p:sldSz cy="6858000" cx="12192000"/>
  <p:notesSz cx="6858000" cy="9144000"/>
  <p:embeddedFontLst>
    <p:embeddedFont>
      <p:font typeface="Roboto Condensed"/>
      <p:regular r:id="rId86"/>
      <p:bold r:id="rId87"/>
      <p:italic r:id="rId88"/>
      <p:boldItalic r:id="rId89"/>
    </p:embeddedFont>
    <p:embeddedFont>
      <p:font typeface="Roboto Condensed Light"/>
      <p:regular r:id="rId90"/>
      <p:bold r:id="rId91"/>
      <p:italic r:id="rId92"/>
      <p:boldItalic r:id="rId93"/>
    </p:embeddedFont>
    <p:embeddedFont>
      <p:font typeface="Helvetica Neue"/>
      <p:regular r:id="rId94"/>
      <p:bold r:id="rId95"/>
      <p:italic r:id="rId96"/>
      <p:boldItalic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8" roundtripDataSignature="AMtx7mh8Wm9t0/uf7NePZb75aQkrSJEX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AC568A-05AC-4D21-9F33-4BFF0964E7E1}">
  <a:tblStyle styleId="{3FAC568A-05AC-4D21-9F33-4BFF0964E7E1}" styleName="Table_0">
    <a:wholeTbl>
      <a:tcTxStyle b="off" i="off">
        <a:font>
          <a:latin typeface="Roboto Condensed"/>
          <a:ea typeface="Roboto Condensed"/>
          <a:cs typeface="Roboto Condensed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EEEE"/>
          </a:solidFill>
        </a:fill>
      </a:tcStyle>
    </a:wholeTbl>
    <a:band1H>
      <a:tcTxStyle/>
      <a:tcStyle>
        <a:fill>
          <a:solidFill>
            <a:srgbClr val="DBDBDB"/>
          </a:solidFill>
        </a:fill>
      </a:tcStyle>
    </a:band1H>
    <a:band2H>
      <a:tcTxStyle/>
    </a:band2H>
    <a:band1V>
      <a:tcTxStyle/>
      <a:tcStyle>
        <a:fill>
          <a:solidFill>
            <a:srgbClr val="DBDBDB"/>
          </a:solidFill>
        </a:fill>
      </a:tcStyle>
    </a:band1V>
    <a:band2V>
      <a:tcTxStyle/>
    </a:band2V>
    <a:lastCol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HelveticaNeue-bold.fntdata"/><Relationship Id="rId94" Type="http://schemas.openxmlformats.org/officeDocument/2006/relationships/font" Target="fonts/HelveticaNeue-regular.fntdata"/><Relationship Id="rId97" Type="http://schemas.openxmlformats.org/officeDocument/2006/relationships/font" Target="fonts/HelveticaNeue-boldItalic.fntdata"/><Relationship Id="rId96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8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font" Target="fonts/RobotoCondensedLight-bold.fntdata"/><Relationship Id="rId90" Type="http://schemas.openxmlformats.org/officeDocument/2006/relationships/font" Target="fonts/RobotoCondensedLight-regular.fntdata"/><Relationship Id="rId93" Type="http://schemas.openxmlformats.org/officeDocument/2006/relationships/font" Target="fonts/RobotoCondensedLight-boldItalic.fntdata"/><Relationship Id="rId92" Type="http://schemas.openxmlformats.org/officeDocument/2006/relationships/font" Target="fonts/RobotoCondensedLight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font" Target="fonts/RobotoCondensed-regular.fntdata"/><Relationship Id="rId85" Type="http://schemas.openxmlformats.org/officeDocument/2006/relationships/slide" Target="slides/slide80.xml"/><Relationship Id="rId88" Type="http://schemas.openxmlformats.org/officeDocument/2006/relationships/font" Target="fonts/RobotoCondensed-italic.fntdata"/><Relationship Id="rId87" Type="http://schemas.openxmlformats.org/officeDocument/2006/relationships/font" Target="fonts/RobotoCondensed-bold.fntdata"/><Relationship Id="rId89" Type="http://schemas.openxmlformats.org/officeDocument/2006/relationships/font" Target="fonts/RobotoCondensed-boldItalic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10" Type="http://schemas.openxmlformats.org/officeDocument/2006/relationships/image" Target="../media/image7.png"/><Relationship Id="rId9" Type="http://schemas.openxmlformats.org/officeDocument/2006/relationships/image" Target="../media/image18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10" Type="http://schemas.openxmlformats.org/officeDocument/2006/relationships/image" Target="../media/image7.png"/><Relationship Id="rId9" Type="http://schemas.openxmlformats.org/officeDocument/2006/relationships/image" Target="../media/image23.jp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Maroon">
  <p:cSld name="Title Slide - Maroon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cdn5.vectorstock.com/i/1000x1000/21/59/dbms-database-management-system-computer-data-vector-8212159.jpg" id="13" name="Google Shape;13;p84"/>
          <p:cNvPicPr preferRelativeResize="0"/>
          <p:nvPr/>
        </p:nvPicPr>
        <p:blipFill rotWithShape="1">
          <a:blip r:embed="rId2">
            <a:alphaModFix/>
          </a:blip>
          <a:srcRect b="18089" l="6294" r="5315" t="9689"/>
          <a:stretch/>
        </p:blipFill>
        <p:spPr>
          <a:xfrm>
            <a:off x="8407803" y="2089594"/>
            <a:ext cx="2880000" cy="267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84"/>
          <p:cNvPicPr preferRelativeResize="0"/>
          <p:nvPr/>
        </p:nvPicPr>
        <p:blipFill rotWithShape="1">
          <a:blip r:embed="rId3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4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6" name="Google Shape;16;p84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" name="Google Shape;17;p84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8" name="Google Shape;18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84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84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" name="Google Shape;21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84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4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84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84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1800"/>
              <a:buNone/>
              <a:defRPr b="1" sz="1800">
                <a:solidFill>
                  <a:srgbClr val="5C232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" name="Google Shape;27;p8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84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84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30" name="Google Shape;30;p84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" name="Google Shape;31;p84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descr="https://cdn5.vectorstock.com/i/1000x1000/21/59/dbms-database-management-system-computer-data-vector-8212159.jpg" id="32" name="Google Shape;32;p84"/>
          <p:cNvPicPr preferRelativeResize="0"/>
          <p:nvPr/>
        </p:nvPicPr>
        <p:blipFill rotWithShape="1">
          <a:blip r:embed="rId2">
            <a:alphaModFix/>
          </a:blip>
          <a:srcRect b="18089" l="6294" r="5315" t="9689"/>
          <a:stretch/>
        </p:blipFill>
        <p:spPr>
          <a:xfrm>
            <a:off x="8453395" y="1794986"/>
            <a:ext cx="2880000" cy="2678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5"/>
          <p:cNvPicPr preferRelativeResize="0"/>
          <p:nvPr/>
        </p:nvPicPr>
        <p:blipFill rotWithShape="1">
          <a:blip r:embed="rId2">
            <a:alphaModFix/>
          </a:blip>
          <a:srcRect b="21179" l="0" r="11581" t="0"/>
          <a:stretch/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85"/>
          <p:cNvPicPr preferRelativeResize="0"/>
          <p:nvPr/>
        </p:nvPicPr>
        <p:blipFill rotWithShape="1">
          <a:blip r:embed="rId3">
            <a:alphaModFix/>
          </a:blip>
          <a:srcRect b="17724" l="79646" r="2730" t="18062"/>
          <a:stretch/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  <a:defRPr b="1" sz="6000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/>
        </p:txBody>
      </p:sp>
      <p:sp>
        <p:nvSpPr>
          <p:cNvPr id="38" name="Google Shape;38;p85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Logo on BR">
  <p:cSld name="Title and Content - Logo on B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6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41" name="Google Shape;41;p86"/>
          <p:cNvPicPr preferRelativeResize="0"/>
          <p:nvPr/>
        </p:nvPicPr>
        <p:blipFill rotWithShape="1">
          <a:blip r:embed="rId2">
            <a:alphaModFix/>
          </a:blip>
          <a:srcRect b="3534" l="0" r="1768" t="86739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6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b="1" sz="34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6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indent="-355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302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4" name="Google Shape;44;p86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" name="Google Shape;45;p86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Logo on TR">
  <p:cSld name="Title and Content - Logo on T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7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48" name="Google Shape;48;p87"/>
          <p:cNvPicPr preferRelativeResize="0"/>
          <p:nvPr/>
        </p:nvPicPr>
        <p:blipFill rotWithShape="1">
          <a:blip r:embed="rId2">
            <a:alphaModFix/>
          </a:blip>
          <a:srcRect b="3534" l="0" r="1768" t="86739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7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b="1" sz="34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7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indent="-355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302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1" name="Google Shape;51;p87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" name="Google Shape;52;p87"/>
          <p:cNvCxnSpPr/>
          <p:nvPr/>
        </p:nvCxnSpPr>
        <p:spPr>
          <a:xfrm>
            <a:off x="131180" y="66040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Logo on BL">
  <p:cSld name="Title and Content - Logo on BL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5" name="Google Shape;55;p88"/>
          <p:cNvPicPr preferRelativeResize="0"/>
          <p:nvPr/>
        </p:nvPicPr>
        <p:blipFill rotWithShape="1">
          <a:blip r:embed="rId2">
            <a:alphaModFix/>
          </a:blip>
          <a:srcRect b="3534" l="0" r="1768" t="86739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8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b="1" sz="34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8"/>
          <p:cNvSpPr txBox="1"/>
          <p:nvPr>
            <p:ph idx="1" type="body"/>
          </p:nvPr>
        </p:nvSpPr>
        <p:spPr>
          <a:xfrm>
            <a:off x="131175" y="863450"/>
            <a:ext cx="11929500" cy="56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indent="-355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302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8" name="Google Shape;58;p88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" name="Google Shape;59;p8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- Maroon">
  <p:cSld name="1_Title Slide - Maro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9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9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63" name="Google Shape;63;p89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4" name="Google Shape;64;p89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65" name="Google Shape;65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89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7" name="Google Shape;67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9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89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89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89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1800"/>
              <a:buNone/>
              <a:defRPr b="1" sz="1800">
                <a:solidFill>
                  <a:srgbClr val="5C232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3" name="Google Shape;73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9"/>
          <p:cNvPicPr preferRelativeResize="0"/>
          <p:nvPr/>
        </p:nvPicPr>
        <p:blipFill rotWithShape="1">
          <a:blip r:embed="rId7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9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76" name="Google Shape;76;p89"/>
          <p:cNvPicPr preferRelativeResize="0"/>
          <p:nvPr/>
        </p:nvPicPr>
        <p:blipFill rotWithShape="1">
          <a:blip r:embed="rId8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" name="Google Shape;77;p89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89"/>
          <p:cNvSpPr/>
          <p:nvPr/>
        </p:nvSpPr>
        <p:spPr>
          <a:xfrm rot="5400000">
            <a:off x="4309292" y="1717040"/>
            <a:ext cx="3461658" cy="2984188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F2F2F2"/>
          </a:solidFill>
          <a:ln cap="flat" cmpd="sng" w="57150">
            <a:solidFill>
              <a:schemeClr val="accent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9" name="Google Shape;79;p89"/>
          <p:cNvSpPr txBox="1"/>
          <p:nvPr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</a:t>
            </a:r>
            <a:endParaRPr b="1" i="1" sz="6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0" name="Google Shape;80;p89"/>
          <p:cNvSpPr/>
          <p:nvPr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86333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1" name="Google Shape;81;p89"/>
          <p:cNvSpPr/>
          <p:nvPr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86333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efault Color">
  <p:cSld name="Title Slide - Default Colo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90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90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85" name="Google Shape;85;p90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dk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" name="Google Shape;86;p90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dk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87" name="Google Shape;87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90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p90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1" name="Google Shape;91;p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0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90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90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90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1800"/>
              <a:buNone/>
              <a:defRPr b="1" sz="1800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7" name="Google Shape;97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0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90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0" name="Google Shape;100;p90"/>
          <p:cNvPicPr preferRelativeResize="0"/>
          <p:nvPr/>
        </p:nvPicPr>
        <p:blipFill rotWithShape="1">
          <a:blip r:embed="rId9">
            <a:alphaModFix/>
          </a:blip>
          <a:srcRect b="22103" l="144383" r="-144383" t="-16142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icon Royalty Free Vector Image - VectorStock" id="101" name="Google Shape;101;p90"/>
          <p:cNvPicPr preferRelativeResize="0"/>
          <p:nvPr/>
        </p:nvPicPr>
        <p:blipFill rotWithShape="1">
          <a:blip r:embed="rId10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90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k - Logo on TR">
  <p:cSld name="Blanck - Logo on T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1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05" name="Google Shape;105;p91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k - Logo on BR">
  <p:cSld name="Blanck - Logo on B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2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08" name="Google Shape;108;p92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k - Logo on BL">
  <p:cSld name="Blanck - Logo on BL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3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11" name="Google Shape;111;p93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 Blanck">
  <p:cSld name="Complete Blanc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lete Blanck">
  <p:cSld name="1_Complete Blanc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5"/>
          <p:cNvSpPr txBox="1"/>
          <p:nvPr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 to Crop Circular Photo?</a:t>
            </a:r>
            <a:endParaRPr/>
          </a:p>
        </p:txBody>
      </p:sp>
      <p:sp>
        <p:nvSpPr>
          <p:cNvPr id="115" name="Google Shape;115;p95"/>
          <p:cNvSpPr/>
          <p:nvPr>
            <p:ph idx="2" type="pic"/>
          </p:nvPr>
        </p:nvSpPr>
        <p:spPr>
          <a:xfrm>
            <a:off x="4013200" y="1808163"/>
            <a:ext cx="3890962" cy="389096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Teal">
  <p:cSld name="Title Slide - Teal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96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96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19" name="Google Shape;119;p96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D3B"/>
              </a:gs>
              <a:gs pos="10000">
                <a:srgbClr val="0E4D3B"/>
              </a:gs>
              <a:gs pos="100000">
                <a:srgbClr val="009788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" name="Google Shape;120;p96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D3B"/>
              </a:gs>
              <a:gs pos="10000">
                <a:srgbClr val="0E4D3B"/>
              </a:gs>
              <a:gs pos="100000">
                <a:srgbClr val="009788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21" name="Google Shape;12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96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96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5" name="Google Shape;125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6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96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96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96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4D3B"/>
              </a:buClr>
              <a:buSzPts val="1800"/>
              <a:buNone/>
              <a:defRPr b="1" sz="1800">
                <a:solidFill>
                  <a:srgbClr val="0E4D3B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1" name="Google Shape;131;p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96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6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134" name="Google Shape;134;p96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96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Cyan">
  <p:cSld name="Title Slide - Cya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7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7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39" name="Google Shape;139;p97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05D69"/>
              </a:gs>
              <a:gs pos="10000">
                <a:srgbClr val="005D69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0" name="Google Shape;140;p97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05D69"/>
              </a:gs>
              <a:gs pos="10000">
                <a:srgbClr val="005D69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41" name="Google Shape;141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97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97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5" name="Google Shape;145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7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97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97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97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69"/>
              </a:buClr>
              <a:buSzPts val="1800"/>
              <a:buNone/>
              <a:defRPr b="1" sz="1800">
                <a:solidFill>
                  <a:srgbClr val="005D6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1" name="Google Shape;151;p9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97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97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154" name="Google Shape;154;p97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" name="Google Shape;155;p97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Light Green">
  <p:cSld name="Title Slide - Light Green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98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8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59" name="Google Shape;159;p98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456220"/>
              </a:gs>
              <a:gs pos="10000">
                <a:srgbClr val="456220"/>
              </a:gs>
              <a:gs pos="100000">
                <a:schemeClr val="accent3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0" name="Google Shape;160;p98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456220"/>
              </a:gs>
              <a:gs pos="10000">
                <a:srgbClr val="456220"/>
              </a:gs>
              <a:gs pos="100000">
                <a:schemeClr val="accent3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61" name="Google Shape;161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98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98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5" name="Google Shape;165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8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98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98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98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6220"/>
              </a:buClr>
              <a:buSzPts val="1800"/>
              <a:buNone/>
              <a:defRPr b="1" sz="1800">
                <a:solidFill>
                  <a:srgbClr val="45622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1" name="Google Shape;171;p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98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8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174" name="Google Shape;174;p98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p98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mber">
  <p:cSld name="Title Slide - Amber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99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9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79" name="Google Shape;179;p99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7D4F07"/>
              </a:gs>
              <a:gs pos="10000">
                <a:srgbClr val="7D4F07"/>
              </a:gs>
              <a:gs pos="100000">
                <a:schemeClr val="accent5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0" name="Google Shape;180;p99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7D4F07"/>
              </a:gs>
              <a:gs pos="10000">
                <a:srgbClr val="7D4F07"/>
              </a:gs>
              <a:gs pos="100000">
                <a:schemeClr val="accent5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81" name="Google Shape;181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99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p99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5" name="Google Shape;185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9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99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99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99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C770B"/>
              </a:buClr>
              <a:buSzPts val="1800"/>
              <a:buNone/>
              <a:defRPr b="1" sz="180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1" name="Google Shape;191;p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99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9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194" name="Google Shape;194;p99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p99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Blue Gray">
  <p:cSld name="Title Slide - Blue Gray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00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0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99" name="Google Shape;199;p100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273238"/>
              </a:gs>
              <a:gs pos="10000">
                <a:srgbClr val="273238"/>
              </a:gs>
              <a:gs pos="100000">
                <a:srgbClr val="607D8B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00" name="Google Shape;200;p100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273238"/>
              </a:gs>
              <a:gs pos="10000">
                <a:srgbClr val="273238"/>
              </a:gs>
              <a:gs pos="100000">
                <a:srgbClr val="607D8B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01" name="Google Shape;20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100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100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5" name="Google Shape;205;p1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0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100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100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100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8"/>
              </a:buClr>
              <a:buSzPts val="1800"/>
              <a:buNone/>
              <a:defRPr b="1" sz="1800">
                <a:solidFill>
                  <a:srgbClr val="273238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1" name="Google Shape;211;p1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00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0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14" name="Google Shape;214;p100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5" name="Google Shape;215;p100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Brown">
  <p:cSld name="Title Slide - Brown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01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1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19" name="Google Shape;219;p101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3E2622"/>
              </a:gs>
              <a:gs pos="10000">
                <a:srgbClr val="3E2622"/>
              </a:gs>
              <a:gs pos="100000">
                <a:srgbClr val="795547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0" name="Google Shape;220;p101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3E2622"/>
              </a:gs>
              <a:gs pos="10000">
                <a:srgbClr val="3E2622"/>
              </a:gs>
              <a:gs pos="100000">
                <a:srgbClr val="795547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21" name="Google Shape;22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101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4" name="Google Shape;224;p101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5" name="Google Shape;225;p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1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101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101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101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2622"/>
              </a:buClr>
              <a:buSzPts val="1800"/>
              <a:buNone/>
              <a:defRPr b="1" sz="1800">
                <a:solidFill>
                  <a:srgbClr val="3E262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1" name="Google Shape;231;p1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01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1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34" name="Google Shape;234;p101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p101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eep Puple">
  <p:cSld name="Title Slide - Deep Puple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02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2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39" name="Google Shape;239;p102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301B92"/>
              </a:gs>
              <a:gs pos="10000">
                <a:srgbClr val="301B92"/>
              </a:gs>
              <a:gs pos="100000">
                <a:srgbClr val="673BB7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0" name="Google Shape;240;p102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301B92"/>
              </a:gs>
              <a:gs pos="10000">
                <a:srgbClr val="301B92"/>
              </a:gs>
              <a:gs pos="100000">
                <a:srgbClr val="673BB7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41" name="Google Shape;241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102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4" name="Google Shape;244;p102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5" name="Google Shape;245;p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02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102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102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p102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1B92"/>
              </a:buClr>
              <a:buSzPts val="1800"/>
              <a:buNone/>
              <a:defRPr b="1" sz="180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51" name="Google Shape;251;p10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02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2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54" name="Google Shape;254;p102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5" name="Google Shape;255;p102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Blue">
  <p:cSld name="Title Slide - Blue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03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03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59" name="Google Shape;259;p103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7A1"/>
              </a:gs>
              <a:gs pos="10000">
                <a:srgbClr val="0E47A1"/>
              </a:gs>
              <a:gs pos="100000">
                <a:srgbClr val="03A9F5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0" name="Google Shape;260;p103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">
                <a:srgbClr val="0E47A1"/>
              </a:gs>
              <a:gs pos="100000">
                <a:srgbClr val="03A9F5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61" name="Google Shape;261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103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4" name="Google Shape;264;p103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5" name="Google Shape;265;p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0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03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103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p103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0" name="Google Shape;270;p103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47A1"/>
              </a:buClr>
              <a:buSzPts val="1800"/>
              <a:buNone/>
              <a:defRPr b="1" sz="1800">
                <a:solidFill>
                  <a:srgbClr val="0E47A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1" name="Google Shape;271;p10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03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03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74" name="Google Shape;274;p103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5" name="Google Shape;275;p103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ed">
  <p:cSld name="Title Slide - Red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104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4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79" name="Google Shape;279;p104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0" name="Google Shape;280;p104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81" name="Google Shape;281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104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4" name="Google Shape;284;p104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5" name="Google Shape;285;p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0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04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" name="Google Shape;288;p104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p104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104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1B1C"/>
              </a:buClr>
              <a:buSzPts val="1800"/>
              <a:buNone/>
              <a:defRPr b="1" sz="1800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91" name="Google Shape;291;p10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04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4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94" name="Google Shape;294;p104"/>
          <p:cNvPicPr preferRelativeResize="0"/>
          <p:nvPr/>
        </p:nvPicPr>
        <p:blipFill rotWithShape="1">
          <a:blip r:embed="rId9">
            <a:alphaModFix/>
          </a:blip>
          <a:srcRect b="18186" l="24746" r="25760" t="7575"/>
          <a:stretch/>
        </p:blipFill>
        <p:spPr>
          <a:xfrm>
            <a:off x="356499" y="5214354"/>
            <a:ext cx="1354234" cy="1354234"/>
          </a:xfrm>
          <a:custGeom>
            <a:rect b="b" l="l" r="r" t="t"/>
            <a:pathLst>
              <a:path extrusionOk="0" h="4572000" w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User icon Royalty Free Vector Image - VectorStock" id="295" name="Google Shape;295;p104"/>
          <p:cNvPicPr preferRelativeResize="0"/>
          <p:nvPr/>
        </p:nvPicPr>
        <p:blipFill rotWithShape="1">
          <a:blip r:embed="rId10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6" name="Google Shape;296;p104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Pink">
  <p:cSld name="Title Slide - Pink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05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5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300" name="Google Shape;300;p105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890E4F"/>
              </a:gs>
              <a:gs pos="10000">
                <a:srgbClr val="890E4F"/>
              </a:gs>
              <a:gs pos="100000">
                <a:srgbClr val="D81A60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1" name="Google Shape;301;p105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890E4F"/>
              </a:gs>
              <a:gs pos="10000">
                <a:srgbClr val="890E4F"/>
              </a:gs>
              <a:gs pos="100000">
                <a:srgbClr val="D81A60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02" name="Google Shape;302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p105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5" name="Google Shape;305;p105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6" name="Google Shape;306;p1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0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05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9" name="Google Shape;309;p105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105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1" name="Google Shape;311;p105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90E4F"/>
              </a:buClr>
              <a:buSzPts val="1800"/>
              <a:buNone/>
              <a:defRPr b="1" sz="1800">
                <a:solidFill>
                  <a:srgbClr val="890E4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2" name="Google Shape;312;p10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05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05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315" name="Google Shape;315;p105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6" name="Google Shape;316;p105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Condensed"/>
              <a:buNone/>
              <a:defRPr b="0" i="0" sz="44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2"/>
          <p:cNvCxnSpPr>
            <a:endCxn id="322" idx="0"/>
          </p:cNvCxnSpPr>
          <p:nvPr/>
        </p:nvCxnSpPr>
        <p:spPr>
          <a:xfrm>
            <a:off x="1191446" y="106"/>
            <a:ext cx="0" cy="6828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3" name="Google Shape;323;p2"/>
          <p:cNvCxnSpPr/>
          <p:nvPr/>
        </p:nvCxnSpPr>
        <p:spPr>
          <a:xfrm>
            <a:off x="1191446" y="5063613"/>
            <a:ext cx="0" cy="1794387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2" name="Google Shape;322;p2"/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✓</a:t>
            </a:r>
            <a:endParaRPr sz="2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4" name="Google Shape;324;p2"/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Looping</a:t>
            </a:r>
            <a:endParaRPr/>
          </a:p>
        </p:txBody>
      </p:sp>
      <p:cxnSp>
        <p:nvCxnSpPr>
          <p:cNvPr id="325" name="Google Shape;325;p2"/>
          <p:cNvCxnSpPr/>
          <p:nvPr/>
        </p:nvCxnSpPr>
        <p:spPr>
          <a:xfrm>
            <a:off x="1191446" y="1157468"/>
            <a:ext cx="0" cy="3979075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6" name="Google Shape;326;p2"/>
          <p:cNvSpPr txBox="1"/>
          <p:nvPr/>
        </p:nvSpPr>
        <p:spPr>
          <a:xfrm>
            <a:off x="1458962" y="731706"/>
            <a:ext cx="6824426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Outline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Structure of Relational Databases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Key</a:t>
            </a:r>
            <a:endParaRPr b="0" i="0" sz="2400" u="none" cap="none" strike="noStrike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Relational Algebra</a:t>
            </a:r>
            <a:endParaRPr b="0" i="0" sz="2400" u="none" cap="none" strike="noStrike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Fundamental Operators and Syntax</a:t>
            </a:r>
            <a:endParaRPr/>
          </a:p>
          <a:p>
            <a:pPr indent="-342900" lvl="3" marL="17145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Selection</a:t>
            </a:r>
            <a:endParaRPr b="0" i="0" sz="2000" u="none" cap="none" strike="noStrike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42900" lvl="3" marL="17145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Projection</a:t>
            </a:r>
            <a:endParaRPr b="0" i="0" sz="2000" u="none" cap="none" strike="noStrike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42900" lvl="3" marL="17145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Cross Product OR Cartesian Product</a:t>
            </a:r>
            <a:endParaRPr/>
          </a:p>
          <a:p>
            <a:pPr indent="-342900" lvl="3" marL="17145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Joins</a:t>
            </a:r>
            <a:endParaRPr/>
          </a:p>
          <a:p>
            <a:pPr indent="-342900" lvl="3" marL="17145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Set Operators</a:t>
            </a:r>
            <a:endParaRPr b="0" i="0" sz="2000" u="none" cap="none" strike="noStrike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42900" lvl="3" marL="17145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Division</a:t>
            </a:r>
            <a:endParaRPr b="0" i="0" sz="2000" u="none" cap="none" strike="noStrike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42900" lvl="3" marL="17145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Rename</a:t>
            </a:r>
            <a:endParaRPr/>
          </a:p>
          <a:p>
            <a:pPr indent="-342900" lvl="3" marL="17145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Aggregate Functions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Open Source and Commercial DBMS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Structure of Relational Databases </a:t>
            </a:r>
            <a:endParaRPr>
              <a:solidFill>
                <a:srgbClr val="5C2321"/>
              </a:solidFill>
            </a:endParaRPr>
          </a:p>
        </p:txBody>
      </p:sp>
      <p:sp>
        <p:nvSpPr>
          <p:cNvPr id="332" name="Google Shape;332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Structure of Relational Databases</a:t>
            </a:r>
            <a:endParaRPr/>
          </a:p>
        </p:txBody>
      </p:sp>
      <p:sp>
        <p:nvSpPr>
          <p:cNvPr id="338" name="Google Shape;338;p4"/>
          <p:cNvSpPr txBox="1"/>
          <p:nvPr>
            <p:ph idx="1" type="body"/>
          </p:nvPr>
        </p:nvSpPr>
        <p:spPr>
          <a:xfrm>
            <a:off x="146420" y="84820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aphicFrame>
        <p:nvGraphicFramePr>
          <p:cNvPr id="339" name="Google Shape;339;p4"/>
          <p:cNvGraphicFramePr/>
          <p:nvPr/>
        </p:nvGraphicFramePr>
        <p:xfrm>
          <a:off x="2300748" y="19281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7575"/>
                <a:gridCol w="878200"/>
                <a:gridCol w="11068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Semester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Mayur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106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Tarun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0" name="Google Shape;340;p4"/>
          <p:cNvGraphicFramePr/>
          <p:nvPr/>
        </p:nvGraphicFramePr>
        <p:xfrm>
          <a:off x="2300690" y="15590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sp>
        <p:nvSpPr>
          <p:cNvPr id="341" name="Google Shape;341;p4"/>
          <p:cNvSpPr txBox="1"/>
          <p:nvPr/>
        </p:nvSpPr>
        <p:spPr>
          <a:xfrm>
            <a:off x="189057" y="3140055"/>
            <a:ext cx="127268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Rows 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Tuples or Records </a:t>
            </a:r>
            <a:r>
              <a:rPr b="1" lang="en-US" sz="18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(7)</a:t>
            </a:r>
            <a:endParaRPr b="1" sz="180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42" name="Google Shape;342;p4"/>
          <p:cNvCxnSpPr/>
          <p:nvPr/>
        </p:nvCxnSpPr>
        <p:spPr>
          <a:xfrm flipH="1">
            <a:off x="2757979" y="1253825"/>
            <a:ext cx="1655400" cy="6711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3" name="Google Shape;343;p4"/>
          <p:cNvCxnSpPr/>
          <p:nvPr/>
        </p:nvCxnSpPr>
        <p:spPr>
          <a:xfrm>
            <a:off x="4413379" y="1253825"/>
            <a:ext cx="1870561" cy="67056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4" name="Google Shape;344;p4"/>
          <p:cNvCxnSpPr/>
          <p:nvPr/>
        </p:nvCxnSpPr>
        <p:spPr>
          <a:xfrm>
            <a:off x="4413379" y="1253825"/>
            <a:ext cx="1029186" cy="67056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5" name="Google Shape;345;p4"/>
          <p:cNvCxnSpPr/>
          <p:nvPr/>
        </p:nvCxnSpPr>
        <p:spPr>
          <a:xfrm flipH="1">
            <a:off x="4413378" y="1253825"/>
            <a:ext cx="2" cy="690364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6" name="Google Shape;346;p4"/>
          <p:cNvCxnSpPr/>
          <p:nvPr/>
        </p:nvCxnSpPr>
        <p:spPr>
          <a:xfrm flipH="1">
            <a:off x="3543915" y="1253825"/>
            <a:ext cx="869464" cy="67056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7" name="Google Shape;347;p4"/>
          <p:cNvCxnSpPr>
            <a:stCxn id="341" idx="3"/>
          </p:cNvCxnSpPr>
          <p:nvPr/>
        </p:nvCxnSpPr>
        <p:spPr>
          <a:xfrm flipH="1" rot="10800000">
            <a:off x="1461745" y="2509120"/>
            <a:ext cx="834900" cy="10926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8" name="Google Shape;348;p4"/>
          <p:cNvCxnSpPr>
            <a:stCxn id="341" idx="3"/>
          </p:cNvCxnSpPr>
          <p:nvPr/>
        </p:nvCxnSpPr>
        <p:spPr>
          <a:xfrm flipH="1" rot="10800000">
            <a:off x="1461745" y="2948920"/>
            <a:ext cx="834900" cy="6528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9" name="Google Shape;349;p4"/>
          <p:cNvCxnSpPr>
            <a:stCxn id="341" idx="3"/>
          </p:cNvCxnSpPr>
          <p:nvPr/>
        </p:nvCxnSpPr>
        <p:spPr>
          <a:xfrm flipH="1" rot="10800000">
            <a:off x="1461745" y="3360520"/>
            <a:ext cx="834900" cy="2412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50" name="Google Shape;350;p4"/>
          <p:cNvCxnSpPr>
            <a:stCxn id="341" idx="3"/>
          </p:cNvCxnSpPr>
          <p:nvPr/>
        </p:nvCxnSpPr>
        <p:spPr>
          <a:xfrm>
            <a:off x="1461745" y="3601720"/>
            <a:ext cx="834900" cy="2082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51" name="Google Shape;351;p4"/>
          <p:cNvCxnSpPr>
            <a:stCxn id="341" idx="3"/>
          </p:cNvCxnSpPr>
          <p:nvPr/>
        </p:nvCxnSpPr>
        <p:spPr>
          <a:xfrm>
            <a:off x="1461745" y="3601720"/>
            <a:ext cx="834900" cy="5892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52" name="Google Shape;352;p4"/>
          <p:cNvSpPr txBox="1"/>
          <p:nvPr/>
        </p:nvSpPr>
        <p:spPr>
          <a:xfrm>
            <a:off x="3715799" y="872665"/>
            <a:ext cx="1371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Columns </a:t>
            </a:r>
            <a:r>
              <a:rPr b="1" lang="en-US" sz="18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(5)</a:t>
            </a:r>
            <a:endParaRPr b="1" sz="180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53" name="Google Shape;353;p4"/>
          <p:cNvCxnSpPr/>
          <p:nvPr/>
        </p:nvCxnSpPr>
        <p:spPr>
          <a:xfrm rot="10800000">
            <a:off x="2249298" y="5400794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54" name="Google Shape;354;p4"/>
          <p:cNvSpPr txBox="1"/>
          <p:nvPr/>
        </p:nvSpPr>
        <p:spPr>
          <a:xfrm>
            <a:off x="3041778" y="5193268"/>
            <a:ext cx="289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Degree = No of columns </a:t>
            </a:r>
            <a:r>
              <a:rPr b="1" lang="en-US" sz="18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(5)</a:t>
            </a:r>
            <a:endParaRPr b="1" sz="180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55" name="Google Shape;355;p4"/>
          <p:cNvSpPr txBox="1"/>
          <p:nvPr/>
        </p:nvSpPr>
        <p:spPr>
          <a:xfrm rot="-5400000">
            <a:off x="5579113" y="3607184"/>
            <a:ext cx="25603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Cardinality = No of tuples </a:t>
            </a:r>
            <a:r>
              <a:rPr b="1" lang="en-US" sz="1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(7)</a:t>
            </a:r>
            <a:endParaRPr b="1" sz="160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56" name="Google Shape;356;p4"/>
          <p:cNvCxnSpPr>
            <a:stCxn id="341" idx="3"/>
          </p:cNvCxnSpPr>
          <p:nvPr/>
        </p:nvCxnSpPr>
        <p:spPr>
          <a:xfrm>
            <a:off x="1461745" y="3601720"/>
            <a:ext cx="834900" cy="14532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57" name="Google Shape;357;p4"/>
          <p:cNvCxnSpPr/>
          <p:nvPr/>
        </p:nvCxnSpPr>
        <p:spPr>
          <a:xfrm>
            <a:off x="5762118" y="5400794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58" name="Google Shape;358;p4"/>
          <p:cNvCxnSpPr/>
          <p:nvPr/>
        </p:nvCxnSpPr>
        <p:spPr>
          <a:xfrm flipH="1">
            <a:off x="6522767" y="2345489"/>
            <a:ext cx="592722" cy="339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59" name="Google Shape;359;p4"/>
          <p:cNvCxnSpPr/>
          <p:nvPr/>
        </p:nvCxnSpPr>
        <p:spPr>
          <a:xfrm rot="10800000">
            <a:off x="6529730" y="5193463"/>
            <a:ext cx="585759" cy="31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60" name="Google Shape;360;p4"/>
          <p:cNvSpPr txBox="1"/>
          <p:nvPr/>
        </p:nvSpPr>
        <p:spPr>
          <a:xfrm>
            <a:off x="1276478" y="5638800"/>
            <a:ext cx="6309360" cy="646331"/>
          </a:xfrm>
          <a:prstGeom prst="rect">
            <a:avLst/>
          </a:prstGeom>
          <a:solidFill>
            <a:srgbClr val="F0D9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Domain</a:t>
            </a: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a set of </a:t>
            </a:r>
            <a:r>
              <a:rPr b="1"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 possible unique values </a:t>
            </a: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a specific column.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Domain of Branch attribute is (CE, CI, ME, EE)</a:t>
            </a:r>
            <a:endParaRPr/>
          </a:p>
        </p:txBody>
      </p:sp>
      <p:cxnSp>
        <p:nvCxnSpPr>
          <p:cNvPr id="361" name="Google Shape;361;p4"/>
          <p:cNvCxnSpPr>
            <a:stCxn id="341" idx="3"/>
          </p:cNvCxnSpPr>
          <p:nvPr/>
        </p:nvCxnSpPr>
        <p:spPr>
          <a:xfrm>
            <a:off x="1461745" y="3601720"/>
            <a:ext cx="834900" cy="9930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62" name="Google Shape;362;p4"/>
          <p:cNvSpPr/>
          <p:nvPr/>
        </p:nvSpPr>
        <p:spPr>
          <a:xfrm>
            <a:off x="318697" y="1753504"/>
            <a:ext cx="1620000" cy="787344"/>
          </a:xfrm>
          <a:prstGeom prst="roundRect">
            <a:avLst>
              <a:gd fmla="val 394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Attributes: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Title of column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63" name="Google Shape;363;p4"/>
          <p:cNvCxnSpPr/>
          <p:nvPr/>
        </p:nvCxnSpPr>
        <p:spPr>
          <a:xfrm>
            <a:off x="1756628" y="2147176"/>
            <a:ext cx="54000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64" name="Google Shape;364;p4"/>
          <p:cNvSpPr txBox="1"/>
          <p:nvPr/>
        </p:nvSpPr>
        <p:spPr>
          <a:xfrm>
            <a:off x="7286939" y="926453"/>
            <a:ext cx="4789122" cy="914400"/>
          </a:xfrm>
          <a:prstGeom prst="rect">
            <a:avLst/>
          </a:prstGeom>
          <a:solidFill>
            <a:srgbClr val="F0D9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Table (Relation)</a:t>
            </a: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A database object that holds a collection of data for a specific topic. 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Table consist of rows and columns.</a:t>
            </a:r>
            <a:endParaRPr/>
          </a:p>
        </p:txBody>
      </p:sp>
      <p:sp>
        <p:nvSpPr>
          <p:cNvPr id="365" name="Google Shape;365;p4"/>
          <p:cNvSpPr txBox="1"/>
          <p:nvPr/>
        </p:nvSpPr>
        <p:spPr>
          <a:xfrm>
            <a:off x="7286939" y="2189983"/>
            <a:ext cx="4789122" cy="914400"/>
          </a:xfrm>
          <a:prstGeom prst="rect">
            <a:avLst/>
          </a:prstGeom>
          <a:solidFill>
            <a:srgbClr val="F0D9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Column (Attribute)</a:t>
            </a: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The vertical component of a table. A column has a name and a particular data type; e.g. varchar, decimal, integer, datetime etc.</a:t>
            </a:r>
            <a:endParaRPr/>
          </a:p>
        </p:txBody>
      </p:sp>
      <p:sp>
        <p:nvSpPr>
          <p:cNvPr id="366" name="Google Shape;366;p4"/>
          <p:cNvSpPr txBox="1"/>
          <p:nvPr/>
        </p:nvSpPr>
        <p:spPr>
          <a:xfrm>
            <a:off x="7286939" y="3453513"/>
            <a:ext cx="4789122" cy="914400"/>
          </a:xfrm>
          <a:prstGeom prst="rect">
            <a:avLst/>
          </a:prstGeom>
          <a:solidFill>
            <a:srgbClr val="F0D9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Record (Tuple)</a:t>
            </a: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The horizontal component of a table, consisting of a sequence of values, one for each column of the table. It is also known as row.</a:t>
            </a:r>
            <a:endParaRPr/>
          </a:p>
        </p:txBody>
      </p:sp>
      <p:sp>
        <p:nvSpPr>
          <p:cNvPr id="367" name="Google Shape;367;p4"/>
          <p:cNvSpPr txBox="1"/>
          <p:nvPr/>
        </p:nvSpPr>
        <p:spPr>
          <a:xfrm>
            <a:off x="7286939" y="4717042"/>
            <a:ext cx="4789122" cy="685800"/>
          </a:xfrm>
          <a:prstGeom prst="rect">
            <a:avLst/>
          </a:prstGeom>
          <a:solidFill>
            <a:srgbClr val="F0D9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database consists of a collection of tables (relations), each having a unique name.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Key </a:t>
            </a:r>
            <a:endParaRPr>
              <a:solidFill>
                <a:srgbClr val="5C2321"/>
              </a:solidFill>
            </a:endParaRPr>
          </a:p>
        </p:txBody>
      </p:sp>
      <p:sp>
        <p:nvSpPr>
          <p:cNvPr id="373" name="Google Shape;37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Super Key</a:t>
            </a:r>
            <a:endParaRPr/>
          </a:p>
        </p:txBody>
      </p:sp>
      <p:sp>
        <p:nvSpPr>
          <p:cNvPr id="379" name="Google Shape;379;p6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 super key is a set of one or more </a:t>
            </a:r>
            <a:r>
              <a:rPr b="1" lang="en-US">
                <a:solidFill>
                  <a:schemeClr val="accent6"/>
                </a:solidFill>
              </a:rPr>
              <a:t>attributes whose values uniquely identifies each record</a:t>
            </a:r>
            <a:r>
              <a:rPr lang="en-US"/>
              <a:t> within a relation (table).</a:t>
            </a:r>
            <a:endParaRPr/>
          </a:p>
        </p:txBody>
      </p:sp>
      <p:graphicFrame>
        <p:nvGraphicFramePr>
          <p:cNvPr id="380" name="Google Shape;380;p6"/>
          <p:cNvGraphicFramePr/>
          <p:nvPr/>
        </p:nvGraphicFramePr>
        <p:xfrm>
          <a:off x="2663819" y="29770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587825"/>
                <a:gridCol w="844875"/>
                <a:gridCol w="878200"/>
                <a:gridCol w="638500"/>
                <a:gridCol w="551175"/>
                <a:gridCol w="857575"/>
                <a:gridCol w="4635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EnrollNo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Sem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190540107001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190540107002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190540106001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Mayur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190540106002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180540107001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180540106001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Tarun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180540106002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1" name="Google Shape;381;p6"/>
          <p:cNvSpPr/>
          <p:nvPr/>
        </p:nvSpPr>
        <p:spPr>
          <a:xfrm>
            <a:off x="2674185" y="2958206"/>
            <a:ext cx="1584961" cy="3310128"/>
          </a:xfrm>
          <a:prstGeom prst="roundRect">
            <a:avLst>
              <a:gd fmla="val 4514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2" name="Google Shape;382;p6"/>
          <p:cNvSpPr/>
          <p:nvPr/>
        </p:nvSpPr>
        <p:spPr>
          <a:xfrm>
            <a:off x="2521787" y="1874737"/>
            <a:ext cx="1737360" cy="731520"/>
          </a:xfrm>
          <a:prstGeom prst="wedgeRoundRectCallout">
            <a:avLst>
              <a:gd fmla="val -21348" name="adj1"/>
              <a:gd fmla="val 96970" name="adj2"/>
              <a:gd fmla="val 16667" name="adj3"/>
            </a:avLst>
          </a:prstGeom>
          <a:solidFill>
            <a:srgbClr val="FAFAFA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Super Key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EnrollNo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3" name="Google Shape;383;p6"/>
          <p:cNvSpPr/>
          <p:nvPr/>
        </p:nvSpPr>
        <p:spPr>
          <a:xfrm>
            <a:off x="4259146" y="2962971"/>
            <a:ext cx="2363327" cy="3320166"/>
          </a:xfrm>
          <a:prstGeom prst="roundRect">
            <a:avLst>
              <a:gd fmla="val 4514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4" name="Google Shape;384;p6"/>
          <p:cNvSpPr/>
          <p:nvPr/>
        </p:nvSpPr>
        <p:spPr>
          <a:xfrm>
            <a:off x="4531330" y="1874737"/>
            <a:ext cx="2560320" cy="731520"/>
          </a:xfrm>
          <a:prstGeom prst="wedgeRoundRectCallout">
            <a:avLst>
              <a:gd fmla="val -21233" name="adj1"/>
              <a:gd fmla="val 99090" name="adj2"/>
              <a:gd fmla="val 16667" name="adj3"/>
            </a:avLst>
          </a:prstGeom>
          <a:solidFill>
            <a:srgbClr val="FAFAFA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Super Key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(RollNo, Branch, Sem)</a:t>
            </a:r>
            <a:endParaRPr/>
          </a:p>
        </p:txBody>
      </p:sp>
      <p:sp>
        <p:nvSpPr>
          <p:cNvPr id="385" name="Google Shape;385;p6"/>
          <p:cNvSpPr/>
          <p:nvPr/>
        </p:nvSpPr>
        <p:spPr>
          <a:xfrm>
            <a:off x="7363832" y="1873201"/>
            <a:ext cx="1836000" cy="731520"/>
          </a:xfrm>
          <a:prstGeom prst="wedgeRoundRectCallout">
            <a:avLst>
              <a:gd fmla="val -21233" name="adj1"/>
              <a:gd fmla="val 99090" name="adj2"/>
              <a:gd fmla="val 16667" name="adj3"/>
            </a:avLst>
          </a:prstGeom>
          <a:solidFill>
            <a:srgbClr val="FAFAFA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Super Key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(SPI, Name, BL)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6" name="Google Shape;386;p6"/>
          <p:cNvSpPr/>
          <p:nvPr/>
        </p:nvSpPr>
        <p:spPr>
          <a:xfrm>
            <a:off x="7870669" y="1679787"/>
            <a:ext cx="822325" cy="1118347"/>
          </a:xfrm>
          <a:prstGeom prst="mathMultiply">
            <a:avLst>
              <a:gd fmla="val 5659" name="adj1"/>
            </a:avLst>
          </a:prstGeom>
          <a:solidFill>
            <a:srgbClr val="B84742"/>
          </a:solidFill>
          <a:ln cap="flat" cmpd="sng" w="25400">
            <a:solidFill>
              <a:srgbClr val="B84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Candidate Key</a:t>
            </a:r>
            <a:endParaRPr/>
          </a:p>
        </p:txBody>
      </p:sp>
      <p:sp>
        <p:nvSpPr>
          <p:cNvPr id="392" name="Google Shape;392;p7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 candidate key is a </a:t>
            </a:r>
            <a:r>
              <a:rPr b="1" lang="en-US">
                <a:solidFill>
                  <a:schemeClr val="accent6"/>
                </a:solidFill>
              </a:rPr>
              <a:t>subset of a super key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 candidate key is a single attribute or the least combination of attributes that uniquely identifies each record in the table. 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 candidate key is a </a:t>
            </a:r>
            <a:r>
              <a:rPr b="1" lang="en-US">
                <a:solidFill>
                  <a:schemeClr val="accent6"/>
                </a:solidFill>
              </a:rPr>
              <a:t>super key for which no proper subset is a super key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b="1" lang="en-US">
                <a:solidFill>
                  <a:schemeClr val="accent6"/>
                </a:solidFill>
              </a:rPr>
              <a:t>Every candidate key is a super key </a:t>
            </a:r>
            <a:r>
              <a:rPr lang="en-US"/>
              <a:t>but </a:t>
            </a:r>
            <a:r>
              <a:rPr b="1" lang="en-US">
                <a:solidFill>
                  <a:schemeClr val="accent6"/>
                </a:solidFill>
              </a:rPr>
              <a:t>every super key is not a candidate key</a:t>
            </a:r>
            <a:r>
              <a:rPr lang="en-US"/>
              <a:t>.</a:t>
            </a:r>
            <a:endParaRPr/>
          </a:p>
        </p:txBody>
      </p:sp>
      <p:graphicFrame>
        <p:nvGraphicFramePr>
          <p:cNvPr id="393" name="Google Shape;393;p7"/>
          <p:cNvGraphicFramePr/>
          <p:nvPr/>
        </p:nvGraphicFramePr>
        <p:xfrm>
          <a:off x="2663819" y="43347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587825"/>
                <a:gridCol w="844875"/>
                <a:gridCol w="878200"/>
                <a:gridCol w="638500"/>
                <a:gridCol w="551175"/>
                <a:gridCol w="857575"/>
                <a:gridCol w="4635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EnrollNo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Sem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190540107001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180540107002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190540106001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Mayur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180540106002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94" name="Google Shape;394;p7"/>
          <p:cNvSpPr/>
          <p:nvPr/>
        </p:nvSpPr>
        <p:spPr>
          <a:xfrm>
            <a:off x="2674185" y="4315952"/>
            <a:ext cx="1584961" cy="2059982"/>
          </a:xfrm>
          <a:prstGeom prst="roundRect">
            <a:avLst>
              <a:gd fmla="val 4514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2521787" y="3232483"/>
            <a:ext cx="1737360" cy="731520"/>
          </a:xfrm>
          <a:prstGeom prst="wedgeRoundRectCallout">
            <a:avLst>
              <a:gd fmla="val -21348" name="adj1"/>
              <a:gd fmla="val 96970" name="adj2"/>
              <a:gd fmla="val 16667" name="adj3"/>
            </a:avLst>
          </a:prstGeom>
          <a:solidFill>
            <a:srgbClr val="FAFAFA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Candidate Key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EnrollNo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4259146" y="4320717"/>
            <a:ext cx="2363327" cy="2066229"/>
          </a:xfrm>
          <a:prstGeom prst="roundRect">
            <a:avLst>
              <a:gd fmla="val 4514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4531330" y="3232483"/>
            <a:ext cx="2560320" cy="731520"/>
          </a:xfrm>
          <a:prstGeom prst="wedgeRoundRectCallout">
            <a:avLst>
              <a:gd fmla="val -21233" name="adj1"/>
              <a:gd fmla="val 99090" name="adj2"/>
              <a:gd fmla="val 16667" name="adj3"/>
            </a:avLst>
          </a:prstGeom>
          <a:solidFill>
            <a:srgbClr val="FAFAFA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Candidate Key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(RollNo, Branch, Sem)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8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Primary Key</a:t>
            </a:r>
            <a:endParaRPr/>
          </a:p>
        </p:txBody>
      </p:sp>
      <p:sp>
        <p:nvSpPr>
          <p:cNvPr id="403" name="Google Shape;403;p8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 primary key is a </a:t>
            </a:r>
            <a:r>
              <a:rPr b="1" lang="en-US">
                <a:solidFill>
                  <a:schemeClr val="accent6"/>
                </a:solidFill>
              </a:rPr>
              <a:t>candidate key that is chosen by database designer </a:t>
            </a:r>
            <a:r>
              <a:rPr lang="en-US"/>
              <a:t>to identify tuples uniquely in a relation (table).</a:t>
            </a:r>
            <a:endParaRPr/>
          </a:p>
        </p:txBody>
      </p:sp>
      <p:graphicFrame>
        <p:nvGraphicFramePr>
          <p:cNvPr id="404" name="Google Shape;404;p8"/>
          <p:cNvGraphicFramePr/>
          <p:nvPr/>
        </p:nvGraphicFramePr>
        <p:xfrm>
          <a:off x="2663819" y="43347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587825"/>
                <a:gridCol w="844875"/>
                <a:gridCol w="878200"/>
                <a:gridCol w="638500"/>
                <a:gridCol w="551175"/>
                <a:gridCol w="857575"/>
                <a:gridCol w="4635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EnrollNo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Sem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190540107001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180540107002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190540106001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Mayur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180540106002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5" name="Google Shape;405;p8"/>
          <p:cNvSpPr/>
          <p:nvPr/>
        </p:nvSpPr>
        <p:spPr>
          <a:xfrm>
            <a:off x="2674185" y="4315952"/>
            <a:ext cx="1584961" cy="2059982"/>
          </a:xfrm>
          <a:prstGeom prst="roundRect">
            <a:avLst>
              <a:gd fmla="val 4514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2521787" y="3232483"/>
            <a:ext cx="1737360" cy="731520"/>
          </a:xfrm>
          <a:prstGeom prst="wedgeRoundRectCallout">
            <a:avLst>
              <a:gd fmla="val -21348" name="adj1"/>
              <a:gd fmla="val 96970" name="adj2"/>
              <a:gd fmla="val 16667" name="adj3"/>
            </a:avLst>
          </a:prstGeom>
          <a:solidFill>
            <a:srgbClr val="FAFAFA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Candidate Key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EnrollNo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4259146" y="4320717"/>
            <a:ext cx="2363327" cy="2066229"/>
          </a:xfrm>
          <a:prstGeom prst="roundRect">
            <a:avLst>
              <a:gd fmla="val 4514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4531330" y="3232483"/>
            <a:ext cx="2560320" cy="731520"/>
          </a:xfrm>
          <a:prstGeom prst="wedgeRoundRectCallout">
            <a:avLst>
              <a:gd fmla="val -21233" name="adj1"/>
              <a:gd fmla="val 99090" name="adj2"/>
              <a:gd fmla="val 16667" name="adj3"/>
            </a:avLst>
          </a:prstGeom>
          <a:solidFill>
            <a:srgbClr val="FAFAFA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Candidate Key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(RollNo, Branch, Sem)</a:t>
            </a:r>
            <a:endParaRPr/>
          </a:p>
        </p:txBody>
      </p:sp>
      <p:pic>
        <p:nvPicPr>
          <p:cNvPr id="409" name="Google Shape;4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6467" y="2373156"/>
            <a:ext cx="1188000" cy="783206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8"/>
          <p:cNvSpPr/>
          <p:nvPr/>
        </p:nvSpPr>
        <p:spPr>
          <a:xfrm>
            <a:off x="863336" y="2688362"/>
            <a:ext cx="1512000" cy="468000"/>
          </a:xfrm>
          <a:prstGeom prst="wedgeRoundRectCallout">
            <a:avLst>
              <a:gd fmla="val 60473" name="adj1"/>
              <a:gd fmla="val 125703" name="adj2"/>
              <a:gd fmla="val 16667" name="adj3"/>
            </a:avLst>
          </a:prstGeom>
          <a:solidFill>
            <a:srgbClr val="F0F0F0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Primary Key</a:t>
            </a:r>
            <a:endParaRPr b="1"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9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Alternate Key</a:t>
            </a:r>
            <a:endParaRPr/>
          </a:p>
        </p:txBody>
      </p:sp>
      <p:sp>
        <p:nvSpPr>
          <p:cNvPr id="416" name="Google Shape;416;p9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An alternate key is a </a:t>
            </a:r>
            <a:r>
              <a:rPr b="1" lang="en-US">
                <a:solidFill>
                  <a:schemeClr val="accent6"/>
                </a:solidFill>
              </a:rPr>
              <a:t>candidate key that is not chosen by database designer </a:t>
            </a:r>
            <a:r>
              <a:rPr lang="en-US"/>
              <a:t>to identify tuples uniquely in a relation.</a:t>
            </a:r>
            <a:endParaRPr/>
          </a:p>
        </p:txBody>
      </p:sp>
      <p:graphicFrame>
        <p:nvGraphicFramePr>
          <p:cNvPr id="417" name="Google Shape;417;p9"/>
          <p:cNvGraphicFramePr/>
          <p:nvPr/>
        </p:nvGraphicFramePr>
        <p:xfrm>
          <a:off x="2663819" y="43347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587825"/>
                <a:gridCol w="844875"/>
                <a:gridCol w="878200"/>
                <a:gridCol w="638500"/>
                <a:gridCol w="551175"/>
                <a:gridCol w="857575"/>
                <a:gridCol w="4635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EnrollNo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Sem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190540107001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180540107002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190540106001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Mayur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180540106002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18" name="Google Shape;418;p9"/>
          <p:cNvSpPr/>
          <p:nvPr/>
        </p:nvSpPr>
        <p:spPr>
          <a:xfrm>
            <a:off x="2674185" y="4315952"/>
            <a:ext cx="1584961" cy="2059982"/>
          </a:xfrm>
          <a:prstGeom prst="roundRect">
            <a:avLst>
              <a:gd fmla="val 4514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2521787" y="3232483"/>
            <a:ext cx="1737360" cy="731520"/>
          </a:xfrm>
          <a:prstGeom prst="wedgeRoundRectCallout">
            <a:avLst>
              <a:gd fmla="val -21348" name="adj1"/>
              <a:gd fmla="val 96970" name="adj2"/>
              <a:gd fmla="val 16667" name="adj3"/>
            </a:avLst>
          </a:prstGeom>
          <a:solidFill>
            <a:srgbClr val="FAFAFA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Candidate Key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EnrollNo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4259146" y="4320717"/>
            <a:ext cx="2363327" cy="2066229"/>
          </a:xfrm>
          <a:prstGeom prst="roundRect">
            <a:avLst>
              <a:gd fmla="val 4514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4531330" y="3232483"/>
            <a:ext cx="2560320" cy="731520"/>
          </a:xfrm>
          <a:prstGeom prst="wedgeRoundRectCallout">
            <a:avLst>
              <a:gd fmla="val -21233" name="adj1"/>
              <a:gd fmla="val 99090" name="adj2"/>
              <a:gd fmla="val 16667" name="adj3"/>
            </a:avLst>
          </a:prstGeom>
          <a:solidFill>
            <a:srgbClr val="FAFAFA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Candidate Key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(RollNo, Branch, Sem)</a:t>
            </a:r>
            <a:endParaRPr/>
          </a:p>
        </p:txBody>
      </p:sp>
      <p:pic>
        <p:nvPicPr>
          <p:cNvPr id="422" name="Google Shape;4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6467" y="2373156"/>
            <a:ext cx="1188000" cy="78320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9"/>
          <p:cNvSpPr/>
          <p:nvPr/>
        </p:nvSpPr>
        <p:spPr>
          <a:xfrm>
            <a:off x="863336" y="2688362"/>
            <a:ext cx="1512000" cy="468000"/>
          </a:xfrm>
          <a:prstGeom prst="wedgeRoundRectCallout">
            <a:avLst>
              <a:gd fmla="val 60473" name="adj1"/>
              <a:gd fmla="val 125703" name="adj2"/>
              <a:gd fmla="val 16667" name="adj3"/>
            </a:avLst>
          </a:prstGeom>
          <a:solidFill>
            <a:srgbClr val="F0F0F0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Primary Key</a:t>
            </a:r>
            <a:endParaRPr b="1"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7362748" y="2688362"/>
            <a:ext cx="1645920" cy="468000"/>
          </a:xfrm>
          <a:prstGeom prst="wedgeRoundRectCallout">
            <a:avLst>
              <a:gd fmla="val -68526" name="adj1"/>
              <a:gd fmla="val 117083" name="adj2"/>
              <a:gd fmla="val 16667" name="adj3"/>
            </a:avLst>
          </a:prstGeom>
          <a:solidFill>
            <a:srgbClr val="F0F0F0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Alternate Key</a:t>
            </a:r>
            <a:endParaRPr b="1"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0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Primary Key rules</a:t>
            </a:r>
            <a:endParaRPr/>
          </a:p>
        </p:txBody>
      </p:sp>
      <p:sp>
        <p:nvSpPr>
          <p:cNvPr id="430" name="Google Shape;430;p10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 primary key </a:t>
            </a:r>
            <a:r>
              <a:rPr b="1" lang="en-US">
                <a:solidFill>
                  <a:schemeClr val="accent6"/>
                </a:solidFill>
              </a:rPr>
              <a:t>may have one or more attributes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There is </a:t>
            </a:r>
            <a:r>
              <a:rPr b="1" lang="en-US">
                <a:solidFill>
                  <a:schemeClr val="accent6"/>
                </a:solidFill>
              </a:rPr>
              <a:t>only one primary key </a:t>
            </a:r>
            <a:r>
              <a:rPr lang="en-US"/>
              <a:t>in the relation (table).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 primary key </a:t>
            </a:r>
            <a:r>
              <a:rPr b="1" lang="en-US">
                <a:solidFill>
                  <a:schemeClr val="accent6"/>
                </a:solidFill>
              </a:rPr>
              <a:t>attribute value cannot be NULL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Generally, the </a:t>
            </a:r>
            <a:r>
              <a:rPr b="1" lang="en-US">
                <a:solidFill>
                  <a:schemeClr val="accent6"/>
                </a:solidFill>
              </a:rPr>
              <a:t>value of a primary key attribute does not change</a:t>
            </a:r>
            <a:r>
              <a:rPr lang="en-US"/>
              <a:t>.</a:t>
            </a:r>
            <a:endParaRPr/>
          </a:p>
          <a:p>
            <a:pPr indent="-1127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Foreign Key</a:t>
            </a:r>
            <a:endParaRPr/>
          </a:p>
        </p:txBody>
      </p:sp>
      <p:sp>
        <p:nvSpPr>
          <p:cNvPr id="436" name="Google Shape;436;p11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 foreign key is </a:t>
            </a:r>
            <a:r>
              <a:rPr b="1" lang="en-US">
                <a:solidFill>
                  <a:schemeClr val="accent6"/>
                </a:solidFill>
              </a:rPr>
              <a:t>used to link two relations </a:t>
            </a:r>
            <a:r>
              <a:rPr lang="en-US"/>
              <a:t>(tables).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 foreign key is an </a:t>
            </a:r>
            <a:r>
              <a:rPr b="1" lang="en-US">
                <a:solidFill>
                  <a:schemeClr val="accent6"/>
                </a:solidFill>
              </a:rPr>
              <a:t>attribute</a:t>
            </a:r>
            <a:r>
              <a:rPr lang="en-US"/>
              <a:t> or collection of attributes in one table that </a:t>
            </a:r>
            <a:r>
              <a:rPr b="1" lang="en-US">
                <a:solidFill>
                  <a:schemeClr val="accent6"/>
                </a:solidFill>
              </a:rPr>
              <a:t>refers to the primary key in another table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 table containing the foreign key is called the child table, and the table containing the primary key is called the parent table.</a:t>
            </a:r>
            <a:endParaRPr/>
          </a:p>
          <a:p>
            <a:pPr indent="-1127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437" name="Google Shape;437;p11"/>
          <p:cNvGraphicFramePr/>
          <p:nvPr/>
        </p:nvGraphicFramePr>
        <p:xfrm>
          <a:off x="807723" y="43966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587825"/>
                <a:gridCol w="851225"/>
                <a:gridCol w="878200"/>
                <a:gridCol w="6385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sng">
                          <a:solidFill>
                            <a:schemeClr val="dk1"/>
                          </a:solidFill>
                        </a:rPr>
                        <a:t>EnrollNo</a:t>
                      </a:r>
                      <a:endParaRPr b="1" sz="1800" u="sng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Sem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190540107001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190540107002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190540107003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190540107004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8" name="Google Shape;438;p11"/>
          <p:cNvGraphicFramePr/>
          <p:nvPr/>
        </p:nvGraphicFramePr>
        <p:xfrm>
          <a:off x="5327404" y="4433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86175"/>
                <a:gridCol w="1422725"/>
                <a:gridCol w="15878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sng">
                          <a:solidFill>
                            <a:schemeClr val="dk1"/>
                          </a:solidFill>
                        </a:rPr>
                        <a:t>ProjectID</a:t>
                      </a:r>
                      <a:endParaRPr b="1" sz="1800" u="sng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EnrollNo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Bank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190540107001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College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190540107002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School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190540107003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Hospital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190540107001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9" name="Google Shape;439;p11"/>
          <p:cNvGraphicFramePr/>
          <p:nvPr/>
        </p:nvGraphicFramePr>
        <p:xfrm>
          <a:off x="808803" y="40329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0" name="Google Shape;440;p11"/>
          <p:cNvGraphicFramePr/>
          <p:nvPr/>
        </p:nvGraphicFramePr>
        <p:xfrm>
          <a:off x="5326106" y="40692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Project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sp>
        <p:nvSpPr>
          <p:cNvPr id="441" name="Google Shape;441;p11"/>
          <p:cNvSpPr/>
          <p:nvPr/>
        </p:nvSpPr>
        <p:spPr>
          <a:xfrm>
            <a:off x="762000" y="2991725"/>
            <a:ext cx="1260000" cy="731520"/>
          </a:xfrm>
          <a:prstGeom prst="wedgeRoundRectCallout">
            <a:avLst>
              <a:gd fmla="val -21348" name="adj1"/>
              <a:gd fmla="val 96970" name="adj2"/>
              <a:gd fmla="val 16667" name="adj3"/>
            </a:avLst>
          </a:prstGeom>
          <a:solidFill>
            <a:srgbClr val="FAFAFA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Table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2021999" y="3104269"/>
            <a:ext cx="6432683" cy="1284851"/>
          </a:xfrm>
          <a:prstGeom prst="curvedDownArrow">
            <a:avLst>
              <a:gd fmla="val 0" name="adj1"/>
              <a:gd fmla="val 17484" name="adj2"/>
              <a:gd fmla="val 17216" name="adj3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5290041" y="3005793"/>
            <a:ext cx="1260000" cy="731520"/>
          </a:xfrm>
          <a:prstGeom prst="wedgeRoundRectCallout">
            <a:avLst>
              <a:gd fmla="val -21348" name="adj1"/>
              <a:gd fmla="val 96970" name="adj2"/>
              <a:gd fmla="val 16667" name="adj3"/>
            </a:avLst>
          </a:prstGeom>
          <a:solidFill>
            <a:srgbClr val="FAFAFA"/>
          </a:solidFill>
          <a:ln cap="flat" cmpd="sng" w="9525">
            <a:solidFill>
              <a:srgbClr val="8F8F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Child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Table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Relational Algebra Operations</a:t>
            </a:r>
            <a:endParaRPr/>
          </a:p>
        </p:txBody>
      </p:sp>
      <p:sp>
        <p:nvSpPr>
          <p:cNvPr id="449" name="Google Shape;449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3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Relational Algebra Operations</a:t>
            </a:r>
            <a:endParaRPr/>
          </a:p>
        </p:txBody>
      </p:sp>
      <p:sp>
        <p:nvSpPr>
          <p:cNvPr id="455" name="Google Shape;455;p13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456" name="Google Shape;456;p13"/>
          <p:cNvGraphicFramePr/>
          <p:nvPr/>
        </p:nvGraphicFramePr>
        <p:xfrm>
          <a:off x="131178" y="886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169525"/>
                <a:gridCol w="97601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</a:rPr>
                        <a:t>Operator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7" name="Google Shape;457;p13"/>
          <p:cNvGraphicFramePr/>
          <p:nvPr/>
        </p:nvGraphicFramePr>
        <p:xfrm>
          <a:off x="131178" y="13492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168275"/>
                <a:gridCol w="97613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Selection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particular rows/records/tuples from a relation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8" name="Google Shape;458;p13"/>
          <p:cNvGraphicFramePr/>
          <p:nvPr/>
        </p:nvGraphicFramePr>
        <p:xfrm>
          <a:off x="131179" y="18023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168275"/>
                <a:gridCol w="97613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Projection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particular columns from a relation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9" name="Google Shape;459;p13"/>
          <p:cNvGraphicFramePr/>
          <p:nvPr/>
        </p:nvGraphicFramePr>
        <p:xfrm>
          <a:off x="131180" y="22594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168275"/>
                <a:gridCol w="97613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Cross Product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Multiply each tuples of both relations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0" name="Google Shape;460;p13"/>
          <p:cNvGraphicFramePr/>
          <p:nvPr/>
        </p:nvGraphicFramePr>
        <p:xfrm>
          <a:off x="131181" y="27187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168275"/>
                <a:gridCol w="9761375"/>
              </a:tblGrid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Joins 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Combine data or records from two or more tables</a:t>
                      </a:r>
                      <a:endParaRPr/>
                    </a:p>
                    <a:p>
                      <a:pPr indent="-4572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AutoNum type="arabicPeriod"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Natural Join / Inner Join</a:t>
                      </a:r>
                      <a:endParaRPr/>
                    </a:p>
                    <a:p>
                      <a:pPr indent="-4572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AutoNum type="arabicPeriod"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Outer Join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           1. Left Outer Join          2. Right Outer Join          3. Full Outer Join        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1" name="Google Shape;461;p13"/>
          <p:cNvGraphicFramePr/>
          <p:nvPr/>
        </p:nvGraphicFramePr>
        <p:xfrm>
          <a:off x="131180" y="40942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168275"/>
                <a:gridCol w="9761375"/>
              </a:tblGrid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Set Operators 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Combine the results of two queries into a single result.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1. Union          2. Intersection          3. Minus / Set-difference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2" name="Google Shape;462;p13"/>
          <p:cNvGraphicFramePr/>
          <p:nvPr/>
        </p:nvGraphicFramePr>
        <p:xfrm>
          <a:off x="131181" y="4925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168275"/>
                <a:gridCol w="97613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Division 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Divides one relation by another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3" name="Google Shape;463;p13"/>
          <p:cNvGraphicFramePr/>
          <p:nvPr/>
        </p:nvGraphicFramePr>
        <p:xfrm>
          <a:off x="131182" y="53883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168275"/>
                <a:gridCol w="97613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Rename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Rename a column or a table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Relational Algebra Operations</a:t>
            </a:r>
            <a:br>
              <a:rPr lang="en-US">
                <a:solidFill>
                  <a:srgbClr val="5C2321"/>
                </a:solidFill>
              </a:rPr>
            </a:br>
            <a:r>
              <a:rPr lang="en-US">
                <a:solidFill>
                  <a:schemeClr val="dk2"/>
                </a:solidFill>
              </a:rPr>
              <a:t>Selection Operator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69" name="Google Shape;469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- 3.1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5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Selection Operator</a:t>
            </a:r>
            <a:endParaRPr/>
          </a:p>
        </p:txBody>
      </p:sp>
      <p:sp>
        <p:nvSpPr>
          <p:cNvPr id="475" name="Google Shape;475;p15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 </a:t>
            </a:r>
            <a:r>
              <a:rPr lang="en-US" sz="3600"/>
              <a:t>σ</a:t>
            </a:r>
            <a:r>
              <a:rPr lang="en-US"/>
              <a:t> (Sigma)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lang="en-US" sz="3600"/>
              <a:t>σ </a:t>
            </a:r>
            <a:r>
              <a:rPr baseline="-25000" i="1" lang="en-US" sz="3600"/>
              <a:t>condition</a:t>
            </a:r>
            <a:r>
              <a:rPr lang="en-US" sz="3600"/>
              <a:t> </a:t>
            </a:r>
            <a:r>
              <a:rPr lang="en-US"/>
              <a:t>(Relation)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 </a:t>
            </a:r>
            <a:r>
              <a:rPr b="1" lang="en-US">
                <a:solidFill>
                  <a:schemeClr val="accent6"/>
                </a:solidFill>
              </a:rPr>
              <a:t>Selects tuples </a:t>
            </a:r>
            <a:r>
              <a:rPr lang="en-US"/>
              <a:t>from a relation that </a:t>
            </a:r>
            <a:r>
              <a:rPr b="1" lang="en-US">
                <a:solidFill>
                  <a:schemeClr val="accent6"/>
                </a:solidFill>
              </a:rPr>
              <a:t>satisfy a given condition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Operators:  =, &lt;&gt;, &lt;, &gt;, &lt;=, &gt;=, Λ </a:t>
            </a:r>
            <a:r>
              <a:rPr lang="en-US">
                <a:solidFill>
                  <a:srgbClr val="8F8F8F"/>
                </a:solidFill>
              </a:rPr>
              <a:t>(AND)</a:t>
            </a:r>
            <a:r>
              <a:rPr lang="en-US"/>
              <a:t>, V </a:t>
            </a:r>
            <a:r>
              <a:rPr lang="en-US">
                <a:solidFill>
                  <a:srgbClr val="8F8F8F"/>
                </a:solidFill>
              </a:rPr>
              <a:t>(OR)</a:t>
            </a:r>
            <a:endParaRPr/>
          </a:p>
        </p:txBody>
      </p:sp>
      <p:graphicFrame>
        <p:nvGraphicFramePr>
          <p:cNvPr id="476" name="Google Shape;476;p15"/>
          <p:cNvGraphicFramePr/>
          <p:nvPr/>
        </p:nvGraphicFramePr>
        <p:xfrm>
          <a:off x="514066" y="4203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7" name="Google Shape;477;p15"/>
          <p:cNvGraphicFramePr/>
          <p:nvPr/>
        </p:nvGraphicFramePr>
        <p:xfrm>
          <a:off x="514066" y="3840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478" name="Google Shape;478;p15"/>
          <p:cNvCxnSpPr/>
          <p:nvPr/>
        </p:nvCxnSpPr>
        <p:spPr>
          <a:xfrm>
            <a:off x="514066" y="3534789"/>
            <a:ext cx="64922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479" name="Google Shape;479;p15"/>
          <p:cNvGraphicFramePr/>
          <p:nvPr/>
        </p:nvGraphicFramePr>
        <p:xfrm>
          <a:off x="514066" y="3146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Google Shape;480;p15"/>
          <p:cNvGraphicFramePr/>
          <p:nvPr/>
        </p:nvGraphicFramePr>
        <p:xfrm>
          <a:off x="1612995" y="31379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5851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the detail of students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belongs to “CE” Branch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81" name="Google Shape;481;p15"/>
          <p:cNvCxnSpPr/>
          <p:nvPr/>
        </p:nvCxnSpPr>
        <p:spPr>
          <a:xfrm>
            <a:off x="8143224" y="3531577"/>
            <a:ext cx="32918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482" name="Google Shape;482;p15"/>
          <p:cNvGraphicFramePr/>
          <p:nvPr/>
        </p:nvGraphicFramePr>
        <p:xfrm>
          <a:off x="8143224" y="31435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3" name="Google Shape;483;p15"/>
          <p:cNvGraphicFramePr/>
          <p:nvPr/>
        </p:nvGraphicFramePr>
        <p:xfrm>
          <a:off x="9153253" y="29511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399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Branch=‘CE’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4" name="Google Shape;484;p15"/>
          <p:cNvGraphicFramePr/>
          <p:nvPr/>
        </p:nvGraphicFramePr>
        <p:xfrm>
          <a:off x="8143224" y="4203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5" name="Google Shape;485;p15"/>
          <p:cNvGraphicFramePr/>
          <p:nvPr/>
        </p:nvGraphicFramePr>
        <p:xfrm>
          <a:off x="8143224" y="3840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6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Selection Operator [</a:t>
            </a:r>
            <a:r>
              <a:rPr lang="en-US" sz="3600"/>
              <a:t>σ</a:t>
            </a:r>
            <a:r>
              <a:rPr lang="en-US"/>
              <a:t> </a:t>
            </a:r>
            <a:r>
              <a:rPr baseline="-25000" lang="en-US"/>
              <a:t>condition </a:t>
            </a:r>
            <a:r>
              <a:rPr lang="en-US" sz="3200"/>
              <a:t>(Relation)</a:t>
            </a:r>
            <a:r>
              <a:rPr lang="en-US"/>
              <a:t>]</a:t>
            </a:r>
            <a:endParaRPr/>
          </a:p>
        </p:txBody>
      </p:sp>
      <p:sp>
        <p:nvSpPr>
          <p:cNvPr id="491" name="Google Shape;491;p16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8F8F8F"/>
              </a:solidFill>
            </a:endParaRPr>
          </a:p>
        </p:txBody>
      </p:sp>
      <p:graphicFrame>
        <p:nvGraphicFramePr>
          <p:cNvPr id="492" name="Google Shape;492;p16"/>
          <p:cNvGraphicFramePr/>
          <p:nvPr/>
        </p:nvGraphicFramePr>
        <p:xfrm>
          <a:off x="419937" y="20192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3" name="Google Shape;493;p16"/>
          <p:cNvGraphicFramePr/>
          <p:nvPr/>
        </p:nvGraphicFramePr>
        <p:xfrm>
          <a:off x="419937" y="16556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494" name="Google Shape;494;p16"/>
          <p:cNvCxnSpPr/>
          <p:nvPr/>
        </p:nvCxnSpPr>
        <p:spPr>
          <a:xfrm>
            <a:off x="419937" y="1457975"/>
            <a:ext cx="93268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495" name="Google Shape;495;p16"/>
          <p:cNvGraphicFramePr/>
          <p:nvPr/>
        </p:nvGraphicFramePr>
        <p:xfrm>
          <a:off x="419937" y="10699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6" name="Google Shape;496;p16"/>
          <p:cNvGraphicFramePr/>
          <p:nvPr/>
        </p:nvGraphicFramePr>
        <p:xfrm>
          <a:off x="1518866" y="10611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3839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the detail of students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belongs to “CE” Branch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and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having SPI more than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8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97" name="Google Shape;497;p16"/>
          <p:cNvCxnSpPr/>
          <p:nvPr/>
        </p:nvCxnSpPr>
        <p:spPr>
          <a:xfrm>
            <a:off x="419937" y="4827642"/>
            <a:ext cx="39319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498" name="Google Shape;498;p16"/>
          <p:cNvGraphicFramePr/>
          <p:nvPr/>
        </p:nvGraphicFramePr>
        <p:xfrm>
          <a:off x="419937" y="44396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9" name="Google Shape;499;p16"/>
          <p:cNvGraphicFramePr/>
          <p:nvPr/>
        </p:nvGraphicFramePr>
        <p:xfrm>
          <a:off x="419937" y="53921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0" name="Google Shape;500;p16"/>
          <p:cNvGraphicFramePr/>
          <p:nvPr/>
        </p:nvGraphicFramePr>
        <p:xfrm>
          <a:off x="419937" y="50285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1" name="Google Shape;501;p16"/>
          <p:cNvGraphicFramePr/>
          <p:nvPr/>
        </p:nvGraphicFramePr>
        <p:xfrm>
          <a:off x="1434641" y="42433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0594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Branch=‘CE’ Λ SPI&gt;8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Selection Operator [</a:t>
            </a:r>
            <a:r>
              <a:rPr lang="en-US" sz="3600"/>
              <a:t>σ</a:t>
            </a:r>
            <a:r>
              <a:rPr lang="en-US"/>
              <a:t> </a:t>
            </a:r>
            <a:r>
              <a:rPr baseline="-25000" lang="en-US"/>
              <a:t>condition </a:t>
            </a:r>
            <a:r>
              <a:rPr lang="en-US" sz="3200"/>
              <a:t>(Relation)</a:t>
            </a:r>
            <a:r>
              <a:rPr lang="en-US"/>
              <a:t>]</a:t>
            </a:r>
            <a:endParaRPr/>
          </a:p>
        </p:txBody>
      </p:sp>
      <p:sp>
        <p:nvSpPr>
          <p:cNvPr id="507" name="Google Shape;507;p17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8F8F8F"/>
              </a:solidFill>
            </a:endParaRPr>
          </a:p>
        </p:txBody>
      </p:sp>
      <p:graphicFrame>
        <p:nvGraphicFramePr>
          <p:cNvPr id="508" name="Google Shape;508;p17"/>
          <p:cNvGraphicFramePr/>
          <p:nvPr/>
        </p:nvGraphicFramePr>
        <p:xfrm>
          <a:off x="419937" y="18827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9" name="Google Shape;509;p17"/>
          <p:cNvGraphicFramePr/>
          <p:nvPr/>
        </p:nvGraphicFramePr>
        <p:xfrm>
          <a:off x="419937" y="15191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510" name="Google Shape;510;p17"/>
          <p:cNvCxnSpPr/>
          <p:nvPr/>
        </p:nvCxnSpPr>
        <p:spPr>
          <a:xfrm>
            <a:off x="419937" y="1321495"/>
            <a:ext cx="79095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11" name="Google Shape;511;p17"/>
          <p:cNvGraphicFramePr/>
          <p:nvPr/>
        </p:nvGraphicFramePr>
        <p:xfrm>
          <a:off x="419937" y="933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2" name="Google Shape;512;p17"/>
          <p:cNvGraphicFramePr/>
          <p:nvPr/>
        </p:nvGraphicFramePr>
        <p:xfrm>
          <a:off x="1518866" y="9246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949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the detail of students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belongs to either “CI” or “ME” Branch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13" name="Google Shape;513;p17"/>
          <p:cNvCxnSpPr/>
          <p:nvPr/>
        </p:nvCxnSpPr>
        <p:spPr>
          <a:xfrm>
            <a:off x="419937" y="4622922"/>
            <a:ext cx="43891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14" name="Google Shape;514;p17"/>
          <p:cNvGraphicFramePr/>
          <p:nvPr/>
        </p:nvGraphicFramePr>
        <p:xfrm>
          <a:off x="419937" y="42349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5" name="Google Shape;515;p17"/>
          <p:cNvGraphicFramePr/>
          <p:nvPr/>
        </p:nvGraphicFramePr>
        <p:xfrm>
          <a:off x="419937" y="5187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6" name="Google Shape;516;p17"/>
          <p:cNvGraphicFramePr/>
          <p:nvPr/>
        </p:nvGraphicFramePr>
        <p:xfrm>
          <a:off x="419937" y="48238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7" name="Google Shape;517;p17"/>
          <p:cNvGraphicFramePr/>
          <p:nvPr/>
        </p:nvGraphicFramePr>
        <p:xfrm>
          <a:off x="1434641" y="40386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5436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Branch=‘CI’ V Branch=‘ME’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8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Selection Operator [</a:t>
            </a:r>
            <a:r>
              <a:rPr lang="en-US" sz="3600"/>
              <a:t>σ</a:t>
            </a:r>
            <a:r>
              <a:rPr lang="en-US"/>
              <a:t> </a:t>
            </a:r>
            <a:r>
              <a:rPr baseline="-25000" lang="en-US"/>
              <a:t>condition </a:t>
            </a:r>
            <a:r>
              <a:rPr lang="en-US" sz="3200"/>
              <a:t>(Relation)</a:t>
            </a:r>
            <a:r>
              <a:rPr lang="en-US"/>
              <a:t>]</a:t>
            </a:r>
            <a:endParaRPr/>
          </a:p>
        </p:txBody>
      </p:sp>
      <p:sp>
        <p:nvSpPr>
          <p:cNvPr id="523" name="Google Shape;523;p18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8F8F8F"/>
              </a:solidFill>
            </a:endParaRPr>
          </a:p>
        </p:txBody>
      </p:sp>
      <p:graphicFrame>
        <p:nvGraphicFramePr>
          <p:cNvPr id="524" name="Google Shape;524;p18"/>
          <p:cNvGraphicFramePr/>
          <p:nvPr/>
        </p:nvGraphicFramePr>
        <p:xfrm>
          <a:off x="419937" y="18827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5" name="Google Shape;525;p18"/>
          <p:cNvGraphicFramePr/>
          <p:nvPr/>
        </p:nvGraphicFramePr>
        <p:xfrm>
          <a:off x="419937" y="15191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526" name="Google Shape;526;p18"/>
          <p:cNvCxnSpPr/>
          <p:nvPr/>
        </p:nvCxnSpPr>
        <p:spPr>
          <a:xfrm>
            <a:off x="419937" y="1321495"/>
            <a:ext cx="69494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27" name="Google Shape;527;p18"/>
          <p:cNvGraphicFramePr/>
          <p:nvPr/>
        </p:nvGraphicFramePr>
        <p:xfrm>
          <a:off x="419937" y="933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8" name="Google Shape;528;p18"/>
          <p:cNvGraphicFramePr/>
          <p:nvPr/>
        </p:nvGraphicFramePr>
        <p:xfrm>
          <a:off x="1518866" y="9246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0312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the detail of students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whose SPI between 7 and 9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29" name="Google Shape;529;p18"/>
          <p:cNvCxnSpPr/>
          <p:nvPr/>
        </p:nvCxnSpPr>
        <p:spPr>
          <a:xfrm>
            <a:off x="419937" y="4622922"/>
            <a:ext cx="33832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30" name="Google Shape;530;p18"/>
          <p:cNvGraphicFramePr/>
          <p:nvPr/>
        </p:nvGraphicFramePr>
        <p:xfrm>
          <a:off x="419937" y="42349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1" name="Google Shape;531;p18"/>
          <p:cNvGraphicFramePr/>
          <p:nvPr/>
        </p:nvGraphicFramePr>
        <p:xfrm>
          <a:off x="419937" y="5187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2" name="Google Shape;532;p18"/>
          <p:cNvGraphicFramePr/>
          <p:nvPr/>
        </p:nvGraphicFramePr>
        <p:xfrm>
          <a:off x="419937" y="48238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3" name="Google Shape;533;p18"/>
          <p:cNvGraphicFramePr/>
          <p:nvPr/>
        </p:nvGraphicFramePr>
        <p:xfrm>
          <a:off x="1434641" y="40386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5562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SPI&gt;7 Λ SPI&lt;9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9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Exercise</a:t>
            </a:r>
            <a:endParaRPr>
              <a:solidFill>
                <a:srgbClr val="8F8F8F"/>
              </a:solidFill>
            </a:endParaRPr>
          </a:p>
        </p:txBody>
      </p:sp>
      <p:sp>
        <p:nvSpPr>
          <p:cNvPr id="539" name="Google Shape;539;p19"/>
          <p:cNvSpPr txBox="1"/>
          <p:nvPr>
            <p:ph idx="1" type="body"/>
          </p:nvPr>
        </p:nvSpPr>
        <p:spPr>
          <a:xfrm>
            <a:off x="131180" y="863445"/>
            <a:ext cx="8138761" cy="2417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Write down the relational algebra for the student table.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the detail of students whose RollNo is less than 104.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the detail of students having SPI more than 8.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the detail of students belongs to “CE” Branch having SPI less than 8.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the detail of students belongs to either “CE” or “ME” Branch.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the detail of students whose SPI between 6 and 9.</a:t>
            </a:r>
            <a:endParaRPr/>
          </a:p>
        </p:txBody>
      </p:sp>
      <p:graphicFrame>
        <p:nvGraphicFramePr>
          <p:cNvPr id="540" name="Google Shape;540;p19"/>
          <p:cNvGraphicFramePr/>
          <p:nvPr/>
        </p:nvGraphicFramePr>
        <p:xfrm>
          <a:off x="8555408" y="11732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Punit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1" name="Google Shape;541;p19"/>
          <p:cNvGraphicFramePr/>
          <p:nvPr/>
        </p:nvGraphicFramePr>
        <p:xfrm>
          <a:off x="8555408" y="8096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sp>
        <p:nvSpPr>
          <p:cNvPr id="542" name="Google Shape;542;p19"/>
          <p:cNvSpPr txBox="1"/>
          <p:nvPr/>
        </p:nvSpPr>
        <p:spPr>
          <a:xfrm>
            <a:off x="131179" y="3476657"/>
            <a:ext cx="8138761" cy="2695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Write down the relational algebra for the employee table.</a:t>
            </a:r>
            <a:endParaRPr/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the detail of all employee.</a:t>
            </a:r>
            <a:endParaRPr/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the detail of employee whose Salary more than 10000.</a:t>
            </a:r>
            <a:endParaRPr/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the detail of employee belongs to “HR” Dept having Salary more than 20000.</a:t>
            </a:r>
            <a:endParaRPr/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the detail of employee belongs to either “HR” or “Admin” Dept.</a:t>
            </a:r>
            <a:endParaRPr/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the detail of employee whose Salary between 10000 and 25000 and belongs to “HR” Dept.</a:t>
            </a:r>
            <a:endParaRPr/>
          </a:p>
        </p:txBody>
      </p:sp>
      <p:graphicFrame>
        <p:nvGraphicFramePr>
          <p:cNvPr id="543" name="Google Shape;543;p19"/>
          <p:cNvGraphicFramePr/>
          <p:nvPr/>
        </p:nvGraphicFramePr>
        <p:xfrm>
          <a:off x="8586785" y="37595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14700"/>
                <a:gridCol w="809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EmpID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Salary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Sales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Mayur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Hardik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15000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Ajay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Admin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4" name="Google Shape;544;p19"/>
          <p:cNvGraphicFramePr/>
          <p:nvPr/>
        </p:nvGraphicFramePr>
        <p:xfrm>
          <a:off x="8586785" y="3395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2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Employee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545" name="Google Shape;545;p19"/>
          <p:cNvCxnSpPr/>
          <p:nvPr/>
        </p:nvCxnSpPr>
        <p:spPr>
          <a:xfrm>
            <a:off x="131179" y="3313347"/>
            <a:ext cx="11887200" cy="7823"/>
          </a:xfrm>
          <a:prstGeom prst="straightConnector1">
            <a:avLst/>
          </a:prstGeom>
          <a:noFill/>
          <a:ln cap="flat" cmpd="sng" w="28575">
            <a:solidFill>
              <a:srgbClr val="575757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Relational Algebra Operations</a:t>
            </a:r>
            <a:br>
              <a:rPr lang="en-US">
                <a:solidFill>
                  <a:srgbClr val="5C2321"/>
                </a:solidFill>
              </a:rPr>
            </a:br>
            <a:r>
              <a:rPr lang="en-US">
                <a:solidFill>
                  <a:schemeClr val="dk2"/>
                </a:solidFill>
              </a:rPr>
              <a:t>Projection Operator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51" name="Google Shape;551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- 3.2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1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Projection Operator</a:t>
            </a:r>
            <a:endParaRPr/>
          </a:p>
        </p:txBody>
      </p:sp>
      <p:sp>
        <p:nvSpPr>
          <p:cNvPr id="557" name="Google Shape;557;p21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 </a:t>
            </a:r>
            <a:r>
              <a:rPr lang="en-US" sz="2800"/>
              <a:t>∏</a:t>
            </a:r>
            <a:r>
              <a:rPr lang="en-US"/>
              <a:t> (Pi)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lang="en-US" sz="2800"/>
              <a:t>∏</a:t>
            </a:r>
            <a:r>
              <a:rPr lang="en-US" sz="3600"/>
              <a:t> </a:t>
            </a:r>
            <a:r>
              <a:rPr baseline="-25000" i="1" lang="en-US" sz="3600"/>
              <a:t>attribute set</a:t>
            </a:r>
            <a:r>
              <a:rPr lang="en-US" sz="3600"/>
              <a:t> </a:t>
            </a:r>
            <a:r>
              <a:rPr lang="en-US"/>
              <a:t>(Relation)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 </a:t>
            </a:r>
            <a:r>
              <a:rPr b="1" lang="en-US">
                <a:solidFill>
                  <a:schemeClr val="accent6"/>
                </a:solidFill>
              </a:rPr>
              <a:t>Selects</a:t>
            </a:r>
            <a:r>
              <a:rPr lang="en-US"/>
              <a:t> </a:t>
            </a:r>
            <a:r>
              <a:rPr b="1" lang="en-US">
                <a:solidFill>
                  <a:schemeClr val="accent6"/>
                </a:solidFill>
              </a:rPr>
              <a:t>specified</a:t>
            </a:r>
            <a:r>
              <a:rPr lang="en-US"/>
              <a:t> </a:t>
            </a:r>
            <a:r>
              <a:rPr b="1" lang="en-US">
                <a:solidFill>
                  <a:schemeClr val="accent6"/>
                </a:solidFill>
              </a:rPr>
              <a:t>attributes</a:t>
            </a:r>
            <a:r>
              <a:rPr lang="en-US"/>
              <a:t> of a relation.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It </a:t>
            </a:r>
            <a:r>
              <a:rPr b="1" lang="en-US">
                <a:solidFill>
                  <a:schemeClr val="accent6"/>
                </a:solidFill>
              </a:rPr>
              <a:t>removes duplicate tuples </a:t>
            </a:r>
            <a:r>
              <a:rPr lang="en-US"/>
              <a:t>(records) from the result.</a:t>
            </a:r>
            <a:endParaRPr>
              <a:solidFill>
                <a:srgbClr val="8F8F8F"/>
              </a:solidFill>
            </a:endParaRPr>
          </a:p>
        </p:txBody>
      </p:sp>
      <p:graphicFrame>
        <p:nvGraphicFramePr>
          <p:cNvPr id="558" name="Google Shape;558;p21"/>
          <p:cNvGraphicFramePr/>
          <p:nvPr/>
        </p:nvGraphicFramePr>
        <p:xfrm>
          <a:off x="514066" y="4203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9" name="Google Shape;559;p21"/>
          <p:cNvGraphicFramePr/>
          <p:nvPr/>
        </p:nvGraphicFramePr>
        <p:xfrm>
          <a:off x="514066" y="3840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560" name="Google Shape;560;p21"/>
          <p:cNvCxnSpPr/>
          <p:nvPr/>
        </p:nvCxnSpPr>
        <p:spPr>
          <a:xfrm>
            <a:off x="514066" y="3386872"/>
            <a:ext cx="60350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61" name="Google Shape;561;p21"/>
          <p:cNvGraphicFramePr/>
          <p:nvPr/>
        </p:nvGraphicFramePr>
        <p:xfrm>
          <a:off x="514066" y="29988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2" name="Google Shape;562;p21"/>
          <p:cNvGraphicFramePr/>
          <p:nvPr/>
        </p:nvGraphicFramePr>
        <p:xfrm>
          <a:off x="1612995" y="2989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140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RollNo, Name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and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of all students.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63" name="Google Shape;563;p21"/>
          <p:cNvCxnSpPr/>
          <p:nvPr/>
        </p:nvCxnSpPr>
        <p:spPr>
          <a:xfrm>
            <a:off x="7735265" y="3383660"/>
            <a:ext cx="4114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64" name="Google Shape;564;p21"/>
          <p:cNvGraphicFramePr/>
          <p:nvPr/>
        </p:nvGraphicFramePr>
        <p:xfrm>
          <a:off x="7735265" y="2995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5" name="Google Shape;565;p21"/>
          <p:cNvGraphicFramePr/>
          <p:nvPr/>
        </p:nvGraphicFramePr>
        <p:xfrm>
          <a:off x="8745294" y="2803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2896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RollNo, Name, Branch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6" name="Google Shape;566;p21"/>
          <p:cNvGraphicFramePr/>
          <p:nvPr/>
        </p:nvGraphicFramePr>
        <p:xfrm>
          <a:off x="7735265" y="4203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7" name="Google Shape;567;p21"/>
          <p:cNvGraphicFramePr/>
          <p:nvPr/>
        </p:nvGraphicFramePr>
        <p:xfrm>
          <a:off x="7735265" y="3840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2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Exercise</a:t>
            </a:r>
            <a:endParaRPr>
              <a:solidFill>
                <a:srgbClr val="8F8F8F"/>
              </a:solidFill>
            </a:endParaRPr>
          </a:p>
        </p:txBody>
      </p:sp>
      <p:sp>
        <p:nvSpPr>
          <p:cNvPr id="573" name="Google Shape;573;p22"/>
          <p:cNvSpPr txBox="1"/>
          <p:nvPr>
            <p:ph idx="1" type="body"/>
          </p:nvPr>
        </p:nvSpPr>
        <p:spPr>
          <a:xfrm>
            <a:off x="131180" y="863445"/>
            <a:ext cx="8138761" cy="2417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Write down the relational algebra for the student table.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RollNo, Name and SPI of all students.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Name and SPI of all students.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the Name of all students.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the Name of all branches.</a:t>
            </a:r>
            <a:endParaRPr/>
          </a:p>
        </p:txBody>
      </p:sp>
      <p:graphicFrame>
        <p:nvGraphicFramePr>
          <p:cNvPr id="574" name="Google Shape;574;p22"/>
          <p:cNvGraphicFramePr/>
          <p:nvPr/>
        </p:nvGraphicFramePr>
        <p:xfrm>
          <a:off x="8555408" y="11732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771850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Punit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5" name="Google Shape;575;p22"/>
          <p:cNvGraphicFramePr/>
          <p:nvPr/>
        </p:nvGraphicFramePr>
        <p:xfrm>
          <a:off x="8555408" y="8096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sp>
        <p:nvSpPr>
          <p:cNvPr id="576" name="Google Shape;576;p22"/>
          <p:cNvSpPr txBox="1"/>
          <p:nvPr/>
        </p:nvSpPr>
        <p:spPr>
          <a:xfrm>
            <a:off x="131179" y="3476657"/>
            <a:ext cx="8138761" cy="2695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Write down the relational algebra for the employee table.</a:t>
            </a:r>
            <a:endParaRPr/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EmpID with Name of all employee.</a:t>
            </a:r>
            <a:endParaRPr b="0" i="0" sz="2000" u="none" cap="none" strike="noStrik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Name and Salary of all employee.</a:t>
            </a:r>
            <a:endParaRPr b="0" i="0" sz="2000" u="none" cap="none" strike="noStrik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the Name of all employee.</a:t>
            </a:r>
            <a:endParaRPr b="0" i="0" sz="2000" u="none" cap="none" strike="noStrik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the Name of all departments.</a:t>
            </a:r>
            <a:endParaRPr b="0" i="0" sz="2000" u="none" cap="none" strike="noStrik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577" name="Google Shape;577;p22"/>
          <p:cNvGraphicFramePr/>
          <p:nvPr/>
        </p:nvGraphicFramePr>
        <p:xfrm>
          <a:off x="8586785" y="37595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24225"/>
                <a:gridCol w="814700"/>
                <a:gridCol w="809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EmpID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Salary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Sales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Mayur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Hardik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15000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Ajay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Admin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8" name="Google Shape;578;p22"/>
          <p:cNvGraphicFramePr/>
          <p:nvPr/>
        </p:nvGraphicFramePr>
        <p:xfrm>
          <a:off x="8586785" y="3395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2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Employee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579" name="Google Shape;579;p22"/>
          <p:cNvCxnSpPr/>
          <p:nvPr/>
        </p:nvCxnSpPr>
        <p:spPr>
          <a:xfrm>
            <a:off x="131179" y="3313347"/>
            <a:ext cx="11887200" cy="7823"/>
          </a:xfrm>
          <a:prstGeom prst="straightConnector1">
            <a:avLst/>
          </a:prstGeom>
          <a:noFill/>
          <a:ln cap="flat" cmpd="sng" w="28575">
            <a:solidFill>
              <a:srgbClr val="575757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3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600"/>
              <a:buFont typeface="Roboto Condensed"/>
              <a:buNone/>
            </a:pPr>
            <a:r>
              <a:rPr lang="en-US" sz="3600"/>
              <a:t>Combined Projection &amp; Selection Operation</a:t>
            </a:r>
            <a:endParaRPr/>
          </a:p>
        </p:txBody>
      </p:sp>
      <p:sp>
        <p:nvSpPr>
          <p:cNvPr id="585" name="Google Shape;585;p23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586" name="Google Shape;586;p23"/>
          <p:cNvGraphicFramePr/>
          <p:nvPr/>
        </p:nvGraphicFramePr>
        <p:xfrm>
          <a:off x="406490" y="20924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7" name="Google Shape;587;p23"/>
          <p:cNvGraphicFramePr/>
          <p:nvPr/>
        </p:nvGraphicFramePr>
        <p:xfrm>
          <a:off x="406490" y="17288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588" name="Google Shape;588;p23"/>
          <p:cNvCxnSpPr/>
          <p:nvPr/>
        </p:nvCxnSpPr>
        <p:spPr>
          <a:xfrm>
            <a:off x="406490" y="1450502"/>
            <a:ext cx="68580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89" name="Google Shape;589;p23"/>
          <p:cNvGraphicFramePr/>
          <p:nvPr/>
        </p:nvGraphicFramePr>
        <p:xfrm>
          <a:off x="406490" y="10625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0" name="Google Shape;590;p23"/>
          <p:cNvGraphicFramePr/>
          <p:nvPr/>
        </p:nvGraphicFramePr>
        <p:xfrm>
          <a:off x="1505419" y="1053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915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RollNo, Name &amp; Branch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of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“ME” Branch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students.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91" name="Google Shape;591;p23"/>
          <p:cNvCxnSpPr/>
          <p:nvPr/>
        </p:nvCxnSpPr>
        <p:spPr>
          <a:xfrm>
            <a:off x="406490" y="4791832"/>
            <a:ext cx="34747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92" name="Google Shape;592;p23"/>
          <p:cNvGraphicFramePr/>
          <p:nvPr/>
        </p:nvGraphicFramePr>
        <p:xfrm>
          <a:off x="406490" y="44038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Step-1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3" name="Google Shape;593;p23"/>
          <p:cNvGraphicFramePr/>
          <p:nvPr/>
        </p:nvGraphicFramePr>
        <p:xfrm>
          <a:off x="1416519" y="42113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4403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Branch=‘ME’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94" name="Google Shape;594;p23"/>
          <p:cNvCxnSpPr/>
          <p:nvPr/>
        </p:nvCxnSpPr>
        <p:spPr>
          <a:xfrm>
            <a:off x="6221975" y="4800087"/>
            <a:ext cx="55778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95" name="Google Shape;595;p23"/>
          <p:cNvGraphicFramePr/>
          <p:nvPr/>
        </p:nvGraphicFramePr>
        <p:xfrm>
          <a:off x="6221975" y="44121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6" name="Google Shape;596;p23"/>
          <p:cNvGraphicFramePr/>
          <p:nvPr/>
        </p:nvGraphicFramePr>
        <p:xfrm>
          <a:off x="7232004" y="4219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705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RollNo, Name, Branch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Branch=‘ME’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7" name="Google Shape;597;p23"/>
          <p:cNvGraphicFramePr/>
          <p:nvPr/>
        </p:nvGraphicFramePr>
        <p:xfrm>
          <a:off x="6221975" y="5416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8" name="Google Shape;598;p23"/>
          <p:cNvGraphicFramePr/>
          <p:nvPr/>
        </p:nvGraphicFramePr>
        <p:xfrm>
          <a:off x="6221975" y="5053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Output-2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9" name="Google Shape;599;p23"/>
          <p:cNvGraphicFramePr/>
          <p:nvPr/>
        </p:nvGraphicFramePr>
        <p:xfrm>
          <a:off x="410369" y="54088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0" name="Google Shape;600;p23"/>
          <p:cNvGraphicFramePr/>
          <p:nvPr/>
        </p:nvGraphicFramePr>
        <p:xfrm>
          <a:off x="410369" y="50451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Output-1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4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600"/>
              <a:buFont typeface="Roboto Condensed"/>
              <a:buNone/>
            </a:pPr>
            <a:r>
              <a:rPr lang="en-US" sz="3600"/>
              <a:t>Combined Projection &amp; Selection Operation</a:t>
            </a:r>
            <a:endParaRPr/>
          </a:p>
        </p:txBody>
      </p:sp>
      <p:sp>
        <p:nvSpPr>
          <p:cNvPr id="606" name="Google Shape;606;p24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607" name="Google Shape;607;p24"/>
          <p:cNvGraphicFramePr/>
          <p:nvPr/>
        </p:nvGraphicFramePr>
        <p:xfrm>
          <a:off x="406490" y="18877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8" name="Google Shape;608;p24"/>
          <p:cNvGraphicFramePr/>
          <p:nvPr/>
        </p:nvGraphicFramePr>
        <p:xfrm>
          <a:off x="406490" y="15241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609" name="Google Shape;609;p24"/>
          <p:cNvCxnSpPr/>
          <p:nvPr/>
        </p:nvCxnSpPr>
        <p:spPr>
          <a:xfrm>
            <a:off x="406490" y="1314022"/>
            <a:ext cx="81381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10" name="Google Shape;610;p24"/>
          <p:cNvGraphicFramePr/>
          <p:nvPr/>
        </p:nvGraphicFramePr>
        <p:xfrm>
          <a:off x="406490" y="926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1" name="Google Shape;611;p24"/>
          <p:cNvGraphicFramePr/>
          <p:nvPr/>
        </p:nvGraphicFramePr>
        <p:xfrm>
          <a:off x="1505419" y="9171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120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Name, Branch and SPI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of  students whose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 is more than 8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12" name="Google Shape;612;p24"/>
          <p:cNvCxnSpPr/>
          <p:nvPr/>
        </p:nvCxnSpPr>
        <p:spPr>
          <a:xfrm>
            <a:off x="406490" y="4628056"/>
            <a:ext cx="28346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13" name="Google Shape;613;p24"/>
          <p:cNvGraphicFramePr/>
          <p:nvPr/>
        </p:nvGraphicFramePr>
        <p:xfrm>
          <a:off x="406490" y="42400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Step-1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4" name="Google Shape;614;p24"/>
          <p:cNvGraphicFramePr/>
          <p:nvPr/>
        </p:nvGraphicFramePr>
        <p:xfrm>
          <a:off x="1416519" y="40475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9227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SPI&gt;8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15" name="Google Shape;615;p24"/>
          <p:cNvCxnSpPr/>
          <p:nvPr/>
        </p:nvCxnSpPr>
        <p:spPr>
          <a:xfrm>
            <a:off x="6221975" y="4636311"/>
            <a:ext cx="48463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16" name="Google Shape;616;p24"/>
          <p:cNvGraphicFramePr/>
          <p:nvPr/>
        </p:nvGraphicFramePr>
        <p:xfrm>
          <a:off x="6221975" y="42483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7" name="Google Shape;617;p24"/>
          <p:cNvGraphicFramePr/>
          <p:nvPr/>
        </p:nvGraphicFramePr>
        <p:xfrm>
          <a:off x="7232004" y="40558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9293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Name, Branch, SPI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SPI&gt;8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8" name="Google Shape;618;p24"/>
          <p:cNvGraphicFramePr/>
          <p:nvPr/>
        </p:nvGraphicFramePr>
        <p:xfrm>
          <a:off x="6221975" y="5184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9" name="Google Shape;619;p24"/>
          <p:cNvGraphicFramePr/>
          <p:nvPr/>
        </p:nvGraphicFramePr>
        <p:xfrm>
          <a:off x="6221975" y="4821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Output-2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0" name="Google Shape;620;p24"/>
          <p:cNvGraphicFramePr/>
          <p:nvPr/>
        </p:nvGraphicFramePr>
        <p:xfrm>
          <a:off x="410369" y="51767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1" name="Google Shape;621;p24"/>
          <p:cNvGraphicFramePr/>
          <p:nvPr/>
        </p:nvGraphicFramePr>
        <p:xfrm>
          <a:off x="410369" y="48131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Output-1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5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600"/>
              <a:buFont typeface="Roboto Condensed"/>
              <a:buNone/>
            </a:pPr>
            <a:r>
              <a:rPr lang="en-US" sz="3600"/>
              <a:t>Combined Projection &amp; Selection Operation</a:t>
            </a:r>
            <a:endParaRPr/>
          </a:p>
        </p:txBody>
      </p:sp>
      <p:sp>
        <p:nvSpPr>
          <p:cNvPr id="627" name="Google Shape;627;p25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628" name="Google Shape;628;p25"/>
          <p:cNvGraphicFramePr/>
          <p:nvPr/>
        </p:nvGraphicFramePr>
        <p:xfrm>
          <a:off x="406490" y="18877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" name="Google Shape;629;p25"/>
          <p:cNvGraphicFramePr/>
          <p:nvPr/>
        </p:nvGraphicFramePr>
        <p:xfrm>
          <a:off x="406490" y="15241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630" name="Google Shape;630;p25"/>
          <p:cNvCxnSpPr/>
          <p:nvPr/>
        </p:nvCxnSpPr>
        <p:spPr>
          <a:xfrm>
            <a:off x="406490" y="1314022"/>
            <a:ext cx="106984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31" name="Google Shape;631;p25"/>
          <p:cNvGraphicFramePr/>
          <p:nvPr/>
        </p:nvGraphicFramePr>
        <p:xfrm>
          <a:off x="406490" y="926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2" name="Google Shape;632;p25"/>
          <p:cNvGraphicFramePr/>
          <p:nvPr/>
        </p:nvGraphicFramePr>
        <p:xfrm>
          <a:off x="1505419" y="9171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6840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Name, Branch and SPI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of  students who belongs to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“CE” Branch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and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 is more than 7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33" name="Google Shape;633;p25"/>
          <p:cNvCxnSpPr/>
          <p:nvPr/>
        </p:nvCxnSpPr>
        <p:spPr>
          <a:xfrm>
            <a:off x="406490" y="4628056"/>
            <a:ext cx="39319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34" name="Google Shape;634;p25"/>
          <p:cNvGraphicFramePr/>
          <p:nvPr/>
        </p:nvGraphicFramePr>
        <p:xfrm>
          <a:off x="406490" y="42400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Step-1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" name="Google Shape;635;p25"/>
          <p:cNvGraphicFramePr/>
          <p:nvPr/>
        </p:nvGraphicFramePr>
        <p:xfrm>
          <a:off x="1416519" y="40475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0070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Branch=‘CE’ Λ SPI&gt;7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36" name="Google Shape;636;p25"/>
          <p:cNvCxnSpPr/>
          <p:nvPr/>
        </p:nvCxnSpPr>
        <p:spPr>
          <a:xfrm>
            <a:off x="5662417" y="4636311"/>
            <a:ext cx="59436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37" name="Google Shape;637;p25"/>
          <p:cNvGraphicFramePr/>
          <p:nvPr/>
        </p:nvGraphicFramePr>
        <p:xfrm>
          <a:off x="5662417" y="42483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8" name="Google Shape;638;p25"/>
          <p:cNvGraphicFramePr/>
          <p:nvPr/>
        </p:nvGraphicFramePr>
        <p:xfrm>
          <a:off x="6672446" y="40558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0708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Name, Branch, SPI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Branch=‘CE’ Λ SPI&gt;7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9" name="Google Shape;639;p25"/>
          <p:cNvGraphicFramePr/>
          <p:nvPr/>
        </p:nvGraphicFramePr>
        <p:xfrm>
          <a:off x="5662417" y="5184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Raju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0" name="Google Shape;640;p25"/>
          <p:cNvGraphicFramePr/>
          <p:nvPr/>
        </p:nvGraphicFramePr>
        <p:xfrm>
          <a:off x="5662417" y="4821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Output-2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1" name="Google Shape;641;p25"/>
          <p:cNvGraphicFramePr/>
          <p:nvPr/>
        </p:nvGraphicFramePr>
        <p:xfrm>
          <a:off x="410369" y="51767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2" name="Google Shape;642;p25"/>
          <p:cNvGraphicFramePr/>
          <p:nvPr/>
        </p:nvGraphicFramePr>
        <p:xfrm>
          <a:off x="410369" y="48131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Output-1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6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600"/>
              <a:buFont typeface="Roboto Condensed"/>
              <a:buNone/>
            </a:pPr>
            <a:r>
              <a:rPr lang="en-US" sz="3600"/>
              <a:t>Combined Projection &amp; Selection Operation</a:t>
            </a:r>
            <a:endParaRPr/>
          </a:p>
        </p:txBody>
      </p:sp>
      <p:sp>
        <p:nvSpPr>
          <p:cNvPr id="648" name="Google Shape;648;p26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649" name="Google Shape;649;p26"/>
          <p:cNvGraphicFramePr/>
          <p:nvPr/>
        </p:nvGraphicFramePr>
        <p:xfrm>
          <a:off x="406490" y="18877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0" name="Google Shape;650;p26"/>
          <p:cNvGraphicFramePr/>
          <p:nvPr/>
        </p:nvGraphicFramePr>
        <p:xfrm>
          <a:off x="406490" y="15241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651" name="Google Shape;651;p26"/>
          <p:cNvCxnSpPr/>
          <p:nvPr/>
        </p:nvCxnSpPr>
        <p:spPr>
          <a:xfrm>
            <a:off x="406490" y="1314022"/>
            <a:ext cx="110642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52" name="Google Shape;652;p26"/>
          <p:cNvGraphicFramePr/>
          <p:nvPr/>
        </p:nvGraphicFramePr>
        <p:xfrm>
          <a:off x="406490" y="926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3" name="Google Shape;653;p26"/>
          <p:cNvGraphicFramePr/>
          <p:nvPr/>
        </p:nvGraphicFramePr>
        <p:xfrm>
          <a:off x="1505419" y="9171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106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Name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of students along with their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who belong to either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“ME” Branch or “CI” Branch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54" name="Google Shape;654;p26"/>
          <p:cNvCxnSpPr/>
          <p:nvPr/>
        </p:nvCxnSpPr>
        <p:spPr>
          <a:xfrm>
            <a:off x="406490" y="4628056"/>
            <a:ext cx="43891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55" name="Google Shape;655;p26"/>
          <p:cNvGraphicFramePr/>
          <p:nvPr/>
        </p:nvGraphicFramePr>
        <p:xfrm>
          <a:off x="406490" y="42400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Step-1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6" name="Google Shape;656;p26"/>
          <p:cNvGraphicFramePr/>
          <p:nvPr/>
        </p:nvGraphicFramePr>
        <p:xfrm>
          <a:off x="1416519" y="40475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5341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Branch=‘ME’ V Branch=‘CI’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57" name="Google Shape;657;p26"/>
          <p:cNvCxnSpPr/>
          <p:nvPr/>
        </p:nvCxnSpPr>
        <p:spPr>
          <a:xfrm>
            <a:off x="5539591" y="4636311"/>
            <a:ext cx="61264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58" name="Google Shape;658;p26"/>
          <p:cNvGraphicFramePr/>
          <p:nvPr/>
        </p:nvGraphicFramePr>
        <p:xfrm>
          <a:off x="5539591" y="42483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9" name="Google Shape;659;p26"/>
          <p:cNvGraphicFramePr/>
          <p:nvPr/>
        </p:nvGraphicFramePr>
        <p:xfrm>
          <a:off x="6549620" y="40558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191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Name, Branch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Branch=‘ME’ V Branch=‘CI’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0" name="Google Shape;660;p26"/>
          <p:cNvGraphicFramePr/>
          <p:nvPr/>
        </p:nvGraphicFramePr>
        <p:xfrm>
          <a:off x="5539591" y="5184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1" name="Google Shape;661;p26"/>
          <p:cNvGraphicFramePr/>
          <p:nvPr/>
        </p:nvGraphicFramePr>
        <p:xfrm>
          <a:off x="5539591" y="4821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Output-2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2" name="Google Shape;662;p26"/>
          <p:cNvGraphicFramePr/>
          <p:nvPr/>
        </p:nvGraphicFramePr>
        <p:xfrm>
          <a:off x="410369" y="51767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3" name="Google Shape;663;p26"/>
          <p:cNvGraphicFramePr/>
          <p:nvPr/>
        </p:nvGraphicFramePr>
        <p:xfrm>
          <a:off x="410369" y="48131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Output-1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7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Exercise</a:t>
            </a:r>
            <a:endParaRPr>
              <a:solidFill>
                <a:srgbClr val="8F8F8F"/>
              </a:solidFill>
            </a:endParaRPr>
          </a:p>
        </p:txBody>
      </p:sp>
      <p:sp>
        <p:nvSpPr>
          <p:cNvPr id="669" name="Google Shape;669;p27"/>
          <p:cNvSpPr txBox="1"/>
          <p:nvPr>
            <p:ph idx="1" type="body"/>
          </p:nvPr>
        </p:nvSpPr>
        <p:spPr>
          <a:xfrm>
            <a:off x="131181" y="863445"/>
            <a:ext cx="8138760" cy="2531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Write down the relational algebra for the student table.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Rollno, Name and SPI of all students belongs to “CE” Branch.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List the Name of students with their Branch whose SPI is more than 8 and belongs to “CE” Branch.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List the Name of students along with their Branch and SPI who belongs to either “CE” or “ME” Branch and having SPI more than  8.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the Name of students with their Branch name whose SPI between 7 and 9.</a:t>
            </a:r>
            <a:endParaRPr/>
          </a:p>
        </p:txBody>
      </p:sp>
      <p:graphicFrame>
        <p:nvGraphicFramePr>
          <p:cNvPr id="670" name="Google Shape;670;p27"/>
          <p:cNvGraphicFramePr/>
          <p:nvPr/>
        </p:nvGraphicFramePr>
        <p:xfrm>
          <a:off x="8555408" y="11732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771850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Punit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1" name="Google Shape;671;p27"/>
          <p:cNvGraphicFramePr/>
          <p:nvPr/>
        </p:nvGraphicFramePr>
        <p:xfrm>
          <a:off x="8555408" y="8096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sp>
        <p:nvSpPr>
          <p:cNvPr id="672" name="Google Shape;672;p27"/>
          <p:cNvSpPr txBox="1"/>
          <p:nvPr/>
        </p:nvSpPr>
        <p:spPr>
          <a:xfrm>
            <a:off x="131179" y="3476657"/>
            <a:ext cx="8138761" cy="2695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Write down the relational algebra for the employee table.</a:t>
            </a:r>
            <a:endParaRPr/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the Name of employee belong to “HR” Dept and having salary more than 20000.</a:t>
            </a:r>
            <a:endParaRPr/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the Name of all “Admin” and “HR” Dept’s employee.</a:t>
            </a:r>
            <a:endParaRPr b="0" i="0" sz="2000" u="none" cap="none" strike="noStrik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List the Name of employee with their Salary who belongs to “HR” or “Admin” Dept having salary more than 15000.</a:t>
            </a:r>
            <a:endParaRPr/>
          </a:p>
          <a:p>
            <a:pPr indent="-352425" lvl="1" marL="8096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the Name of employee along with their Dept name whose salary between 15000 and 30000.</a:t>
            </a:r>
            <a:endParaRPr/>
          </a:p>
        </p:txBody>
      </p:sp>
      <p:graphicFrame>
        <p:nvGraphicFramePr>
          <p:cNvPr id="673" name="Google Shape;673;p27"/>
          <p:cNvGraphicFramePr/>
          <p:nvPr/>
        </p:nvGraphicFramePr>
        <p:xfrm>
          <a:off x="8586785" y="38103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24225"/>
                <a:gridCol w="814700"/>
                <a:gridCol w="809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EmpID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Salary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Nilesh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Sales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Mayur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Hardik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HR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15000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Ajay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Admin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4" name="Google Shape;674;p27"/>
          <p:cNvGraphicFramePr/>
          <p:nvPr/>
        </p:nvGraphicFramePr>
        <p:xfrm>
          <a:off x="8586785" y="34467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2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Employee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675" name="Google Shape;675;p27"/>
          <p:cNvCxnSpPr/>
          <p:nvPr/>
        </p:nvCxnSpPr>
        <p:spPr>
          <a:xfrm>
            <a:off x="131179" y="3395235"/>
            <a:ext cx="11887200" cy="7823"/>
          </a:xfrm>
          <a:prstGeom prst="straightConnector1">
            <a:avLst/>
          </a:prstGeom>
          <a:noFill/>
          <a:ln cap="flat" cmpd="sng" w="28575">
            <a:solidFill>
              <a:srgbClr val="575757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Relational Algebra Operations</a:t>
            </a:r>
            <a:br>
              <a:rPr lang="en-US">
                <a:solidFill>
                  <a:srgbClr val="5C2321"/>
                </a:solidFill>
              </a:rPr>
            </a:br>
            <a:r>
              <a:rPr lang="en-US" sz="5400">
                <a:solidFill>
                  <a:schemeClr val="dk2"/>
                </a:solidFill>
              </a:rPr>
              <a:t>Cartesian Product / Cross Product</a:t>
            </a:r>
            <a:endParaRPr/>
          </a:p>
        </p:txBody>
      </p:sp>
      <p:sp>
        <p:nvSpPr>
          <p:cNvPr id="681" name="Google Shape;681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- 3.3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9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Cartesian Product / Cross Product</a:t>
            </a:r>
            <a:endParaRPr/>
          </a:p>
        </p:txBody>
      </p:sp>
      <p:sp>
        <p:nvSpPr>
          <p:cNvPr id="687" name="Google Shape;687;p29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 </a:t>
            </a:r>
            <a:r>
              <a:rPr lang="en-US" sz="2800"/>
              <a:t>X</a:t>
            </a:r>
            <a:r>
              <a:rPr lang="en-US"/>
              <a:t> (Cross)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i="1" lang="en-US"/>
              <a:t>Relation-1 (R1) </a:t>
            </a:r>
            <a:r>
              <a:rPr lang="en-US"/>
              <a:t>X </a:t>
            </a:r>
            <a:r>
              <a:rPr i="1" lang="en-US"/>
              <a:t>Relation-2 (R2)  </a:t>
            </a:r>
            <a:r>
              <a:rPr b="1" lang="en-US">
                <a:solidFill>
                  <a:srgbClr val="575757"/>
                </a:solidFill>
              </a:rPr>
              <a:t>OR</a:t>
            </a:r>
            <a:r>
              <a:rPr i="1" lang="en-US"/>
              <a:t>  Algebra-1 </a:t>
            </a:r>
            <a:r>
              <a:rPr lang="en-US"/>
              <a:t>X </a:t>
            </a:r>
            <a:r>
              <a:rPr i="1" lang="en-US"/>
              <a:t>Algebra-2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 It will </a:t>
            </a:r>
            <a:r>
              <a:rPr b="1" lang="en-US">
                <a:solidFill>
                  <a:schemeClr val="accent6"/>
                </a:solidFill>
              </a:rPr>
              <a:t>multiply each tuples </a:t>
            </a:r>
            <a:r>
              <a:rPr lang="en-US"/>
              <a:t>of Relation-1 to each tuples of Relation-2.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Attributes of Resultant Relation =  Attributes of R1 + Attributes of R2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Tuples of Resultant Relation = Tuples of R1 * Tuples of R2</a:t>
            </a:r>
            <a:endParaRPr/>
          </a:p>
        </p:txBody>
      </p:sp>
      <p:graphicFrame>
        <p:nvGraphicFramePr>
          <p:cNvPr id="688" name="Google Shape;688;p29"/>
          <p:cNvGraphicFramePr/>
          <p:nvPr/>
        </p:nvGraphicFramePr>
        <p:xfrm>
          <a:off x="514066" y="42843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851225"/>
                <a:gridCol w="878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9" name="Google Shape;689;p29"/>
          <p:cNvGraphicFramePr/>
          <p:nvPr/>
        </p:nvGraphicFramePr>
        <p:xfrm>
          <a:off x="514066" y="39207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690" name="Google Shape;690;p29"/>
          <p:cNvCxnSpPr/>
          <p:nvPr/>
        </p:nvCxnSpPr>
        <p:spPr>
          <a:xfrm>
            <a:off x="514066" y="3505654"/>
            <a:ext cx="6400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91" name="Google Shape;691;p29"/>
          <p:cNvGraphicFramePr/>
          <p:nvPr/>
        </p:nvGraphicFramePr>
        <p:xfrm>
          <a:off x="514066" y="31176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2" name="Google Shape;692;p29"/>
          <p:cNvGraphicFramePr/>
          <p:nvPr/>
        </p:nvGraphicFramePr>
        <p:xfrm>
          <a:off x="1612995" y="31087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4089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Cross Product between Student and Result.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93" name="Google Shape;693;p29"/>
          <p:cNvCxnSpPr/>
          <p:nvPr/>
        </p:nvCxnSpPr>
        <p:spPr>
          <a:xfrm>
            <a:off x="7735265" y="3502442"/>
            <a:ext cx="31089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94" name="Google Shape;694;p29"/>
          <p:cNvGraphicFramePr/>
          <p:nvPr/>
        </p:nvGraphicFramePr>
        <p:xfrm>
          <a:off x="7735265" y="31144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5" name="Google Shape;695;p29"/>
          <p:cNvGraphicFramePr/>
          <p:nvPr/>
        </p:nvGraphicFramePr>
        <p:xfrm>
          <a:off x="8745294" y="30235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243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(Result)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6" name="Google Shape;696;p29"/>
          <p:cNvGraphicFramePr/>
          <p:nvPr/>
        </p:nvGraphicFramePr>
        <p:xfrm>
          <a:off x="7112965" y="42843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67150"/>
                <a:gridCol w="851225"/>
                <a:gridCol w="878200"/>
                <a:gridCol w="1235400"/>
                <a:gridCol w="5220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Student.RNo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Result.RNo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7" name="Google Shape;697;p29"/>
          <p:cNvGraphicFramePr/>
          <p:nvPr/>
        </p:nvGraphicFramePr>
        <p:xfrm>
          <a:off x="7112965" y="39207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8" name="Google Shape;698;p29"/>
          <p:cNvGraphicFramePr/>
          <p:nvPr/>
        </p:nvGraphicFramePr>
        <p:xfrm>
          <a:off x="4217717" y="42932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9" name="Google Shape;699;p29"/>
          <p:cNvGraphicFramePr/>
          <p:nvPr/>
        </p:nvGraphicFramePr>
        <p:xfrm>
          <a:off x="4217717" y="39296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147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sp>
        <p:nvSpPr>
          <p:cNvPr id="700" name="Google Shape;700;p29"/>
          <p:cNvSpPr/>
          <p:nvPr/>
        </p:nvSpPr>
        <p:spPr>
          <a:xfrm>
            <a:off x="7119939" y="4307175"/>
            <a:ext cx="1352356" cy="38865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1" name="Google Shape;701;p29"/>
          <p:cNvSpPr/>
          <p:nvPr/>
        </p:nvSpPr>
        <p:spPr>
          <a:xfrm>
            <a:off x="10210800" y="4307175"/>
            <a:ext cx="1238250" cy="38865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702" name="Google Shape;702;p29"/>
          <p:cNvCxnSpPr/>
          <p:nvPr/>
        </p:nvCxnSpPr>
        <p:spPr>
          <a:xfrm>
            <a:off x="2844458" y="4941383"/>
            <a:ext cx="1362328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3" name="Google Shape;703;p29"/>
          <p:cNvCxnSpPr/>
          <p:nvPr/>
        </p:nvCxnSpPr>
        <p:spPr>
          <a:xfrm>
            <a:off x="2833155" y="5269043"/>
            <a:ext cx="1362328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4" name="Google Shape;704;p29"/>
          <p:cNvCxnSpPr/>
          <p:nvPr/>
        </p:nvCxnSpPr>
        <p:spPr>
          <a:xfrm>
            <a:off x="2844458" y="4941383"/>
            <a:ext cx="1362328" cy="32766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5" name="Google Shape;705;p29"/>
          <p:cNvCxnSpPr/>
          <p:nvPr/>
        </p:nvCxnSpPr>
        <p:spPr>
          <a:xfrm flipH="1" rot="10800000">
            <a:off x="2833155" y="4941383"/>
            <a:ext cx="1373631" cy="32766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6" name="Google Shape;706;p29"/>
          <p:cNvSpPr/>
          <p:nvPr/>
        </p:nvSpPr>
        <p:spPr>
          <a:xfrm>
            <a:off x="472930" y="5664818"/>
            <a:ext cx="6483071" cy="872599"/>
          </a:xfrm>
          <a:prstGeom prst="wedgeRoundRectCallout">
            <a:avLst>
              <a:gd fmla="val -49350" name="adj1"/>
              <a:gd fmla="val 4128" name="adj2"/>
              <a:gd fmla="val 16667" name="adj3"/>
            </a:avLst>
          </a:prstGeom>
          <a:solidFill>
            <a:srgbClr val="F0D9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2" marL="539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both relations have some attribute with the same name, it can be distinguished by combing </a:t>
            </a:r>
            <a:r>
              <a:rPr b="1" i="0" lang="en-US" sz="1800" u="none" cap="none" strike="noStrik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relation-name.attribute-name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0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Cartesian Product / Cross Product Example</a:t>
            </a:r>
            <a:endParaRPr/>
          </a:p>
        </p:txBody>
      </p:sp>
      <p:sp>
        <p:nvSpPr>
          <p:cNvPr id="712" name="Google Shape;712;p30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713" name="Google Shape;713;p30"/>
          <p:cNvGraphicFramePr/>
          <p:nvPr/>
        </p:nvGraphicFramePr>
        <p:xfrm>
          <a:off x="673720" y="188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851225"/>
                <a:gridCol w="878200"/>
                <a:gridCol w="6385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Sem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4" name="Google Shape;714;p30"/>
          <p:cNvGraphicFramePr/>
          <p:nvPr/>
        </p:nvGraphicFramePr>
        <p:xfrm>
          <a:off x="673720" y="15258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715" name="Google Shape;715;p30"/>
          <p:cNvCxnSpPr/>
          <p:nvPr/>
        </p:nvCxnSpPr>
        <p:spPr>
          <a:xfrm>
            <a:off x="673720" y="1343017"/>
            <a:ext cx="6400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716" name="Google Shape;716;p30"/>
          <p:cNvGraphicFramePr/>
          <p:nvPr/>
        </p:nvGraphicFramePr>
        <p:xfrm>
          <a:off x="673720" y="9550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7" name="Google Shape;717;p30"/>
          <p:cNvGraphicFramePr/>
          <p:nvPr/>
        </p:nvGraphicFramePr>
        <p:xfrm>
          <a:off x="1772649" y="9461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4089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Cross Product between Student and Result.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18" name="Google Shape;718;p30"/>
          <p:cNvCxnSpPr/>
          <p:nvPr/>
        </p:nvCxnSpPr>
        <p:spPr>
          <a:xfrm>
            <a:off x="673720" y="3803827"/>
            <a:ext cx="63093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719" name="Google Shape;719;p30"/>
          <p:cNvGraphicFramePr/>
          <p:nvPr/>
        </p:nvGraphicFramePr>
        <p:xfrm>
          <a:off x="673720" y="34158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0" name="Google Shape;720;p30"/>
          <p:cNvGraphicFramePr/>
          <p:nvPr/>
        </p:nvGraphicFramePr>
        <p:xfrm>
          <a:off x="1672863" y="32151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4787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Roboto Condensed"/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∏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RNo, Name, Branch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∏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RNo, SPI, BL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(Result)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21" name="Google Shape;721;p30"/>
          <p:cNvGraphicFramePr/>
          <p:nvPr/>
        </p:nvGraphicFramePr>
        <p:xfrm>
          <a:off x="673720" y="43389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94150"/>
                <a:gridCol w="851225"/>
                <a:gridCol w="878200"/>
                <a:gridCol w="1262375"/>
                <a:gridCol w="551175"/>
                <a:gridCol w="4713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Student.RNo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Result.RNo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2" name="Google Shape;722;p30"/>
          <p:cNvGraphicFramePr/>
          <p:nvPr/>
        </p:nvGraphicFramePr>
        <p:xfrm>
          <a:off x="673720" y="39753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3" name="Google Shape;723;p30"/>
          <p:cNvGraphicFramePr/>
          <p:nvPr/>
        </p:nvGraphicFramePr>
        <p:xfrm>
          <a:off x="4377371" y="18984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551175"/>
                <a:gridCol w="473400"/>
                <a:gridCol w="6924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Rank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4" name="Google Shape;724;p30"/>
          <p:cNvGraphicFramePr/>
          <p:nvPr/>
        </p:nvGraphicFramePr>
        <p:xfrm>
          <a:off x="4377371" y="15348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147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sp>
        <p:nvSpPr>
          <p:cNvPr id="725" name="Google Shape;725;p30"/>
          <p:cNvSpPr/>
          <p:nvPr/>
        </p:nvSpPr>
        <p:spPr>
          <a:xfrm>
            <a:off x="7617060" y="914540"/>
            <a:ext cx="3657600" cy="1097280"/>
          </a:xfrm>
          <a:prstGeom prst="wedgeRoundRectCallout">
            <a:avLst>
              <a:gd fmla="val -67051" name="adj1"/>
              <a:gd fmla="val -9966" name="adj2"/>
              <a:gd fmla="val 16667" name="adj3"/>
            </a:avLst>
          </a:prstGeom>
          <a:solidFill>
            <a:srgbClr val="E8E8E8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2" marL="539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Consider only </a:t>
            </a:r>
            <a:r>
              <a:rPr b="0" i="0" lang="en-US" sz="1800" u="none" cap="none" strike="noStrik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selected attributes</a:t>
            </a:r>
            <a:endParaRPr/>
          </a:p>
          <a:p>
            <a:pPr indent="-285750" lvl="2" marL="339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Student – RNo, Name and Branch</a:t>
            </a:r>
            <a:endParaRPr/>
          </a:p>
          <a:p>
            <a:pPr indent="-285750" lvl="2" marL="339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 – RNo, SPI and BL </a:t>
            </a:r>
            <a:endParaRPr b="0" i="0" sz="1800" u="none" cap="none" strike="noStrik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1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Cartesian Product / Cross Product Example</a:t>
            </a:r>
            <a:endParaRPr/>
          </a:p>
        </p:txBody>
      </p:sp>
      <p:sp>
        <p:nvSpPr>
          <p:cNvPr id="731" name="Google Shape;731;p31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732" name="Google Shape;732;p31"/>
          <p:cNvGraphicFramePr/>
          <p:nvPr/>
        </p:nvGraphicFramePr>
        <p:xfrm>
          <a:off x="673720" y="188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851225"/>
                <a:gridCol w="878200"/>
                <a:gridCol w="6385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Sem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Om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Dhara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3" name="Google Shape;733;p31"/>
          <p:cNvGraphicFramePr/>
          <p:nvPr/>
        </p:nvGraphicFramePr>
        <p:xfrm>
          <a:off x="673720" y="15258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734" name="Google Shape;734;p31"/>
          <p:cNvCxnSpPr/>
          <p:nvPr/>
        </p:nvCxnSpPr>
        <p:spPr>
          <a:xfrm>
            <a:off x="673720" y="1343017"/>
            <a:ext cx="6400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735" name="Google Shape;735;p31"/>
          <p:cNvGraphicFramePr/>
          <p:nvPr/>
        </p:nvGraphicFramePr>
        <p:xfrm>
          <a:off x="673720" y="9550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6" name="Google Shape;736;p31"/>
          <p:cNvGraphicFramePr/>
          <p:nvPr/>
        </p:nvGraphicFramePr>
        <p:xfrm>
          <a:off x="1772649" y="9461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4089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Cross Product between Student and Result.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37" name="Google Shape;737;p31"/>
          <p:cNvCxnSpPr/>
          <p:nvPr/>
        </p:nvCxnSpPr>
        <p:spPr>
          <a:xfrm>
            <a:off x="673720" y="4529542"/>
            <a:ext cx="63093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738" name="Google Shape;738;p31"/>
          <p:cNvGraphicFramePr/>
          <p:nvPr/>
        </p:nvGraphicFramePr>
        <p:xfrm>
          <a:off x="673720" y="41415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9" name="Google Shape;739;p31"/>
          <p:cNvGraphicFramePr/>
          <p:nvPr/>
        </p:nvGraphicFramePr>
        <p:xfrm>
          <a:off x="1672863" y="39408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4835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Roboto Condensed"/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Branch=‘CE’ Λ Sem=3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SPI&gt;7 Λ BL&lt;1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(Result)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0" name="Google Shape;740;p31"/>
          <p:cNvGraphicFramePr/>
          <p:nvPr/>
        </p:nvGraphicFramePr>
        <p:xfrm>
          <a:off x="673720" y="50646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94150"/>
                <a:gridCol w="762325"/>
                <a:gridCol w="878200"/>
                <a:gridCol w="638500"/>
                <a:gridCol w="1262375"/>
                <a:gridCol w="551175"/>
                <a:gridCol w="473400"/>
                <a:gridCol w="6924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Student.RNo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Sem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Result.RNo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Rank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OM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1" name="Google Shape;741;p31"/>
          <p:cNvGraphicFramePr/>
          <p:nvPr/>
        </p:nvGraphicFramePr>
        <p:xfrm>
          <a:off x="673720" y="47010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2" name="Google Shape;742;p31"/>
          <p:cNvGraphicFramePr/>
          <p:nvPr/>
        </p:nvGraphicFramePr>
        <p:xfrm>
          <a:off x="4377371" y="18984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551175"/>
                <a:gridCol w="473400"/>
                <a:gridCol w="6924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Rank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3" name="Google Shape;743;p31"/>
          <p:cNvGraphicFramePr/>
          <p:nvPr/>
        </p:nvGraphicFramePr>
        <p:xfrm>
          <a:off x="4377371" y="15348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147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sp>
        <p:nvSpPr>
          <p:cNvPr id="744" name="Google Shape;744;p31"/>
          <p:cNvSpPr/>
          <p:nvPr/>
        </p:nvSpPr>
        <p:spPr>
          <a:xfrm>
            <a:off x="7617060" y="914540"/>
            <a:ext cx="3749040" cy="1097280"/>
          </a:xfrm>
          <a:prstGeom prst="wedgeRoundRectCallout">
            <a:avLst>
              <a:gd fmla="val -67051" name="adj1"/>
              <a:gd fmla="val -9966" name="adj2"/>
              <a:gd fmla="val 16667" name="adj3"/>
            </a:avLst>
          </a:prstGeom>
          <a:solidFill>
            <a:srgbClr val="E8E8E8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2" marL="539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Consider only </a:t>
            </a:r>
            <a:r>
              <a:rPr b="0" i="0" lang="en-US" sz="1800" u="none" cap="none" strike="noStrik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selected tuples</a:t>
            </a:r>
            <a:endParaRPr/>
          </a:p>
          <a:p>
            <a:pPr indent="-285750" lvl="2" marL="339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Student – Branch=‘CE’ and Sem=3</a:t>
            </a:r>
            <a:endParaRPr b="0" i="0" sz="1800" u="none" cap="none" strike="noStrik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285750" lvl="2" marL="339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 – SPI&gt;7 and BL&lt;1 </a:t>
            </a:r>
            <a:endParaRPr b="0" i="0" sz="1800" u="none" cap="none" strike="noStrik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45" name="Google Shape;745;p31"/>
          <p:cNvSpPr/>
          <p:nvPr/>
        </p:nvSpPr>
        <p:spPr>
          <a:xfrm>
            <a:off x="673720" y="2285208"/>
            <a:ext cx="2983880" cy="427512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46" name="Google Shape;746;p31"/>
          <p:cNvSpPr/>
          <p:nvPr/>
        </p:nvSpPr>
        <p:spPr>
          <a:xfrm>
            <a:off x="673720" y="3121785"/>
            <a:ext cx="2983880" cy="427512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47" name="Google Shape;747;p31"/>
          <p:cNvSpPr/>
          <p:nvPr/>
        </p:nvSpPr>
        <p:spPr>
          <a:xfrm>
            <a:off x="4360890" y="2712720"/>
            <a:ext cx="2340161" cy="427512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Relational Algebra Operations</a:t>
            </a:r>
            <a:br>
              <a:rPr lang="en-US">
                <a:solidFill>
                  <a:srgbClr val="5C2321"/>
                </a:solidFill>
              </a:rPr>
            </a:br>
            <a:r>
              <a:rPr lang="en-US">
                <a:solidFill>
                  <a:schemeClr val="dk2"/>
                </a:solidFill>
              </a:rPr>
              <a:t>Natural Join / Inner Join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53" name="Google Shape;753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- 3.4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3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Natural Join / Inner Join</a:t>
            </a:r>
            <a:endParaRPr/>
          </a:p>
        </p:txBody>
      </p:sp>
      <p:sp>
        <p:nvSpPr>
          <p:cNvPr id="759" name="Google Shape;759;p33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i="1" lang="en-US"/>
              <a:t>Relation-1 (R1) </a:t>
            </a:r>
            <a:r>
              <a:rPr lang="en-US"/>
              <a:t>     </a:t>
            </a:r>
            <a:r>
              <a:rPr i="1" lang="en-US"/>
              <a:t>Relation-2 (R2)  </a:t>
            </a:r>
            <a:r>
              <a:rPr b="1" lang="en-US">
                <a:solidFill>
                  <a:srgbClr val="575757"/>
                </a:solidFill>
              </a:rPr>
              <a:t>OR</a:t>
            </a:r>
            <a:r>
              <a:rPr i="1" lang="en-US"/>
              <a:t>  Algebra-1      Algebra-2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 Natural join will </a:t>
            </a:r>
            <a:r>
              <a:rPr b="1" lang="en-US">
                <a:solidFill>
                  <a:schemeClr val="accent6"/>
                </a:solidFill>
              </a:rPr>
              <a:t>retrieve consistent data </a:t>
            </a:r>
            <a:r>
              <a:rPr lang="en-US"/>
              <a:t>from multiple relations.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It </a:t>
            </a:r>
            <a:r>
              <a:rPr b="1" lang="en-US">
                <a:solidFill>
                  <a:schemeClr val="accent6"/>
                </a:solidFill>
              </a:rPr>
              <a:t>combines records </a:t>
            </a:r>
            <a:r>
              <a:rPr lang="en-US"/>
              <a:t>from different relations that </a:t>
            </a:r>
            <a:r>
              <a:rPr b="1" lang="en-US">
                <a:solidFill>
                  <a:schemeClr val="accent6"/>
                </a:solidFill>
              </a:rPr>
              <a:t>satisfy a given condition</a:t>
            </a:r>
            <a:r>
              <a:rPr lang="en-US"/>
              <a:t>.</a:t>
            </a:r>
            <a:endParaRPr/>
          </a:p>
        </p:txBody>
      </p:sp>
      <p:sp>
        <p:nvSpPr>
          <p:cNvPr id="760" name="Google Shape;760;p33"/>
          <p:cNvSpPr/>
          <p:nvPr/>
        </p:nvSpPr>
        <p:spPr>
          <a:xfrm rot="5400000">
            <a:off x="1513892" y="918062"/>
            <a:ext cx="274320" cy="274320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3"/>
          <p:cNvSpPr txBox="1"/>
          <p:nvPr/>
        </p:nvSpPr>
        <p:spPr>
          <a:xfrm>
            <a:off x="1582455" y="986630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2" name="Google Shape;762;p33"/>
          <p:cNvSpPr/>
          <p:nvPr/>
        </p:nvSpPr>
        <p:spPr>
          <a:xfrm rot="5400000">
            <a:off x="3489132" y="1375391"/>
            <a:ext cx="274320" cy="274320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3"/>
          <p:cNvSpPr txBox="1"/>
          <p:nvPr/>
        </p:nvSpPr>
        <p:spPr>
          <a:xfrm>
            <a:off x="3557705" y="1443955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4" name="Google Shape;764;p33"/>
          <p:cNvSpPr/>
          <p:nvPr/>
        </p:nvSpPr>
        <p:spPr>
          <a:xfrm rot="5400000">
            <a:off x="7385786" y="1353938"/>
            <a:ext cx="274320" cy="274320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3"/>
          <p:cNvSpPr txBox="1"/>
          <p:nvPr/>
        </p:nvSpPr>
        <p:spPr>
          <a:xfrm>
            <a:off x="7454355" y="1422505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766" name="Google Shape;766;p33"/>
          <p:cNvGraphicFramePr/>
          <p:nvPr/>
        </p:nvGraphicFramePr>
        <p:xfrm>
          <a:off x="482870" y="35174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30325"/>
                <a:gridCol w="59848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7" name="Google Shape;767;p33"/>
          <p:cNvGraphicFramePr/>
          <p:nvPr/>
        </p:nvGraphicFramePr>
        <p:xfrm>
          <a:off x="482870" y="3975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29575"/>
                <a:gridCol w="59856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Step – 1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It performs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Cartesian Product</a:t>
                      </a:r>
                      <a:endParaRPr b="0" sz="20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8" name="Google Shape;768;p33"/>
          <p:cNvGraphicFramePr/>
          <p:nvPr/>
        </p:nvGraphicFramePr>
        <p:xfrm>
          <a:off x="486227" y="30584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1516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</a:rPr>
                        <a:t>Steps performed in Natural Join</a:t>
                      </a:r>
                      <a:endParaRPr b="1" sz="2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9" name="Google Shape;769;p33"/>
          <p:cNvGraphicFramePr/>
          <p:nvPr/>
        </p:nvGraphicFramePr>
        <p:xfrm>
          <a:off x="482872" y="43712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29575"/>
                <a:gridCol w="59856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Step – 2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Then it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deletes inconsistent tuples</a:t>
                      </a:r>
                      <a:endParaRPr b="0" sz="20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0" name="Google Shape;770;p33"/>
          <p:cNvGraphicFramePr/>
          <p:nvPr/>
        </p:nvGraphicFramePr>
        <p:xfrm>
          <a:off x="482872" y="47651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29575"/>
                <a:gridCol w="59856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Step – 3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Then it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removes an attribute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from duplicate attributes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Image result for natural join in sql" id="771" name="Google Shape;77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6797" y="3148875"/>
            <a:ext cx="3474720" cy="2262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4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Natural Join / Inner Join Example</a:t>
            </a:r>
            <a:endParaRPr/>
          </a:p>
        </p:txBody>
      </p:sp>
      <p:sp>
        <p:nvSpPr>
          <p:cNvPr id="777" name="Google Shape;777;p34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778" name="Google Shape;778;p34"/>
          <p:cNvGraphicFramePr/>
          <p:nvPr/>
        </p:nvGraphicFramePr>
        <p:xfrm>
          <a:off x="514066" y="19115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851225"/>
                <a:gridCol w="878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sng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sng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9" name="Google Shape;779;p34"/>
          <p:cNvGraphicFramePr/>
          <p:nvPr/>
        </p:nvGraphicFramePr>
        <p:xfrm>
          <a:off x="514066" y="15479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780" name="Google Shape;780;p34"/>
          <p:cNvCxnSpPr/>
          <p:nvPr/>
        </p:nvCxnSpPr>
        <p:spPr>
          <a:xfrm>
            <a:off x="514066" y="1389574"/>
            <a:ext cx="62179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781" name="Google Shape;781;p34"/>
          <p:cNvGraphicFramePr/>
          <p:nvPr/>
        </p:nvGraphicFramePr>
        <p:xfrm>
          <a:off x="514066" y="10015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2" name="Google Shape;782;p34"/>
          <p:cNvGraphicFramePr/>
          <p:nvPr/>
        </p:nvGraphicFramePr>
        <p:xfrm>
          <a:off x="1612995" y="9927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4089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Natural Join between Student and Result.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83" name="Google Shape;783;p34"/>
          <p:cNvCxnSpPr/>
          <p:nvPr/>
        </p:nvCxnSpPr>
        <p:spPr>
          <a:xfrm>
            <a:off x="7735265" y="1386362"/>
            <a:ext cx="32004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784" name="Google Shape;784;p34"/>
          <p:cNvGraphicFramePr/>
          <p:nvPr/>
        </p:nvGraphicFramePr>
        <p:xfrm>
          <a:off x="7735265" y="998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5" name="Google Shape;785;p34"/>
          <p:cNvGraphicFramePr/>
          <p:nvPr/>
        </p:nvGraphicFramePr>
        <p:xfrm>
          <a:off x="8745294" y="9884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3101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     (Result)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86" name="Google Shape;786;p34"/>
          <p:cNvGraphicFramePr/>
          <p:nvPr/>
        </p:nvGraphicFramePr>
        <p:xfrm>
          <a:off x="7754651" y="19115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851225"/>
                <a:gridCol w="878200"/>
                <a:gridCol w="5220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7" name="Google Shape;787;p34"/>
          <p:cNvGraphicFramePr/>
          <p:nvPr/>
        </p:nvGraphicFramePr>
        <p:xfrm>
          <a:off x="7754651" y="15479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8" name="Google Shape;788;p34"/>
          <p:cNvGraphicFramePr/>
          <p:nvPr/>
        </p:nvGraphicFramePr>
        <p:xfrm>
          <a:off x="4217717" y="19205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sng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sng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9" name="Google Shape;789;p34"/>
          <p:cNvGraphicFramePr/>
          <p:nvPr/>
        </p:nvGraphicFramePr>
        <p:xfrm>
          <a:off x="4217717" y="15569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147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sp>
        <p:nvSpPr>
          <p:cNvPr id="790" name="Google Shape;790;p34"/>
          <p:cNvSpPr/>
          <p:nvPr/>
        </p:nvSpPr>
        <p:spPr>
          <a:xfrm rot="5400000">
            <a:off x="9802177" y="1061245"/>
            <a:ext cx="274320" cy="274320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4"/>
          <p:cNvSpPr txBox="1"/>
          <p:nvPr/>
        </p:nvSpPr>
        <p:spPr>
          <a:xfrm>
            <a:off x="9870755" y="1129805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92" name="Google Shape;792;p34"/>
          <p:cNvCxnSpPr/>
          <p:nvPr/>
        </p:nvCxnSpPr>
        <p:spPr>
          <a:xfrm>
            <a:off x="529342" y="3695354"/>
            <a:ext cx="104241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793" name="Google Shape;793;p34"/>
          <p:cNvGraphicFramePr/>
          <p:nvPr/>
        </p:nvGraphicFramePr>
        <p:xfrm>
          <a:off x="529342" y="33073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48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Steps performed in Natural Join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4" name="Google Shape;794;p34"/>
          <p:cNvGraphicFramePr/>
          <p:nvPr/>
        </p:nvGraphicFramePr>
        <p:xfrm>
          <a:off x="529342" y="42304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94150"/>
                <a:gridCol w="851225"/>
                <a:gridCol w="878200"/>
                <a:gridCol w="1262375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Student.RNo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Result.RNo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5" name="Google Shape;795;p34"/>
          <p:cNvGraphicFramePr/>
          <p:nvPr/>
        </p:nvGraphicFramePr>
        <p:xfrm>
          <a:off x="529342" y="3866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986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Step:1 Perform </a:t>
                      </a:r>
                      <a:r>
                        <a:rPr b="1" lang="en-US" sz="1800">
                          <a:solidFill>
                            <a:schemeClr val="dk2"/>
                          </a:solidFill>
                        </a:rPr>
                        <a:t>Cross</a:t>
                      </a:r>
                      <a:r>
                        <a:rPr b="1" lang="en-US" sz="1800">
                          <a:solidFill>
                            <a:schemeClr val="dk2"/>
                          </a:solidFill>
                        </a:rPr>
                        <a:t> Product</a:t>
                      </a:r>
                      <a:endParaRPr b="1" sz="1800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6" name="Google Shape;796;p34"/>
          <p:cNvGraphicFramePr/>
          <p:nvPr/>
        </p:nvGraphicFramePr>
        <p:xfrm>
          <a:off x="5847300" y="42224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94150"/>
                <a:gridCol w="851225"/>
                <a:gridCol w="878200"/>
                <a:gridCol w="1262375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Student.RNo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Result.RNo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7" name="Google Shape;797;p34"/>
          <p:cNvGraphicFramePr/>
          <p:nvPr/>
        </p:nvGraphicFramePr>
        <p:xfrm>
          <a:off x="5847300" y="38588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5166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Step:2 </a:t>
                      </a:r>
                      <a:r>
                        <a:rPr b="1" lang="en-US" sz="1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Removes inconsistent tuples</a:t>
                      </a:r>
                      <a:endParaRPr b="1" sz="1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8" name="Google Shape;798;p34"/>
          <p:cNvGraphicFramePr/>
          <p:nvPr/>
        </p:nvGraphicFramePr>
        <p:xfrm>
          <a:off x="5855874" y="5507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9" name="Google Shape;799;p34"/>
          <p:cNvGraphicFramePr/>
          <p:nvPr/>
        </p:nvGraphicFramePr>
        <p:xfrm>
          <a:off x="5855874" y="51443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151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Step:3 </a:t>
                      </a:r>
                      <a:r>
                        <a:rPr b="1" lang="en-US" sz="1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Removes an attribute from duplicate</a:t>
                      </a:r>
                      <a:endParaRPr b="1" sz="1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sp>
        <p:nvSpPr>
          <p:cNvPr id="800" name="Google Shape;800;p34"/>
          <p:cNvSpPr txBox="1"/>
          <p:nvPr/>
        </p:nvSpPr>
        <p:spPr>
          <a:xfrm>
            <a:off x="5669280" y="2874350"/>
            <a:ext cx="6161649" cy="730313"/>
          </a:xfrm>
          <a:prstGeom prst="rect">
            <a:avLst/>
          </a:prstGeom>
          <a:solidFill>
            <a:srgbClr val="F0D9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27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perform a Natural Join there must be </a:t>
            </a:r>
            <a:r>
              <a:rPr b="1" lang="en-US" sz="2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one common attribute (column) 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between two relations.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5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Natural Join / Inner Join Example</a:t>
            </a:r>
            <a:endParaRPr/>
          </a:p>
        </p:txBody>
      </p:sp>
      <p:sp>
        <p:nvSpPr>
          <p:cNvPr id="806" name="Google Shape;806;p35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807" name="Google Shape;807;p35"/>
          <p:cNvGraphicFramePr/>
          <p:nvPr/>
        </p:nvGraphicFramePr>
        <p:xfrm>
          <a:off x="514066" y="19115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851225"/>
                <a:gridCol w="878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sng">
                          <a:solidFill>
                            <a:schemeClr val="dk1"/>
                          </a:solidFill>
                        </a:rPr>
                        <a:t>BID</a:t>
                      </a:r>
                      <a:endParaRPr b="1" sz="1800" u="sng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HOD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Patel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8" name="Google Shape;808;p35"/>
          <p:cNvGraphicFramePr/>
          <p:nvPr/>
        </p:nvGraphicFramePr>
        <p:xfrm>
          <a:off x="514066" y="15479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782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809" name="Google Shape;809;p35"/>
          <p:cNvCxnSpPr/>
          <p:nvPr/>
        </p:nvCxnSpPr>
        <p:spPr>
          <a:xfrm>
            <a:off x="514066" y="1389574"/>
            <a:ext cx="62179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810" name="Google Shape;810;p35"/>
          <p:cNvGraphicFramePr/>
          <p:nvPr/>
        </p:nvGraphicFramePr>
        <p:xfrm>
          <a:off x="514066" y="10015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1" name="Google Shape;811;p35"/>
          <p:cNvGraphicFramePr/>
          <p:nvPr/>
        </p:nvGraphicFramePr>
        <p:xfrm>
          <a:off x="1612995" y="9927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2787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Natural Join between Branch and Faculty.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12" name="Google Shape;812;p35"/>
          <p:cNvCxnSpPr/>
          <p:nvPr/>
        </p:nvCxnSpPr>
        <p:spPr>
          <a:xfrm>
            <a:off x="7735265" y="1386362"/>
            <a:ext cx="32004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813" name="Google Shape;813;p35"/>
          <p:cNvGraphicFramePr/>
          <p:nvPr/>
        </p:nvGraphicFramePr>
        <p:xfrm>
          <a:off x="7735265" y="998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4" name="Google Shape;814;p35"/>
          <p:cNvGraphicFramePr/>
          <p:nvPr/>
        </p:nvGraphicFramePr>
        <p:xfrm>
          <a:off x="8745294" y="9884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3101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(Branch)      (Faculty)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5" name="Google Shape;815;p35"/>
          <p:cNvGraphicFramePr/>
          <p:nvPr/>
        </p:nvGraphicFramePr>
        <p:xfrm>
          <a:off x="7754651" y="19115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21350"/>
                <a:gridCol w="863925"/>
                <a:gridCol w="698825"/>
                <a:gridCol w="533725"/>
                <a:gridCol w="8702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HOD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FID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Patel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6" name="Google Shape;816;p35"/>
          <p:cNvGraphicFramePr/>
          <p:nvPr/>
        </p:nvGraphicFramePr>
        <p:xfrm>
          <a:off x="7754651" y="15479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7" name="Google Shape;817;p35"/>
          <p:cNvGraphicFramePr/>
          <p:nvPr/>
        </p:nvGraphicFramePr>
        <p:xfrm>
          <a:off x="4217717" y="19205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73400"/>
                <a:gridCol w="870275"/>
                <a:gridCol w="548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sng">
                          <a:solidFill>
                            <a:schemeClr val="dk1"/>
                          </a:solidFill>
                        </a:rPr>
                        <a:t>FID</a:t>
                      </a:r>
                      <a:endParaRPr b="1" sz="1800" u="sng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BID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8" name="Google Shape;818;p35"/>
          <p:cNvGraphicFramePr/>
          <p:nvPr/>
        </p:nvGraphicFramePr>
        <p:xfrm>
          <a:off x="4217717" y="15569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97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Faculty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sp>
        <p:nvSpPr>
          <p:cNvPr id="819" name="Google Shape;819;p35"/>
          <p:cNvSpPr/>
          <p:nvPr/>
        </p:nvSpPr>
        <p:spPr>
          <a:xfrm rot="5400000">
            <a:off x="9732327" y="1059657"/>
            <a:ext cx="274320" cy="274320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5"/>
          <p:cNvSpPr txBox="1"/>
          <p:nvPr/>
        </p:nvSpPr>
        <p:spPr>
          <a:xfrm>
            <a:off x="9800905" y="1128230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1" name="Google Shape;821;p35"/>
          <p:cNvSpPr txBox="1"/>
          <p:nvPr/>
        </p:nvSpPr>
        <p:spPr>
          <a:xfrm>
            <a:off x="514066" y="3602536"/>
            <a:ext cx="10543140" cy="1097280"/>
          </a:xfrm>
          <a:prstGeom prst="rect">
            <a:avLst/>
          </a:prstGeom>
          <a:solidFill>
            <a:srgbClr val="F0D9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27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perform a Natural Join there must be </a:t>
            </a:r>
            <a:r>
              <a:rPr b="1" lang="en-US" sz="2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one common attribute (column) </a:t>
            </a:r>
            <a:r>
              <a:rPr lang="en-U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between two relations.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6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Write down relational algebra for the following tables/relations</a:t>
            </a:r>
            <a:endParaRPr/>
          </a:p>
        </p:txBody>
      </p:sp>
      <p:sp>
        <p:nvSpPr>
          <p:cNvPr id="827" name="Google Shape;827;p36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Relations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Student (Rno, Sname, Address, City, Mobile)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Department (Did, Dname)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Academic (Rno, Did, SPI, CPI, Backlog)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Guide (Rno, PName, Fid)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Faculty (Fid, Fname, Subject, Did, Salary)</a:t>
            </a:r>
            <a:endParaRPr/>
          </a:p>
        </p:txBody>
      </p:sp>
      <p:cxnSp>
        <p:nvCxnSpPr>
          <p:cNvPr id="828" name="Google Shape;828;p36"/>
          <p:cNvCxnSpPr/>
          <p:nvPr/>
        </p:nvCxnSpPr>
        <p:spPr>
          <a:xfrm>
            <a:off x="297204" y="3579111"/>
            <a:ext cx="115214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829" name="Google Shape;829;p36"/>
          <p:cNvGraphicFramePr/>
          <p:nvPr/>
        </p:nvGraphicFramePr>
        <p:xfrm>
          <a:off x="297204" y="31911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0" name="Google Shape;830;p36"/>
          <p:cNvGraphicFramePr/>
          <p:nvPr/>
        </p:nvGraphicFramePr>
        <p:xfrm>
          <a:off x="1396133" y="31822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5810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List the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name of students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with their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department name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and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of all student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belong to “CE” department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31" name="Google Shape;831;p36"/>
          <p:cNvCxnSpPr/>
          <p:nvPr/>
        </p:nvCxnSpPr>
        <p:spPr>
          <a:xfrm>
            <a:off x="297204" y="4263570"/>
            <a:ext cx="81381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832" name="Google Shape;832;p36"/>
          <p:cNvGraphicFramePr/>
          <p:nvPr/>
        </p:nvGraphicFramePr>
        <p:xfrm>
          <a:off x="297204" y="38755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3" name="Google Shape;833;p36"/>
          <p:cNvGraphicFramePr/>
          <p:nvPr/>
        </p:nvGraphicFramePr>
        <p:xfrm>
          <a:off x="1307233" y="37465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672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Sname, Dname, SPI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4" name="Google Shape;834;p36"/>
          <p:cNvGraphicFramePr/>
          <p:nvPr/>
        </p:nvGraphicFramePr>
        <p:xfrm>
          <a:off x="2952862" y="36859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594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Dname=‘CE’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(Student      (Department      Academic)))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5" name="Google Shape;835;p36"/>
          <p:cNvSpPr/>
          <p:nvPr/>
        </p:nvSpPr>
        <p:spPr>
          <a:xfrm rot="5400000">
            <a:off x="5236246" y="3880174"/>
            <a:ext cx="274320" cy="274320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6"/>
          <p:cNvSpPr txBox="1"/>
          <p:nvPr/>
        </p:nvSpPr>
        <p:spPr>
          <a:xfrm>
            <a:off x="5304805" y="3948730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7" name="Google Shape;837;p36"/>
          <p:cNvSpPr/>
          <p:nvPr/>
        </p:nvSpPr>
        <p:spPr>
          <a:xfrm rot="5400000">
            <a:off x="6822158" y="3880174"/>
            <a:ext cx="274320" cy="274320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6"/>
          <p:cNvSpPr txBox="1"/>
          <p:nvPr/>
        </p:nvSpPr>
        <p:spPr>
          <a:xfrm>
            <a:off x="6890730" y="3948730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39" name="Google Shape;839;p36"/>
          <p:cNvCxnSpPr/>
          <p:nvPr/>
        </p:nvCxnSpPr>
        <p:spPr>
          <a:xfrm>
            <a:off x="296267" y="5405326"/>
            <a:ext cx="92811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840" name="Google Shape;840;p36"/>
          <p:cNvGraphicFramePr/>
          <p:nvPr/>
        </p:nvGraphicFramePr>
        <p:xfrm>
          <a:off x="296267" y="50173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1" name="Google Shape;841;p36"/>
          <p:cNvGraphicFramePr/>
          <p:nvPr/>
        </p:nvGraphicFramePr>
        <p:xfrm>
          <a:off x="1395196" y="50084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3807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the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name of students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with their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project name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whose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guide is “A. J. Shah”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42" name="Google Shape;842;p36"/>
          <p:cNvCxnSpPr/>
          <p:nvPr/>
        </p:nvCxnSpPr>
        <p:spPr>
          <a:xfrm>
            <a:off x="296267" y="6089785"/>
            <a:ext cx="74066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843" name="Google Shape;843;p36"/>
          <p:cNvGraphicFramePr/>
          <p:nvPr/>
        </p:nvGraphicFramePr>
        <p:xfrm>
          <a:off x="296267" y="570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4" name="Google Shape;844;p36"/>
          <p:cNvGraphicFramePr/>
          <p:nvPr/>
        </p:nvGraphicFramePr>
        <p:xfrm>
          <a:off x="1306296" y="55728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5148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Sname, Pname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5" name="Google Shape;845;p36"/>
          <p:cNvGraphicFramePr/>
          <p:nvPr/>
        </p:nvGraphicFramePr>
        <p:xfrm>
          <a:off x="2643315" y="55121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1993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Fname=‘A.J.Shah’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(Student      (Guide      Faculty)))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6" name="Google Shape;846;p36"/>
          <p:cNvSpPr/>
          <p:nvPr/>
        </p:nvSpPr>
        <p:spPr>
          <a:xfrm rot="5400000">
            <a:off x="5418824" y="5706389"/>
            <a:ext cx="274320" cy="274320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6"/>
          <p:cNvSpPr txBox="1"/>
          <p:nvPr/>
        </p:nvSpPr>
        <p:spPr>
          <a:xfrm>
            <a:off x="5487380" y="5774955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8" name="Google Shape;848;p36"/>
          <p:cNvSpPr/>
          <p:nvPr/>
        </p:nvSpPr>
        <p:spPr>
          <a:xfrm rot="5400000">
            <a:off x="6414186" y="5706389"/>
            <a:ext cx="274320" cy="274320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6"/>
          <p:cNvSpPr txBox="1"/>
          <p:nvPr/>
        </p:nvSpPr>
        <p:spPr>
          <a:xfrm>
            <a:off x="6482755" y="5774955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7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ct val="100000"/>
              <a:buFont typeface="Roboto Condensed"/>
              <a:buNone/>
            </a:pPr>
            <a:r>
              <a:rPr lang="en-US"/>
              <a:t>Exercise: Write down relational algebra for the following tables/relations</a:t>
            </a:r>
            <a:endParaRPr/>
          </a:p>
        </p:txBody>
      </p:sp>
      <p:sp>
        <p:nvSpPr>
          <p:cNvPr id="855" name="Google Shape;855;p37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🞂"/>
            </a:pPr>
            <a:r>
              <a:rPr lang="en-US" sz="2200"/>
              <a:t>Relations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Student (Rno, Sname, Address, City, Mobile)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Department (Did, Dname)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Academic (Rno, Did, SPI, CPI, Backlog)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Guide (Rno, PName, Fid)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Faculty (Fid, Fname, Subject, Did, Salary)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🞂"/>
            </a:pPr>
            <a:r>
              <a:rPr lang="en-US" sz="2200"/>
              <a:t>List the </a:t>
            </a:r>
            <a:r>
              <a:rPr lang="en-US" sz="2200">
                <a:solidFill>
                  <a:schemeClr val="dk2"/>
                </a:solidFill>
              </a:rPr>
              <a:t>name of students </a:t>
            </a:r>
            <a:r>
              <a:rPr lang="en-US" sz="2200"/>
              <a:t>with their </a:t>
            </a:r>
            <a:r>
              <a:rPr lang="en-US" sz="2200">
                <a:solidFill>
                  <a:schemeClr val="dk2"/>
                </a:solidFill>
              </a:rPr>
              <a:t>department name </a:t>
            </a:r>
            <a:r>
              <a:rPr lang="en-US" sz="2200"/>
              <a:t>having </a:t>
            </a:r>
            <a:r>
              <a:rPr lang="en-US" sz="2200">
                <a:solidFill>
                  <a:schemeClr val="dk2"/>
                </a:solidFill>
              </a:rPr>
              <a:t>backlog 0</a:t>
            </a:r>
            <a:r>
              <a:rPr lang="en-US" sz="2200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🞂"/>
            </a:pPr>
            <a:r>
              <a:rPr lang="en-US" sz="2200"/>
              <a:t>List the </a:t>
            </a:r>
            <a:r>
              <a:rPr lang="en-US" sz="2200">
                <a:solidFill>
                  <a:schemeClr val="dk2"/>
                </a:solidFill>
              </a:rPr>
              <a:t>name of faculties </a:t>
            </a:r>
            <a:r>
              <a:rPr lang="en-US" sz="2200"/>
              <a:t>with their </a:t>
            </a:r>
            <a:r>
              <a:rPr lang="en-US" sz="2200">
                <a:solidFill>
                  <a:schemeClr val="dk2"/>
                </a:solidFill>
              </a:rPr>
              <a:t>department name </a:t>
            </a:r>
            <a:r>
              <a:rPr lang="en-US" sz="2200"/>
              <a:t>and </a:t>
            </a:r>
            <a:r>
              <a:rPr lang="en-US" sz="2200">
                <a:solidFill>
                  <a:schemeClr val="dk2"/>
                </a:solidFill>
              </a:rPr>
              <a:t>salary</a:t>
            </a:r>
            <a:r>
              <a:rPr lang="en-US" sz="2200"/>
              <a:t> having </a:t>
            </a:r>
            <a:r>
              <a:rPr lang="en-US" sz="2200">
                <a:solidFill>
                  <a:schemeClr val="dk2"/>
                </a:solidFill>
              </a:rPr>
              <a:t>salary more than 25000</a:t>
            </a:r>
            <a:r>
              <a:rPr lang="en-US" sz="2200"/>
              <a:t> and </a:t>
            </a:r>
            <a:r>
              <a:rPr lang="en-US" sz="2200">
                <a:solidFill>
                  <a:schemeClr val="dk2"/>
                </a:solidFill>
              </a:rPr>
              <a:t>belongs to “CE” department</a:t>
            </a:r>
            <a:r>
              <a:rPr lang="en-US" sz="2200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🞂"/>
            </a:pPr>
            <a:r>
              <a:rPr lang="en-US" sz="2200"/>
              <a:t>List the </a:t>
            </a:r>
            <a:r>
              <a:rPr lang="en-US" sz="2200">
                <a:solidFill>
                  <a:schemeClr val="dk2"/>
                </a:solidFill>
              </a:rPr>
              <a:t>name of all faculties </a:t>
            </a:r>
            <a:r>
              <a:rPr lang="en-US" sz="2200"/>
              <a:t>of </a:t>
            </a:r>
            <a:r>
              <a:rPr lang="en-US" sz="2200">
                <a:solidFill>
                  <a:schemeClr val="dk2"/>
                </a:solidFill>
              </a:rPr>
              <a:t>“CE” and “ME” department </a:t>
            </a:r>
            <a:r>
              <a:rPr lang="en-US" sz="2200"/>
              <a:t>whose </a:t>
            </a:r>
            <a:r>
              <a:rPr lang="en-US" sz="2200">
                <a:solidFill>
                  <a:schemeClr val="dk2"/>
                </a:solidFill>
              </a:rPr>
              <a:t>salary is more than 50000</a:t>
            </a:r>
            <a:r>
              <a:rPr lang="en-US" sz="2200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🞂"/>
            </a:pPr>
            <a:r>
              <a:rPr lang="en-US" sz="2200"/>
              <a:t>Display the </a:t>
            </a:r>
            <a:r>
              <a:rPr lang="en-US" sz="2200">
                <a:solidFill>
                  <a:schemeClr val="dk2"/>
                </a:solidFill>
              </a:rPr>
              <a:t>students name </a:t>
            </a:r>
            <a:r>
              <a:rPr lang="en-US" sz="2200"/>
              <a:t>with their </a:t>
            </a:r>
            <a:r>
              <a:rPr lang="en-US" sz="2200">
                <a:solidFill>
                  <a:schemeClr val="dk2"/>
                </a:solidFill>
              </a:rPr>
              <a:t>project name </a:t>
            </a:r>
            <a:r>
              <a:rPr lang="en-US" sz="2200"/>
              <a:t>of all </a:t>
            </a:r>
            <a:r>
              <a:rPr lang="en-US" sz="2200">
                <a:solidFill>
                  <a:schemeClr val="dk2"/>
                </a:solidFill>
              </a:rPr>
              <a:t>“CE” department’s </a:t>
            </a:r>
            <a:r>
              <a:rPr lang="en-US" sz="2200"/>
              <a:t>students whose </a:t>
            </a:r>
            <a:r>
              <a:rPr lang="en-US" sz="2200">
                <a:solidFill>
                  <a:schemeClr val="dk2"/>
                </a:solidFill>
              </a:rPr>
              <a:t>guide is “Z.Z. Patel”</a:t>
            </a:r>
            <a:r>
              <a:rPr lang="en-US" sz="2200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🞂"/>
            </a:pPr>
            <a:r>
              <a:rPr lang="en-US" sz="2200"/>
              <a:t>Display the </a:t>
            </a:r>
            <a:r>
              <a:rPr lang="en-US" sz="2200">
                <a:solidFill>
                  <a:schemeClr val="dk2"/>
                </a:solidFill>
              </a:rPr>
              <a:t>name of faculties </a:t>
            </a:r>
            <a:r>
              <a:rPr lang="en-US" sz="2200"/>
              <a:t>with their </a:t>
            </a:r>
            <a:r>
              <a:rPr lang="en-US" sz="2200">
                <a:solidFill>
                  <a:schemeClr val="dk2"/>
                </a:solidFill>
              </a:rPr>
              <a:t>department name </a:t>
            </a:r>
            <a:r>
              <a:rPr lang="en-US" sz="2200"/>
              <a:t>who belongs to </a:t>
            </a:r>
            <a:r>
              <a:rPr lang="en-US" sz="2200">
                <a:solidFill>
                  <a:schemeClr val="dk2"/>
                </a:solidFill>
              </a:rPr>
              <a:t>“CE” department </a:t>
            </a:r>
            <a:r>
              <a:rPr lang="en-US" sz="2200"/>
              <a:t>and </a:t>
            </a:r>
            <a:r>
              <a:rPr lang="en-US" sz="2200">
                <a:solidFill>
                  <a:schemeClr val="dk2"/>
                </a:solidFill>
              </a:rPr>
              <a:t>tough “CPU”</a:t>
            </a:r>
            <a:r>
              <a:rPr lang="en-US" sz="2200"/>
              <a:t> subject having </a:t>
            </a:r>
            <a:r>
              <a:rPr lang="en-US" sz="2200">
                <a:solidFill>
                  <a:schemeClr val="dk2"/>
                </a:solidFill>
              </a:rPr>
              <a:t>salary more than 25000</a:t>
            </a:r>
            <a:r>
              <a:rPr lang="en-US" sz="2200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🞂"/>
            </a:pPr>
            <a:r>
              <a:rPr lang="en-US" sz="2200"/>
              <a:t>List the </a:t>
            </a:r>
            <a:r>
              <a:rPr lang="en-US" sz="2200">
                <a:solidFill>
                  <a:schemeClr val="dk2"/>
                </a:solidFill>
              </a:rPr>
              <a:t>name of students </a:t>
            </a:r>
            <a:r>
              <a:rPr lang="en-US" sz="2200"/>
              <a:t>with their </a:t>
            </a:r>
            <a:r>
              <a:rPr lang="en-US" sz="2200">
                <a:solidFill>
                  <a:schemeClr val="dk2"/>
                </a:solidFill>
              </a:rPr>
              <a:t>department name </a:t>
            </a:r>
            <a:r>
              <a:rPr lang="en-US" sz="2200"/>
              <a:t>doing </a:t>
            </a:r>
            <a:r>
              <a:rPr lang="en-US" sz="2200">
                <a:solidFill>
                  <a:schemeClr val="dk2"/>
                </a:solidFill>
              </a:rPr>
              <a:t>project “Hackathon” </a:t>
            </a:r>
            <a:r>
              <a:rPr lang="en-US" sz="2200"/>
              <a:t>under </a:t>
            </a:r>
            <a:r>
              <a:rPr lang="en-US" sz="2200">
                <a:solidFill>
                  <a:schemeClr val="dk2"/>
                </a:solidFill>
              </a:rPr>
              <a:t>guide “I. I. Shah”</a:t>
            </a:r>
            <a:r>
              <a:rPr lang="en-US" sz="2200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Relational Algebra Operations</a:t>
            </a:r>
            <a:br>
              <a:rPr lang="en-US">
                <a:solidFill>
                  <a:srgbClr val="5C2321"/>
                </a:solidFill>
              </a:rPr>
            </a:br>
            <a:r>
              <a:rPr lang="en-US">
                <a:solidFill>
                  <a:schemeClr val="dk2"/>
                </a:solidFill>
              </a:rPr>
              <a:t>Outer Join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61" name="Google Shape;861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- 3.5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9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Outer Join</a:t>
            </a:r>
            <a:endParaRPr/>
          </a:p>
        </p:txBody>
      </p:sp>
      <p:sp>
        <p:nvSpPr>
          <p:cNvPr id="867" name="Google Shape;867;p39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In </a:t>
            </a:r>
            <a:r>
              <a:rPr b="1" lang="en-US">
                <a:solidFill>
                  <a:schemeClr val="accent6"/>
                </a:solidFill>
              </a:rPr>
              <a:t>natural join some records are missing</a:t>
            </a:r>
            <a:r>
              <a:rPr lang="en-US"/>
              <a:t>, if we </a:t>
            </a:r>
            <a:r>
              <a:rPr b="1" lang="en-US">
                <a:solidFill>
                  <a:schemeClr val="accent6"/>
                </a:solidFill>
              </a:rPr>
              <a:t>want that missing records </a:t>
            </a:r>
            <a:r>
              <a:rPr lang="en-US"/>
              <a:t>than we have to </a:t>
            </a:r>
            <a:r>
              <a:rPr b="1" lang="en-US">
                <a:solidFill>
                  <a:schemeClr val="accent6"/>
                </a:solidFill>
              </a:rPr>
              <a:t>use outer join</a:t>
            </a:r>
            <a:r>
              <a:rPr lang="en-US"/>
              <a:t>.</a:t>
            </a:r>
            <a:endParaRPr/>
          </a:p>
        </p:txBody>
      </p:sp>
      <p:graphicFrame>
        <p:nvGraphicFramePr>
          <p:cNvPr id="868" name="Google Shape;868;p39"/>
          <p:cNvGraphicFramePr/>
          <p:nvPr/>
        </p:nvGraphicFramePr>
        <p:xfrm>
          <a:off x="964130" y="22481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31700"/>
                <a:gridCol w="2286000"/>
                <a:gridCol w="10972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</a:rPr>
                        <a:t>Sr.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Outer Join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Symbol</a:t>
                      </a:r>
                      <a:endParaRPr b="1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9" name="Google Shape;869;p39"/>
          <p:cNvGraphicFramePr/>
          <p:nvPr/>
        </p:nvGraphicFramePr>
        <p:xfrm>
          <a:off x="964130" y="27058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31250"/>
                <a:gridCol w="2286000"/>
                <a:gridCol w="1097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Left Outer Join</a:t>
                      </a:r>
                      <a:endParaRPr b="0" sz="20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0" name="Google Shape;870;p39"/>
          <p:cNvGraphicFramePr/>
          <p:nvPr/>
        </p:nvGraphicFramePr>
        <p:xfrm>
          <a:off x="967487" y="17891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3642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</a:rPr>
                        <a:t>Three types of Outer Join</a:t>
                      </a:r>
                      <a:endParaRPr b="1" sz="2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1" name="Google Shape;871;p39"/>
          <p:cNvGraphicFramePr/>
          <p:nvPr/>
        </p:nvGraphicFramePr>
        <p:xfrm>
          <a:off x="964132" y="31019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31250"/>
                <a:gridCol w="2286000"/>
                <a:gridCol w="1097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Right Outer Join</a:t>
                      </a:r>
                      <a:endParaRPr b="0" sz="20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2" name="Google Shape;872;p39"/>
          <p:cNvGraphicFramePr/>
          <p:nvPr/>
        </p:nvGraphicFramePr>
        <p:xfrm>
          <a:off x="964132" y="3495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31250"/>
                <a:gridCol w="2286000"/>
                <a:gridCol w="1097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3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Full Outer Join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873" name="Google Shape;873;p39"/>
          <p:cNvGrpSpPr/>
          <p:nvPr/>
        </p:nvGrpSpPr>
        <p:grpSpPr>
          <a:xfrm>
            <a:off x="4326429" y="2818935"/>
            <a:ext cx="320358" cy="182881"/>
            <a:chOff x="2758122" y="2441257"/>
            <a:chExt cx="320358" cy="182881"/>
          </a:xfrm>
        </p:grpSpPr>
        <p:sp>
          <p:nvSpPr>
            <p:cNvPr id="874" name="Google Shape;874;p39"/>
            <p:cNvSpPr/>
            <p:nvPr/>
          </p:nvSpPr>
          <p:spPr>
            <a:xfrm rot="-54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875" name="Google Shape;875;p39"/>
            <p:cNvCxnSpPr/>
            <p:nvPr/>
          </p:nvCxnSpPr>
          <p:spPr>
            <a:xfrm>
              <a:off x="2758122" y="244125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6" name="Google Shape;876;p39"/>
            <p:cNvCxnSpPr/>
            <p:nvPr/>
          </p:nvCxnSpPr>
          <p:spPr>
            <a:xfrm>
              <a:off x="2758440" y="2624134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77" name="Google Shape;877;p39"/>
          <p:cNvGrpSpPr/>
          <p:nvPr/>
        </p:nvGrpSpPr>
        <p:grpSpPr>
          <a:xfrm>
            <a:off x="4461288" y="3211811"/>
            <a:ext cx="321467" cy="182881"/>
            <a:chOff x="3048000" y="2819400"/>
            <a:chExt cx="321467" cy="182881"/>
          </a:xfrm>
        </p:grpSpPr>
        <p:sp>
          <p:nvSpPr>
            <p:cNvPr id="878" name="Google Shape;878;p39"/>
            <p:cNvSpPr/>
            <p:nvPr/>
          </p:nvSpPr>
          <p:spPr>
            <a:xfrm rot="-54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879" name="Google Shape;879;p39"/>
            <p:cNvCxnSpPr/>
            <p:nvPr/>
          </p:nvCxnSpPr>
          <p:spPr>
            <a:xfrm>
              <a:off x="3231989" y="28194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0" name="Google Shape;880;p39"/>
            <p:cNvCxnSpPr/>
            <p:nvPr/>
          </p:nvCxnSpPr>
          <p:spPr>
            <a:xfrm>
              <a:off x="3232307" y="300227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81" name="Google Shape;881;p39"/>
          <p:cNvGrpSpPr/>
          <p:nvPr/>
        </p:nvGrpSpPr>
        <p:grpSpPr>
          <a:xfrm>
            <a:off x="4326429" y="3601065"/>
            <a:ext cx="457836" cy="182881"/>
            <a:chOff x="2803842" y="3246119"/>
            <a:chExt cx="457836" cy="182881"/>
          </a:xfrm>
        </p:grpSpPr>
        <p:sp>
          <p:nvSpPr>
            <p:cNvPr id="882" name="Google Shape;882;p39"/>
            <p:cNvSpPr/>
            <p:nvPr/>
          </p:nvSpPr>
          <p:spPr>
            <a:xfrm rot="-54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883" name="Google Shape;883;p39"/>
            <p:cNvCxnSpPr/>
            <p:nvPr/>
          </p:nvCxnSpPr>
          <p:spPr>
            <a:xfrm>
              <a:off x="2803842" y="3246119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4" name="Google Shape;884;p39"/>
            <p:cNvCxnSpPr/>
            <p:nvPr/>
          </p:nvCxnSpPr>
          <p:spPr>
            <a:xfrm>
              <a:off x="2804160" y="3428996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5" name="Google Shape;885;p39"/>
            <p:cNvCxnSpPr/>
            <p:nvPr/>
          </p:nvCxnSpPr>
          <p:spPr>
            <a:xfrm>
              <a:off x="3124200" y="3246123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6" name="Google Shape;886;p39"/>
            <p:cNvCxnSpPr/>
            <p:nvPr/>
          </p:nvCxnSpPr>
          <p:spPr>
            <a:xfrm>
              <a:off x="3124518" y="34290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87" name="Google Shape;887;p39"/>
          <p:cNvSpPr txBox="1"/>
          <p:nvPr/>
        </p:nvSpPr>
        <p:spPr>
          <a:xfrm>
            <a:off x="514066" y="4237536"/>
            <a:ext cx="10543140" cy="1097280"/>
          </a:xfrm>
          <a:prstGeom prst="rect">
            <a:avLst/>
          </a:prstGeom>
          <a:solidFill>
            <a:srgbClr val="F0D9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27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perform a Outer Join there must be </a:t>
            </a:r>
            <a:r>
              <a:rPr b="1" lang="en-US" sz="2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one common attribute (column) </a:t>
            </a:r>
            <a:r>
              <a:rPr lang="en-U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between two relations.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0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Left Outer Join</a:t>
            </a:r>
            <a:endParaRPr/>
          </a:p>
        </p:txBody>
      </p:sp>
      <p:sp>
        <p:nvSpPr>
          <p:cNvPr id="893" name="Google Shape;893;p40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i="1" lang="en-US"/>
              <a:t>Relation-1 (R1) </a:t>
            </a:r>
            <a:r>
              <a:rPr lang="en-US"/>
              <a:t>     </a:t>
            </a:r>
            <a:r>
              <a:rPr i="1" lang="en-US"/>
              <a:t>Relation-2 (R2)  </a:t>
            </a:r>
            <a:r>
              <a:rPr b="1" lang="en-US">
                <a:solidFill>
                  <a:srgbClr val="575757"/>
                </a:solidFill>
              </a:rPr>
              <a:t>OR</a:t>
            </a:r>
            <a:r>
              <a:rPr i="1" lang="en-US"/>
              <a:t>  Algebra-1      Algebra-2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</a:t>
            </a:r>
            <a:r>
              <a:rPr b="1" lang="en-US">
                <a:solidFill>
                  <a:schemeClr val="accent6"/>
                </a:solidFill>
              </a:rPr>
              <a:t>all the tuples of the left relation </a:t>
            </a:r>
            <a:r>
              <a:rPr lang="en-US"/>
              <a:t>even through there is no matching tuple in the right relation.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For such kind of </a:t>
            </a:r>
            <a:r>
              <a:rPr b="1" lang="en-US">
                <a:solidFill>
                  <a:schemeClr val="accent6"/>
                </a:solidFill>
              </a:rPr>
              <a:t>tuples having no matching</a:t>
            </a:r>
            <a:r>
              <a:rPr lang="en-US"/>
              <a:t>, the attributes of right relation will be </a:t>
            </a:r>
            <a:r>
              <a:rPr b="1" lang="en-US">
                <a:solidFill>
                  <a:schemeClr val="accent6"/>
                </a:solidFill>
              </a:rPr>
              <a:t>padded with NULL </a:t>
            </a:r>
            <a:r>
              <a:rPr lang="en-US"/>
              <a:t>in resultant relation.</a:t>
            </a:r>
            <a:endParaRPr/>
          </a:p>
          <a:p>
            <a:pPr indent="-225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grpSp>
        <p:nvGrpSpPr>
          <p:cNvPr id="894" name="Google Shape;894;p40"/>
          <p:cNvGrpSpPr/>
          <p:nvPr/>
        </p:nvGrpSpPr>
        <p:grpSpPr>
          <a:xfrm>
            <a:off x="1560503" y="958694"/>
            <a:ext cx="320358" cy="182881"/>
            <a:chOff x="2758122" y="2441257"/>
            <a:chExt cx="320358" cy="182881"/>
          </a:xfrm>
        </p:grpSpPr>
        <p:sp>
          <p:nvSpPr>
            <p:cNvPr id="895" name="Google Shape;895;p40"/>
            <p:cNvSpPr/>
            <p:nvPr/>
          </p:nvSpPr>
          <p:spPr>
            <a:xfrm rot="-54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896" name="Google Shape;896;p40"/>
            <p:cNvCxnSpPr/>
            <p:nvPr/>
          </p:nvCxnSpPr>
          <p:spPr>
            <a:xfrm>
              <a:off x="2758122" y="244125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7" name="Google Shape;897;p40"/>
            <p:cNvCxnSpPr/>
            <p:nvPr/>
          </p:nvCxnSpPr>
          <p:spPr>
            <a:xfrm>
              <a:off x="2758440" y="2624134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98" name="Google Shape;898;p40"/>
          <p:cNvGrpSpPr/>
          <p:nvPr/>
        </p:nvGrpSpPr>
        <p:grpSpPr>
          <a:xfrm>
            <a:off x="3442430" y="1420437"/>
            <a:ext cx="320358" cy="182881"/>
            <a:chOff x="2758122" y="2441257"/>
            <a:chExt cx="320358" cy="182881"/>
          </a:xfrm>
        </p:grpSpPr>
        <p:sp>
          <p:nvSpPr>
            <p:cNvPr id="899" name="Google Shape;899;p40"/>
            <p:cNvSpPr/>
            <p:nvPr/>
          </p:nvSpPr>
          <p:spPr>
            <a:xfrm rot="-54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900" name="Google Shape;900;p40"/>
            <p:cNvCxnSpPr/>
            <p:nvPr/>
          </p:nvCxnSpPr>
          <p:spPr>
            <a:xfrm>
              <a:off x="2758122" y="244125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1" name="Google Shape;901;p40"/>
            <p:cNvCxnSpPr/>
            <p:nvPr/>
          </p:nvCxnSpPr>
          <p:spPr>
            <a:xfrm>
              <a:off x="2758440" y="2624134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02" name="Google Shape;902;p40"/>
          <p:cNvGrpSpPr/>
          <p:nvPr/>
        </p:nvGrpSpPr>
        <p:grpSpPr>
          <a:xfrm>
            <a:off x="7354639" y="1420437"/>
            <a:ext cx="320358" cy="182881"/>
            <a:chOff x="2758122" y="2441257"/>
            <a:chExt cx="320358" cy="182881"/>
          </a:xfrm>
        </p:grpSpPr>
        <p:sp>
          <p:nvSpPr>
            <p:cNvPr id="903" name="Google Shape;903;p40"/>
            <p:cNvSpPr/>
            <p:nvPr/>
          </p:nvSpPr>
          <p:spPr>
            <a:xfrm rot="-54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904" name="Google Shape;904;p40"/>
            <p:cNvCxnSpPr/>
            <p:nvPr/>
          </p:nvCxnSpPr>
          <p:spPr>
            <a:xfrm>
              <a:off x="2758122" y="244125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5" name="Google Shape;905;p40"/>
            <p:cNvCxnSpPr/>
            <p:nvPr/>
          </p:nvCxnSpPr>
          <p:spPr>
            <a:xfrm>
              <a:off x="2758440" y="2624134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aphicFrame>
        <p:nvGraphicFramePr>
          <p:cNvPr id="906" name="Google Shape;906;p40"/>
          <p:cNvGraphicFramePr/>
          <p:nvPr/>
        </p:nvGraphicFramePr>
        <p:xfrm>
          <a:off x="514066" y="4244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762325"/>
                <a:gridCol w="878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7" name="Google Shape;907;p40"/>
          <p:cNvGraphicFramePr/>
          <p:nvPr/>
        </p:nvGraphicFramePr>
        <p:xfrm>
          <a:off x="514066" y="3880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908" name="Google Shape;908;p40"/>
          <p:cNvCxnSpPr/>
          <p:nvPr/>
        </p:nvCxnSpPr>
        <p:spPr>
          <a:xfrm>
            <a:off x="514066" y="3575733"/>
            <a:ext cx="64922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09" name="Google Shape;909;p40"/>
          <p:cNvGraphicFramePr/>
          <p:nvPr/>
        </p:nvGraphicFramePr>
        <p:xfrm>
          <a:off x="514066" y="31877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0" name="Google Shape;910;p40"/>
          <p:cNvGraphicFramePr/>
          <p:nvPr/>
        </p:nvGraphicFramePr>
        <p:xfrm>
          <a:off x="1612995" y="3178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5153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Left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Outer Join between Student and Result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11" name="Google Shape;911;p40"/>
          <p:cNvCxnSpPr/>
          <p:nvPr/>
        </p:nvCxnSpPr>
        <p:spPr>
          <a:xfrm>
            <a:off x="8143224" y="3572521"/>
            <a:ext cx="32918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2" name="Google Shape;912;p40"/>
          <p:cNvGraphicFramePr/>
          <p:nvPr/>
        </p:nvGraphicFramePr>
        <p:xfrm>
          <a:off x="8143224" y="31845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3" name="Google Shape;913;p40"/>
          <p:cNvGraphicFramePr/>
          <p:nvPr/>
        </p:nvGraphicFramePr>
        <p:xfrm>
          <a:off x="9153253" y="31730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399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       (Result)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4" name="Google Shape;914;p40"/>
          <p:cNvGraphicFramePr/>
          <p:nvPr/>
        </p:nvGraphicFramePr>
        <p:xfrm>
          <a:off x="8143224" y="4244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7210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75757"/>
                          </a:solidFill>
                        </a:rPr>
                        <a:t>NULL</a:t>
                      </a:r>
                      <a:endParaRPr b="1" sz="1800">
                        <a:solidFill>
                          <a:srgbClr val="575757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5" name="Google Shape;915;p40"/>
          <p:cNvGraphicFramePr/>
          <p:nvPr/>
        </p:nvGraphicFramePr>
        <p:xfrm>
          <a:off x="8143224" y="3880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6" name="Google Shape;916;p40"/>
          <p:cNvGraphicFramePr/>
          <p:nvPr/>
        </p:nvGraphicFramePr>
        <p:xfrm>
          <a:off x="3196420" y="42411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7" name="Google Shape;917;p40"/>
          <p:cNvGraphicFramePr/>
          <p:nvPr/>
        </p:nvGraphicFramePr>
        <p:xfrm>
          <a:off x="3196420" y="38775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147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pSp>
        <p:nvGrpSpPr>
          <p:cNvPr id="918" name="Google Shape;918;p40"/>
          <p:cNvGrpSpPr/>
          <p:nvPr/>
        </p:nvGrpSpPr>
        <p:grpSpPr>
          <a:xfrm>
            <a:off x="10229004" y="3290826"/>
            <a:ext cx="320358" cy="182881"/>
            <a:chOff x="2758122" y="2441257"/>
            <a:chExt cx="320358" cy="182881"/>
          </a:xfrm>
        </p:grpSpPr>
        <p:sp>
          <p:nvSpPr>
            <p:cNvPr id="919" name="Google Shape;919;p40"/>
            <p:cNvSpPr/>
            <p:nvPr/>
          </p:nvSpPr>
          <p:spPr>
            <a:xfrm rot="-54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920" name="Google Shape;920;p40"/>
            <p:cNvCxnSpPr/>
            <p:nvPr/>
          </p:nvCxnSpPr>
          <p:spPr>
            <a:xfrm>
              <a:off x="2758122" y="244125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1" name="Google Shape;921;p40"/>
            <p:cNvCxnSpPr/>
            <p:nvPr/>
          </p:nvCxnSpPr>
          <p:spPr>
            <a:xfrm>
              <a:off x="2758440" y="2624134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922" name="Google Shape;92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3505" y="3882435"/>
            <a:ext cx="2371477" cy="15558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3" name="Google Shape;923;p40"/>
          <p:cNvCxnSpPr/>
          <p:nvPr/>
        </p:nvCxnSpPr>
        <p:spPr>
          <a:xfrm>
            <a:off x="502898" y="6262717"/>
            <a:ext cx="55778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24" name="Google Shape;924;p40"/>
          <p:cNvGraphicFramePr/>
          <p:nvPr/>
        </p:nvGraphicFramePr>
        <p:xfrm>
          <a:off x="502898" y="5874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Exercise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5" name="Google Shape;925;p40"/>
          <p:cNvGraphicFramePr/>
          <p:nvPr/>
        </p:nvGraphicFramePr>
        <p:xfrm>
          <a:off x="1601827" y="5865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645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What is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the output of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(Result)        (Student).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26" name="Google Shape;926;p40"/>
          <p:cNvGrpSpPr/>
          <p:nvPr/>
        </p:nvGrpSpPr>
        <p:grpSpPr>
          <a:xfrm>
            <a:off x="4682062" y="5987807"/>
            <a:ext cx="320358" cy="182881"/>
            <a:chOff x="2758122" y="2441257"/>
            <a:chExt cx="320358" cy="182881"/>
          </a:xfrm>
        </p:grpSpPr>
        <p:sp>
          <p:nvSpPr>
            <p:cNvPr id="927" name="Google Shape;927;p40"/>
            <p:cNvSpPr/>
            <p:nvPr/>
          </p:nvSpPr>
          <p:spPr>
            <a:xfrm rot="-54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928" name="Google Shape;928;p40"/>
            <p:cNvCxnSpPr/>
            <p:nvPr/>
          </p:nvCxnSpPr>
          <p:spPr>
            <a:xfrm>
              <a:off x="2758122" y="244125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9" name="Google Shape;929;p40"/>
            <p:cNvCxnSpPr/>
            <p:nvPr/>
          </p:nvCxnSpPr>
          <p:spPr>
            <a:xfrm>
              <a:off x="2758440" y="2624134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41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Left Outer Join Example</a:t>
            </a:r>
            <a:endParaRPr/>
          </a:p>
        </p:txBody>
      </p:sp>
      <p:sp>
        <p:nvSpPr>
          <p:cNvPr id="935" name="Google Shape;935;p41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936" name="Google Shape;936;p41"/>
          <p:cNvGraphicFramePr/>
          <p:nvPr/>
        </p:nvGraphicFramePr>
        <p:xfrm>
          <a:off x="343585" y="20563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762325"/>
                <a:gridCol w="878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7" name="Google Shape;937;p41"/>
          <p:cNvGraphicFramePr/>
          <p:nvPr/>
        </p:nvGraphicFramePr>
        <p:xfrm>
          <a:off x="343585" y="16927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938" name="Google Shape;938;p41"/>
          <p:cNvCxnSpPr/>
          <p:nvPr/>
        </p:nvCxnSpPr>
        <p:spPr>
          <a:xfrm>
            <a:off x="343585" y="1387525"/>
            <a:ext cx="96012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39" name="Google Shape;939;p41"/>
          <p:cNvGraphicFramePr/>
          <p:nvPr/>
        </p:nvGraphicFramePr>
        <p:xfrm>
          <a:off x="343585" y="9995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0" name="Google Shape;940;p41"/>
          <p:cNvGraphicFramePr/>
          <p:nvPr/>
        </p:nvGraphicFramePr>
        <p:xfrm>
          <a:off x="1442514" y="9906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709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Left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Outer Join between Student and Result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 (Display RollNo, Name and SPI)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41" name="Google Shape;941;p41"/>
          <p:cNvCxnSpPr/>
          <p:nvPr/>
        </p:nvCxnSpPr>
        <p:spPr>
          <a:xfrm>
            <a:off x="337235" y="4141024"/>
            <a:ext cx="50292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42" name="Google Shape;942;p41"/>
          <p:cNvGraphicFramePr/>
          <p:nvPr/>
        </p:nvGraphicFramePr>
        <p:xfrm>
          <a:off x="337235" y="37530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3" name="Google Shape;943;p41"/>
          <p:cNvGraphicFramePr/>
          <p:nvPr/>
        </p:nvGraphicFramePr>
        <p:xfrm>
          <a:off x="1366677" y="3607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737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RollNo, Name, SPI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4" name="Google Shape;944;p41"/>
          <p:cNvGraphicFramePr/>
          <p:nvPr/>
        </p:nvGraphicFramePr>
        <p:xfrm>
          <a:off x="343585" y="48738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7210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75757"/>
                          </a:solidFill>
                        </a:rPr>
                        <a:t>NULL</a:t>
                      </a:r>
                      <a:endParaRPr b="1" sz="1800">
                        <a:solidFill>
                          <a:srgbClr val="575757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5" name="Google Shape;945;p41"/>
          <p:cNvGraphicFramePr/>
          <p:nvPr/>
        </p:nvGraphicFramePr>
        <p:xfrm>
          <a:off x="343585" y="45102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6" name="Google Shape;946;p41"/>
          <p:cNvGraphicFramePr/>
          <p:nvPr/>
        </p:nvGraphicFramePr>
        <p:xfrm>
          <a:off x="3025939" y="20529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551175"/>
                <a:gridCol w="4734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7" name="Google Shape;947;p41"/>
          <p:cNvGraphicFramePr/>
          <p:nvPr/>
        </p:nvGraphicFramePr>
        <p:xfrm>
          <a:off x="3025939" y="16893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147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8" name="Google Shape;948;p41"/>
          <p:cNvGraphicFramePr/>
          <p:nvPr/>
        </p:nvGraphicFramePr>
        <p:xfrm>
          <a:off x="2931161" y="3720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5879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((Student)        (Result))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49" name="Google Shape;949;p41"/>
          <p:cNvGrpSpPr/>
          <p:nvPr/>
        </p:nvGrpSpPr>
        <p:grpSpPr>
          <a:xfrm>
            <a:off x="4076762" y="3832098"/>
            <a:ext cx="320358" cy="182881"/>
            <a:chOff x="2758122" y="2441257"/>
            <a:chExt cx="320358" cy="182881"/>
          </a:xfrm>
        </p:grpSpPr>
        <p:sp>
          <p:nvSpPr>
            <p:cNvPr id="950" name="Google Shape;950;p41"/>
            <p:cNvSpPr/>
            <p:nvPr/>
          </p:nvSpPr>
          <p:spPr>
            <a:xfrm rot="-54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951" name="Google Shape;951;p41"/>
            <p:cNvCxnSpPr/>
            <p:nvPr/>
          </p:nvCxnSpPr>
          <p:spPr>
            <a:xfrm>
              <a:off x="2758122" y="244125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2" name="Google Shape;952;p41"/>
            <p:cNvCxnSpPr/>
            <p:nvPr/>
          </p:nvCxnSpPr>
          <p:spPr>
            <a:xfrm>
              <a:off x="2758440" y="2624134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2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Right Outer Join</a:t>
            </a:r>
            <a:endParaRPr/>
          </a:p>
        </p:txBody>
      </p:sp>
      <p:sp>
        <p:nvSpPr>
          <p:cNvPr id="958" name="Google Shape;958;p42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i="1" lang="en-US"/>
              <a:t>Relation-1 (R1) </a:t>
            </a:r>
            <a:r>
              <a:rPr lang="en-US"/>
              <a:t>     </a:t>
            </a:r>
            <a:r>
              <a:rPr i="1" lang="en-US"/>
              <a:t>Relation-2 (R2)  </a:t>
            </a:r>
            <a:r>
              <a:rPr b="1" lang="en-US">
                <a:solidFill>
                  <a:srgbClr val="575757"/>
                </a:solidFill>
              </a:rPr>
              <a:t>OR</a:t>
            </a:r>
            <a:r>
              <a:rPr i="1" lang="en-US"/>
              <a:t>  Algebra-1      Algebra-2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</a:t>
            </a:r>
            <a:r>
              <a:rPr b="1" lang="en-US">
                <a:solidFill>
                  <a:schemeClr val="accent6"/>
                </a:solidFill>
              </a:rPr>
              <a:t>all the tuples of right relation</a:t>
            </a:r>
            <a:r>
              <a:rPr lang="en-US"/>
              <a:t> even through there is no matching tuple in the left relation.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For such kind of </a:t>
            </a:r>
            <a:r>
              <a:rPr b="1" lang="en-US">
                <a:solidFill>
                  <a:schemeClr val="accent6"/>
                </a:solidFill>
              </a:rPr>
              <a:t>tuples having no matching</a:t>
            </a:r>
            <a:r>
              <a:rPr lang="en-US"/>
              <a:t>, the attributes of left relation will be </a:t>
            </a:r>
            <a:r>
              <a:rPr b="1" lang="en-US">
                <a:solidFill>
                  <a:schemeClr val="accent6"/>
                </a:solidFill>
              </a:rPr>
              <a:t>padded with NULL </a:t>
            </a:r>
            <a:r>
              <a:rPr lang="en-US"/>
              <a:t>in resultant relation.</a:t>
            </a:r>
            <a:endParaRPr/>
          </a:p>
          <a:p>
            <a:pPr indent="-225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graphicFrame>
        <p:nvGraphicFramePr>
          <p:cNvPr id="959" name="Google Shape;959;p42"/>
          <p:cNvGraphicFramePr/>
          <p:nvPr/>
        </p:nvGraphicFramePr>
        <p:xfrm>
          <a:off x="514066" y="4244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762325"/>
                <a:gridCol w="878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0" name="Google Shape;960;p42"/>
          <p:cNvGraphicFramePr/>
          <p:nvPr/>
        </p:nvGraphicFramePr>
        <p:xfrm>
          <a:off x="514066" y="3880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961" name="Google Shape;961;p42"/>
          <p:cNvCxnSpPr/>
          <p:nvPr/>
        </p:nvCxnSpPr>
        <p:spPr>
          <a:xfrm>
            <a:off x="514066" y="3575733"/>
            <a:ext cx="65836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62" name="Google Shape;962;p42"/>
          <p:cNvGraphicFramePr/>
          <p:nvPr/>
        </p:nvGraphicFramePr>
        <p:xfrm>
          <a:off x="514066" y="31877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3" name="Google Shape;963;p42"/>
          <p:cNvGraphicFramePr/>
          <p:nvPr/>
        </p:nvGraphicFramePr>
        <p:xfrm>
          <a:off x="1612995" y="3178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6359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Right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Outer Join between Student and Result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64" name="Google Shape;964;p42"/>
          <p:cNvCxnSpPr/>
          <p:nvPr/>
        </p:nvCxnSpPr>
        <p:spPr>
          <a:xfrm>
            <a:off x="8143224" y="3572521"/>
            <a:ext cx="32918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65" name="Google Shape;965;p42"/>
          <p:cNvGraphicFramePr/>
          <p:nvPr/>
        </p:nvGraphicFramePr>
        <p:xfrm>
          <a:off x="8143224" y="31845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6" name="Google Shape;966;p42"/>
          <p:cNvGraphicFramePr/>
          <p:nvPr/>
        </p:nvGraphicFramePr>
        <p:xfrm>
          <a:off x="9153253" y="31730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399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       (Result)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7" name="Google Shape;967;p42"/>
          <p:cNvGraphicFramePr/>
          <p:nvPr/>
        </p:nvGraphicFramePr>
        <p:xfrm>
          <a:off x="8143224" y="4244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75757"/>
                          </a:solidFill>
                        </a:rPr>
                        <a:t>NULL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75757"/>
                          </a:solidFill>
                        </a:rPr>
                        <a:t>NULL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8" name="Google Shape;968;p42"/>
          <p:cNvGraphicFramePr/>
          <p:nvPr/>
        </p:nvGraphicFramePr>
        <p:xfrm>
          <a:off x="8143224" y="3880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9" name="Google Shape;969;p42"/>
          <p:cNvGraphicFramePr/>
          <p:nvPr/>
        </p:nvGraphicFramePr>
        <p:xfrm>
          <a:off x="3196420" y="42411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0" name="Google Shape;970;p42"/>
          <p:cNvGraphicFramePr/>
          <p:nvPr/>
        </p:nvGraphicFramePr>
        <p:xfrm>
          <a:off x="3196420" y="38775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147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971" name="Google Shape;971;p42"/>
          <p:cNvCxnSpPr/>
          <p:nvPr/>
        </p:nvCxnSpPr>
        <p:spPr>
          <a:xfrm>
            <a:off x="502898" y="6262717"/>
            <a:ext cx="55778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72" name="Google Shape;972;p42"/>
          <p:cNvGraphicFramePr/>
          <p:nvPr/>
        </p:nvGraphicFramePr>
        <p:xfrm>
          <a:off x="502898" y="5874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Exercise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3" name="Google Shape;973;p42"/>
          <p:cNvGraphicFramePr/>
          <p:nvPr/>
        </p:nvGraphicFramePr>
        <p:xfrm>
          <a:off x="1601827" y="5865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645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What is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the output of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(Result)        (Student).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74" name="Google Shape;974;p42"/>
          <p:cNvGrpSpPr/>
          <p:nvPr/>
        </p:nvGrpSpPr>
        <p:grpSpPr>
          <a:xfrm>
            <a:off x="1549276" y="971028"/>
            <a:ext cx="321467" cy="182881"/>
            <a:chOff x="3048000" y="2819400"/>
            <a:chExt cx="321467" cy="182881"/>
          </a:xfrm>
        </p:grpSpPr>
        <p:sp>
          <p:nvSpPr>
            <p:cNvPr id="975" name="Google Shape;975;p42"/>
            <p:cNvSpPr/>
            <p:nvPr/>
          </p:nvSpPr>
          <p:spPr>
            <a:xfrm rot="-54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976" name="Google Shape;976;p42"/>
            <p:cNvCxnSpPr/>
            <p:nvPr/>
          </p:nvCxnSpPr>
          <p:spPr>
            <a:xfrm>
              <a:off x="3231989" y="28194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7" name="Google Shape;977;p42"/>
            <p:cNvCxnSpPr/>
            <p:nvPr/>
          </p:nvCxnSpPr>
          <p:spPr>
            <a:xfrm>
              <a:off x="3232307" y="300227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78" name="Google Shape;978;p42"/>
          <p:cNvGrpSpPr/>
          <p:nvPr/>
        </p:nvGrpSpPr>
        <p:grpSpPr>
          <a:xfrm>
            <a:off x="3465004" y="1432500"/>
            <a:ext cx="321467" cy="182881"/>
            <a:chOff x="3048000" y="2819400"/>
            <a:chExt cx="321467" cy="182881"/>
          </a:xfrm>
        </p:grpSpPr>
        <p:sp>
          <p:nvSpPr>
            <p:cNvPr id="979" name="Google Shape;979;p42"/>
            <p:cNvSpPr/>
            <p:nvPr/>
          </p:nvSpPr>
          <p:spPr>
            <a:xfrm rot="-54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980" name="Google Shape;980;p42"/>
            <p:cNvCxnSpPr/>
            <p:nvPr/>
          </p:nvCxnSpPr>
          <p:spPr>
            <a:xfrm>
              <a:off x="3231989" y="28194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1" name="Google Shape;981;p42"/>
            <p:cNvCxnSpPr/>
            <p:nvPr/>
          </p:nvCxnSpPr>
          <p:spPr>
            <a:xfrm>
              <a:off x="3232307" y="300227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2" name="Google Shape;982;p42"/>
          <p:cNvGrpSpPr/>
          <p:nvPr/>
        </p:nvGrpSpPr>
        <p:grpSpPr>
          <a:xfrm>
            <a:off x="7399655" y="1431426"/>
            <a:ext cx="321467" cy="182881"/>
            <a:chOff x="3048000" y="2819400"/>
            <a:chExt cx="321467" cy="182881"/>
          </a:xfrm>
        </p:grpSpPr>
        <p:sp>
          <p:nvSpPr>
            <p:cNvPr id="983" name="Google Shape;983;p42"/>
            <p:cNvSpPr/>
            <p:nvPr/>
          </p:nvSpPr>
          <p:spPr>
            <a:xfrm rot="-54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984" name="Google Shape;984;p42"/>
            <p:cNvCxnSpPr/>
            <p:nvPr/>
          </p:nvCxnSpPr>
          <p:spPr>
            <a:xfrm>
              <a:off x="3231989" y="28194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5" name="Google Shape;985;p42"/>
            <p:cNvCxnSpPr/>
            <p:nvPr/>
          </p:nvCxnSpPr>
          <p:spPr>
            <a:xfrm>
              <a:off x="3232307" y="300227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6" name="Google Shape;986;p42"/>
          <p:cNvGrpSpPr/>
          <p:nvPr/>
        </p:nvGrpSpPr>
        <p:grpSpPr>
          <a:xfrm>
            <a:off x="10247116" y="3288197"/>
            <a:ext cx="321467" cy="182881"/>
            <a:chOff x="3048000" y="2819400"/>
            <a:chExt cx="321467" cy="182881"/>
          </a:xfrm>
        </p:grpSpPr>
        <p:sp>
          <p:nvSpPr>
            <p:cNvPr id="987" name="Google Shape;987;p42"/>
            <p:cNvSpPr/>
            <p:nvPr/>
          </p:nvSpPr>
          <p:spPr>
            <a:xfrm rot="-54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988" name="Google Shape;988;p42"/>
            <p:cNvCxnSpPr/>
            <p:nvPr/>
          </p:nvCxnSpPr>
          <p:spPr>
            <a:xfrm>
              <a:off x="3231989" y="28194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9" name="Google Shape;989;p42"/>
            <p:cNvCxnSpPr/>
            <p:nvPr/>
          </p:nvCxnSpPr>
          <p:spPr>
            <a:xfrm>
              <a:off x="3232307" y="300227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90" name="Google Shape;990;p42"/>
          <p:cNvGrpSpPr/>
          <p:nvPr/>
        </p:nvGrpSpPr>
        <p:grpSpPr>
          <a:xfrm>
            <a:off x="4712409" y="5998152"/>
            <a:ext cx="321467" cy="182881"/>
            <a:chOff x="3048000" y="2819400"/>
            <a:chExt cx="321467" cy="182881"/>
          </a:xfrm>
        </p:grpSpPr>
        <p:sp>
          <p:nvSpPr>
            <p:cNvPr id="991" name="Google Shape;991;p42"/>
            <p:cNvSpPr/>
            <p:nvPr/>
          </p:nvSpPr>
          <p:spPr>
            <a:xfrm rot="-54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992" name="Google Shape;992;p42"/>
            <p:cNvCxnSpPr/>
            <p:nvPr/>
          </p:nvCxnSpPr>
          <p:spPr>
            <a:xfrm>
              <a:off x="3231989" y="28194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3" name="Google Shape;993;p42"/>
            <p:cNvCxnSpPr/>
            <p:nvPr/>
          </p:nvCxnSpPr>
          <p:spPr>
            <a:xfrm>
              <a:off x="3232307" y="300227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https://msdnshared.blob.core.windows.net/media/TNBlogsFS/BlogFileStorage/blogs_technet/bpaulblog/WindowsLiveWriter/SimplifyingSQLServerJoinsQueryandInterna_B116/clip_image009_10.png" id="994" name="Google Shape;99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4648" y="3886435"/>
            <a:ext cx="2368296" cy="1547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43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Right Outer Join Example</a:t>
            </a:r>
            <a:endParaRPr/>
          </a:p>
        </p:txBody>
      </p:sp>
      <p:sp>
        <p:nvSpPr>
          <p:cNvPr id="1000" name="Google Shape;1000;p43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001" name="Google Shape;1001;p43"/>
          <p:cNvGraphicFramePr/>
          <p:nvPr/>
        </p:nvGraphicFramePr>
        <p:xfrm>
          <a:off x="343585" y="20563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762325"/>
                <a:gridCol w="878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2" name="Google Shape;1002;p43"/>
          <p:cNvGraphicFramePr/>
          <p:nvPr/>
        </p:nvGraphicFramePr>
        <p:xfrm>
          <a:off x="343585" y="16927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003" name="Google Shape;1003;p43"/>
          <p:cNvCxnSpPr/>
          <p:nvPr/>
        </p:nvCxnSpPr>
        <p:spPr>
          <a:xfrm>
            <a:off x="343585" y="1387525"/>
            <a:ext cx="97840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004" name="Google Shape;1004;p43"/>
          <p:cNvGraphicFramePr/>
          <p:nvPr/>
        </p:nvGraphicFramePr>
        <p:xfrm>
          <a:off x="343585" y="9995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5" name="Google Shape;1005;p43"/>
          <p:cNvGraphicFramePr/>
          <p:nvPr/>
        </p:nvGraphicFramePr>
        <p:xfrm>
          <a:off x="1442514" y="9906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8300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Right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Outer Join between Student and Result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 (Display RollNo, Name and SPI)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06" name="Google Shape;1006;p43"/>
          <p:cNvCxnSpPr/>
          <p:nvPr/>
        </p:nvCxnSpPr>
        <p:spPr>
          <a:xfrm>
            <a:off x="337235" y="4141024"/>
            <a:ext cx="50292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007" name="Google Shape;1007;p43"/>
          <p:cNvGraphicFramePr/>
          <p:nvPr/>
        </p:nvGraphicFramePr>
        <p:xfrm>
          <a:off x="337235" y="37530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8" name="Google Shape;1008;p43"/>
          <p:cNvGraphicFramePr/>
          <p:nvPr/>
        </p:nvGraphicFramePr>
        <p:xfrm>
          <a:off x="1366677" y="35671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737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RollNo, Name, SPI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9" name="Google Shape;1009;p43"/>
          <p:cNvGraphicFramePr/>
          <p:nvPr/>
        </p:nvGraphicFramePr>
        <p:xfrm>
          <a:off x="343585" y="48738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75757"/>
                          </a:solidFill>
                        </a:rPr>
                        <a:t>NULL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0" name="Google Shape;1010;p43"/>
          <p:cNvGraphicFramePr/>
          <p:nvPr/>
        </p:nvGraphicFramePr>
        <p:xfrm>
          <a:off x="343585" y="45102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1" name="Google Shape;1011;p43"/>
          <p:cNvGraphicFramePr/>
          <p:nvPr/>
        </p:nvGraphicFramePr>
        <p:xfrm>
          <a:off x="3025939" y="20529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551175"/>
                <a:gridCol w="4734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2" name="Google Shape;1012;p43"/>
          <p:cNvGraphicFramePr/>
          <p:nvPr/>
        </p:nvGraphicFramePr>
        <p:xfrm>
          <a:off x="3025939" y="16893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147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3" name="Google Shape;1013;p43"/>
          <p:cNvGraphicFramePr/>
          <p:nvPr/>
        </p:nvGraphicFramePr>
        <p:xfrm>
          <a:off x="2931161" y="36939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5879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((Student)        (Result))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14" name="Google Shape;1014;p43"/>
          <p:cNvGrpSpPr/>
          <p:nvPr/>
        </p:nvGrpSpPr>
        <p:grpSpPr>
          <a:xfrm>
            <a:off x="4118304" y="3805900"/>
            <a:ext cx="321467" cy="182881"/>
            <a:chOff x="3048000" y="2819400"/>
            <a:chExt cx="321467" cy="182881"/>
          </a:xfrm>
        </p:grpSpPr>
        <p:sp>
          <p:nvSpPr>
            <p:cNvPr id="1015" name="Google Shape;1015;p43"/>
            <p:cNvSpPr/>
            <p:nvPr/>
          </p:nvSpPr>
          <p:spPr>
            <a:xfrm rot="-54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1016" name="Google Shape;1016;p43"/>
            <p:cNvCxnSpPr/>
            <p:nvPr/>
          </p:nvCxnSpPr>
          <p:spPr>
            <a:xfrm>
              <a:off x="3231989" y="28194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7" name="Google Shape;1017;p43"/>
            <p:cNvCxnSpPr/>
            <p:nvPr/>
          </p:nvCxnSpPr>
          <p:spPr>
            <a:xfrm>
              <a:off x="3232307" y="3002277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44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Full Outer Join</a:t>
            </a:r>
            <a:endParaRPr/>
          </a:p>
        </p:txBody>
      </p:sp>
      <p:sp>
        <p:nvSpPr>
          <p:cNvPr id="1023" name="Google Shape;1023;p44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i="1" lang="en-US"/>
              <a:t>Relation-1 (R1)   </a:t>
            </a:r>
            <a:r>
              <a:rPr lang="en-US"/>
              <a:t>     </a:t>
            </a:r>
            <a:r>
              <a:rPr i="1" lang="en-US"/>
              <a:t>Relation-2 (R2)  </a:t>
            </a:r>
            <a:r>
              <a:rPr b="1" lang="en-US">
                <a:solidFill>
                  <a:srgbClr val="575757"/>
                </a:solidFill>
              </a:rPr>
              <a:t>OR</a:t>
            </a:r>
            <a:r>
              <a:rPr i="1" lang="en-US"/>
              <a:t>  Algebra-1        Algebra-2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</a:t>
            </a:r>
            <a:r>
              <a:rPr b="1" lang="en-US">
                <a:solidFill>
                  <a:schemeClr val="accent6"/>
                </a:solidFill>
              </a:rPr>
              <a:t>all the tuples of both of the relations</a:t>
            </a:r>
            <a:r>
              <a:rPr lang="en-US"/>
              <a:t>. It also pads null values whenever required. (Left outer join + Right outer join)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For such kind of </a:t>
            </a:r>
            <a:r>
              <a:rPr b="1" lang="en-US">
                <a:solidFill>
                  <a:schemeClr val="accent6"/>
                </a:solidFill>
              </a:rPr>
              <a:t>tuples having no matching</a:t>
            </a:r>
            <a:r>
              <a:rPr lang="en-US"/>
              <a:t>, it will be </a:t>
            </a:r>
            <a:r>
              <a:rPr b="1" lang="en-US">
                <a:solidFill>
                  <a:schemeClr val="accent6"/>
                </a:solidFill>
              </a:rPr>
              <a:t>padded with NULL</a:t>
            </a:r>
            <a:r>
              <a:rPr lang="en-US"/>
              <a:t> in resultant relation. </a:t>
            </a:r>
            <a:endParaRPr/>
          </a:p>
          <a:p>
            <a:pPr indent="-225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graphicFrame>
        <p:nvGraphicFramePr>
          <p:cNvPr id="1024" name="Google Shape;1024;p44"/>
          <p:cNvGraphicFramePr/>
          <p:nvPr/>
        </p:nvGraphicFramePr>
        <p:xfrm>
          <a:off x="514066" y="4244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762325"/>
                <a:gridCol w="878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5" name="Google Shape;1025;p44"/>
          <p:cNvGraphicFramePr/>
          <p:nvPr/>
        </p:nvGraphicFramePr>
        <p:xfrm>
          <a:off x="514066" y="3880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026" name="Google Shape;1026;p44"/>
          <p:cNvCxnSpPr/>
          <p:nvPr/>
        </p:nvCxnSpPr>
        <p:spPr>
          <a:xfrm>
            <a:off x="514066" y="3575733"/>
            <a:ext cx="6400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027" name="Google Shape;1027;p44"/>
          <p:cNvGraphicFramePr/>
          <p:nvPr/>
        </p:nvGraphicFramePr>
        <p:xfrm>
          <a:off x="514066" y="31877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8" name="Google Shape;1028;p44"/>
          <p:cNvGraphicFramePr/>
          <p:nvPr/>
        </p:nvGraphicFramePr>
        <p:xfrm>
          <a:off x="1612995" y="3178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4819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Full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Outer Join between Student and Result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29" name="Google Shape;1029;p44"/>
          <p:cNvCxnSpPr/>
          <p:nvPr/>
        </p:nvCxnSpPr>
        <p:spPr>
          <a:xfrm>
            <a:off x="8143224" y="3572521"/>
            <a:ext cx="33375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030" name="Google Shape;1030;p44"/>
          <p:cNvGraphicFramePr/>
          <p:nvPr/>
        </p:nvGraphicFramePr>
        <p:xfrm>
          <a:off x="8143224" y="31845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1" name="Google Shape;1031;p44"/>
          <p:cNvGraphicFramePr/>
          <p:nvPr/>
        </p:nvGraphicFramePr>
        <p:xfrm>
          <a:off x="9153253" y="31730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486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        (Result)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2" name="Google Shape;1032;p44"/>
          <p:cNvGraphicFramePr/>
          <p:nvPr/>
        </p:nvGraphicFramePr>
        <p:xfrm>
          <a:off x="8143224" y="4244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878200"/>
                <a:gridCol w="7242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Meet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ME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5757"/>
                        </a:buClr>
                        <a:buSzPts val="1800"/>
                        <a:buFont typeface="Roboto Condensed"/>
                        <a:buNone/>
                      </a:pPr>
                      <a:r>
                        <a:rPr b="1" lang="en-US" sz="1800">
                          <a:solidFill>
                            <a:srgbClr val="575757"/>
                          </a:solidFill>
                        </a:rPr>
                        <a:t>NULL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5757"/>
                        </a:buClr>
                        <a:buSzPts val="1800"/>
                        <a:buFont typeface="Roboto Condensed"/>
                        <a:buNone/>
                      </a:pPr>
                      <a:r>
                        <a:rPr b="1" lang="en-US" sz="1800">
                          <a:solidFill>
                            <a:srgbClr val="575757"/>
                          </a:solidFill>
                        </a:rPr>
                        <a:t>NULL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5757"/>
                        </a:buClr>
                        <a:buSzPts val="1800"/>
                        <a:buFont typeface="Roboto Condensed"/>
                        <a:buNone/>
                      </a:pPr>
                      <a:r>
                        <a:rPr b="1" lang="en-US" sz="1800">
                          <a:solidFill>
                            <a:srgbClr val="575757"/>
                          </a:solidFill>
                        </a:rPr>
                        <a:t>NULL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3" name="Google Shape;1033;p44"/>
          <p:cNvGraphicFramePr/>
          <p:nvPr/>
        </p:nvGraphicFramePr>
        <p:xfrm>
          <a:off x="8143224" y="3880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4" name="Google Shape;1034;p44"/>
          <p:cNvGraphicFramePr/>
          <p:nvPr/>
        </p:nvGraphicFramePr>
        <p:xfrm>
          <a:off x="3196420" y="42411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5" name="Google Shape;1035;p44"/>
          <p:cNvGraphicFramePr/>
          <p:nvPr/>
        </p:nvGraphicFramePr>
        <p:xfrm>
          <a:off x="3196420" y="38775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147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036" name="Google Shape;1036;p44"/>
          <p:cNvCxnSpPr/>
          <p:nvPr/>
        </p:nvCxnSpPr>
        <p:spPr>
          <a:xfrm>
            <a:off x="502898" y="6262717"/>
            <a:ext cx="56235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037" name="Google Shape;1037;p44"/>
          <p:cNvGraphicFramePr/>
          <p:nvPr/>
        </p:nvGraphicFramePr>
        <p:xfrm>
          <a:off x="502898" y="5874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Exercise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8" name="Google Shape;1038;p44"/>
          <p:cNvGraphicFramePr/>
          <p:nvPr/>
        </p:nvGraphicFramePr>
        <p:xfrm>
          <a:off x="1601827" y="5865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645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What is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the output of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(Result)         (Student).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39" name="Google Shape;1039;p44"/>
          <p:cNvGrpSpPr/>
          <p:nvPr/>
        </p:nvGrpSpPr>
        <p:grpSpPr>
          <a:xfrm>
            <a:off x="1534578" y="952905"/>
            <a:ext cx="457836" cy="182881"/>
            <a:chOff x="2803842" y="3246119"/>
            <a:chExt cx="457836" cy="182881"/>
          </a:xfrm>
        </p:grpSpPr>
        <p:sp>
          <p:nvSpPr>
            <p:cNvPr id="1040" name="Google Shape;1040;p44"/>
            <p:cNvSpPr/>
            <p:nvPr/>
          </p:nvSpPr>
          <p:spPr>
            <a:xfrm rot="-54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1041" name="Google Shape;1041;p44"/>
            <p:cNvCxnSpPr/>
            <p:nvPr/>
          </p:nvCxnSpPr>
          <p:spPr>
            <a:xfrm>
              <a:off x="2803842" y="3246119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2" name="Google Shape;1042;p44"/>
            <p:cNvCxnSpPr/>
            <p:nvPr/>
          </p:nvCxnSpPr>
          <p:spPr>
            <a:xfrm>
              <a:off x="2804160" y="3428996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3" name="Google Shape;1043;p44"/>
            <p:cNvCxnSpPr/>
            <p:nvPr/>
          </p:nvCxnSpPr>
          <p:spPr>
            <a:xfrm>
              <a:off x="3124200" y="3246123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4" name="Google Shape;1044;p44"/>
            <p:cNvCxnSpPr/>
            <p:nvPr/>
          </p:nvCxnSpPr>
          <p:spPr>
            <a:xfrm>
              <a:off x="3124518" y="34290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45" name="Google Shape;1045;p44"/>
          <p:cNvGrpSpPr/>
          <p:nvPr/>
        </p:nvGrpSpPr>
        <p:grpSpPr>
          <a:xfrm>
            <a:off x="3443094" y="1425330"/>
            <a:ext cx="457836" cy="182881"/>
            <a:chOff x="2803842" y="3246119"/>
            <a:chExt cx="457836" cy="182881"/>
          </a:xfrm>
        </p:grpSpPr>
        <p:sp>
          <p:nvSpPr>
            <p:cNvPr id="1046" name="Google Shape;1046;p44"/>
            <p:cNvSpPr/>
            <p:nvPr/>
          </p:nvSpPr>
          <p:spPr>
            <a:xfrm rot="-54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1047" name="Google Shape;1047;p44"/>
            <p:cNvCxnSpPr/>
            <p:nvPr/>
          </p:nvCxnSpPr>
          <p:spPr>
            <a:xfrm>
              <a:off x="2803842" y="3246119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8" name="Google Shape;1048;p44"/>
            <p:cNvCxnSpPr/>
            <p:nvPr/>
          </p:nvCxnSpPr>
          <p:spPr>
            <a:xfrm>
              <a:off x="2804160" y="3428996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9" name="Google Shape;1049;p44"/>
            <p:cNvCxnSpPr/>
            <p:nvPr/>
          </p:nvCxnSpPr>
          <p:spPr>
            <a:xfrm>
              <a:off x="3124200" y="3246123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0" name="Google Shape;1050;p44"/>
            <p:cNvCxnSpPr/>
            <p:nvPr/>
          </p:nvCxnSpPr>
          <p:spPr>
            <a:xfrm>
              <a:off x="3124518" y="34290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51" name="Google Shape;1051;p44"/>
          <p:cNvGrpSpPr/>
          <p:nvPr/>
        </p:nvGrpSpPr>
        <p:grpSpPr>
          <a:xfrm>
            <a:off x="7530500" y="1425330"/>
            <a:ext cx="457836" cy="182881"/>
            <a:chOff x="2803842" y="3246119"/>
            <a:chExt cx="457836" cy="182881"/>
          </a:xfrm>
        </p:grpSpPr>
        <p:sp>
          <p:nvSpPr>
            <p:cNvPr id="1052" name="Google Shape;1052;p44"/>
            <p:cNvSpPr/>
            <p:nvPr/>
          </p:nvSpPr>
          <p:spPr>
            <a:xfrm rot="-54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1053" name="Google Shape;1053;p44"/>
            <p:cNvCxnSpPr/>
            <p:nvPr/>
          </p:nvCxnSpPr>
          <p:spPr>
            <a:xfrm>
              <a:off x="2803842" y="3246119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4" name="Google Shape;1054;p44"/>
            <p:cNvCxnSpPr/>
            <p:nvPr/>
          </p:nvCxnSpPr>
          <p:spPr>
            <a:xfrm>
              <a:off x="2804160" y="3428996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5" name="Google Shape;1055;p44"/>
            <p:cNvCxnSpPr/>
            <p:nvPr/>
          </p:nvCxnSpPr>
          <p:spPr>
            <a:xfrm>
              <a:off x="3124200" y="3246123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6" name="Google Shape;1056;p44"/>
            <p:cNvCxnSpPr/>
            <p:nvPr/>
          </p:nvCxnSpPr>
          <p:spPr>
            <a:xfrm>
              <a:off x="3124518" y="34290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57" name="Google Shape;1057;p44"/>
          <p:cNvGrpSpPr/>
          <p:nvPr/>
        </p:nvGrpSpPr>
        <p:grpSpPr>
          <a:xfrm>
            <a:off x="10196752" y="3299229"/>
            <a:ext cx="457836" cy="182881"/>
            <a:chOff x="2803842" y="3246119"/>
            <a:chExt cx="457836" cy="182881"/>
          </a:xfrm>
        </p:grpSpPr>
        <p:sp>
          <p:nvSpPr>
            <p:cNvPr id="1058" name="Google Shape;1058;p44"/>
            <p:cNvSpPr/>
            <p:nvPr/>
          </p:nvSpPr>
          <p:spPr>
            <a:xfrm rot="-54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1059" name="Google Shape;1059;p44"/>
            <p:cNvCxnSpPr/>
            <p:nvPr/>
          </p:nvCxnSpPr>
          <p:spPr>
            <a:xfrm>
              <a:off x="2803842" y="3246119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0" name="Google Shape;1060;p44"/>
            <p:cNvCxnSpPr/>
            <p:nvPr/>
          </p:nvCxnSpPr>
          <p:spPr>
            <a:xfrm>
              <a:off x="2804160" y="3428996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1" name="Google Shape;1061;p44"/>
            <p:cNvCxnSpPr/>
            <p:nvPr/>
          </p:nvCxnSpPr>
          <p:spPr>
            <a:xfrm>
              <a:off x="3124200" y="3246123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2" name="Google Shape;1062;p44"/>
            <p:cNvCxnSpPr/>
            <p:nvPr/>
          </p:nvCxnSpPr>
          <p:spPr>
            <a:xfrm>
              <a:off x="3124518" y="34290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63" name="Google Shape;1063;p44"/>
          <p:cNvGrpSpPr/>
          <p:nvPr/>
        </p:nvGrpSpPr>
        <p:grpSpPr>
          <a:xfrm>
            <a:off x="4669662" y="5981457"/>
            <a:ext cx="457836" cy="182881"/>
            <a:chOff x="2803842" y="3246119"/>
            <a:chExt cx="457836" cy="182881"/>
          </a:xfrm>
        </p:grpSpPr>
        <p:sp>
          <p:nvSpPr>
            <p:cNvPr id="1064" name="Google Shape;1064;p44"/>
            <p:cNvSpPr/>
            <p:nvPr/>
          </p:nvSpPr>
          <p:spPr>
            <a:xfrm rot="-54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1065" name="Google Shape;1065;p44"/>
            <p:cNvCxnSpPr/>
            <p:nvPr/>
          </p:nvCxnSpPr>
          <p:spPr>
            <a:xfrm>
              <a:off x="2803842" y="3246119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6" name="Google Shape;1066;p44"/>
            <p:cNvCxnSpPr/>
            <p:nvPr/>
          </p:nvCxnSpPr>
          <p:spPr>
            <a:xfrm>
              <a:off x="2804160" y="3428996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7" name="Google Shape;1067;p44"/>
            <p:cNvCxnSpPr/>
            <p:nvPr/>
          </p:nvCxnSpPr>
          <p:spPr>
            <a:xfrm>
              <a:off x="3124200" y="3246123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8" name="Google Shape;1068;p44"/>
            <p:cNvCxnSpPr/>
            <p:nvPr/>
          </p:nvCxnSpPr>
          <p:spPr>
            <a:xfrm>
              <a:off x="3124518" y="34290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https://1.bp.blogspot.com/-eL4uyz3j_pc/VxurAGmXuAI/AAAAAAAABfM/RMnolY0W88M_d_TzDaFiNxQ4oEpE4oNSgCKgB/s1600/Full_outer_join.jpeg" id="1069" name="Google Shape;106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4648" y="3886200"/>
            <a:ext cx="2368296" cy="1554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45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Full Outer Join Example</a:t>
            </a:r>
            <a:endParaRPr/>
          </a:p>
        </p:txBody>
      </p:sp>
      <p:sp>
        <p:nvSpPr>
          <p:cNvPr id="1075" name="Google Shape;1075;p45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076" name="Google Shape;1076;p45"/>
          <p:cNvGraphicFramePr/>
          <p:nvPr/>
        </p:nvGraphicFramePr>
        <p:xfrm>
          <a:off x="343585" y="20563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762325"/>
                <a:gridCol w="878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7" name="Google Shape;1077;p45"/>
          <p:cNvGraphicFramePr/>
          <p:nvPr/>
        </p:nvGraphicFramePr>
        <p:xfrm>
          <a:off x="343585" y="16927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078" name="Google Shape;1078;p45"/>
          <p:cNvCxnSpPr/>
          <p:nvPr/>
        </p:nvCxnSpPr>
        <p:spPr>
          <a:xfrm>
            <a:off x="343585" y="1387525"/>
            <a:ext cx="96012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079" name="Google Shape;1079;p45"/>
          <p:cNvGraphicFramePr/>
          <p:nvPr/>
        </p:nvGraphicFramePr>
        <p:xfrm>
          <a:off x="343585" y="9995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0" name="Google Shape;1080;p45"/>
          <p:cNvGraphicFramePr/>
          <p:nvPr/>
        </p:nvGraphicFramePr>
        <p:xfrm>
          <a:off x="1442514" y="9906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6760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Full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Outer Join between Student and Result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 (Display RollNo, Name and SPI)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81" name="Google Shape;1081;p45"/>
          <p:cNvCxnSpPr/>
          <p:nvPr/>
        </p:nvCxnSpPr>
        <p:spPr>
          <a:xfrm>
            <a:off x="337235" y="4141024"/>
            <a:ext cx="50749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082" name="Google Shape;1082;p45"/>
          <p:cNvGraphicFramePr/>
          <p:nvPr/>
        </p:nvGraphicFramePr>
        <p:xfrm>
          <a:off x="337235" y="37530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3" name="Google Shape;1083;p45"/>
          <p:cNvGraphicFramePr/>
          <p:nvPr/>
        </p:nvGraphicFramePr>
        <p:xfrm>
          <a:off x="1366677" y="35971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737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RollNo, Name, SPI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4" name="Google Shape;1084;p45"/>
          <p:cNvGraphicFramePr/>
          <p:nvPr/>
        </p:nvGraphicFramePr>
        <p:xfrm>
          <a:off x="343585" y="48738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851225"/>
                <a:gridCol w="7242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75757"/>
                          </a:solidFill>
                        </a:rPr>
                        <a:t>NULL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75757"/>
                          </a:solidFill>
                        </a:rPr>
                        <a:t>NULL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5" name="Google Shape;1085;p45"/>
          <p:cNvGraphicFramePr/>
          <p:nvPr/>
        </p:nvGraphicFramePr>
        <p:xfrm>
          <a:off x="343585" y="45102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6" name="Google Shape;1086;p45"/>
          <p:cNvGraphicFramePr/>
          <p:nvPr/>
        </p:nvGraphicFramePr>
        <p:xfrm>
          <a:off x="3025939" y="20529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551175"/>
                <a:gridCol w="4734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7" name="Google Shape;1087;p45"/>
          <p:cNvGraphicFramePr/>
          <p:nvPr/>
        </p:nvGraphicFramePr>
        <p:xfrm>
          <a:off x="3025939" y="16893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147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8" name="Google Shape;1088;p45"/>
          <p:cNvGraphicFramePr/>
          <p:nvPr/>
        </p:nvGraphicFramePr>
        <p:xfrm>
          <a:off x="2931161" y="37239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5879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((Student)         (Result))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89" name="Google Shape;1089;p45"/>
          <p:cNvGrpSpPr/>
          <p:nvPr/>
        </p:nvGrpSpPr>
        <p:grpSpPr>
          <a:xfrm>
            <a:off x="4045549" y="3835880"/>
            <a:ext cx="457836" cy="182881"/>
            <a:chOff x="2803842" y="3246119"/>
            <a:chExt cx="457836" cy="182881"/>
          </a:xfrm>
        </p:grpSpPr>
        <p:sp>
          <p:nvSpPr>
            <p:cNvPr id="1090" name="Google Shape;1090;p45"/>
            <p:cNvSpPr/>
            <p:nvPr/>
          </p:nvSpPr>
          <p:spPr>
            <a:xfrm rot="-54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1091" name="Google Shape;1091;p45"/>
            <p:cNvCxnSpPr/>
            <p:nvPr/>
          </p:nvCxnSpPr>
          <p:spPr>
            <a:xfrm>
              <a:off x="2803842" y="3246119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2" name="Google Shape;1092;p45"/>
            <p:cNvCxnSpPr/>
            <p:nvPr/>
          </p:nvCxnSpPr>
          <p:spPr>
            <a:xfrm>
              <a:off x="2804160" y="3428996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3" name="Google Shape;1093;p45"/>
            <p:cNvCxnSpPr/>
            <p:nvPr/>
          </p:nvCxnSpPr>
          <p:spPr>
            <a:xfrm>
              <a:off x="3124200" y="3246123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" name="Google Shape;1094;p45"/>
            <p:cNvCxnSpPr/>
            <p:nvPr/>
          </p:nvCxnSpPr>
          <p:spPr>
            <a:xfrm>
              <a:off x="3124518" y="3429000"/>
              <a:ext cx="13716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4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Relational Algebra Operations</a:t>
            </a:r>
            <a:br>
              <a:rPr lang="en-US">
                <a:solidFill>
                  <a:srgbClr val="5C2321"/>
                </a:solidFill>
              </a:rPr>
            </a:br>
            <a:r>
              <a:rPr lang="en-US">
                <a:solidFill>
                  <a:schemeClr val="dk2"/>
                </a:solidFill>
              </a:rPr>
              <a:t>Set Operators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0" name="Google Shape;1100;p4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- 3.6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47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Set Operators</a:t>
            </a:r>
            <a:endParaRPr/>
          </a:p>
        </p:txBody>
      </p:sp>
      <p:sp>
        <p:nvSpPr>
          <p:cNvPr id="1106" name="Google Shape;1106;p47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Set operators </a:t>
            </a:r>
            <a:r>
              <a:rPr b="1" lang="en-US">
                <a:solidFill>
                  <a:schemeClr val="accent6"/>
                </a:solidFill>
              </a:rPr>
              <a:t>combine the results of two or more queries </a:t>
            </a:r>
            <a:r>
              <a:rPr lang="en-US"/>
              <a:t>into a single result.</a:t>
            </a:r>
            <a:endParaRPr/>
          </a:p>
        </p:txBody>
      </p:sp>
      <p:graphicFrame>
        <p:nvGraphicFramePr>
          <p:cNvPr id="1107" name="Google Shape;1107;p47"/>
          <p:cNvGraphicFramePr/>
          <p:nvPr/>
        </p:nvGraphicFramePr>
        <p:xfrm>
          <a:off x="964130" y="22481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31700"/>
                <a:gridCol w="2560325"/>
                <a:gridCol w="10972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</a:rPr>
                        <a:t>Sr.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Set Operator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Symbol</a:t>
                      </a:r>
                      <a:endParaRPr b="1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08" name="Google Shape;1108;p47"/>
          <p:cNvGraphicFramePr/>
          <p:nvPr/>
        </p:nvGraphicFramePr>
        <p:xfrm>
          <a:off x="964130" y="27058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31250"/>
                <a:gridCol w="2560325"/>
                <a:gridCol w="1097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Union</a:t>
                      </a:r>
                      <a:endParaRPr b="0" sz="20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U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09" name="Google Shape;1109;p47"/>
          <p:cNvGraphicFramePr/>
          <p:nvPr/>
        </p:nvGraphicFramePr>
        <p:xfrm>
          <a:off x="967487" y="17891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775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</a:rPr>
                        <a:t>Three types of Set Operators</a:t>
                      </a:r>
                      <a:endParaRPr b="1" sz="2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0" name="Google Shape;1110;p47"/>
          <p:cNvGraphicFramePr/>
          <p:nvPr/>
        </p:nvGraphicFramePr>
        <p:xfrm>
          <a:off x="964132" y="31019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31250"/>
                <a:gridCol w="2560325"/>
                <a:gridCol w="1097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Intersect / Intersection</a:t>
                      </a:r>
                      <a:endParaRPr b="0" sz="20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∩</a:t>
                      </a:r>
                      <a:endParaRPr b="1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1" name="Google Shape;1111;p47"/>
          <p:cNvGraphicFramePr/>
          <p:nvPr/>
        </p:nvGraphicFramePr>
        <p:xfrm>
          <a:off x="964132" y="3495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31250"/>
                <a:gridCol w="2560325"/>
                <a:gridCol w="1097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3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Minus / Set difference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−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12" name="Google Shape;1112;p47"/>
          <p:cNvSpPr txBox="1"/>
          <p:nvPr/>
        </p:nvSpPr>
        <p:spPr>
          <a:xfrm>
            <a:off x="514066" y="4755248"/>
            <a:ext cx="10424160" cy="1097280"/>
          </a:xfrm>
          <a:prstGeom prst="rect">
            <a:avLst/>
          </a:prstGeom>
          <a:solidFill>
            <a:srgbClr val="F0D9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Both queries should have </a:t>
            </a:r>
            <a:r>
              <a:rPr b="1" lang="en-US" sz="2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same (equal) number of columns</a:t>
            </a:r>
            <a:endParaRPr/>
          </a:p>
          <a:p>
            <a:pPr indent="-457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Corresponding </a:t>
            </a:r>
            <a:r>
              <a:rPr b="1" lang="en-US" sz="2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attributes should have the same data type </a:t>
            </a:r>
            <a:r>
              <a:rPr lang="en-U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</a:t>
            </a:r>
            <a:r>
              <a:rPr b="1" lang="en-US" sz="2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domain</a:t>
            </a:r>
            <a:endParaRPr b="1" sz="28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113" name="Google Shape;1113;p47"/>
          <p:cNvCxnSpPr/>
          <p:nvPr/>
        </p:nvCxnSpPr>
        <p:spPr>
          <a:xfrm>
            <a:off x="514066" y="4595182"/>
            <a:ext cx="100126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14" name="Google Shape;1114;p47"/>
          <p:cNvGraphicFramePr/>
          <p:nvPr/>
        </p:nvGraphicFramePr>
        <p:xfrm>
          <a:off x="514066" y="42071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370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Conditions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5" name="Google Shape;1115;p47"/>
          <p:cNvGraphicFramePr/>
          <p:nvPr/>
        </p:nvGraphicFramePr>
        <p:xfrm>
          <a:off x="1858288" y="4198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8204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Set operators will take two or more queries as input, which must be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union-compatible.</a:t>
                      </a:r>
                      <a:endParaRPr b="0" sz="20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4348" y="1206428"/>
            <a:ext cx="548640" cy="663685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48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Conditions to perform Set Operators</a:t>
            </a:r>
            <a:endParaRPr/>
          </a:p>
        </p:txBody>
      </p:sp>
      <p:sp>
        <p:nvSpPr>
          <p:cNvPr id="1122" name="Google Shape;1122;p48"/>
          <p:cNvSpPr txBox="1"/>
          <p:nvPr>
            <p:ph idx="1" type="body"/>
          </p:nvPr>
        </p:nvSpPr>
        <p:spPr>
          <a:xfrm>
            <a:off x="-97419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123" name="Google Shape;1123;p48"/>
          <p:cNvGraphicFramePr/>
          <p:nvPr/>
        </p:nvGraphicFramePr>
        <p:xfrm>
          <a:off x="265854" y="1837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762325"/>
                <a:gridCol w="65595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4" name="Google Shape;1124;p48"/>
          <p:cNvGraphicFramePr/>
          <p:nvPr/>
        </p:nvGraphicFramePr>
        <p:xfrm>
          <a:off x="265854" y="1474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5" name="Google Shape;1125;p48"/>
          <p:cNvGraphicFramePr/>
          <p:nvPr/>
        </p:nvGraphicFramePr>
        <p:xfrm>
          <a:off x="3099765" y="1837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73400"/>
                <a:gridCol w="762325"/>
                <a:gridCol w="655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FId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Patel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Dave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6" name="Google Shape;1126;p48"/>
          <p:cNvGraphicFramePr/>
          <p:nvPr/>
        </p:nvGraphicFramePr>
        <p:xfrm>
          <a:off x="3099765" y="1474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97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Faculty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7" name="Google Shape;1127;p48"/>
          <p:cNvGraphicFramePr/>
          <p:nvPr/>
        </p:nvGraphicFramePr>
        <p:xfrm>
          <a:off x="6413806" y="18432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762325"/>
                <a:gridCol w="655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8" name="Google Shape;1128;p48"/>
          <p:cNvGraphicFramePr/>
          <p:nvPr/>
        </p:nvGraphicFramePr>
        <p:xfrm>
          <a:off x="6413806" y="14795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9" name="Google Shape;1129;p48"/>
          <p:cNvGraphicFramePr/>
          <p:nvPr/>
        </p:nvGraphicFramePr>
        <p:xfrm>
          <a:off x="9207376" y="18432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762325"/>
                <a:gridCol w="655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FId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Patel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Dave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0" name="Google Shape;1130;p48"/>
          <p:cNvGraphicFramePr/>
          <p:nvPr/>
        </p:nvGraphicFramePr>
        <p:xfrm>
          <a:off x="9207376" y="14795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Faculty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131" name="Google Shape;1131;p48"/>
          <p:cNvCxnSpPr/>
          <p:nvPr/>
        </p:nvCxnSpPr>
        <p:spPr>
          <a:xfrm rot="-5400000">
            <a:off x="5158144" y="2498657"/>
            <a:ext cx="2011680" cy="7823"/>
          </a:xfrm>
          <a:prstGeom prst="straightConnector1">
            <a:avLst/>
          </a:prstGeom>
          <a:noFill/>
          <a:ln cap="flat" cmpd="sng" w="28575">
            <a:solidFill>
              <a:srgbClr val="57575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2" name="Google Shape;1132;p48"/>
          <p:cNvSpPr/>
          <p:nvPr/>
        </p:nvSpPr>
        <p:spPr>
          <a:xfrm>
            <a:off x="2437109" y="1164123"/>
            <a:ext cx="640080" cy="822960"/>
          </a:xfrm>
          <a:prstGeom prst="mathMultiply">
            <a:avLst>
              <a:gd fmla="val 15152" name="adj1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133" name="Google Shape;1133;p48"/>
          <p:cNvCxnSpPr/>
          <p:nvPr/>
        </p:nvCxnSpPr>
        <p:spPr>
          <a:xfrm>
            <a:off x="255640" y="1317406"/>
            <a:ext cx="75895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34" name="Google Shape;1134;p48"/>
          <p:cNvGraphicFramePr/>
          <p:nvPr/>
        </p:nvGraphicFramePr>
        <p:xfrm>
          <a:off x="255640" y="9294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557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Conditions-1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5" name="Google Shape;1135;p48"/>
          <p:cNvGraphicFramePr/>
          <p:nvPr/>
        </p:nvGraphicFramePr>
        <p:xfrm>
          <a:off x="1796810" y="9205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995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Both queries should have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same (equal) number of columns.</a:t>
                      </a:r>
                      <a:endParaRPr b="0" sz="20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36" name="Google Shape;113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8831" y="4034791"/>
            <a:ext cx="548640" cy="66368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7" name="Google Shape;1137;p48"/>
          <p:cNvGraphicFramePr/>
          <p:nvPr/>
        </p:nvGraphicFramePr>
        <p:xfrm>
          <a:off x="270337" y="46660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762325"/>
                <a:gridCol w="65595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8" name="Google Shape;1138;p48"/>
          <p:cNvGraphicFramePr/>
          <p:nvPr/>
        </p:nvGraphicFramePr>
        <p:xfrm>
          <a:off x="270337" y="43024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9" name="Google Shape;1139;p48"/>
          <p:cNvGraphicFramePr/>
          <p:nvPr/>
        </p:nvGraphicFramePr>
        <p:xfrm>
          <a:off x="3104248" y="46660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73400"/>
                <a:gridCol w="762325"/>
                <a:gridCol w="655950"/>
                <a:gridCol w="782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FId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Patel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DBMS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Dave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DF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0" name="Google Shape;1140;p48"/>
          <p:cNvGraphicFramePr/>
          <p:nvPr/>
        </p:nvGraphicFramePr>
        <p:xfrm>
          <a:off x="3104248" y="43024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Faculty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1" name="Google Shape;1141;p48"/>
          <p:cNvGraphicFramePr/>
          <p:nvPr/>
        </p:nvGraphicFramePr>
        <p:xfrm>
          <a:off x="6418289" y="46715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762325"/>
                <a:gridCol w="655950"/>
                <a:gridCol w="5511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2" name="Google Shape;1142;p48"/>
          <p:cNvGraphicFramePr/>
          <p:nvPr/>
        </p:nvGraphicFramePr>
        <p:xfrm>
          <a:off x="6418289" y="43079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3" name="Google Shape;1143;p48"/>
          <p:cNvGraphicFramePr/>
          <p:nvPr/>
        </p:nvGraphicFramePr>
        <p:xfrm>
          <a:off x="9211859" y="46715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73400"/>
                <a:gridCol w="762325"/>
                <a:gridCol w="655950"/>
                <a:gridCol w="5638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FId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Exp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Patel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Dave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4" name="Google Shape;1144;p48"/>
          <p:cNvGraphicFramePr/>
          <p:nvPr/>
        </p:nvGraphicFramePr>
        <p:xfrm>
          <a:off x="9211859" y="43079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Faculty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145" name="Google Shape;1145;p48"/>
          <p:cNvCxnSpPr/>
          <p:nvPr/>
        </p:nvCxnSpPr>
        <p:spPr>
          <a:xfrm rot="-5400000">
            <a:off x="5162627" y="5327020"/>
            <a:ext cx="2011680" cy="7823"/>
          </a:xfrm>
          <a:prstGeom prst="straightConnector1">
            <a:avLst/>
          </a:prstGeom>
          <a:noFill/>
          <a:ln cap="flat" cmpd="sng" w="28575">
            <a:solidFill>
              <a:srgbClr val="57575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6" name="Google Shape;1146;p48"/>
          <p:cNvSpPr/>
          <p:nvPr/>
        </p:nvSpPr>
        <p:spPr>
          <a:xfrm>
            <a:off x="2441592" y="3992486"/>
            <a:ext cx="640080" cy="822960"/>
          </a:xfrm>
          <a:prstGeom prst="mathMultiply">
            <a:avLst>
              <a:gd fmla="val 15152" name="adj1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147" name="Google Shape;1147;p48"/>
          <p:cNvCxnSpPr/>
          <p:nvPr/>
        </p:nvCxnSpPr>
        <p:spPr>
          <a:xfrm>
            <a:off x="260123" y="4145769"/>
            <a:ext cx="74066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48" name="Google Shape;1148;p48"/>
          <p:cNvGraphicFramePr/>
          <p:nvPr/>
        </p:nvGraphicFramePr>
        <p:xfrm>
          <a:off x="260123" y="37577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557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Conditions-2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9" name="Google Shape;1149;p48"/>
          <p:cNvGraphicFramePr/>
          <p:nvPr/>
        </p:nvGraphicFramePr>
        <p:xfrm>
          <a:off x="1801293" y="37488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02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Corresponding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attributes should have the same data type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0" name="Google Shape;1150;p48"/>
          <p:cNvSpPr/>
          <p:nvPr/>
        </p:nvSpPr>
        <p:spPr>
          <a:xfrm>
            <a:off x="2308870" y="4663040"/>
            <a:ext cx="542723" cy="1638563"/>
          </a:xfrm>
          <a:prstGeom prst="roundRect">
            <a:avLst>
              <a:gd fmla="val 91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51" name="Google Shape;1151;p48"/>
          <p:cNvSpPr/>
          <p:nvPr/>
        </p:nvSpPr>
        <p:spPr>
          <a:xfrm>
            <a:off x="5077982" y="4663040"/>
            <a:ext cx="798943" cy="1638563"/>
          </a:xfrm>
          <a:prstGeom prst="roundRect">
            <a:avLst>
              <a:gd fmla="val 91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49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Set Operators </a:t>
            </a:r>
            <a:r>
              <a:rPr lang="en-US">
                <a:solidFill>
                  <a:srgbClr val="8F8F8F"/>
                </a:solidFill>
              </a:rPr>
              <a:t>[Exercise]</a:t>
            </a:r>
            <a:endParaRPr>
              <a:solidFill>
                <a:srgbClr val="8F8F8F"/>
              </a:solidFill>
            </a:endParaRPr>
          </a:p>
        </p:txBody>
      </p:sp>
      <p:sp>
        <p:nvSpPr>
          <p:cNvPr id="1157" name="Google Shape;1157;p49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cxnSp>
        <p:nvCxnSpPr>
          <p:cNvPr id="1158" name="Google Shape;1158;p49"/>
          <p:cNvCxnSpPr/>
          <p:nvPr/>
        </p:nvCxnSpPr>
        <p:spPr>
          <a:xfrm>
            <a:off x="338006" y="1470177"/>
            <a:ext cx="65836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59" name="Google Shape;1159;p49"/>
          <p:cNvGraphicFramePr/>
          <p:nvPr/>
        </p:nvGraphicFramePr>
        <p:xfrm>
          <a:off x="338006" y="10821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Exercise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0" name="Google Shape;1160;p49"/>
          <p:cNvGraphicFramePr/>
          <p:nvPr/>
        </p:nvGraphicFramePr>
        <p:xfrm>
          <a:off x="1436935" y="10733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694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Check whether following  tables are compatible or not: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1" name="Google Shape;1161;p49"/>
          <p:cNvSpPr txBox="1"/>
          <p:nvPr/>
        </p:nvSpPr>
        <p:spPr>
          <a:xfrm>
            <a:off x="338006" y="1720182"/>
            <a:ext cx="11399292" cy="4410792"/>
          </a:xfrm>
          <a:prstGeom prst="rect">
            <a:avLst/>
          </a:prstGeom>
          <a:solidFill>
            <a:srgbClr val="E8E8E8"/>
          </a:solidFill>
          <a:ln cap="flat" cmpd="sng" w="9525">
            <a:solidFill>
              <a:srgbClr val="C7C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A: (First_name(char), Last_name(char), Date_of_Birth(date))</a:t>
            </a:r>
            <a:endParaRPr/>
          </a:p>
          <a:p>
            <a:pPr indent="-457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B: (FName(char), LName(char), PhoneNumber(number))</a:t>
            </a:r>
            <a:endParaRPr/>
          </a:p>
          <a:p>
            <a:pPr indent="-457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oboto Condensed"/>
              <a:buChar char="Χ"/>
            </a:pPr>
            <a:r>
              <a:rPr lang="en-US" sz="2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(Not compatible) 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Both tables have 3 attributes but </a:t>
            </a:r>
            <a:r>
              <a:rPr b="1"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third attributes datatype is different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  <a:p>
            <a:pPr indent="-330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457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A: (First_name(char), Last_name(char), Date_of_Birth(date))</a:t>
            </a:r>
            <a:endParaRPr/>
          </a:p>
          <a:p>
            <a:pPr indent="-457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B: (FName(char), LName(char), DOB(date))</a:t>
            </a:r>
            <a:endParaRPr/>
          </a:p>
          <a:p>
            <a:pPr indent="-457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✔"/>
            </a:pPr>
            <a:r>
              <a:rPr lang="en-US" sz="2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(Compatible) 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Both tables have 3 attributes and of same data type.</a:t>
            </a:r>
            <a:endParaRPr/>
          </a:p>
          <a:p>
            <a:pPr indent="-330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457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Person (PersonID, Name, Address, Hobby)</a:t>
            </a:r>
            <a:endParaRPr/>
          </a:p>
          <a:p>
            <a:pPr indent="-457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Professor (ProfessorID, Name, OfficeAddress, Salary)</a:t>
            </a:r>
            <a:endParaRPr/>
          </a:p>
          <a:p>
            <a:pPr indent="-457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(Not compatible) 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Both tables have 4 attributes but </a:t>
            </a:r>
            <a:r>
              <a:rPr b="1"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forth attributes datatype is different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1127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1127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                                                         </a:t>
            </a:r>
            <a:endParaRPr/>
          </a:p>
          <a:p>
            <a:pPr indent="-457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(Compatible) 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Both tables have 2 attributes and of same data type.</a:t>
            </a:r>
            <a:endParaRPr/>
          </a:p>
          <a:p>
            <a:pPr indent="-330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30200" lvl="0" marL="5699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1162" name="Google Shape;1162;p49"/>
          <p:cNvGraphicFramePr/>
          <p:nvPr/>
        </p:nvGraphicFramePr>
        <p:xfrm>
          <a:off x="1040349" y="51044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7117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Name, Address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(Person)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3" name="Google Shape;1163;p49"/>
          <p:cNvGraphicFramePr/>
          <p:nvPr/>
        </p:nvGraphicFramePr>
        <p:xfrm>
          <a:off x="5627340" y="51044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4690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400">
                          <a:solidFill>
                            <a:schemeClr val="dk1"/>
                          </a:solidFill>
                        </a:rPr>
                        <a:t>Name, OfficeAddress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(Professor)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4" name="Google Shape;1164;p49"/>
          <p:cNvGraphicFramePr/>
          <p:nvPr/>
        </p:nvGraphicFramePr>
        <p:xfrm>
          <a:off x="4325693" y="51349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797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&amp;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50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Union Operator</a:t>
            </a:r>
            <a:endParaRPr/>
          </a:p>
        </p:txBody>
      </p:sp>
      <p:sp>
        <p:nvSpPr>
          <p:cNvPr id="1170" name="Google Shape;1170;p50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 U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i="1" lang="en-US"/>
              <a:t>Relation-1 (R1)  </a:t>
            </a:r>
            <a:r>
              <a:rPr lang="en-US"/>
              <a:t>U  </a:t>
            </a:r>
            <a:r>
              <a:rPr i="1" lang="en-US"/>
              <a:t>Relation-2 (R2)  </a:t>
            </a:r>
            <a:r>
              <a:rPr b="1" lang="en-US">
                <a:solidFill>
                  <a:srgbClr val="575757"/>
                </a:solidFill>
              </a:rPr>
              <a:t>OR</a:t>
            </a:r>
            <a:r>
              <a:rPr i="1" lang="en-US"/>
              <a:t>  Algebra-1  </a:t>
            </a:r>
            <a:r>
              <a:rPr lang="en-US"/>
              <a:t>U</a:t>
            </a:r>
            <a:r>
              <a:rPr i="1" lang="en-US"/>
              <a:t>  Algebra-2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It displays all the tuples/records belonging to the first relation (left relation) or the second relation (right relation) or both.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It also </a:t>
            </a:r>
            <a:r>
              <a:rPr lang="en-US">
                <a:solidFill>
                  <a:schemeClr val="dk2"/>
                </a:solidFill>
              </a:rPr>
              <a:t>eliminates duplicate tuples</a:t>
            </a:r>
            <a:r>
              <a:rPr lang="en-US"/>
              <a:t> (tuples present in both relations appear once).</a:t>
            </a:r>
            <a:endParaRPr/>
          </a:p>
        </p:txBody>
      </p:sp>
      <p:graphicFrame>
        <p:nvGraphicFramePr>
          <p:cNvPr id="1171" name="Google Shape;1171;p50"/>
          <p:cNvGraphicFramePr/>
          <p:nvPr/>
        </p:nvGraphicFramePr>
        <p:xfrm>
          <a:off x="514066" y="4019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2" name="Google Shape;1172;p50"/>
          <p:cNvGraphicFramePr/>
          <p:nvPr/>
        </p:nvGraphicFramePr>
        <p:xfrm>
          <a:off x="514066" y="36561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11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Customer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173" name="Google Shape;1173;p50"/>
          <p:cNvCxnSpPr/>
          <p:nvPr/>
        </p:nvCxnSpPr>
        <p:spPr>
          <a:xfrm>
            <a:off x="514066" y="3530763"/>
            <a:ext cx="60807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74" name="Google Shape;1174;p50"/>
          <p:cNvGraphicFramePr/>
          <p:nvPr/>
        </p:nvGraphicFramePr>
        <p:xfrm>
          <a:off x="514066" y="31427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5" name="Google Shape;1175;p50"/>
          <p:cNvGraphicFramePr/>
          <p:nvPr/>
        </p:nvGraphicFramePr>
        <p:xfrm>
          <a:off x="1612995" y="31338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1470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Union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between Customer and Employee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76" name="Google Shape;1176;p50"/>
          <p:cNvCxnSpPr/>
          <p:nvPr/>
        </p:nvCxnSpPr>
        <p:spPr>
          <a:xfrm>
            <a:off x="8143224" y="3527551"/>
            <a:ext cx="35661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77" name="Google Shape;1177;p50"/>
          <p:cNvGraphicFramePr/>
          <p:nvPr/>
        </p:nvGraphicFramePr>
        <p:xfrm>
          <a:off x="8143224" y="31395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8" name="Google Shape;1178;p50"/>
          <p:cNvGraphicFramePr/>
          <p:nvPr/>
        </p:nvGraphicFramePr>
        <p:xfrm>
          <a:off x="9153253" y="3128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7673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 </a:t>
                      </a: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U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(Employee)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9" name="Google Shape;1179;p50"/>
          <p:cNvGraphicFramePr/>
          <p:nvPr/>
        </p:nvGraphicFramePr>
        <p:xfrm>
          <a:off x="8143224" y="4019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Manoj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Raju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0" name="Google Shape;1180;p50"/>
          <p:cNvGraphicFramePr/>
          <p:nvPr/>
        </p:nvGraphicFramePr>
        <p:xfrm>
          <a:off x="8143224" y="36561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1" name="Google Shape;1181;p50"/>
          <p:cNvGraphicFramePr/>
          <p:nvPr/>
        </p:nvGraphicFramePr>
        <p:xfrm>
          <a:off x="3196420" y="40163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Manoj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2" name="Google Shape;1182;p50"/>
          <p:cNvGraphicFramePr/>
          <p:nvPr/>
        </p:nvGraphicFramePr>
        <p:xfrm>
          <a:off x="3196420" y="36527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2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Employee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183" name="Google Shape;1183;p50"/>
          <p:cNvCxnSpPr/>
          <p:nvPr/>
        </p:nvCxnSpPr>
        <p:spPr>
          <a:xfrm>
            <a:off x="502898" y="6457587"/>
            <a:ext cx="114300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84" name="Google Shape;1184;p50"/>
          <p:cNvGraphicFramePr/>
          <p:nvPr/>
        </p:nvGraphicFramePr>
        <p:xfrm>
          <a:off x="502898" y="60696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Exercise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5" name="Google Shape;1185;p50"/>
          <p:cNvGraphicFramePr/>
          <p:nvPr/>
        </p:nvGraphicFramePr>
        <p:xfrm>
          <a:off x="1601827" y="60607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778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Is there any difference in the output if we swap the tables in Union operator.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 </a:t>
                      </a: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U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(Customer).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51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Intersect/ Intersection Operator</a:t>
            </a:r>
            <a:endParaRPr/>
          </a:p>
        </p:txBody>
      </p:sp>
      <p:sp>
        <p:nvSpPr>
          <p:cNvPr id="1191" name="Google Shape;1191;p51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 </a:t>
            </a:r>
            <a:r>
              <a:rPr b="1" lang="en-US"/>
              <a:t>∩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i="1" lang="en-US"/>
              <a:t>Relation-1 (R1)  </a:t>
            </a:r>
            <a:r>
              <a:rPr b="1" lang="en-US"/>
              <a:t>∩</a:t>
            </a:r>
            <a:r>
              <a:rPr lang="en-US"/>
              <a:t>  </a:t>
            </a:r>
            <a:r>
              <a:rPr i="1" lang="en-US"/>
              <a:t>Relation-2 (R2)  </a:t>
            </a:r>
            <a:r>
              <a:rPr b="1" lang="en-US">
                <a:solidFill>
                  <a:srgbClr val="575757"/>
                </a:solidFill>
              </a:rPr>
              <a:t>OR</a:t>
            </a:r>
            <a:r>
              <a:rPr i="1" lang="en-US"/>
              <a:t>  Algebra-1  </a:t>
            </a:r>
            <a:r>
              <a:rPr b="1" lang="en-US"/>
              <a:t>∩</a:t>
            </a:r>
            <a:r>
              <a:rPr i="1" lang="en-US"/>
              <a:t>  Algebra-2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It displays all the tuples/records belonging to both relations. OR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It displays all the tuples/records which are common from both relations.</a:t>
            </a:r>
            <a:endParaRPr/>
          </a:p>
        </p:txBody>
      </p:sp>
      <p:graphicFrame>
        <p:nvGraphicFramePr>
          <p:cNvPr id="1192" name="Google Shape;1192;p51"/>
          <p:cNvGraphicFramePr/>
          <p:nvPr/>
        </p:nvGraphicFramePr>
        <p:xfrm>
          <a:off x="514066" y="4019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3" name="Google Shape;1193;p51"/>
          <p:cNvGraphicFramePr/>
          <p:nvPr/>
        </p:nvGraphicFramePr>
        <p:xfrm>
          <a:off x="514066" y="36561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11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Customer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194" name="Google Shape;1194;p51"/>
          <p:cNvCxnSpPr/>
          <p:nvPr/>
        </p:nvCxnSpPr>
        <p:spPr>
          <a:xfrm>
            <a:off x="514066" y="3530763"/>
            <a:ext cx="66751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95" name="Google Shape;1195;p51"/>
          <p:cNvGraphicFramePr/>
          <p:nvPr/>
        </p:nvGraphicFramePr>
        <p:xfrm>
          <a:off x="514066" y="31427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6" name="Google Shape;1196;p51"/>
          <p:cNvGraphicFramePr/>
          <p:nvPr/>
        </p:nvGraphicFramePr>
        <p:xfrm>
          <a:off x="1612995" y="31338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7661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Intersection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between Customer and Employee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97" name="Google Shape;1197;p51"/>
          <p:cNvCxnSpPr/>
          <p:nvPr/>
        </p:nvCxnSpPr>
        <p:spPr>
          <a:xfrm>
            <a:off x="8143224" y="3527551"/>
            <a:ext cx="36118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98" name="Google Shape;1198;p51"/>
          <p:cNvGraphicFramePr/>
          <p:nvPr/>
        </p:nvGraphicFramePr>
        <p:xfrm>
          <a:off x="8143224" y="31395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9" name="Google Shape;1199;p51"/>
          <p:cNvGraphicFramePr/>
          <p:nvPr/>
        </p:nvGraphicFramePr>
        <p:xfrm>
          <a:off x="9153253" y="3128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8054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 </a:t>
                      </a: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∩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(Employee)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0" name="Google Shape;1200;p51"/>
          <p:cNvGraphicFramePr/>
          <p:nvPr/>
        </p:nvGraphicFramePr>
        <p:xfrm>
          <a:off x="8143224" y="4019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01" name="Google Shape;1201;p51"/>
          <p:cNvGraphicFramePr/>
          <p:nvPr/>
        </p:nvGraphicFramePr>
        <p:xfrm>
          <a:off x="8143224" y="36561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02" name="Google Shape;1202;p51"/>
          <p:cNvGraphicFramePr/>
          <p:nvPr/>
        </p:nvGraphicFramePr>
        <p:xfrm>
          <a:off x="3196420" y="40163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Manoj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03" name="Google Shape;1203;p51"/>
          <p:cNvGraphicFramePr/>
          <p:nvPr/>
        </p:nvGraphicFramePr>
        <p:xfrm>
          <a:off x="3196420" y="36527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2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Employee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204" name="Google Shape;1204;p51"/>
          <p:cNvCxnSpPr/>
          <p:nvPr/>
        </p:nvCxnSpPr>
        <p:spPr>
          <a:xfrm>
            <a:off x="502898" y="6457587"/>
            <a:ext cx="111556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05" name="Google Shape;1205;p51"/>
          <p:cNvGraphicFramePr/>
          <p:nvPr/>
        </p:nvGraphicFramePr>
        <p:xfrm>
          <a:off x="502898" y="60696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Exercise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06" name="Google Shape;1206;p51"/>
          <p:cNvGraphicFramePr/>
          <p:nvPr/>
        </p:nvGraphicFramePr>
        <p:xfrm>
          <a:off x="1601827" y="60607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225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Is there any difference in the output if we swap the tables in Intersection.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 </a:t>
                      </a: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∩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(Customer).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52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Minus/ Set difference Operator</a:t>
            </a:r>
            <a:endParaRPr/>
          </a:p>
        </p:txBody>
      </p:sp>
      <p:sp>
        <p:nvSpPr>
          <p:cNvPr id="1212" name="Google Shape;1212;p52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 −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i="1" lang="en-US"/>
              <a:t>Relation-1 (R1)  </a:t>
            </a:r>
            <a:r>
              <a:rPr lang="en-US"/>
              <a:t>−  </a:t>
            </a:r>
            <a:r>
              <a:rPr i="1" lang="en-US"/>
              <a:t>Relation-2 (R2)  </a:t>
            </a:r>
            <a:r>
              <a:rPr b="1" lang="en-US">
                <a:solidFill>
                  <a:srgbClr val="575757"/>
                </a:solidFill>
              </a:rPr>
              <a:t>OR</a:t>
            </a:r>
            <a:r>
              <a:rPr i="1" lang="en-US"/>
              <a:t>  Algebra-1  </a:t>
            </a:r>
            <a:r>
              <a:rPr lang="en-US"/>
              <a:t>−</a:t>
            </a:r>
            <a:r>
              <a:rPr i="1" lang="en-US"/>
              <a:t>  Algebra-2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It displays all the tuples/records belonging to the first relation (left relation) but not in the second relation (right relation).</a:t>
            </a:r>
            <a:endParaRPr/>
          </a:p>
        </p:txBody>
      </p:sp>
      <p:graphicFrame>
        <p:nvGraphicFramePr>
          <p:cNvPr id="1213" name="Google Shape;1213;p52"/>
          <p:cNvGraphicFramePr/>
          <p:nvPr/>
        </p:nvGraphicFramePr>
        <p:xfrm>
          <a:off x="514066" y="4019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4" name="Google Shape;1214;p52"/>
          <p:cNvGraphicFramePr/>
          <p:nvPr/>
        </p:nvGraphicFramePr>
        <p:xfrm>
          <a:off x="514066" y="36561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11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Customer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215" name="Google Shape;1215;p52"/>
          <p:cNvCxnSpPr/>
          <p:nvPr/>
        </p:nvCxnSpPr>
        <p:spPr>
          <a:xfrm>
            <a:off x="514066" y="3530763"/>
            <a:ext cx="68580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16" name="Google Shape;1216;p52"/>
          <p:cNvGraphicFramePr/>
          <p:nvPr/>
        </p:nvGraphicFramePr>
        <p:xfrm>
          <a:off x="514066" y="31427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7" name="Google Shape;1217;p52"/>
          <p:cNvGraphicFramePr/>
          <p:nvPr/>
        </p:nvGraphicFramePr>
        <p:xfrm>
          <a:off x="1612995" y="31338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9788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Set difference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between Customer and Employee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18" name="Google Shape;1218;p52"/>
          <p:cNvCxnSpPr/>
          <p:nvPr/>
        </p:nvCxnSpPr>
        <p:spPr>
          <a:xfrm>
            <a:off x="8143224" y="3527551"/>
            <a:ext cx="36118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19" name="Google Shape;1219;p52"/>
          <p:cNvGraphicFramePr/>
          <p:nvPr/>
        </p:nvGraphicFramePr>
        <p:xfrm>
          <a:off x="8143224" y="31395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0" name="Google Shape;1220;p52"/>
          <p:cNvGraphicFramePr/>
          <p:nvPr/>
        </p:nvGraphicFramePr>
        <p:xfrm>
          <a:off x="9153253" y="3128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7498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 − (Employee)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21" name="Google Shape;1221;p52"/>
          <p:cNvGraphicFramePr/>
          <p:nvPr/>
        </p:nvGraphicFramePr>
        <p:xfrm>
          <a:off x="8143224" y="4019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Raju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2" name="Google Shape;1222;p52"/>
          <p:cNvGraphicFramePr/>
          <p:nvPr/>
        </p:nvGraphicFramePr>
        <p:xfrm>
          <a:off x="8143224" y="36561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3" name="Google Shape;1223;p52"/>
          <p:cNvGraphicFramePr/>
          <p:nvPr/>
        </p:nvGraphicFramePr>
        <p:xfrm>
          <a:off x="3196420" y="40163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Manoj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4" name="Google Shape;1224;p52"/>
          <p:cNvGraphicFramePr/>
          <p:nvPr/>
        </p:nvGraphicFramePr>
        <p:xfrm>
          <a:off x="3196420" y="36527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2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Employee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225" name="Google Shape;1225;p52"/>
          <p:cNvCxnSpPr/>
          <p:nvPr/>
        </p:nvCxnSpPr>
        <p:spPr>
          <a:xfrm>
            <a:off x="502898" y="6457587"/>
            <a:ext cx="113385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26" name="Google Shape;1226;p52"/>
          <p:cNvGraphicFramePr/>
          <p:nvPr/>
        </p:nvGraphicFramePr>
        <p:xfrm>
          <a:off x="502898" y="60696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Exercise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7" name="Google Shape;1227;p52"/>
          <p:cNvGraphicFramePr/>
          <p:nvPr/>
        </p:nvGraphicFramePr>
        <p:xfrm>
          <a:off x="1601827" y="60607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381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Is there any difference in the output if we swap the tables in Set difference.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 </a:t>
                      </a: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−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(Customer).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53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Union Operators Example </a:t>
            </a:r>
            <a:endParaRPr/>
          </a:p>
        </p:txBody>
      </p:sp>
      <p:sp>
        <p:nvSpPr>
          <p:cNvPr id="1233" name="Google Shape;1233;p53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234" name="Google Shape;1234;p53"/>
          <p:cNvGraphicFramePr/>
          <p:nvPr/>
        </p:nvGraphicFramePr>
        <p:xfrm>
          <a:off x="926816" y="20298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5775"/>
                <a:gridCol w="857575"/>
                <a:gridCol w="963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Balance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20000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5" name="Google Shape;1235;p53"/>
          <p:cNvGraphicFramePr/>
          <p:nvPr/>
        </p:nvGraphicFramePr>
        <p:xfrm>
          <a:off x="926816" y="16661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11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Customer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236" name="Google Shape;1236;p53"/>
          <p:cNvCxnSpPr/>
          <p:nvPr/>
        </p:nvCxnSpPr>
        <p:spPr>
          <a:xfrm>
            <a:off x="926816" y="1540825"/>
            <a:ext cx="74066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37" name="Google Shape;1237;p53"/>
          <p:cNvGraphicFramePr/>
          <p:nvPr/>
        </p:nvGraphicFramePr>
        <p:xfrm>
          <a:off x="926816" y="1152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8" name="Google Shape;1238;p53"/>
          <p:cNvGraphicFramePr/>
          <p:nvPr/>
        </p:nvGraphicFramePr>
        <p:xfrm>
          <a:off x="2025745" y="11439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4725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Name of person who are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either employee or customer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39" name="Google Shape;1239;p53"/>
          <p:cNvCxnSpPr/>
          <p:nvPr/>
        </p:nvCxnSpPr>
        <p:spPr>
          <a:xfrm>
            <a:off x="926816" y="4173533"/>
            <a:ext cx="5257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40" name="Google Shape;1240;p53"/>
          <p:cNvGraphicFramePr/>
          <p:nvPr/>
        </p:nvGraphicFramePr>
        <p:xfrm>
          <a:off x="926816" y="3785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1" name="Google Shape;1241;p53"/>
          <p:cNvGraphicFramePr/>
          <p:nvPr/>
        </p:nvGraphicFramePr>
        <p:xfrm>
          <a:off x="926816" y="46657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Manoj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Raju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2" name="Google Shape;1242;p53"/>
          <p:cNvGraphicFramePr/>
          <p:nvPr/>
        </p:nvGraphicFramePr>
        <p:xfrm>
          <a:off x="926816" y="43021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3" name="Google Shape;1243;p53"/>
          <p:cNvGraphicFramePr/>
          <p:nvPr/>
        </p:nvGraphicFramePr>
        <p:xfrm>
          <a:off x="3609170" y="20263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5775"/>
                <a:gridCol w="857575"/>
                <a:gridCol w="655950"/>
                <a:gridCol w="809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Salary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Manoj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4" name="Google Shape;1244;p53"/>
          <p:cNvGraphicFramePr/>
          <p:nvPr/>
        </p:nvGraphicFramePr>
        <p:xfrm>
          <a:off x="3609170" y="16627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2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Employee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5" name="Google Shape;1245;p53"/>
          <p:cNvGraphicFramePr/>
          <p:nvPr/>
        </p:nvGraphicFramePr>
        <p:xfrm>
          <a:off x="1936303" y="3647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4469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Name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  </a:t>
                      </a: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U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Name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54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Intersect/ Intersection Operators Example </a:t>
            </a:r>
            <a:endParaRPr/>
          </a:p>
        </p:txBody>
      </p:sp>
      <p:sp>
        <p:nvSpPr>
          <p:cNvPr id="1251" name="Google Shape;1251;p54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252" name="Google Shape;1252;p54"/>
          <p:cNvGraphicFramePr/>
          <p:nvPr/>
        </p:nvGraphicFramePr>
        <p:xfrm>
          <a:off x="926816" y="20298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5775"/>
                <a:gridCol w="857575"/>
                <a:gridCol w="963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Balance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20000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3" name="Google Shape;1253;p54"/>
          <p:cNvGraphicFramePr/>
          <p:nvPr/>
        </p:nvGraphicFramePr>
        <p:xfrm>
          <a:off x="926816" y="16661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11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Customer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254" name="Google Shape;1254;p54"/>
          <p:cNvCxnSpPr/>
          <p:nvPr/>
        </p:nvCxnSpPr>
        <p:spPr>
          <a:xfrm>
            <a:off x="926816" y="1540825"/>
            <a:ext cx="7543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55" name="Google Shape;1255;p54"/>
          <p:cNvGraphicFramePr/>
          <p:nvPr/>
        </p:nvGraphicFramePr>
        <p:xfrm>
          <a:off x="926816" y="1152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6" name="Google Shape;1256;p54"/>
          <p:cNvGraphicFramePr/>
          <p:nvPr/>
        </p:nvGraphicFramePr>
        <p:xfrm>
          <a:off x="2025745" y="11439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6329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Name of person who are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employee as well as customer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57" name="Google Shape;1257;p54"/>
          <p:cNvCxnSpPr/>
          <p:nvPr/>
        </p:nvCxnSpPr>
        <p:spPr>
          <a:xfrm>
            <a:off x="926816" y="4173533"/>
            <a:ext cx="5257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58" name="Google Shape;1258;p54"/>
          <p:cNvGraphicFramePr/>
          <p:nvPr/>
        </p:nvGraphicFramePr>
        <p:xfrm>
          <a:off x="926816" y="3785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9" name="Google Shape;1259;p54"/>
          <p:cNvGraphicFramePr/>
          <p:nvPr/>
        </p:nvGraphicFramePr>
        <p:xfrm>
          <a:off x="926816" y="46657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0" name="Google Shape;1260;p54"/>
          <p:cNvGraphicFramePr/>
          <p:nvPr/>
        </p:nvGraphicFramePr>
        <p:xfrm>
          <a:off x="926816" y="43021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1" name="Google Shape;1261;p54"/>
          <p:cNvGraphicFramePr/>
          <p:nvPr/>
        </p:nvGraphicFramePr>
        <p:xfrm>
          <a:off x="3609170" y="20263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5775"/>
                <a:gridCol w="857575"/>
                <a:gridCol w="655950"/>
                <a:gridCol w="809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Salary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Manoj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2" name="Google Shape;1262;p54"/>
          <p:cNvGraphicFramePr/>
          <p:nvPr/>
        </p:nvGraphicFramePr>
        <p:xfrm>
          <a:off x="3609170" y="16627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2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Employee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3" name="Google Shape;1263;p54"/>
          <p:cNvGraphicFramePr/>
          <p:nvPr/>
        </p:nvGraphicFramePr>
        <p:xfrm>
          <a:off x="1936303" y="3647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4469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Name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 </a:t>
                      </a: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∩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Name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55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Minus/ Set difference Operators Example </a:t>
            </a:r>
            <a:endParaRPr/>
          </a:p>
        </p:txBody>
      </p:sp>
      <p:sp>
        <p:nvSpPr>
          <p:cNvPr id="1269" name="Google Shape;1269;p55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270" name="Google Shape;1270;p55"/>
          <p:cNvGraphicFramePr/>
          <p:nvPr/>
        </p:nvGraphicFramePr>
        <p:xfrm>
          <a:off x="926816" y="20298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5775"/>
                <a:gridCol w="857575"/>
                <a:gridCol w="963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Balance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20000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1" name="Google Shape;1271;p55"/>
          <p:cNvGraphicFramePr/>
          <p:nvPr/>
        </p:nvGraphicFramePr>
        <p:xfrm>
          <a:off x="926816" y="16661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11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Customer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272" name="Google Shape;1272;p55"/>
          <p:cNvCxnSpPr/>
          <p:nvPr/>
        </p:nvCxnSpPr>
        <p:spPr>
          <a:xfrm>
            <a:off x="926816" y="1540825"/>
            <a:ext cx="72237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73" name="Google Shape;1273;p55"/>
          <p:cNvGraphicFramePr/>
          <p:nvPr/>
        </p:nvGraphicFramePr>
        <p:xfrm>
          <a:off x="926816" y="1152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4" name="Google Shape;1274;p55"/>
          <p:cNvGraphicFramePr/>
          <p:nvPr/>
        </p:nvGraphicFramePr>
        <p:xfrm>
          <a:off x="2025745" y="11439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6329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Name of person who are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employee but not customer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75" name="Google Shape;1275;p55"/>
          <p:cNvCxnSpPr/>
          <p:nvPr/>
        </p:nvCxnSpPr>
        <p:spPr>
          <a:xfrm>
            <a:off x="926816" y="4173533"/>
            <a:ext cx="5257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76" name="Google Shape;1276;p55"/>
          <p:cNvGraphicFramePr/>
          <p:nvPr/>
        </p:nvGraphicFramePr>
        <p:xfrm>
          <a:off x="926816" y="3785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7" name="Google Shape;1277;p55"/>
          <p:cNvGraphicFramePr/>
          <p:nvPr/>
        </p:nvGraphicFramePr>
        <p:xfrm>
          <a:off x="926816" y="46657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Manoj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8" name="Google Shape;1278;p55"/>
          <p:cNvGraphicFramePr/>
          <p:nvPr/>
        </p:nvGraphicFramePr>
        <p:xfrm>
          <a:off x="926816" y="43021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9" name="Google Shape;1279;p55"/>
          <p:cNvGraphicFramePr/>
          <p:nvPr/>
        </p:nvGraphicFramePr>
        <p:xfrm>
          <a:off x="3609170" y="20263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5775"/>
                <a:gridCol w="857575"/>
                <a:gridCol w="655950"/>
                <a:gridCol w="809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Salary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Manoj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0" name="Google Shape;1280;p55"/>
          <p:cNvGraphicFramePr/>
          <p:nvPr/>
        </p:nvGraphicFramePr>
        <p:xfrm>
          <a:off x="3609170" y="16627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2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Employee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1" name="Google Shape;1281;p55"/>
          <p:cNvGraphicFramePr/>
          <p:nvPr/>
        </p:nvGraphicFramePr>
        <p:xfrm>
          <a:off x="1936303" y="3647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3675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Name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  −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Name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56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Minus/ Set difference Operators Example </a:t>
            </a:r>
            <a:endParaRPr/>
          </a:p>
        </p:txBody>
      </p:sp>
      <p:sp>
        <p:nvSpPr>
          <p:cNvPr id="1287" name="Google Shape;1287;p56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288" name="Google Shape;1288;p56"/>
          <p:cNvGraphicFramePr/>
          <p:nvPr/>
        </p:nvGraphicFramePr>
        <p:xfrm>
          <a:off x="926816" y="20298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5775"/>
                <a:gridCol w="857575"/>
                <a:gridCol w="963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Balance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20000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9" name="Google Shape;1289;p56"/>
          <p:cNvGraphicFramePr/>
          <p:nvPr/>
        </p:nvGraphicFramePr>
        <p:xfrm>
          <a:off x="926816" y="16661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11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Customer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290" name="Google Shape;1290;p56"/>
          <p:cNvCxnSpPr/>
          <p:nvPr/>
        </p:nvCxnSpPr>
        <p:spPr>
          <a:xfrm>
            <a:off x="926816" y="1540825"/>
            <a:ext cx="72237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91" name="Google Shape;1291;p56"/>
          <p:cNvGraphicFramePr/>
          <p:nvPr/>
        </p:nvGraphicFramePr>
        <p:xfrm>
          <a:off x="926816" y="1152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2" name="Google Shape;1292;p56"/>
          <p:cNvGraphicFramePr/>
          <p:nvPr/>
        </p:nvGraphicFramePr>
        <p:xfrm>
          <a:off x="2025745" y="11439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3423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Display Name of person who are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customer but not employee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93" name="Google Shape;1293;p56"/>
          <p:cNvCxnSpPr/>
          <p:nvPr/>
        </p:nvCxnSpPr>
        <p:spPr>
          <a:xfrm>
            <a:off x="926816" y="4173533"/>
            <a:ext cx="5257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94" name="Google Shape;1294;p56"/>
          <p:cNvGraphicFramePr/>
          <p:nvPr/>
        </p:nvGraphicFramePr>
        <p:xfrm>
          <a:off x="926816" y="3785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5" name="Google Shape;1295;p56"/>
          <p:cNvGraphicFramePr/>
          <p:nvPr/>
        </p:nvGraphicFramePr>
        <p:xfrm>
          <a:off x="926816" y="46657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Raju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6" name="Google Shape;1296;p56"/>
          <p:cNvGraphicFramePr/>
          <p:nvPr/>
        </p:nvGraphicFramePr>
        <p:xfrm>
          <a:off x="926816" y="43021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7" name="Google Shape;1297;p56"/>
          <p:cNvGraphicFramePr/>
          <p:nvPr/>
        </p:nvGraphicFramePr>
        <p:xfrm>
          <a:off x="3609170" y="20263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5775"/>
                <a:gridCol w="857575"/>
                <a:gridCol w="655950"/>
                <a:gridCol w="809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Salary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Manoj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8" name="Google Shape;1298;p56"/>
          <p:cNvGraphicFramePr/>
          <p:nvPr/>
        </p:nvGraphicFramePr>
        <p:xfrm>
          <a:off x="3609170" y="16627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2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Employee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9" name="Google Shape;1299;p56"/>
          <p:cNvGraphicFramePr/>
          <p:nvPr/>
        </p:nvGraphicFramePr>
        <p:xfrm>
          <a:off x="1936303" y="3647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3675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Name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  −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Name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57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Set Operators </a:t>
            </a:r>
            <a:r>
              <a:rPr lang="en-US">
                <a:solidFill>
                  <a:srgbClr val="8F8F8F"/>
                </a:solidFill>
              </a:rPr>
              <a:t>[Exercise]</a:t>
            </a:r>
            <a:endParaRPr>
              <a:solidFill>
                <a:srgbClr val="8F8F8F"/>
              </a:solidFill>
            </a:endParaRPr>
          </a:p>
        </p:txBody>
      </p:sp>
      <p:sp>
        <p:nvSpPr>
          <p:cNvPr id="1305" name="Google Shape;1305;p57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cxnSp>
        <p:nvCxnSpPr>
          <p:cNvPr id="1306" name="Google Shape;1306;p57"/>
          <p:cNvCxnSpPr/>
          <p:nvPr/>
        </p:nvCxnSpPr>
        <p:spPr>
          <a:xfrm>
            <a:off x="288578" y="1287426"/>
            <a:ext cx="92811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07" name="Google Shape;1307;p57"/>
          <p:cNvGraphicFramePr/>
          <p:nvPr/>
        </p:nvGraphicFramePr>
        <p:xfrm>
          <a:off x="288578" y="8994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Exercise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8" name="Google Shape;1308;p57"/>
          <p:cNvGraphicFramePr/>
          <p:nvPr/>
        </p:nvGraphicFramePr>
        <p:xfrm>
          <a:off x="1387507" y="890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3505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What is the output of following relational algebra for the below mentioned tables: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09" name="Google Shape;1309;p57"/>
          <p:cNvGraphicFramePr/>
          <p:nvPr/>
        </p:nvGraphicFramePr>
        <p:xfrm>
          <a:off x="309044" y="18310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5775"/>
                <a:gridCol w="857575"/>
                <a:gridCol w="963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Balance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20000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0" name="Google Shape;1310;p57"/>
          <p:cNvGraphicFramePr/>
          <p:nvPr/>
        </p:nvGraphicFramePr>
        <p:xfrm>
          <a:off x="309044" y="1467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11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Customer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1" name="Google Shape;1311;p57"/>
          <p:cNvGraphicFramePr/>
          <p:nvPr/>
        </p:nvGraphicFramePr>
        <p:xfrm>
          <a:off x="2991398" y="1827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5775"/>
                <a:gridCol w="857575"/>
                <a:gridCol w="655950"/>
                <a:gridCol w="809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Salary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Manoj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2" name="Google Shape;1312;p57"/>
          <p:cNvGraphicFramePr/>
          <p:nvPr/>
        </p:nvGraphicFramePr>
        <p:xfrm>
          <a:off x="2991398" y="14639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2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Employee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313" name="Google Shape;1313;p57"/>
          <p:cNvCxnSpPr/>
          <p:nvPr/>
        </p:nvCxnSpPr>
        <p:spPr>
          <a:xfrm>
            <a:off x="296402" y="3985433"/>
            <a:ext cx="57150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14" name="Google Shape;1314;p57"/>
          <p:cNvGraphicFramePr/>
          <p:nvPr/>
        </p:nvGraphicFramePr>
        <p:xfrm>
          <a:off x="296402" y="35974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256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Algebra-1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5" name="Google Shape;1315;p57"/>
          <p:cNvGraphicFramePr/>
          <p:nvPr/>
        </p:nvGraphicFramePr>
        <p:xfrm>
          <a:off x="1523603" y="34596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6485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 </a:t>
                      </a: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U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16" name="Google Shape;1316;p57"/>
          <p:cNvCxnSpPr/>
          <p:nvPr/>
        </p:nvCxnSpPr>
        <p:spPr>
          <a:xfrm>
            <a:off x="305041" y="4667073"/>
            <a:ext cx="68580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17" name="Google Shape;1317;p57"/>
          <p:cNvGraphicFramePr/>
          <p:nvPr/>
        </p:nvGraphicFramePr>
        <p:xfrm>
          <a:off x="305041" y="4279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256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Algebra-2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8" name="Google Shape;1318;p57"/>
          <p:cNvGraphicFramePr/>
          <p:nvPr/>
        </p:nvGraphicFramePr>
        <p:xfrm>
          <a:off x="1532242" y="41108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7550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Name, Balance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 </a:t>
                      </a: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U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Name, Salary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19" name="Google Shape;1319;p57"/>
          <p:cNvCxnSpPr/>
          <p:nvPr/>
        </p:nvCxnSpPr>
        <p:spPr>
          <a:xfrm>
            <a:off x="296402" y="5357033"/>
            <a:ext cx="58064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20" name="Google Shape;1320;p57"/>
          <p:cNvGraphicFramePr/>
          <p:nvPr/>
        </p:nvGraphicFramePr>
        <p:xfrm>
          <a:off x="296402" y="4969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256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Algebra-3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1" name="Google Shape;1321;p57"/>
          <p:cNvGraphicFramePr/>
          <p:nvPr/>
        </p:nvGraphicFramePr>
        <p:xfrm>
          <a:off x="1523603" y="48312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745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 </a:t>
                      </a: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∩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22" name="Google Shape;1322;p57"/>
          <p:cNvCxnSpPr/>
          <p:nvPr/>
        </p:nvCxnSpPr>
        <p:spPr>
          <a:xfrm>
            <a:off x="305041" y="6046293"/>
            <a:ext cx="69494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23" name="Google Shape;1323;p57"/>
          <p:cNvGraphicFramePr/>
          <p:nvPr/>
        </p:nvGraphicFramePr>
        <p:xfrm>
          <a:off x="305041" y="56583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256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Algebra-4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4" name="Google Shape;1324;p57"/>
          <p:cNvGraphicFramePr/>
          <p:nvPr/>
        </p:nvGraphicFramePr>
        <p:xfrm>
          <a:off x="1532242" y="55205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518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Name, Balance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 </a:t>
                      </a: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∩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Name, Salary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58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Set Operators </a:t>
            </a:r>
            <a:r>
              <a:rPr lang="en-US">
                <a:solidFill>
                  <a:srgbClr val="8F8F8F"/>
                </a:solidFill>
              </a:rPr>
              <a:t>[Exercise]</a:t>
            </a:r>
            <a:endParaRPr>
              <a:solidFill>
                <a:srgbClr val="8F8F8F"/>
              </a:solidFill>
            </a:endParaRPr>
          </a:p>
        </p:txBody>
      </p:sp>
      <p:sp>
        <p:nvSpPr>
          <p:cNvPr id="1330" name="Google Shape;1330;p58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cxnSp>
        <p:nvCxnSpPr>
          <p:cNvPr id="1331" name="Google Shape;1331;p58"/>
          <p:cNvCxnSpPr/>
          <p:nvPr/>
        </p:nvCxnSpPr>
        <p:spPr>
          <a:xfrm>
            <a:off x="288578" y="1287426"/>
            <a:ext cx="92811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32" name="Google Shape;1332;p58"/>
          <p:cNvGraphicFramePr/>
          <p:nvPr/>
        </p:nvGraphicFramePr>
        <p:xfrm>
          <a:off x="288578" y="8994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Exercise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33" name="Google Shape;1333;p58"/>
          <p:cNvGraphicFramePr/>
          <p:nvPr/>
        </p:nvGraphicFramePr>
        <p:xfrm>
          <a:off x="1387507" y="890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3505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What is the output of following relational algebra for the below mentioned tables: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4" name="Google Shape;1334;p58"/>
          <p:cNvGraphicFramePr/>
          <p:nvPr/>
        </p:nvGraphicFramePr>
        <p:xfrm>
          <a:off x="309044" y="18310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5775"/>
                <a:gridCol w="857575"/>
                <a:gridCol w="963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Balance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20000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35" name="Google Shape;1335;p58"/>
          <p:cNvGraphicFramePr/>
          <p:nvPr/>
        </p:nvGraphicFramePr>
        <p:xfrm>
          <a:off x="309044" y="1467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11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Customer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36" name="Google Shape;1336;p58"/>
          <p:cNvGraphicFramePr/>
          <p:nvPr/>
        </p:nvGraphicFramePr>
        <p:xfrm>
          <a:off x="2991398" y="1827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5775"/>
                <a:gridCol w="857575"/>
                <a:gridCol w="655950"/>
                <a:gridCol w="809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Dept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Salary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Manoj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37" name="Google Shape;1337;p58"/>
          <p:cNvGraphicFramePr/>
          <p:nvPr/>
        </p:nvGraphicFramePr>
        <p:xfrm>
          <a:off x="2991398" y="14639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226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Employee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338" name="Google Shape;1338;p58"/>
          <p:cNvCxnSpPr/>
          <p:nvPr/>
        </p:nvCxnSpPr>
        <p:spPr>
          <a:xfrm>
            <a:off x="296402" y="3985433"/>
            <a:ext cx="57607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39" name="Google Shape;1339;p58"/>
          <p:cNvGraphicFramePr/>
          <p:nvPr/>
        </p:nvGraphicFramePr>
        <p:xfrm>
          <a:off x="296402" y="35974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256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Algebra-1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40" name="Google Shape;1340;p58"/>
          <p:cNvGraphicFramePr/>
          <p:nvPr/>
        </p:nvGraphicFramePr>
        <p:xfrm>
          <a:off x="1523603" y="34596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7485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  −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41" name="Google Shape;1341;p58"/>
          <p:cNvCxnSpPr/>
          <p:nvPr/>
        </p:nvCxnSpPr>
        <p:spPr>
          <a:xfrm>
            <a:off x="305041" y="4667073"/>
            <a:ext cx="69037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42" name="Google Shape;1342;p58"/>
          <p:cNvGraphicFramePr/>
          <p:nvPr/>
        </p:nvGraphicFramePr>
        <p:xfrm>
          <a:off x="305041" y="4279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256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Algebra-2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43" name="Google Shape;1343;p58"/>
          <p:cNvGraphicFramePr/>
          <p:nvPr/>
        </p:nvGraphicFramePr>
        <p:xfrm>
          <a:off x="1532242" y="41108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55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Name, Balance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  −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Name, Salary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44" name="Google Shape;1344;p58"/>
          <p:cNvCxnSpPr/>
          <p:nvPr/>
        </p:nvCxnSpPr>
        <p:spPr>
          <a:xfrm>
            <a:off x="296402" y="5357033"/>
            <a:ext cx="58064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45" name="Google Shape;1345;p58"/>
          <p:cNvGraphicFramePr/>
          <p:nvPr/>
        </p:nvGraphicFramePr>
        <p:xfrm>
          <a:off x="296402" y="4969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256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Algebra-3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46" name="Google Shape;1346;p58"/>
          <p:cNvGraphicFramePr/>
          <p:nvPr/>
        </p:nvGraphicFramePr>
        <p:xfrm>
          <a:off x="1523603" y="48312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745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  −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47" name="Google Shape;1347;p58"/>
          <p:cNvCxnSpPr/>
          <p:nvPr/>
        </p:nvCxnSpPr>
        <p:spPr>
          <a:xfrm>
            <a:off x="305041" y="6046293"/>
            <a:ext cx="69494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48" name="Google Shape;1348;p58"/>
          <p:cNvGraphicFramePr/>
          <p:nvPr/>
        </p:nvGraphicFramePr>
        <p:xfrm>
          <a:off x="305041" y="56583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256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Algebra-4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49" name="Google Shape;1349;p58"/>
          <p:cNvGraphicFramePr/>
          <p:nvPr/>
        </p:nvGraphicFramePr>
        <p:xfrm>
          <a:off x="1532242" y="55205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518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Name, Balance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(Employee)  −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ID, Name, Salary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(Customer)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5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Relational Algebra Operations</a:t>
            </a:r>
            <a:br>
              <a:rPr lang="en-US">
                <a:solidFill>
                  <a:srgbClr val="5C2321"/>
                </a:solidFill>
              </a:rPr>
            </a:br>
            <a:r>
              <a:rPr lang="en-US" sz="5400">
                <a:solidFill>
                  <a:schemeClr val="dk2"/>
                </a:solidFill>
              </a:rPr>
              <a:t>Division Operator</a:t>
            </a:r>
            <a:endParaRPr sz="5400">
              <a:solidFill>
                <a:schemeClr val="dk2"/>
              </a:solidFill>
            </a:endParaRPr>
          </a:p>
        </p:txBody>
      </p:sp>
      <p:sp>
        <p:nvSpPr>
          <p:cNvPr id="1355" name="Google Shape;1355;p5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- 3.7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60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Division Operator</a:t>
            </a:r>
            <a:endParaRPr/>
          </a:p>
        </p:txBody>
      </p:sp>
      <p:sp>
        <p:nvSpPr>
          <p:cNvPr id="1361" name="Google Shape;1361;p60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 </a:t>
            </a:r>
            <a:r>
              <a:rPr lang="en-US" sz="2800"/>
              <a:t>÷</a:t>
            </a:r>
            <a:r>
              <a:rPr lang="en-US"/>
              <a:t> (Division)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i="1" lang="en-US"/>
              <a:t>Relation1 (R1) </a:t>
            </a:r>
            <a:r>
              <a:rPr lang="en-US"/>
              <a:t>÷ </a:t>
            </a:r>
            <a:r>
              <a:rPr i="1" lang="en-US"/>
              <a:t>Relation2 (R2)  </a:t>
            </a:r>
            <a:r>
              <a:rPr b="1" lang="en-US">
                <a:solidFill>
                  <a:srgbClr val="575757"/>
                </a:solidFill>
              </a:rPr>
              <a:t>OR</a:t>
            </a:r>
            <a:r>
              <a:rPr i="1" lang="en-US"/>
              <a:t>  Algebra1 </a:t>
            </a:r>
            <a:r>
              <a:rPr lang="en-US"/>
              <a:t>÷ </a:t>
            </a:r>
            <a:r>
              <a:rPr i="1" lang="en-US"/>
              <a:t>Algebra2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Condition: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Attributes of relation2/algebra2 must be a proper subset of attributes of relation1/algebra1.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The output of the division operator will have attributes = </a:t>
            </a:r>
            <a:endParaRPr/>
          </a:p>
          <a:p>
            <a:pPr indent="0" lvl="1" marL="4572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		All attributes of relation1  –  All attributes of relation2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The output of the division operator will have tuples = </a:t>
            </a:r>
            <a:endParaRPr/>
          </a:p>
          <a:p>
            <a:pPr indent="0" lvl="1" marL="4572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		Tuples in relation1, which are associated with the all tuples of relation2.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61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Division Operator Example</a:t>
            </a:r>
            <a:endParaRPr/>
          </a:p>
        </p:txBody>
      </p:sp>
      <p:sp>
        <p:nvSpPr>
          <p:cNvPr id="1367" name="Google Shape;1367;p61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cxnSp>
        <p:nvCxnSpPr>
          <p:cNvPr id="1368" name="Google Shape;1368;p61"/>
          <p:cNvCxnSpPr/>
          <p:nvPr/>
        </p:nvCxnSpPr>
        <p:spPr>
          <a:xfrm>
            <a:off x="288578" y="1287426"/>
            <a:ext cx="69494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69" name="Google Shape;1369;p61"/>
          <p:cNvGraphicFramePr/>
          <p:nvPr/>
        </p:nvGraphicFramePr>
        <p:xfrm>
          <a:off x="288578" y="8994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0" name="Google Shape;1370;p61"/>
          <p:cNvGraphicFramePr/>
          <p:nvPr/>
        </p:nvGraphicFramePr>
        <p:xfrm>
          <a:off x="1387507" y="890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955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Perform Division operation between Student and Subject.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1" name="Google Shape;1371;p61"/>
          <p:cNvGraphicFramePr/>
          <p:nvPr/>
        </p:nvGraphicFramePr>
        <p:xfrm>
          <a:off x="309044" y="18310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57575"/>
                <a:gridCol w="963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Subject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DBMS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DS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DS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DF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Rohit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DBMS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Rohit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DS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Rohit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DF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DBMS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DF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DS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2" name="Google Shape;1372;p61"/>
          <p:cNvGraphicFramePr/>
          <p:nvPr/>
        </p:nvGraphicFramePr>
        <p:xfrm>
          <a:off x="309044" y="1467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464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3" name="Google Shape;1373;p61"/>
          <p:cNvGraphicFramePr/>
          <p:nvPr/>
        </p:nvGraphicFramePr>
        <p:xfrm>
          <a:off x="2991398" y="1827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430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Subject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DBMS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DS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DF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4" name="Google Shape;1374;p61"/>
          <p:cNvGraphicFramePr/>
          <p:nvPr/>
        </p:nvGraphicFramePr>
        <p:xfrm>
          <a:off x="2991398" y="14639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Subject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375" name="Google Shape;1375;p61"/>
          <p:cNvCxnSpPr/>
          <p:nvPr/>
        </p:nvCxnSpPr>
        <p:spPr>
          <a:xfrm>
            <a:off x="7767171" y="1298897"/>
            <a:ext cx="32918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6" name="Google Shape;1376;p61"/>
          <p:cNvGraphicFramePr/>
          <p:nvPr/>
        </p:nvGraphicFramePr>
        <p:xfrm>
          <a:off x="7767171" y="910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7" name="Google Shape;1377;p61"/>
          <p:cNvGraphicFramePr/>
          <p:nvPr/>
        </p:nvGraphicFramePr>
        <p:xfrm>
          <a:off x="7767171" y="17910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430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Rohit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8" name="Google Shape;1378;p61"/>
          <p:cNvGraphicFramePr/>
          <p:nvPr/>
        </p:nvGraphicFramePr>
        <p:xfrm>
          <a:off x="7767171" y="14274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9" name="Google Shape;1379;p61"/>
          <p:cNvGraphicFramePr/>
          <p:nvPr/>
        </p:nvGraphicFramePr>
        <p:xfrm>
          <a:off x="8776658" y="8969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4419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 </a:t>
                      </a: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÷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(Subject)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62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Division Operator Example</a:t>
            </a:r>
            <a:endParaRPr/>
          </a:p>
        </p:txBody>
      </p:sp>
      <p:sp>
        <p:nvSpPr>
          <p:cNvPr id="1385" name="Google Shape;1385;p62"/>
          <p:cNvSpPr txBox="1"/>
          <p:nvPr>
            <p:ph idx="1" type="body"/>
          </p:nvPr>
        </p:nvSpPr>
        <p:spPr>
          <a:xfrm>
            <a:off x="15023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386" name="Google Shape;1386;p62"/>
          <p:cNvGraphicFramePr/>
          <p:nvPr/>
        </p:nvGraphicFramePr>
        <p:xfrm>
          <a:off x="349176" y="16043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6100"/>
                <a:gridCol w="782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Sno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PNo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7" name="Google Shape;1387;p62"/>
          <p:cNvGraphicFramePr/>
          <p:nvPr/>
        </p:nvGraphicFramePr>
        <p:xfrm>
          <a:off x="349176" y="12407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572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388" name="Google Shape;1388;p62"/>
          <p:cNvCxnSpPr/>
          <p:nvPr/>
        </p:nvCxnSpPr>
        <p:spPr>
          <a:xfrm>
            <a:off x="2124796" y="3724680"/>
            <a:ext cx="21945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9" name="Google Shape;1389;p62"/>
          <p:cNvGraphicFramePr/>
          <p:nvPr/>
        </p:nvGraphicFramePr>
        <p:xfrm>
          <a:off x="2124796" y="33366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0" name="Google Shape;1390;p62"/>
          <p:cNvGraphicFramePr/>
          <p:nvPr/>
        </p:nvGraphicFramePr>
        <p:xfrm>
          <a:off x="3134825" y="32458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703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(A)  </a:t>
                      </a: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÷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(B1)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1" name="Google Shape;1391;p62"/>
          <p:cNvGraphicFramePr/>
          <p:nvPr/>
        </p:nvGraphicFramePr>
        <p:xfrm>
          <a:off x="2134366" y="4266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2801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SNo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2" name="Google Shape;1392;p62"/>
          <p:cNvGraphicFramePr/>
          <p:nvPr/>
        </p:nvGraphicFramePr>
        <p:xfrm>
          <a:off x="2134366" y="39031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3" name="Google Shape;1393;p62"/>
          <p:cNvGraphicFramePr/>
          <p:nvPr/>
        </p:nvGraphicFramePr>
        <p:xfrm>
          <a:off x="2136038" y="16132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82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PNo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4" name="Google Shape;1394;p62"/>
          <p:cNvGraphicFramePr/>
          <p:nvPr/>
        </p:nvGraphicFramePr>
        <p:xfrm>
          <a:off x="2136038" y="12496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572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B1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395" name="Google Shape;1395;p62"/>
          <p:cNvCxnSpPr/>
          <p:nvPr/>
        </p:nvCxnSpPr>
        <p:spPr>
          <a:xfrm>
            <a:off x="4647562" y="3731030"/>
            <a:ext cx="21945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6" name="Google Shape;1396;p62"/>
          <p:cNvGraphicFramePr/>
          <p:nvPr/>
        </p:nvGraphicFramePr>
        <p:xfrm>
          <a:off x="4647562" y="3343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7" name="Google Shape;1397;p62"/>
          <p:cNvGraphicFramePr/>
          <p:nvPr/>
        </p:nvGraphicFramePr>
        <p:xfrm>
          <a:off x="5657591" y="32521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703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(A)  </a:t>
                      </a: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÷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(B2)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8" name="Google Shape;1398;p62"/>
          <p:cNvGraphicFramePr/>
          <p:nvPr/>
        </p:nvGraphicFramePr>
        <p:xfrm>
          <a:off x="4657132" y="427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2801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SNo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9" name="Google Shape;1399;p62"/>
          <p:cNvGraphicFramePr/>
          <p:nvPr/>
        </p:nvGraphicFramePr>
        <p:xfrm>
          <a:off x="4657132" y="39094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0" name="Google Shape;1400;p62"/>
          <p:cNvGraphicFramePr/>
          <p:nvPr/>
        </p:nvGraphicFramePr>
        <p:xfrm>
          <a:off x="4658804" y="16196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82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PNo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1" name="Google Shape;1401;p62"/>
          <p:cNvGraphicFramePr/>
          <p:nvPr/>
        </p:nvGraphicFramePr>
        <p:xfrm>
          <a:off x="4658804" y="12560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572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B2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402" name="Google Shape;1402;p62"/>
          <p:cNvCxnSpPr/>
          <p:nvPr/>
        </p:nvCxnSpPr>
        <p:spPr>
          <a:xfrm>
            <a:off x="7156946" y="3729446"/>
            <a:ext cx="21945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403" name="Google Shape;1403;p62"/>
          <p:cNvGraphicFramePr/>
          <p:nvPr/>
        </p:nvGraphicFramePr>
        <p:xfrm>
          <a:off x="7156946" y="3341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4" name="Google Shape;1404;p62"/>
          <p:cNvGraphicFramePr/>
          <p:nvPr/>
        </p:nvGraphicFramePr>
        <p:xfrm>
          <a:off x="8166975" y="32505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703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(A)  </a:t>
                      </a: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÷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(B3)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5" name="Google Shape;1405;p62"/>
          <p:cNvGraphicFramePr/>
          <p:nvPr/>
        </p:nvGraphicFramePr>
        <p:xfrm>
          <a:off x="7166516" y="42714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2801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SNo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6" name="Google Shape;1406;p62"/>
          <p:cNvGraphicFramePr/>
          <p:nvPr/>
        </p:nvGraphicFramePr>
        <p:xfrm>
          <a:off x="7166516" y="39078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7" name="Google Shape;1407;p62"/>
          <p:cNvGraphicFramePr/>
          <p:nvPr/>
        </p:nvGraphicFramePr>
        <p:xfrm>
          <a:off x="7168188" y="1618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82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PNo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8" name="Google Shape;1408;p62"/>
          <p:cNvGraphicFramePr/>
          <p:nvPr/>
        </p:nvGraphicFramePr>
        <p:xfrm>
          <a:off x="7168188" y="12544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572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B3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409" name="Google Shape;1409;p62"/>
          <p:cNvCxnSpPr/>
          <p:nvPr/>
        </p:nvCxnSpPr>
        <p:spPr>
          <a:xfrm>
            <a:off x="9660436" y="3729440"/>
            <a:ext cx="21945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410" name="Google Shape;1410;p62"/>
          <p:cNvGraphicFramePr/>
          <p:nvPr/>
        </p:nvGraphicFramePr>
        <p:xfrm>
          <a:off x="9660436" y="33414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1" name="Google Shape;1411;p62"/>
          <p:cNvGraphicFramePr/>
          <p:nvPr/>
        </p:nvGraphicFramePr>
        <p:xfrm>
          <a:off x="10670465" y="32505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3703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(A)  </a:t>
                      </a: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÷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(B4)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2" name="Google Shape;1412;p62"/>
          <p:cNvGraphicFramePr/>
          <p:nvPr/>
        </p:nvGraphicFramePr>
        <p:xfrm>
          <a:off x="9670006" y="42714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2801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SNo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3" name="Google Shape;1413;p62"/>
          <p:cNvGraphicFramePr/>
          <p:nvPr/>
        </p:nvGraphicFramePr>
        <p:xfrm>
          <a:off x="9670006" y="39078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4" name="Google Shape;1414;p62"/>
          <p:cNvGraphicFramePr/>
          <p:nvPr/>
        </p:nvGraphicFramePr>
        <p:xfrm>
          <a:off x="9671678" y="16180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82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PNo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5" name="Google Shape;1415;p62"/>
          <p:cNvGraphicFramePr/>
          <p:nvPr/>
        </p:nvGraphicFramePr>
        <p:xfrm>
          <a:off x="9671678" y="12544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572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B4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63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Division Operator Example</a:t>
            </a:r>
            <a:endParaRPr/>
          </a:p>
        </p:txBody>
      </p:sp>
      <p:sp>
        <p:nvSpPr>
          <p:cNvPr id="1421" name="Google Shape;1421;p63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cxnSp>
        <p:nvCxnSpPr>
          <p:cNvPr id="1422" name="Google Shape;1422;p63"/>
          <p:cNvCxnSpPr/>
          <p:nvPr/>
        </p:nvCxnSpPr>
        <p:spPr>
          <a:xfrm>
            <a:off x="288578" y="1287426"/>
            <a:ext cx="72000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423" name="Google Shape;1423;p63"/>
          <p:cNvGraphicFramePr/>
          <p:nvPr/>
        </p:nvGraphicFramePr>
        <p:xfrm>
          <a:off x="288578" y="8994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24" name="Google Shape;1424;p63"/>
          <p:cNvGraphicFramePr/>
          <p:nvPr/>
        </p:nvGraphicFramePr>
        <p:xfrm>
          <a:off x="1387507" y="890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3011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List the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name of students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doing a </a:t>
                      </a:r>
                      <a:r>
                        <a:rPr b="0" lang="en-US" sz="20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project in all technologies.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5" name="Google Shape;1425;p63"/>
          <p:cNvGraphicFramePr/>
          <p:nvPr/>
        </p:nvGraphicFramePr>
        <p:xfrm>
          <a:off x="309044" y="18310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857575"/>
                <a:gridCol w="13004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Technology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.NET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PHP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.NET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PHP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iPhone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Android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Rohit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Android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.NET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iPhone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Suresh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Android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26" name="Google Shape;1426;p63"/>
          <p:cNvGraphicFramePr/>
          <p:nvPr/>
        </p:nvGraphicFramePr>
        <p:xfrm>
          <a:off x="309044" y="1467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464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27" name="Google Shape;1427;p63"/>
          <p:cNvGraphicFramePr/>
          <p:nvPr/>
        </p:nvGraphicFramePr>
        <p:xfrm>
          <a:off x="3996926" y="1827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71500"/>
                <a:gridCol w="13004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TID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Technology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.NET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PHP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Android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iPhone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28" name="Google Shape;1428;p63"/>
          <p:cNvGraphicFramePr/>
          <p:nvPr/>
        </p:nvGraphicFramePr>
        <p:xfrm>
          <a:off x="3996926" y="14563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Project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429" name="Google Shape;1429;p63"/>
          <p:cNvCxnSpPr/>
          <p:nvPr/>
        </p:nvCxnSpPr>
        <p:spPr>
          <a:xfrm>
            <a:off x="3989336" y="4495487"/>
            <a:ext cx="59436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430" name="Google Shape;1430;p63"/>
          <p:cNvGraphicFramePr/>
          <p:nvPr/>
        </p:nvGraphicFramePr>
        <p:xfrm>
          <a:off x="3989336" y="41075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31" name="Google Shape;1431;p63"/>
          <p:cNvGraphicFramePr/>
          <p:nvPr/>
        </p:nvGraphicFramePr>
        <p:xfrm>
          <a:off x="3989336" y="4987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430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32" name="Google Shape;1432;p63"/>
          <p:cNvGraphicFramePr/>
          <p:nvPr/>
        </p:nvGraphicFramePr>
        <p:xfrm>
          <a:off x="3989336" y="46240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33" name="Google Shape;1433;p63"/>
          <p:cNvGraphicFramePr/>
          <p:nvPr/>
        </p:nvGraphicFramePr>
        <p:xfrm>
          <a:off x="4999335" y="39773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093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Roboto Condensed"/>
                        <a:buNone/>
                      </a:pP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Name, Technology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 </a:t>
                      </a: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÷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∏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Technology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(Project)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6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Relational Algebra Operations</a:t>
            </a:r>
            <a:br>
              <a:rPr lang="en-US">
                <a:solidFill>
                  <a:srgbClr val="5C2321"/>
                </a:solidFill>
              </a:rPr>
            </a:br>
            <a:r>
              <a:rPr lang="en-US" sz="5400">
                <a:solidFill>
                  <a:schemeClr val="dk2"/>
                </a:solidFill>
              </a:rPr>
              <a:t>Rename Operator</a:t>
            </a:r>
            <a:endParaRPr sz="5400">
              <a:solidFill>
                <a:schemeClr val="dk2"/>
              </a:solidFill>
            </a:endParaRPr>
          </a:p>
        </p:txBody>
      </p:sp>
      <p:sp>
        <p:nvSpPr>
          <p:cNvPr id="1439" name="Google Shape;1439;p6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- 3.8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65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Rename Operator</a:t>
            </a:r>
            <a:endParaRPr/>
          </a:p>
        </p:txBody>
      </p:sp>
      <p:sp>
        <p:nvSpPr>
          <p:cNvPr id="1445" name="Google Shape;1445;p65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 </a:t>
            </a:r>
            <a:r>
              <a:rPr lang="en-US" sz="2800"/>
              <a:t>ρ</a:t>
            </a:r>
            <a:r>
              <a:rPr lang="en-US"/>
              <a:t> (Rho)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lang="en-US" sz="2800"/>
              <a:t>ρ</a:t>
            </a:r>
            <a:r>
              <a:rPr baseline="-25000" i="1" lang="en-US"/>
              <a:t>A (X1,X2….Xn)</a:t>
            </a:r>
            <a:r>
              <a:rPr i="1" lang="en-US"/>
              <a:t> </a:t>
            </a:r>
            <a:r>
              <a:rPr lang="en-US"/>
              <a:t>(Relation)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The rename operation is used to </a:t>
            </a:r>
            <a:r>
              <a:rPr b="1" lang="en-US">
                <a:solidFill>
                  <a:schemeClr val="accent6"/>
                </a:solidFill>
              </a:rPr>
              <a:t>rename the output relation</a:t>
            </a:r>
            <a:r>
              <a:rPr lang="en-US"/>
              <a:t>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The result of rename operator are also relations with new name.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The </a:t>
            </a:r>
            <a:r>
              <a:rPr b="1" lang="en-US">
                <a:solidFill>
                  <a:schemeClr val="accent6"/>
                </a:solidFill>
              </a:rPr>
              <a:t>original relation name can not be changed </a:t>
            </a:r>
            <a:r>
              <a:rPr lang="en-US"/>
              <a:t>when we perform rename operation on any relation.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How to use: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ρ</a:t>
            </a:r>
            <a:r>
              <a:rPr baseline="-25000" lang="en-US"/>
              <a:t> x </a:t>
            </a:r>
            <a:r>
              <a:rPr lang="en-US"/>
              <a:t>(E)		</a:t>
            </a:r>
            <a:endParaRPr/>
          </a:p>
          <a:p>
            <a:pPr indent="0" lvl="1" marL="4572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	Returns a relation E under a new name X.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ρ</a:t>
            </a:r>
            <a:r>
              <a:rPr baseline="-25000" lang="en-US"/>
              <a:t> A1, A2. …,An </a:t>
            </a:r>
            <a:r>
              <a:rPr lang="en-US"/>
              <a:t>(E)</a:t>
            </a:r>
            <a:endParaRPr/>
          </a:p>
          <a:p>
            <a:pPr indent="0" lvl="1" marL="4572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	Returns a relation E with the attributes renamed to A1, A2, …., An.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ρ</a:t>
            </a:r>
            <a:r>
              <a:rPr baseline="-25000" lang="en-US"/>
              <a:t> x(A1, A2. …,An) </a:t>
            </a:r>
            <a:r>
              <a:rPr lang="en-US"/>
              <a:t>(E)</a:t>
            </a:r>
            <a:endParaRPr/>
          </a:p>
          <a:p>
            <a:pPr indent="0" lvl="1" marL="4572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	Returns a relation E under a new name X with the attributes renamed to A1, A2, …., An.</a:t>
            </a:r>
            <a:endParaRPr/>
          </a:p>
          <a:p>
            <a:pPr indent="-1127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66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Rename Operator Example</a:t>
            </a:r>
            <a:endParaRPr/>
          </a:p>
        </p:txBody>
      </p:sp>
      <p:sp>
        <p:nvSpPr>
          <p:cNvPr id="1451" name="Google Shape;1451;p66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452" name="Google Shape;1452;p66"/>
          <p:cNvGraphicFramePr/>
          <p:nvPr/>
        </p:nvGraphicFramePr>
        <p:xfrm>
          <a:off x="639131" y="18544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9275"/>
                <a:gridCol w="762325"/>
                <a:gridCol w="557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3" name="Google Shape;1453;p66"/>
          <p:cNvGraphicFramePr/>
          <p:nvPr/>
        </p:nvGraphicFramePr>
        <p:xfrm>
          <a:off x="639131" y="14832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454" name="Google Shape;1454;p66"/>
          <p:cNvCxnSpPr/>
          <p:nvPr/>
        </p:nvCxnSpPr>
        <p:spPr>
          <a:xfrm>
            <a:off x="652949" y="4085721"/>
            <a:ext cx="26974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455" name="Google Shape;1455;p66"/>
          <p:cNvGraphicFramePr/>
          <p:nvPr/>
        </p:nvGraphicFramePr>
        <p:xfrm>
          <a:off x="652949" y="36977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6" name="Google Shape;1456;p66"/>
          <p:cNvGraphicFramePr/>
          <p:nvPr/>
        </p:nvGraphicFramePr>
        <p:xfrm>
          <a:off x="1662978" y="36068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27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Person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7" name="Google Shape;1457;p66"/>
          <p:cNvGraphicFramePr/>
          <p:nvPr/>
        </p:nvGraphicFramePr>
        <p:xfrm>
          <a:off x="645126" y="4721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9275"/>
                <a:gridCol w="762325"/>
                <a:gridCol w="557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8" name="Google Shape;1458;p66"/>
          <p:cNvGraphicFramePr/>
          <p:nvPr/>
        </p:nvGraphicFramePr>
        <p:xfrm>
          <a:off x="645126" y="4349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Person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9" name="Google Shape;1459;p66"/>
          <p:cNvGraphicFramePr/>
          <p:nvPr/>
        </p:nvGraphicFramePr>
        <p:xfrm>
          <a:off x="4836492" y="18442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9275"/>
                <a:gridCol w="762325"/>
                <a:gridCol w="557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0" name="Google Shape;1460;p66"/>
          <p:cNvGraphicFramePr/>
          <p:nvPr/>
        </p:nvGraphicFramePr>
        <p:xfrm>
          <a:off x="4836492" y="1473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461" name="Google Shape;1461;p66"/>
          <p:cNvCxnSpPr/>
          <p:nvPr/>
        </p:nvCxnSpPr>
        <p:spPr>
          <a:xfrm>
            <a:off x="4850310" y="4075502"/>
            <a:ext cx="39776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462" name="Google Shape;1462;p66"/>
          <p:cNvGraphicFramePr/>
          <p:nvPr/>
        </p:nvGraphicFramePr>
        <p:xfrm>
          <a:off x="4850310" y="36875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3" name="Google Shape;1463;p66"/>
          <p:cNvGraphicFramePr/>
          <p:nvPr/>
        </p:nvGraphicFramePr>
        <p:xfrm>
          <a:off x="5860339" y="35966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1515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(RollNo, StudentName, SPI)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4" name="Google Shape;1464;p66"/>
          <p:cNvGraphicFramePr/>
          <p:nvPr/>
        </p:nvGraphicFramePr>
        <p:xfrm>
          <a:off x="4842487" y="4710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1473525"/>
                <a:gridCol w="557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StudentName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5" name="Google Shape;1465;p66"/>
          <p:cNvGraphicFramePr/>
          <p:nvPr/>
        </p:nvGraphicFramePr>
        <p:xfrm>
          <a:off x="4842487" y="4339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6" name="Google Shape;1466;p66"/>
          <p:cNvGraphicFramePr/>
          <p:nvPr/>
        </p:nvGraphicFramePr>
        <p:xfrm>
          <a:off x="645126" y="954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7" name="Google Shape;1467;p66"/>
          <p:cNvGraphicFramePr/>
          <p:nvPr/>
        </p:nvGraphicFramePr>
        <p:xfrm>
          <a:off x="1746595" y="871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8227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Rename table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468" name="Google Shape;1468;p66"/>
          <p:cNvCxnSpPr/>
          <p:nvPr/>
        </p:nvCxnSpPr>
        <p:spPr>
          <a:xfrm>
            <a:off x="652949" y="1335264"/>
            <a:ext cx="28346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469" name="Google Shape;1469;p66"/>
          <p:cNvGraphicFramePr/>
          <p:nvPr/>
        </p:nvGraphicFramePr>
        <p:xfrm>
          <a:off x="4851111" y="9390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0" name="Google Shape;1470;p66"/>
          <p:cNvGraphicFramePr/>
          <p:nvPr/>
        </p:nvGraphicFramePr>
        <p:xfrm>
          <a:off x="5952580" y="8557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4514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Rename attributes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471" name="Google Shape;1471;p66"/>
          <p:cNvCxnSpPr/>
          <p:nvPr/>
        </p:nvCxnSpPr>
        <p:spPr>
          <a:xfrm>
            <a:off x="4858934" y="1319954"/>
            <a:ext cx="338328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67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Rename Operator Example</a:t>
            </a:r>
            <a:endParaRPr/>
          </a:p>
        </p:txBody>
      </p:sp>
      <p:sp>
        <p:nvSpPr>
          <p:cNvPr id="1477" name="Google Shape;1477;p67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478" name="Google Shape;1478;p67"/>
          <p:cNvGraphicFramePr/>
          <p:nvPr/>
        </p:nvGraphicFramePr>
        <p:xfrm>
          <a:off x="359787" y="1866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9275"/>
                <a:gridCol w="762325"/>
                <a:gridCol w="557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9" name="Google Shape;1479;p67"/>
          <p:cNvGraphicFramePr/>
          <p:nvPr/>
        </p:nvGraphicFramePr>
        <p:xfrm>
          <a:off x="359787" y="14948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480" name="Google Shape;1480;p67"/>
          <p:cNvCxnSpPr/>
          <p:nvPr/>
        </p:nvCxnSpPr>
        <p:spPr>
          <a:xfrm>
            <a:off x="373605" y="4097276"/>
            <a:ext cx="53949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481" name="Google Shape;1481;p67"/>
          <p:cNvGraphicFramePr/>
          <p:nvPr/>
        </p:nvGraphicFramePr>
        <p:xfrm>
          <a:off x="373605" y="37092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2" name="Google Shape;1482;p67"/>
          <p:cNvGraphicFramePr/>
          <p:nvPr/>
        </p:nvGraphicFramePr>
        <p:xfrm>
          <a:off x="1383634" y="36184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6120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Person (RollNo, StudentName) </a:t>
                      </a:r>
                      <a:r>
                        <a:rPr b="0" i="1" lang="en-US" sz="24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∏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 RNo, Name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3" name="Google Shape;1483;p67"/>
          <p:cNvGraphicFramePr/>
          <p:nvPr/>
        </p:nvGraphicFramePr>
        <p:xfrm>
          <a:off x="365782" y="47326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844875"/>
                <a:gridCol w="1473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StudentName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4" name="Google Shape;1484;p67"/>
          <p:cNvGraphicFramePr/>
          <p:nvPr/>
        </p:nvGraphicFramePr>
        <p:xfrm>
          <a:off x="365782" y="43613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Person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5" name="Google Shape;1485;p67"/>
          <p:cNvGraphicFramePr/>
          <p:nvPr/>
        </p:nvGraphicFramePr>
        <p:xfrm>
          <a:off x="345323" y="954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6" name="Google Shape;1486;p67"/>
          <p:cNvGraphicFramePr/>
          <p:nvPr/>
        </p:nvGraphicFramePr>
        <p:xfrm>
          <a:off x="1446792" y="871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2468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Rename table and attributes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both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7" name="Google Shape;1487;p67"/>
          <p:cNvGraphicFramePr/>
          <p:nvPr/>
        </p:nvGraphicFramePr>
        <p:xfrm>
          <a:off x="6298384" y="1898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9275"/>
                <a:gridCol w="762325"/>
                <a:gridCol w="557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8" name="Google Shape;1488;p67"/>
          <p:cNvGraphicFramePr/>
          <p:nvPr/>
        </p:nvGraphicFramePr>
        <p:xfrm>
          <a:off x="6298384" y="15272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489" name="Google Shape;1489;p67"/>
          <p:cNvCxnSpPr/>
          <p:nvPr/>
        </p:nvCxnSpPr>
        <p:spPr>
          <a:xfrm>
            <a:off x="6312202" y="4129756"/>
            <a:ext cx="37490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490" name="Google Shape;1490;p67"/>
          <p:cNvGraphicFramePr/>
          <p:nvPr/>
        </p:nvGraphicFramePr>
        <p:xfrm>
          <a:off x="6312202" y="37417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Algebra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1" name="Google Shape;1491;p67"/>
          <p:cNvGraphicFramePr/>
          <p:nvPr/>
        </p:nvGraphicFramePr>
        <p:xfrm>
          <a:off x="7322231" y="36508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8133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StudentName / Name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92" name="Google Shape;1492;p67"/>
          <p:cNvGraphicFramePr/>
          <p:nvPr/>
        </p:nvGraphicFramePr>
        <p:xfrm>
          <a:off x="6304379" y="47650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9275"/>
                <a:gridCol w="1473525"/>
                <a:gridCol w="557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StudentName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3" name="Google Shape;1493;p67"/>
          <p:cNvGraphicFramePr/>
          <p:nvPr/>
        </p:nvGraphicFramePr>
        <p:xfrm>
          <a:off x="6304379" y="43938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4" name="Google Shape;1494;p67"/>
          <p:cNvGraphicFramePr/>
          <p:nvPr/>
        </p:nvGraphicFramePr>
        <p:xfrm>
          <a:off x="6283920" y="9614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5" name="Google Shape;1495;p67"/>
          <p:cNvGraphicFramePr/>
          <p:nvPr/>
        </p:nvGraphicFramePr>
        <p:xfrm>
          <a:off x="7385389" y="8781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667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Rename particular attributes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496" name="Google Shape;1496;p67"/>
          <p:cNvCxnSpPr/>
          <p:nvPr/>
        </p:nvCxnSpPr>
        <p:spPr>
          <a:xfrm>
            <a:off x="357674" y="1335264"/>
            <a:ext cx="51663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7" name="Google Shape;1497;p67"/>
          <p:cNvCxnSpPr/>
          <p:nvPr/>
        </p:nvCxnSpPr>
        <p:spPr>
          <a:xfrm>
            <a:off x="6293654" y="1336737"/>
            <a:ext cx="46177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68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Rename Operator Example</a:t>
            </a:r>
            <a:endParaRPr/>
          </a:p>
        </p:txBody>
      </p:sp>
      <p:sp>
        <p:nvSpPr>
          <p:cNvPr id="1503" name="Google Shape;1503;p68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504" name="Google Shape;1504;p68"/>
          <p:cNvGraphicFramePr/>
          <p:nvPr/>
        </p:nvGraphicFramePr>
        <p:xfrm>
          <a:off x="359787" y="1866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9275"/>
                <a:gridCol w="762325"/>
                <a:gridCol w="557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5" name="Google Shape;1505;p68"/>
          <p:cNvGraphicFramePr/>
          <p:nvPr/>
        </p:nvGraphicFramePr>
        <p:xfrm>
          <a:off x="359787" y="14948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506" name="Google Shape;1506;p68"/>
          <p:cNvCxnSpPr/>
          <p:nvPr/>
        </p:nvCxnSpPr>
        <p:spPr>
          <a:xfrm>
            <a:off x="373605" y="4172226"/>
            <a:ext cx="53492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07" name="Google Shape;1507;p68"/>
          <p:cNvGraphicFramePr/>
          <p:nvPr/>
        </p:nvGraphicFramePr>
        <p:xfrm>
          <a:off x="373605" y="37842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Step-2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8" name="Google Shape;1508;p68"/>
          <p:cNvGraphicFramePr/>
          <p:nvPr/>
        </p:nvGraphicFramePr>
        <p:xfrm>
          <a:off x="1383634" y="35584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5024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A.CPI&lt;B.CPI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A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X  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B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09" name="Google Shape;1509;p68"/>
          <p:cNvGraphicFramePr/>
          <p:nvPr/>
        </p:nvGraphicFramePr>
        <p:xfrm>
          <a:off x="365782" y="43613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Output-2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0" name="Google Shape;1510;p68"/>
          <p:cNvGraphicFramePr/>
          <p:nvPr/>
        </p:nvGraphicFramePr>
        <p:xfrm>
          <a:off x="345323" y="954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1" name="Google Shape;1511;p68"/>
          <p:cNvGraphicFramePr/>
          <p:nvPr/>
        </p:nvGraphicFramePr>
        <p:xfrm>
          <a:off x="1446792" y="871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3359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Find out maximum CPI from student table.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12" name="Google Shape;1512;p68"/>
          <p:cNvCxnSpPr/>
          <p:nvPr/>
        </p:nvCxnSpPr>
        <p:spPr>
          <a:xfrm>
            <a:off x="357674" y="1335264"/>
            <a:ext cx="62179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3" name="Google Shape;1513;p68"/>
          <p:cNvCxnSpPr/>
          <p:nvPr/>
        </p:nvCxnSpPr>
        <p:spPr>
          <a:xfrm>
            <a:off x="7060155" y="1364762"/>
            <a:ext cx="40233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14" name="Google Shape;1514;p68"/>
          <p:cNvGraphicFramePr/>
          <p:nvPr/>
        </p:nvGraphicFramePr>
        <p:xfrm>
          <a:off x="7060155" y="9767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Step-1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5" name="Google Shape;1515;p68"/>
          <p:cNvGraphicFramePr/>
          <p:nvPr/>
        </p:nvGraphicFramePr>
        <p:xfrm>
          <a:off x="7052332" y="18667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92475"/>
                <a:gridCol w="965525"/>
                <a:gridCol w="760725"/>
                <a:gridCol w="784550"/>
                <a:gridCol w="957575"/>
                <a:gridCol w="752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A.Rno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A.Name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A.CPI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B.Rno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B.Name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B.CPI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6" name="Google Shape;1516;p68"/>
          <p:cNvGraphicFramePr/>
          <p:nvPr/>
        </p:nvGraphicFramePr>
        <p:xfrm>
          <a:off x="7052332" y="14955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Output-1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7" name="Google Shape;1517;p68"/>
          <p:cNvGraphicFramePr/>
          <p:nvPr/>
        </p:nvGraphicFramePr>
        <p:xfrm>
          <a:off x="373605" y="47242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92475"/>
                <a:gridCol w="965525"/>
                <a:gridCol w="760725"/>
                <a:gridCol w="784550"/>
                <a:gridCol w="957575"/>
                <a:gridCol w="752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A.Rno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A.Name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A.CPI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B.Rno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B.Name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B.CPI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18" name="Google Shape;1518;p68"/>
          <p:cNvSpPr/>
          <p:nvPr/>
        </p:nvSpPr>
        <p:spPr>
          <a:xfrm>
            <a:off x="8824234" y="1865853"/>
            <a:ext cx="732147" cy="4113937"/>
          </a:xfrm>
          <a:prstGeom prst="roundRect">
            <a:avLst>
              <a:gd fmla="val 91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1519" name="Google Shape;1519;p68"/>
          <p:cNvGraphicFramePr/>
          <p:nvPr/>
        </p:nvGraphicFramePr>
        <p:xfrm>
          <a:off x="8058303" y="9028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0943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A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X  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B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0" name="Google Shape;1520;p68"/>
          <p:cNvSpPr/>
          <p:nvPr/>
        </p:nvSpPr>
        <p:spPr>
          <a:xfrm>
            <a:off x="11328674" y="1865852"/>
            <a:ext cx="732147" cy="4113937"/>
          </a:xfrm>
          <a:prstGeom prst="roundRect">
            <a:avLst>
              <a:gd fmla="val 91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69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Rename Operator Example</a:t>
            </a:r>
            <a:endParaRPr/>
          </a:p>
        </p:txBody>
      </p:sp>
      <p:sp>
        <p:nvSpPr>
          <p:cNvPr id="1526" name="Google Shape;1526;p69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527" name="Google Shape;1527;p69"/>
          <p:cNvGraphicFramePr/>
          <p:nvPr/>
        </p:nvGraphicFramePr>
        <p:xfrm>
          <a:off x="359787" y="1866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9275"/>
                <a:gridCol w="762325"/>
                <a:gridCol w="557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28" name="Google Shape;1528;p69"/>
          <p:cNvGraphicFramePr/>
          <p:nvPr/>
        </p:nvGraphicFramePr>
        <p:xfrm>
          <a:off x="359787" y="14948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529" name="Google Shape;1529;p69"/>
          <p:cNvCxnSpPr/>
          <p:nvPr/>
        </p:nvCxnSpPr>
        <p:spPr>
          <a:xfrm>
            <a:off x="373605" y="4176286"/>
            <a:ext cx="53492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30" name="Google Shape;1530;p69"/>
          <p:cNvGraphicFramePr/>
          <p:nvPr/>
        </p:nvGraphicFramePr>
        <p:xfrm>
          <a:off x="373605" y="37883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Step-2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1" name="Google Shape;1531;p69"/>
          <p:cNvGraphicFramePr/>
          <p:nvPr/>
        </p:nvGraphicFramePr>
        <p:xfrm>
          <a:off x="1383634" y="35625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5024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A.CPI&lt;B.CPI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A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X  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B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2" name="Google Shape;1532;p69"/>
          <p:cNvGraphicFramePr/>
          <p:nvPr/>
        </p:nvGraphicFramePr>
        <p:xfrm>
          <a:off x="365782" y="43613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Output-2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3" name="Google Shape;1533;p69"/>
          <p:cNvGraphicFramePr/>
          <p:nvPr/>
        </p:nvGraphicFramePr>
        <p:xfrm>
          <a:off x="345323" y="954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4" name="Google Shape;1534;p69"/>
          <p:cNvGraphicFramePr/>
          <p:nvPr/>
        </p:nvGraphicFramePr>
        <p:xfrm>
          <a:off x="1446792" y="871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3359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Find out maximum CPI from student table.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35" name="Google Shape;1535;p69"/>
          <p:cNvCxnSpPr/>
          <p:nvPr/>
        </p:nvCxnSpPr>
        <p:spPr>
          <a:xfrm>
            <a:off x="357674" y="1335264"/>
            <a:ext cx="62179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36" name="Google Shape;1536;p69"/>
          <p:cNvGraphicFramePr/>
          <p:nvPr/>
        </p:nvGraphicFramePr>
        <p:xfrm>
          <a:off x="373605" y="47242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92475"/>
                <a:gridCol w="965525"/>
                <a:gridCol w="760725"/>
                <a:gridCol w="784550"/>
                <a:gridCol w="957575"/>
                <a:gridCol w="752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A.Rno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A.Name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A.CPI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B.Rno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B.Name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B.CPI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537" name="Google Shape;1537;p69"/>
          <p:cNvCxnSpPr/>
          <p:nvPr/>
        </p:nvCxnSpPr>
        <p:spPr>
          <a:xfrm>
            <a:off x="5231355" y="1972911"/>
            <a:ext cx="6400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38" name="Google Shape;1538;p69"/>
          <p:cNvGraphicFramePr/>
          <p:nvPr/>
        </p:nvGraphicFramePr>
        <p:xfrm>
          <a:off x="5231355" y="15849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Step-3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9" name="Google Shape;1539;p69"/>
          <p:cNvGraphicFramePr/>
          <p:nvPr/>
        </p:nvGraphicFramePr>
        <p:xfrm>
          <a:off x="6241384" y="13591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5486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∏</a:t>
                      </a:r>
                      <a:r>
                        <a:rPr b="0" baseline="-25000" i="1" lang="en-US" sz="3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A.CPI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(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A.CPI&lt;B.CPI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A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X  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B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40" name="Google Shape;1540;p69"/>
          <p:cNvGraphicFramePr/>
          <p:nvPr/>
        </p:nvGraphicFramePr>
        <p:xfrm>
          <a:off x="6118882" y="21770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Output-3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1" name="Google Shape;1541;p69"/>
          <p:cNvGraphicFramePr/>
          <p:nvPr/>
        </p:nvGraphicFramePr>
        <p:xfrm>
          <a:off x="6126705" y="25399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972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A.CPI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42" name="Google Shape;1542;p69"/>
          <p:cNvSpPr/>
          <p:nvPr/>
        </p:nvSpPr>
        <p:spPr>
          <a:xfrm>
            <a:off x="2141494" y="4711953"/>
            <a:ext cx="732147" cy="1645920"/>
          </a:xfrm>
          <a:prstGeom prst="roundRect">
            <a:avLst>
              <a:gd fmla="val 91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70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Rename Operator Example</a:t>
            </a:r>
            <a:endParaRPr/>
          </a:p>
        </p:txBody>
      </p:sp>
      <p:sp>
        <p:nvSpPr>
          <p:cNvPr id="1548" name="Google Shape;1548;p70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549" name="Google Shape;1549;p70"/>
          <p:cNvGraphicFramePr/>
          <p:nvPr/>
        </p:nvGraphicFramePr>
        <p:xfrm>
          <a:off x="359787" y="1866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9275"/>
                <a:gridCol w="762325"/>
                <a:gridCol w="557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Raj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Meet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0" name="Google Shape;1550;p70"/>
          <p:cNvGraphicFramePr/>
          <p:nvPr/>
        </p:nvGraphicFramePr>
        <p:xfrm>
          <a:off x="359787" y="14948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1" name="Google Shape;1551;p70"/>
          <p:cNvGraphicFramePr/>
          <p:nvPr/>
        </p:nvGraphicFramePr>
        <p:xfrm>
          <a:off x="345323" y="954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2" name="Google Shape;1552;p70"/>
          <p:cNvGraphicFramePr/>
          <p:nvPr/>
        </p:nvGraphicFramePr>
        <p:xfrm>
          <a:off x="1446792" y="871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3359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Find out maximum CPI from student table.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53" name="Google Shape;1553;p70"/>
          <p:cNvCxnSpPr/>
          <p:nvPr/>
        </p:nvCxnSpPr>
        <p:spPr>
          <a:xfrm>
            <a:off x="357674" y="1335264"/>
            <a:ext cx="621792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4" name="Google Shape;1554;p70"/>
          <p:cNvCxnSpPr/>
          <p:nvPr/>
        </p:nvCxnSpPr>
        <p:spPr>
          <a:xfrm>
            <a:off x="5231355" y="1972911"/>
            <a:ext cx="6400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55" name="Google Shape;1555;p70"/>
          <p:cNvGraphicFramePr/>
          <p:nvPr/>
        </p:nvGraphicFramePr>
        <p:xfrm>
          <a:off x="5231355" y="15849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Step-3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6" name="Google Shape;1556;p70"/>
          <p:cNvGraphicFramePr/>
          <p:nvPr/>
        </p:nvGraphicFramePr>
        <p:xfrm>
          <a:off x="6241384" y="1376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5486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∏</a:t>
                      </a:r>
                      <a:r>
                        <a:rPr b="0" baseline="-25000" i="1" lang="en-US" sz="3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A.CPI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(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A.CPI&lt;B.CPI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A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X  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B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57" name="Google Shape;1557;p70"/>
          <p:cNvGraphicFramePr/>
          <p:nvPr/>
        </p:nvGraphicFramePr>
        <p:xfrm>
          <a:off x="6118882" y="21770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Output-3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8" name="Google Shape;1558;p70"/>
          <p:cNvGraphicFramePr/>
          <p:nvPr/>
        </p:nvGraphicFramePr>
        <p:xfrm>
          <a:off x="6126705" y="25399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972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A.CPI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559" name="Google Shape;1559;p70"/>
          <p:cNvCxnSpPr/>
          <p:nvPr/>
        </p:nvCxnSpPr>
        <p:spPr>
          <a:xfrm>
            <a:off x="378906" y="4305396"/>
            <a:ext cx="83210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60" name="Google Shape;1560;p70"/>
          <p:cNvGraphicFramePr/>
          <p:nvPr/>
        </p:nvGraphicFramePr>
        <p:xfrm>
          <a:off x="378906" y="39174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Step-4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61" name="Google Shape;1561;p70"/>
          <p:cNvGraphicFramePr/>
          <p:nvPr/>
        </p:nvGraphicFramePr>
        <p:xfrm>
          <a:off x="1388935" y="36916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74885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32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∏</a:t>
                      </a:r>
                      <a:r>
                        <a:rPr b="0" baseline="-25000" i="1" lang="en-US" sz="4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CPI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r>
                        <a:rPr b="0" baseline="-25000" lang="en-US" sz="3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− ∏</a:t>
                      </a:r>
                      <a:r>
                        <a:rPr b="0" baseline="-25000" i="1" lang="en-US" sz="3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A.CPI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(</a:t>
                      </a:r>
                      <a:r>
                        <a:rPr b="0" lang="en-US" sz="3200">
                          <a:solidFill>
                            <a:schemeClr val="dk1"/>
                          </a:solidFill>
                        </a:rPr>
                        <a:t>σ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A.CPI&lt;B.CPI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(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A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X  ρ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B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(Student)))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2" name="Google Shape;1562;p70"/>
          <p:cNvGraphicFramePr/>
          <p:nvPr/>
        </p:nvGraphicFramePr>
        <p:xfrm>
          <a:off x="1469633" y="44714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63" name="Google Shape;1563;p70"/>
          <p:cNvGraphicFramePr/>
          <p:nvPr/>
        </p:nvGraphicFramePr>
        <p:xfrm>
          <a:off x="1477456" y="48343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972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64" name="Google Shape;1564;p70"/>
          <p:cNvGraphicFramePr/>
          <p:nvPr/>
        </p:nvGraphicFramePr>
        <p:xfrm>
          <a:off x="3528082" y="44757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Output-3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65" name="Google Shape;1565;p70"/>
          <p:cNvGraphicFramePr/>
          <p:nvPr/>
        </p:nvGraphicFramePr>
        <p:xfrm>
          <a:off x="3535905" y="48386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972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A.CPI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66" name="Google Shape;1566;p70"/>
          <p:cNvSpPr txBox="1"/>
          <p:nvPr/>
        </p:nvSpPr>
        <p:spPr>
          <a:xfrm>
            <a:off x="2863120" y="5182849"/>
            <a:ext cx="3447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−</a:t>
            </a:r>
            <a:endParaRPr/>
          </a:p>
        </p:txBody>
      </p:sp>
      <p:sp>
        <p:nvSpPr>
          <p:cNvPr id="1567" name="Google Shape;1567;p70"/>
          <p:cNvSpPr txBox="1"/>
          <p:nvPr/>
        </p:nvSpPr>
        <p:spPr>
          <a:xfrm>
            <a:off x="4949247" y="5200339"/>
            <a:ext cx="3447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=</a:t>
            </a:r>
            <a:endParaRPr sz="2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1568" name="Google Shape;1568;p70"/>
          <p:cNvGraphicFramePr/>
          <p:nvPr/>
        </p:nvGraphicFramePr>
        <p:xfrm>
          <a:off x="5569241" y="4480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69" name="Google Shape;1569;p70"/>
          <p:cNvGraphicFramePr/>
          <p:nvPr/>
        </p:nvGraphicFramePr>
        <p:xfrm>
          <a:off x="5577064" y="48434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972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7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Relational Algebra Operations</a:t>
            </a:r>
            <a:br>
              <a:rPr lang="en-US">
                <a:solidFill>
                  <a:srgbClr val="5C2321"/>
                </a:solidFill>
              </a:rPr>
            </a:br>
            <a:r>
              <a:rPr lang="en-US" sz="5400">
                <a:solidFill>
                  <a:schemeClr val="dk2"/>
                </a:solidFill>
              </a:rPr>
              <a:t>Aggregate Functions</a:t>
            </a:r>
            <a:endParaRPr/>
          </a:p>
        </p:txBody>
      </p:sp>
      <p:sp>
        <p:nvSpPr>
          <p:cNvPr id="1575" name="Google Shape;1575;p7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- 3.9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72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Aggregate Functions</a:t>
            </a:r>
            <a:endParaRPr/>
          </a:p>
        </p:txBody>
      </p:sp>
      <p:sp>
        <p:nvSpPr>
          <p:cNvPr id="1581" name="Google Shape;1581;p72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Symbol: </a:t>
            </a:r>
            <a:r>
              <a:rPr i="1" lang="en-US" sz="3200">
                <a:latin typeface="Roboto Condensed"/>
                <a:ea typeface="Roboto Condensed"/>
                <a:cs typeface="Roboto Condensed"/>
                <a:sym typeface="Roboto Condensed"/>
              </a:rPr>
              <a:t>g</a:t>
            </a:r>
            <a:r>
              <a:rPr lang="en-US" sz="2800">
                <a:latin typeface="Roboto Condensed"/>
                <a:ea typeface="Roboto Condensed"/>
                <a:cs typeface="Roboto Condensed"/>
                <a:sym typeface="Roboto Condensed"/>
              </a:rPr>
              <a:t> or G </a:t>
            </a:r>
            <a:endParaRPr sz="28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Notation: </a:t>
            </a:r>
            <a:r>
              <a:rPr i="1" lang="en-US" sz="2800"/>
              <a:t>g </a:t>
            </a:r>
            <a:r>
              <a:rPr baseline="-25000" i="1" lang="en-US"/>
              <a:t>function-name(column), function-name(column), …, function-name(column) </a:t>
            </a:r>
            <a:r>
              <a:rPr lang="en-US"/>
              <a:t>(Relation)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Operation: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It </a:t>
            </a:r>
            <a:r>
              <a:rPr b="1" lang="en-US">
                <a:solidFill>
                  <a:schemeClr val="accent6"/>
                </a:solidFill>
              </a:rPr>
              <a:t>takes a more than one value </a:t>
            </a:r>
            <a:r>
              <a:rPr lang="en-US"/>
              <a:t>as input and </a:t>
            </a:r>
            <a:r>
              <a:rPr b="1" lang="en-US">
                <a:solidFill>
                  <a:schemeClr val="accent6"/>
                </a:solidFill>
              </a:rPr>
              <a:t>returns a single value </a:t>
            </a:r>
            <a:r>
              <a:rPr lang="en-US"/>
              <a:t>as output (result).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Aggregate functions are: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Sum (It </a:t>
            </a:r>
            <a:r>
              <a:rPr b="1" lang="en-US">
                <a:solidFill>
                  <a:schemeClr val="accent6"/>
                </a:solidFill>
              </a:rPr>
              <a:t>returns the sum (addition) </a:t>
            </a:r>
            <a:r>
              <a:rPr lang="en-US"/>
              <a:t>of the values of a column.)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Max (It </a:t>
            </a:r>
            <a:r>
              <a:rPr b="1" lang="en-US">
                <a:solidFill>
                  <a:schemeClr val="accent6"/>
                </a:solidFill>
              </a:rPr>
              <a:t>returns the maximum </a:t>
            </a:r>
            <a:r>
              <a:rPr lang="en-US"/>
              <a:t>value for a column.)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Min (It </a:t>
            </a:r>
            <a:r>
              <a:rPr b="1" lang="en-US">
                <a:solidFill>
                  <a:schemeClr val="accent6"/>
                </a:solidFill>
              </a:rPr>
              <a:t>returns the minimum </a:t>
            </a:r>
            <a:r>
              <a:rPr lang="en-US"/>
              <a:t>value for a column.)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Avg (It </a:t>
            </a:r>
            <a:r>
              <a:rPr b="1" lang="en-US">
                <a:solidFill>
                  <a:schemeClr val="accent6"/>
                </a:solidFill>
              </a:rPr>
              <a:t>returns the average </a:t>
            </a:r>
            <a:r>
              <a:rPr lang="en-US"/>
              <a:t>of the values for a column.)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Count (It </a:t>
            </a:r>
            <a:r>
              <a:rPr b="1" lang="en-US">
                <a:solidFill>
                  <a:schemeClr val="accent6"/>
                </a:solidFill>
              </a:rPr>
              <a:t>returns total number </a:t>
            </a:r>
            <a:r>
              <a:rPr lang="en-US"/>
              <a:t>of values in a given column.)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73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Aggregate Functions Example</a:t>
            </a:r>
            <a:endParaRPr/>
          </a:p>
        </p:txBody>
      </p:sp>
      <p:sp>
        <p:nvSpPr>
          <p:cNvPr id="1587" name="Google Shape;1587;p73"/>
          <p:cNvSpPr txBox="1"/>
          <p:nvPr>
            <p:ph idx="1" type="body"/>
          </p:nvPr>
        </p:nvSpPr>
        <p:spPr>
          <a:xfrm>
            <a:off x="131175" y="863450"/>
            <a:ext cx="11929500" cy="56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588" name="Google Shape;1588;p73"/>
          <p:cNvGraphicFramePr/>
          <p:nvPr/>
        </p:nvGraphicFramePr>
        <p:xfrm>
          <a:off x="317151" y="12818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89275"/>
                <a:gridCol w="1011550"/>
                <a:gridCol w="878200"/>
                <a:gridCol w="1106800"/>
                <a:gridCol w="557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Rno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Semester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CPI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Ramesh 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Mahesh 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EC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Amit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Anita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106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Reeta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107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Rohit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Chetan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Rakesh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89" name="Google Shape;1589;p73"/>
          <p:cNvGraphicFramePr/>
          <p:nvPr/>
        </p:nvGraphicFramePr>
        <p:xfrm>
          <a:off x="317151" y="9106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9242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cxnSp>
        <p:nvCxnSpPr>
          <p:cNvPr id="1590" name="Google Shape;1590;p73"/>
          <p:cNvCxnSpPr/>
          <p:nvPr/>
        </p:nvCxnSpPr>
        <p:spPr>
          <a:xfrm>
            <a:off x="4781437" y="1445511"/>
            <a:ext cx="46634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91" name="Google Shape;1591;p73"/>
          <p:cNvGraphicFramePr/>
          <p:nvPr/>
        </p:nvGraphicFramePr>
        <p:xfrm>
          <a:off x="4781437" y="10575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92" name="Google Shape;1592;p73"/>
          <p:cNvGraphicFramePr/>
          <p:nvPr/>
        </p:nvGraphicFramePr>
        <p:xfrm>
          <a:off x="5880366" y="1048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775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Find out sum of CPI of all students.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93" name="Google Shape;1593;p73"/>
          <p:cNvCxnSpPr/>
          <p:nvPr/>
        </p:nvCxnSpPr>
        <p:spPr>
          <a:xfrm>
            <a:off x="4781437" y="2072820"/>
            <a:ext cx="2971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94" name="Google Shape;1594;p73"/>
          <p:cNvGraphicFramePr/>
          <p:nvPr/>
        </p:nvGraphicFramePr>
        <p:xfrm>
          <a:off x="4781437" y="16848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95" name="Google Shape;1595;p73"/>
          <p:cNvGraphicFramePr/>
          <p:nvPr/>
        </p:nvGraphicFramePr>
        <p:xfrm>
          <a:off x="5791466" y="1555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11327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2800">
                          <a:solidFill>
                            <a:schemeClr val="dk1"/>
                          </a:solidFill>
                        </a:rPr>
                        <a:t>g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sum(CPI)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96" name="Google Shape;1596;p73"/>
          <p:cNvGraphicFramePr/>
          <p:nvPr/>
        </p:nvGraphicFramePr>
        <p:xfrm>
          <a:off x="10407941" y="10826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97" name="Google Shape;1597;p73"/>
          <p:cNvGraphicFramePr/>
          <p:nvPr/>
        </p:nvGraphicFramePr>
        <p:xfrm>
          <a:off x="10415764" y="14455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972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sum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598" name="Google Shape;1598;p73"/>
          <p:cNvCxnSpPr/>
          <p:nvPr/>
        </p:nvCxnSpPr>
        <p:spPr>
          <a:xfrm>
            <a:off x="4781437" y="2836161"/>
            <a:ext cx="46634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99" name="Google Shape;1599;p73"/>
          <p:cNvGraphicFramePr/>
          <p:nvPr/>
        </p:nvGraphicFramePr>
        <p:xfrm>
          <a:off x="4781437" y="24481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0" name="Google Shape;1600;p73"/>
          <p:cNvGraphicFramePr/>
          <p:nvPr/>
        </p:nvGraphicFramePr>
        <p:xfrm>
          <a:off x="5880366" y="24392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775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Find out maximum &amp; minimum CPI.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01" name="Google Shape;1601;p73"/>
          <p:cNvCxnSpPr/>
          <p:nvPr/>
        </p:nvCxnSpPr>
        <p:spPr>
          <a:xfrm>
            <a:off x="4781437" y="3463470"/>
            <a:ext cx="35661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602" name="Google Shape;1602;p73"/>
          <p:cNvGraphicFramePr/>
          <p:nvPr/>
        </p:nvGraphicFramePr>
        <p:xfrm>
          <a:off x="4781437" y="30754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3" name="Google Shape;1603;p73"/>
          <p:cNvGraphicFramePr/>
          <p:nvPr/>
        </p:nvGraphicFramePr>
        <p:xfrm>
          <a:off x="5791466" y="29464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7546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2800">
                          <a:solidFill>
                            <a:schemeClr val="dk1"/>
                          </a:solidFill>
                        </a:rPr>
                        <a:t>g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max(CPI), min(CPI)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04" name="Google Shape;1604;p73"/>
          <p:cNvGraphicFramePr/>
          <p:nvPr/>
        </p:nvGraphicFramePr>
        <p:xfrm>
          <a:off x="10407941" y="24732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5" name="Google Shape;1605;p73"/>
          <p:cNvGraphicFramePr/>
          <p:nvPr/>
        </p:nvGraphicFramePr>
        <p:xfrm>
          <a:off x="10415764" y="2836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616275"/>
                <a:gridCol w="5750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max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min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606" name="Google Shape;1606;p73"/>
          <p:cNvCxnSpPr/>
          <p:nvPr/>
        </p:nvCxnSpPr>
        <p:spPr>
          <a:xfrm>
            <a:off x="4773817" y="4188711"/>
            <a:ext cx="420624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607" name="Google Shape;1607;p73"/>
          <p:cNvGraphicFramePr/>
          <p:nvPr/>
        </p:nvGraphicFramePr>
        <p:xfrm>
          <a:off x="4773817" y="38007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8" name="Google Shape;1608;p73"/>
          <p:cNvGraphicFramePr/>
          <p:nvPr/>
        </p:nvGraphicFramePr>
        <p:xfrm>
          <a:off x="5872746" y="37918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32848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Count the number of students.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09" name="Google Shape;1609;p73"/>
          <p:cNvCxnSpPr/>
          <p:nvPr/>
        </p:nvCxnSpPr>
        <p:spPr>
          <a:xfrm>
            <a:off x="4773817" y="4816020"/>
            <a:ext cx="310896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610" name="Google Shape;1610;p73"/>
          <p:cNvGraphicFramePr/>
          <p:nvPr/>
        </p:nvGraphicFramePr>
        <p:xfrm>
          <a:off x="4773817" y="44280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11" name="Google Shape;1611;p73"/>
          <p:cNvGraphicFramePr/>
          <p:nvPr/>
        </p:nvGraphicFramePr>
        <p:xfrm>
          <a:off x="5783846" y="4299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2260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2800">
                          <a:solidFill>
                            <a:schemeClr val="dk1"/>
                          </a:solidFill>
                        </a:rPr>
                        <a:t>g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count(Rno)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12" name="Google Shape;1612;p73"/>
          <p:cNvGraphicFramePr/>
          <p:nvPr/>
        </p:nvGraphicFramePr>
        <p:xfrm>
          <a:off x="10400321" y="38258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13" name="Google Shape;1613;p73"/>
          <p:cNvGraphicFramePr/>
          <p:nvPr/>
        </p:nvGraphicFramePr>
        <p:xfrm>
          <a:off x="10408144" y="41887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972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count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614" name="Google Shape;1614;p73"/>
          <p:cNvCxnSpPr/>
          <p:nvPr/>
        </p:nvCxnSpPr>
        <p:spPr>
          <a:xfrm>
            <a:off x="4773817" y="5526021"/>
            <a:ext cx="50292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615" name="Google Shape;1615;p73"/>
          <p:cNvGraphicFramePr/>
          <p:nvPr/>
        </p:nvGraphicFramePr>
        <p:xfrm>
          <a:off x="4773817" y="51380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1004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16" name="Google Shape;1616;p73"/>
          <p:cNvGraphicFramePr/>
          <p:nvPr/>
        </p:nvGraphicFramePr>
        <p:xfrm>
          <a:off x="5872746" y="51291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41405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Find out average of CPI of all students.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17" name="Google Shape;1617;p73"/>
          <p:cNvCxnSpPr/>
          <p:nvPr/>
        </p:nvCxnSpPr>
        <p:spPr>
          <a:xfrm>
            <a:off x="4773817" y="6153330"/>
            <a:ext cx="2971800" cy="7823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618" name="Google Shape;1618;p73"/>
          <p:cNvGraphicFramePr/>
          <p:nvPr/>
        </p:nvGraphicFramePr>
        <p:xfrm>
          <a:off x="4773817" y="57653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02025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Answer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19" name="Google Shape;1619;p73"/>
          <p:cNvGraphicFramePr/>
          <p:nvPr/>
        </p:nvGraphicFramePr>
        <p:xfrm>
          <a:off x="5783846" y="56363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2065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2800">
                          <a:solidFill>
                            <a:schemeClr val="dk1"/>
                          </a:solidFill>
                        </a:rPr>
                        <a:t>g</a:t>
                      </a:r>
                      <a:r>
                        <a:rPr b="0" lang="en-US" sz="28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baseline="-25000" i="1" lang="en-US" sz="2000">
                          <a:solidFill>
                            <a:schemeClr val="dk1"/>
                          </a:solidFill>
                        </a:rPr>
                        <a:t>avg(CPI)  </a:t>
                      </a: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(Student)</a:t>
                      </a:r>
                      <a:endParaRPr b="0"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20" name="Google Shape;1620;p73"/>
          <p:cNvGraphicFramePr/>
          <p:nvPr/>
        </p:nvGraphicFramePr>
        <p:xfrm>
          <a:off x="10400321" y="51631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4965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21" name="Google Shape;1621;p73"/>
          <p:cNvGraphicFramePr/>
          <p:nvPr/>
        </p:nvGraphicFramePr>
        <p:xfrm>
          <a:off x="10408144" y="55260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10972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>
                          <a:solidFill>
                            <a:schemeClr val="dk1"/>
                          </a:solidFill>
                        </a:rPr>
                        <a:t>avg</a:t>
                      </a:r>
                      <a:endParaRPr b="1" sz="18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8.11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74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Relational Algebra </a:t>
            </a:r>
            <a:r>
              <a:rPr lang="en-US">
                <a:solidFill>
                  <a:srgbClr val="8F8F8F"/>
                </a:solidFill>
              </a:rPr>
              <a:t>[Exercise]</a:t>
            </a:r>
            <a:r>
              <a:rPr lang="en-US"/>
              <a:t> </a:t>
            </a:r>
            <a:endParaRPr/>
          </a:p>
        </p:txBody>
      </p:sp>
      <p:sp>
        <p:nvSpPr>
          <p:cNvPr id="1627" name="Google Shape;1627;p74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Write down relational algebras for the following  table: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Employee (person-name, street, city)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Works (person-name, company-name, salary)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Company (company-name, city)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Managers (person-name, manager-name)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Find the </a:t>
            </a:r>
            <a:r>
              <a:rPr lang="en-US">
                <a:solidFill>
                  <a:schemeClr val="dk2"/>
                </a:solidFill>
              </a:rPr>
              <a:t>names</a:t>
            </a:r>
            <a:r>
              <a:rPr lang="en-US"/>
              <a:t> of all employees who </a:t>
            </a:r>
            <a:r>
              <a:rPr lang="en-US">
                <a:solidFill>
                  <a:schemeClr val="dk2"/>
                </a:solidFill>
              </a:rPr>
              <a:t>work for “TCS”</a:t>
            </a:r>
            <a:r>
              <a:rPr lang="en-US"/>
              <a:t>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Find the </a:t>
            </a:r>
            <a:r>
              <a:rPr lang="en-US">
                <a:solidFill>
                  <a:schemeClr val="dk2"/>
                </a:solidFill>
              </a:rPr>
              <a:t>names</a:t>
            </a:r>
            <a:r>
              <a:rPr lang="en-US"/>
              <a:t> and </a:t>
            </a:r>
            <a:r>
              <a:rPr lang="en-US">
                <a:solidFill>
                  <a:schemeClr val="dk2"/>
                </a:solidFill>
              </a:rPr>
              <a:t>cities</a:t>
            </a:r>
            <a:r>
              <a:rPr lang="en-US"/>
              <a:t> of residence of all employees who </a:t>
            </a:r>
            <a:r>
              <a:rPr lang="en-US">
                <a:solidFill>
                  <a:schemeClr val="dk2"/>
                </a:solidFill>
              </a:rPr>
              <a:t>work for “Infosys”.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Find the </a:t>
            </a:r>
            <a:r>
              <a:rPr lang="en-US">
                <a:solidFill>
                  <a:schemeClr val="dk2"/>
                </a:solidFill>
              </a:rPr>
              <a:t>names</a:t>
            </a:r>
            <a:r>
              <a:rPr lang="en-US"/>
              <a:t>, </a:t>
            </a:r>
            <a:r>
              <a:rPr lang="en-US">
                <a:solidFill>
                  <a:schemeClr val="dk2"/>
                </a:solidFill>
              </a:rPr>
              <a:t>street</a:t>
            </a:r>
            <a:r>
              <a:rPr lang="en-US"/>
              <a:t> and </a:t>
            </a:r>
            <a:r>
              <a:rPr lang="en-US">
                <a:solidFill>
                  <a:schemeClr val="dk2"/>
                </a:solidFill>
              </a:rPr>
              <a:t>city</a:t>
            </a:r>
            <a:r>
              <a:rPr lang="en-US"/>
              <a:t> of residence of all employees </a:t>
            </a:r>
            <a:r>
              <a:rPr lang="en-US">
                <a:solidFill>
                  <a:schemeClr val="dk2"/>
                </a:solidFill>
              </a:rPr>
              <a:t>who work for “ITC” </a:t>
            </a:r>
            <a:r>
              <a:rPr lang="en-US"/>
              <a:t>and </a:t>
            </a:r>
            <a:r>
              <a:rPr lang="en-US">
                <a:solidFill>
                  <a:schemeClr val="dk2"/>
                </a:solidFill>
              </a:rPr>
              <a:t>earn more than $10,000 </a:t>
            </a:r>
            <a:r>
              <a:rPr lang="en-US"/>
              <a:t>per annum.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Find the </a:t>
            </a:r>
            <a:r>
              <a:rPr lang="en-US">
                <a:solidFill>
                  <a:schemeClr val="dk2"/>
                </a:solidFill>
              </a:rPr>
              <a:t>names</a:t>
            </a:r>
            <a:r>
              <a:rPr lang="en-US"/>
              <a:t> of all employees in this database who </a:t>
            </a:r>
            <a:r>
              <a:rPr lang="en-US">
                <a:solidFill>
                  <a:schemeClr val="dk2"/>
                </a:solidFill>
              </a:rPr>
              <a:t>live in the same city as the company </a:t>
            </a:r>
            <a:r>
              <a:rPr lang="en-US"/>
              <a:t>for which they work.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Find the </a:t>
            </a:r>
            <a:r>
              <a:rPr lang="en-US">
                <a:solidFill>
                  <a:schemeClr val="dk2"/>
                </a:solidFill>
              </a:rPr>
              <a:t>names</a:t>
            </a:r>
            <a:r>
              <a:rPr lang="en-US"/>
              <a:t> of all employees </a:t>
            </a:r>
            <a:r>
              <a:rPr lang="en-US">
                <a:solidFill>
                  <a:schemeClr val="dk2"/>
                </a:solidFill>
              </a:rPr>
              <a:t>working in “TCS” </a:t>
            </a:r>
            <a:r>
              <a:rPr lang="en-US"/>
              <a:t>who </a:t>
            </a:r>
            <a:r>
              <a:rPr lang="en-US">
                <a:solidFill>
                  <a:schemeClr val="dk2"/>
                </a:solidFill>
              </a:rPr>
              <a:t>earn more than 25000 </a:t>
            </a:r>
            <a:r>
              <a:rPr lang="en-US"/>
              <a:t>and </a:t>
            </a:r>
            <a:r>
              <a:rPr lang="en-US">
                <a:solidFill>
                  <a:schemeClr val="dk2"/>
                </a:solidFill>
              </a:rPr>
              <a:t>less than 40000</a:t>
            </a:r>
            <a:r>
              <a:rPr lang="en-US"/>
              <a:t>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Find the </a:t>
            </a:r>
            <a:r>
              <a:rPr lang="en-US">
                <a:solidFill>
                  <a:schemeClr val="dk2"/>
                </a:solidFill>
              </a:rPr>
              <a:t>name</a:t>
            </a:r>
            <a:r>
              <a:rPr lang="en-US"/>
              <a:t> of employee </a:t>
            </a:r>
            <a:r>
              <a:rPr lang="en-US">
                <a:solidFill>
                  <a:schemeClr val="dk2"/>
                </a:solidFill>
              </a:rPr>
              <a:t>whose manager is “Ajay Patel” </a:t>
            </a:r>
            <a:r>
              <a:rPr lang="en-US"/>
              <a:t>and </a:t>
            </a:r>
            <a:r>
              <a:rPr lang="en-US">
                <a:solidFill>
                  <a:schemeClr val="dk2"/>
                </a:solidFill>
              </a:rPr>
              <a:t>salary is more than 50000</a:t>
            </a:r>
            <a:r>
              <a:rPr lang="en-US"/>
              <a:t>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Display the </a:t>
            </a:r>
            <a:r>
              <a:rPr lang="en-US">
                <a:solidFill>
                  <a:schemeClr val="dk2"/>
                </a:solidFill>
              </a:rPr>
              <a:t>name</a:t>
            </a:r>
            <a:r>
              <a:rPr lang="en-US"/>
              <a:t> of employee with </a:t>
            </a:r>
            <a:r>
              <a:rPr lang="en-US">
                <a:solidFill>
                  <a:schemeClr val="dk2"/>
                </a:solidFill>
              </a:rPr>
              <a:t>street</a:t>
            </a:r>
            <a:r>
              <a:rPr lang="en-US"/>
              <a:t>, </a:t>
            </a:r>
            <a:r>
              <a:rPr lang="en-US">
                <a:solidFill>
                  <a:schemeClr val="dk2"/>
                </a:solidFill>
              </a:rPr>
              <a:t>city</a:t>
            </a:r>
            <a:r>
              <a:rPr lang="en-US"/>
              <a:t>, </a:t>
            </a:r>
            <a:r>
              <a:rPr lang="en-US">
                <a:solidFill>
                  <a:schemeClr val="dk2"/>
                </a:solidFill>
              </a:rPr>
              <a:t>company</a:t>
            </a:r>
            <a:r>
              <a:rPr lang="en-US"/>
              <a:t> </a:t>
            </a:r>
            <a:r>
              <a:rPr lang="en-US">
                <a:solidFill>
                  <a:schemeClr val="dk2"/>
                </a:solidFill>
              </a:rPr>
              <a:t>name</a:t>
            </a:r>
            <a:r>
              <a:rPr lang="en-US"/>
              <a:t>, </a:t>
            </a:r>
            <a:r>
              <a:rPr lang="en-US">
                <a:solidFill>
                  <a:schemeClr val="dk2"/>
                </a:solidFill>
              </a:rPr>
              <a:t>salary</a:t>
            </a:r>
            <a:r>
              <a:rPr lang="en-US"/>
              <a:t> and </a:t>
            </a:r>
            <a:r>
              <a:rPr lang="en-US">
                <a:solidFill>
                  <a:schemeClr val="dk2"/>
                </a:solidFill>
              </a:rPr>
              <a:t>manager</a:t>
            </a:r>
            <a:r>
              <a:rPr lang="en-US"/>
              <a:t> </a:t>
            </a:r>
            <a:r>
              <a:rPr lang="en-US">
                <a:solidFill>
                  <a:schemeClr val="dk2"/>
                </a:solidFill>
              </a:rPr>
              <a:t>name</a:t>
            </a:r>
            <a:r>
              <a:rPr lang="en-US"/>
              <a:t> </a:t>
            </a:r>
            <a:r>
              <a:rPr lang="en-US">
                <a:solidFill>
                  <a:schemeClr val="dk2"/>
                </a:solidFill>
              </a:rPr>
              <a:t>staying in “Rajkot” and working in “Ahmedabad”.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Find </a:t>
            </a:r>
            <a:r>
              <a:rPr lang="en-US">
                <a:solidFill>
                  <a:schemeClr val="dk2"/>
                </a:solidFill>
              </a:rPr>
              <a:t>maximum</a:t>
            </a:r>
            <a:r>
              <a:rPr lang="en-US"/>
              <a:t>, </a:t>
            </a:r>
            <a:r>
              <a:rPr lang="en-US">
                <a:solidFill>
                  <a:schemeClr val="dk2"/>
                </a:solidFill>
              </a:rPr>
              <a:t>minimum</a:t>
            </a:r>
            <a:r>
              <a:rPr lang="en-US"/>
              <a:t> and </a:t>
            </a:r>
            <a:r>
              <a:rPr lang="en-US">
                <a:solidFill>
                  <a:schemeClr val="dk2"/>
                </a:solidFill>
              </a:rPr>
              <a:t>average</a:t>
            </a:r>
            <a:r>
              <a:rPr lang="en-US"/>
              <a:t> </a:t>
            </a:r>
            <a:r>
              <a:rPr lang="en-US">
                <a:solidFill>
                  <a:schemeClr val="dk2"/>
                </a:solidFill>
              </a:rPr>
              <a:t>salary</a:t>
            </a:r>
            <a:r>
              <a:rPr lang="en-US"/>
              <a:t> of all employee.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Find out the </a:t>
            </a:r>
            <a:r>
              <a:rPr lang="en-US">
                <a:solidFill>
                  <a:schemeClr val="dk2"/>
                </a:solidFill>
              </a:rPr>
              <a:t>total</a:t>
            </a:r>
            <a:r>
              <a:rPr lang="en-US"/>
              <a:t> </a:t>
            </a:r>
            <a:r>
              <a:rPr lang="en-US">
                <a:solidFill>
                  <a:schemeClr val="dk2"/>
                </a:solidFill>
              </a:rPr>
              <a:t>number</a:t>
            </a:r>
            <a:r>
              <a:rPr lang="en-US"/>
              <a:t> of </a:t>
            </a:r>
            <a:r>
              <a:rPr lang="en-US">
                <a:solidFill>
                  <a:schemeClr val="dk2"/>
                </a:solidFill>
              </a:rPr>
              <a:t>employee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7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br>
              <a:rPr lang="en-US">
                <a:solidFill>
                  <a:srgbClr val="5C2321"/>
                </a:solidFill>
              </a:rPr>
            </a:br>
            <a:r>
              <a:rPr lang="en-US" sz="5600">
                <a:solidFill>
                  <a:srgbClr val="5C2321"/>
                </a:solidFill>
              </a:rPr>
              <a:t>Open Source and Commercial DBMS</a:t>
            </a:r>
            <a:endParaRPr/>
          </a:p>
        </p:txBody>
      </p:sp>
      <p:sp>
        <p:nvSpPr>
          <p:cNvPr id="1633" name="Google Shape;1633;p7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76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Open Source and Commercial DBMS</a:t>
            </a:r>
            <a:endParaRPr/>
          </a:p>
        </p:txBody>
      </p:sp>
      <p:sp>
        <p:nvSpPr>
          <p:cNvPr id="1639" name="Google Shape;1639;p76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27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1640" name="Google Shape;1640;p76"/>
          <p:cNvGraphicFramePr/>
          <p:nvPr/>
        </p:nvGraphicFramePr>
        <p:xfrm>
          <a:off x="131178" y="8596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964825"/>
                <a:gridCol w="5964825"/>
              </a:tblGrid>
              <a:tr h="6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</a:rPr>
                        <a:t>Open Source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</a:rPr>
                        <a:t>Commercial DBMS</a:t>
                      </a:r>
                      <a:endParaRPr b="1"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41" name="Google Shape;1641;p76"/>
          <p:cNvGraphicFramePr/>
          <p:nvPr/>
        </p:nvGraphicFramePr>
        <p:xfrm>
          <a:off x="131178" y="15031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964825"/>
                <a:gridCol w="5964825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DBMS, which is available in the market at </a:t>
                      </a:r>
                      <a:r>
                        <a:rPr b="0" lang="en-US" sz="24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free of cost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DBMS, which is available in the market at a </a:t>
                      </a:r>
                      <a:r>
                        <a:rPr b="0" lang="en-US" sz="24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certain price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42" name="Google Shape;1642;p76"/>
          <p:cNvGraphicFramePr/>
          <p:nvPr/>
        </p:nvGraphicFramePr>
        <p:xfrm>
          <a:off x="131178" y="23191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964825"/>
                <a:gridCol w="5964825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The code of open source DBMS product can be viewed, shared or modified by the community.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The code of commercial DBMS product can not be view, share or modify by the community.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43" name="Google Shape;1643;p76"/>
          <p:cNvGraphicFramePr/>
          <p:nvPr/>
        </p:nvGraphicFramePr>
        <p:xfrm>
          <a:off x="131180" y="31367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964825"/>
                <a:gridCol w="5964825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There are </a:t>
                      </a:r>
                      <a:r>
                        <a:rPr b="0" lang="en-US" sz="24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chances of malfunctioning with code 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as source code is open.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The </a:t>
                      </a:r>
                      <a:r>
                        <a:rPr b="0" lang="en-US" sz="24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security is high and code is not accessible 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to unauthorized person.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44" name="Google Shape;1644;p76"/>
          <p:cNvGraphicFramePr/>
          <p:nvPr/>
        </p:nvGraphicFramePr>
        <p:xfrm>
          <a:off x="131180" y="39591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{3FAC568A-05AC-4D21-9F33-4BFF0964E7E1}</a:tableStyleId>
              </a:tblPr>
              <a:tblGrid>
                <a:gridCol w="5964825"/>
                <a:gridCol w="5964825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Examples: MySQL, MongoDB, SQLite etc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Examples: Microsoft SQL Server, IBM Db2 etc</a:t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77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Questions asked in GTU</a:t>
            </a:r>
            <a:endParaRPr/>
          </a:p>
        </p:txBody>
      </p:sp>
      <p:sp>
        <p:nvSpPr>
          <p:cNvPr id="1650" name="Google Shape;1650;p77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/>
              <a:t>Define Super key, Primary key, Candidate key and Alternate key.</a:t>
            </a:r>
            <a:endParaRPr/>
          </a:p>
          <a:p>
            <a:pPr indent="-4572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/>
              <a:t>Explain following Relational Algebra Operation with example.</a:t>
            </a:r>
            <a:endParaRPr/>
          </a:p>
          <a:p>
            <a:pPr indent="-430213" lvl="1" marL="973138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Selection</a:t>
            </a:r>
            <a:endParaRPr/>
          </a:p>
          <a:p>
            <a:pPr indent="-457200" lvl="1" marL="1001712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Projection</a:t>
            </a:r>
            <a:endParaRPr/>
          </a:p>
          <a:p>
            <a:pPr indent="-457200" lvl="1" marL="1001712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Cross Product</a:t>
            </a:r>
            <a:endParaRPr/>
          </a:p>
          <a:p>
            <a:pPr indent="-457200" lvl="1" marL="1001712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Joins (Inner Join, Outer Joins)</a:t>
            </a:r>
            <a:endParaRPr/>
          </a:p>
          <a:p>
            <a:pPr indent="-457200" lvl="1" marL="1001712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Rename</a:t>
            </a:r>
            <a:endParaRPr/>
          </a:p>
          <a:p>
            <a:pPr indent="-457200" lvl="1" marL="1001712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Division</a:t>
            </a:r>
            <a:endParaRPr/>
          </a:p>
          <a:p>
            <a:pPr indent="-457200" lvl="1" marL="1001712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Set operators</a:t>
            </a:r>
            <a:endParaRPr/>
          </a:p>
          <a:p>
            <a:pPr indent="-4572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/>
              <a:t>Explain different aggregate functions with example.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78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Questions asked in GTU </a:t>
            </a:r>
            <a:r>
              <a:rPr lang="en-US">
                <a:solidFill>
                  <a:schemeClr val="dk2"/>
                </a:solidFill>
              </a:rPr>
              <a:t>[Relational Algebra]</a:t>
            </a:r>
            <a:endParaRPr/>
          </a:p>
        </p:txBody>
      </p:sp>
      <p:sp>
        <p:nvSpPr>
          <p:cNvPr id="1656" name="Google Shape;1656;p78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AutoNum type="arabicPeriod" startAt="4"/>
            </a:pPr>
            <a:r>
              <a:rPr lang="en-US"/>
              <a:t>Consider the following relational database, where the primary keys are underlined. Give an expression in the relational algebra to express each of the following queries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employee (</a:t>
            </a:r>
            <a:r>
              <a:rPr lang="en-US" u="sng"/>
              <a:t>ssn</a:t>
            </a:r>
            <a:r>
              <a:rPr lang="en-US"/>
              <a:t>, name, dno, salary, hobby, gender)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department (</a:t>
            </a:r>
            <a:r>
              <a:rPr lang="en-US" u="sng"/>
              <a:t>dno</a:t>
            </a:r>
            <a:r>
              <a:rPr lang="en-US"/>
              <a:t>, dname, budget, location, mgrssn)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works_on (</a:t>
            </a:r>
            <a:r>
              <a:rPr lang="en-US" u="sng"/>
              <a:t>ssn</a:t>
            </a:r>
            <a:r>
              <a:rPr lang="en-US"/>
              <a:t>, </a:t>
            </a:r>
            <a:r>
              <a:rPr lang="en-US" u="sng"/>
              <a:t>pno</a:t>
            </a:r>
            <a:r>
              <a:rPr lang="en-US"/>
              <a:t>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project (</a:t>
            </a:r>
            <a:r>
              <a:rPr lang="en-US" u="sng"/>
              <a:t>pno</a:t>
            </a:r>
            <a:r>
              <a:rPr lang="en-US"/>
              <a:t>, pname, budget, location, goal)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List all pairs of employee names and the project numbers they work on.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List out department number, department name and department budget.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List all projects that Raj Yadav works on by project name.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List the names of employees who supervise themselves.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79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Questions asked in GTU </a:t>
            </a:r>
            <a:r>
              <a:rPr lang="en-US">
                <a:solidFill>
                  <a:schemeClr val="dk2"/>
                </a:solidFill>
              </a:rPr>
              <a:t>[Relational Algebra]</a:t>
            </a:r>
            <a:endParaRPr/>
          </a:p>
        </p:txBody>
      </p:sp>
      <p:sp>
        <p:nvSpPr>
          <p:cNvPr id="1662" name="Google Shape;1662;p79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AutoNum type="arabicPeriod" startAt="5"/>
            </a:pPr>
            <a:r>
              <a:rPr lang="en-US"/>
              <a:t>Consider the following relational database, where the primary keys are underlined. Give an expression in the relational algebra to express each of the following queries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course (</a:t>
            </a:r>
            <a:r>
              <a:rPr lang="en-US" u="sng"/>
              <a:t>course-id</a:t>
            </a:r>
            <a:r>
              <a:rPr lang="en-US"/>
              <a:t>, title, dept_name, credits)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instructor (</a:t>
            </a:r>
            <a:r>
              <a:rPr lang="en-US" u="sng"/>
              <a:t>id</a:t>
            </a:r>
            <a:r>
              <a:rPr lang="en-US"/>
              <a:t>, name, dept_name, salary)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section (</a:t>
            </a:r>
            <a:r>
              <a:rPr lang="en-US" u="sng"/>
              <a:t>course-id</a:t>
            </a:r>
            <a:r>
              <a:rPr lang="en-US"/>
              <a:t>, </a:t>
            </a:r>
            <a:r>
              <a:rPr lang="en-US" u="sng"/>
              <a:t>sec-id</a:t>
            </a:r>
            <a:r>
              <a:rPr lang="en-US"/>
              <a:t>, semester, year, building, room_no, time_slot_id)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teaches (</a:t>
            </a:r>
            <a:r>
              <a:rPr lang="en-US" u="sng"/>
              <a:t>id</a:t>
            </a:r>
            <a:r>
              <a:rPr lang="en-US"/>
              <a:t>, course-id, sec-id, semester, year)</a:t>
            </a:r>
            <a:endParaRPr/>
          </a:p>
          <a:p>
            <a:pPr indent="-458788" lvl="1" marL="858838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the name of all instructors in the physics department.</a:t>
            </a:r>
            <a:endParaRPr/>
          </a:p>
          <a:p>
            <a:pPr indent="-457200" lvl="1" marL="85725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all the courses taught in the fall 2009 semester but not in Spring semester.</a:t>
            </a:r>
            <a:endParaRPr/>
          </a:p>
          <a:p>
            <a:pPr indent="-457200" lvl="1" marL="85725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the names of all instructors in the Comp. Sci. department together with the course titles of all the courses that the instructors teach.</a:t>
            </a:r>
            <a:endParaRPr/>
          </a:p>
          <a:p>
            <a:pPr indent="-457200" lvl="1" marL="85725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the average salary in each department.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80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Questions asked in GTU </a:t>
            </a:r>
            <a:r>
              <a:rPr lang="en-US">
                <a:solidFill>
                  <a:schemeClr val="dk2"/>
                </a:solidFill>
              </a:rPr>
              <a:t>[Relational Algebra]</a:t>
            </a:r>
            <a:endParaRPr/>
          </a:p>
        </p:txBody>
      </p:sp>
      <p:sp>
        <p:nvSpPr>
          <p:cNvPr id="1668" name="Google Shape;1668;p80"/>
          <p:cNvSpPr txBox="1"/>
          <p:nvPr>
            <p:ph idx="1" type="body"/>
          </p:nvPr>
        </p:nvSpPr>
        <p:spPr>
          <a:xfrm>
            <a:off x="131175" y="863450"/>
            <a:ext cx="11737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AutoNum type="arabicPeriod" startAt="6"/>
            </a:pPr>
            <a:r>
              <a:rPr lang="en-US"/>
              <a:t>Consider the following relations and write an relational algebra: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EMP (</a:t>
            </a:r>
            <a:r>
              <a:rPr lang="en-US" u="sng"/>
              <a:t>empno</a:t>
            </a:r>
            <a:r>
              <a:rPr lang="en-US"/>
              <a:t>, ename, jobtitle, managerno, hiredate, sal, commission, deptno)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DEPT (</a:t>
            </a:r>
            <a:r>
              <a:rPr lang="en-US" u="sng"/>
              <a:t>deptno</a:t>
            </a:r>
            <a:r>
              <a:rPr lang="en-US"/>
              <a:t>, dname, location)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the Employees working in the department number10, 20, 30 only.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Employees whose names start with letter A or letter a.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Employees along with their department name.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the Employees who are working in Smith's department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the Employees who get salary more than Allen’s salary.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Display employees who are getting maximum salary in each department.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list of employees whose hire date is on or before 1-April-18.</a:t>
            </a:r>
            <a:endParaRPr/>
          </a:p>
          <a:p>
            <a:pPr indent="-312738" lvl="0" marL="31273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 startAt="6"/>
            </a:pPr>
            <a:r>
              <a:rPr lang="en-US"/>
              <a:t>Consider the relational database given below and give an expression in the relational algebra: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Employee (person-name, street, city) , Works (person-name, company-name, salary)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Company (company-name, city) , Manages (person-name, manager-name)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the names of all employees in this database who live in the same city as the company for which they work.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the names, street address, and cities of residence of all employees who work for HCL and earn more than $10,000 per annum.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81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Questions asked in GTU </a:t>
            </a:r>
            <a:r>
              <a:rPr lang="en-US">
                <a:solidFill>
                  <a:schemeClr val="dk2"/>
                </a:solidFill>
              </a:rPr>
              <a:t>[Relational Algebra]</a:t>
            </a:r>
            <a:endParaRPr/>
          </a:p>
        </p:txBody>
      </p:sp>
      <p:sp>
        <p:nvSpPr>
          <p:cNvPr id="1674" name="Google Shape;1674;p81"/>
          <p:cNvSpPr txBox="1"/>
          <p:nvPr>
            <p:ph idx="1" type="body"/>
          </p:nvPr>
        </p:nvSpPr>
        <p:spPr>
          <a:xfrm>
            <a:off x="131175" y="863449"/>
            <a:ext cx="11929500" cy="4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1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AutoNum type="arabicPeriod" startAt="8"/>
            </a:pPr>
            <a:r>
              <a:rPr lang="en-US"/>
              <a:t>The relational database schema is given below and write the relational algebra expressions for the given queries.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employee (person-name, street, city)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works (person-name, company-name, salary)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company (company-name, city)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manages (person-name, manager-name)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the names of all employees who work for First Bank Corporation.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the names and cities of residence of all employees who work for First Bank Corporation.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the names, street address, and cities of residence of all employees who work for First Bank Corporation and earn more than $10,000 per annum.</a:t>
            </a:r>
            <a:endParaRPr/>
          </a:p>
          <a:p>
            <a:pPr indent="-5143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romanUcPeriod"/>
            </a:pPr>
            <a:r>
              <a:rPr lang="en-US"/>
              <a:t>Find the names of all employees in this database who do not work for First Bank Corporation.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Jay">
      <a:dk1>
        <a:srgbClr val="212121"/>
      </a:dk1>
      <a:lt1>
        <a:srgbClr val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2020-05-01T05:09:15Z</dcterms:created>
  <dc:creator>ADMIN</dc:creator>
</cp:coreProperties>
</file>