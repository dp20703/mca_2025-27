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y="6858000" cx="12192000"/>
  <p:notesSz cx="6858000" cy="9144000"/>
  <p:embeddedFontLst>
    <p:embeddedFont>
      <p:font typeface="Roboto Condensed"/>
      <p:regular r:id="rId81"/>
      <p:bold r:id="rId82"/>
      <p:italic r:id="rId83"/>
      <p:boldItalic r:id="rId84"/>
    </p:embeddedFont>
    <p:embeddedFont>
      <p:font typeface="Roboto Condensed Light"/>
      <p:regular r:id="rId85"/>
      <p:bold r:id="rId86"/>
      <p:italic r:id="rId87"/>
      <p:boldItalic r:id="rId8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9" roundtripDataSignature="AMtx7mgdlx7ZAPJjEk5oDFlQMMBnWBby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E9E659-6503-4E8C-9AC6-ED4A2EF7120C}">
  <a:tblStyle styleId="{2FE9E659-6503-4E8C-9AC6-ED4A2EF7120C}" styleName="Table_0">
    <a:wholeTbl>
      <a:tcTxStyle b="off" i="off">
        <a:font>
          <a:latin typeface="Roboto Condensed"/>
          <a:ea typeface="Roboto Condensed"/>
          <a:cs typeface="Roboto Condensed"/>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EEEE"/>
          </a:solidFill>
        </a:fill>
      </a:tcStyle>
    </a:wholeTbl>
    <a:band1H>
      <a:tcTxStyle/>
      <a:tcStyle>
        <a:fill>
          <a:solidFill>
            <a:srgbClr val="DBDBDB"/>
          </a:solidFill>
        </a:fill>
      </a:tcStyle>
    </a:band1H>
    <a:band2H>
      <a:tcTxStyle/>
    </a:band2H>
    <a:band1V>
      <a:tcTxStyle/>
      <a:tcStyle>
        <a:fill>
          <a:solidFill>
            <a:srgbClr val="DBDBDB"/>
          </a:solidFill>
        </a:fill>
      </a:tcStyle>
    </a:band1V>
    <a:band2V>
      <a:tcTxStyle/>
    </a:band2V>
    <a:lastCol>
      <a:tcTxStyle b="on" i="off">
        <a:font>
          <a:latin typeface="Roboto Condensed"/>
          <a:ea typeface="Roboto Condensed"/>
          <a:cs typeface="Roboto Condensed"/>
        </a:font>
        <a:schemeClr val="lt1"/>
      </a:tcTxStyle>
      <a:tcStyle>
        <a:fill>
          <a:solidFill>
            <a:schemeClr val="accent1"/>
          </a:solidFill>
        </a:fill>
      </a:tcStyle>
    </a:lastCol>
    <a:firstCol>
      <a:tcTxStyle b="on" i="off">
        <a:font>
          <a:latin typeface="Roboto Condensed"/>
          <a:ea typeface="Roboto Condensed"/>
          <a:cs typeface="Roboto Condensed"/>
        </a:font>
        <a:schemeClr val="lt1"/>
      </a:tcTxStyle>
      <a:tcStyle>
        <a:fill>
          <a:solidFill>
            <a:schemeClr val="accent1"/>
          </a:solidFill>
        </a:fill>
      </a:tcStyle>
    </a:firstCol>
    <a:lastRow>
      <a:tcTxStyle b="on" i="off">
        <a:font>
          <a:latin typeface="Roboto Condensed"/>
          <a:ea typeface="Roboto Condensed"/>
          <a:cs typeface="Roboto Condensed"/>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Roboto Condensed"/>
          <a:ea typeface="Roboto Condensed"/>
          <a:cs typeface="Roboto Condensed"/>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Condensed-boldItalic.fntdata"/><Relationship Id="rId83" Type="http://schemas.openxmlformats.org/officeDocument/2006/relationships/font" Target="fonts/RobotoCondensed-italic.fntdata"/><Relationship Id="rId42" Type="http://schemas.openxmlformats.org/officeDocument/2006/relationships/slide" Target="slides/slide37.xml"/><Relationship Id="rId86" Type="http://schemas.openxmlformats.org/officeDocument/2006/relationships/font" Target="fonts/RobotoCondensedLight-bold.fntdata"/><Relationship Id="rId41" Type="http://schemas.openxmlformats.org/officeDocument/2006/relationships/slide" Target="slides/slide36.xml"/><Relationship Id="rId85" Type="http://schemas.openxmlformats.org/officeDocument/2006/relationships/font" Target="fonts/RobotoCondensedLight-regular.fntdata"/><Relationship Id="rId44" Type="http://schemas.openxmlformats.org/officeDocument/2006/relationships/slide" Target="slides/slide39.xml"/><Relationship Id="rId88" Type="http://schemas.openxmlformats.org/officeDocument/2006/relationships/font" Target="fonts/RobotoCondensedLight-boldItalic.fntdata"/><Relationship Id="rId43" Type="http://schemas.openxmlformats.org/officeDocument/2006/relationships/slide" Target="slides/slide38.xml"/><Relationship Id="rId87" Type="http://schemas.openxmlformats.org/officeDocument/2006/relationships/font" Target="fonts/RobotoCondensedLight-italic.fntdata"/><Relationship Id="rId46" Type="http://schemas.openxmlformats.org/officeDocument/2006/relationships/slide" Target="slides/slide41.xml"/><Relationship Id="rId45" Type="http://schemas.openxmlformats.org/officeDocument/2006/relationships/slide" Target="slides/slide40.xml"/><Relationship Id="rId89" Type="http://customschemas.google.com/relationships/presentationmetadata" Target="metadata"/><Relationship Id="rId80" Type="http://schemas.openxmlformats.org/officeDocument/2006/relationships/slide" Target="slides/slide75.xml"/><Relationship Id="rId82" Type="http://schemas.openxmlformats.org/officeDocument/2006/relationships/font" Target="fonts/RobotoCondensed-bold.fntdata"/><Relationship Id="rId81" Type="http://schemas.openxmlformats.org/officeDocument/2006/relationships/font" Target="fonts/RobotoCondense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 name="Google Shape;86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0" name="Google Shape;88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5" name="Google Shape;90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0" name="Google Shape;97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 name="Google Shape;98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3" name="Google Shape;105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7" name="Google Shape;111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9" name="Google Shape;122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5" name="Google Shape;1265;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7" name="Google Shape;131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3" name="Google Shape;132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3" name="Google Shape;134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5" name="Google Shape;138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6" name="Google Shape;1406;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7" name="Google Shape;1427;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9" name="Google Shape;146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2" name="Google Shape;1522;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8" name="Google Shape;1528;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4" name="Google Shape;153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6" name="Google Shape;155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9" name="Google Shape;1569;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7" name="Google Shape;1587;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2" name="Google Shape;1622;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1" name="Google Shape;1641;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7" name="Google Shape;1647;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3" name="Google Shape;1653;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9" name="Google Shape;165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5" name="Google Shape;1665;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7" name="Google Shape;167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3" name="Google Shape;1683;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9" name="Google Shape;168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5.png"/><Relationship Id="rId4" Type="http://schemas.openxmlformats.org/officeDocument/2006/relationships/image" Target="../media/image11.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3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10" Type="http://schemas.openxmlformats.org/officeDocument/2006/relationships/image" Target="../media/image10.png"/><Relationship Id="rId9"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10" Type="http://schemas.openxmlformats.org/officeDocument/2006/relationships/image" Target="../media/image10.png"/><Relationship Id="rId9" Type="http://schemas.openxmlformats.org/officeDocument/2006/relationships/image" Target="../media/image21.jp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9.png"/><Relationship Id="rId8"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Maroon">
  <p:cSld name="Title Slide - Maroon">
    <p:spTree>
      <p:nvGrpSpPr>
        <p:cNvPr id="12" name="Shape 12"/>
        <p:cNvGrpSpPr/>
        <p:nvPr/>
      </p:nvGrpSpPr>
      <p:grpSpPr>
        <a:xfrm>
          <a:off x="0" y="0"/>
          <a:ext cx="0" cy="0"/>
          <a:chOff x="0" y="0"/>
          <a:chExt cx="0" cy="0"/>
        </a:xfrm>
      </p:grpSpPr>
      <p:pic>
        <p:nvPicPr>
          <p:cNvPr descr="https://cdn5.vectorstock.com/i/1000x1000/21/59/dbms-database-management-system-computer-data-vector-8212159.jpg" id="13" name="Google Shape;13;p79"/>
          <p:cNvPicPr preferRelativeResize="0"/>
          <p:nvPr/>
        </p:nvPicPr>
        <p:blipFill rotWithShape="1">
          <a:blip r:embed="rId2">
            <a:alphaModFix/>
          </a:blip>
          <a:srcRect b="18089" l="6294" r="5315" t="9689"/>
          <a:stretch/>
        </p:blipFill>
        <p:spPr>
          <a:xfrm>
            <a:off x="8407803" y="2089594"/>
            <a:ext cx="2880000" cy="2678811"/>
          </a:xfrm>
          <a:prstGeom prst="rect">
            <a:avLst/>
          </a:prstGeom>
          <a:noFill/>
          <a:ln>
            <a:noFill/>
          </a:ln>
        </p:spPr>
      </p:pic>
      <p:pic>
        <p:nvPicPr>
          <p:cNvPr id="14" name="Google Shape;14;p79"/>
          <p:cNvPicPr preferRelativeResize="0"/>
          <p:nvPr/>
        </p:nvPicPr>
        <p:blipFill rotWithShape="1">
          <a:blip r:embed="rId3">
            <a:alphaModFix/>
          </a:blip>
          <a:srcRect b="24999" l="0" r="0" t="18750"/>
          <a:stretch/>
        </p:blipFill>
        <p:spPr>
          <a:xfrm>
            <a:off x="0" y="0"/>
            <a:ext cx="12192000" cy="6858000"/>
          </a:xfrm>
          <a:prstGeom prst="rect">
            <a:avLst/>
          </a:prstGeom>
          <a:noFill/>
          <a:ln>
            <a:noFill/>
          </a:ln>
        </p:spPr>
      </p:pic>
      <p:sp>
        <p:nvSpPr>
          <p:cNvPr id="15" name="Google Shape;15;p79"/>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Roboto Condensed"/>
                <a:ea typeface="Roboto Condensed"/>
                <a:cs typeface="Roboto Condensed"/>
                <a:sym typeface="Roboto Condensed"/>
              </a:rPr>
              <a:t>Darshan Institute of Engineering &amp; Technology, Rajkot</a:t>
            </a:r>
            <a:endParaRPr/>
          </a:p>
        </p:txBody>
      </p:sp>
      <p:sp>
        <p:nvSpPr>
          <p:cNvPr id="16" name="Google Shape;16;p79"/>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5C2321"/>
              </a:gs>
              <a:gs pos="10000">
                <a:srgbClr val="5C2321"/>
              </a:gs>
              <a:gs pos="100000">
                <a:schemeClr val="accent6"/>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7" name="Google Shape;17;p79"/>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5C2321"/>
              </a:gs>
              <a:gs pos="10000">
                <a:srgbClr val="5C2321"/>
              </a:gs>
              <a:gs pos="100000">
                <a:schemeClr val="accent6"/>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18" name="Google Shape;18;p79"/>
          <p:cNvPicPr preferRelativeResize="0"/>
          <p:nvPr/>
        </p:nvPicPr>
        <p:blipFill rotWithShape="1">
          <a:blip r:embed="rId4">
            <a:alphaModFix/>
          </a:blip>
          <a:srcRect b="0" l="0" r="0" t="0"/>
          <a:stretch/>
        </p:blipFill>
        <p:spPr>
          <a:xfrm>
            <a:off x="8808334" y="4602222"/>
            <a:ext cx="3383666" cy="2255777"/>
          </a:xfrm>
          <a:prstGeom prst="rect">
            <a:avLst/>
          </a:prstGeom>
          <a:noFill/>
          <a:ln>
            <a:noFill/>
          </a:ln>
        </p:spPr>
      </p:pic>
      <p:cxnSp>
        <p:nvCxnSpPr>
          <p:cNvPr id="19" name="Google Shape;19;p79"/>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20" name="Google Shape;20;p79"/>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 name="Google Shape;21;p79"/>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22" name="Google Shape;22;p79"/>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23" name="Google Shape;23;p79"/>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9"/>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79"/>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79"/>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5C2321"/>
              </a:buClr>
              <a:buSzPts val="1800"/>
              <a:buNone/>
              <a:defRPr b="1" sz="1800">
                <a:solidFill>
                  <a:srgbClr val="5C232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7" name="Google Shape;27;p79"/>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28" name="Google Shape;28;p79"/>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29" name="Google Shape;29;p79"/>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30" name="Google Shape;30;p79"/>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pic>
        <p:nvPicPr>
          <p:cNvPr descr="https://cdn5.vectorstock.com/i/1000x1000/21/59/dbms-database-management-system-computer-data-vector-8212159.jpg" id="31" name="Google Shape;31;p79"/>
          <p:cNvPicPr preferRelativeResize="0"/>
          <p:nvPr/>
        </p:nvPicPr>
        <p:blipFill rotWithShape="1">
          <a:blip r:embed="rId2">
            <a:alphaModFix/>
          </a:blip>
          <a:srcRect b="18089" l="6294" r="5315" t="9689"/>
          <a:stretch/>
        </p:blipFill>
        <p:spPr>
          <a:xfrm>
            <a:off x="8453395" y="1794986"/>
            <a:ext cx="2880000" cy="267881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pic>
        <p:nvPicPr>
          <p:cNvPr id="33" name="Google Shape;33;p80"/>
          <p:cNvPicPr preferRelativeResize="0"/>
          <p:nvPr/>
        </p:nvPicPr>
        <p:blipFill rotWithShape="1">
          <a:blip r:embed="rId2">
            <a:alphaModFix/>
          </a:blip>
          <a:srcRect b="21179" l="0" r="11581" t="0"/>
          <a:stretch/>
        </p:blipFill>
        <p:spPr>
          <a:xfrm rot="-5400000">
            <a:off x="9807099" y="606901"/>
            <a:ext cx="2991808" cy="1778000"/>
          </a:xfrm>
          <a:prstGeom prst="rect">
            <a:avLst/>
          </a:prstGeom>
          <a:noFill/>
          <a:ln>
            <a:noFill/>
          </a:ln>
        </p:spPr>
      </p:pic>
      <p:pic>
        <p:nvPicPr>
          <p:cNvPr id="34" name="Google Shape;34;p80"/>
          <p:cNvPicPr preferRelativeResize="0"/>
          <p:nvPr/>
        </p:nvPicPr>
        <p:blipFill rotWithShape="1">
          <a:blip r:embed="rId3">
            <a:alphaModFix/>
          </a:blip>
          <a:srcRect b="17724" l="79646" r="2730" t="18062"/>
          <a:stretch/>
        </p:blipFill>
        <p:spPr>
          <a:xfrm>
            <a:off x="0" y="401568"/>
            <a:ext cx="543946" cy="772151"/>
          </a:xfrm>
          <a:prstGeom prst="rect">
            <a:avLst/>
          </a:prstGeom>
          <a:noFill/>
          <a:ln>
            <a:noFill/>
          </a:ln>
        </p:spPr>
      </p:pic>
      <p:sp>
        <p:nvSpPr>
          <p:cNvPr id="35" name="Google Shape;35;p8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1D3064"/>
              </a:buClr>
              <a:buSzPts val="6000"/>
              <a:buFont typeface="Roboto Condensed"/>
              <a:buNone/>
              <a:defRPr b="1" sz="6000">
                <a:solidFill>
                  <a:srgbClr val="1D3064"/>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8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A8A8A"/>
              </a:buClr>
              <a:buSzPts val="2000"/>
              <a:buNone/>
              <a:defRPr sz="2000">
                <a:solidFill>
                  <a:srgbClr val="8A8A8A"/>
                </a:solidFill>
              </a:defRPr>
            </a:lvl2pPr>
            <a:lvl3pPr indent="-228600" lvl="2" marL="1371600" algn="l">
              <a:lnSpc>
                <a:spcPct val="90000"/>
              </a:lnSpc>
              <a:spcBef>
                <a:spcPts val="500"/>
              </a:spcBef>
              <a:spcAft>
                <a:spcPts val="0"/>
              </a:spcAft>
              <a:buClr>
                <a:srgbClr val="8A8A8A"/>
              </a:buClr>
              <a:buSzPts val="1800"/>
              <a:buNone/>
              <a:defRPr sz="1800">
                <a:solidFill>
                  <a:srgbClr val="8A8A8A"/>
                </a:solidFill>
              </a:defRPr>
            </a:lvl3pPr>
            <a:lvl4pPr indent="-228600" lvl="3" marL="1828800" algn="l">
              <a:lnSpc>
                <a:spcPct val="90000"/>
              </a:lnSpc>
              <a:spcBef>
                <a:spcPts val="500"/>
              </a:spcBef>
              <a:spcAft>
                <a:spcPts val="0"/>
              </a:spcAft>
              <a:buClr>
                <a:srgbClr val="8A8A8A"/>
              </a:buClr>
              <a:buSzPts val="1600"/>
              <a:buNone/>
              <a:defRPr sz="1600">
                <a:solidFill>
                  <a:srgbClr val="8A8A8A"/>
                </a:solidFill>
              </a:defRPr>
            </a:lvl4pPr>
            <a:lvl5pPr indent="-228600" lvl="4" marL="2286000" algn="l">
              <a:lnSpc>
                <a:spcPct val="90000"/>
              </a:lnSpc>
              <a:spcBef>
                <a:spcPts val="500"/>
              </a:spcBef>
              <a:spcAft>
                <a:spcPts val="0"/>
              </a:spcAft>
              <a:buClr>
                <a:srgbClr val="8A8A8A"/>
              </a:buClr>
              <a:buSzPts val="1600"/>
              <a:buNone/>
              <a:defRPr sz="1600">
                <a:solidFill>
                  <a:srgbClr val="8A8A8A"/>
                </a:solidFill>
              </a:defRPr>
            </a:lvl5pPr>
            <a:lvl6pPr indent="-228600" lvl="5" marL="2743200" algn="l">
              <a:lnSpc>
                <a:spcPct val="90000"/>
              </a:lnSpc>
              <a:spcBef>
                <a:spcPts val="500"/>
              </a:spcBef>
              <a:spcAft>
                <a:spcPts val="0"/>
              </a:spcAft>
              <a:buClr>
                <a:srgbClr val="8A8A8A"/>
              </a:buClr>
              <a:buSzPts val="1600"/>
              <a:buNone/>
              <a:defRPr sz="1600">
                <a:solidFill>
                  <a:srgbClr val="8A8A8A"/>
                </a:solidFill>
              </a:defRPr>
            </a:lvl6pPr>
            <a:lvl7pPr indent="-228600" lvl="6" marL="3200400" algn="l">
              <a:lnSpc>
                <a:spcPct val="90000"/>
              </a:lnSpc>
              <a:spcBef>
                <a:spcPts val="500"/>
              </a:spcBef>
              <a:spcAft>
                <a:spcPts val="0"/>
              </a:spcAft>
              <a:buClr>
                <a:srgbClr val="8A8A8A"/>
              </a:buClr>
              <a:buSzPts val="1600"/>
              <a:buNone/>
              <a:defRPr sz="1600">
                <a:solidFill>
                  <a:srgbClr val="8A8A8A"/>
                </a:solidFill>
              </a:defRPr>
            </a:lvl7pPr>
            <a:lvl8pPr indent="-228600" lvl="7" marL="3657600" algn="l">
              <a:lnSpc>
                <a:spcPct val="90000"/>
              </a:lnSpc>
              <a:spcBef>
                <a:spcPts val="500"/>
              </a:spcBef>
              <a:spcAft>
                <a:spcPts val="0"/>
              </a:spcAft>
              <a:buClr>
                <a:srgbClr val="8A8A8A"/>
              </a:buClr>
              <a:buSzPts val="1600"/>
              <a:buNone/>
              <a:defRPr sz="1600">
                <a:solidFill>
                  <a:srgbClr val="8A8A8A"/>
                </a:solidFill>
              </a:defRPr>
            </a:lvl8pPr>
            <a:lvl9pPr indent="-228600" lvl="8" marL="4114800" algn="l">
              <a:lnSpc>
                <a:spcPct val="90000"/>
              </a:lnSpc>
              <a:spcBef>
                <a:spcPts val="500"/>
              </a:spcBef>
              <a:spcAft>
                <a:spcPts val="0"/>
              </a:spcAft>
              <a:buClr>
                <a:srgbClr val="8A8A8A"/>
              </a:buClr>
              <a:buSzPts val="1600"/>
              <a:buNone/>
              <a:defRPr sz="1600">
                <a:solidFill>
                  <a:srgbClr val="8A8A8A"/>
                </a:solidFill>
              </a:defRPr>
            </a:lvl9pPr>
          </a:lstStyle>
          <a:p/>
        </p:txBody>
      </p:sp>
      <p:sp>
        <p:nvSpPr>
          <p:cNvPr id="37" name="Google Shape;37;p80"/>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5C2321"/>
              </a:gs>
              <a:gs pos="10000">
                <a:srgbClr val="5C2321"/>
              </a:gs>
              <a:gs pos="100000">
                <a:schemeClr val="accent6"/>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on BR">
  <p:cSld name="Title and Content - Logo on BR">
    <p:spTree>
      <p:nvGrpSpPr>
        <p:cNvPr id="38" name="Shape 38"/>
        <p:cNvGrpSpPr/>
        <p:nvPr/>
      </p:nvGrpSpPr>
      <p:grpSpPr>
        <a:xfrm>
          <a:off x="0" y="0"/>
          <a:ext cx="0" cy="0"/>
          <a:chOff x="0" y="0"/>
          <a:chExt cx="0" cy="0"/>
        </a:xfrm>
      </p:grpSpPr>
      <p:sp>
        <p:nvSpPr>
          <p:cNvPr id="39" name="Google Shape;39;p81"/>
          <p:cNvSpPr/>
          <p:nvPr/>
        </p:nvSpPr>
        <p:spPr>
          <a:xfrm>
            <a:off x="0" y="6604000"/>
            <a:ext cx="12192000" cy="2541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pic>
        <p:nvPicPr>
          <p:cNvPr id="40" name="Google Shape;40;p81"/>
          <p:cNvPicPr preferRelativeResize="0"/>
          <p:nvPr/>
        </p:nvPicPr>
        <p:blipFill rotWithShape="1">
          <a:blip r:embed="rId2">
            <a:alphaModFix/>
          </a:blip>
          <a:srcRect b="3534" l="0" r="1768" t="86739"/>
          <a:stretch/>
        </p:blipFill>
        <p:spPr>
          <a:xfrm>
            <a:off x="0" y="0"/>
            <a:ext cx="12192000" cy="711201"/>
          </a:xfrm>
          <a:prstGeom prst="rect">
            <a:avLst/>
          </a:prstGeom>
          <a:noFill/>
          <a:ln>
            <a:noFill/>
          </a:ln>
        </p:spPr>
      </p:pic>
      <p:sp>
        <p:nvSpPr>
          <p:cNvPr id="41" name="Google Shape;41;p81"/>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lvl1pPr lvl="0" algn="l">
              <a:lnSpc>
                <a:spcPct val="90000"/>
              </a:lnSpc>
              <a:spcBef>
                <a:spcPts val="0"/>
              </a:spcBef>
              <a:spcAft>
                <a:spcPts val="0"/>
              </a:spcAft>
              <a:buClr>
                <a:srgbClr val="363636"/>
              </a:buClr>
              <a:buSzPts val="3400"/>
              <a:buFont typeface="Roboto Condensed"/>
              <a:buNone/>
              <a:defRPr b="1" sz="34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1"/>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lvl1pPr indent="-381000" lvl="0" marL="4572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indent="-355600" lvl="1" marL="9144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indent="-342900" lvl="2" marL="13716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indent="-330200" lvl="3" marL="1828800" algn="just">
              <a:lnSpc>
                <a:spcPct val="90000"/>
              </a:lnSpc>
              <a:spcBef>
                <a:spcPts val="500"/>
              </a:spcBef>
              <a:spcAft>
                <a:spcPts val="0"/>
              </a:spcAft>
              <a:buClr>
                <a:schemeClr val="accent6"/>
              </a:buClr>
              <a:buSzPts val="1600"/>
              <a:buChar char="•"/>
              <a:defRPr sz="1600">
                <a:solidFill>
                  <a:schemeClr val="dk1"/>
                </a:solidFill>
              </a:defRPr>
            </a:lvl4pPr>
            <a:lvl5pPr indent="-330200" lvl="4" marL="2286000" algn="just">
              <a:lnSpc>
                <a:spcPct val="90000"/>
              </a:lnSpc>
              <a:spcBef>
                <a:spcPts val="500"/>
              </a:spcBef>
              <a:spcAft>
                <a:spcPts val="0"/>
              </a:spcAft>
              <a:buClr>
                <a:schemeClr val="accent6"/>
              </a:buClr>
              <a:buSzPts val="1600"/>
              <a:buChar char="•"/>
              <a:defRPr sz="16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3" name="Google Shape;43;p81"/>
          <p:cNvCxnSpPr/>
          <p:nvPr/>
        </p:nvCxnSpPr>
        <p:spPr>
          <a:xfrm>
            <a:off x="0" y="711201"/>
            <a:ext cx="12192000" cy="0"/>
          </a:xfrm>
          <a:prstGeom prst="straightConnector1">
            <a:avLst/>
          </a:prstGeom>
          <a:noFill/>
          <a:ln cap="flat" cmpd="sng" w="12700">
            <a:solidFill>
              <a:srgbClr val="D8D8D8"/>
            </a:solidFill>
            <a:prstDash val="solid"/>
            <a:miter lim="800000"/>
            <a:headEnd len="sm" w="sm" type="none"/>
            <a:tailEnd len="sm" w="sm" type="none"/>
          </a:ln>
        </p:spPr>
      </p:cxnSp>
      <p:cxnSp>
        <p:nvCxnSpPr>
          <p:cNvPr id="44" name="Google Shape;44;p81"/>
          <p:cNvCxnSpPr/>
          <p:nvPr/>
        </p:nvCxnSpPr>
        <p:spPr>
          <a:xfrm>
            <a:off x="0" y="6606251"/>
            <a:ext cx="12192000" cy="0"/>
          </a:xfrm>
          <a:prstGeom prst="straightConnector1">
            <a:avLst/>
          </a:prstGeom>
          <a:noFill/>
          <a:ln cap="flat" cmpd="sng" w="12700">
            <a:solidFill>
              <a:srgbClr val="BFBFBF">
                <a:alpha val="69803"/>
              </a:srgbClr>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on TR">
  <p:cSld name="Title and Content - Logo on TR">
    <p:spTree>
      <p:nvGrpSpPr>
        <p:cNvPr id="45" name="Shape 45"/>
        <p:cNvGrpSpPr/>
        <p:nvPr/>
      </p:nvGrpSpPr>
      <p:grpSpPr>
        <a:xfrm>
          <a:off x="0" y="0"/>
          <a:ext cx="0" cy="0"/>
          <a:chOff x="0" y="0"/>
          <a:chExt cx="0" cy="0"/>
        </a:xfrm>
      </p:grpSpPr>
      <p:sp>
        <p:nvSpPr>
          <p:cNvPr id="46" name="Google Shape;46;p82"/>
          <p:cNvSpPr/>
          <p:nvPr/>
        </p:nvSpPr>
        <p:spPr>
          <a:xfrm>
            <a:off x="0" y="6604000"/>
            <a:ext cx="12191998" cy="2540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pic>
        <p:nvPicPr>
          <p:cNvPr id="47" name="Google Shape;47;p82"/>
          <p:cNvPicPr preferRelativeResize="0"/>
          <p:nvPr/>
        </p:nvPicPr>
        <p:blipFill rotWithShape="1">
          <a:blip r:embed="rId2">
            <a:alphaModFix/>
          </a:blip>
          <a:srcRect b="3534" l="0" r="1768" t="86739"/>
          <a:stretch/>
        </p:blipFill>
        <p:spPr>
          <a:xfrm>
            <a:off x="0" y="0"/>
            <a:ext cx="12192000" cy="711201"/>
          </a:xfrm>
          <a:prstGeom prst="rect">
            <a:avLst/>
          </a:prstGeom>
          <a:noFill/>
          <a:ln>
            <a:noFill/>
          </a:ln>
        </p:spPr>
      </p:pic>
      <p:sp>
        <p:nvSpPr>
          <p:cNvPr id="48" name="Google Shape;48;p82"/>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lvl1pPr lvl="0" algn="l">
              <a:lnSpc>
                <a:spcPct val="90000"/>
              </a:lnSpc>
              <a:spcBef>
                <a:spcPts val="0"/>
              </a:spcBef>
              <a:spcAft>
                <a:spcPts val="0"/>
              </a:spcAft>
              <a:buClr>
                <a:srgbClr val="363636"/>
              </a:buClr>
              <a:buSzPts val="3400"/>
              <a:buFont typeface="Roboto Condensed"/>
              <a:buNone/>
              <a:defRPr b="1" sz="34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2"/>
          <p:cNvSpPr txBox="1"/>
          <p:nvPr>
            <p:ph idx="1" type="body"/>
          </p:nvPr>
        </p:nvSpPr>
        <p:spPr>
          <a:xfrm>
            <a:off x="131175" y="862350"/>
            <a:ext cx="11718900" cy="5590500"/>
          </a:xfrm>
          <a:prstGeom prst="rect">
            <a:avLst/>
          </a:prstGeom>
          <a:noFill/>
          <a:ln>
            <a:noFill/>
          </a:ln>
        </p:spPr>
        <p:txBody>
          <a:bodyPr anchorCtr="0" anchor="t" bIns="45700" lIns="91425" spcFirstLastPara="1" rIns="91425" wrap="square" tIns="45700">
            <a:noAutofit/>
          </a:bodyPr>
          <a:lstStyle>
            <a:lvl1pPr indent="-381000" lvl="0" marL="4572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indent="-355600" lvl="1" marL="9144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indent="-342900" lvl="2" marL="13716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indent="-330200" lvl="3" marL="1828800" algn="just">
              <a:lnSpc>
                <a:spcPct val="90000"/>
              </a:lnSpc>
              <a:spcBef>
                <a:spcPts val="500"/>
              </a:spcBef>
              <a:spcAft>
                <a:spcPts val="0"/>
              </a:spcAft>
              <a:buClr>
                <a:schemeClr val="accent6"/>
              </a:buClr>
              <a:buSzPts val="1600"/>
              <a:buChar char="•"/>
              <a:defRPr sz="1600">
                <a:solidFill>
                  <a:schemeClr val="dk1"/>
                </a:solidFill>
              </a:defRPr>
            </a:lvl4pPr>
            <a:lvl5pPr indent="-330200" lvl="4" marL="2286000" algn="just">
              <a:lnSpc>
                <a:spcPct val="90000"/>
              </a:lnSpc>
              <a:spcBef>
                <a:spcPts val="500"/>
              </a:spcBef>
              <a:spcAft>
                <a:spcPts val="0"/>
              </a:spcAft>
              <a:buClr>
                <a:schemeClr val="accent6"/>
              </a:buClr>
              <a:buSzPts val="1600"/>
              <a:buChar char="•"/>
              <a:defRPr sz="16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0" name="Google Shape;50;p82"/>
          <p:cNvCxnSpPr/>
          <p:nvPr/>
        </p:nvCxnSpPr>
        <p:spPr>
          <a:xfrm>
            <a:off x="0" y="711201"/>
            <a:ext cx="12192000" cy="0"/>
          </a:xfrm>
          <a:prstGeom prst="straightConnector1">
            <a:avLst/>
          </a:prstGeom>
          <a:noFill/>
          <a:ln cap="flat" cmpd="sng" w="12700">
            <a:solidFill>
              <a:srgbClr val="D8D8D8"/>
            </a:solidFill>
            <a:prstDash val="solid"/>
            <a:miter lim="800000"/>
            <a:headEnd len="sm" w="sm" type="none"/>
            <a:tailEnd len="sm" w="sm" type="none"/>
          </a:ln>
        </p:spPr>
      </p:cxnSp>
      <p:cxnSp>
        <p:nvCxnSpPr>
          <p:cNvPr id="51" name="Google Shape;51;p82"/>
          <p:cNvCxnSpPr/>
          <p:nvPr/>
        </p:nvCxnSpPr>
        <p:spPr>
          <a:xfrm>
            <a:off x="131180" y="6604000"/>
            <a:ext cx="12192000" cy="0"/>
          </a:xfrm>
          <a:prstGeom prst="straightConnector1">
            <a:avLst/>
          </a:prstGeom>
          <a:noFill/>
          <a:ln cap="flat" cmpd="sng" w="12700">
            <a:solidFill>
              <a:srgbClr val="BFBFBF">
                <a:alpha val="69803"/>
              </a:srgbClr>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on BL">
  <p:cSld name="Title and Content - Logo on BL">
    <p:spTree>
      <p:nvGrpSpPr>
        <p:cNvPr id="52" name="Shape 52"/>
        <p:cNvGrpSpPr/>
        <p:nvPr/>
      </p:nvGrpSpPr>
      <p:grpSpPr>
        <a:xfrm>
          <a:off x="0" y="0"/>
          <a:ext cx="0" cy="0"/>
          <a:chOff x="0" y="0"/>
          <a:chExt cx="0" cy="0"/>
        </a:xfrm>
      </p:grpSpPr>
      <p:sp>
        <p:nvSpPr>
          <p:cNvPr id="53" name="Google Shape;53;p83"/>
          <p:cNvSpPr/>
          <p:nvPr/>
        </p:nvSpPr>
        <p:spPr>
          <a:xfrm>
            <a:off x="0" y="6604000"/>
            <a:ext cx="12192000" cy="2541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pic>
        <p:nvPicPr>
          <p:cNvPr id="54" name="Google Shape;54;p83"/>
          <p:cNvPicPr preferRelativeResize="0"/>
          <p:nvPr/>
        </p:nvPicPr>
        <p:blipFill rotWithShape="1">
          <a:blip r:embed="rId2">
            <a:alphaModFix/>
          </a:blip>
          <a:srcRect b="3534" l="0" r="1768" t="86739"/>
          <a:stretch/>
        </p:blipFill>
        <p:spPr>
          <a:xfrm>
            <a:off x="0" y="0"/>
            <a:ext cx="12192000" cy="711201"/>
          </a:xfrm>
          <a:prstGeom prst="rect">
            <a:avLst/>
          </a:prstGeom>
          <a:noFill/>
          <a:ln>
            <a:noFill/>
          </a:ln>
        </p:spPr>
      </p:pic>
      <p:sp>
        <p:nvSpPr>
          <p:cNvPr id="55" name="Google Shape;55;p83"/>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lvl1pPr lvl="0" algn="l">
              <a:lnSpc>
                <a:spcPct val="90000"/>
              </a:lnSpc>
              <a:spcBef>
                <a:spcPts val="0"/>
              </a:spcBef>
              <a:spcAft>
                <a:spcPts val="0"/>
              </a:spcAft>
              <a:buClr>
                <a:srgbClr val="363636"/>
              </a:buClr>
              <a:buSzPts val="3400"/>
              <a:buFont typeface="Roboto Condensed"/>
              <a:buNone/>
              <a:defRPr b="1" sz="34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3"/>
          <p:cNvSpPr txBox="1"/>
          <p:nvPr>
            <p:ph idx="1" type="body"/>
          </p:nvPr>
        </p:nvSpPr>
        <p:spPr>
          <a:xfrm>
            <a:off x="131175" y="863450"/>
            <a:ext cx="11929500" cy="5473800"/>
          </a:xfrm>
          <a:prstGeom prst="rect">
            <a:avLst/>
          </a:prstGeom>
          <a:noFill/>
          <a:ln>
            <a:noFill/>
          </a:ln>
        </p:spPr>
        <p:txBody>
          <a:bodyPr anchorCtr="0" anchor="t" bIns="45700" lIns="91425" spcFirstLastPara="1" rIns="91425" wrap="square" tIns="45700">
            <a:noAutofit/>
          </a:bodyPr>
          <a:lstStyle>
            <a:lvl1pPr indent="-381000" lvl="0" marL="4572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indent="-355600" lvl="1" marL="9144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indent="-342900" lvl="2" marL="13716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indent="-330200" lvl="3" marL="1828800" algn="just">
              <a:lnSpc>
                <a:spcPct val="90000"/>
              </a:lnSpc>
              <a:spcBef>
                <a:spcPts val="500"/>
              </a:spcBef>
              <a:spcAft>
                <a:spcPts val="0"/>
              </a:spcAft>
              <a:buClr>
                <a:schemeClr val="accent6"/>
              </a:buClr>
              <a:buSzPts val="1600"/>
              <a:buChar char="•"/>
              <a:defRPr sz="1600">
                <a:solidFill>
                  <a:schemeClr val="dk1"/>
                </a:solidFill>
              </a:defRPr>
            </a:lvl4pPr>
            <a:lvl5pPr indent="-330200" lvl="4" marL="2286000" algn="just">
              <a:lnSpc>
                <a:spcPct val="90000"/>
              </a:lnSpc>
              <a:spcBef>
                <a:spcPts val="500"/>
              </a:spcBef>
              <a:spcAft>
                <a:spcPts val="0"/>
              </a:spcAft>
              <a:buClr>
                <a:schemeClr val="accent6"/>
              </a:buClr>
              <a:buSzPts val="1600"/>
              <a:buChar char="•"/>
              <a:defRPr sz="16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7" name="Google Shape;57;p83"/>
          <p:cNvCxnSpPr/>
          <p:nvPr/>
        </p:nvCxnSpPr>
        <p:spPr>
          <a:xfrm>
            <a:off x="0" y="711201"/>
            <a:ext cx="12192000" cy="0"/>
          </a:xfrm>
          <a:prstGeom prst="straightConnector1">
            <a:avLst/>
          </a:prstGeom>
          <a:noFill/>
          <a:ln cap="flat" cmpd="sng" w="12700">
            <a:solidFill>
              <a:srgbClr val="D8D8D8"/>
            </a:solidFill>
            <a:prstDash val="solid"/>
            <a:miter lim="800000"/>
            <a:headEnd len="sm" w="sm" type="none"/>
            <a:tailEnd len="sm" w="sm" type="none"/>
          </a:ln>
        </p:spPr>
      </p:cxnSp>
      <p:cxnSp>
        <p:nvCxnSpPr>
          <p:cNvPr id="58" name="Google Shape;58;p83"/>
          <p:cNvCxnSpPr/>
          <p:nvPr/>
        </p:nvCxnSpPr>
        <p:spPr>
          <a:xfrm>
            <a:off x="0" y="6606251"/>
            <a:ext cx="12192000" cy="0"/>
          </a:xfrm>
          <a:prstGeom prst="straightConnector1">
            <a:avLst/>
          </a:prstGeom>
          <a:noFill/>
          <a:ln cap="flat" cmpd="sng" w="12700">
            <a:solidFill>
              <a:srgbClr val="BFBFBF">
                <a:alpha val="69803"/>
              </a:srgbClr>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Maroon">
  <p:cSld name="1_Title Slide - Maroon">
    <p:spTree>
      <p:nvGrpSpPr>
        <p:cNvPr id="59" name="Shape 59"/>
        <p:cNvGrpSpPr/>
        <p:nvPr/>
      </p:nvGrpSpPr>
      <p:grpSpPr>
        <a:xfrm>
          <a:off x="0" y="0"/>
          <a:ext cx="0" cy="0"/>
          <a:chOff x="0" y="0"/>
          <a:chExt cx="0" cy="0"/>
        </a:xfrm>
      </p:grpSpPr>
      <p:pic>
        <p:nvPicPr>
          <p:cNvPr id="60" name="Google Shape;60;p84"/>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61" name="Google Shape;61;p84"/>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62" name="Google Shape;62;p84"/>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5C2321"/>
              </a:gs>
              <a:gs pos="10000">
                <a:srgbClr val="5C2321"/>
              </a:gs>
              <a:gs pos="100000">
                <a:schemeClr val="accent6"/>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63" name="Google Shape;63;p84"/>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5C2321"/>
              </a:gs>
              <a:gs pos="10000">
                <a:srgbClr val="5C2321"/>
              </a:gs>
              <a:gs pos="100000">
                <a:schemeClr val="accent6"/>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64" name="Google Shape;64;p84"/>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cxnSp>
        <p:nvCxnSpPr>
          <p:cNvPr id="65" name="Google Shape;65;p84"/>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pic>
        <p:nvPicPr>
          <p:cNvPr id="66" name="Google Shape;66;p84"/>
          <p:cNvPicPr preferRelativeResize="0"/>
          <p:nvPr/>
        </p:nvPicPr>
        <p:blipFill rotWithShape="1">
          <a:blip r:embed="rId4">
            <a:alphaModFix/>
          </a:blip>
          <a:srcRect b="0" l="0" r="0" t="0"/>
          <a:stretch/>
        </p:blipFill>
        <p:spPr>
          <a:xfrm>
            <a:off x="1998063" y="6232297"/>
            <a:ext cx="182880" cy="182880"/>
          </a:xfrm>
          <a:prstGeom prst="rect">
            <a:avLst/>
          </a:prstGeom>
          <a:noFill/>
          <a:ln>
            <a:noFill/>
          </a:ln>
        </p:spPr>
      </p:pic>
      <p:pic>
        <p:nvPicPr>
          <p:cNvPr id="67" name="Google Shape;67;p84"/>
          <p:cNvPicPr preferRelativeResize="0"/>
          <p:nvPr/>
        </p:nvPicPr>
        <p:blipFill rotWithShape="1">
          <a:blip r:embed="rId5">
            <a:alphaModFix/>
          </a:blip>
          <a:srcRect b="0" l="0" r="0" t="0"/>
          <a:stretch/>
        </p:blipFill>
        <p:spPr>
          <a:xfrm>
            <a:off x="1998063" y="6505320"/>
            <a:ext cx="182880" cy="182880"/>
          </a:xfrm>
          <a:prstGeom prst="rect">
            <a:avLst/>
          </a:prstGeom>
          <a:noFill/>
          <a:ln>
            <a:noFill/>
          </a:ln>
        </p:spPr>
      </p:pic>
      <p:sp>
        <p:nvSpPr>
          <p:cNvPr id="68" name="Google Shape;68;p84"/>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84"/>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84"/>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84"/>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5C2321"/>
              </a:buClr>
              <a:buSzPts val="1800"/>
              <a:buNone/>
              <a:defRPr b="1" sz="1800">
                <a:solidFill>
                  <a:srgbClr val="5C232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2" name="Google Shape;72;p84"/>
          <p:cNvPicPr preferRelativeResize="0"/>
          <p:nvPr/>
        </p:nvPicPr>
        <p:blipFill rotWithShape="1">
          <a:blip r:embed="rId6">
            <a:alphaModFix/>
          </a:blip>
          <a:srcRect b="17724" l="62022" r="2731" t="18062"/>
          <a:stretch/>
        </p:blipFill>
        <p:spPr>
          <a:xfrm>
            <a:off x="63248" y="837717"/>
            <a:ext cx="1087893" cy="772151"/>
          </a:xfrm>
          <a:prstGeom prst="rect">
            <a:avLst/>
          </a:prstGeom>
          <a:noFill/>
          <a:ln>
            <a:noFill/>
          </a:ln>
        </p:spPr>
      </p:pic>
      <p:sp>
        <p:nvSpPr>
          <p:cNvPr id="73" name="Google Shape;73;p84"/>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74" name="Google Shape;74;p84"/>
          <p:cNvPicPr preferRelativeResize="0"/>
          <p:nvPr/>
        </p:nvPicPr>
        <p:blipFill rotWithShape="1">
          <a:blip r:embed="rId7">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75" name="Google Shape;75;p84"/>
          <p:cNvSpPr/>
          <p:nvPr/>
        </p:nvSpPr>
        <p:spPr>
          <a:xfrm rot="5400000">
            <a:off x="4309292" y="1717040"/>
            <a:ext cx="3461658" cy="2984188"/>
          </a:xfrm>
          <a:prstGeom prst="hexagon">
            <a:avLst>
              <a:gd fmla="val 25000" name="adj"/>
              <a:gd fmla="val 115470" name="vf"/>
            </a:avLst>
          </a:prstGeom>
          <a:solidFill>
            <a:srgbClr val="F2F2F2"/>
          </a:solidFill>
          <a:ln cap="flat" cmpd="sng" w="57150">
            <a:solidFill>
              <a:schemeClr val="accent6"/>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76" name="Google Shape;76;p84"/>
          <p:cNvSpPr txBox="1"/>
          <p:nvPr/>
        </p:nvSpPr>
        <p:spPr>
          <a:xfrm>
            <a:off x="5014038" y="2239638"/>
            <a:ext cx="2052165" cy="19389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6000">
                <a:solidFill>
                  <a:schemeClr val="dk1"/>
                </a:solidFill>
                <a:latin typeface="Roboto Condensed"/>
                <a:ea typeface="Roboto Condensed"/>
                <a:cs typeface="Roboto Condensed"/>
                <a:sym typeface="Roboto Condensed"/>
              </a:rPr>
              <a:t>Thank</a:t>
            </a:r>
            <a:endParaRPr/>
          </a:p>
          <a:p>
            <a:pPr indent="0" lvl="0" marL="0" marR="0" rtl="0" algn="ctr">
              <a:spcBef>
                <a:spcPts val="0"/>
              </a:spcBef>
              <a:spcAft>
                <a:spcPts val="0"/>
              </a:spcAft>
              <a:buNone/>
            </a:pPr>
            <a:r>
              <a:rPr b="1" i="1" lang="en-US" sz="6000">
                <a:solidFill>
                  <a:schemeClr val="dk1"/>
                </a:solidFill>
                <a:latin typeface="Roboto Condensed"/>
                <a:ea typeface="Roboto Condensed"/>
                <a:cs typeface="Roboto Condensed"/>
                <a:sym typeface="Roboto Condensed"/>
              </a:rPr>
              <a:t>You</a:t>
            </a:r>
            <a:endParaRPr b="1" i="1" sz="6000">
              <a:solidFill>
                <a:schemeClr val="dk1"/>
              </a:solidFill>
              <a:latin typeface="Roboto Condensed"/>
              <a:ea typeface="Roboto Condensed"/>
              <a:cs typeface="Roboto Condensed"/>
              <a:sym typeface="Roboto Condensed"/>
            </a:endParaRPr>
          </a:p>
        </p:txBody>
      </p:sp>
      <p:sp>
        <p:nvSpPr>
          <p:cNvPr id="77" name="Google Shape;77;p84"/>
          <p:cNvSpPr/>
          <p:nvPr/>
        </p:nvSpPr>
        <p:spPr>
          <a:xfrm>
            <a:off x="7678346" y="2221532"/>
            <a:ext cx="4513654" cy="1951692"/>
          </a:xfrm>
          <a:prstGeom prst="rect">
            <a:avLst/>
          </a:prstGeom>
          <a:solidFill>
            <a:schemeClr val="accent6"/>
          </a:solidFill>
          <a:ln cap="flat" cmpd="sng" w="12700">
            <a:solidFill>
              <a:srgbClr val="86333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sp>
        <p:nvSpPr>
          <p:cNvPr id="78" name="Google Shape;78;p84"/>
          <p:cNvSpPr/>
          <p:nvPr/>
        </p:nvSpPr>
        <p:spPr>
          <a:xfrm>
            <a:off x="0" y="2221532"/>
            <a:ext cx="4402106" cy="1951692"/>
          </a:xfrm>
          <a:prstGeom prst="rect">
            <a:avLst/>
          </a:prstGeom>
          <a:solidFill>
            <a:schemeClr val="accent6"/>
          </a:solidFill>
          <a:ln cap="flat" cmpd="sng" w="12700">
            <a:solidFill>
              <a:srgbClr val="86333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Default Color">
  <p:cSld name="Title Slide - Default Color">
    <p:spTree>
      <p:nvGrpSpPr>
        <p:cNvPr id="79" name="Shape 79"/>
        <p:cNvGrpSpPr/>
        <p:nvPr/>
      </p:nvGrpSpPr>
      <p:grpSpPr>
        <a:xfrm>
          <a:off x="0" y="0"/>
          <a:ext cx="0" cy="0"/>
          <a:chOff x="0" y="0"/>
          <a:chExt cx="0" cy="0"/>
        </a:xfrm>
      </p:grpSpPr>
      <p:pic>
        <p:nvPicPr>
          <p:cNvPr id="80" name="Google Shape;80;p85"/>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81" name="Google Shape;81;p85"/>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82" name="Google Shape;82;p85"/>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dk2"/>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83" name="Google Shape;83;p85"/>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dk2"/>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84" name="Google Shape;84;p85"/>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85" name="Google Shape;85;p85"/>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86" name="Google Shape;86;p85"/>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87" name="Google Shape;87;p85"/>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8" name="Google Shape;88;p85"/>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89" name="Google Shape;89;p85"/>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90" name="Google Shape;90;p85"/>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85"/>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85"/>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85"/>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1D3064"/>
              </a:buClr>
              <a:buSzPts val="1800"/>
              <a:buNone/>
              <a:defRPr b="1" sz="1800">
                <a:solidFill>
                  <a:srgbClr val="1D3064"/>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94" name="Google Shape;94;p85"/>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95" name="Google Shape;95;p85"/>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96" name="Google Shape;96;p85"/>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97" name="Google Shape;97;p85"/>
          <p:cNvPicPr preferRelativeResize="0"/>
          <p:nvPr/>
        </p:nvPicPr>
        <p:blipFill rotWithShape="1">
          <a:blip r:embed="rId9">
            <a:alphaModFix/>
          </a:blip>
          <a:srcRect b="22103" l="144383" r="-144383" t="-16142"/>
          <a:stretch/>
        </p:blipFill>
        <p:spPr>
          <a:xfrm>
            <a:off x="1834747" y="3985791"/>
            <a:ext cx="3075940" cy="2892592"/>
          </a:xfrm>
          <a:prstGeom prst="rect">
            <a:avLst/>
          </a:prstGeom>
          <a:noFill/>
          <a:ln>
            <a:noFill/>
          </a:ln>
        </p:spPr>
      </p:pic>
      <p:pic>
        <p:nvPicPr>
          <p:cNvPr descr="User icon Royalty Free Vector Image - VectorStock" id="98" name="Google Shape;98;p85"/>
          <p:cNvPicPr preferRelativeResize="0"/>
          <p:nvPr/>
        </p:nvPicPr>
        <p:blipFill rotWithShape="1">
          <a:blip r:embed="rId10">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99" name="Google Shape;99;p85"/>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k - Logo on TR">
  <p:cSld name="Blanck - Logo on TR">
    <p:spTree>
      <p:nvGrpSpPr>
        <p:cNvPr id="100" name="Shape 100"/>
        <p:cNvGrpSpPr/>
        <p:nvPr/>
      </p:nvGrpSpPr>
      <p:grpSpPr>
        <a:xfrm>
          <a:off x="0" y="0"/>
          <a:ext cx="0" cy="0"/>
          <a:chOff x="0" y="0"/>
          <a:chExt cx="0" cy="0"/>
        </a:xfrm>
      </p:grpSpPr>
      <p:sp>
        <p:nvSpPr>
          <p:cNvPr id="101" name="Google Shape;101;p86"/>
          <p:cNvSpPr/>
          <p:nvPr/>
        </p:nvSpPr>
        <p:spPr>
          <a:xfrm>
            <a:off x="0" y="6604000"/>
            <a:ext cx="12191998" cy="2540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cxnSp>
        <p:nvCxnSpPr>
          <p:cNvPr id="102" name="Google Shape;102;p86"/>
          <p:cNvCxnSpPr/>
          <p:nvPr/>
        </p:nvCxnSpPr>
        <p:spPr>
          <a:xfrm>
            <a:off x="0" y="6606251"/>
            <a:ext cx="12192000" cy="0"/>
          </a:xfrm>
          <a:prstGeom prst="straightConnector1">
            <a:avLst/>
          </a:prstGeom>
          <a:noFill/>
          <a:ln cap="flat" cmpd="sng" w="12700">
            <a:solidFill>
              <a:srgbClr val="BFBFBF">
                <a:alpha val="69803"/>
              </a:srgbClr>
            </a:solidFill>
            <a:prstDash val="solid"/>
            <a:miter lim="800000"/>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k - Logo on BR">
  <p:cSld name="Blanck - Logo on BR">
    <p:spTree>
      <p:nvGrpSpPr>
        <p:cNvPr id="103" name="Shape 103"/>
        <p:cNvGrpSpPr/>
        <p:nvPr/>
      </p:nvGrpSpPr>
      <p:grpSpPr>
        <a:xfrm>
          <a:off x="0" y="0"/>
          <a:ext cx="0" cy="0"/>
          <a:chOff x="0" y="0"/>
          <a:chExt cx="0" cy="0"/>
        </a:xfrm>
      </p:grpSpPr>
      <p:sp>
        <p:nvSpPr>
          <p:cNvPr id="104" name="Google Shape;104;p87"/>
          <p:cNvSpPr/>
          <p:nvPr/>
        </p:nvSpPr>
        <p:spPr>
          <a:xfrm>
            <a:off x="0" y="6604000"/>
            <a:ext cx="12191998" cy="2540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cxnSp>
        <p:nvCxnSpPr>
          <p:cNvPr id="105" name="Google Shape;105;p87"/>
          <p:cNvCxnSpPr/>
          <p:nvPr/>
        </p:nvCxnSpPr>
        <p:spPr>
          <a:xfrm>
            <a:off x="0" y="6606251"/>
            <a:ext cx="12192000" cy="0"/>
          </a:xfrm>
          <a:prstGeom prst="straightConnector1">
            <a:avLst/>
          </a:prstGeom>
          <a:noFill/>
          <a:ln cap="flat" cmpd="sng" w="12700">
            <a:solidFill>
              <a:srgbClr val="BFBFBF">
                <a:alpha val="69803"/>
              </a:srgbClr>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k - Logo on BL">
  <p:cSld name="Blanck - Logo on BL">
    <p:spTree>
      <p:nvGrpSpPr>
        <p:cNvPr id="106" name="Shape 106"/>
        <p:cNvGrpSpPr/>
        <p:nvPr/>
      </p:nvGrpSpPr>
      <p:grpSpPr>
        <a:xfrm>
          <a:off x="0" y="0"/>
          <a:ext cx="0" cy="0"/>
          <a:chOff x="0" y="0"/>
          <a:chExt cx="0" cy="0"/>
        </a:xfrm>
      </p:grpSpPr>
      <p:sp>
        <p:nvSpPr>
          <p:cNvPr id="107" name="Google Shape;107;p88"/>
          <p:cNvSpPr/>
          <p:nvPr/>
        </p:nvSpPr>
        <p:spPr>
          <a:xfrm>
            <a:off x="0" y="6604000"/>
            <a:ext cx="12191998" cy="2540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cxnSp>
        <p:nvCxnSpPr>
          <p:cNvPr id="108" name="Google Shape;108;p88"/>
          <p:cNvCxnSpPr/>
          <p:nvPr/>
        </p:nvCxnSpPr>
        <p:spPr>
          <a:xfrm>
            <a:off x="0" y="6606251"/>
            <a:ext cx="12192000" cy="0"/>
          </a:xfrm>
          <a:prstGeom prst="straightConnector1">
            <a:avLst/>
          </a:prstGeom>
          <a:noFill/>
          <a:ln cap="flat" cmpd="sng" w="12700">
            <a:solidFill>
              <a:srgbClr val="BFBFBF">
                <a:alpha val="69803"/>
              </a:srgbClr>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 Blanck">
  <p:cSld name="Complete Blanck">
    <p:spTree>
      <p:nvGrpSpPr>
        <p:cNvPr id="109" name="Shape 10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lete Blanck">
  <p:cSld name="1_Complete Blanck">
    <p:spTree>
      <p:nvGrpSpPr>
        <p:cNvPr id="110" name="Shape 110"/>
        <p:cNvGrpSpPr/>
        <p:nvPr/>
      </p:nvGrpSpPr>
      <p:grpSpPr>
        <a:xfrm>
          <a:off x="0" y="0"/>
          <a:ext cx="0" cy="0"/>
          <a:chOff x="0" y="0"/>
          <a:chExt cx="0" cy="0"/>
        </a:xfrm>
      </p:grpSpPr>
      <p:sp>
        <p:nvSpPr>
          <p:cNvPr id="111" name="Google Shape;111;p90"/>
          <p:cNvSpPr txBox="1"/>
          <p:nvPr/>
        </p:nvSpPr>
        <p:spPr>
          <a:xfrm>
            <a:off x="375920" y="457200"/>
            <a:ext cx="418576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Roboto Condensed"/>
                <a:ea typeface="Roboto Condensed"/>
                <a:cs typeface="Roboto Condensed"/>
                <a:sym typeface="Roboto Condensed"/>
              </a:rPr>
              <a:t>How to Crop Circular Photo?</a:t>
            </a:r>
            <a:endParaRPr/>
          </a:p>
        </p:txBody>
      </p:sp>
      <p:sp>
        <p:nvSpPr>
          <p:cNvPr id="112" name="Google Shape;112;p90"/>
          <p:cNvSpPr/>
          <p:nvPr>
            <p:ph idx="2" type="pic"/>
          </p:nvPr>
        </p:nvSpPr>
        <p:spPr>
          <a:xfrm>
            <a:off x="4013200" y="1808163"/>
            <a:ext cx="3890962" cy="3890962"/>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Teal">
  <p:cSld name="Title Slide - Teal">
    <p:spTree>
      <p:nvGrpSpPr>
        <p:cNvPr id="113" name="Shape 113"/>
        <p:cNvGrpSpPr/>
        <p:nvPr/>
      </p:nvGrpSpPr>
      <p:grpSpPr>
        <a:xfrm>
          <a:off x="0" y="0"/>
          <a:ext cx="0" cy="0"/>
          <a:chOff x="0" y="0"/>
          <a:chExt cx="0" cy="0"/>
        </a:xfrm>
      </p:grpSpPr>
      <p:pic>
        <p:nvPicPr>
          <p:cNvPr id="114" name="Google Shape;114;p91"/>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115" name="Google Shape;115;p91"/>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116" name="Google Shape;116;p91"/>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0E4D3B"/>
              </a:gs>
              <a:gs pos="10000">
                <a:srgbClr val="0E4D3B"/>
              </a:gs>
              <a:gs pos="100000">
                <a:srgbClr val="009788"/>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17" name="Google Shape;117;p91"/>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D3B"/>
              </a:gs>
              <a:gs pos="10000">
                <a:srgbClr val="0E4D3B"/>
              </a:gs>
              <a:gs pos="100000">
                <a:srgbClr val="009788"/>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118" name="Google Shape;118;p91"/>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119" name="Google Shape;119;p91"/>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120" name="Google Shape;120;p91"/>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121" name="Google Shape;121;p91"/>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2" name="Google Shape;122;p91"/>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123" name="Google Shape;123;p91"/>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124" name="Google Shape;124;p91"/>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91"/>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91"/>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91"/>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0E4D3B"/>
              </a:buClr>
              <a:buSzPts val="1800"/>
              <a:buNone/>
              <a:defRPr b="1" sz="1800">
                <a:solidFill>
                  <a:srgbClr val="0E4D3B"/>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28" name="Google Shape;128;p91"/>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129" name="Google Shape;129;p91"/>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130" name="Google Shape;130;p91"/>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131" name="Google Shape;131;p91"/>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132" name="Google Shape;132;p91"/>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Cyan">
  <p:cSld name="Title Slide - Cyan">
    <p:spTree>
      <p:nvGrpSpPr>
        <p:cNvPr id="133" name="Shape 133"/>
        <p:cNvGrpSpPr/>
        <p:nvPr/>
      </p:nvGrpSpPr>
      <p:grpSpPr>
        <a:xfrm>
          <a:off x="0" y="0"/>
          <a:ext cx="0" cy="0"/>
          <a:chOff x="0" y="0"/>
          <a:chExt cx="0" cy="0"/>
        </a:xfrm>
      </p:grpSpPr>
      <p:pic>
        <p:nvPicPr>
          <p:cNvPr id="134" name="Google Shape;134;p92"/>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135" name="Google Shape;135;p92"/>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136" name="Google Shape;136;p92"/>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005D69"/>
              </a:gs>
              <a:gs pos="10000">
                <a:srgbClr val="005D69"/>
              </a:gs>
              <a:gs pos="100000">
                <a:schemeClr val="accent2"/>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37" name="Google Shape;137;p92"/>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05D69"/>
              </a:gs>
              <a:gs pos="10000">
                <a:srgbClr val="005D69"/>
              </a:gs>
              <a:gs pos="100000">
                <a:schemeClr val="accent2"/>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138" name="Google Shape;138;p92"/>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139" name="Google Shape;139;p92"/>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140" name="Google Shape;140;p92"/>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141" name="Google Shape;141;p92"/>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2" name="Google Shape;142;p92"/>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143" name="Google Shape;143;p92"/>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144" name="Google Shape;144;p92"/>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92"/>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92"/>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92"/>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005D69"/>
              </a:buClr>
              <a:buSzPts val="1800"/>
              <a:buNone/>
              <a:defRPr b="1" sz="1800">
                <a:solidFill>
                  <a:srgbClr val="005D69"/>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48" name="Google Shape;148;p92"/>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149" name="Google Shape;149;p92"/>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150" name="Google Shape;150;p92"/>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151" name="Google Shape;151;p92"/>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152" name="Google Shape;152;p92"/>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Light Green">
  <p:cSld name="Title Slide - Light Green">
    <p:spTree>
      <p:nvGrpSpPr>
        <p:cNvPr id="153" name="Shape 153"/>
        <p:cNvGrpSpPr/>
        <p:nvPr/>
      </p:nvGrpSpPr>
      <p:grpSpPr>
        <a:xfrm>
          <a:off x="0" y="0"/>
          <a:ext cx="0" cy="0"/>
          <a:chOff x="0" y="0"/>
          <a:chExt cx="0" cy="0"/>
        </a:xfrm>
      </p:grpSpPr>
      <p:pic>
        <p:nvPicPr>
          <p:cNvPr id="154" name="Google Shape;154;p93"/>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155" name="Google Shape;155;p93"/>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156" name="Google Shape;156;p93"/>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456220"/>
              </a:gs>
              <a:gs pos="10000">
                <a:srgbClr val="456220"/>
              </a:gs>
              <a:gs pos="100000">
                <a:schemeClr val="accent3"/>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57" name="Google Shape;157;p93"/>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456220"/>
              </a:gs>
              <a:gs pos="10000">
                <a:srgbClr val="456220"/>
              </a:gs>
              <a:gs pos="100000">
                <a:schemeClr val="accent3"/>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158" name="Google Shape;158;p93"/>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159" name="Google Shape;159;p93"/>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160" name="Google Shape;160;p93"/>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161" name="Google Shape;161;p93"/>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2" name="Google Shape;162;p93"/>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163" name="Google Shape;163;p93"/>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164" name="Google Shape;164;p93"/>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93"/>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93"/>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93"/>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456220"/>
              </a:buClr>
              <a:buSzPts val="1800"/>
              <a:buNone/>
              <a:defRPr b="1" sz="1800">
                <a:solidFill>
                  <a:srgbClr val="456220"/>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68" name="Google Shape;168;p93"/>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169" name="Google Shape;169;p93"/>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170" name="Google Shape;170;p93"/>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171" name="Google Shape;171;p93"/>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172" name="Google Shape;172;p93"/>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mber">
  <p:cSld name="Title Slide - Amber">
    <p:spTree>
      <p:nvGrpSpPr>
        <p:cNvPr id="173" name="Shape 173"/>
        <p:cNvGrpSpPr/>
        <p:nvPr/>
      </p:nvGrpSpPr>
      <p:grpSpPr>
        <a:xfrm>
          <a:off x="0" y="0"/>
          <a:ext cx="0" cy="0"/>
          <a:chOff x="0" y="0"/>
          <a:chExt cx="0" cy="0"/>
        </a:xfrm>
      </p:grpSpPr>
      <p:pic>
        <p:nvPicPr>
          <p:cNvPr id="174" name="Google Shape;174;p94"/>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175" name="Google Shape;175;p94"/>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176" name="Google Shape;176;p94"/>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7D4F07"/>
              </a:gs>
              <a:gs pos="10000">
                <a:srgbClr val="7D4F07"/>
              </a:gs>
              <a:gs pos="100000">
                <a:schemeClr val="accent5"/>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77" name="Google Shape;177;p94"/>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7D4F07"/>
              </a:gs>
              <a:gs pos="10000">
                <a:srgbClr val="7D4F07"/>
              </a:gs>
              <a:gs pos="100000">
                <a:schemeClr val="accent5"/>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178" name="Google Shape;178;p94"/>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179" name="Google Shape;179;p94"/>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180" name="Google Shape;180;p94"/>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181" name="Google Shape;181;p94"/>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2" name="Google Shape;182;p94"/>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183" name="Google Shape;183;p94"/>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184" name="Google Shape;184;p94"/>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94"/>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94"/>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94"/>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BC770B"/>
              </a:buClr>
              <a:buSzPts val="1800"/>
              <a:buNone/>
              <a:defRPr b="1" sz="1800">
                <a:solidFill>
                  <a:srgbClr val="BC770B"/>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88" name="Google Shape;188;p94"/>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189" name="Google Shape;189;p94"/>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190" name="Google Shape;190;p94"/>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191" name="Google Shape;191;p94"/>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192" name="Google Shape;192;p94"/>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Blue Gray">
  <p:cSld name="Title Slide - Blue Gray">
    <p:spTree>
      <p:nvGrpSpPr>
        <p:cNvPr id="193" name="Shape 193"/>
        <p:cNvGrpSpPr/>
        <p:nvPr/>
      </p:nvGrpSpPr>
      <p:grpSpPr>
        <a:xfrm>
          <a:off x="0" y="0"/>
          <a:ext cx="0" cy="0"/>
          <a:chOff x="0" y="0"/>
          <a:chExt cx="0" cy="0"/>
        </a:xfrm>
      </p:grpSpPr>
      <p:pic>
        <p:nvPicPr>
          <p:cNvPr id="194" name="Google Shape;194;p95"/>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195" name="Google Shape;195;p95"/>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196" name="Google Shape;196;p95"/>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273238"/>
              </a:gs>
              <a:gs pos="10000">
                <a:srgbClr val="273238"/>
              </a:gs>
              <a:gs pos="100000">
                <a:srgbClr val="607D8B"/>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97" name="Google Shape;197;p95"/>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273238"/>
              </a:gs>
              <a:gs pos="10000">
                <a:srgbClr val="273238"/>
              </a:gs>
              <a:gs pos="100000">
                <a:srgbClr val="607D8B"/>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198" name="Google Shape;198;p95"/>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199" name="Google Shape;199;p95"/>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200" name="Google Shape;200;p95"/>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201" name="Google Shape;201;p95"/>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2" name="Google Shape;202;p95"/>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203" name="Google Shape;203;p95"/>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204" name="Google Shape;204;p95"/>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95"/>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 name="Google Shape;206;p95"/>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95"/>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273238"/>
              </a:buClr>
              <a:buSzPts val="1800"/>
              <a:buNone/>
              <a:defRPr b="1" sz="1800">
                <a:solidFill>
                  <a:srgbClr val="273238"/>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08" name="Google Shape;208;p95"/>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209" name="Google Shape;209;p95"/>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210" name="Google Shape;210;p95"/>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211" name="Google Shape;211;p95"/>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212" name="Google Shape;212;p95"/>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Brown">
  <p:cSld name="Title Slide - Brown">
    <p:spTree>
      <p:nvGrpSpPr>
        <p:cNvPr id="213" name="Shape 213"/>
        <p:cNvGrpSpPr/>
        <p:nvPr/>
      </p:nvGrpSpPr>
      <p:grpSpPr>
        <a:xfrm>
          <a:off x="0" y="0"/>
          <a:ext cx="0" cy="0"/>
          <a:chOff x="0" y="0"/>
          <a:chExt cx="0" cy="0"/>
        </a:xfrm>
      </p:grpSpPr>
      <p:pic>
        <p:nvPicPr>
          <p:cNvPr id="214" name="Google Shape;214;p96"/>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215" name="Google Shape;215;p96"/>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216" name="Google Shape;216;p96"/>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3E2622"/>
              </a:gs>
              <a:gs pos="10000">
                <a:srgbClr val="3E2622"/>
              </a:gs>
              <a:gs pos="100000">
                <a:srgbClr val="795547"/>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217" name="Google Shape;217;p96"/>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3E2622"/>
              </a:gs>
              <a:gs pos="10000">
                <a:srgbClr val="3E2622"/>
              </a:gs>
              <a:gs pos="100000">
                <a:srgbClr val="795547"/>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218" name="Google Shape;218;p96"/>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219" name="Google Shape;219;p96"/>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220" name="Google Shape;220;p96"/>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221" name="Google Shape;221;p96"/>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2" name="Google Shape;222;p96"/>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223" name="Google Shape;223;p96"/>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224" name="Google Shape;224;p96"/>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p96"/>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96"/>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96"/>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3E2622"/>
              </a:buClr>
              <a:buSzPts val="1800"/>
              <a:buNone/>
              <a:defRPr b="1" sz="1800">
                <a:solidFill>
                  <a:srgbClr val="3E2622"/>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28" name="Google Shape;228;p96"/>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229" name="Google Shape;229;p96"/>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230" name="Google Shape;230;p96"/>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231" name="Google Shape;231;p96"/>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232" name="Google Shape;232;p96"/>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Deep Puple">
  <p:cSld name="Title Slide - Deep Puple">
    <p:spTree>
      <p:nvGrpSpPr>
        <p:cNvPr id="233" name="Shape 233"/>
        <p:cNvGrpSpPr/>
        <p:nvPr/>
      </p:nvGrpSpPr>
      <p:grpSpPr>
        <a:xfrm>
          <a:off x="0" y="0"/>
          <a:ext cx="0" cy="0"/>
          <a:chOff x="0" y="0"/>
          <a:chExt cx="0" cy="0"/>
        </a:xfrm>
      </p:grpSpPr>
      <p:pic>
        <p:nvPicPr>
          <p:cNvPr id="234" name="Google Shape;234;p97"/>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235" name="Google Shape;235;p97"/>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236" name="Google Shape;236;p97"/>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301B92"/>
              </a:gs>
              <a:gs pos="10000">
                <a:srgbClr val="301B92"/>
              </a:gs>
              <a:gs pos="100000">
                <a:srgbClr val="673BB7"/>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237" name="Google Shape;237;p97"/>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301B92"/>
              </a:gs>
              <a:gs pos="10000">
                <a:srgbClr val="301B92"/>
              </a:gs>
              <a:gs pos="100000">
                <a:srgbClr val="673BB7"/>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238" name="Google Shape;238;p97"/>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239" name="Google Shape;239;p97"/>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240" name="Google Shape;240;p97"/>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241" name="Google Shape;241;p97"/>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42" name="Google Shape;242;p97"/>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243" name="Google Shape;243;p97"/>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244" name="Google Shape;244;p97"/>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97"/>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97"/>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 name="Google Shape;247;p97"/>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301B92"/>
              </a:buClr>
              <a:buSzPts val="1800"/>
              <a:buNone/>
              <a:defRPr b="1" sz="1800">
                <a:solidFill>
                  <a:srgbClr val="301B92"/>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48" name="Google Shape;248;p97"/>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249" name="Google Shape;249;p97"/>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250" name="Google Shape;250;p97"/>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251" name="Google Shape;251;p97"/>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252" name="Google Shape;252;p97"/>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Blue">
  <p:cSld name="Title Slide - Blue">
    <p:spTree>
      <p:nvGrpSpPr>
        <p:cNvPr id="253" name="Shape 253"/>
        <p:cNvGrpSpPr/>
        <p:nvPr/>
      </p:nvGrpSpPr>
      <p:grpSpPr>
        <a:xfrm>
          <a:off x="0" y="0"/>
          <a:ext cx="0" cy="0"/>
          <a:chOff x="0" y="0"/>
          <a:chExt cx="0" cy="0"/>
        </a:xfrm>
      </p:grpSpPr>
      <p:pic>
        <p:nvPicPr>
          <p:cNvPr id="254" name="Google Shape;254;p98"/>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255" name="Google Shape;255;p98"/>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256" name="Google Shape;256;p98"/>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0E47A1"/>
              </a:gs>
              <a:gs pos="10000">
                <a:srgbClr val="0E47A1"/>
              </a:gs>
              <a:gs pos="100000">
                <a:srgbClr val="03A9F5"/>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257" name="Google Shape;257;p98"/>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
                <a:srgbClr val="0E47A1"/>
              </a:gs>
              <a:gs pos="100000">
                <a:srgbClr val="03A9F5"/>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258" name="Google Shape;258;p98"/>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259" name="Google Shape;259;p98"/>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260" name="Google Shape;260;p98"/>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261" name="Google Shape;261;p98"/>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62" name="Google Shape;262;p98"/>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263" name="Google Shape;263;p98"/>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264" name="Google Shape;264;p98"/>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 name="Google Shape;265;p98"/>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98"/>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 name="Google Shape;267;p98"/>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0E47A1"/>
              </a:buClr>
              <a:buSzPts val="1800"/>
              <a:buNone/>
              <a:defRPr b="1" sz="1800">
                <a:solidFill>
                  <a:srgbClr val="0E47A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8" name="Google Shape;268;p98"/>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269" name="Google Shape;269;p98"/>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270" name="Google Shape;270;p98"/>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271" name="Google Shape;271;p98"/>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272" name="Google Shape;272;p98"/>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Red">
  <p:cSld name="Title Slide - Red">
    <p:spTree>
      <p:nvGrpSpPr>
        <p:cNvPr id="273" name="Shape 273"/>
        <p:cNvGrpSpPr/>
        <p:nvPr/>
      </p:nvGrpSpPr>
      <p:grpSpPr>
        <a:xfrm>
          <a:off x="0" y="0"/>
          <a:ext cx="0" cy="0"/>
          <a:chOff x="0" y="0"/>
          <a:chExt cx="0" cy="0"/>
        </a:xfrm>
      </p:grpSpPr>
      <p:pic>
        <p:nvPicPr>
          <p:cNvPr id="274" name="Google Shape;274;p99"/>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275" name="Google Shape;275;p99"/>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276" name="Google Shape;276;p99"/>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B71B1C"/>
              </a:gs>
              <a:gs pos="10000">
                <a:srgbClr val="B71B1C"/>
              </a:gs>
              <a:gs pos="100000">
                <a:srgbClr val="ED524F"/>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277" name="Google Shape;277;p99"/>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B71B1C"/>
              </a:gs>
              <a:gs pos="10000">
                <a:srgbClr val="B71B1C"/>
              </a:gs>
              <a:gs pos="100000">
                <a:srgbClr val="ED524F"/>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278" name="Google Shape;278;p99"/>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279" name="Google Shape;279;p99"/>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280" name="Google Shape;280;p99"/>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281" name="Google Shape;281;p99"/>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82" name="Google Shape;282;p99"/>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283" name="Google Shape;283;p99"/>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284" name="Google Shape;284;p99"/>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 name="Google Shape;285;p99"/>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99"/>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99"/>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B71B1C"/>
              </a:buClr>
              <a:buSzPts val="1800"/>
              <a:buNone/>
              <a:defRPr b="1" sz="1800">
                <a:solidFill>
                  <a:srgbClr val="B71B1C"/>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88" name="Google Shape;288;p99"/>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289" name="Google Shape;289;p99"/>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290" name="Google Shape;290;p99"/>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91" name="Google Shape;291;p99"/>
          <p:cNvPicPr preferRelativeResize="0"/>
          <p:nvPr/>
        </p:nvPicPr>
        <p:blipFill rotWithShape="1">
          <a:blip r:embed="rId9">
            <a:alphaModFix/>
          </a:blip>
          <a:srcRect b="18186" l="24746" r="25760" t="7575"/>
          <a:stretch/>
        </p:blipFill>
        <p:spPr>
          <a:xfrm>
            <a:off x="356499" y="5214354"/>
            <a:ext cx="1354234" cy="1354234"/>
          </a:xfrm>
          <a:custGeom>
            <a:rect b="b" l="l" r="r" t="t"/>
            <a:pathLst>
              <a:path extrusionOk="0" h="4572000" w="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cap="flat" cmpd="sng" w="9525">
            <a:solidFill>
              <a:srgbClr val="A5A5A5"/>
            </a:solidFill>
            <a:prstDash val="solid"/>
            <a:round/>
            <a:headEnd len="sm" w="sm" type="none"/>
            <a:tailEnd len="sm" w="sm" type="none"/>
          </a:ln>
        </p:spPr>
      </p:pic>
      <p:pic>
        <p:nvPicPr>
          <p:cNvPr descr="User icon Royalty Free Vector Image - VectorStock" id="292" name="Google Shape;292;p99"/>
          <p:cNvPicPr preferRelativeResize="0"/>
          <p:nvPr/>
        </p:nvPicPr>
        <p:blipFill rotWithShape="1">
          <a:blip r:embed="rId10">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293" name="Google Shape;293;p99"/>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Pink">
  <p:cSld name="Title Slide - Pink">
    <p:spTree>
      <p:nvGrpSpPr>
        <p:cNvPr id="294" name="Shape 294"/>
        <p:cNvGrpSpPr/>
        <p:nvPr/>
      </p:nvGrpSpPr>
      <p:grpSpPr>
        <a:xfrm>
          <a:off x="0" y="0"/>
          <a:ext cx="0" cy="0"/>
          <a:chOff x="0" y="0"/>
          <a:chExt cx="0" cy="0"/>
        </a:xfrm>
      </p:grpSpPr>
      <p:pic>
        <p:nvPicPr>
          <p:cNvPr id="295" name="Google Shape;295;p100"/>
          <p:cNvPicPr preferRelativeResize="0"/>
          <p:nvPr/>
        </p:nvPicPr>
        <p:blipFill rotWithShape="1">
          <a:blip r:embed="rId2">
            <a:alphaModFix/>
          </a:blip>
          <a:srcRect b="24999" l="0" r="0" t="18750"/>
          <a:stretch/>
        </p:blipFill>
        <p:spPr>
          <a:xfrm>
            <a:off x="0" y="0"/>
            <a:ext cx="12192000" cy="6858000"/>
          </a:xfrm>
          <a:prstGeom prst="rect">
            <a:avLst/>
          </a:prstGeom>
          <a:noFill/>
          <a:ln>
            <a:noFill/>
          </a:ln>
        </p:spPr>
      </p:pic>
      <p:sp>
        <p:nvSpPr>
          <p:cNvPr id="296" name="Google Shape;296;p100"/>
          <p:cNvSpPr txBox="1"/>
          <p:nvPr/>
        </p:nvSpPr>
        <p:spPr>
          <a:xfrm>
            <a:off x="1837677" y="5802204"/>
            <a:ext cx="451437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Darshan Institute of Engineering &amp; Technology, Rajkot</a:t>
            </a:r>
            <a:endParaRPr/>
          </a:p>
        </p:txBody>
      </p:sp>
      <p:sp>
        <p:nvSpPr>
          <p:cNvPr id="297" name="Google Shape;297;p100"/>
          <p:cNvSpPr/>
          <p:nvPr/>
        </p:nvSpPr>
        <p:spPr>
          <a:xfrm>
            <a:off x="2554514" y="1"/>
            <a:ext cx="5255702" cy="1335004"/>
          </a:xfrm>
          <a:custGeom>
            <a:rect b="b" l="l" r="r" t="t"/>
            <a:pathLst>
              <a:path extrusionOk="0" h="517" w="2048">
                <a:moveTo>
                  <a:pt x="2048" y="0"/>
                </a:moveTo>
                <a:cubicBezTo>
                  <a:pt x="2011" y="25"/>
                  <a:pt x="1973" y="49"/>
                  <a:pt x="1934" y="72"/>
                </a:cubicBezTo>
                <a:cubicBezTo>
                  <a:pt x="1177" y="517"/>
                  <a:pt x="332" y="480"/>
                  <a:pt x="0" y="0"/>
                </a:cubicBezTo>
                <a:lnTo>
                  <a:pt x="2048" y="0"/>
                </a:lnTo>
                <a:close/>
              </a:path>
            </a:pathLst>
          </a:custGeom>
          <a:gradFill>
            <a:gsLst>
              <a:gs pos="0">
                <a:srgbClr val="890E4F"/>
              </a:gs>
              <a:gs pos="10000">
                <a:srgbClr val="890E4F"/>
              </a:gs>
              <a:gs pos="100000">
                <a:srgbClr val="D81A60"/>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298" name="Google Shape;298;p100"/>
          <p:cNvSpPr/>
          <p:nvPr/>
        </p:nvSpPr>
        <p:spPr>
          <a:xfrm>
            <a:off x="0" y="5905331"/>
            <a:ext cx="1901425" cy="952668"/>
          </a:xfrm>
          <a:custGeom>
            <a:rect b="b" l="l" r="r" t="t"/>
            <a:pathLst>
              <a:path extrusionOk="0" h="1024" w="2048">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890E4F"/>
              </a:gs>
              <a:gs pos="10000">
                <a:srgbClr val="890E4F"/>
              </a:gs>
              <a:gs pos="100000">
                <a:srgbClr val="D81A60"/>
              </a:gs>
            </a:gsLst>
            <a:lin ang="108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pic>
        <p:nvPicPr>
          <p:cNvPr id="299" name="Google Shape;299;p100"/>
          <p:cNvPicPr preferRelativeResize="0"/>
          <p:nvPr/>
        </p:nvPicPr>
        <p:blipFill rotWithShape="1">
          <a:blip r:embed="rId3">
            <a:alphaModFix/>
          </a:blip>
          <a:srcRect b="0" l="0" r="0" t="0"/>
          <a:stretch/>
        </p:blipFill>
        <p:spPr>
          <a:xfrm>
            <a:off x="8808334" y="4602222"/>
            <a:ext cx="3383666" cy="2255777"/>
          </a:xfrm>
          <a:prstGeom prst="rect">
            <a:avLst/>
          </a:prstGeom>
          <a:noFill/>
          <a:ln>
            <a:noFill/>
          </a:ln>
        </p:spPr>
      </p:pic>
      <p:pic>
        <p:nvPicPr>
          <p:cNvPr id="300" name="Google Shape;300;p100"/>
          <p:cNvPicPr preferRelativeResize="0"/>
          <p:nvPr/>
        </p:nvPicPr>
        <p:blipFill rotWithShape="1">
          <a:blip r:embed="rId4">
            <a:alphaModFix/>
          </a:blip>
          <a:srcRect b="0" l="0" r="0" t="0"/>
          <a:stretch/>
        </p:blipFill>
        <p:spPr>
          <a:xfrm>
            <a:off x="8440861" y="2096941"/>
            <a:ext cx="2813885" cy="2119207"/>
          </a:xfrm>
          <a:prstGeom prst="rect">
            <a:avLst/>
          </a:prstGeom>
          <a:noFill/>
          <a:ln>
            <a:noFill/>
          </a:ln>
        </p:spPr>
      </p:pic>
      <p:cxnSp>
        <p:nvCxnSpPr>
          <p:cNvPr id="301" name="Google Shape;301;p100"/>
          <p:cNvCxnSpPr/>
          <p:nvPr/>
        </p:nvCxnSpPr>
        <p:spPr>
          <a:xfrm>
            <a:off x="1926694" y="6124097"/>
            <a:ext cx="4356000" cy="0"/>
          </a:xfrm>
          <a:prstGeom prst="straightConnector1">
            <a:avLst/>
          </a:prstGeom>
          <a:noFill/>
          <a:ln cap="flat" cmpd="sng" w="9525">
            <a:solidFill>
              <a:srgbClr val="A5A5A5"/>
            </a:solidFill>
            <a:prstDash val="solid"/>
            <a:miter lim="800000"/>
            <a:headEnd len="sm" w="sm" type="none"/>
            <a:tailEnd len="sm" w="sm" type="none"/>
          </a:ln>
        </p:spPr>
      </p:cxnSp>
      <p:sp>
        <p:nvSpPr>
          <p:cNvPr id="302" name="Google Shape;302;p100"/>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03" name="Google Shape;303;p100"/>
          <p:cNvPicPr preferRelativeResize="0"/>
          <p:nvPr/>
        </p:nvPicPr>
        <p:blipFill rotWithShape="1">
          <a:blip r:embed="rId5">
            <a:alphaModFix/>
          </a:blip>
          <a:srcRect b="0" l="0" r="0" t="0"/>
          <a:stretch/>
        </p:blipFill>
        <p:spPr>
          <a:xfrm>
            <a:off x="1998063" y="6232297"/>
            <a:ext cx="182880" cy="182880"/>
          </a:xfrm>
          <a:prstGeom prst="rect">
            <a:avLst/>
          </a:prstGeom>
          <a:noFill/>
          <a:ln>
            <a:noFill/>
          </a:ln>
        </p:spPr>
      </p:pic>
      <p:pic>
        <p:nvPicPr>
          <p:cNvPr id="304" name="Google Shape;304;p100"/>
          <p:cNvPicPr preferRelativeResize="0"/>
          <p:nvPr/>
        </p:nvPicPr>
        <p:blipFill rotWithShape="1">
          <a:blip r:embed="rId6">
            <a:alphaModFix/>
          </a:blip>
          <a:srcRect b="0" l="0" r="0" t="0"/>
          <a:stretch/>
        </p:blipFill>
        <p:spPr>
          <a:xfrm>
            <a:off x="1998063" y="6505320"/>
            <a:ext cx="182880" cy="182880"/>
          </a:xfrm>
          <a:prstGeom prst="rect">
            <a:avLst/>
          </a:prstGeom>
          <a:noFill/>
          <a:ln>
            <a:noFill/>
          </a:ln>
        </p:spPr>
      </p:pic>
      <p:sp>
        <p:nvSpPr>
          <p:cNvPr id="305" name="Google Shape;305;p100"/>
          <p:cNvSpPr txBox="1"/>
          <p:nvPr>
            <p:ph idx="1" type="body"/>
          </p:nvPr>
        </p:nvSpPr>
        <p:spPr>
          <a:xfrm>
            <a:off x="2180943" y="6175935"/>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 name="Google Shape;306;p100"/>
          <p:cNvSpPr txBox="1"/>
          <p:nvPr>
            <p:ph idx="2" type="body"/>
          </p:nvPr>
        </p:nvSpPr>
        <p:spPr>
          <a:xfrm>
            <a:off x="2183874" y="646021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b="0" sz="1600">
                <a:solidFill>
                  <a:schemeClr val="dk1"/>
                </a:solidFill>
                <a:latin typeface="Roboto Condensed Light"/>
                <a:ea typeface="Roboto Condensed Light"/>
                <a:cs typeface="Roboto Condensed Light"/>
                <a:sym typeface="Roboto Condensed Light"/>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 name="Google Shape;307;p100"/>
          <p:cNvSpPr txBox="1"/>
          <p:nvPr>
            <p:ph idx="3" type="body"/>
          </p:nvPr>
        </p:nvSpPr>
        <p:spPr>
          <a:xfrm>
            <a:off x="1837678" y="5537768"/>
            <a:ext cx="3735998"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dk1"/>
              </a:buClr>
              <a:buSzPts val="1600"/>
              <a:buNone/>
              <a:defRPr sz="1600">
                <a:solidFill>
                  <a:schemeClr val="dk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 name="Google Shape;308;p100"/>
          <p:cNvSpPr txBox="1"/>
          <p:nvPr>
            <p:ph idx="4" type="body"/>
          </p:nvPr>
        </p:nvSpPr>
        <p:spPr>
          <a:xfrm>
            <a:off x="1837677" y="5273332"/>
            <a:ext cx="5581039" cy="290081"/>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rgbClr val="890E4F"/>
              </a:buClr>
              <a:buSzPts val="1800"/>
              <a:buNone/>
              <a:defRPr b="1" sz="1800">
                <a:solidFill>
                  <a:srgbClr val="890E4F"/>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09" name="Google Shape;309;p100"/>
          <p:cNvPicPr preferRelativeResize="0"/>
          <p:nvPr/>
        </p:nvPicPr>
        <p:blipFill rotWithShape="1">
          <a:blip r:embed="rId7">
            <a:alphaModFix/>
          </a:blip>
          <a:srcRect b="0" l="0" r="0" t="0"/>
          <a:stretch/>
        </p:blipFill>
        <p:spPr>
          <a:xfrm>
            <a:off x="8295842" y="307556"/>
            <a:ext cx="3573889" cy="821995"/>
          </a:xfrm>
          <a:prstGeom prst="rect">
            <a:avLst/>
          </a:prstGeom>
          <a:noFill/>
          <a:ln>
            <a:noFill/>
          </a:ln>
        </p:spPr>
      </p:pic>
      <p:pic>
        <p:nvPicPr>
          <p:cNvPr id="310" name="Google Shape;310;p100"/>
          <p:cNvPicPr preferRelativeResize="0"/>
          <p:nvPr/>
        </p:nvPicPr>
        <p:blipFill rotWithShape="1">
          <a:blip r:embed="rId8">
            <a:alphaModFix/>
          </a:blip>
          <a:srcRect b="17724" l="62022" r="2731" t="18062"/>
          <a:stretch/>
        </p:blipFill>
        <p:spPr>
          <a:xfrm>
            <a:off x="63248" y="837717"/>
            <a:ext cx="1087893" cy="772151"/>
          </a:xfrm>
          <a:prstGeom prst="rect">
            <a:avLst/>
          </a:prstGeom>
          <a:noFill/>
          <a:ln>
            <a:noFill/>
          </a:ln>
        </p:spPr>
      </p:pic>
      <p:sp>
        <p:nvSpPr>
          <p:cNvPr id="311" name="Google Shape;311;p100"/>
          <p:cNvSpPr txBox="1"/>
          <p:nvPr>
            <p:ph idx="5" type="body"/>
          </p:nvPr>
        </p:nvSpPr>
        <p:spPr>
          <a:xfrm>
            <a:off x="2581756" y="20384"/>
            <a:ext cx="4646358" cy="734653"/>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0"/>
              </a:spcBef>
              <a:spcAft>
                <a:spcPts val="0"/>
              </a:spcAft>
              <a:buClr>
                <a:schemeClr val="lt1"/>
              </a:buClr>
              <a:buSzPts val="1800"/>
              <a:buNone/>
              <a:defRPr b="0" sz="1800">
                <a:solidFill>
                  <a:schemeClr val="lt1"/>
                </a:solidFill>
                <a:latin typeface="Roboto Condensed"/>
                <a:ea typeface="Roboto Condensed"/>
                <a:cs typeface="Roboto Condensed"/>
                <a:sym typeface="Roboto Condense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User icon Royalty Free Vector Image - VectorStock" id="312" name="Google Shape;312;p100"/>
          <p:cNvPicPr preferRelativeResize="0"/>
          <p:nvPr/>
        </p:nvPicPr>
        <p:blipFill rotWithShape="1">
          <a:blip r:embed="rId9">
            <a:alphaModFix/>
          </a:blip>
          <a:srcRect b="34222" l="26030" r="26030" t="21389"/>
          <a:stretch/>
        </p:blipFill>
        <p:spPr>
          <a:xfrm>
            <a:off x="353568" y="5211250"/>
            <a:ext cx="1353600" cy="1353600"/>
          </a:xfrm>
          <a:custGeom>
            <a:rect b="b" l="l" r="r" t="t"/>
            <a:pathLst>
              <a:path extrusionOk="0" h="3044190" w="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cap="flat" cmpd="sng" w="12700">
            <a:solidFill>
              <a:srgbClr val="BFBFBF"/>
            </a:solidFill>
            <a:prstDash val="solid"/>
            <a:round/>
            <a:headEnd len="sm" w="sm" type="none"/>
            <a:tailEnd len="sm" w="sm" type="none"/>
          </a:ln>
        </p:spPr>
      </p:pic>
      <p:sp>
        <p:nvSpPr>
          <p:cNvPr id="313" name="Google Shape;313;p100"/>
          <p:cNvSpPr/>
          <p:nvPr>
            <p:ph idx="6" type="pic"/>
          </p:nvPr>
        </p:nvSpPr>
        <p:spPr>
          <a:xfrm>
            <a:off x="353569" y="5211251"/>
            <a:ext cx="1353599" cy="1353599"/>
          </a:xfrm>
          <a:prstGeom prst="rect">
            <a:avLst/>
          </a:prstGeom>
          <a:noFill/>
          <a:ln cap="flat" cmpd="sng" w="9525">
            <a:solidFill>
              <a:srgbClr val="A5A5A5"/>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Roboto Condensed"/>
              <a:buNone/>
              <a:defRPr b="0" i="0" sz="4400" u="none" cap="none" strike="noStrike">
                <a:solidFill>
                  <a:schemeClr val="dk1"/>
                </a:solidFill>
                <a:latin typeface="Roboto Condensed"/>
                <a:ea typeface="Roboto Condensed"/>
                <a:cs typeface="Roboto Condensed"/>
                <a:sym typeface="Roboto Condense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Condensed"/>
                <a:ea typeface="Roboto Condensed"/>
                <a:cs typeface="Roboto Condensed"/>
                <a:sym typeface="Roboto Condense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Condensed"/>
                <a:ea typeface="Roboto Condensed"/>
                <a:cs typeface="Roboto Condensed"/>
                <a:sym typeface="Roboto Condense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Condensed"/>
                <a:ea typeface="Roboto Condensed"/>
                <a:cs typeface="Roboto Condensed"/>
                <a:sym typeface="Roboto Condense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5.jpg"/><Relationship Id="rId4" Type="http://schemas.openxmlformats.org/officeDocument/2006/relationships/image" Target="../media/image23.png"/><Relationship Id="rId5"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1.jpg"/><Relationship Id="rId4" Type="http://schemas.openxmlformats.org/officeDocument/2006/relationships/image" Target="../media/image29.jpg"/><Relationship Id="rId5" Type="http://schemas.openxmlformats.org/officeDocument/2006/relationships/image" Target="../media/image3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1.jpg"/><Relationship Id="rId4" Type="http://schemas.openxmlformats.org/officeDocument/2006/relationships/image" Target="../media/image29.jpg"/><Relationship Id="rId5" Type="http://schemas.openxmlformats.org/officeDocument/2006/relationships/image" Target="../media/image30.jpg"/><Relationship Id="rId6" Type="http://schemas.openxmlformats.org/officeDocument/2006/relationships/image" Target="../media/image3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jpg"/><Relationship Id="rId4" Type="http://schemas.openxmlformats.org/officeDocument/2006/relationships/image" Target="../media/image29.jpg"/><Relationship Id="rId5" Type="http://schemas.openxmlformats.org/officeDocument/2006/relationships/image" Target="../media/image3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1.jpg"/><Relationship Id="rId4" Type="http://schemas.openxmlformats.org/officeDocument/2006/relationships/image" Target="../media/image29.jpg"/><Relationship Id="rId5" Type="http://schemas.openxmlformats.org/officeDocument/2006/relationships/image" Target="../media/image35.jpg"/><Relationship Id="rId6" Type="http://schemas.openxmlformats.org/officeDocument/2006/relationships/image" Target="../media/image33.jpg"/><Relationship Id="rId7" Type="http://schemas.openxmlformats.org/officeDocument/2006/relationships/image" Target="../media/image3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cxnSp>
        <p:nvCxnSpPr>
          <p:cNvPr id="318" name="Google Shape;318;p2"/>
          <p:cNvCxnSpPr>
            <a:endCxn id="319" idx="0"/>
          </p:cNvCxnSpPr>
          <p:nvPr/>
        </p:nvCxnSpPr>
        <p:spPr>
          <a:xfrm>
            <a:off x="1191446" y="106"/>
            <a:ext cx="0" cy="682800"/>
          </a:xfrm>
          <a:prstGeom prst="straightConnector1">
            <a:avLst/>
          </a:prstGeom>
          <a:noFill/>
          <a:ln cap="flat" cmpd="sng" w="9525">
            <a:solidFill>
              <a:srgbClr val="A5A5A5"/>
            </a:solidFill>
            <a:prstDash val="solid"/>
            <a:miter lim="800000"/>
            <a:headEnd len="sm" w="sm" type="none"/>
            <a:tailEnd len="sm" w="sm" type="none"/>
          </a:ln>
        </p:spPr>
      </p:cxnSp>
      <p:cxnSp>
        <p:nvCxnSpPr>
          <p:cNvPr id="320" name="Google Shape;320;p2"/>
          <p:cNvCxnSpPr/>
          <p:nvPr/>
        </p:nvCxnSpPr>
        <p:spPr>
          <a:xfrm>
            <a:off x="1191446" y="5063613"/>
            <a:ext cx="0" cy="1794387"/>
          </a:xfrm>
          <a:prstGeom prst="straightConnector1">
            <a:avLst/>
          </a:prstGeom>
          <a:noFill/>
          <a:ln cap="flat" cmpd="sng" w="9525">
            <a:solidFill>
              <a:srgbClr val="A5A5A5"/>
            </a:solidFill>
            <a:prstDash val="solid"/>
            <a:miter lim="800000"/>
            <a:headEnd len="sm" w="sm" type="none"/>
            <a:tailEnd len="sm" w="sm" type="none"/>
          </a:ln>
        </p:spPr>
      </p:cxnSp>
      <p:sp>
        <p:nvSpPr>
          <p:cNvPr id="319" name="Google Shape;319;p2"/>
          <p:cNvSpPr/>
          <p:nvPr/>
        </p:nvSpPr>
        <p:spPr>
          <a:xfrm>
            <a:off x="954165" y="682906"/>
            <a:ext cx="474562" cy="474562"/>
          </a:xfrm>
          <a:prstGeom prst="ellipse">
            <a:avLst/>
          </a:prstGeom>
          <a:solidFill>
            <a:schemeClr val="accent3"/>
          </a:solidFill>
          <a:ln cap="flat" cmpd="sng" w="127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Roboto Condensed"/>
                <a:ea typeface="Roboto Condensed"/>
                <a:cs typeface="Roboto Condensed"/>
                <a:sym typeface="Roboto Condensed"/>
              </a:rPr>
              <a:t>✓</a:t>
            </a:r>
            <a:endParaRPr sz="2800">
              <a:solidFill>
                <a:schemeClr val="lt1"/>
              </a:solidFill>
              <a:latin typeface="Roboto Condensed"/>
              <a:ea typeface="Roboto Condensed"/>
              <a:cs typeface="Roboto Condensed"/>
              <a:sym typeface="Roboto Condensed"/>
            </a:endParaRPr>
          </a:p>
        </p:txBody>
      </p:sp>
      <p:sp>
        <p:nvSpPr>
          <p:cNvPr id="321" name="Google Shape;321;p2"/>
          <p:cNvSpPr txBox="1"/>
          <p:nvPr/>
        </p:nvSpPr>
        <p:spPr>
          <a:xfrm>
            <a:off x="1527893" y="720132"/>
            <a:ext cx="117532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Roboto Condensed"/>
                <a:ea typeface="Roboto Condensed"/>
                <a:cs typeface="Roboto Condensed"/>
                <a:sym typeface="Roboto Condensed"/>
              </a:rPr>
              <a:t>Looping</a:t>
            </a:r>
            <a:endParaRPr/>
          </a:p>
        </p:txBody>
      </p:sp>
      <p:cxnSp>
        <p:nvCxnSpPr>
          <p:cNvPr id="322" name="Google Shape;322;p2"/>
          <p:cNvCxnSpPr/>
          <p:nvPr/>
        </p:nvCxnSpPr>
        <p:spPr>
          <a:xfrm>
            <a:off x="1191446" y="1157468"/>
            <a:ext cx="0" cy="3979075"/>
          </a:xfrm>
          <a:prstGeom prst="straightConnector1">
            <a:avLst/>
          </a:prstGeom>
          <a:noFill/>
          <a:ln cap="flat" cmpd="sng" w="9525">
            <a:solidFill>
              <a:srgbClr val="A5A5A5"/>
            </a:solidFill>
            <a:prstDash val="solid"/>
            <a:miter lim="800000"/>
            <a:headEnd len="sm" w="sm" type="none"/>
            <a:tailEnd len="sm" w="sm" type="none"/>
          </a:ln>
        </p:spPr>
      </p:cxnSp>
      <p:sp>
        <p:nvSpPr>
          <p:cNvPr id="323" name="Google Shape;323;p2"/>
          <p:cNvSpPr txBox="1"/>
          <p:nvPr/>
        </p:nvSpPr>
        <p:spPr>
          <a:xfrm>
            <a:off x="1458962" y="731706"/>
            <a:ext cx="6824426"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Roboto Condensed"/>
                <a:ea typeface="Roboto Condensed"/>
                <a:cs typeface="Roboto Condensed"/>
                <a:sym typeface="Roboto Condensed"/>
              </a:rPr>
              <a:t>Outline</a:t>
            </a:r>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Basic concept of E-R diagram</a:t>
            </a:r>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Types of Attributes</a:t>
            </a:r>
            <a:endParaRPr b="0" i="0" sz="2400" u="none" cap="none" strike="noStrike">
              <a:solidFill>
                <a:srgbClr val="7F7F7F"/>
              </a:solidFill>
              <a:latin typeface="Roboto Condensed"/>
              <a:ea typeface="Roboto Condensed"/>
              <a:cs typeface="Roboto Condensed"/>
              <a:sym typeface="Roboto Condensed"/>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Mapping Cardinality</a:t>
            </a:r>
            <a:endParaRPr b="0" i="0" sz="2400" u="none" cap="none" strike="noStrike">
              <a:solidFill>
                <a:srgbClr val="7F7F7F"/>
              </a:solidFill>
              <a:latin typeface="Roboto Condensed"/>
              <a:ea typeface="Roboto Condensed"/>
              <a:cs typeface="Roboto Condensed"/>
              <a:sym typeface="Roboto Condensed"/>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Weak Entity Sets</a:t>
            </a:r>
            <a:endParaRPr b="0" i="0" sz="2400" u="none" cap="none" strike="noStrike">
              <a:solidFill>
                <a:srgbClr val="7F7F7F"/>
              </a:solidFill>
              <a:latin typeface="Roboto Condensed"/>
              <a:ea typeface="Roboto Condensed"/>
              <a:cs typeface="Roboto Condensed"/>
              <a:sym typeface="Roboto Condensed"/>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Extended E-R features </a:t>
            </a:r>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Generalization and Specialization</a:t>
            </a:r>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Constraints on Specialization and Generalization</a:t>
            </a:r>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Aggregation</a:t>
            </a:r>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E-R diagram of Hospital Management  System</a:t>
            </a:r>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Reduction to E-R Database Schema</a:t>
            </a:r>
            <a:endParaRPr b="0" i="0" sz="2400" u="none" cap="none" strike="noStrike">
              <a:solidFill>
                <a:srgbClr val="7F7F7F"/>
              </a:solidFill>
              <a:latin typeface="Roboto Condensed"/>
              <a:ea typeface="Roboto Condensed"/>
              <a:cs typeface="Roboto Condensed"/>
              <a:sym typeface="Roboto Condensed"/>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Database Models</a:t>
            </a:r>
            <a:endParaRPr b="0" i="0" sz="2400" u="none" cap="none" strike="noStrike">
              <a:solidFill>
                <a:srgbClr val="7F7F7F"/>
              </a:solidFill>
              <a:latin typeface="Roboto Condensed"/>
              <a:ea typeface="Roboto Condensed"/>
              <a:cs typeface="Roboto Condensed"/>
              <a:sym typeface="Roboto Condensed"/>
            </a:endParaRPr>
          </a:p>
          <a:p>
            <a:pPr indent="-285750" lvl="1" marL="742950" marR="0" rtl="0" algn="l">
              <a:spcBef>
                <a:spcPts val="0"/>
              </a:spcBef>
              <a:spcAft>
                <a:spcPts val="0"/>
              </a:spcAft>
              <a:buClr>
                <a:srgbClr val="7F7F7F"/>
              </a:buClr>
              <a:buSzPts val="2400"/>
              <a:buFont typeface="Arial"/>
              <a:buChar char="•"/>
            </a:pPr>
            <a:r>
              <a:rPr b="0" i="0" lang="en-US" sz="2400" u="none" cap="none" strike="noStrike">
                <a:solidFill>
                  <a:srgbClr val="7F7F7F"/>
                </a:solidFill>
                <a:latin typeface="Roboto Condensed"/>
                <a:ea typeface="Roboto Condensed"/>
                <a:cs typeface="Roboto Condensed"/>
                <a:sym typeface="Roboto Condensed"/>
              </a:rPr>
              <a:t>Integrity Constraints</a:t>
            </a:r>
            <a:endParaRPr b="0" i="0" sz="2400" u="none" cap="none" strike="noStrike">
              <a:solidFill>
                <a:srgbClr val="7F7F7F"/>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Effect filter="fade" transition="in">
                                      <p:cBhvr>
                                        <p:cTn dur="500"/>
                                        <p:tgtEl>
                                          <p:spTgt spid="32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animEffect filter="fade" transition="in">
                                      <p:cBhvr>
                                        <p:cTn dur="500"/>
                                        <p:tgtEl>
                                          <p:spTgt spid="32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animEffect filter="fade" transition="in">
                                      <p:cBhvr>
                                        <p:cTn dur="500"/>
                                        <p:tgtEl>
                                          <p:spTgt spid="32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3" st="3"/>
                                            </p:txEl>
                                          </p:spTgt>
                                        </p:tgtEl>
                                        <p:attrNameLst>
                                          <p:attrName>style.visibility</p:attrName>
                                        </p:attrNameLst>
                                      </p:cBhvr>
                                      <p:to>
                                        <p:strVal val="visible"/>
                                      </p:to>
                                    </p:set>
                                    <p:animEffect filter="fade" transition="in">
                                      <p:cBhvr>
                                        <p:cTn dur="500"/>
                                        <p:tgtEl>
                                          <p:spTgt spid="32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4" st="4"/>
                                            </p:txEl>
                                          </p:spTgt>
                                        </p:tgtEl>
                                        <p:attrNameLst>
                                          <p:attrName>style.visibility</p:attrName>
                                        </p:attrNameLst>
                                      </p:cBhvr>
                                      <p:to>
                                        <p:strVal val="visible"/>
                                      </p:to>
                                    </p:set>
                                    <p:animEffect filter="fade" transition="in">
                                      <p:cBhvr>
                                        <p:cTn dur="500"/>
                                        <p:tgtEl>
                                          <p:spTgt spid="32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5" st="5"/>
                                            </p:txEl>
                                          </p:spTgt>
                                        </p:tgtEl>
                                        <p:attrNameLst>
                                          <p:attrName>style.visibility</p:attrName>
                                        </p:attrNameLst>
                                      </p:cBhvr>
                                      <p:to>
                                        <p:strVal val="visible"/>
                                      </p:to>
                                    </p:set>
                                    <p:animEffect filter="fade" transition="in">
                                      <p:cBhvr>
                                        <p:cTn dur="500"/>
                                        <p:tgtEl>
                                          <p:spTgt spid="32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6" st="6"/>
                                            </p:txEl>
                                          </p:spTgt>
                                        </p:tgtEl>
                                        <p:attrNameLst>
                                          <p:attrName>style.visibility</p:attrName>
                                        </p:attrNameLst>
                                      </p:cBhvr>
                                      <p:to>
                                        <p:strVal val="visible"/>
                                      </p:to>
                                    </p:set>
                                    <p:animEffect filter="fade" transition="in">
                                      <p:cBhvr>
                                        <p:cTn dur="500"/>
                                        <p:tgtEl>
                                          <p:spTgt spid="32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7" st="7"/>
                                            </p:txEl>
                                          </p:spTgt>
                                        </p:tgtEl>
                                        <p:attrNameLst>
                                          <p:attrName>style.visibility</p:attrName>
                                        </p:attrNameLst>
                                      </p:cBhvr>
                                      <p:to>
                                        <p:strVal val="visible"/>
                                      </p:to>
                                    </p:set>
                                    <p:animEffect filter="fade" transition="in">
                                      <p:cBhvr>
                                        <p:cTn dur="500"/>
                                        <p:tgtEl>
                                          <p:spTgt spid="32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8" st="8"/>
                                            </p:txEl>
                                          </p:spTgt>
                                        </p:tgtEl>
                                        <p:attrNameLst>
                                          <p:attrName>style.visibility</p:attrName>
                                        </p:attrNameLst>
                                      </p:cBhvr>
                                      <p:to>
                                        <p:strVal val="visible"/>
                                      </p:to>
                                    </p:set>
                                    <p:animEffect filter="fade" transition="in">
                                      <p:cBhvr>
                                        <p:cTn dur="500"/>
                                        <p:tgtEl>
                                          <p:spTgt spid="32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9" st="9"/>
                                            </p:txEl>
                                          </p:spTgt>
                                        </p:tgtEl>
                                        <p:attrNameLst>
                                          <p:attrName>style.visibility</p:attrName>
                                        </p:attrNameLst>
                                      </p:cBhvr>
                                      <p:to>
                                        <p:strVal val="visible"/>
                                      </p:to>
                                    </p:set>
                                    <p:animEffect filter="fade" transition="in">
                                      <p:cBhvr>
                                        <p:cTn dur="500"/>
                                        <p:tgtEl>
                                          <p:spTgt spid="323">
                                            <p:txEl>
                                              <p:pRg end="9" st="9"/>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10" st="10"/>
                                            </p:txEl>
                                          </p:spTgt>
                                        </p:tgtEl>
                                        <p:attrNameLst>
                                          <p:attrName>style.visibility</p:attrName>
                                        </p:attrNameLst>
                                      </p:cBhvr>
                                      <p:to>
                                        <p:strVal val="visible"/>
                                      </p:to>
                                    </p:set>
                                    <p:animEffect filter="fade" transition="in">
                                      <p:cBhvr>
                                        <p:cTn dur="500"/>
                                        <p:tgtEl>
                                          <p:spTgt spid="323">
                                            <p:txEl>
                                              <p:pRg end="10" st="1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11" st="11"/>
                                            </p:txEl>
                                          </p:spTgt>
                                        </p:tgtEl>
                                        <p:attrNameLst>
                                          <p:attrName>style.visibility</p:attrName>
                                        </p:attrNameLst>
                                      </p:cBhvr>
                                      <p:to>
                                        <p:strVal val="visible"/>
                                      </p:to>
                                    </p:set>
                                    <p:animEffect filter="fade" transition="in">
                                      <p:cBhvr>
                                        <p:cTn dur="500"/>
                                        <p:tgtEl>
                                          <p:spTgt spid="323">
                                            <p:txEl>
                                              <p:pRg end="11" st="1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23">
                                            <p:txEl>
                                              <p:pRg end="12" st="12"/>
                                            </p:txEl>
                                          </p:spTgt>
                                        </p:tgtEl>
                                        <p:attrNameLst>
                                          <p:attrName>style.visibility</p:attrName>
                                        </p:attrNameLst>
                                      </p:cBhvr>
                                      <p:to>
                                        <p:strVal val="visible"/>
                                      </p:to>
                                    </p:set>
                                    <p:animEffect filter="fade" transition="in">
                                      <p:cBhvr>
                                        <p:cTn dur="500"/>
                                        <p:tgtEl>
                                          <p:spTgt spid="323">
                                            <p:txEl>
                                              <p:pRg end="12" st="12"/>
                                            </p:txEl>
                                          </p:spTgt>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500"/>
                                        <p:tgtEl>
                                          <p:spTgt spid="319"/>
                                        </p:tgtEl>
                                        <p:attrNameLst>
                                          <p:attrName>ppt_w</p:attrName>
                                        </p:attrNameLst>
                                      </p:cBhvr>
                                      <p:tavLst>
                                        <p:tav fmla="" tm="0">
                                          <p:val>
                                            <p:strVal val="0"/>
                                          </p:val>
                                        </p:tav>
                                        <p:tav fmla="" tm="100000">
                                          <p:val>
                                            <p:strVal val="#ppt_w"/>
                                          </p:val>
                                        </p:tav>
                                      </p:tavLst>
                                    </p:anim>
                                    <p:anim calcmode="lin" valueType="num">
                                      <p:cBhvr additive="base">
                                        <p:cTn dur="500"/>
                                        <p:tgtEl>
                                          <p:spTgt spid="31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par>
                          <p:cTn fill="hold">
                            <p:stCondLst>
                              <p:cond delay="1501"/>
                            </p:stCondLst>
                            <p:childTnLst>
                              <p:par>
                                <p:cTn fill="hold" nodeType="after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Basic concept of E-R diagram </a:t>
            </a:r>
            <a:endParaRPr>
              <a:solidFill>
                <a:srgbClr val="5C2321"/>
              </a:solidFill>
            </a:endParaRPr>
          </a:p>
        </p:txBody>
      </p:sp>
      <p:sp>
        <p:nvSpPr>
          <p:cNvPr id="329" name="Google Shape;329;p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- 1</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Basic concepts</a:t>
            </a:r>
            <a:endParaRPr/>
          </a:p>
        </p:txBody>
      </p:sp>
      <p:sp>
        <p:nvSpPr>
          <p:cNvPr id="335" name="Google Shape;335;p4"/>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What is Database Design? </a:t>
            </a:r>
            <a:endParaRPr/>
          </a:p>
          <a:p>
            <a:pPr indent="-352425" lvl="1" marL="809625" rtl="0" algn="just">
              <a:lnSpc>
                <a:spcPct val="90000"/>
              </a:lnSpc>
              <a:spcBef>
                <a:spcPts val="500"/>
              </a:spcBef>
              <a:spcAft>
                <a:spcPts val="0"/>
              </a:spcAft>
              <a:buSzPts val="2000"/>
              <a:buChar char="⮩"/>
            </a:pPr>
            <a:r>
              <a:rPr lang="en-US"/>
              <a:t>Database Design is a collection of processes that facilitate the </a:t>
            </a:r>
            <a:r>
              <a:rPr b="1" lang="en-US">
                <a:solidFill>
                  <a:schemeClr val="accent6"/>
                </a:solidFill>
              </a:rPr>
              <a:t>designing</a:t>
            </a:r>
            <a:r>
              <a:rPr lang="en-US"/>
              <a:t>, </a:t>
            </a:r>
            <a:r>
              <a:rPr b="1" lang="en-US">
                <a:solidFill>
                  <a:schemeClr val="accent6"/>
                </a:solidFill>
              </a:rPr>
              <a:t>development</a:t>
            </a:r>
            <a:r>
              <a:rPr lang="en-US"/>
              <a:t>, </a:t>
            </a:r>
            <a:r>
              <a:rPr b="1" lang="en-US">
                <a:solidFill>
                  <a:schemeClr val="accent6"/>
                </a:solidFill>
              </a:rPr>
              <a:t>implementation</a:t>
            </a:r>
            <a:r>
              <a:rPr lang="en-US"/>
              <a:t> and </a:t>
            </a:r>
            <a:r>
              <a:rPr b="1" lang="en-US">
                <a:solidFill>
                  <a:schemeClr val="accent6"/>
                </a:solidFill>
              </a:rPr>
              <a:t>maintenance</a:t>
            </a:r>
            <a:r>
              <a:rPr lang="en-US"/>
              <a:t> of enterprise database management systems.</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What is E-R diagram?</a:t>
            </a:r>
            <a:endParaRPr/>
          </a:p>
          <a:p>
            <a:pPr indent="-352425" lvl="1" marL="809625" rtl="0" algn="just">
              <a:lnSpc>
                <a:spcPct val="90000"/>
              </a:lnSpc>
              <a:spcBef>
                <a:spcPts val="500"/>
              </a:spcBef>
              <a:spcAft>
                <a:spcPts val="0"/>
              </a:spcAft>
              <a:buSzPts val="2000"/>
              <a:buChar char="⮩"/>
            </a:pPr>
            <a:r>
              <a:rPr lang="en-US"/>
              <a:t>E-R diagram: (Entity-Relationship diagram) </a:t>
            </a:r>
            <a:endParaRPr/>
          </a:p>
          <a:p>
            <a:pPr indent="-352425" lvl="1" marL="809625" rtl="0" algn="just">
              <a:lnSpc>
                <a:spcPct val="90000"/>
              </a:lnSpc>
              <a:spcBef>
                <a:spcPts val="500"/>
              </a:spcBef>
              <a:spcAft>
                <a:spcPts val="0"/>
              </a:spcAft>
              <a:buSzPts val="2000"/>
              <a:buChar char="⮩"/>
            </a:pPr>
            <a:r>
              <a:rPr lang="en-US"/>
              <a:t>It is </a:t>
            </a:r>
            <a:r>
              <a:rPr b="1" lang="en-US">
                <a:solidFill>
                  <a:schemeClr val="accent6"/>
                </a:solidFill>
              </a:rPr>
              <a:t>graphical (pictorial) representation </a:t>
            </a:r>
            <a:r>
              <a:rPr lang="en-US"/>
              <a:t>of database.</a:t>
            </a:r>
            <a:endParaRPr/>
          </a:p>
          <a:p>
            <a:pPr indent="-352425" lvl="1" marL="809625" rtl="0" algn="just">
              <a:lnSpc>
                <a:spcPct val="90000"/>
              </a:lnSpc>
              <a:spcBef>
                <a:spcPts val="500"/>
              </a:spcBef>
              <a:spcAft>
                <a:spcPts val="0"/>
              </a:spcAft>
              <a:buSzPts val="2000"/>
              <a:buChar char="⮩"/>
            </a:pPr>
            <a:r>
              <a:rPr lang="en-US"/>
              <a:t>It uses different types of symbols to represent different objects of database.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animEffect filter="fade" transition="in">
                                      <p:cBhvr>
                                        <p:cTn dur="500"/>
                                        <p:tgtEl>
                                          <p:spTgt spid="3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xEl>
                                              <p:pRg end="1" st="1"/>
                                            </p:txEl>
                                          </p:spTgt>
                                        </p:tgtEl>
                                        <p:attrNameLst>
                                          <p:attrName>style.visibility</p:attrName>
                                        </p:attrNameLst>
                                      </p:cBhvr>
                                      <p:to>
                                        <p:strVal val="visible"/>
                                      </p:to>
                                    </p:set>
                                    <p:animEffect filter="fade" transition="in">
                                      <p:cBhvr>
                                        <p:cTn dur="500"/>
                                        <p:tgtEl>
                                          <p:spTgt spid="3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xEl>
                                              <p:pRg end="2" st="2"/>
                                            </p:txEl>
                                          </p:spTgt>
                                        </p:tgtEl>
                                        <p:attrNameLst>
                                          <p:attrName>style.visibility</p:attrName>
                                        </p:attrNameLst>
                                      </p:cBhvr>
                                      <p:to>
                                        <p:strVal val="visible"/>
                                      </p:to>
                                    </p:set>
                                    <p:animEffect filter="fade" transition="in">
                                      <p:cBhvr>
                                        <p:cTn dur="500"/>
                                        <p:tgtEl>
                                          <p:spTgt spid="3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xEl>
                                              <p:pRg end="3" st="3"/>
                                            </p:txEl>
                                          </p:spTgt>
                                        </p:tgtEl>
                                        <p:attrNameLst>
                                          <p:attrName>style.visibility</p:attrName>
                                        </p:attrNameLst>
                                      </p:cBhvr>
                                      <p:to>
                                        <p:strVal val="visible"/>
                                      </p:to>
                                    </p:set>
                                    <p:animEffect filter="fade" transition="in">
                                      <p:cBhvr>
                                        <p:cTn dur="500"/>
                                        <p:tgtEl>
                                          <p:spTgt spid="3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xEl>
                                              <p:pRg end="4" st="4"/>
                                            </p:txEl>
                                          </p:spTgt>
                                        </p:tgtEl>
                                        <p:attrNameLst>
                                          <p:attrName>style.visibility</p:attrName>
                                        </p:attrNameLst>
                                      </p:cBhvr>
                                      <p:to>
                                        <p:strVal val="visible"/>
                                      </p:to>
                                    </p:set>
                                    <p:animEffect filter="fade" transition="in">
                                      <p:cBhvr>
                                        <p:cTn dur="500"/>
                                        <p:tgtEl>
                                          <p:spTgt spid="3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xEl>
                                              <p:pRg end="5" st="5"/>
                                            </p:txEl>
                                          </p:spTgt>
                                        </p:tgtEl>
                                        <p:attrNameLst>
                                          <p:attrName>style.visibility</p:attrName>
                                        </p:attrNameLst>
                                      </p:cBhvr>
                                      <p:to>
                                        <p:strVal val="visible"/>
                                      </p:to>
                                    </p:set>
                                    <p:animEffect filter="fade" transition="in">
                                      <p:cBhvr>
                                        <p:cTn dur="500"/>
                                        <p:tgtEl>
                                          <p:spTgt spid="33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Entity</a:t>
            </a:r>
            <a:endParaRPr/>
          </a:p>
        </p:txBody>
      </p:sp>
      <p:sp>
        <p:nvSpPr>
          <p:cNvPr id="341" name="Google Shape;341;p5"/>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An entity is a </a:t>
            </a:r>
            <a:r>
              <a:rPr b="1" lang="en-US">
                <a:solidFill>
                  <a:schemeClr val="accent6"/>
                </a:solidFill>
              </a:rPr>
              <a:t>person</a:t>
            </a:r>
            <a:r>
              <a:rPr lang="en-US"/>
              <a:t>, a </a:t>
            </a:r>
            <a:r>
              <a:rPr b="1" lang="en-US">
                <a:solidFill>
                  <a:schemeClr val="accent6"/>
                </a:solidFill>
              </a:rPr>
              <a:t>place</a:t>
            </a:r>
            <a:r>
              <a:rPr lang="en-US"/>
              <a:t> or an </a:t>
            </a:r>
            <a:r>
              <a:rPr b="1" lang="en-US">
                <a:solidFill>
                  <a:schemeClr val="accent6"/>
                </a:solidFill>
              </a:rPr>
              <a:t>object</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An entity is represented by a </a:t>
            </a:r>
            <a:r>
              <a:rPr b="1" lang="en-US">
                <a:solidFill>
                  <a:schemeClr val="accent6"/>
                </a:solidFill>
              </a:rPr>
              <a:t>rectangle</a:t>
            </a:r>
            <a:r>
              <a:rPr lang="en-US"/>
              <a:t> which contains the name of an entity.</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Entities of a college database are:</a:t>
            </a:r>
            <a:endParaRPr/>
          </a:p>
          <a:p>
            <a:pPr indent="-352425" lvl="1" marL="809625" rtl="0" algn="just">
              <a:lnSpc>
                <a:spcPct val="90000"/>
              </a:lnSpc>
              <a:spcBef>
                <a:spcPts val="500"/>
              </a:spcBef>
              <a:spcAft>
                <a:spcPts val="0"/>
              </a:spcAft>
              <a:buSzPts val="2000"/>
              <a:buChar char="⮩"/>
            </a:pPr>
            <a:r>
              <a:rPr lang="en-US"/>
              <a:t>Student</a:t>
            </a:r>
            <a:endParaRPr/>
          </a:p>
          <a:p>
            <a:pPr indent="-352425" lvl="1" marL="809625" rtl="0" algn="just">
              <a:lnSpc>
                <a:spcPct val="90000"/>
              </a:lnSpc>
              <a:spcBef>
                <a:spcPts val="500"/>
              </a:spcBef>
              <a:spcAft>
                <a:spcPts val="0"/>
              </a:spcAft>
              <a:buSzPts val="2000"/>
              <a:buChar char="⮩"/>
            </a:pPr>
            <a:r>
              <a:rPr lang="en-US"/>
              <a:t>Professor/Faculty</a:t>
            </a:r>
            <a:endParaRPr/>
          </a:p>
          <a:p>
            <a:pPr indent="-352425" lvl="1" marL="809625" rtl="0" algn="just">
              <a:lnSpc>
                <a:spcPct val="90000"/>
              </a:lnSpc>
              <a:spcBef>
                <a:spcPts val="500"/>
              </a:spcBef>
              <a:spcAft>
                <a:spcPts val="0"/>
              </a:spcAft>
              <a:buSzPts val="2000"/>
              <a:buChar char="⮩"/>
            </a:pPr>
            <a:r>
              <a:rPr lang="en-US"/>
              <a:t>Course</a:t>
            </a:r>
            <a:endParaRPr/>
          </a:p>
          <a:p>
            <a:pPr indent="-352425" lvl="1" marL="809625" rtl="0" algn="just">
              <a:lnSpc>
                <a:spcPct val="90000"/>
              </a:lnSpc>
              <a:spcBef>
                <a:spcPts val="500"/>
              </a:spcBef>
              <a:spcAft>
                <a:spcPts val="0"/>
              </a:spcAft>
              <a:buSzPts val="2000"/>
              <a:buChar char="⮩"/>
            </a:pPr>
            <a:r>
              <a:rPr lang="en-US"/>
              <a:t>Department</a:t>
            </a:r>
            <a:endParaRPr/>
          </a:p>
          <a:p>
            <a:pPr indent="-352425" lvl="1" marL="809625" rtl="0" algn="just">
              <a:lnSpc>
                <a:spcPct val="90000"/>
              </a:lnSpc>
              <a:spcBef>
                <a:spcPts val="500"/>
              </a:spcBef>
              <a:spcAft>
                <a:spcPts val="0"/>
              </a:spcAft>
              <a:buSzPts val="2000"/>
              <a:buChar char="⮩"/>
            </a:pPr>
            <a:r>
              <a:rPr lang="en-US"/>
              <a:t>Result</a:t>
            </a:r>
            <a:endParaRPr/>
          </a:p>
          <a:p>
            <a:pPr indent="-352425" lvl="1" marL="809625" rtl="0" algn="just">
              <a:lnSpc>
                <a:spcPct val="90000"/>
              </a:lnSpc>
              <a:spcBef>
                <a:spcPts val="500"/>
              </a:spcBef>
              <a:spcAft>
                <a:spcPts val="0"/>
              </a:spcAft>
              <a:buSzPts val="2000"/>
              <a:buChar char="⮩"/>
            </a:pPr>
            <a:r>
              <a:rPr lang="en-US"/>
              <a:t>Class</a:t>
            </a:r>
            <a:endParaRPr/>
          </a:p>
          <a:p>
            <a:pPr indent="-352425" lvl="1" marL="809625" rtl="0" algn="just">
              <a:lnSpc>
                <a:spcPct val="90000"/>
              </a:lnSpc>
              <a:spcBef>
                <a:spcPts val="500"/>
              </a:spcBef>
              <a:spcAft>
                <a:spcPts val="0"/>
              </a:spcAft>
              <a:buSzPts val="2000"/>
              <a:buChar char="⮩"/>
            </a:pPr>
            <a:r>
              <a:rPr lang="en-US"/>
              <a:t>Subject</a:t>
            </a:r>
            <a:endParaRPr/>
          </a:p>
        </p:txBody>
      </p:sp>
      <p:sp>
        <p:nvSpPr>
          <p:cNvPr id="342" name="Google Shape;342;p5"/>
          <p:cNvSpPr/>
          <p:nvPr/>
        </p:nvSpPr>
        <p:spPr>
          <a:xfrm>
            <a:off x="10210801" y="968188"/>
            <a:ext cx="1502228" cy="770709"/>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Entity Name</a:t>
            </a:r>
            <a:endParaRPr sz="1800">
              <a:solidFill>
                <a:schemeClr val="dk1"/>
              </a:solidFill>
              <a:latin typeface="Roboto Condensed"/>
              <a:ea typeface="Roboto Condensed"/>
              <a:cs typeface="Roboto Condensed"/>
              <a:sym typeface="Roboto Condensed"/>
            </a:endParaRPr>
          </a:p>
        </p:txBody>
      </p:sp>
      <p:sp>
        <p:nvSpPr>
          <p:cNvPr id="343" name="Google Shape;343;p5"/>
          <p:cNvSpPr txBox="1"/>
          <p:nvPr/>
        </p:nvSpPr>
        <p:spPr>
          <a:xfrm>
            <a:off x="10471555" y="1842880"/>
            <a:ext cx="98072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Symbol</a:t>
            </a:r>
            <a:endParaRPr sz="1800">
              <a:solidFill>
                <a:schemeClr val="dk1"/>
              </a:solidFill>
              <a:latin typeface="Roboto Condensed"/>
              <a:ea typeface="Roboto Condensed"/>
              <a:cs typeface="Roboto Condensed"/>
              <a:sym typeface="Roboto Condensed"/>
            </a:endParaRPr>
          </a:p>
        </p:txBody>
      </p:sp>
      <p:sp>
        <p:nvSpPr>
          <p:cNvPr id="344" name="Google Shape;344;p5"/>
          <p:cNvSpPr/>
          <p:nvPr/>
        </p:nvSpPr>
        <p:spPr>
          <a:xfrm>
            <a:off x="4320988" y="3139716"/>
            <a:ext cx="1502228" cy="770709"/>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600">
              <a:solidFill>
                <a:schemeClr val="dk1"/>
              </a:solidFill>
              <a:latin typeface="Roboto Condensed"/>
              <a:ea typeface="Roboto Condensed"/>
              <a:cs typeface="Roboto Condensed"/>
              <a:sym typeface="Roboto Condensed"/>
            </a:endParaRPr>
          </a:p>
        </p:txBody>
      </p:sp>
      <p:sp>
        <p:nvSpPr>
          <p:cNvPr id="345" name="Google Shape;345;p5"/>
          <p:cNvSpPr/>
          <p:nvPr/>
        </p:nvSpPr>
        <p:spPr>
          <a:xfrm>
            <a:off x="6688676" y="3139715"/>
            <a:ext cx="1502228" cy="770709"/>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Faculty</a:t>
            </a:r>
            <a:endParaRPr sz="1600">
              <a:solidFill>
                <a:schemeClr val="dk1"/>
              </a:solidFill>
              <a:latin typeface="Roboto Condensed"/>
              <a:ea typeface="Roboto Condensed"/>
              <a:cs typeface="Roboto Condensed"/>
              <a:sym typeface="Roboto Condensed"/>
            </a:endParaRPr>
          </a:p>
        </p:txBody>
      </p:sp>
      <p:sp>
        <p:nvSpPr>
          <p:cNvPr id="346" name="Google Shape;346;p5"/>
          <p:cNvSpPr/>
          <p:nvPr/>
        </p:nvSpPr>
        <p:spPr>
          <a:xfrm>
            <a:off x="9056364" y="3139715"/>
            <a:ext cx="1502228" cy="770709"/>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Course</a:t>
            </a:r>
            <a:endParaRPr sz="1600">
              <a:solidFill>
                <a:schemeClr val="dk1"/>
              </a:solidFill>
              <a:latin typeface="Roboto Condensed"/>
              <a:ea typeface="Roboto Condensed"/>
              <a:cs typeface="Roboto Condensed"/>
              <a:sym typeface="Roboto Condensed"/>
            </a:endParaRPr>
          </a:p>
        </p:txBody>
      </p:sp>
      <p:cxnSp>
        <p:nvCxnSpPr>
          <p:cNvPr id="347" name="Google Shape;347;p5"/>
          <p:cNvCxnSpPr/>
          <p:nvPr/>
        </p:nvCxnSpPr>
        <p:spPr>
          <a:xfrm>
            <a:off x="688878" y="5301826"/>
            <a:ext cx="6217920" cy="7823"/>
          </a:xfrm>
          <a:prstGeom prst="straightConnector1">
            <a:avLst/>
          </a:prstGeom>
          <a:noFill/>
          <a:ln cap="flat" cmpd="sng" w="28575">
            <a:solidFill>
              <a:schemeClr val="accent6"/>
            </a:solidFill>
            <a:prstDash val="solid"/>
            <a:miter lim="800000"/>
            <a:headEnd len="sm" w="sm" type="none"/>
            <a:tailEnd len="sm" w="sm" type="none"/>
          </a:ln>
        </p:spPr>
      </p:cxnSp>
      <p:graphicFrame>
        <p:nvGraphicFramePr>
          <p:cNvPr id="348" name="Google Shape;348;p5"/>
          <p:cNvGraphicFramePr/>
          <p:nvPr/>
        </p:nvGraphicFramePr>
        <p:xfrm>
          <a:off x="688878" y="4913841"/>
          <a:ext cx="3000000" cy="3000000"/>
        </p:xfrm>
        <a:graphic>
          <a:graphicData uri="http://schemas.openxmlformats.org/drawingml/2006/table">
            <a:tbl>
              <a:tblPr bandRow="1" firstRow="1">
                <a:noFill/>
                <a:tableStyleId>{2FE9E659-6503-4E8C-9AC6-ED4A2EF7120C}</a:tableStyleId>
              </a:tblPr>
              <a:tblGrid>
                <a:gridCol w="1100450"/>
              </a:tblGrid>
              <a:tr h="285500">
                <a:tc>
                  <a:txBody>
                    <a:bodyPr/>
                    <a:lstStyle/>
                    <a:p>
                      <a:pPr indent="0" lvl="0" marL="0" marR="0" rtl="0" algn="l">
                        <a:spcBef>
                          <a:spcPts val="0"/>
                        </a:spcBef>
                        <a:spcAft>
                          <a:spcPts val="0"/>
                        </a:spcAft>
                        <a:buNone/>
                      </a:pPr>
                      <a:r>
                        <a:rPr b="1" lang="en-US" sz="2000" u="none" cap="none" strike="noStrike">
                          <a:solidFill>
                            <a:schemeClr val="lt1"/>
                          </a:solidFill>
                        </a:rPr>
                        <a:t>Exercise</a:t>
                      </a:r>
                      <a:endParaRPr b="1" sz="2000" u="none" cap="none" strike="noStrike">
                        <a:solidFill>
                          <a:schemeClr val="lt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r>
            </a:tbl>
          </a:graphicData>
        </a:graphic>
      </p:graphicFrame>
      <p:graphicFrame>
        <p:nvGraphicFramePr>
          <p:cNvPr id="349" name="Google Shape;349;p5"/>
          <p:cNvGraphicFramePr/>
          <p:nvPr/>
        </p:nvGraphicFramePr>
        <p:xfrm>
          <a:off x="1787807" y="4904953"/>
          <a:ext cx="3000000" cy="3000000"/>
        </p:xfrm>
        <a:graphic>
          <a:graphicData uri="http://schemas.openxmlformats.org/drawingml/2006/table">
            <a:tbl>
              <a:tblPr bandRow="1" firstRow="1">
                <a:noFill/>
                <a:tableStyleId>{2FE9E659-6503-4E8C-9AC6-ED4A2EF7120C}</a:tableStyleId>
              </a:tblPr>
              <a:tblGrid>
                <a:gridCol w="5320025"/>
              </a:tblGrid>
              <a:tr h="285500">
                <a:tc>
                  <a:txBody>
                    <a:bodyPr/>
                    <a:lstStyle/>
                    <a:p>
                      <a:pPr indent="0" lvl="0" marL="0" marR="0" rtl="0" algn="l">
                        <a:spcBef>
                          <a:spcPts val="0"/>
                        </a:spcBef>
                        <a:spcAft>
                          <a:spcPts val="0"/>
                        </a:spcAft>
                        <a:buNone/>
                      </a:pPr>
                      <a:r>
                        <a:rPr b="0" lang="en-US" sz="2000" u="none" cap="none" strike="noStrike">
                          <a:solidFill>
                            <a:schemeClr val="dk1"/>
                          </a:solidFill>
                          <a:latin typeface="Roboto Condensed"/>
                          <a:ea typeface="Roboto Condensed"/>
                          <a:cs typeface="Roboto Condensed"/>
                          <a:sym typeface="Roboto Condensed"/>
                        </a:rPr>
                        <a:t>Write down the different </a:t>
                      </a:r>
                      <a:r>
                        <a:rPr b="0" lang="en-US" sz="2000" u="none" cap="none" strike="noStrike">
                          <a:solidFill>
                            <a:schemeClr val="dk2"/>
                          </a:solidFill>
                          <a:latin typeface="Roboto Condensed"/>
                          <a:ea typeface="Roboto Condensed"/>
                          <a:cs typeface="Roboto Condensed"/>
                          <a:sym typeface="Roboto Condensed"/>
                        </a:rPr>
                        <a:t>entities</a:t>
                      </a:r>
                      <a:r>
                        <a:rPr b="0" lang="en-US" sz="2000" u="none" cap="none" strike="noStrike">
                          <a:solidFill>
                            <a:schemeClr val="dk1"/>
                          </a:solidFill>
                          <a:latin typeface="Roboto Condensed"/>
                          <a:ea typeface="Roboto Condensed"/>
                          <a:cs typeface="Roboto Condensed"/>
                          <a:sym typeface="Roboto Condensed"/>
                        </a:rPr>
                        <a:t> of </a:t>
                      </a:r>
                      <a:r>
                        <a:rPr b="0" lang="en-US" sz="2000" u="none" cap="none" strike="noStrike">
                          <a:solidFill>
                            <a:schemeClr val="dk2"/>
                          </a:solidFill>
                          <a:latin typeface="Roboto Condensed"/>
                          <a:ea typeface="Roboto Condensed"/>
                          <a:cs typeface="Roboto Condensed"/>
                          <a:sym typeface="Roboto Condensed"/>
                        </a:rPr>
                        <a:t>bank database</a:t>
                      </a:r>
                      <a:r>
                        <a:rPr b="0" lang="en-US" sz="2000" u="none" cap="none" strike="noStrike">
                          <a:solidFill>
                            <a:schemeClr val="dk1"/>
                          </a:solidFill>
                          <a:latin typeface="Roboto Condensed"/>
                          <a:ea typeface="Roboto Condensed"/>
                          <a:cs typeface="Roboto Condensed"/>
                          <a:sym typeface="Roboto Condensed"/>
                        </a:rPr>
                        <a:t>.</a:t>
                      </a:r>
                      <a:endParaRPr b="0" sz="2000" u="none" cap="none" strike="noStrike">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350" name="Google Shape;350;p5"/>
          <p:cNvCxnSpPr/>
          <p:nvPr/>
        </p:nvCxnSpPr>
        <p:spPr>
          <a:xfrm>
            <a:off x="688878" y="5947282"/>
            <a:ext cx="6583680" cy="7823"/>
          </a:xfrm>
          <a:prstGeom prst="straightConnector1">
            <a:avLst/>
          </a:prstGeom>
          <a:noFill/>
          <a:ln cap="flat" cmpd="sng" w="28575">
            <a:solidFill>
              <a:schemeClr val="accent6"/>
            </a:solidFill>
            <a:prstDash val="solid"/>
            <a:miter lim="800000"/>
            <a:headEnd len="sm" w="sm" type="none"/>
            <a:tailEnd len="sm" w="sm" type="none"/>
          </a:ln>
        </p:spPr>
      </p:cxnSp>
      <p:graphicFrame>
        <p:nvGraphicFramePr>
          <p:cNvPr id="351" name="Google Shape;351;p5"/>
          <p:cNvGraphicFramePr/>
          <p:nvPr/>
        </p:nvGraphicFramePr>
        <p:xfrm>
          <a:off x="688878" y="5559297"/>
          <a:ext cx="3000000" cy="3000000"/>
        </p:xfrm>
        <a:graphic>
          <a:graphicData uri="http://schemas.openxmlformats.org/drawingml/2006/table">
            <a:tbl>
              <a:tblPr bandRow="1" firstRow="1">
                <a:noFill/>
                <a:tableStyleId>{2FE9E659-6503-4E8C-9AC6-ED4A2EF7120C}</a:tableStyleId>
              </a:tblPr>
              <a:tblGrid>
                <a:gridCol w="1100450"/>
              </a:tblGrid>
              <a:tr h="285500">
                <a:tc>
                  <a:txBody>
                    <a:bodyPr/>
                    <a:lstStyle/>
                    <a:p>
                      <a:pPr indent="0" lvl="0" marL="0" marR="0" rtl="0" algn="l">
                        <a:spcBef>
                          <a:spcPts val="0"/>
                        </a:spcBef>
                        <a:spcAft>
                          <a:spcPts val="0"/>
                        </a:spcAft>
                        <a:buNone/>
                      </a:pPr>
                      <a:r>
                        <a:rPr b="1" lang="en-US" sz="2000" u="none" cap="none" strike="noStrike">
                          <a:solidFill>
                            <a:schemeClr val="lt1"/>
                          </a:solidFill>
                        </a:rPr>
                        <a:t>Exercise</a:t>
                      </a:r>
                      <a:endParaRPr b="1" sz="2000" u="none" cap="none" strike="noStrike">
                        <a:solidFill>
                          <a:schemeClr val="lt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r>
            </a:tbl>
          </a:graphicData>
        </a:graphic>
      </p:graphicFrame>
      <p:graphicFrame>
        <p:nvGraphicFramePr>
          <p:cNvPr id="352" name="Google Shape;352;p5"/>
          <p:cNvGraphicFramePr/>
          <p:nvPr/>
        </p:nvGraphicFramePr>
        <p:xfrm>
          <a:off x="1787807" y="5550409"/>
          <a:ext cx="3000000" cy="3000000"/>
        </p:xfrm>
        <a:graphic>
          <a:graphicData uri="http://schemas.openxmlformats.org/drawingml/2006/table">
            <a:tbl>
              <a:tblPr bandRow="1" firstRow="1">
                <a:noFill/>
                <a:tableStyleId>{2FE9E659-6503-4E8C-9AC6-ED4A2EF7120C}</a:tableStyleId>
              </a:tblPr>
              <a:tblGrid>
                <a:gridCol w="5640700"/>
              </a:tblGrid>
              <a:tr h="285500">
                <a:tc>
                  <a:txBody>
                    <a:bodyPr/>
                    <a:lstStyle/>
                    <a:p>
                      <a:pPr indent="0" lvl="0" marL="0" marR="0" rtl="0" algn="l">
                        <a:spcBef>
                          <a:spcPts val="0"/>
                        </a:spcBef>
                        <a:spcAft>
                          <a:spcPts val="0"/>
                        </a:spcAft>
                        <a:buNone/>
                      </a:pPr>
                      <a:r>
                        <a:rPr b="0" lang="en-US" sz="2000" u="none" cap="none" strike="noStrike">
                          <a:solidFill>
                            <a:schemeClr val="dk1"/>
                          </a:solidFill>
                          <a:latin typeface="Roboto Condensed"/>
                          <a:ea typeface="Roboto Condensed"/>
                          <a:cs typeface="Roboto Condensed"/>
                          <a:sym typeface="Roboto Condensed"/>
                        </a:rPr>
                        <a:t>Write down the different </a:t>
                      </a:r>
                      <a:r>
                        <a:rPr b="0" lang="en-US" sz="2000" u="none" cap="none" strike="noStrike">
                          <a:solidFill>
                            <a:schemeClr val="dk2"/>
                          </a:solidFill>
                          <a:latin typeface="Roboto Condensed"/>
                          <a:ea typeface="Roboto Condensed"/>
                          <a:cs typeface="Roboto Condensed"/>
                          <a:sym typeface="Roboto Condensed"/>
                        </a:rPr>
                        <a:t>entities</a:t>
                      </a:r>
                      <a:r>
                        <a:rPr b="0" lang="en-US" sz="2000" u="none" cap="none" strike="noStrike">
                          <a:solidFill>
                            <a:schemeClr val="dk1"/>
                          </a:solidFill>
                          <a:latin typeface="Roboto Condensed"/>
                          <a:ea typeface="Roboto Condensed"/>
                          <a:cs typeface="Roboto Condensed"/>
                          <a:sym typeface="Roboto Condensed"/>
                        </a:rPr>
                        <a:t> of </a:t>
                      </a:r>
                      <a:r>
                        <a:rPr b="0" lang="en-US" sz="2000" u="none" cap="none" strike="noStrike">
                          <a:solidFill>
                            <a:schemeClr val="dk2"/>
                          </a:solidFill>
                          <a:latin typeface="Roboto Condensed"/>
                          <a:ea typeface="Roboto Condensed"/>
                          <a:cs typeface="Roboto Condensed"/>
                          <a:sym typeface="Roboto Condensed"/>
                        </a:rPr>
                        <a:t>hospital database</a:t>
                      </a:r>
                      <a:r>
                        <a:rPr b="0" lang="en-US" sz="2000" u="none" cap="none" strike="noStrike">
                          <a:solidFill>
                            <a:schemeClr val="dk1"/>
                          </a:solidFill>
                          <a:latin typeface="Roboto Condensed"/>
                          <a:ea typeface="Roboto Condensed"/>
                          <a:cs typeface="Roboto Condensed"/>
                          <a:sym typeface="Roboto Condensed"/>
                        </a:rPr>
                        <a:t>.</a:t>
                      </a:r>
                      <a:endParaRPr b="0" sz="2000" u="none" cap="none" strike="noStrike">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0" st="0"/>
                                            </p:txEl>
                                          </p:spTgt>
                                        </p:tgtEl>
                                        <p:attrNameLst>
                                          <p:attrName>style.visibility</p:attrName>
                                        </p:attrNameLst>
                                      </p:cBhvr>
                                      <p:to>
                                        <p:strVal val="visible"/>
                                      </p:to>
                                    </p:set>
                                    <p:animEffect filter="fade" transition="in">
                                      <p:cBhvr>
                                        <p:cTn dur="500"/>
                                        <p:tgtEl>
                                          <p:spTgt spid="3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1" st="1"/>
                                            </p:txEl>
                                          </p:spTgt>
                                        </p:tgtEl>
                                        <p:attrNameLst>
                                          <p:attrName>style.visibility</p:attrName>
                                        </p:attrNameLst>
                                      </p:cBhvr>
                                      <p:to>
                                        <p:strVal val="visible"/>
                                      </p:to>
                                    </p:set>
                                    <p:animEffect filter="fade" transition="in">
                                      <p:cBhvr>
                                        <p:cTn dur="500"/>
                                        <p:tgtEl>
                                          <p:spTgt spid="3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2" st="2"/>
                                            </p:txEl>
                                          </p:spTgt>
                                        </p:tgtEl>
                                        <p:attrNameLst>
                                          <p:attrName>style.visibility</p:attrName>
                                        </p:attrNameLst>
                                      </p:cBhvr>
                                      <p:to>
                                        <p:strVal val="visible"/>
                                      </p:to>
                                    </p:set>
                                    <p:animEffect filter="fade" transition="in">
                                      <p:cBhvr>
                                        <p:cTn dur="500"/>
                                        <p:tgtEl>
                                          <p:spTgt spid="3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3" st="3"/>
                                            </p:txEl>
                                          </p:spTgt>
                                        </p:tgtEl>
                                        <p:attrNameLst>
                                          <p:attrName>style.visibility</p:attrName>
                                        </p:attrNameLst>
                                      </p:cBhvr>
                                      <p:to>
                                        <p:strVal val="visible"/>
                                      </p:to>
                                    </p:set>
                                    <p:animEffect filter="fade" transition="in">
                                      <p:cBhvr>
                                        <p:cTn dur="500"/>
                                        <p:tgtEl>
                                          <p:spTgt spid="3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4" st="4"/>
                                            </p:txEl>
                                          </p:spTgt>
                                        </p:tgtEl>
                                        <p:attrNameLst>
                                          <p:attrName>style.visibility</p:attrName>
                                        </p:attrNameLst>
                                      </p:cBhvr>
                                      <p:to>
                                        <p:strVal val="visible"/>
                                      </p:to>
                                    </p:set>
                                    <p:animEffect filter="fade" transition="in">
                                      <p:cBhvr>
                                        <p:cTn dur="500"/>
                                        <p:tgtEl>
                                          <p:spTgt spid="3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5" st="5"/>
                                            </p:txEl>
                                          </p:spTgt>
                                        </p:tgtEl>
                                        <p:attrNameLst>
                                          <p:attrName>style.visibility</p:attrName>
                                        </p:attrNameLst>
                                      </p:cBhvr>
                                      <p:to>
                                        <p:strVal val="visible"/>
                                      </p:to>
                                    </p:set>
                                    <p:animEffect filter="fade" transition="in">
                                      <p:cBhvr>
                                        <p:cTn dur="500"/>
                                        <p:tgtEl>
                                          <p:spTgt spid="3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6" st="6"/>
                                            </p:txEl>
                                          </p:spTgt>
                                        </p:tgtEl>
                                        <p:attrNameLst>
                                          <p:attrName>style.visibility</p:attrName>
                                        </p:attrNameLst>
                                      </p:cBhvr>
                                      <p:to>
                                        <p:strVal val="visible"/>
                                      </p:to>
                                    </p:set>
                                    <p:animEffect filter="fade" transition="in">
                                      <p:cBhvr>
                                        <p:cTn dur="500"/>
                                        <p:tgtEl>
                                          <p:spTgt spid="3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7" st="7"/>
                                            </p:txEl>
                                          </p:spTgt>
                                        </p:tgtEl>
                                        <p:attrNameLst>
                                          <p:attrName>style.visibility</p:attrName>
                                        </p:attrNameLst>
                                      </p:cBhvr>
                                      <p:to>
                                        <p:strVal val="visible"/>
                                      </p:to>
                                    </p:set>
                                    <p:animEffect filter="fade" transition="in">
                                      <p:cBhvr>
                                        <p:cTn dur="500"/>
                                        <p:tgtEl>
                                          <p:spTgt spid="3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8" st="8"/>
                                            </p:txEl>
                                          </p:spTgt>
                                        </p:tgtEl>
                                        <p:attrNameLst>
                                          <p:attrName>style.visibility</p:attrName>
                                        </p:attrNameLst>
                                      </p:cBhvr>
                                      <p:to>
                                        <p:strVal val="visible"/>
                                      </p:to>
                                    </p:set>
                                    <p:animEffect filter="fade" transition="in">
                                      <p:cBhvr>
                                        <p:cTn dur="500"/>
                                        <p:tgtEl>
                                          <p:spTgt spid="3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xEl>
                                              <p:pRg end="9" st="9"/>
                                            </p:txEl>
                                          </p:spTgt>
                                        </p:tgtEl>
                                        <p:attrNameLst>
                                          <p:attrName>style.visibility</p:attrName>
                                        </p:attrNameLst>
                                      </p:cBhvr>
                                      <p:to>
                                        <p:strVal val="visible"/>
                                      </p:to>
                                    </p:set>
                                    <p:animEffect filter="fade" transition="in">
                                      <p:cBhvr>
                                        <p:cTn dur="500"/>
                                        <p:tgtEl>
                                          <p:spTgt spid="34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Entity Set</a:t>
            </a:r>
            <a:endParaRPr/>
          </a:p>
        </p:txBody>
      </p:sp>
      <p:sp>
        <p:nvSpPr>
          <p:cNvPr id="358" name="Google Shape;358;p6"/>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It is a </a:t>
            </a:r>
            <a:r>
              <a:rPr b="1" lang="en-US">
                <a:solidFill>
                  <a:schemeClr val="accent6"/>
                </a:solidFill>
              </a:rPr>
              <a:t>set (group) of entities </a:t>
            </a:r>
            <a:r>
              <a:rPr lang="en-US"/>
              <a:t>of </a:t>
            </a:r>
            <a:r>
              <a:rPr b="1" lang="en-US">
                <a:solidFill>
                  <a:schemeClr val="accent6"/>
                </a:solidFill>
              </a:rPr>
              <a:t>same type</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Examples:</a:t>
            </a:r>
            <a:endParaRPr/>
          </a:p>
          <a:p>
            <a:pPr indent="-352425" lvl="1" marL="809625" rtl="0" algn="just">
              <a:lnSpc>
                <a:spcPct val="90000"/>
              </a:lnSpc>
              <a:spcBef>
                <a:spcPts val="500"/>
              </a:spcBef>
              <a:spcAft>
                <a:spcPts val="0"/>
              </a:spcAft>
              <a:buSzPts val="2000"/>
              <a:buChar char="⮩"/>
            </a:pPr>
            <a:r>
              <a:rPr lang="en-US"/>
              <a:t>All persons having an account in a bank</a:t>
            </a:r>
            <a:endParaRPr/>
          </a:p>
          <a:p>
            <a:pPr indent="-352425" lvl="1" marL="809625" rtl="0" algn="just">
              <a:lnSpc>
                <a:spcPct val="90000"/>
              </a:lnSpc>
              <a:spcBef>
                <a:spcPts val="500"/>
              </a:spcBef>
              <a:spcAft>
                <a:spcPts val="0"/>
              </a:spcAft>
              <a:buSzPts val="2000"/>
              <a:buChar char="⮩"/>
            </a:pPr>
            <a:r>
              <a:rPr lang="en-US"/>
              <a:t>All the students studying in a college</a:t>
            </a:r>
            <a:endParaRPr/>
          </a:p>
          <a:p>
            <a:pPr indent="-352425" lvl="1" marL="809625" rtl="0" algn="just">
              <a:lnSpc>
                <a:spcPct val="90000"/>
              </a:lnSpc>
              <a:spcBef>
                <a:spcPts val="500"/>
              </a:spcBef>
              <a:spcAft>
                <a:spcPts val="0"/>
              </a:spcAft>
              <a:buSzPts val="2000"/>
              <a:buChar char="⮩"/>
            </a:pPr>
            <a:r>
              <a:rPr lang="en-US"/>
              <a:t>All the professors working in a college</a:t>
            </a:r>
            <a:endParaRPr/>
          </a:p>
          <a:p>
            <a:pPr indent="-352425" lvl="1" marL="809625" rtl="0" algn="just">
              <a:lnSpc>
                <a:spcPct val="90000"/>
              </a:lnSpc>
              <a:spcBef>
                <a:spcPts val="500"/>
              </a:spcBef>
              <a:spcAft>
                <a:spcPts val="0"/>
              </a:spcAft>
              <a:buSzPts val="2000"/>
              <a:buChar char="⮩"/>
            </a:pPr>
            <a:r>
              <a:rPr lang="en-US"/>
              <a:t>Set of all accounts in a bank</a:t>
            </a:r>
            <a:endParaRPr/>
          </a:p>
          <a:p>
            <a:pPr indent="-225425" lvl="1" marL="809625" rtl="0" algn="just">
              <a:lnSpc>
                <a:spcPct val="90000"/>
              </a:lnSpc>
              <a:spcBef>
                <a:spcPts val="500"/>
              </a:spcBef>
              <a:spcAft>
                <a:spcPts val="0"/>
              </a:spcAft>
              <a:buSzPts val="2000"/>
              <a:buNone/>
            </a:pPr>
            <a:r>
              <a:t/>
            </a:r>
            <a:endParaRPr/>
          </a:p>
        </p:txBody>
      </p:sp>
      <p:pic>
        <p:nvPicPr>
          <p:cNvPr id="359" name="Google Shape;359;p6"/>
          <p:cNvPicPr preferRelativeResize="0"/>
          <p:nvPr/>
        </p:nvPicPr>
        <p:blipFill rotWithShape="1">
          <a:blip r:embed="rId3">
            <a:alphaModFix/>
          </a:blip>
          <a:srcRect b="7451" l="26000" r="24991" t="0"/>
          <a:stretch/>
        </p:blipFill>
        <p:spPr>
          <a:xfrm>
            <a:off x="10248882" y="1035424"/>
            <a:ext cx="1569203" cy="4572000"/>
          </a:xfrm>
          <a:prstGeom prst="rect">
            <a:avLst/>
          </a:prstGeom>
          <a:noFill/>
          <a:ln>
            <a:noFill/>
          </a:ln>
        </p:spPr>
      </p:pic>
      <p:pic>
        <p:nvPicPr>
          <p:cNvPr descr="https://pngimg.com/uploads/student/student_PNG62542.png" id="360" name="Google Shape;360;p6"/>
          <p:cNvPicPr preferRelativeResize="0"/>
          <p:nvPr/>
        </p:nvPicPr>
        <p:blipFill rotWithShape="1">
          <a:blip r:embed="rId4">
            <a:alphaModFix/>
          </a:blip>
          <a:srcRect b="0" l="25007" r="34354" t="0"/>
          <a:stretch/>
        </p:blipFill>
        <p:spPr>
          <a:xfrm>
            <a:off x="5976076" y="1035424"/>
            <a:ext cx="1858015" cy="4572000"/>
          </a:xfrm>
          <a:prstGeom prst="rect">
            <a:avLst/>
          </a:prstGeom>
          <a:noFill/>
          <a:ln>
            <a:noFill/>
          </a:ln>
        </p:spPr>
      </p:pic>
      <p:pic>
        <p:nvPicPr>
          <p:cNvPr descr="https://images.vexels.com/media/users/3/128199/isolated/preview/b354bc4707224bd3d15b9ae36eca70c0-male-student-cartoon-by-vexels.png" id="361" name="Google Shape;361;p6"/>
          <p:cNvPicPr preferRelativeResize="0"/>
          <p:nvPr/>
        </p:nvPicPr>
        <p:blipFill rotWithShape="1">
          <a:blip r:embed="rId5">
            <a:alphaModFix/>
          </a:blip>
          <a:srcRect b="3353" l="28841" r="28971" t="2636"/>
          <a:stretch/>
        </p:blipFill>
        <p:spPr>
          <a:xfrm>
            <a:off x="8015636" y="1035424"/>
            <a:ext cx="2051701" cy="457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0" st="0"/>
                                            </p:txEl>
                                          </p:spTgt>
                                        </p:tgtEl>
                                        <p:attrNameLst>
                                          <p:attrName>style.visibility</p:attrName>
                                        </p:attrNameLst>
                                      </p:cBhvr>
                                      <p:to>
                                        <p:strVal val="visible"/>
                                      </p:to>
                                    </p:set>
                                    <p:animEffect filter="fade" transition="in">
                                      <p:cBhvr>
                                        <p:cTn dur="500"/>
                                        <p:tgtEl>
                                          <p:spTgt spid="3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1" st="1"/>
                                            </p:txEl>
                                          </p:spTgt>
                                        </p:tgtEl>
                                        <p:attrNameLst>
                                          <p:attrName>style.visibility</p:attrName>
                                        </p:attrNameLst>
                                      </p:cBhvr>
                                      <p:to>
                                        <p:strVal val="visible"/>
                                      </p:to>
                                    </p:set>
                                    <p:animEffect filter="fade" transition="in">
                                      <p:cBhvr>
                                        <p:cTn dur="500"/>
                                        <p:tgtEl>
                                          <p:spTgt spid="3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2" st="2"/>
                                            </p:txEl>
                                          </p:spTgt>
                                        </p:tgtEl>
                                        <p:attrNameLst>
                                          <p:attrName>style.visibility</p:attrName>
                                        </p:attrNameLst>
                                      </p:cBhvr>
                                      <p:to>
                                        <p:strVal val="visible"/>
                                      </p:to>
                                    </p:set>
                                    <p:animEffect filter="fade" transition="in">
                                      <p:cBhvr>
                                        <p:cTn dur="500"/>
                                        <p:tgtEl>
                                          <p:spTgt spid="3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3" st="3"/>
                                            </p:txEl>
                                          </p:spTgt>
                                        </p:tgtEl>
                                        <p:attrNameLst>
                                          <p:attrName>style.visibility</p:attrName>
                                        </p:attrNameLst>
                                      </p:cBhvr>
                                      <p:to>
                                        <p:strVal val="visible"/>
                                      </p:to>
                                    </p:set>
                                    <p:animEffect filter="fade" transition="in">
                                      <p:cBhvr>
                                        <p:cTn dur="500"/>
                                        <p:tgtEl>
                                          <p:spTgt spid="3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4" st="4"/>
                                            </p:txEl>
                                          </p:spTgt>
                                        </p:tgtEl>
                                        <p:attrNameLst>
                                          <p:attrName>style.visibility</p:attrName>
                                        </p:attrNameLst>
                                      </p:cBhvr>
                                      <p:to>
                                        <p:strVal val="visible"/>
                                      </p:to>
                                    </p:set>
                                    <p:animEffect filter="fade" transition="in">
                                      <p:cBhvr>
                                        <p:cTn dur="500"/>
                                        <p:tgtEl>
                                          <p:spTgt spid="3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5" st="5"/>
                                            </p:txEl>
                                          </p:spTgt>
                                        </p:tgtEl>
                                        <p:attrNameLst>
                                          <p:attrName>style.visibility</p:attrName>
                                        </p:attrNameLst>
                                      </p:cBhvr>
                                      <p:to>
                                        <p:strVal val="visible"/>
                                      </p:to>
                                    </p:set>
                                    <p:animEffect filter="fade" transition="in">
                                      <p:cBhvr>
                                        <p:cTn dur="500"/>
                                        <p:tgtEl>
                                          <p:spTgt spid="3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6" st="6"/>
                                            </p:txEl>
                                          </p:spTgt>
                                        </p:tgtEl>
                                        <p:attrNameLst>
                                          <p:attrName>style.visibility</p:attrName>
                                        </p:attrNameLst>
                                      </p:cBhvr>
                                      <p:to>
                                        <p:strVal val="visible"/>
                                      </p:to>
                                    </p:set>
                                    <p:animEffect filter="fade" transition="in">
                                      <p:cBhvr>
                                        <p:cTn dur="500"/>
                                        <p:tgtEl>
                                          <p:spTgt spid="35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7"/>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Attributes</a:t>
            </a:r>
            <a:endParaRPr/>
          </a:p>
        </p:txBody>
      </p:sp>
      <p:sp>
        <p:nvSpPr>
          <p:cNvPr id="367" name="Google Shape;367;p7"/>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Attribute is </a:t>
            </a:r>
            <a:r>
              <a:rPr b="1" lang="en-US">
                <a:solidFill>
                  <a:schemeClr val="accent6"/>
                </a:solidFill>
              </a:rPr>
              <a:t>properties</a:t>
            </a:r>
            <a:r>
              <a:rPr lang="en-US"/>
              <a:t> or details about an entity.</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An attribute is represented by an </a:t>
            </a:r>
            <a:r>
              <a:rPr b="1" lang="en-US">
                <a:solidFill>
                  <a:schemeClr val="accent6"/>
                </a:solidFill>
              </a:rPr>
              <a:t>oval</a:t>
            </a:r>
            <a:r>
              <a:rPr lang="en-US"/>
              <a:t> containing name of an attribute.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Attributes of Student are:</a:t>
            </a:r>
            <a:endParaRPr/>
          </a:p>
          <a:p>
            <a:pPr indent="-352425" lvl="1" marL="809625" rtl="0" algn="just">
              <a:lnSpc>
                <a:spcPct val="90000"/>
              </a:lnSpc>
              <a:spcBef>
                <a:spcPts val="500"/>
              </a:spcBef>
              <a:spcAft>
                <a:spcPts val="0"/>
              </a:spcAft>
              <a:buSzPts val="2000"/>
              <a:buChar char="⮩"/>
            </a:pPr>
            <a:r>
              <a:rPr lang="en-US"/>
              <a:t>Roll No</a:t>
            </a:r>
            <a:endParaRPr/>
          </a:p>
          <a:p>
            <a:pPr indent="-352425" lvl="1" marL="809625" rtl="0" algn="just">
              <a:lnSpc>
                <a:spcPct val="90000"/>
              </a:lnSpc>
              <a:spcBef>
                <a:spcPts val="500"/>
              </a:spcBef>
              <a:spcAft>
                <a:spcPts val="0"/>
              </a:spcAft>
              <a:buSzPts val="2000"/>
              <a:buChar char="⮩"/>
            </a:pPr>
            <a:r>
              <a:rPr lang="en-US"/>
              <a:t>Student Name</a:t>
            </a:r>
            <a:endParaRPr/>
          </a:p>
          <a:p>
            <a:pPr indent="-352425" lvl="1" marL="809625" rtl="0" algn="just">
              <a:lnSpc>
                <a:spcPct val="90000"/>
              </a:lnSpc>
              <a:spcBef>
                <a:spcPts val="500"/>
              </a:spcBef>
              <a:spcAft>
                <a:spcPts val="0"/>
              </a:spcAft>
              <a:buSzPts val="2000"/>
              <a:buChar char="⮩"/>
            </a:pPr>
            <a:r>
              <a:rPr lang="en-US"/>
              <a:t>Branch</a:t>
            </a:r>
            <a:endParaRPr/>
          </a:p>
          <a:p>
            <a:pPr indent="-352425" lvl="1" marL="809625" rtl="0" algn="just">
              <a:lnSpc>
                <a:spcPct val="90000"/>
              </a:lnSpc>
              <a:spcBef>
                <a:spcPts val="500"/>
              </a:spcBef>
              <a:spcAft>
                <a:spcPts val="0"/>
              </a:spcAft>
              <a:buSzPts val="2000"/>
              <a:buChar char="⮩"/>
            </a:pPr>
            <a:r>
              <a:rPr lang="en-US"/>
              <a:t>Semester</a:t>
            </a:r>
            <a:endParaRPr/>
          </a:p>
          <a:p>
            <a:pPr indent="-352425" lvl="1" marL="809625" rtl="0" algn="just">
              <a:lnSpc>
                <a:spcPct val="90000"/>
              </a:lnSpc>
              <a:spcBef>
                <a:spcPts val="500"/>
              </a:spcBef>
              <a:spcAft>
                <a:spcPts val="0"/>
              </a:spcAft>
              <a:buSzPts val="2000"/>
              <a:buChar char="⮩"/>
            </a:pPr>
            <a:r>
              <a:rPr lang="en-US"/>
              <a:t>Address</a:t>
            </a:r>
            <a:endParaRPr/>
          </a:p>
          <a:p>
            <a:pPr indent="-352425" lvl="1" marL="809625" rtl="0" algn="just">
              <a:lnSpc>
                <a:spcPct val="90000"/>
              </a:lnSpc>
              <a:spcBef>
                <a:spcPts val="500"/>
              </a:spcBef>
              <a:spcAft>
                <a:spcPts val="0"/>
              </a:spcAft>
              <a:buSzPts val="2000"/>
              <a:buChar char="⮩"/>
            </a:pPr>
            <a:r>
              <a:rPr lang="en-US"/>
              <a:t>Mobile No</a:t>
            </a:r>
            <a:endParaRPr/>
          </a:p>
          <a:p>
            <a:pPr indent="-352425" lvl="1" marL="809625" rtl="0" algn="just">
              <a:lnSpc>
                <a:spcPct val="90000"/>
              </a:lnSpc>
              <a:spcBef>
                <a:spcPts val="500"/>
              </a:spcBef>
              <a:spcAft>
                <a:spcPts val="0"/>
              </a:spcAft>
              <a:buSzPts val="2000"/>
              <a:buChar char="⮩"/>
            </a:pPr>
            <a:r>
              <a:rPr lang="en-US"/>
              <a:t>Age</a:t>
            </a:r>
            <a:endParaRPr/>
          </a:p>
          <a:p>
            <a:pPr indent="-352425" lvl="1" marL="809625" rtl="0" algn="just">
              <a:lnSpc>
                <a:spcPct val="90000"/>
              </a:lnSpc>
              <a:spcBef>
                <a:spcPts val="500"/>
              </a:spcBef>
              <a:spcAft>
                <a:spcPts val="0"/>
              </a:spcAft>
              <a:buSzPts val="2000"/>
              <a:buChar char="⮩"/>
            </a:pPr>
            <a:r>
              <a:rPr lang="en-US"/>
              <a:t>SPI</a:t>
            </a:r>
            <a:endParaRPr/>
          </a:p>
          <a:p>
            <a:pPr indent="-352425" lvl="1" marL="809625" rtl="0" algn="just">
              <a:lnSpc>
                <a:spcPct val="90000"/>
              </a:lnSpc>
              <a:spcBef>
                <a:spcPts val="500"/>
              </a:spcBef>
              <a:spcAft>
                <a:spcPts val="0"/>
              </a:spcAft>
              <a:buSzPts val="2000"/>
              <a:buChar char="⮩"/>
            </a:pPr>
            <a:r>
              <a:rPr lang="en-US"/>
              <a:t>Backlogs</a:t>
            </a:r>
            <a:endParaRPr/>
          </a:p>
          <a:p>
            <a:pPr indent="-225425" lvl="1" marL="809625" rtl="0" algn="just">
              <a:lnSpc>
                <a:spcPct val="90000"/>
              </a:lnSpc>
              <a:spcBef>
                <a:spcPts val="500"/>
              </a:spcBef>
              <a:spcAft>
                <a:spcPts val="0"/>
              </a:spcAft>
              <a:buSzPts val="2000"/>
              <a:buNone/>
            </a:pPr>
            <a:r>
              <a:t/>
            </a:r>
            <a:endParaRPr/>
          </a:p>
        </p:txBody>
      </p:sp>
      <p:pic>
        <p:nvPicPr>
          <p:cNvPr id="368" name="Google Shape;368;p7"/>
          <p:cNvPicPr preferRelativeResize="0"/>
          <p:nvPr/>
        </p:nvPicPr>
        <p:blipFill rotWithShape="1">
          <a:blip r:embed="rId3">
            <a:alphaModFix/>
          </a:blip>
          <a:srcRect b="7451" l="26000" r="24991" t="0"/>
          <a:stretch/>
        </p:blipFill>
        <p:spPr>
          <a:xfrm>
            <a:off x="3566392" y="2149077"/>
            <a:ext cx="1013672" cy="2953415"/>
          </a:xfrm>
          <a:prstGeom prst="rect">
            <a:avLst/>
          </a:prstGeom>
          <a:noFill/>
          <a:ln>
            <a:noFill/>
          </a:ln>
        </p:spPr>
      </p:pic>
      <p:sp>
        <p:nvSpPr>
          <p:cNvPr id="369" name="Google Shape;369;p7"/>
          <p:cNvSpPr txBox="1"/>
          <p:nvPr/>
        </p:nvSpPr>
        <p:spPr>
          <a:xfrm>
            <a:off x="9989637" y="1787559"/>
            <a:ext cx="98072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Symbol</a:t>
            </a:r>
            <a:endParaRPr sz="1800">
              <a:solidFill>
                <a:schemeClr val="dk1"/>
              </a:solidFill>
              <a:latin typeface="Roboto Condensed"/>
              <a:ea typeface="Roboto Condensed"/>
              <a:cs typeface="Roboto Condensed"/>
              <a:sym typeface="Roboto Condensed"/>
            </a:endParaRPr>
          </a:p>
        </p:txBody>
      </p:sp>
      <p:sp>
        <p:nvSpPr>
          <p:cNvPr id="370" name="Google Shape;370;p7"/>
          <p:cNvSpPr/>
          <p:nvPr/>
        </p:nvSpPr>
        <p:spPr>
          <a:xfrm>
            <a:off x="9480689" y="884827"/>
            <a:ext cx="1998617" cy="79273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Attribute Name</a:t>
            </a:r>
            <a:endParaRPr/>
          </a:p>
        </p:txBody>
      </p:sp>
      <p:sp>
        <p:nvSpPr>
          <p:cNvPr id="371" name="Google Shape;371;p7"/>
          <p:cNvSpPr/>
          <p:nvPr/>
        </p:nvSpPr>
        <p:spPr>
          <a:xfrm>
            <a:off x="7166190" y="3557610"/>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800">
              <a:solidFill>
                <a:schemeClr val="dk1"/>
              </a:solidFill>
              <a:latin typeface="Roboto Condensed"/>
              <a:ea typeface="Roboto Condensed"/>
              <a:cs typeface="Roboto Condensed"/>
              <a:sym typeface="Roboto Condensed"/>
            </a:endParaRPr>
          </a:p>
        </p:txBody>
      </p:sp>
      <p:cxnSp>
        <p:nvCxnSpPr>
          <p:cNvPr id="372" name="Google Shape;372;p7"/>
          <p:cNvCxnSpPr>
            <a:stCxn id="373" idx="4"/>
            <a:endCxn id="371" idx="0"/>
          </p:cNvCxnSpPr>
          <p:nvPr/>
        </p:nvCxnSpPr>
        <p:spPr>
          <a:xfrm>
            <a:off x="7051887" y="3091245"/>
            <a:ext cx="963300" cy="4665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373" name="Google Shape;373;p7"/>
          <p:cNvSpPr/>
          <p:nvPr/>
        </p:nvSpPr>
        <p:spPr>
          <a:xfrm>
            <a:off x="6320367" y="2551245"/>
            <a:ext cx="1463040" cy="54000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RollNo</a:t>
            </a:r>
            <a:endParaRPr sz="1800">
              <a:solidFill>
                <a:schemeClr val="dk1"/>
              </a:solidFill>
              <a:latin typeface="Roboto Condensed"/>
              <a:ea typeface="Roboto Condensed"/>
              <a:cs typeface="Roboto Condensed"/>
              <a:sym typeface="Roboto Condensed"/>
            </a:endParaRPr>
          </a:p>
        </p:txBody>
      </p:sp>
      <p:cxnSp>
        <p:nvCxnSpPr>
          <p:cNvPr id="374" name="Google Shape;374;p7"/>
          <p:cNvCxnSpPr>
            <a:stCxn id="375" idx="4"/>
            <a:endCxn id="371" idx="0"/>
          </p:cNvCxnSpPr>
          <p:nvPr/>
        </p:nvCxnSpPr>
        <p:spPr>
          <a:xfrm flipH="1">
            <a:off x="8015410" y="3068834"/>
            <a:ext cx="654600" cy="4887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375" name="Google Shape;375;p7"/>
          <p:cNvSpPr/>
          <p:nvPr/>
        </p:nvSpPr>
        <p:spPr>
          <a:xfrm>
            <a:off x="7938490" y="2528834"/>
            <a:ext cx="1463040" cy="54000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sz="1800">
              <a:solidFill>
                <a:schemeClr val="dk1"/>
              </a:solidFill>
              <a:latin typeface="Roboto Condensed"/>
              <a:ea typeface="Roboto Condensed"/>
              <a:cs typeface="Roboto Condensed"/>
              <a:sym typeface="Roboto Condensed"/>
            </a:endParaRPr>
          </a:p>
        </p:txBody>
      </p:sp>
      <p:cxnSp>
        <p:nvCxnSpPr>
          <p:cNvPr id="376" name="Google Shape;376;p7"/>
          <p:cNvCxnSpPr/>
          <p:nvPr/>
        </p:nvCxnSpPr>
        <p:spPr>
          <a:xfrm>
            <a:off x="688878" y="5745577"/>
            <a:ext cx="6327648" cy="7823"/>
          </a:xfrm>
          <a:prstGeom prst="straightConnector1">
            <a:avLst/>
          </a:prstGeom>
          <a:noFill/>
          <a:ln cap="flat" cmpd="sng" w="28575">
            <a:solidFill>
              <a:schemeClr val="accent6"/>
            </a:solidFill>
            <a:prstDash val="solid"/>
            <a:miter lim="800000"/>
            <a:headEnd len="sm" w="sm" type="none"/>
            <a:tailEnd len="sm" w="sm" type="none"/>
          </a:ln>
        </p:spPr>
      </p:cxnSp>
      <p:graphicFrame>
        <p:nvGraphicFramePr>
          <p:cNvPr id="377" name="Google Shape;377;p7"/>
          <p:cNvGraphicFramePr/>
          <p:nvPr/>
        </p:nvGraphicFramePr>
        <p:xfrm>
          <a:off x="688878" y="5357592"/>
          <a:ext cx="3000000" cy="3000000"/>
        </p:xfrm>
        <a:graphic>
          <a:graphicData uri="http://schemas.openxmlformats.org/drawingml/2006/table">
            <a:tbl>
              <a:tblPr bandRow="1" firstRow="1">
                <a:noFill/>
                <a:tableStyleId>{2FE9E659-6503-4E8C-9AC6-ED4A2EF7120C}</a:tableStyleId>
              </a:tblPr>
              <a:tblGrid>
                <a:gridCol w="1100450"/>
              </a:tblGrid>
              <a:tr h="285500">
                <a:tc>
                  <a:txBody>
                    <a:bodyPr/>
                    <a:lstStyle/>
                    <a:p>
                      <a:pPr indent="0" lvl="0" marL="0" marR="0" rtl="0" algn="l">
                        <a:spcBef>
                          <a:spcPts val="0"/>
                        </a:spcBef>
                        <a:spcAft>
                          <a:spcPts val="0"/>
                        </a:spcAft>
                        <a:buNone/>
                      </a:pPr>
                      <a:r>
                        <a:rPr b="1" lang="en-US" sz="2000" u="none" cap="none" strike="noStrike">
                          <a:solidFill>
                            <a:schemeClr val="lt1"/>
                          </a:solidFill>
                        </a:rPr>
                        <a:t>Exercise</a:t>
                      </a:r>
                      <a:endParaRPr b="1" sz="2000" u="none" cap="none" strike="noStrike">
                        <a:solidFill>
                          <a:schemeClr val="lt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r>
            </a:tbl>
          </a:graphicData>
        </a:graphic>
      </p:graphicFrame>
      <p:graphicFrame>
        <p:nvGraphicFramePr>
          <p:cNvPr id="378" name="Google Shape;378;p7"/>
          <p:cNvGraphicFramePr/>
          <p:nvPr/>
        </p:nvGraphicFramePr>
        <p:xfrm>
          <a:off x="1787807" y="5348704"/>
          <a:ext cx="3000000" cy="3000000"/>
        </p:xfrm>
        <a:graphic>
          <a:graphicData uri="http://schemas.openxmlformats.org/drawingml/2006/table">
            <a:tbl>
              <a:tblPr bandRow="1" firstRow="1">
                <a:noFill/>
                <a:tableStyleId>{2FE9E659-6503-4E8C-9AC6-ED4A2EF7120C}</a:tableStyleId>
              </a:tblPr>
              <a:tblGrid>
                <a:gridCol w="5420050"/>
              </a:tblGrid>
              <a:tr h="285500">
                <a:tc>
                  <a:txBody>
                    <a:bodyPr/>
                    <a:lstStyle/>
                    <a:p>
                      <a:pPr indent="0" lvl="0" marL="0" marR="0" rtl="0" algn="l">
                        <a:spcBef>
                          <a:spcPts val="0"/>
                        </a:spcBef>
                        <a:spcAft>
                          <a:spcPts val="0"/>
                        </a:spcAft>
                        <a:buNone/>
                      </a:pPr>
                      <a:r>
                        <a:rPr b="0" lang="en-US" sz="2000" u="none" cap="none" strike="noStrike">
                          <a:solidFill>
                            <a:schemeClr val="dk1"/>
                          </a:solidFill>
                          <a:latin typeface="Roboto Condensed"/>
                          <a:ea typeface="Roboto Condensed"/>
                          <a:cs typeface="Roboto Condensed"/>
                          <a:sym typeface="Roboto Condensed"/>
                        </a:rPr>
                        <a:t>Write down the different </a:t>
                      </a:r>
                      <a:r>
                        <a:rPr b="0" lang="en-US" sz="2000" u="none" cap="none" strike="noStrike">
                          <a:solidFill>
                            <a:schemeClr val="dk2"/>
                          </a:solidFill>
                          <a:latin typeface="Roboto Condensed"/>
                          <a:ea typeface="Roboto Condensed"/>
                          <a:cs typeface="Roboto Condensed"/>
                          <a:sym typeface="Roboto Condensed"/>
                        </a:rPr>
                        <a:t>attributes</a:t>
                      </a:r>
                      <a:r>
                        <a:rPr b="0" lang="en-US" sz="2000" u="none" cap="none" strike="noStrike">
                          <a:solidFill>
                            <a:schemeClr val="dk1"/>
                          </a:solidFill>
                          <a:latin typeface="Roboto Condensed"/>
                          <a:ea typeface="Roboto Condensed"/>
                          <a:cs typeface="Roboto Condensed"/>
                          <a:sym typeface="Roboto Condensed"/>
                        </a:rPr>
                        <a:t> of </a:t>
                      </a:r>
                      <a:r>
                        <a:rPr b="0" lang="en-US" sz="2000" u="none" cap="none" strike="noStrike">
                          <a:solidFill>
                            <a:schemeClr val="dk2"/>
                          </a:solidFill>
                          <a:latin typeface="Roboto Condensed"/>
                          <a:ea typeface="Roboto Condensed"/>
                          <a:cs typeface="Roboto Condensed"/>
                          <a:sym typeface="Roboto Condensed"/>
                        </a:rPr>
                        <a:t>Faculty entity</a:t>
                      </a:r>
                      <a:r>
                        <a:rPr b="0" lang="en-US" sz="2000" u="none" cap="none" strike="noStrike">
                          <a:solidFill>
                            <a:schemeClr val="dk1"/>
                          </a:solidFill>
                          <a:latin typeface="Roboto Condensed"/>
                          <a:ea typeface="Roboto Condensed"/>
                          <a:cs typeface="Roboto Condensed"/>
                          <a:sym typeface="Roboto Condensed"/>
                        </a:rPr>
                        <a:t>.</a:t>
                      </a:r>
                      <a:endParaRPr b="0" sz="2000" u="none" cap="none" strike="noStrike">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379" name="Google Shape;379;p7"/>
          <p:cNvCxnSpPr/>
          <p:nvPr/>
        </p:nvCxnSpPr>
        <p:spPr>
          <a:xfrm>
            <a:off x="688878" y="6391033"/>
            <a:ext cx="6446520" cy="7823"/>
          </a:xfrm>
          <a:prstGeom prst="straightConnector1">
            <a:avLst/>
          </a:prstGeom>
          <a:noFill/>
          <a:ln cap="flat" cmpd="sng" w="28575">
            <a:solidFill>
              <a:schemeClr val="accent6"/>
            </a:solidFill>
            <a:prstDash val="solid"/>
            <a:miter lim="800000"/>
            <a:headEnd len="sm" w="sm" type="none"/>
            <a:tailEnd len="sm" w="sm" type="none"/>
          </a:ln>
        </p:spPr>
      </p:cxnSp>
      <p:graphicFrame>
        <p:nvGraphicFramePr>
          <p:cNvPr id="380" name="Google Shape;380;p7"/>
          <p:cNvGraphicFramePr/>
          <p:nvPr/>
        </p:nvGraphicFramePr>
        <p:xfrm>
          <a:off x="688878" y="6003048"/>
          <a:ext cx="3000000" cy="3000000"/>
        </p:xfrm>
        <a:graphic>
          <a:graphicData uri="http://schemas.openxmlformats.org/drawingml/2006/table">
            <a:tbl>
              <a:tblPr bandRow="1" firstRow="1">
                <a:noFill/>
                <a:tableStyleId>{2FE9E659-6503-4E8C-9AC6-ED4A2EF7120C}</a:tableStyleId>
              </a:tblPr>
              <a:tblGrid>
                <a:gridCol w="1100450"/>
              </a:tblGrid>
              <a:tr h="285500">
                <a:tc>
                  <a:txBody>
                    <a:bodyPr/>
                    <a:lstStyle/>
                    <a:p>
                      <a:pPr indent="0" lvl="0" marL="0" marR="0" rtl="0" algn="l">
                        <a:spcBef>
                          <a:spcPts val="0"/>
                        </a:spcBef>
                        <a:spcAft>
                          <a:spcPts val="0"/>
                        </a:spcAft>
                        <a:buNone/>
                      </a:pPr>
                      <a:r>
                        <a:rPr b="1" lang="en-US" sz="2000" u="none" cap="none" strike="noStrike">
                          <a:solidFill>
                            <a:schemeClr val="lt1"/>
                          </a:solidFill>
                        </a:rPr>
                        <a:t>Exercise</a:t>
                      </a:r>
                      <a:endParaRPr b="1" sz="2000" u="none" cap="none" strike="noStrike">
                        <a:solidFill>
                          <a:schemeClr val="lt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6"/>
                    </a:solidFill>
                  </a:tcPr>
                </a:tc>
              </a:tr>
            </a:tbl>
          </a:graphicData>
        </a:graphic>
      </p:graphicFrame>
      <p:graphicFrame>
        <p:nvGraphicFramePr>
          <p:cNvPr id="381" name="Google Shape;381;p7"/>
          <p:cNvGraphicFramePr/>
          <p:nvPr/>
        </p:nvGraphicFramePr>
        <p:xfrm>
          <a:off x="1787807" y="5994160"/>
          <a:ext cx="3000000" cy="3000000"/>
        </p:xfrm>
        <a:graphic>
          <a:graphicData uri="http://schemas.openxmlformats.org/drawingml/2006/table">
            <a:tbl>
              <a:tblPr bandRow="1" firstRow="1">
                <a:noFill/>
                <a:tableStyleId>{2FE9E659-6503-4E8C-9AC6-ED4A2EF7120C}</a:tableStyleId>
              </a:tblPr>
              <a:tblGrid>
                <a:gridCol w="5640700"/>
              </a:tblGrid>
              <a:tr h="285500">
                <a:tc>
                  <a:txBody>
                    <a:bodyPr/>
                    <a:lstStyle/>
                    <a:p>
                      <a:pPr indent="0" lvl="0" marL="0" marR="0" rtl="0" algn="l">
                        <a:spcBef>
                          <a:spcPts val="0"/>
                        </a:spcBef>
                        <a:spcAft>
                          <a:spcPts val="0"/>
                        </a:spcAft>
                        <a:buNone/>
                      </a:pPr>
                      <a:r>
                        <a:rPr b="0" lang="en-US" sz="2000" u="none" cap="none" strike="noStrike">
                          <a:solidFill>
                            <a:schemeClr val="dk1"/>
                          </a:solidFill>
                          <a:latin typeface="Roboto Condensed"/>
                          <a:ea typeface="Roboto Condensed"/>
                          <a:cs typeface="Roboto Condensed"/>
                          <a:sym typeface="Roboto Condensed"/>
                        </a:rPr>
                        <a:t>Write down the different </a:t>
                      </a:r>
                      <a:r>
                        <a:rPr b="0" lang="en-US" sz="2000" u="none" cap="none" strike="noStrike">
                          <a:solidFill>
                            <a:schemeClr val="dk2"/>
                          </a:solidFill>
                          <a:latin typeface="Roboto Condensed"/>
                          <a:ea typeface="Roboto Condensed"/>
                          <a:cs typeface="Roboto Condensed"/>
                          <a:sym typeface="Roboto Condensed"/>
                        </a:rPr>
                        <a:t>attributes</a:t>
                      </a:r>
                      <a:r>
                        <a:rPr b="0" lang="en-US" sz="2000" u="none" cap="none" strike="noStrike">
                          <a:solidFill>
                            <a:schemeClr val="dk1"/>
                          </a:solidFill>
                          <a:latin typeface="Roboto Condensed"/>
                          <a:ea typeface="Roboto Condensed"/>
                          <a:cs typeface="Roboto Condensed"/>
                          <a:sym typeface="Roboto Condensed"/>
                        </a:rPr>
                        <a:t> of </a:t>
                      </a:r>
                      <a:r>
                        <a:rPr b="0" lang="en-US" sz="2000" u="none" cap="none" strike="noStrike">
                          <a:solidFill>
                            <a:schemeClr val="dk2"/>
                          </a:solidFill>
                          <a:latin typeface="Roboto Condensed"/>
                          <a:ea typeface="Roboto Condensed"/>
                          <a:cs typeface="Roboto Condensed"/>
                          <a:sym typeface="Roboto Condensed"/>
                        </a:rPr>
                        <a:t>Account entity</a:t>
                      </a:r>
                      <a:r>
                        <a:rPr b="0" lang="en-US" sz="2000" u="none" cap="none" strike="noStrike">
                          <a:solidFill>
                            <a:schemeClr val="dk1"/>
                          </a:solidFill>
                          <a:latin typeface="Roboto Condensed"/>
                          <a:ea typeface="Roboto Condensed"/>
                          <a:cs typeface="Roboto Condensed"/>
                          <a:sym typeface="Roboto Condensed"/>
                        </a:rPr>
                        <a:t>.</a:t>
                      </a:r>
                      <a:endParaRPr b="0" sz="2000" u="none" cap="none" strike="noStrike">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0" st="0"/>
                                            </p:txEl>
                                          </p:spTgt>
                                        </p:tgtEl>
                                        <p:attrNameLst>
                                          <p:attrName>style.visibility</p:attrName>
                                        </p:attrNameLst>
                                      </p:cBhvr>
                                      <p:to>
                                        <p:strVal val="visible"/>
                                      </p:to>
                                    </p:set>
                                    <p:animEffect filter="fade" transition="in">
                                      <p:cBhvr>
                                        <p:cTn dur="500"/>
                                        <p:tgtEl>
                                          <p:spTgt spid="3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1" st="1"/>
                                            </p:txEl>
                                          </p:spTgt>
                                        </p:tgtEl>
                                        <p:attrNameLst>
                                          <p:attrName>style.visibility</p:attrName>
                                        </p:attrNameLst>
                                      </p:cBhvr>
                                      <p:to>
                                        <p:strVal val="visible"/>
                                      </p:to>
                                    </p:set>
                                    <p:animEffect filter="fade" transition="in">
                                      <p:cBhvr>
                                        <p:cTn dur="500"/>
                                        <p:tgtEl>
                                          <p:spTgt spid="3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2" st="2"/>
                                            </p:txEl>
                                          </p:spTgt>
                                        </p:tgtEl>
                                        <p:attrNameLst>
                                          <p:attrName>style.visibility</p:attrName>
                                        </p:attrNameLst>
                                      </p:cBhvr>
                                      <p:to>
                                        <p:strVal val="visible"/>
                                      </p:to>
                                    </p:set>
                                    <p:animEffect filter="fade" transition="in">
                                      <p:cBhvr>
                                        <p:cTn dur="500"/>
                                        <p:tgtEl>
                                          <p:spTgt spid="3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3" st="3"/>
                                            </p:txEl>
                                          </p:spTgt>
                                        </p:tgtEl>
                                        <p:attrNameLst>
                                          <p:attrName>style.visibility</p:attrName>
                                        </p:attrNameLst>
                                      </p:cBhvr>
                                      <p:to>
                                        <p:strVal val="visible"/>
                                      </p:to>
                                    </p:set>
                                    <p:animEffect filter="fade" transition="in">
                                      <p:cBhvr>
                                        <p:cTn dur="500"/>
                                        <p:tgtEl>
                                          <p:spTgt spid="3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4" st="4"/>
                                            </p:txEl>
                                          </p:spTgt>
                                        </p:tgtEl>
                                        <p:attrNameLst>
                                          <p:attrName>style.visibility</p:attrName>
                                        </p:attrNameLst>
                                      </p:cBhvr>
                                      <p:to>
                                        <p:strVal val="visible"/>
                                      </p:to>
                                    </p:set>
                                    <p:animEffect filter="fade" transition="in">
                                      <p:cBhvr>
                                        <p:cTn dur="500"/>
                                        <p:tgtEl>
                                          <p:spTgt spid="3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5" st="5"/>
                                            </p:txEl>
                                          </p:spTgt>
                                        </p:tgtEl>
                                        <p:attrNameLst>
                                          <p:attrName>style.visibility</p:attrName>
                                        </p:attrNameLst>
                                      </p:cBhvr>
                                      <p:to>
                                        <p:strVal val="visible"/>
                                      </p:to>
                                    </p:set>
                                    <p:animEffect filter="fade" transition="in">
                                      <p:cBhvr>
                                        <p:cTn dur="500"/>
                                        <p:tgtEl>
                                          <p:spTgt spid="3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6" st="6"/>
                                            </p:txEl>
                                          </p:spTgt>
                                        </p:tgtEl>
                                        <p:attrNameLst>
                                          <p:attrName>style.visibility</p:attrName>
                                        </p:attrNameLst>
                                      </p:cBhvr>
                                      <p:to>
                                        <p:strVal val="visible"/>
                                      </p:to>
                                    </p:set>
                                    <p:animEffect filter="fade" transition="in">
                                      <p:cBhvr>
                                        <p:cTn dur="500"/>
                                        <p:tgtEl>
                                          <p:spTgt spid="3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7" st="7"/>
                                            </p:txEl>
                                          </p:spTgt>
                                        </p:tgtEl>
                                        <p:attrNameLst>
                                          <p:attrName>style.visibility</p:attrName>
                                        </p:attrNameLst>
                                      </p:cBhvr>
                                      <p:to>
                                        <p:strVal val="visible"/>
                                      </p:to>
                                    </p:set>
                                    <p:animEffect filter="fade" transition="in">
                                      <p:cBhvr>
                                        <p:cTn dur="500"/>
                                        <p:tgtEl>
                                          <p:spTgt spid="3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8" st="8"/>
                                            </p:txEl>
                                          </p:spTgt>
                                        </p:tgtEl>
                                        <p:attrNameLst>
                                          <p:attrName>style.visibility</p:attrName>
                                        </p:attrNameLst>
                                      </p:cBhvr>
                                      <p:to>
                                        <p:strVal val="visible"/>
                                      </p:to>
                                    </p:set>
                                    <p:animEffect filter="fade" transition="in">
                                      <p:cBhvr>
                                        <p:cTn dur="500"/>
                                        <p:tgtEl>
                                          <p:spTgt spid="3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9" st="9"/>
                                            </p:txEl>
                                          </p:spTgt>
                                        </p:tgtEl>
                                        <p:attrNameLst>
                                          <p:attrName>style.visibility</p:attrName>
                                        </p:attrNameLst>
                                      </p:cBhvr>
                                      <p:to>
                                        <p:strVal val="visible"/>
                                      </p:to>
                                    </p:set>
                                    <p:animEffect filter="fade" transition="in">
                                      <p:cBhvr>
                                        <p:cTn dur="500"/>
                                        <p:tgtEl>
                                          <p:spTgt spid="3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10" st="10"/>
                                            </p:txEl>
                                          </p:spTgt>
                                        </p:tgtEl>
                                        <p:attrNameLst>
                                          <p:attrName>style.visibility</p:attrName>
                                        </p:attrNameLst>
                                      </p:cBhvr>
                                      <p:to>
                                        <p:strVal val="visible"/>
                                      </p:to>
                                    </p:set>
                                    <p:animEffect filter="fade" transition="in">
                                      <p:cBhvr>
                                        <p:cTn dur="500"/>
                                        <p:tgtEl>
                                          <p:spTgt spid="36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11" st="11"/>
                                            </p:txEl>
                                          </p:spTgt>
                                        </p:tgtEl>
                                        <p:attrNameLst>
                                          <p:attrName>style.visibility</p:attrName>
                                        </p:attrNameLst>
                                      </p:cBhvr>
                                      <p:to>
                                        <p:strVal val="visible"/>
                                      </p:to>
                                    </p:set>
                                    <p:animEffect filter="fade" transition="in">
                                      <p:cBhvr>
                                        <p:cTn dur="500"/>
                                        <p:tgtEl>
                                          <p:spTgt spid="36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xEl>
                                              <p:pRg end="12" st="12"/>
                                            </p:txEl>
                                          </p:spTgt>
                                        </p:tgtEl>
                                        <p:attrNameLst>
                                          <p:attrName>style.visibility</p:attrName>
                                        </p:attrNameLst>
                                      </p:cBhvr>
                                      <p:to>
                                        <p:strVal val="visible"/>
                                      </p:to>
                                    </p:set>
                                    <p:animEffect filter="fade" transition="in">
                                      <p:cBhvr>
                                        <p:cTn dur="500"/>
                                        <p:tgtEl>
                                          <p:spTgt spid="36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par>
                                <p:cTn fill="hold" nodeType="withEffect" presetClass="entr" presetID="10" presetSubtype="0">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Effect filter="fade" transition="in">
                                      <p:cBhvr>
                                        <p:cTn dur="500"/>
                                        <p:tgtEl>
                                          <p:spTgt spid="37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par>
                                <p:cTn fill="hold" nodeType="with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8"/>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Relationship</a:t>
            </a:r>
            <a:endParaRPr/>
          </a:p>
        </p:txBody>
      </p:sp>
      <p:sp>
        <p:nvSpPr>
          <p:cNvPr id="387" name="Google Shape;387;p8"/>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Relationship is an </a:t>
            </a:r>
            <a:r>
              <a:rPr b="1" lang="en-US">
                <a:solidFill>
                  <a:schemeClr val="accent6"/>
                </a:solidFill>
              </a:rPr>
              <a:t>association</a:t>
            </a:r>
            <a:r>
              <a:rPr lang="en-US"/>
              <a:t> (connection) between several entities.</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It should be placed between two entities and a line connecting it to an entity.</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A relationship is represented by a </a:t>
            </a:r>
            <a:r>
              <a:rPr b="1" lang="en-US">
                <a:solidFill>
                  <a:schemeClr val="accent6"/>
                </a:solidFill>
              </a:rPr>
              <a:t>diamond</a:t>
            </a:r>
            <a:r>
              <a:rPr lang="en-US"/>
              <a:t> containing relationship's name.</a:t>
            </a:r>
            <a:endParaRPr/>
          </a:p>
        </p:txBody>
      </p:sp>
      <p:sp>
        <p:nvSpPr>
          <p:cNvPr id="388" name="Google Shape;388;p8"/>
          <p:cNvSpPr/>
          <p:nvPr/>
        </p:nvSpPr>
        <p:spPr>
          <a:xfrm>
            <a:off x="3124620" y="2562785"/>
            <a:ext cx="3103172"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Relationship Name</a:t>
            </a:r>
            <a:endParaRPr sz="1800">
              <a:solidFill>
                <a:schemeClr val="dk1"/>
              </a:solidFill>
              <a:latin typeface="Roboto Condensed"/>
              <a:ea typeface="Roboto Condensed"/>
              <a:cs typeface="Roboto Condensed"/>
              <a:sym typeface="Roboto Condensed"/>
            </a:endParaRPr>
          </a:p>
        </p:txBody>
      </p:sp>
      <p:sp>
        <p:nvSpPr>
          <p:cNvPr id="389" name="Google Shape;389;p8"/>
          <p:cNvSpPr txBox="1"/>
          <p:nvPr/>
        </p:nvSpPr>
        <p:spPr>
          <a:xfrm>
            <a:off x="4185846" y="3578785"/>
            <a:ext cx="98072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Symbol</a:t>
            </a:r>
            <a:endParaRPr sz="1800">
              <a:solidFill>
                <a:schemeClr val="dk1"/>
              </a:solidFill>
              <a:latin typeface="Roboto Condensed"/>
              <a:ea typeface="Roboto Condensed"/>
              <a:cs typeface="Roboto Condensed"/>
              <a:sym typeface="Roboto Condensed"/>
            </a:endParaRPr>
          </a:p>
        </p:txBody>
      </p:sp>
      <p:sp>
        <p:nvSpPr>
          <p:cNvPr id="390" name="Google Shape;390;p8"/>
          <p:cNvSpPr/>
          <p:nvPr/>
        </p:nvSpPr>
        <p:spPr>
          <a:xfrm>
            <a:off x="1294302" y="4553494"/>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800">
              <a:solidFill>
                <a:schemeClr val="dk1"/>
              </a:solidFill>
              <a:latin typeface="Roboto Condensed"/>
              <a:ea typeface="Roboto Condensed"/>
              <a:cs typeface="Roboto Condensed"/>
              <a:sym typeface="Roboto Condensed"/>
            </a:endParaRPr>
          </a:p>
        </p:txBody>
      </p:sp>
      <p:sp>
        <p:nvSpPr>
          <p:cNvPr id="391" name="Google Shape;391;p8"/>
          <p:cNvSpPr/>
          <p:nvPr/>
        </p:nvSpPr>
        <p:spPr>
          <a:xfrm>
            <a:off x="6474279" y="4553494"/>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Book</a:t>
            </a:r>
            <a:endParaRPr sz="1800">
              <a:solidFill>
                <a:schemeClr val="dk1"/>
              </a:solidFill>
              <a:latin typeface="Roboto Condensed"/>
              <a:ea typeface="Roboto Condensed"/>
              <a:cs typeface="Roboto Condensed"/>
              <a:sym typeface="Roboto Condensed"/>
            </a:endParaRPr>
          </a:p>
        </p:txBody>
      </p:sp>
      <p:sp>
        <p:nvSpPr>
          <p:cNvPr id="392" name="Google Shape;392;p8"/>
          <p:cNvSpPr/>
          <p:nvPr/>
        </p:nvSpPr>
        <p:spPr>
          <a:xfrm>
            <a:off x="3868228" y="4479470"/>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Issue</a:t>
            </a:r>
            <a:endParaRPr/>
          </a:p>
        </p:txBody>
      </p:sp>
      <p:cxnSp>
        <p:nvCxnSpPr>
          <p:cNvPr id="393" name="Google Shape;393;p8"/>
          <p:cNvCxnSpPr/>
          <p:nvPr/>
        </p:nvCxnSpPr>
        <p:spPr>
          <a:xfrm>
            <a:off x="5592526" y="4925785"/>
            <a:ext cx="881753" cy="1"/>
          </a:xfrm>
          <a:prstGeom prst="straightConnector1">
            <a:avLst/>
          </a:prstGeom>
          <a:noFill/>
          <a:ln cap="flat" cmpd="sng" w="28575">
            <a:solidFill>
              <a:schemeClr val="accent4"/>
            </a:solidFill>
            <a:prstDash val="solid"/>
            <a:miter lim="800000"/>
            <a:headEnd len="sm" w="sm" type="none"/>
            <a:tailEnd len="sm" w="sm" type="none"/>
          </a:ln>
        </p:spPr>
      </p:cxnSp>
      <p:cxnSp>
        <p:nvCxnSpPr>
          <p:cNvPr id="394" name="Google Shape;394;p8"/>
          <p:cNvCxnSpPr/>
          <p:nvPr/>
        </p:nvCxnSpPr>
        <p:spPr>
          <a:xfrm>
            <a:off x="2986475" y="4925785"/>
            <a:ext cx="881753" cy="1"/>
          </a:xfrm>
          <a:prstGeom prst="straightConnector1">
            <a:avLst/>
          </a:prstGeom>
          <a:noFill/>
          <a:ln cap="flat" cmpd="sng" w="28575">
            <a:solidFill>
              <a:schemeClr val="accent4"/>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0" st="0"/>
                                            </p:txEl>
                                          </p:spTgt>
                                        </p:tgtEl>
                                        <p:attrNameLst>
                                          <p:attrName>style.visibility</p:attrName>
                                        </p:attrNameLst>
                                      </p:cBhvr>
                                      <p:to>
                                        <p:strVal val="visible"/>
                                      </p:to>
                                    </p:set>
                                    <p:animEffect filter="fade" transition="in">
                                      <p:cBhvr>
                                        <p:cTn dur="500"/>
                                        <p:tgtEl>
                                          <p:spTgt spid="3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1" st="1"/>
                                            </p:txEl>
                                          </p:spTgt>
                                        </p:tgtEl>
                                        <p:attrNameLst>
                                          <p:attrName>style.visibility</p:attrName>
                                        </p:attrNameLst>
                                      </p:cBhvr>
                                      <p:to>
                                        <p:strVal val="visible"/>
                                      </p:to>
                                    </p:set>
                                    <p:animEffect filter="fade" transition="in">
                                      <p:cBhvr>
                                        <p:cTn dur="500"/>
                                        <p:tgtEl>
                                          <p:spTgt spid="3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xEl>
                                              <p:pRg end="2" st="2"/>
                                            </p:txEl>
                                          </p:spTgt>
                                        </p:tgtEl>
                                        <p:attrNameLst>
                                          <p:attrName>style.visibility</p:attrName>
                                        </p:attrNameLst>
                                      </p:cBhvr>
                                      <p:to>
                                        <p:strVal val="visible"/>
                                      </p:to>
                                    </p:set>
                                    <p:animEffect filter="fade" transition="in">
                                      <p:cBhvr>
                                        <p:cTn dur="500"/>
                                        <p:tgtEl>
                                          <p:spTgt spid="3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8">
                                            <p:txEl>
                                              <p:pRg end="0" st="0"/>
                                            </p:txEl>
                                          </p:spTgt>
                                        </p:tgtEl>
                                        <p:attrNameLst>
                                          <p:attrName>style.visibility</p:attrName>
                                        </p:attrNameLst>
                                      </p:cBhvr>
                                      <p:to>
                                        <p:strVal val="visible"/>
                                      </p:to>
                                    </p:set>
                                    <p:animEffect filter="fade" transition="in">
                                      <p:cBhvr>
                                        <p:cTn dur="500"/>
                                        <p:tgtEl>
                                          <p:spTgt spid="38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animEffect filter="fade" transition="in">
                                      <p:cBhvr>
                                        <p:cTn dur="500"/>
                                        <p:tgtEl>
                                          <p:spTgt spid="39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91">
                                            <p:txEl>
                                              <p:pRg end="0" st="0"/>
                                            </p:txEl>
                                          </p:spTgt>
                                        </p:tgtEl>
                                        <p:attrNameLst>
                                          <p:attrName>style.visibility</p:attrName>
                                        </p:attrNameLst>
                                      </p:cBhvr>
                                      <p:to>
                                        <p:strVal val="visible"/>
                                      </p:to>
                                    </p:set>
                                    <p:animEffect filter="fade" transition="in">
                                      <p:cBhvr>
                                        <p:cTn dur="500"/>
                                        <p:tgtEl>
                                          <p:spTgt spid="3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392">
                                            <p:txEl>
                                              <p:pRg end="0" st="0"/>
                                            </p:txEl>
                                          </p:spTgt>
                                        </p:tgtEl>
                                        <p:attrNameLst>
                                          <p:attrName>style.visibility</p:attrName>
                                        </p:attrNameLst>
                                      </p:cBhvr>
                                      <p:to>
                                        <p:strVal val="visible"/>
                                      </p:to>
                                    </p:set>
                                    <p:animEffect filter="fade" transition="in">
                                      <p:cBhvr>
                                        <p:cTn dur="500"/>
                                        <p:tgtEl>
                                          <p:spTgt spid="39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9"/>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E-R Diagram of a Library System</a:t>
            </a:r>
            <a:endParaRPr/>
          </a:p>
        </p:txBody>
      </p:sp>
      <p:sp>
        <p:nvSpPr>
          <p:cNvPr id="400" name="Google Shape;400;p9"/>
          <p:cNvSpPr txBox="1"/>
          <p:nvPr>
            <p:ph idx="1" type="body"/>
          </p:nvPr>
        </p:nvSpPr>
        <p:spPr>
          <a:xfrm>
            <a:off x="131175" y="862350"/>
            <a:ext cx="11718900" cy="55905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sp>
        <p:nvSpPr>
          <p:cNvPr id="401" name="Google Shape;401;p9"/>
          <p:cNvSpPr/>
          <p:nvPr/>
        </p:nvSpPr>
        <p:spPr>
          <a:xfrm>
            <a:off x="2963114" y="2733157"/>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800">
              <a:solidFill>
                <a:schemeClr val="dk1"/>
              </a:solidFill>
              <a:latin typeface="Roboto Condensed"/>
              <a:ea typeface="Roboto Condensed"/>
              <a:cs typeface="Roboto Condensed"/>
              <a:sym typeface="Roboto Condensed"/>
            </a:endParaRPr>
          </a:p>
        </p:txBody>
      </p:sp>
      <p:sp>
        <p:nvSpPr>
          <p:cNvPr id="402" name="Google Shape;402;p9"/>
          <p:cNvSpPr/>
          <p:nvPr/>
        </p:nvSpPr>
        <p:spPr>
          <a:xfrm>
            <a:off x="8143091" y="2728801"/>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Book</a:t>
            </a:r>
            <a:endParaRPr sz="1800">
              <a:solidFill>
                <a:schemeClr val="dk1"/>
              </a:solidFill>
              <a:latin typeface="Roboto Condensed"/>
              <a:ea typeface="Roboto Condensed"/>
              <a:cs typeface="Roboto Condensed"/>
              <a:sym typeface="Roboto Condensed"/>
            </a:endParaRPr>
          </a:p>
        </p:txBody>
      </p:sp>
      <p:sp>
        <p:nvSpPr>
          <p:cNvPr id="403" name="Google Shape;403;p9"/>
          <p:cNvSpPr/>
          <p:nvPr/>
        </p:nvSpPr>
        <p:spPr>
          <a:xfrm>
            <a:off x="5537040" y="2654777"/>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Issue</a:t>
            </a:r>
            <a:endParaRPr sz="1800">
              <a:solidFill>
                <a:schemeClr val="dk1"/>
              </a:solidFill>
              <a:latin typeface="Roboto Condensed"/>
              <a:ea typeface="Roboto Condensed"/>
              <a:cs typeface="Roboto Condensed"/>
              <a:sym typeface="Roboto Condensed"/>
            </a:endParaRPr>
          </a:p>
        </p:txBody>
      </p:sp>
      <p:cxnSp>
        <p:nvCxnSpPr>
          <p:cNvPr id="404" name="Google Shape;404;p9"/>
          <p:cNvCxnSpPr>
            <a:stCxn id="403" idx="3"/>
            <a:endCxn id="402" idx="1"/>
          </p:cNvCxnSpPr>
          <p:nvPr/>
        </p:nvCxnSpPr>
        <p:spPr>
          <a:xfrm>
            <a:off x="7261338" y="3101092"/>
            <a:ext cx="881700" cy="0"/>
          </a:xfrm>
          <a:prstGeom prst="straightConnector1">
            <a:avLst/>
          </a:prstGeom>
          <a:noFill/>
          <a:ln cap="flat" cmpd="sng" w="28575">
            <a:solidFill>
              <a:schemeClr val="accent4"/>
            </a:solidFill>
            <a:prstDash val="solid"/>
            <a:miter lim="800000"/>
            <a:headEnd len="sm" w="sm" type="none"/>
            <a:tailEnd len="sm" w="sm" type="none"/>
          </a:ln>
        </p:spPr>
      </p:cxnSp>
      <p:cxnSp>
        <p:nvCxnSpPr>
          <p:cNvPr id="405" name="Google Shape;405;p9"/>
          <p:cNvCxnSpPr/>
          <p:nvPr/>
        </p:nvCxnSpPr>
        <p:spPr>
          <a:xfrm>
            <a:off x="4655287" y="3101092"/>
            <a:ext cx="881753" cy="1"/>
          </a:xfrm>
          <a:prstGeom prst="straightConnector1">
            <a:avLst/>
          </a:prstGeom>
          <a:noFill/>
          <a:ln cap="flat" cmpd="sng" w="28575">
            <a:solidFill>
              <a:schemeClr val="accent4"/>
            </a:solidFill>
            <a:prstDash val="solid"/>
            <a:miter lim="800000"/>
            <a:headEnd len="sm" w="sm" type="none"/>
            <a:tailEnd len="sm" w="sm" type="none"/>
          </a:ln>
        </p:spPr>
      </p:cxnSp>
      <p:cxnSp>
        <p:nvCxnSpPr>
          <p:cNvPr id="406" name="Google Shape;406;p9"/>
          <p:cNvCxnSpPr>
            <a:stCxn id="407" idx="4"/>
            <a:endCxn id="401" idx="0"/>
          </p:cNvCxnSpPr>
          <p:nvPr/>
        </p:nvCxnSpPr>
        <p:spPr>
          <a:xfrm>
            <a:off x="2848811" y="2297184"/>
            <a:ext cx="963300" cy="4359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07" name="Google Shape;407;p9"/>
          <p:cNvSpPr/>
          <p:nvPr/>
        </p:nvSpPr>
        <p:spPr>
          <a:xfrm>
            <a:off x="2117291" y="1874274"/>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RollNo</a:t>
            </a:r>
            <a:endParaRPr sz="1800" u="sng">
              <a:solidFill>
                <a:schemeClr val="dk1"/>
              </a:solidFill>
              <a:latin typeface="Roboto Condensed"/>
              <a:ea typeface="Roboto Condensed"/>
              <a:cs typeface="Roboto Condensed"/>
              <a:sym typeface="Roboto Condensed"/>
            </a:endParaRPr>
          </a:p>
        </p:txBody>
      </p:sp>
      <p:cxnSp>
        <p:nvCxnSpPr>
          <p:cNvPr id="408" name="Google Shape;408;p9"/>
          <p:cNvCxnSpPr>
            <a:stCxn id="409" idx="4"/>
            <a:endCxn id="401" idx="0"/>
          </p:cNvCxnSpPr>
          <p:nvPr/>
        </p:nvCxnSpPr>
        <p:spPr>
          <a:xfrm flipH="1">
            <a:off x="3812334" y="2274773"/>
            <a:ext cx="654600" cy="45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09" name="Google Shape;409;p9"/>
          <p:cNvSpPr/>
          <p:nvPr/>
        </p:nvSpPr>
        <p:spPr>
          <a:xfrm>
            <a:off x="3735414" y="1851863"/>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410" name="Google Shape;410;p9"/>
          <p:cNvCxnSpPr/>
          <p:nvPr/>
        </p:nvCxnSpPr>
        <p:spPr>
          <a:xfrm flipH="1">
            <a:off x="2981400" y="3473384"/>
            <a:ext cx="830800" cy="404874"/>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11" name="Google Shape;411;p9"/>
          <p:cNvSpPr/>
          <p:nvPr/>
        </p:nvSpPr>
        <p:spPr>
          <a:xfrm>
            <a:off x="2231594" y="3883968"/>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Branch</a:t>
            </a:r>
            <a:endParaRPr/>
          </a:p>
        </p:txBody>
      </p:sp>
      <p:sp>
        <p:nvSpPr>
          <p:cNvPr id="412" name="Google Shape;412;p9"/>
          <p:cNvSpPr/>
          <p:nvPr/>
        </p:nvSpPr>
        <p:spPr>
          <a:xfrm>
            <a:off x="3867945" y="3896789"/>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Sem</a:t>
            </a:r>
            <a:endParaRPr sz="1800">
              <a:solidFill>
                <a:schemeClr val="dk1"/>
              </a:solidFill>
              <a:latin typeface="Roboto Condensed"/>
              <a:ea typeface="Roboto Condensed"/>
              <a:cs typeface="Roboto Condensed"/>
              <a:sym typeface="Roboto Condensed"/>
            </a:endParaRPr>
          </a:p>
        </p:txBody>
      </p:sp>
      <p:cxnSp>
        <p:nvCxnSpPr>
          <p:cNvPr id="413" name="Google Shape;413;p9"/>
          <p:cNvCxnSpPr>
            <a:stCxn id="401" idx="2"/>
            <a:endCxn id="412" idx="0"/>
          </p:cNvCxnSpPr>
          <p:nvPr/>
        </p:nvCxnSpPr>
        <p:spPr>
          <a:xfrm>
            <a:off x="3812200" y="3477740"/>
            <a:ext cx="787200" cy="419100"/>
          </a:xfrm>
          <a:prstGeom prst="straightConnector1">
            <a:avLst/>
          </a:prstGeom>
          <a:solidFill>
            <a:schemeClr val="lt1"/>
          </a:solidFill>
          <a:ln cap="flat" cmpd="sng" w="12700">
            <a:solidFill>
              <a:schemeClr val="dk2"/>
            </a:solidFill>
            <a:prstDash val="solid"/>
            <a:miter lim="800000"/>
            <a:headEnd len="sm" w="sm" type="none"/>
            <a:tailEnd len="sm" w="sm" type="none"/>
          </a:ln>
        </p:spPr>
      </p:cxnSp>
      <p:cxnSp>
        <p:nvCxnSpPr>
          <p:cNvPr id="414" name="Google Shape;414;p9"/>
          <p:cNvCxnSpPr>
            <a:stCxn id="415" idx="4"/>
          </p:cNvCxnSpPr>
          <p:nvPr/>
        </p:nvCxnSpPr>
        <p:spPr>
          <a:xfrm>
            <a:off x="8090576" y="2293171"/>
            <a:ext cx="963300" cy="4359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15" name="Google Shape;415;p9"/>
          <p:cNvSpPr/>
          <p:nvPr/>
        </p:nvSpPr>
        <p:spPr>
          <a:xfrm>
            <a:off x="7359056" y="1870261"/>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BookNo</a:t>
            </a:r>
            <a:endParaRPr sz="1800" u="sng">
              <a:solidFill>
                <a:schemeClr val="dk1"/>
              </a:solidFill>
              <a:latin typeface="Roboto Condensed"/>
              <a:ea typeface="Roboto Condensed"/>
              <a:cs typeface="Roboto Condensed"/>
              <a:sym typeface="Roboto Condensed"/>
            </a:endParaRPr>
          </a:p>
        </p:txBody>
      </p:sp>
      <p:cxnSp>
        <p:nvCxnSpPr>
          <p:cNvPr id="416" name="Google Shape;416;p9"/>
          <p:cNvCxnSpPr>
            <a:stCxn id="417" idx="4"/>
          </p:cNvCxnSpPr>
          <p:nvPr/>
        </p:nvCxnSpPr>
        <p:spPr>
          <a:xfrm flipH="1">
            <a:off x="9054099" y="2270760"/>
            <a:ext cx="654600" cy="45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17" name="Google Shape;417;p9"/>
          <p:cNvSpPr/>
          <p:nvPr/>
        </p:nvSpPr>
        <p:spPr>
          <a:xfrm>
            <a:off x="8977179" y="1847850"/>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418" name="Google Shape;418;p9"/>
          <p:cNvCxnSpPr/>
          <p:nvPr/>
        </p:nvCxnSpPr>
        <p:spPr>
          <a:xfrm flipH="1">
            <a:off x="8223165" y="3469371"/>
            <a:ext cx="830800" cy="404874"/>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19" name="Google Shape;419;p9"/>
          <p:cNvSpPr/>
          <p:nvPr/>
        </p:nvSpPr>
        <p:spPr>
          <a:xfrm>
            <a:off x="7473359" y="3879955"/>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Author</a:t>
            </a:r>
            <a:endParaRPr/>
          </a:p>
        </p:txBody>
      </p:sp>
      <p:sp>
        <p:nvSpPr>
          <p:cNvPr id="420" name="Google Shape;420;p9"/>
          <p:cNvSpPr/>
          <p:nvPr/>
        </p:nvSpPr>
        <p:spPr>
          <a:xfrm>
            <a:off x="9109710" y="3892776"/>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Price</a:t>
            </a:r>
            <a:endParaRPr/>
          </a:p>
        </p:txBody>
      </p:sp>
      <p:cxnSp>
        <p:nvCxnSpPr>
          <p:cNvPr id="421" name="Google Shape;421;p9"/>
          <p:cNvCxnSpPr>
            <a:endCxn id="420" idx="0"/>
          </p:cNvCxnSpPr>
          <p:nvPr/>
        </p:nvCxnSpPr>
        <p:spPr>
          <a:xfrm>
            <a:off x="9054030" y="3473676"/>
            <a:ext cx="787200" cy="4191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22" name="Google Shape;422;p9"/>
          <p:cNvSpPr/>
          <p:nvPr/>
        </p:nvSpPr>
        <p:spPr>
          <a:xfrm>
            <a:off x="2247003" y="1162050"/>
            <a:ext cx="1368000" cy="457200"/>
          </a:xfrm>
          <a:prstGeom prst="wedgeRoundRectCallout">
            <a:avLst>
              <a:gd fmla="val -30669" name="adj1"/>
              <a:gd fmla="val 108681"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Primary Key</a:t>
            </a:r>
            <a:endParaRPr sz="1800">
              <a:solidFill>
                <a:schemeClr val="dk1"/>
              </a:solidFill>
              <a:latin typeface="Roboto Condensed"/>
              <a:ea typeface="Roboto Condensed"/>
              <a:cs typeface="Roboto Condensed"/>
              <a:sym typeface="Roboto Condensed"/>
            </a:endParaRPr>
          </a:p>
        </p:txBody>
      </p:sp>
      <p:sp>
        <p:nvSpPr>
          <p:cNvPr id="423" name="Google Shape;423;p9"/>
          <p:cNvSpPr/>
          <p:nvPr/>
        </p:nvSpPr>
        <p:spPr>
          <a:xfrm>
            <a:off x="7299750" y="1162050"/>
            <a:ext cx="1368000" cy="457200"/>
          </a:xfrm>
          <a:prstGeom prst="wedgeRoundRectCallout">
            <a:avLst>
              <a:gd fmla="val 28747" name="adj1"/>
              <a:gd fmla="val 105904"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Primary Key</a:t>
            </a:r>
            <a:endParaRPr sz="1800">
              <a:solidFill>
                <a:schemeClr val="dk1"/>
              </a:solidFill>
              <a:latin typeface="Roboto Condensed"/>
              <a:ea typeface="Roboto Condensed"/>
              <a:cs typeface="Roboto Condensed"/>
              <a:sym typeface="Roboto Condensed"/>
            </a:endParaRPr>
          </a:p>
        </p:txBody>
      </p:sp>
      <p:sp>
        <p:nvSpPr>
          <p:cNvPr id="424" name="Google Shape;424;p9"/>
          <p:cNvSpPr/>
          <p:nvPr/>
        </p:nvSpPr>
        <p:spPr>
          <a:xfrm>
            <a:off x="5704727" y="3831373"/>
            <a:ext cx="1412988"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Roboto Condensed"/>
                <a:ea typeface="Roboto Condensed"/>
                <a:cs typeface="Roboto Condensed"/>
                <a:sym typeface="Roboto Condensed"/>
              </a:rPr>
              <a:t>Entities</a:t>
            </a:r>
            <a:endParaRPr sz="1800">
              <a:solidFill>
                <a:schemeClr val="dk1"/>
              </a:solidFill>
              <a:latin typeface="Roboto Condensed"/>
              <a:ea typeface="Roboto Condensed"/>
              <a:cs typeface="Roboto Condensed"/>
              <a:sym typeface="Roboto Condensed"/>
            </a:endParaRPr>
          </a:p>
        </p:txBody>
      </p:sp>
      <p:cxnSp>
        <p:nvCxnSpPr>
          <p:cNvPr id="425" name="Google Shape;425;p9"/>
          <p:cNvCxnSpPr/>
          <p:nvPr/>
        </p:nvCxnSpPr>
        <p:spPr>
          <a:xfrm flipH="1" rot="10800000">
            <a:off x="6925697" y="3477743"/>
            <a:ext cx="1217394" cy="623439"/>
          </a:xfrm>
          <a:prstGeom prst="straightConnector1">
            <a:avLst/>
          </a:prstGeom>
          <a:noFill/>
          <a:ln cap="flat" cmpd="sng" w="28575">
            <a:solidFill>
              <a:srgbClr val="A5A5A5"/>
            </a:solidFill>
            <a:prstDash val="solid"/>
            <a:miter lim="800000"/>
            <a:headEnd len="sm" w="sm" type="none"/>
            <a:tailEnd len="med" w="med" type="triangle"/>
          </a:ln>
        </p:spPr>
      </p:cxnSp>
      <p:cxnSp>
        <p:nvCxnSpPr>
          <p:cNvPr id="426" name="Google Shape;426;p9"/>
          <p:cNvCxnSpPr/>
          <p:nvPr/>
        </p:nvCxnSpPr>
        <p:spPr>
          <a:xfrm rot="10800000">
            <a:off x="4664071" y="3473385"/>
            <a:ext cx="1220970" cy="579865"/>
          </a:xfrm>
          <a:prstGeom prst="straightConnector1">
            <a:avLst/>
          </a:prstGeom>
          <a:noFill/>
          <a:ln cap="flat" cmpd="sng" w="28575">
            <a:solidFill>
              <a:srgbClr val="A5A5A5"/>
            </a:solidFill>
            <a:prstDash val="solid"/>
            <a:miter lim="800000"/>
            <a:headEnd len="sm" w="sm" type="none"/>
            <a:tailEnd len="med" w="med" type="triangle"/>
          </a:ln>
        </p:spPr>
      </p:cxnSp>
      <p:sp>
        <p:nvSpPr>
          <p:cNvPr id="427" name="Google Shape;427;p9"/>
          <p:cNvSpPr/>
          <p:nvPr/>
        </p:nvSpPr>
        <p:spPr>
          <a:xfrm>
            <a:off x="5667669" y="1386253"/>
            <a:ext cx="146304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Roboto Condensed"/>
                <a:ea typeface="Roboto Condensed"/>
                <a:cs typeface="Roboto Condensed"/>
                <a:sym typeface="Roboto Condensed"/>
              </a:rPr>
              <a:t>Attributes</a:t>
            </a:r>
            <a:endParaRPr sz="1800">
              <a:solidFill>
                <a:schemeClr val="dk1"/>
              </a:solidFill>
              <a:latin typeface="Roboto Condensed"/>
              <a:ea typeface="Roboto Condensed"/>
              <a:cs typeface="Roboto Condensed"/>
              <a:sym typeface="Roboto Condensed"/>
            </a:endParaRPr>
          </a:p>
        </p:txBody>
      </p:sp>
      <p:cxnSp>
        <p:nvCxnSpPr>
          <p:cNvPr id="428" name="Google Shape;428;p9"/>
          <p:cNvCxnSpPr>
            <a:endCxn id="415" idx="2"/>
          </p:cNvCxnSpPr>
          <p:nvPr/>
        </p:nvCxnSpPr>
        <p:spPr>
          <a:xfrm>
            <a:off x="7009856" y="1736716"/>
            <a:ext cx="349200" cy="345000"/>
          </a:xfrm>
          <a:prstGeom prst="straightConnector1">
            <a:avLst/>
          </a:prstGeom>
          <a:noFill/>
          <a:ln cap="flat" cmpd="sng" w="28575">
            <a:solidFill>
              <a:srgbClr val="A5A5A5"/>
            </a:solidFill>
            <a:prstDash val="solid"/>
            <a:miter lim="800000"/>
            <a:headEnd len="sm" w="sm" type="none"/>
            <a:tailEnd len="med" w="med" type="triangle"/>
          </a:ln>
        </p:spPr>
      </p:cxnSp>
      <p:cxnSp>
        <p:nvCxnSpPr>
          <p:cNvPr id="429" name="Google Shape;429;p9"/>
          <p:cNvCxnSpPr>
            <a:endCxn id="409" idx="6"/>
          </p:cNvCxnSpPr>
          <p:nvPr/>
        </p:nvCxnSpPr>
        <p:spPr>
          <a:xfrm flipH="1">
            <a:off x="5198454" y="1737818"/>
            <a:ext cx="567600" cy="325500"/>
          </a:xfrm>
          <a:prstGeom prst="straightConnector1">
            <a:avLst/>
          </a:prstGeom>
          <a:noFill/>
          <a:ln cap="flat" cmpd="sng" w="28575">
            <a:solidFill>
              <a:srgbClr val="A5A5A5"/>
            </a:solidFill>
            <a:prstDash val="solid"/>
            <a:miter lim="800000"/>
            <a:headEnd len="sm" w="sm" type="none"/>
            <a:tailEnd len="med" w="med" type="triangle"/>
          </a:ln>
        </p:spPr>
      </p:cxnSp>
      <p:sp>
        <p:nvSpPr>
          <p:cNvPr id="430" name="Google Shape;430;p9"/>
          <p:cNvSpPr/>
          <p:nvPr/>
        </p:nvSpPr>
        <p:spPr>
          <a:xfrm>
            <a:off x="5476874" y="1924050"/>
            <a:ext cx="18288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Roboto Condensed"/>
                <a:ea typeface="Roboto Condensed"/>
                <a:cs typeface="Roboto Condensed"/>
                <a:sym typeface="Roboto Condensed"/>
              </a:rPr>
              <a:t>Relationship</a:t>
            </a:r>
            <a:endParaRPr sz="1800">
              <a:solidFill>
                <a:schemeClr val="dk1"/>
              </a:solidFill>
              <a:latin typeface="Roboto Condensed"/>
              <a:ea typeface="Roboto Condensed"/>
              <a:cs typeface="Roboto Condensed"/>
              <a:sym typeface="Roboto Condensed"/>
            </a:endParaRPr>
          </a:p>
        </p:txBody>
      </p:sp>
      <p:cxnSp>
        <p:nvCxnSpPr>
          <p:cNvPr id="431" name="Google Shape;431;p9"/>
          <p:cNvCxnSpPr/>
          <p:nvPr/>
        </p:nvCxnSpPr>
        <p:spPr>
          <a:xfrm>
            <a:off x="6391274" y="2292349"/>
            <a:ext cx="7915" cy="365760"/>
          </a:xfrm>
          <a:prstGeom prst="straightConnector1">
            <a:avLst/>
          </a:prstGeom>
          <a:noFill/>
          <a:ln cap="flat" cmpd="sng" w="28575">
            <a:solidFill>
              <a:srgbClr val="A5A5A5"/>
            </a:solidFill>
            <a:prstDash val="solid"/>
            <a:miter lim="800000"/>
            <a:headEnd len="sm" w="sm" type="none"/>
            <a:tailEnd len="med" w="med" type="triangle"/>
          </a:ln>
        </p:spPr>
      </p:cxnSp>
      <p:sp>
        <p:nvSpPr>
          <p:cNvPr id="432" name="Google Shape;432;p9"/>
          <p:cNvSpPr/>
          <p:nvPr/>
        </p:nvSpPr>
        <p:spPr>
          <a:xfrm>
            <a:off x="2557274" y="4746997"/>
            <a:ext cx="7668000" cy="1188000"/>
          </a:xfrm>
          <a:prstGeom prst="wedgeRoundRectCallout">
            <a:avLst>
              <a:gd fmla="val -46835" name="adj1"/>
              <a:gd fmla="val 1908" name="adj2"/>
              <a:gd fmla="val 16667" name="adj3"/>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Each and every entity must have one primary key attribute.</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Relationship between 2 entities is called binary relationship.</a:t>
            </a:r>
            <a:endParaRPr sz="2400">
              <a:solidFill>
                <a:schemeClr val="lt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par>
                                <p:cTn fill="hold" nodeType="withEffect" presetClass="entr" presetID="10" presetSubtype="0">
                                  <p:stCondLst>
                                    <p:cond delay="0"/>
                                  </p:stCondLst>
                                  <p:childTnLst>
                                    <p:set>
                                      <p:cBhvr>
                                        <p:cTn dur="1" fill="hold">
                                          <p:stCondLst>
                                            <p:cond delay="0"/>
                                          </p:stCondLst>
                                        </p:cTn>
                                        <p:tgtEl>
                                          <p:spTgt spid="401">
                                            <p:txEl>
                                              <p:pRg end="0" st="0"/>
                                            </p:txEl>
                                          </p:spTgt>
                                        </p:tgtEl>
                                        <p:attrNameLst>
                                          <p:attrName>style.visibility</p:attrName>
                                        </p:attrNameLst>
                                      </p:cBhvr>
                                      <p:to>
                                        <p:strVal val="visible"/>
                                      </p:to>
                                    </p:set>
                                    <p:animEffect filter="fade" transition="in">
                                      <p:cBhvr>
                                        <p:cTn dur="500"/>
                                        <p:tgtEl>
                                          <p:spTgt spid="40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2">
                                            <p:txEl>
                                              <p:pRg end="0" st="0"/>
                                            </p:txEl>
                                          </p:spTgt>
                                        </p:tgtEl>
                                        <p:attrNameLst>
                                          <p:attrName>style.visibility</p:attrName>
                                        </p:attrNameLst>
                                      </p:cBhvr>
                                      <p:to>
                                        <p:strVal val="visible"/>
                                      </p:to>
                                    </p:set>
                                    <p:animEffect filter="fade" transition="in">
                                      <p:cBhvr>
                                        <p:cTn dur="500"/>
                                        <p:tgtEl>
                                          <p:spTgt spid="4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par>
                                <p:cTn fill="hold" nodeType="with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par>
                                <p:cTn fill="hold" nodeType="with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3">
                                            <p:txEl>
                                              <p:pRg end="0" st="0"/>
                                            </p:txEl>
                                          </p:spTgt>
                                        </p:tgtEl>
                                        <p:attrNameLst>
                                          <p:attrName>style.visibility</p:attrName>
                                        </p:attrNameLst>
                                      </p:cBhvr>
                                      <p:to>
                                        <p:strVal val="visible"/>
                                      </p:to>
                                    </p:set>
                                    <p:animEffect filter="fade" transition="in">
                                      <p:cBhvr>
                                        <p:cTn dur="500"/>
                                        <p:tgtEl>
                                          <p:spTgt spid="4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par>
                                <p:cTn fill="hold" nodeType="with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0"/>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Ternary Relationship</a:t>
            </a:r>
            <a:endParaRPr/>
          </a:p>
        </p:txBody>
      </p:sp>
      <p:sp>
        <p:nvSpPr>
          <p:cNvPr id="438" name="Google Shape;438;p10"/>
          <p:cNvSpPr txBox="1"/>
          <p:nvPr>
            <p:ph idx="1" type="body"/>
          </p:nvPr>
        </p:nvSpPr>
        <p:spPr>
          <a:xfrm>
            <a:off x="131175" y="862350"/>
            <a:ext cx="11718900" cy="55905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sp>
        <p:nvSpPr>
          <p:cNvPr id="439" name="Google Shape;439;p10"/>
          <p:cNvSpPr/>
          <p:nvPr/>
        </p:nvSpPr>
        <p:spPr>
          <a:xfrm>
            <a:off x="2696414" y="3614108"/>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Faculty</a:t>
            </a:r>
            <a:endParaRPr sz="1800">
              <a:solidFill>
                <a:schemeClr val="dk1"/>
              </a:solidFill>
              <a:latin typeface="Roboto Condensed"/>
              <a:ea typeface="Roboto Condensed"/>
              <a:cs typeface="Roboto Condensed"/>
              <a:sym typeface="Roboto Condensed"/>
            </a:endParaRPr>
          </a:p>
        </p:txBody>
      </p:sp>
      <p:sp>
        <p:nvSpPr>
          <p:cNvPr id="440" name="Google Shape;440;p10"/>
          <p:cNvSpPr/>
          <p:nvPr/>
        </p:nvSpPr>
        <p:spPr>
          <a:xfrm>
            <a:off x="7876391" y="3609752"/>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800">
              <a:solidFill>
                <a:schemeClr val="dk1"/>
              </a:solidFill>
              <a:latin typeface="Roboto Condensed"/>
              <a:ea typeface="Roboto Condensed"/>
              <a:cs typeface="Roboto Condensed"/>
              <a:sym typeface="Roboto Condensed"/>
            </a:endParaRPr>
          </a:p>
        </p:txBody>
      </p:sp>
      <p:sp>
        <p:nvSpPr>
          <p:cNvPr id="441" name="Google Shape;441;p10"/>
          <p:cNvSpPr/>
          <p:nvPr/>
        </p:nvSpPr>
        <p:spPr>
          <a:xfrm>
            <a:off x="5270340" y="3535728"/>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Guide</a:t>
            </a:r>
            <a:endParaRPr sz="1800">
              <a:solidFill>
                <a:schemeClr val="dk1"/>
              </a:solidFill>
              <a:latin typeface="Roboto Condensed"/>
              <a:ea typeface="Roboto Condensed"/>
              <a:cs typeface="Roboto Condensed"/>
              <a:sym typeface="Roboto Condensed"/>
            </a:endParaRPr>
          </a:p>
        </p:txBody>
      </p:sp>
      <p:cxnSp>
        <p:nvCxnSpPr>
          <p:cNvPr id="442" name="Google Shape;442;p10"/>
          <p:cNvCxnSpPr>
            <a:stCxn id="441" idx="3"/>
            <a:endCxn id="440" idx="1"/>
          </p:cNvCxnSpPr>
          <p:nvPr/>
        </p:nvCxnSpPr>
        <p:spPr>
          <a:xfrm>
            <a:off x="6994638" y="3982043"/>
            <a:ext cx="881700" cy="0"/>
          </a:xfrm>
          <a:prstGeom prst="straightConnector1">
            <a:avLst/>
          </a:prstGeom>
          <a:noFill/>
          <a:ln cap="flat" cmpd="sng" w="28575">
            <a:solidFill>
              <a:schemeClr val="accent4"/>
            </a:solidFill>
            <a:prstDash val="solid"/>
            <a:miter lim="800000"/>
            <a:headEnd len="sm" w="sm" type="none"/>
            <a:tailEnd len="sm" w="sm" type="none"/>
          </a:ln>
        </p:spPr>
      </p:cxnSp>
      <p:cxnSp>
        <p:nvCxnSpPr>
          <p:cNvPr id="443" name="Google Shape;443;p10"/>
          <p:cNvCxnSpPr/>
          <p:nvPr/>
        </p:nvCxnSpPr>
        <p:spPr>
          <a:xfrm>
            <a:off x="4388587" y="3982043"/>
            <a:ext cx="881753" cy="1"/>
          </a:xfrm>
          <a:prstGeom prst="straightConnector1">
            <a:avLst/>
          </a:prstGeom>
          <a:noFill/>
          <a:ln cap="flat" cmpd="sng" w="28575">
            <a:solidFill>
              <a:schemeClr val="accent4"/>
            </a:solidFill>
            <a:prstDash val="solid"/>
            <a:miter lim="800000"/>
            <a:headEnd len="sm" w="sm" type="none"/>
            <a:tailEnd len="sm" w="sm" type="none"/>
          </a:ln>
        </p:spPr>
      </p:cxnSp>
      <p:cxnSp>
        <p:nvCxnSpPr>
          <p:cNvPr id="444" name="Google Shape;444;p10"/>
          <p:cNvCxnSpPr>
            <a:stCxn id="445" idx="4"/>
            <a:endCxn id="439" idx="0"/>
          </p:cNvCxnSpPr>
          <p:nvPr/>
        </p:nvCxnSpPr>
        <p:spPr>
          <a:xfrm>
            <a:off x="2582111" y="3178135"/>
            <a:ext cx="963300" cy="4359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45" name="Google Shape;445;p10"/>
          <p:cNvSpPr/>
          <p:nvPr/>
        </p:nvSpPr>
        <p:spPr>
          <a:xfrm>
            <a:off x="1850591" y="2755225"/>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FacID</a:t>
            </a:r>
            <a:endParaRPr sz="1800" u="sng">
              <a:solidFill>
                <a:schemeClr val="dk1"/>
              </a:solidFill>
              <a:latin typeface="Roboto Condensed"/>
              <a:ea typeface="Roboto Condensed"/>
              <a:cs typeface="Roboto Condensed"/>
              <a:sym typeface="Roboto Condensed"/>
            </a:endParaRPr>
          </a:p>
        </p:txBody>
      </p:sp>
      <p:cxnSp>
        <p:nvCxnSpPr>
          <p:cNvPr id="446" name="Google Shape;446;p10"/>
          <p:cNvCxnSpPr>
            <a:stCxn id="447" idx="4"/>
            <a:endCxn id="439" idx="0"/>
          </p:cNvCxnSpPr>
          <p:nvPr/>
        </p:nvCxnSpPr>
        <p:spPr>
          <a:xfrm flipH="1">
            <a:off x="3545634" y="3155724"/>
            <a:ext cx="654600" cy="45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47" name="Google Shape;447;p10"/>
          <p:cNvSpPr/>
          <p:nvPr/>
        </p:nvSpPr>
        <p:spPr>
          <a:xfrm>
            <a:off x="3468714" y="2732814"/>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448" name="Google Shape;448;p10"/>
          <p:cNvCxnSpPr/>
          <p:nvPr/>
        </p:nvCxnSpPr>
        <p:spPr>
          <a:xfrm flipH="1">
            <a:off x="2714700" y="4354335"/>
            <a:ext cx="830800" cy="404874"/>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49" name="Google Shape;449;p10"/>
          <p:cNvSpPr/>
          <p:nvPr/>
        </p:nvSpPr>
        <p:spPr>
          <a:xfrm>
            <a:off x="1964894" y="4764919"/>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Branch</a:t>
            </a:r>
            <a:endParaRPr/>
          </a:p>
        </p:txBody>
      </p:sp>
      <p:sp>
        <p:nvSpPr>
          <p:cNvPr id="450" name="Google Shape;450;p10"/>
          <p:cNvSpPr/>
          <p:nvPr/>
        </p:nvSpPr>
        <p:spPr>
          <a:xfrm>
            <a:off x="3601245" y="4777740"/>
            <a:ext cx="182880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Technology</a:t>
            </a:r>
            <a:endParaRPr sz="1800">
              <a:solidFill>
                <a:schemeClr val="dk1"/>
              </a:solidFill>
              <a:latin typeface="Roboto Condensed"/>
              <a:ea typeface="Roboto Condensed"/>
              <a:cs typeface="Roboto Condensed"/>
              <a:sym typeface="Roboto Condensed"/>
            </a:endParaRPr>
          </a:p>
        </p:txBody>
      </p:sp>
      <p:cxnSp>
        <p:nvCxnSpPr>
          <p:cNvPr id="451" name="Google Shape;451;p10"/>
          <p:cNvCxnSpPr>
            <a:stCxn id="439" idx="2"/>
            <a:endCxn id="450" idx="0"/>
          </p:cNvCxnSpPr>
          <p:nvPr/>
        </p:nvCxnSpPr>
        <p:spPr>
          <a:xfrm>
            <a:off x="3545500" y="4358691"/>
            <a:ext cx="970200" cy="419100"/>
          </a:xfrm>
          <a:prstGeom prst="straightConnector1">
            <a:avLst/>
          </a:prstGeom>
          <a:solidFill>
            <a:schemeClr val="lt1"/>
          </a:solidFill>
          <a:ln cap="flat" cmpd="sng" w="12700">
            <a:solidFill>
              <a:schemeClr val="dk2"/>
            </a:solidFill>
            <a:prstDash val="solid"/>
            <a:miter lim="800000"/>
            <a:headEnd len="sm" w="sm" type="none"/>
            <a:tailEnd len="sm" w="sm" type="none"/>
          </a:ln>
        </p:spPr>
      </p:cxnSp>
      <p:cxnSp>
        <p:nvCxnSpPr>
          <p:cNvPr id="452" name="Google Shape;452;p10"/>
          <p:cNvCxnSpPr>
            <a:stCxn id="453" idx="4"/>
          </p:cNvCxnSpPr>
          <p:nvPr/>
        </p:nvCxnSpPr>
        <p:spPr>
          <a:xfrm>
            <a:off x="7823876" y="3174122"/>
            <a:ext cx="963300" cy="4359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53" name="Google Shape;453;p10"/>
          <p:cNvSpPr/>
          <p:nvPr/>
        </p:nvSpPr>
        <p:spPr>
          <a:xfrm>
            <a:off x="7092356" y="2751212"/>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RollNo</a:t>
            </a:r>
            <a:endParaRPr sz="1800" u="sng">
              <a:solidFill>
                <a:schemeClr val="dk1"/>
              </a:solidFill>
              <a:latin typeface="Roboto Condensed"/>
              <a:ea typeface="Roboto Condensed"/>
              <a:cs typeface="Roboto Condensed"/>
              <a:sym typeface="Roboto Condensed"/>
            </a:endParaRPr>
          </a:p>
        </p:txBody>
      </p:sp>
      <p:cxnSp>
        <p:nvCxnSpPr>
          <p:cNvPr id="454" name="Google Shape;454;p10"/>
          <p:cNvCxnSpPr>
            <a:stCxn id="455" idx="4"/>
          </p:cNvCxnSpPr>
          <p:nvPr/>
        </p:nvCxnSpPr>
        <p:spPr>
          <a:xfrm flipH="1">
            <a:off x="8787399" y="3151711"/>
            <a:ext cx="654600" cy="45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55" name="Google Shape;455;p10"/>
          <p:cNvSpPr/>
          <p:nvPr/>
        </p:nvSpPr>
        <p:spPr>
          <a:xfrm>
            <a:off x="8710479" y="2728801"/>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456" name="Google Shape;456;p10"/>
          <p:cNvCxnSpPr/>
          <p:nvPr/>
        </p:nvCxnSpPr>
        <p:spPr>
          <a:xfrm flipH="1">
            <a:off x="7956465" y="4350322"/>
            <a:ext cx="830800" cy="404874"/>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57" name="Google Shape;457;p10"/>
          <p:cNvSpPr/>
          <p:nvPr/>
        </p:nvSpPr>
        <p:spPr>
          <a:xfrm>
            <a:off x="7206659" y="4760906"/>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Branch</a:t>
            </a:r>
            <a:endParaRPr sz="1800">
              <a:solidFill>
                <a:schemeClr val="dk1"/>
              </a:solidFill>
              <a:latin typeface="Roboto Condensed"/>
              <a:ea typeface="Roboto Condensed"/>
              <a:cs typeface="Roboto Condensed"/>
              <a:sym typeface="Roboto Condensed"/>
            </a:endParaRPr>
          </a:p>
        </p:txBody>
      </p:sp>
      <p:sp>
        <p:nvSpPr>
          <p:cNvPr id="458" name="Google Shape;458;p10"/>
          <p:cNvSpPr/>
          <p:nvPr/>
        </p:nvSpPr>
        <p:spPr>
          <a:xfrm>
            <a:off x="8843010" y="4773727"/>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Sem</a:t>
            </a:r>
            <a:endParaRPr sz="1800">
              <a:solidFill>
                <a:schemeClr val="dk1"/>
              </a:solidFill>
              <a:latin typeface="Roboto Condensed"/>
              <a:ea typeface="Roboto Condensed"/>
              <a:cs typeface="Roboto Condensed"/>
              <a:sym typeface="Roboto Condensed"/>
            </a:endParaRPr>
          </a:p>
        </p:txBody>
      </p:sp>
      <p:cxnSp>
        <p:nvCxnSpPr>
          <p:cNvPr id="459" name="Google Shape;459;p10"/>
          <p:cNvCxnSpPr>
            <a:endCxn id="458" idx="0"/>
          </p:cNvCxnSpPr>
          <p:nvPr/>
        </p:nvCxnSpPr>
        <p:spPr>
          <a:xfrm>
            <a:off x="8787330" y="4354627"/>
            <a:ext cx="787200" cy="4191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60" name="Google Shape;460;p10"/>
          <p:cNvSpPr/>
          <p:nvPr/>
        </p:nvSpPr>
        <p:spPr>
          <a:xfrm>
            <a:off x="5284628" y="1859911"/>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Project</a:t>
            </a:r>
            <a:endParaRPr sz="1800">
              <a:solidFill>
                <a:schemeClr val="dk1"/>
              </a:solidFill>
              <a:latin typeface="Roboto Condensed"/>
              <a:ea typeface="Roboto Condensed"/>
              <a:cs typeface="Roboto Condensed"/>
              <a:sym typeface="Roboto Condensed"/>
            </a:endParaRPr>
          </a:p>
        </p:txBody>
      </p:sp>
      <p:cxnSp>
        <p:nvCxnSpPr>
          <p:cNvPr id="461" name="Google Shape;461;p10"/>
          <p:cNvCxnSpPr>
            <a:stCxn id="462" idx="4"/>
          </p:cNvCxnSpPr>
          <p:nvPr/>
        </p:nvCxnSpPr>
        <p:spPr>
          <a:xfrm>
            <a:off x="5277833" y="1424281"/>
            <a:ext cx="917700" cy="4359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62" name="Google Shape;462;p10"/>
          <p:cNvSpPr/>
          <p:nvPr/>
        </p:nvSpPr>
        <p:spPr>
          <a:xfrm>
            <a:off x="4500593" y="1001371"/>
            <a:ext cx="155448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ProjectID</a:t>
            </a:r>
            <a:endParaRPr sz="1800" u="sng">
              <a:solidFill>
                <a:schemeClr val="dk1"/>
              </a:solidFill>
              <a:latin typeface="Roboto Condensed"/>
              <a:ea typeface="Roboto Condensed"/>
              <a:cs typeface="Roboto Condensed"/>
              <a:sym typeface="Roboto Condensed"/>
            </a:endParaRPr>
          </a:p>
        </p:txBody>
      </p:sp>
      <p:cxnSp>
        <p:nvCxnSpPr>
          <p:cNvPr id="463" name="Google Shape;463;p10"/>
          <p:cNvCxnSpPr>
            <a:stCxn id="464" idx="4"/>
          </p:cNvCxnSpPr>
          <p:nvPr/>
        </p:nvCxnSpPr>
        <p:spPr>
          <a:xfrm flipH="1">
            <a:off x="6195576" y="1401870"/>
            <a:ext cx="974700" cy="45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64" name="Google Shape;464;p10"/>
          <p:cNvSpPr/>
          <p:nvPr/>
        </p:nvSpPr>
        <p:spPr>
          <a:xfrm>
            <a:off x="6118716" y="978960"/>
            <a:ext cx="210312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Project Name</a:t>
            </a:r>
            <a:endParaRPr sz="1800">
              <a:solidFill>
                <a:schemeClr val="dk1"/>
              </a:solidFill>
              <a:latin typeface="Roboto Condensed"/>
              <a:ea typeface="Roboto Condensed"/>
              <a:cs typeface="Roboto Condensed"/>
              <a:sym typeface="Roboto Condensed"/>
            </a:endParaRPr>
          </a:p>
        </p:txBody>
      </p:sp>
      <p:cxnSp>
        <p:nvCxnSpPr>
          <p:cNvPr id="465" name="Google Shape;465;p10"/>
          <p:cNvCxnSpPr>
            <a:stCxn id="460" idx="2"/>
            <a:endCxn id="441" idx="0"/>
          </p:cNvCxnSpPr>
          <p:nvPr/>
        </p:nvCxnSpPr>
        <p:spPr>
          <a:xfrm flipH="1">
            <a:off x="6132514" y="2604494"/>
            <a:ext cx="1200" cy="931200"/>
          </a:xfrm>
          <a:prstGeom prst="straightConnector1">
            <a:avLst/>
          </a:prstGeom>
          <a:noFill/>
          <a:ln cap="flat" cmpd="sng" w="28575">
            <a:solidFill>
              <a:schemeClr val="accent4"/>
            </a:solidFill>
            <a:prstDash val="solid"/>
            <a:miter lim="800000"/>
            <a:headEnd len="sm" w="sm" type="none"/>
            <a:tailEnd len="sm" w="sm" type="none"/>
          </a:ln>
        </p:spPr>
      </p:cxnSp>
      <p:sp>
        <p:nvSpPr>
          <p:cNvPr id="466" name="Google Shape;466;p10"/>
          <p:cNvSpPr/>
          <p:nvPr/>
        </p:nvSpPr>
        <p:spPr>
          <a:xfrm>
            <a:off x="2848889" y="5563119"/>
            <a:ext cx="7668000" cy="756000"/>
          </a:xfrm>
          <a:prstGeom prst="wedgeRoundRectCallout">
            <a:avLst>
              <a:gd fmla="val -46835" name="adj1"/>
              <a:gd fmla="val 1908" name="adj2"/>
              <a:gd fmla="val 16667" name="adj3"/>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Relationship between 3 entities is called ternary relationship.</a:t>
            </a:r>
            <a:endParaRPr sz="2400">
              <a:solidFill>
                <a:schemeClr val="lt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par>
                                <p:cTn fill="hold" nodeType="withEffect" presetClass="entr" presetID="10"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animEffect filter="fade" transition="in">
                                      <p:cBhvr>
                                        <p:cTn dur="500"/>
                                        <p:tgtEl>
                                          <p:spTgt spid="43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0">
                                            <p:txEl>
                                              <p:pRg end="0" st="0"/>
                                            </p:txEl>
                                          </p:spTgt>
                                        </p:tgtEl>
                                        <p:attrNameLst>
                                          <p:attrName>style.visibility</p:attrName>
                                        </p:attrNameLst>
                                      </p:cBhvr>
                                      <p:to>
                                        <p:strVal val="visible"/>
                                      </p:to>
                                    </p:set>
                                    <p:animEffect filter="fade" transition="in">
                                      <p:cBhvr>
                                        <p:cTn dur="500"/>
                                        <p:tgtEl>
                                          <p:spTgt spid="44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par>
                                <p:cTn fill="hold" nodeType="with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par>
                                <p:cTn fill="hold" nodeType="with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par>
                                <p:cTn fill="hold" nodeType="with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par>
                                <p:cTn fill="hold" nodeType="withEffect" presetClass="entr" presetID="10" presetSubtype="0">
                                  <p:stCondLst>
                                    <p:cond delay="0"/>
                                  </p:stCondLst>
                                  <p:childTnLst>
                                    <p:set>
                                      <p:cBhvr>
                                        <p:cTn dur="1" fill="hold">
                                          <p:stCondLst>
                                            <p:cond delay="0"/>
                                          </p:stCondLst>
                                        </p:cTn>
                                        <p:tgtEl>
                                          <p:spTgt spid="441">
                                            <p:txEl>
                                              <p:pRg end="0" st="0"/>
                                            </p:txEl>
                                          </p:spTgt>
                                        </p:tgtEl>
                                        <p:attrNameLst>
                                          <p:attrName>style.visibility</p:attrName>
                                        </p:attrNameLst>
                                      </p:cBhvr>
                                      <p:to>
                                        <p:strVal val="visible"/>
                                      </p:to>
                                    </p:set>
                                    <p:animEffect filter="fade" transition="in">
                                      <p:cBhvr>
                                        <p:cTn dur="500"/>
                                        <p:tgtEl>
                                          <p:spTgt spid="44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par>
                                <p:cTn fill="hold" nodeType="with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par>
                                <p:cTn fill="hold" nodeType="withEffect" presetClass="entr" presetID="10" presetSubtype="0">
                                  <p:stCondLst>
                                    <p:cond delay="0"/>
                                  </p:stCondLst>
                                  <p:childTnLst>
                                    <p:set>
                                      <p:cBhvr>
                                        <p:cTn dur="1" fill="hold">
                                          <p:stCondLst>
                                            <p:cond delay="0"/>
                                          </p:stCondLst>
                                        </p:cTn>
                                        <p:tgtEl>
                                          <p:spTgt spid="460">
                                            <p:txEl>
                                              <p:pRg end="0" st="0"/>
                                            </p:txEl>
                                          </p:spTgt>
                                        </p:tgtEl>
                                        <p:attrNameLst>
                                          <p:attrName>style.visibility</p:attrName>
                                        </p:attrNameLst>
                                      </p:cBhvr>
                                      <p:to>
                                        <p:strVal val="visible"/>
                                      </p:to>
                                    </p:set>
                                    <p:animEffect filter="fade" transition="in">
                                      <p:cBhvr>
                                        <p:cTn dur="500"/>
                                        <p:tgtEl>
                                          <p:spTgt spid="46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par>
                                <p:cTn fill="hold" nodeType="with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1"/>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Exercise</a:t>
            </a:r>
            <a:endParaRPr/>
          </a:p>
        </p:txBody>
      </p:sp>
      <p:sp>
        <p:nvSpPr>
          <p:cNvPr id="472" name="Google Shape;472;p11"/>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Draw an E-R diagram of following pair of entities</a:t>
            </a:r>
            <a:endParaRPr/>
          </a:p>
          <a:p>
            <a:pPr indent="-352425" lvl="1" marL="809625" rtl="0" algn="just">
              <a:lnSpc>
                <a:spcPct val="90000"/>
              </a:lnSpc>
              <a:spcBef>
                <a:spcPts val="500"/>
              </a:spcBef>
              <a:spcAft>
                <a:spcPts val="0"/>
              </a:spcAft>
              <a:buSzPts val="2000"/>
              <a:buChar char="⮩"/>
            </a:pPr>
            <a:r>
              <a:rPr lang="en-US"/>
              <a:t>Customer &amp; Account</a:t>
            </a:r>
            <a:endParaRPr/>
          </a:p>
          <a:p>
            <a:pPr indent="-352425" lvl="1" marL="809625" rtl="0" algn="just">
              <a:lnSpc>
                <a:spcPct val="90000"/>
              </a:lnSpc>
              <a:spcBef>
                <a:spcPts val="500"/>
              </a:spcBef>
              <a:spcAft>
                <a:spcPts val="0"/>
              </a:spcAft>
              <a:buSzPts val="2000"/>
              <a:buChar char="⮩"/>
            </a:pPr>
            <a:r>
              <a:rPr lang="en-US"/>
              <a:t>Customer &amp; Loan</a:t>
            </a:r>
            <a:endParaRPr/>
          </a:p>
          <a:p>
            <a:pPr indent="-352425" lvl="1" marL="809625" rtl="0" algn="just">
              <a:lnSpc>
                <a:spcPct val="90000"/>
              </a:lnSpc>
              <a:spcBef>
                <a:spcPts val="500"/>
              </a:spcBef>
              <a:spcAft>
                <a:spcPts val="0"/>
              </a:spcAft>
              <a:buSzPts val="2000"/>
              <a:buChar char="⮩"/>
            </a:pPr>
            <a:r>
              <a:rPr lang="en-US"/>
              <a:t>Doctor &amp; Patient</a:t>
            </a:r>
            <a:endParaRPr/>
          </a:p>
          <a:p>
            <a:pPr indent="-352425" lvl="1" marL="809625" rtl="0" algn="just">
              <a:lnSpc>
                <a:spcPct val="90000"/>
              </a:lnSpc>
              <a:spcBef>
                <a:spcPts val="500"/>
              </a:spcBef>
              <a:spcAft>
                <a:spcPts val="0"/>
              </a:spcAft>
              <a:buSzPts val="2000"/>
              <a:buChar char="⮩"/>
            </a:pPr>
            <a:r>
              <a:rPr lang="en-US"/>
              <a:t>Student &amp; Project</a:t>
            </a:r>
            <a:endParaRPr/>
          </a:p>
          <a:p>
            <a:pPr indent="-352425" lvl="1" marL="809625" rtl="0" algn="just">
              <a:lnSpc>
                <a:spcPct val="90000"/>
              </a:lnSpc>
              <a:spcBef>
                <a:spcPts val="500"/>
              </a:spcBef>
              <a:spcAft>
                <a:spcPts val="0"/>
              </a:spcAft>
              <a:buSzPts val="2000"/>
              <a:buChar char="⮩"/>
            </a:pPr>
            <a:r>
              <a:rPr lang="en-US"/>
              <a:t>Student &amp; Teacher</a:t>
            </a:r>
            <a:endParaRPr/>
          </a:p>
          <a:p>
            <a:pPr indent="-228600" lvl="2" marL="1143000" rtl="0" algn="just">
              <a:lnSpc>
                <a:spcPct val="90000"/>
              </a:lnSpc>
              <a:spcBef>
                <a:spcPts val="500"/>
              </a:spcBef>
              <a:spcAft>
                <a:spcPts val="0"/>
              </a:spcAft>
              <a:buSzPts val="1800"/>
              <a:buChar char="▪"/>
            </a:pPr>
            <a:r>
              <a:rPr lang="en-US"/>
              <a:t>Note: Take four attributes per entity with one primary key attribute.</a:t>
            </a:r>
            <a:endParaRPr/>
          </a:p>
          <a:p>
            <a:pPr indent="0" lvl="1" marL="457200" rtl="0" algn="just">
              <a:lnSpc>
                <a:spcPct val="90000"/>
              </a:lnSpc>
              <a:spcBef>
                <a:spcPts val="500"/>
              </a:spcBef>
              <a:spcAft>
                <a:spcPts val="0"/>
              </a:spcAft>
              <a:buSzPts val="2000"/>
              <a:buNone/>
            </a:pPr>
            <a:r>
              <a:rPr lang="en-US"/>
              <a:t>	             </a:t>
            </a:r>
            <a:r>
              <a:rPr lang="en-US" sz="1800"/>
              <a:t>Keep proper relationship between two entities.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0" st="0"/>
                                            </p:txEl>
                                          </p:spTgt>
                                        </p:tgtEl>
                                        <p:attrNameLst>
                                          <p:attrName>style.visibility</p:attrName>
                                        </p:attrNameLst>
                                      </p:cBhvr>
                                      <p:to>
                                        <p:strVal val="visible"/>
                                      </p:to>
                                    </p:set>
                                    <p:animEffect filter="fade" transition="in">
                                      <p:cBhvr>
                                        <p:cTn dur="500"/>
                                        <p:tgtEl>
                                          <p:spTgt spid="4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1" st="1"/>
                                            </p:txEl>
                                          </p:spTgt>
                                        </p:tgtEl>
                                        <p:attrNameLst>
                                          <p:attrName>style.visibility</p:attrName>
                                        </p:attrNameLst>
                                      </p:cBhvr>
                                      <p:to>
                                        <p:strVal val="visible"/>
                                      </p:to>
                                    </p:set>
                                    <p:animEffect filter="fade" transition="in">
                                      <p:cBhvr>
                                        <p:cTn dur="500"/>
                                        <p:tgtEl>
                                          <p:spTgt spid="4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2" st="2"/>
                                            </p:txEl>
                                          </p:spTgt>
                                        </p:tgtEl>
                                        <p:attrNameLst>
                                          <p:attrName>style.visibility</p:attrName>
                                        </p:attrNameLst>
                                      </p:cBhvr>
                                      <p:to>
                                        <p:strVal val="visible"/>
                                      </p:to>
                                    </p:set>
                                    <p:animEffect filter="fade" transition="in">
                                      <p:cBhvr>
                                        <p:cTn dur="500"/>
                                        <p:tgtEl>
                                          <p:spTgt spid="4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3" st="3"/>
                                            </p:txEl>
                                          </p:spTgt>
                                        </p:tgtEl>
                                        <p:attrNameLst>
                                          <p:attrName>style.visibility</p:attrName>
                                        </p:attrNameLst>
                                      </p:cBhvr>
                                      <p:to>
                                        <p:strVal val="visible"/>
                                      </p:to>
                                    </p:set>
                                    <p:animEffect filter="fade" transition="in">
                                      <p:cBhvr>
                                        <p:cTn dur="500"/>
                                        <p:tgtEl>
                                          <p:spTgt spid="4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4" st="4"/>
                                            </p:txEl>
                                          </p:spTgt>
                                        </p:tgtEl>
                                        <p:attrNameLst>
                                          <p:attrName>style.visibility</p:attrName>
                                        </p:attrNameLst>
                                      </p:cBhvr>
                                      <p:to>
                                        <p:strVal val="visible"/>
                                      </p:to>
                                    </p:set>
                                    <p:animEffect filter="fade" transition="in">
                                      <p:cBhvr>
                                        <p:cTn dur="500"/>
                                        <p:tgtEl>
                                          <p:spTgt spid="4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5" st="5"/>
                                            </p:txEl>
                                          </p:spTgt>
                                        </p:tgtEl>
                                        <p:attrNameLst>
                                          <p:attrName>style.visibility</p:attrName>
                                        </p:attrNameLst>
                                      </p:cBhvr>
                                      <p:to>
                                        <p:strVal val="visible"/>
                                      </p:to>
                                    </p:set>
                                    <p:animEffect filter="fade" transition="in">
                                      <p:cBhvr>
                                        <p:cTn dur="500"/>
                                        <p:tgtEl>
                                          <p:spTgt spid="4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6" st="6"/>
                                            </p:txEl>
                                          </p:spTgt>
                                        </p:tgtEl>
                                        <p:attrNameLst>
                                          <p:attrName>style.visibility</p:attrName>
                                        </p:attrNameLst>
                                      </p:cBhvr>
                                      <p:to>
                                        <p:strVal val="visible"/>
                                      </p:to>
                                    </p:set>
                                    <p:animEffect filter="fade" transition="in">
                                      <p:cBhvr>
                                        <p:cTn dur="500"/>
                                        <p:tgtEl>
                                          <p:spTgt spid="4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xEl>
                                              <p:pRg end="7" st="7"/>
                                            </p:txEl>
                                          </p:spTgt>
                                        </p:tgtEl>
                                        <p:attrNameLst>
                                          <p:attrName>style.visibility</p:attrName>
                                        </p:attrNameLst>
                                      </p:cBhvr>
                                      <p:to>
                                        <p:strVal val="visible"/>
                                      </p:to>
                                    </p:set>
                                    <p:animEffect filter="fade" transition="in">
                                      <p:cBhvr>
                                        <p:cTn dur="500"/>
                                        <p:tgtEl>
                                          <p:spTgt spid="47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Types of Attributes</a:t>
            </a:r>
            <a:endParaRPr>
              <a:solidFill>
                <a:srgbClr val="5C2321"/>
              </a:solidFill>
            </a:endParaRPr>
          </a:p>
        </p:txBody>
      </p:sp>
      <p:sp>
        <p:nvSpPr>
          <p:cNvPr id="478" name="Google Shape;478;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- 2</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3"/>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Types of Attributes</a:t>
            </a:r>
            <a:endParaRPr/>
          </a:p>
        </p:txBody>
      </p:sp>
      <p:sp>
        <p:nvSpPr>
          <p:cNvPr id="484" name="Google Shape;484;p13"/>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graphicFrame>
        <p:nvGraphicFramePr>
          <p:cNvPr id="485" name="Google Shape;485;p13"/>
          <p:cNvGraphicFramePr/>
          <p:nvPr/>
        </p:nvGraphicFramePr>
        <p:xfrm>
          <a:off x="696000" y="1195972"/>
          <a:ext cx="3000000" cy="3000000"/>
        </p:xfrm>
        <a:graphic>
          <a:graphicData uri="http://schemas.openxmlformats.org/drawingml/2006/table">
            <a:tbl>
              <a:tblPr bandRow="1" firstRow="1">
                <a:noFill/>
                <a:tableStyleId>{2FE9E659-6503-4E8C-9AC6-ED4A2EF7120C}</a:tableStyleId>
              </a:tblPr>
              <a:tblGrid>
                <a:gridCol w="5400000"/>
                <a:gridCol w="5400000"/>
              </a:tblGrid>
              <a:tr h="630000">
                <a:tc>
                  <a:txBody>
                    <a:bodyPr/>
                    <a:lstStyle/>
                    <a:p>
                      <a:pPr indent="0" lvl="0" marL="0" marR="0" rtl="0" algn="l">
                        <a:spcBef>
                          <a:spcPts val="0"/>
                        </a:spcBef>
                        <a:spcAft>
                          <a:spcPts val="0"/>
                        </a:spcAft>
                        <a:buNone/>
                      </a:pPr>
                      <a:r>
                        <a:rPr b="1" lang="en-US" sz="2400" u="none" cap="none" strike="noStrike">
                          <a:solidFill>
                            <a:schemeClr val="dk1"/>
                          </a:solidFill>
                        </a:rPr>
                        <a:t>Simple Attribute</a:t>
                      </a:r>
                      <a:endParaRPr b="1" sz="1800" u="none" cap="none" strike="noStrike">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2400" u="none" cap="none" strike="noStrike">
                          <a:solidFill>
                            <a:schemeClr val="dk1"/>
                          </a:solidFill>
                        </a:rPr>
                        <a:t>Composite Attribute</a:t>
                      </a:r>
                      <a:endParaRPr b="1" sz="1800" u="none" cap="none" strike="noStrike">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bl>
          </a:graphicData>
        </a:graphic>
      </p:graphicFrame>
      <p:graphicFrame>
        <p:nvGraphicFramePr>
          <p:cNvPr id="486" name="Google Shape;486;p13"/>
          <p:cNvGraphicFramePr/>
          <p:nvPr/>
        </p:nvGraphicFramePr>
        <p:xfrm>
          <a:off x="696000" y="182597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u="none" cap="none" strike="noStrike">
                          <a:solidFill>
                            <a:schemeClr val="dk1"/>
                          </a:solidFill>
                          <a:latin typeface="Roboto Condensed"/>
                          <a:ea typeface="Roboto Condensed"/>
                          <a:cs typeface="Roboto Condensed"/>
                          <a:sym typeface="Roboto Condensed"/>
                        </a:rPr>
                        <a:t>Cannot be divided into subparts</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Can be divided into subparts</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487" name="Google Shape;487;p13"/>
          <p:cNvGraphicFramePr/>
          <p:nvPr/>
        </p:nvGraphicFramePr>
        <p:xfrm>
          <a:off x="696000" y="236597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RollNo, CPI</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Name </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                  </a:t>
                      </a:r>
                      <a:r>
                        <a:rPr b="0" lang="en-US" sz="2000">
                          <a:solidFill>
                            <a:schemeClr val="dk1"/>
                          </a:solidFill>
                          <a:latin typeface="Roboto Condensed"/>
                          <a:ea typeface="Roboto Condensed"/>
                          <a:cs typeface="Roboto Condensed"/>
                          <a:sym typeface="Roboto Condensed"/>
                        </a:rPr>
                        <a:t>(first name, middle name, last name)</a:t>
                      </a:r>
                      <a:r>
                        <a:rPr b="0" lang="en-US" sz="2400">
                          <a:solidFill>
                            <a:schemeClr val="dk1"/>
                          </a:solidFill>
                          <a:latin typeface="Roboto Condensed"/>
                          <a:ea typeface="Roboto Condensed"/>
                          <a:cs typeface="Roboto Condensed"/>
                          <a:sym typeface="Roboto Condensed"/>
                        </a:rPr>
                        <a:t> </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        Address</a:t>
                      </a:r>
                      <a:endParaRPr/>
                    </a:p>
                    <a:p>
                      <a:pPr indent="0" lvl="0" marL="0" marR="0" rtl="0" algn="l">
                        <a:spcBef>
                          <a:spcPts val="0"/>
                        </a:spcBef>
                        <a:spcAft>
                          <a:spcPts val="0"/>
                        </a:spcAft>
                        <a:buNone/>
                      </a:pPr>
                      <a:r>
                        <a:rPr b="0" lang="en-US" sz="2000">
                          <a:solidFill>
                            <a:schemeClr val="dk1"/>
                          </a:solidFill>
                          <a:latin typeface="Roboto Condensed"/>
                          <a:ea typeface="Roboto Condensed"/>
                          <a:cs typeface="Roboto Condensed"/>
                          <a:sym typeface="Roboto Condensed"/>
                        </a:rPr>
                        <a:t>                     (street, road, city)</a:t>
                      </a:r>
                      <a:endParaRPr b="0" sz="20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488" name="Google Shape;488;p13"/>
          <p:cNvGraphicFramePr/>
          <p:nvPr/>
        </p:nvGraphicFramePr>
        <p:xfrm>
          <a:off x="696000" y="385949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Symbol</a:t>
                      </a:r>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Symbol</a:t>
                      </a:r>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
        <p:nvSpPr>
          <p:cNvPr id="489" name="Google Shape;489;p13"/>
          <p:cNvSpPr/>
          <p:nvPr/>
        </p:nvSpPr>
        <p:spPr>
          <a:xfrm>
            <a:off x="2140844" y="4552950"/>
            <a:ext cx="164592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Roll No</a:t>
            </a:r>
            <a:endParaRPr/>
          </a:p>
        </p:txBody>
      </p:sp>
      <p:sp>
        <p:nvSpPr>
          <p:cNvPr id="490" name="Google Shape;490;p13"/>
          <p:cNvSpPr/>
          <p:nvPr/>
        </p:nvSpPr>
        <p:spPr>
          <a:xfrm>
            <a:off x="8083802" y="3949212"/>
            <a:ext cx="164592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491" name="Google Shape;491;p13"/>
          <p:cNvCxnSpPr>
            <a:stCxn id="492" idx="0"/>
            <a:endCxn id="490" idx="5"/>
          </p:cNvCxnSpPr>
          <p:nvPr/>
        </p:nvCxnSpPr>
        <p:spPr>
          <a:xfrm rot="10800000">
            <a:off x="9488725" y="4310201"/>
            <a:ext cx="700200" cy="263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93" name="Google Shape;493;p13"/>
          <p:cNvSpPr/>
          <p:nvPr/>
        </p:nvSpPr>
        <p:spPr>
          <a:xfrm>
            <a:off x="6914508" y="4528625"/>
            <a:ext cx="173736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First name</a:t>
            </a:r>
            <a:endParaRPr/>
          </a:p>
        </p:txBody>
      </p:sp>
      <p:cxnSp>
        <p:nvCxnSpPr>
          <p:cNvPr id="494" name="Google Shape;494;p13"/>
          <p:cNvCxnSpPr>
            <a:stCxn id="495" idx="0"/>
            <a:endCxn id="490" idx="4"/>
          </p:cNvCxnSpPr>
          <p:nvPr/>
        </p:nvCxnSpPr>
        <p:spPr>
          <a:xfrm rot="10800000">
            <a:off x="8906808" y="4372215"/>
            <a:ext cx="9600" cy="9273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92" name="Google Shape;492;p13"/>
          <p:cNvSpPr/>
          <p:nvPr/>
        </p:nvSpPr>
        <p:spPr>
          <a:xfrm>
            <a:off x="9365965" y="4573601"/>
            <a:ext cx="1645920" cy="442411"/>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Last name</a:t>
            </a:r>
            <a:endParaRPr sz="1800">
              <a:solidFill>
                <a:schemeClr val="dk1"/>
              </a:solidFill>
              <a:latin typeface="Roboto Condensed"/>
              <a:ea typeface="Roboto Condensed"/>
              <a:cs typeface="Roboto Condensed"/>
              <a:sym typeface="Roboto Condensed"/>
            </a:endParaRPr>
          </a:p>
        </p:txBody>
      </p:sp>
      <p:cxnSp>
        <p:nvCxnSpPr>
          <p:cNvPr id="496" name="Google Shape;496;p13"/>
          <p:cNvCxnSpPr>
            <a:stCxn id="493" idx="0"/>
            <a:endCxn id="490" idx="3"/>
          </p:cNvCxnSpPr>
          <p:nvPr/>
        </p:nvCxnSpPr>
        <p:spPr>
          <a:xfrm flipH="1" rot="10800000">
            <a:off x="7783188" y="4310225"/>
            <a:ext cx="541800" cy="21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495" name="Google Shape;495;p13"/>
          <p:cNvSpPr/>
          <p:nvPr/>
        </p:nvSpPr>
        <p:spPr>
          <a:xfrm>
            <a:off x="7908408" y="5299515"/>
            <a:ext cx="201600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Middle name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par>
                                <p:cTn fill="hold" nodeType="with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par>
                                <p:cTn fill="hold" nodeType="with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par>
                                <p:cTn fill="hold" nodeType="with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4"/>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Types of Attributes</a:t>
            </a:r>
            <a:endParaRPr/>
          </a:p>
        </p:txBody>
      </p:sp>
      <p:sp>
        <p:nvSpPr>
          <p:cNvPr id="502" name="Google Shape;502;p14"/>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graphicFrame>
        <p:nvGraphicFramePr>
          <p:cNvPr id="503" name="Google Shape;503;p14"/>
          <p:cNvGraphicFramePr/>
          <p:nvPr/>
        </p:nvGraphicFramePr>
        <p:xfrm>
          <a:off x="696000" y="1195972"/>
          <a:ext cx="3000000" cy="3000000"/>
        </p:xfrm>
        <a:graphic>
          <a:graphicData uri="http://schemas.openxmlformats.org/drawingml/2006/table">
            <a:tbl>
              <a:tblPr bandRow="1" firstRow="1">
                <a:noFill/>
                <a:tableStyleId>{2FE9E659-6503-4E8C-9AC6-ED4A2EF7120C}</a:tableStyleId>
              </a:tblPr>
              <a:tblGrid>
                <a:gridCol w="5400000"/>
                <a:gridCol w="5400000"/>
              </a:tblGrid>
              <a:tr h="630000">
                <a:tc>
                  <a:txBody>
                    <a:bodyPr/>
                    <a:lstStyle/>
                    <a:p>
                      <a:pPr indent="0" lvl="0" marL="0" marR="0" rtl="0" algn="l">
                        <a:spcBef>
                          <a:spcPts val="0"/>
                        </a:spcBef>
                        <a:spcAft>
                          <a:spcPts val="0"/>
                        </a:spcAft>
                        <a:buNone/>
                      </a:pPr>
                      <a:r>
                        <a:rPr b="1" lang="en-US" sz="2400">
                          <a:solidFill>
                            <a:schemeClr val="dk1"/>
                          </a:solidFill>
                        </a:rPr>
                        <a:t>Single-valued Attribute</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2400">
                          <a:solidFill>
                            <a:schemeClr val="dk1"/>
                          </a:solidFill>
                        </a:rPr>
                        <a:t>Multi-valued Attribute</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bl>
          </a:graphicData>
        </a:graphic>
      </p:graphicFrame>
      <p:graphicFrame>
        <p:nvGraphicFramePr>
          <p:cNvPr id="504" name="Google Shape;504;p14"/>
          <p:cNvGraphicFramePr/>
          <p:nvPr/>
        </p:nvGraphicFramePr>
        <p:xfrm>
          <a:off x="696000" y="182597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Has single value</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Has multiple (more than one) value</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505" name="Google Shape;505;p14"/>
          <p:cNvGraphicFramePr/>
          <p:nvPr/>
        </p:nvGraphicFramePr>
        <p:xfrm>
          <a:off x="696000" y="236597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RollNo, CPI</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PhoneNo</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                  </a:t>
                      </a:r>
                      <a:r>
                        <a:rPr b="0" lang="en-US" sz="2000">
                          <a:solidFill>
                            <a:schemeClr val="dk1"/>
                          </a:solidFill>
                          <a:latin typeface="Roboto Condensed"/>
                          <a:ea typeface="Roboto Condensed"/>
                          <a:cs typeface="Roboto Condensed"/>
                          <a:sym typeface="Roboto Condensed"/>
                        </a:rPr>
                        <a:t>(person may have multiple phone nos)</a:t>
                      </a:r>
                      <a:r>
                        <a:rPr b="0" lang="en-US" sz="2400">
                          <a:solidFill>
                            <a:schemeClr val="dk1"/>
                          </a:solidFill>
                          <a:latin typeface="Roboto Condensed"/>
                          <a:ea typeface="Roboto Condensed"/>
                          <a:cs typeface="Roboto Condensed"/>
                          <a:sym typeface="Roboto Condensed"/>
                        </a:rPr>
                        <a:t> </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        EmailID</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rPr b="0" lang="en-US" sz="2000">
                          <a:solidFill>
                            <a:schemeClr val="dk1"/>
                          </a:solidFill>
                          <a:latin typeface="Roboto Condensed"/>
                          <a:ea typeface="Roboto Condensed"/>
                          <a:cs typeface="Roboto Condensed"/>
                          <a:sym typeface="Roboto Condensed"/>
                        </a:rPr>
                        <a:t>                     (person may have multiple emails)</a:t>
                      </a:r>
                      <a:endParaRPr b="0" sz="20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506" name="Google Shape;506;p14"/>
          <p:cNvGraphicFramePr/>
          <p:nvPr/>
        </p:nvGraphicFramePr>
        <p:xfrm>
          <a:off x="696000" y="385949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Symbol</a:t>
                      </a:r>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Symbol</a:t>
                      </a:r>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
        <p:nvSpPr>
          <p:cNvPr id="507" name="Google Shape;507;p14"/>
          <p:cNvSpPr/>
          <p:nvPr/>
        </p:nvSpPr>
        <p:spPr>
          <a:xfrm>
            <a:off x="2140844" y="4552950"/>
            <a:ext cx="164592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Roll No</a:t>
            </a:r>
            <a:endParaRPr/>
          </a:p>
        </p:txBody>
      </p:sp>
      <p:grpSp>
        <p:nvGrpSpPr>
          <p:cNvPr id="508" name="Google Shape;508;p14"/>
          <p:cNvGrpSpPr/>
          <p:nvPr/>
        </p:nvGrpSpPr>
        <p:grpSpPr>
          <a:xfrm>
            <a:off x="8186071" y="4547162"/>
            <a:ext cx="1758029" cy="544899"/>
            <a:chOff x="5938171" y="3429000"/>
            <a:chExt cx="1758029" cy="544899"/>
          </a:xfrm>
        </p:grpSpPr>
        <p:sp>
          <p:nvSpPr>
            <p:cNvPr id="509" name="Google Shape;509;p14"/>
            <p:cNvSpPr/>
            <p:nvPr/>
          </p:nvSpPr>
          <p:spPr>
            <a:xfrm>
              <a:off x="6039945" y="3489994"/>
              <a:ext cx="155448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Phone No</a:t>
              </a:r>
              <a:endParaRPr sz="1800">
                <a:solidFill>
                  <a:schemeClr val="dk1"/>
                </a:solidFill>
                <a:latin typeface="Roboto Condensed"/>
                <a:ea typeface="Roboto Condensed"/>
                <a:cs typeface="Roboto Condensed"/>
                <a:sym typeface="Roboto Condensed"/>
              </a:endParaRPr>
            </a:p>
          </p:txBody>
        </p:sp>
        <p:sp>
          <p:nvSpPr>
            <p:cNvPr id="510" name="Google Shape;510;p14"/>
            <p:cNvSpPr/>
            <p:nvPr/>
          </p:nvSpPr>
          <p:spPr>
            <a:xfrm>
              <a:off x="5938171" y="3429000"/>
              <a:ext cx="1758029" cy="544899"/>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15"/>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Types of Attributes</a:t>
            </a:r>
            <a:endParaRPr/>
          </a:p>
        </p:txBody>
      </p:sp>
      <p:sp>
        <p:nvSpPr>
          <p:cNvPr id="516" name="Google Shape;516;p15"/>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graphicFrame>
        <p:nvGraphicFramePr>
          <p:cNvPr id="517" name="Google Shape;517;p15"/>
          <p:cNvGraphicFramePr/>
          <p:nvPr/>
        </p:nvGraphicFramePr>
        <p:xfrm>
          <a:off x="696000" y="1195972"/>
          <a:ext cx="3000000" cy="3000000"/>
        </p:xfrm>
        <a:graphic>
          <a:graphicData uri="http://schemas.openxmlformats.org/drawingml/2006/table">
            <a:tbl>
              <a:tblPr bandRow="1" firstRow="1">
                <a:noFill/>
                <a:tableStyleId>{2FE9E659-6503-4E8C-9AC6-ED4A2EF7120C}</a:tableStyleId>
              </a:tblPr>
              <a:tblGrid>
                <a:gridCol w="5400000"/>
                <a:gridCol w="5400000"/>
              </a:tblGrid>
              <a:tr h="630000">
                <a:tc>
                  <a:txBody>
                    <a:bodyPr/>
                    <a:lstStyle/>
                    <a:p>
                      <a:pPr indent="0" lvl="0" marL="0" marR="0" rtl="0" algn="l">
                        <a:spcBef>
                          <a:spcPts val="0"/>
                        </a:spcBef>
                        <a:spcAft>
                          <a:spcPts val="0"/>
                        </a:spcAft>
                        <a:buNone/>
                      </a:pPr>
                      <a:r>
                        <a:rPr b="1" lang="en-US" sz="2400">
                          <a:solidFill>
                            <a:schemeClr val="dk1"/>
                          </a:solidFill>
                        </a:rPr>
                        <a:t>Stored Attribute</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2400">
                          <a:solidFill>
                            <a:schemeClr val="dk1"/>
                          </a:solidFill>
                        </a:rPr>
                        <a:t>Derived Attribute</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bl>
          </a:graphicData>
        </a:graphic>
      </p:graphicFrame>
      <p:graphicFrame>
        <p:nvGraphicFramePr>
          <p:cNvPr id="518" name="Google Shape;518;p15"/>
          <p:cNvGraphicFramePr/>
          <p:nvPr/>
        </p:nvGraphicFramePr>
        <p:xfrm>
          <a:off x="696000" y="182597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It’s value is stored manually in database</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It’s value is derived or calculated from other attributes</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519" name="Google Shape;519;p15"/>
          <p:cNvGraphicFramePr/>
          <p:nvPr/>
        </p:nvGraphicFramePr>
        <p:xfrm>
          <a:off x="696000" y="264893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Birthdate</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Age</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              </a:t>
                      </a:r>
                      <a:r>
                        <a:rPr b="0" lang="en-US" sz="2000">
                          <a:solidFill>
                            <a:schemeClr val="dk1"/>
                          </a:solidFill>
                          <a:latin typeface="Roboto Condensed"/>
                          <a:ea typeface="Roboto Condensed"/>
                          <a:cs typeface="Roboto Condensed"/>
                          <a:sym typeface="Roboto Condensed"/>
                        </a:rPr>
                        <a:t>(can be calculated using current date and                     birthdate)</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520" name="Google Shape;520;p15"/>
          <p:cNvGraphicFramePr/>
          <p:nvPr/>
        </p:nvGraphicFramePr>
        <p:xfrm>
          <a:off x="696000" y="3776692"/>
          <a:ext cx="3000000" cy="3000000"/>
        </p:xfrm>
        <a:graphic>
          <a:graphicData uri="http://schemas.openxmlformats.org/drawingml/2006/table">
            <a:tbl>
              <a:tblPr bandRow="1" firstRow="1">
                <a:noFill/>
                <a:tableStyleId>{2FE9E659-6503-4E8C-9AC6-ED4A2EF7120C}</a:tableStyleId>
              </a:tblPr>
              <a:tblGrid>
                <a:gridCol w="5400000"/>
                <a:gridCol w="5400000"/>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Symbol</a:t>
                      </a:r>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Symbol</a:t>
                      </a:r>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
        <p:nvSpPr>
          <p:cNvPr id="521" name="Google Shape;521;p15"/>
          <p:cNvSpPr/>
          <p:nvPr/>
        </p:nvSpPr>
        <p:spPr>
          <a:xfrm>
            <a:off x="2140844" y="4176742"/>
            <a:ext cx="164592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Birthdate</a:t>
            </a:r>
            <a:endParaRPr sz="1800">
              <a:solidFill>
                <a:schemeClr val="dk1"/>
              </a:solidFill>
              <a:latin typeface="Roboto Condensed"/>
              <a:ea typeface="Roboto Condensed"/>
              <a:cs typeface="Roboto Condensed"/>
              <a:sym typeface="Roboto Condensed"/>
            </a:endParaRPr>
          </a:p>
        </p:txBody>
      </p:sp>
      <p:sp>
        <p:nvSpPr>
          <p:cNvPr id="522" name="Google Shape;522;p15"/>
          <p:cNvSpPr/>
          <p:nvPr/>
        </p:nvSpPr>
        <p:spPr>
          <a:xfrm>
            <a:off x="8180156" y="4179074"/>
            <a:ext cx="1554480" cy="422910"/>
          </a:xfrm>
          <a:prstGeom prst="ellipse">
            <a:avLst/>
          </a:prstGeom>
          <a:noFill/>
          <a:ln cap="flat" cmpd="sng" w="28575">
            <a:solidFill>
              <a:schemeClr val="dk2"/>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Age</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500"/>
                                        <p:tgtEl>
                                          <p:spTgt spid="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par>
                                <p:cTn fill="hold" nodeType="with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Entity with all types of Attributes</a:t>
            </a:r>
            <a:endParaRPr/>
          </a:p>
        </p:txBody>
      </p:sp>
      <p:sp>
        <p:nvSpPr>
          <p:cNvPr id="528" name="Google Shape;528;p16"/>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sp>
        <p:nvSpPr>
          <p:cNvPr id="529" name="Google Shape;529;p16"/>
          <p:cNvSpPr/>
          <p:nvPr/>
        </p:nvSpPr>
        <p:spPr>
          <a:xfrm>
            <a:off x="4251951" y="3352958"/>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800">
              <a:solidFill>
                <a:schemeClr val="dk1"/>
              </a:solidFill>
              <a:latin typeface="Roboto Condensed"/>
              <a:ea typeface="Roboto Condensed"/>
              <a:cs typeface="Roboto Condensed"/>
              <a:sym typeface="Roboto Condensed"/>
            </a:endParaRPr>
          </a:p>
        </p:txBody>
      </p:sp>
      <p:cxnSp>
        <p:nvCxnSpPr>
          <p:cNvPr id="530" name="Google Shape;530;p16"/>
          <p:cNvCxnSpPr/>
          <p:nvPr/>
        </p:nvCxnSpPr>
        <p:spPr>
          <a:xfrm>
            <a:off x="5944124" y="3720893"/>
            <a:ext cx="881753" cy="1"/>
          </a:xfrm>
          <a:prstGeom prst="straightConnector1">
            <a:avLst/>
          </a:prstGeom>
          <a:noFill/>
          <a:ln cap="flat" cmpd="sng" w="28575">
            <a:solidFill>
              <a:schemeClr val="dk2"/>
            </a:solidFill>
            <a:prstDash val="solid"/>
            <a:miter lim="800000"/>
            <a:headEnd len="sm" w="sm" type="none"/>
            <a:tailEnd len="sm" w="sm" type="none"/>
          </a:ln>
        </p:spPr>
      </p:cxnSp>
      <p:cxnSp>
        <p:nvCxnSpPr>
          <p:cNvPr id="531" name="Google Shape;531;p16"/>
          <p:cNvCxnSpPr>
            <a:stCxn id="532" idx="4"/>
            <a:endCxn id="529" idx="0"/>
          </p:cNvCxnSpPr>
          <p:nvPr/>
        </p:nvCxnSpPr>
        <p:spPr>
          <a:xfrm>
            <a:off x="4137648" y="2916985"/>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532" name="Google Shape;532;p16"/>
          <p:cNvSpPr/>
          <p:nvPr/>
        </p:nvSpPr>
        <p:spPr>
          <a:xfrm>
            <a:off x="3406128" y="249407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RollNo</a:t>
            </a:r>
            <a:endParaRPr sz="1800" u="sng">
              <a:solidFill>
                <a:schemeClr val="dk1"/>
              </a:solidFill>
              <a:latin typeface="Roboto Condensed"/>
              <a:ea typeface="Roboto Condensed"/>
              <a:cs typeface="Roboto Condensed"/>
              <a:sym typeface="Roboto Condensed"/>
            </a:endParaRPr>
          </a:p>
        </p:txBody>
      </p:sp>
      <p:cxnSp>
        <p:nvCxnSpPr>
          <p:cNvPr id="533" name="Google Shape;533;p16"/>
          <p:cNvCxnSpPr>
            <a:stCxn id="534" idx="4"/>
            <a:endCxn id="529" idx="0"/>
          </p:cNvCxnSpPr>
          <p:nvPr/>
        </p:nvCxnSpPr>
        <p:spPr>
          <a:xfrm flipH="1">
            <a:off x="5101171" y="2894574"/>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534" name="Google Shape;534;p16"/>
          <p:cNvSpPr/>
          <p:nvPr/>
        </p:nvSpPr>
        <p:spPr>
          <a:xfrm>
            <a:off x="5024251" y="247166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535" name="Google Shape;535;p16"/>
          <p:cNvCxnSpPr>
            <a:stCxn id="529" idx="2"/>
            <a:endCxn id="536" idx="0"/>
          </p:cNvCxnSpPr>
          <p:nvPr/>
        </p:nvCxnSpPr>
        <p:spPr>
          <a:xfrm flipH="1">
            <a:off x="4019237" y="4097541"/>
            <a:ext cx="1081800" cy="343800"/>
          </a:xfrm>
          <a:prstGeom prst="straightConnector1">
            <a:avLst/>
          </a:prstGeom>
          <a:noFill/>
          <a:ln cap="flat" cmpd="sng" w="28575">
            <a:solidFill>
              <a:schemeClr val="dk2"/>
            </a:solidFill>
            <a:prstDash val="solid"/>
            <a:miter lim="800000"/>
            <a:headEnd len="sm" w="sm" type="none"/>
            <a:tailEnd len="sm" w="sm" type="none"/>
          </a:ln>
        </p:spPr>
      </p:cxnSp>
      <p:sp>
        <p:nvSpPr>
          <p:cNvPr id="537" name="Google Shape;537;p16"/>
          <p:cNvSpPr/>
          <p:nvPr/>
        </p:nvSpPr>
        <p:spPr>
          <a:xfrm>
            <a:off x="3248551" y="4500677"/>
            <a:ext cx="155448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Phone No</a:t>
            </a:r>
            <a:endParaRPr sz="1800">
              <a:solidFill>
                <a:schemeClr val="dk1"/>
              </a:solidFill>
              <a:latin typeface="Roboto Condensed"/>
              <a:ea typeface="Roboto Condensed"/>
              <a:cs typeface="Roboto Condensed"/>
              <a:sym typeface="Roboto Condensed"/>
            </a:endParaRPr>
          </a:p>
        </p:txBody>
      </p:sp>
      <p:sp>
        <p:nvSpPr>
          <p:cNvPr id="538" name="Google Shape;538;p16"/>
          <p:cNvSpPr/>
          <p:nvPr/>
        </p:nvSpPr>
        <p:spPr>
          <a:xfrm>
            <a:off x="5485161" y="4487185"/>
            <a:ext cx="164592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Birth Date</a:t>
            </a:r>
            <a:endParaRPr sz="1800">
              <a:solidFill>
                <a:schemeClr val="dk1"/>
              </a:solidFill>
              <a:latin typeface="Roboto Condensed"/>
              <a:ea typeface="Roboto Condensed"/>
              <a:cs typeface="Roboto Condensed"/>
              <a:sym typeface="Roboto Condensed"/>
            </a:endParaRPr>
          </a:p>
        </p:txBody>
      </p:sp>
      <p:cxnSp>
        <p:nvCxnSpPr>
          <p:cNvPr id="539" name="Google Shape;539;p16"/>
          <p:cNvCxnSpPr>
            <a:stCxn id="529" idx="2"/>
            <a:endCxn id="538" idx="0"/>
          </p:cNvCxnSpPr>
          <p:nvPr/>
        </p:nvCxnSpPr>
        <p:spPr>
          <a:xfrm>
            <a:off x="5101037" y="4097541"/>
            <a:ext cx="1207200" cy="389700"/>
          </a:xfrm>
          <a:prstGeom prst="straightConnector1">
            <a:avLst/>
          </a:prstGeom>
          <a:noFill/>
          <a:ln cap="flat" cmpd="sng" w="28575">
            <a:solidFill>
              <a:schemeClr val="dk2"/>
            </a:solidFill>
            <a:prstDash val="solid"/>
            <a:miter lim="800000"/>
            <a:headEnd len="sm" w="sm" type="none"/>
            <a:tailEnd len="sm" w="sm" type="none"/>
          </a:ln>
        </p:spPr>
      </p:cxnSp>
      <p:cxnSp>
        <p:nvCxnSpPr>
          <p:cNvPr id="540" name="Google Shape;540;p16"/>
          <p:cNvCxnSpPr>
            <a:stCxn id="541" idx="4"/>
            <a:endCxn id="534" idx="1"/>
          </p:cNvCxnSpPr>
          <p:nvPr/>
        </p:nvCxnSpPr>
        <p:spPr>
          <a:xfrm>
            <a:off x="4265557" y="2048754"/>
            <a:ext cx="972900" cy="484800"/>
          </a:xfrm>
          <a:prstGeom prst="straightConnector1">
            <a:avLst/>
          </a:prstGeom>
          <a:noFill/>
          <a:ln cap="flat" cmpd="sng" w="28575">
            <a:solidFill>
              <a:schemeClr val="dk2"/>
            </a:solidFill>
            <a:prstDash val="solid"/>
            <a:miter lim="800000"/>
            <a:headEnd len="sm" w="sm" type="none"/>
            <a:tailEnd len="sm" w="sm" type="none"/>
          </a:ln>
        </p:spPr>
      </p:cxnSp>
      <p:sp>
        <p:nvSpPr>
          <p:cNvPr id="541" name="Google Shape;541;p16"/>
          <p:cNvSpPr/>
          <p:nvPr/>
        </p:nvSpPr>
        <p:spPr>
          <a:xfrm>
            <a:off x="3396877" y="1625844"/>
            <a:ext cx="173736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First Name</a:t>
            </a:r>
            <a:endParaRPr sz="1800">
              <a:solidFill>
                <a:schemeClr val="dk1"/>
              </a:solidFill>
              <a:latin typeface="Roboto Condensed"/>
              <a:ea typeface="Roboto Condensed"/>
              <a:cs typeface="Roboto Condensed"/>
              <a:sym typeface="Roboto Condensed"/>
            </a:endParaRPr>
          </a:p>
        </p:txBody>
      </p:sp>
      <p:cxnSp>
        <p:nvCxnSpPr>
          <p:cNvPr id="542" name="Google Shape;542;p16"/>
          <p:cNvCxnSpPr>
            <a:stCxn id="543" idx="4"/>
            <a:endCxn id="534" idx="7"/>
          </p:cNvCxnSpPr>
          <p:nvPr/>
        </p:nvCxnSpPr>
        <p:spPr>
          <a:xfrm flipH="1">
            <a:off x="6273151" y="2087756"/>
            <a:ext cx="1037100" cy="445800"/>
          </a:xfrm>
          <a:prstGeom prst="straightConnector1">
            <a:avLst/>
          </a:prstGeom>
          <a:noFill/>
          <a:ln cap="flat" cmpd="sng" w="28575">
            <a:solidFill>
              <a:schemeClr val="dk2"/>
            </a:solidFill>
            <a:prstDash val="solid"/>
            <a:miter lim="800000"/>
            <a:headEnd len="sm" w="sm" type="none"/>
            <a:tailEnd len="sm" w="sm" type="none"/>
          </a:ln>
        </p:spPr>
      </p:cxnSp>
      <p:sp>
        <p:nvSpPr>
          <p:cNvPr id="543" name="Google Shape;543;p16"/>
          <p:cNvSpPr/>
          <p:nvPr/>
        </p:nvSpPr>
        <p:spPr>
          <a:xfrm>
            <a:off x="6487291" y="1645345"/>
            <a:ext cx="1645920" cy="442411"/>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Last Name</a:t>
            </a:r>
            <a:endParaRPr sz="1800">
              <a:solidFill>
                <a:schemeClr val="dk1"/>
              </a:solidFill>
              <a:latin typeface="Roboto Condensed"/>
              <a:ea typeface="Roboto Condensed"/>
              <a:cs typeface="Roboto Condensed"/>
              <a:sym typeface="Roboto Condensed"/>
            </a:endParaRPr>
          </a:p>
        </p:txBody>
      </p:sp>
      <p:cxnSp>
        <p:nvCxnSpPr>
          <p:cNvPr id="544" name="Google Shape;544;p16"/>
          <p:cNvCxnSpPr>
            <a:stCxn id="545" idx="4"/>
            <a:endCxn id="534" idx="0"/>
          </p:cNvCxnSpPr>
          <p:nvPr/>
        </p:nvCxnSpPr>
        <p:spPr>
          <a:xfrm>
            <a:off x="5753997" y="1785415"/>
            <a:ext cx="1800" cy="686100"/>
          </a:xfrm>
          <a:prstGeom prst="straightConnector1">
            <a:avLst/>
          </a:prstGeom>
          <a:noFill/>
          <a:ln cap="flat" cmpd="sng" w="28575">
            <a:solidFill>
              <a:schemeClr val="dk2"/>
            </a:solidFill>
            <a:prstDash val="solid"/>
            <a:miter lim="800000"/>
            <a:headEnd len="sm" w="sm" type="none"/>
            <a:tailEnd len="sm" w="sm" type="none"/>
          </a:ln>
        </p:spPr>
      </p:cxnSp>
      <p:sp>
        <p:nvSpPr>
          <p:cNvPr id="545" name="Google Shape;545;p16"/>
          <p:cNvSpPr/>
          <p:nvPr/>
        </p:nvSpPr>
        <p:spPr>
          <a:xfrm>
            <a:off x="5022477" y="1145335"/>
            <a:ext cx="1463040" cy="6400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Middle Name</a:t>
            </a:r>
            <a:endParaRPr sz="1800">
              <a:solidFill>
                <a:schemeClr val="dk1"/>
              </a:solidFill>
              <a:latin typeface="Roboto Condensed"/>
              <a:ea typeface="Roboto Condensed"/>
              <a:cs typeface="Roboto Condensed"/>
              <a:sym typeface="Roboto Condensed"/>
            </a:endParaRPr>
          </a:p>
        </p:txBody>
      </p:sp>
      <p:sp>
        <p:nvSpPr>
          <p:cNvPr id="546" name="Google Shape;546;p16"/>
          <p:cNvSpPr/>
          <p:nvPr/>
        </p:nvSpPr>
        <p:spPr>
          <a:xfrm>
            <a:off x="6825877" y="3509438"/>
            <a:ext cx="164592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Address</a:t>
            </a:r>
            <a:endParaRPr sz="1800">
              <a:solidFill>
                <a:schemeClr val="dk1"/>
              </a:solidFill>
              <a:latin typeface="Roboto Condensed"/>
              <a:ea typeface="Roboto Condensed"/>
              <a:cs typeface="Roboto Condensed"/>
              <a:sym typeface="Roboto Condensed"/>
            </a:endParaRPr>
          </a:p>
        </p:txBody>
      </p:sp>
      <p:cxnSp>
        <p:nvCxnSpPr>
          <p:cNvPr id="547" name="Google Shape;547;p16"/>
          <p:cNvCxnSpPr/>
          <p:nvPr/>
        </p:nvCxnSpPr>
        <p:spPr>
          <a:xfrm>
            <a:off x="3357498" y="3727880"/>
            <a:ext cx="881753" cy="1"/>
          </a:xfrm>
          <a:prstGeom prst="straightConnector1">
            <a:avLst/>
          </a:prstGeom>
          <a:noFill/>
          <a:ln cap="flat" cmpd="sng" w="28575">
            <a:solidFill>
              <a:schemeClr val="dk2"/>
            </a:solidFill>
            <a:prstDash val="solid"/>
            <a:miter lim="800000"/>
            <a:headEnd len="sm" w="sm" type="none"/>
            <a:tailEnd len="sm" w="sm" type="none"/>
          </a:ln>
        </p:spPr>
      </p:cxnSp>
      <p:sp>
        <p:nvSpPr>
          <p:cNvPr id="548" name="Google Shape;548;p16"/>
          <p:cNvSpPr/>
          <p:nvPr/>
        </p:nvSpPr>
        <p:spPr>
          <a:xfrm>
            <a:off x="1695450" y="3516425"/>
            <a:ext cx="1645920" cy="422910"/>
          </a:xfrm>
          <a:prstGeom prst="ellipse">
            <a:avLst/>
          </a:prstGeom>
          <a:noFill/>
          <a:ln cap="flat" cmpd="sng" w="28575">
            <a:solidFill>
              <a:schemeClr val="dk2"/>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Age</a:t>
            </a:r>
            <a:endParaRPr sz="1800">
              <a:solidFill>
                <a:schemeClr val="dk1"/>
              </a:solidFill>
              <a:latin typeface="Roboto Condensed"/>
              <a:ea typeface="Roboto Condensed"/>
              <a:cs typeface="Roboto Condensed"/>
              <a:sym typeface="Roboto Condensed"/>
            </a:endParaRPr>
          </a:p>
        </p:txBody>
      </p:sp>
      <p:sp>
        <p:nvSpPr>
          <p:cNvPr id="536" name="Google Shape;536;p16"/>
          <p:cNvSpPr/>
          <p:nvPr/>
        </p:nvSpPr>
        <p:spPr>
          <a:xfrm>
            <a:off x="3140166" y="4441438"/>
            <a:ext cx="1758029" cy="544899"/>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cxnSp>
        <p:nvCxnSpPr>
          <p:cNvPr id="549" name="Google Shape;549;p16"/>
          <p:cNvCxnSpPr>
            <a:endCxn id="546" idx="7"/>
          </p:cNvCxnSpPr>
          <p:nvPr/>
        </p:nvCxnSpPr>
        <p:spPr>
          <a:xfrm flipH="1">
            <a:off x="8230758" y="2914072"/>
            <a:ext cx="700200" cy="657300"/>
          </a:xfrm>
          <a:prstGeom prst="straightConnector1">
            <a:avLst/>
          </a:prstGeom>
          <a:noFill/>
          <a:ln cap="flat" cmpd="sng" w="28575">
            <a:solidFill>
              <a:schemeClr val="dk2"/>
            </a:solidFill>
            <a:prstDash val="solid"/>
            <a:miter lim="800000"/>
            <a:headEnd len="sm" w="sm" type="none"/>
            <a:tailEnd len="sm" w="sm" type="none"/>
          </a:ln>
        </p:spPr>
      </p:cxnSp>
      <p:sp>
        <p:nvSpPr>
          <p:cNvPr id="550" name="Google Shape;550;p16"/>
          <p:cNvSpPr/>
          <p:nvPr/>
        </p:nvSpPr>
        <p:spPr>
          <a:xfrm>
            <a:off x="8384913" y="2514421"/>
            <a:ext cx="173736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Apartment</a:t>
            </a:r>
            <a:endParaRPr sz="1800">
              <a:solidFill>
                <a:schemeClr val="dk1"/>
              </a:solidFill>
              <a:latin typeface="Roboto Condensed"/>
              <a:ea typeface="Roboto Condensed"/>
              <a:cs typeface="Roboto Condensed"/>
              <a:sym typeface="Roboto Condensed"/>
            </a:endParaRPr>
          </a:p>
        </p:txBody>
      </p:sp>
      <p:cxnSp>
        <p:nvCxnSpPr>
          <p:cNvPr id="551" name="Google Shape;551;p16"/>
          <p:cNvCxnSpPr>
            <a:stCxn id="552" idx="0"/>
            <a:endCxn id="546" idx="5"/>
          </p:cNvCxnSpPr>
          <p:nvPr/>
        </p:nvCxnSpPr>
        <p:spPr>
          <a:xfrm rot="10800000">
            <a:off x="8230893" y="3870523"/>
            <a:ext cx="1022700" cy="633600"/>
          </a:xfrm>
          <a:prstGeom prst="straightConnector1">
            <a:avLst/>
          </a:prstGeom>
          <a:noFill/>
          <a:ln cap="flat" cmpd="sng" w="28575">
            <a:solidFill>
              <a:schemeClr val="dk2"/>
            </a:solidFill>
            <a:prstDash val="solid"/>
            <a:miter lim="800000"/>
            <a:headEnd len="sm" w="sm" type="none"/>
            <a:tailEnd len="sm" w="sm" type="none"/>
          </a:ln>
        </p:spPr>
      </p:cxnSp>
      <p:sp>
        <p:nvSpPr>
          <p:cNvPr id="552" name="Google Shape;552;p16"/>
          <p:cNvSpPr/>
          <p:nvPr/>
        </p:nvSpPr>
        <p:spPr>
          <a:xfrm>
            <a:off x="8430633" y="4504123"/>
            <a:ext cx="1645920" cy="442411"/>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Area</a:t>
            </a:r>
            <a:endParaRPr sz="1800">
              <a:solidFill>
                <a:schemeClr val="dk1"/>
              </a:solidFill>
              <a:latin typeface="Roboto Condensed"/>
              <a:ea typeface="Roboto Condensed"/>
              <a:cs typeface="Roboto Condensed"/>
              <a:sym typeface="Roboto Condensed"/>
            </a:endParaRPr>
          </a:p>
        </p:txBody>
      </p:sp>
      <p:cxnSp>
        <p:nvCxnSpPr>
          <p:cNvPr id="553" name="Google Shape;553;p16"/>
          <p:cNvCxnSpPr>
            <a:stCxn id="554" idx="2"/>
            <a:endCxn id="546" idx="6"/>
          </p:cNvCxnSpPr>
          <p:nvPr/>
        </p:nvCxnSpPr>
        <p:spPr>
          <a:xfrm flipH="1">
            <a:off x="8471910" y="3710940"/>
            <a:ext cx="294900" cy="9900"/>
          </a:xfrm>
          <a:prstGeom prst="straightConnector1">
            <a:avLst/>
          </a:prstGeom>
          <a:noFill/>
          <a:ln cap="flat" cmpd="sng" w="28575">
            <a:solidFill>
              <a:schemeClr val="dk2"/>
            </a:solidFill>
            <a:prstDash val="solid"/>
            <a:miter lim="800000"/>
            <a:headEnd len="sm" w="sm" type="none"/>
            <a:tailEnd len="sm" w="sm" type="none"/>
          </a:ln>
        </p:spPr>
      </p:cxnSp>
      <p:sp>
        <p:nvSpPr>
          <p:cNvPr id="554" name="Google Shape;554;p16"/>
          <p:cNvSpPr/>
          <p:nvPr/>
        </p:nvSpPr>
        <p:spPr>
          <a:xfrm>
            <a:off x="8766810" y="3390900"/>
            <a:ext cx="1463040" cy="6400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Street</a:t>
            </a:r>
            <a:endParaRPr sz="1800">
              <a:solidFill>
                <a:schemeClr val="dk1"/>
              </a:solidFill>
              <a:latin typeface="Roboto Condensed"/>
              <a:ea typeface="Roboto Condensed"/>
              <a:cs typeface="Roboto Condensed"/>
              <a:sym typeface="Roboto Condensed"/>
            </a:endParaRPr>
          </a:p>
        </p:txBody>
      </p:sp>
      <p:sp>
        <p:nvSpPr>
          <p:cNvPr id="555" name="Google Shape;555;p16"/>
          <p:cNvSpPr/>
          <p:nvPr/>
        </p:nvSpPr>
        <p:spPr>
          <a:xfrm>
            <a:off x="6886302" y="2904192"/>
            <a:ext cx="1307334" cy="457200"/>
          </a:xfrm>
          <a:prstGeom prst="wedgeRoundRectCallout">
            <a:avLst>
              <a:gd fmla="val -20833" name="adj1"/>
              <a:gd fmla="val 84375"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Composite</a:t>
            </a:r>
            <a:endParaRPr/>
          </a:p>
        </p:txBody>
      </p:sp>
      <p:sp>
        <p:nvSpPr>
          <p:cNvPr id="556" name="Google Shape;556;p16"/>
          <p:cNvSpPr/>
          <p:nvPr/>
        </p:nvSpPr>
        <p:spPr>
          <a:xfrm>
            <a:off x="2074028" y="2039585"/>
            <a:ext cx="1307334" cy="457200"/>
          </a:xfrm>
          <a:prstGeom prst="wedgeRoundRectCallout">
            <a:avLst>
              <a:gd fmla="val 52389" name="adj1"/>
              <a:gd fmla="val 81250"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Simple</a:t>
            </a:r>
            <a:endParaRPr/>
          </a:p>
        </p:txBody>
      </p:sp>
      <p:sp>
        <p:nvSpPr>
          <p:cNvPr id="557" name="Google Shape;557;p16"/>
          <p:cNvSpPr/>
          <p:nvPr/>
        </p:nvSpPr>
        <p:spPr>
          <a:xfrm>
            <a:off x="6641446" y="2410725"/>
            <a:ext cx="1307334" cy="457200"/>
          </a:xfrm>
          <a:prstGeom prst="wedgeRoundRectCallout">
            <a:avLst>
              <a:gd fmla="val -65641" name="adj1"/>
              <a:gd fmla="val 28125"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Composite</a:t>
            </a:r>
            <a:endParaRPr/>
          </a:p>
        </p:txBody>
      </p:sp>
      <p:sp>
        <p:nvSpPr>
          <p:cNvPr id="558" name="Google Shape;558;p16"/>
          <p:cNvSpPr/>
          <p:nvPr/>
        </p:nvSpPr>
        <p:spPr>
          <a:xfrm>
            <a:off x="2074028" y="1905000"/>
            <a:ext cx="1307334" cy="640080"/>
          </a:xfrm>
          <a:prstGeom prst="wedgeRoundRectCallout">
            <a:avLst>
              <a:gd fmla="val 52389" name="adj1"/>
              <a:gd fmla="val 81250"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Single Value</a:t>
            </a:r>
            <a:endParaRPr/>
          </a:p>
        </p:txBody>
      </p:sp>
      <p:sp>
        <p:nvSpPr>
          <p:cNvPr id="559" name="Google Shape;559;p16"/>
          <p:cNvSpPr/>
          <p:nvPr/>
        </p:nvSpPr>
        <p:spPr>
          <a:xfrm>
            <a:off x="1781998" y="4051234"/>
            <a:ext cx="1307334" cy="640080"/>
          </a:xfrm>
          <a:prstGeom prst="wedgeRoundRectCallout">
            <a:avLst>
              <a:gd fmla="val 62103" name="adj1"/>
              <a:gd fmla="val 71329"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Multiple Value</a:t>
            </a:r>
            <a:endParaRPr/>
          </a:p>
        </p:txBody>
      </p:sp>
      <p:sp>
        <p:nvSpPr>
          <p:cNvPr id="560" name="Google Shape;560;p16"/>
          <p:cNvSpPr/>
          <p:nvPr/>
        </p:nvSpPr>
        <p:spPr>
          <a:xfrm>
            <a:off x="6754131" y="4002905"/>
            <a:ext cx="1307334" cy="457200"/>
          </a:xfrm>
          <a:prstGeom prst="wedgeRoundRectCallout">
            <a:avLst>
              <a:gd fmla="val -65641" name="adj1"/>
              <a:gd fmla="val 53125"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Stored</a:t>
            </a:r>
            <a:endParaRPr/>
          </a:p>
        </p:txBody>
      </p:sp>
      <p:sp>
        <p:nvSpPr>
          <p:cNvPr id="561" name="Google Shape;561;p16"/>
          <p:cNvSpPr/>
          <p:nvPr/>
        </p:nvSpPr>
        <p:spPr>
          <a:xfrm>
            <a:off x="1803650" y="2892120"/>
            <a:ext cx="1307334" cy="457200"/>
          </a:xfrm>
          <a:prstGeom prst="wedgeRoundRectCallout">
            <a:avLst>
              <a:gd fmla="val -23869" name="adj1"/>
              <a:gd fmla="val 92014"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Derived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par>
                                <p:cTn fill="hold" nodeType="with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par>
                                <p:cTn fill="hold" nodeType="with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par>
                                <p:cTn fill="hold" nodeType="with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500"/>
                                        <p:tgtEl>
                                          <p:spTgt spid="551"/>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par>
                                <p:cTn fill="hold" nodeType="with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par>
                                <p:cTn fill="hold" nodeType="with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6"/>
                                        </p:tgtEl>
                                      </p:cBhvr>
                                    </p:animEffect>
                                    <p:set>
                                      <p:cBhvr>
                                        <p:cTn dur="1" fill="hold">
                                          <p:stCondLst>
                                            <p:cond delay="500"/>
                                          </p:stCondLst>
                                        </p:cTn>
                                        <p:tgtEl>
                                          <p:spTgt spid="55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57"/>
                                        </p:tgtEl>
                                      </p:cBhvr>
                                    </p:animEffect>
                                    <p:set>
                                      <p:cBhvr>
                                        <p:cTn dur="1" fill="hold">
                                          <p:stCondLst>
                                            <p:cond delay="500"/>
                                          </p:stCondLst>
                                        </p:cTn>
                                        <p:tgtEl>
                                          <p:spTgt spid="55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55"/>
                                        </p:tgtEl>
                                      </p:cBhvr>
                                    </p:animEffect>
                                    <p:set>
                                      <p:cBhvr>
                                        <p:cTn dur="1" fill="hold">
                                          <p:stCondLst>
                                            <p:cond delay="500"/>
                                          </p:stCondLst>
                                        </p:cTn>
                                        <p:tgtEl>
                                          <p:spTgt spid="5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500"/>
                                        <p:tgtEl>
                                          <p:spTgt spid="558"/>
                                        </p:tgtEl>
                                      </p:cBhvr>
                                    </p:animEffect>
                                  </p:childTnLst>
                                </p:cTn>
                              </p:par>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59"/>
                                        </p:tgtEl>
                                      </p:cBhvr>
                                    </p:animEffect>
                                    <p:set>
                                      <p:cBhvr>
                                        <p:cTn dur="1" fill="hold">
                                          <p:stCondLst>
                                            <p:cond delay="500"/>
                                          </p:stCondLst>
                                        </p:cTn>
                                        <p:tgtEl>
                                          <p:spTgt spid="55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58"/>
                                        </p:tgtEl>
                                      </p:cBhvr>
                                    </p:animEffect>
                                    <p:set>
                                      <p:cBhvr>
                                        <p:cTn dur="1" fill="hold">
                                          <p:stCondLst>
                                            <p:cond delay="500"/>
                                          </p:stCondLst>
                                        </p:cTn>
                                        <p:tgtEl>
                                          <p:spTgt spid="5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par>
                                <p:cTn fill="hold" nodeType="with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60"/>
                                        </p:tgtEl>
                                      </p:cBhvr>
                                    </p:animEffect>
                                    <p:set>
                                      <p:cBhvr>
                                        <p:cTn dur="1" fill="hold">
                                          <p:stCondLst>
                                            <p:cond delay="500"/>
                                          </p:stCondLst>
                                        </p:cTn>
                                        <p:tgtEl>
                                          <p:spTgt spid="5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61"/>
                                        </p:tgtEl>
                                      </p:cBhvr>
                                    </p:animEffect>
                                    <p:set>
                                      <p:cBhvr>
                                        <p:cTn dur="1" fill="hold">
                                          <p:stCondLst>
                                            <p:cond delay="500"/>
                                          </p:stCondLst>
                                        </p:cTn>
                                        <p:tgtEl>
                                          <p:spTgt spid="56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7"/>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Exercise</a:t>
            </a:r>
            <a:endParaRPr/>
          </a:p>
        </p:txBody>
      </p:sp>
      <p:sp>
        <p:nvSpPr>
          <p:cNvPr id="567" name="Google Shape;567;p17"/>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Draw an E-R diagram of </a:t>
            </a:r>
            <a:r>
              <a:rPr lang="en-US">
                <a:solidFill>
                  <a:schemeClr val="dk2"/>
                </a:solidFill>
              </a:rPr>
              <a:t>Banking Management System</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Draw an E-R diagram of </a:t>
            </a:r>
            <a:r>
              <a:rPr lang="en-US">
                <a:solidFill>
                  <a:schemeClr val="dk2"/>
                </a:solidFill>
              </a:rPr>
              <a:t>Hospital Management System</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Draw an E-R diagram of </a:t>
            </a:r>
            <a:r>
              <a:rPr lang="en-US">
                <a:solidFill>
                  <a:schemeClr val="dk2"/>
                </a:solidFill>
              </a:rPr>
              <a:t>College Management System</a:t>
            </a:r>
            <a:r>
              <a:rPr lang="en-US"/>
              <a:t>.</a:t>
            </a:r>
            <a:endParaRPr/>
          </a:p>
          <a:p>
            <a:pPr indent="-352425" lvl="1" marL="809625" rtl="0" algn="just">
              <a:lnSpc>
                <a:spcPct val="90000"/>
              </a:lnSpc>
              <a:spcBef>
                <a:spcPts val="500"/>
              </a:spcBef>
              <a:spcAft>
                <a:spcPts val="0"/>
              </a:spcAft>
              <a:buSzPts val="2000"/>
              <a:buChar char="⮩"/>
            </a:pPr>
            <a:r>
              <a:rPr lang="en-US"/>
              <a:t>Take only 2 entities</a:t>
            </a:r>
            <a:endParaRPr/>
          </a:p>
          <a:p>
            <a:pPr indent="-352425" lvl="1" marL="809625" rtl="0" algn="just">
              <a:lnSpc>
                <a:spcPct val="90000"/>
              </a:lnSpc>
              <a:spcBef>
                <a:spcPts val="500"/>
              </a:spcBef>
              <a:spcAft>
                <a:spcPts val="0"/>
              </a:spcAft>
              <a:buSzPts val="2000"/>
              <a:buChar char="⮩"/>
            </a:pPr>
            <a:r>
              <a:rPr lang="en-US"/>
              <a:t>Keep proper relationship between two entities</a:t>
            </a:r>
            <a:endParaRPr/>
          </a:p>
          <a:p>
            <a:pPr indent="-352425" lvl="1" marL="809625" rtl="0" algn="just">
              <a:lnSpc>
                <a:spcPct val="90000"/>
              </a:lnSpc>
              <a:spcBef>
                <a:spcPts val="500"/>
              </a:spcBef>
              <a:spcAft>
                <a:spcPts val="0"/>
              </a:spcAft>
              <a:buSzPts val="2000"/>
              <a:buChar char="⮩"/>
            </a:pPr>
            <a:r>
              <a:rPr lang="en-US"/>
              <a:t>Use all types of attributes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xEl>
                                              <p:pRg end="0" st="0"/>
                                            </p:txEl>
                                          </p:spTgt>
                                        </p:tgtEl>
                                        <p:attrNameLst>
                                          <p:attrName>style.visibility</p:attrName>
                                        </p:attrNameLst>
                                      </p:cBhvr>
                                      <p:to>
                                        <p:strVal val="visible"/>
                                      </p:to>
                                    </p:set>
                                    <p:animEffect filter="fade" transition="in">
                                      <p:cBhvr>
                                        <p:cTn dur="500"/>
                                        <p:tgtEl>
                                          <p:spTgt spid="5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xEl>
                                              <p:pRg end="1" st="1"/>
                                            </p:txEl>
                                          </p:spTgt>
                                        </p:tgtEl>
                                        <p:attrNameLst>
                                          <p:attrName>style.visibility</p:attrName>
                                        </p:attrNameLst>
                                      </p:cBhvr>
                                      <p:to>
                                        <p:strVal val="visible"/>
                                      </p:to>
                                    </p:set>
                                    <p:animEffect filter="fade" transition="in">
                                      <p:cBhvr>
                                        <p:cTn dur="500"/>
                                        <p:tgtEl>
                                          <p:spTgt spid="5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xEl>
                                              <p:pRg end="2" st="2"/>
                                            </p:txEl>
                                          </p:spTgt>
                                        </p:tgtEl>
                                        <p:attrNameLst>
                                          <p:attrName>style.visibility</p:attrName>
                                        </p:attrNameLst>
                                      </p:cBhvr>
                                      <p:to>
                                        <p:strVal val="visible"/>
                                      </p:to>
                                    </p:set>
                                    <p:animEffect filter="fade" transition="in">
                                      <p:cBhvr>
                                        <p:cTn dur="500"/>
                                        <p:tgtEl>
                                          <p:spTgt spid="5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xEl>
                                              <p:pRg end="3" st="3"/>
                                            </p:txEl>
                                          </p:spTgt>
                                        </p:tgtEl>
                                        <p:attrNameLst>
                                          <p:attrName>style.visibility</p:attrName>
                                        </p:attrNameLst>
                                      </p:cBhvr>
                                      <p:to>
                                        <p:strVal val="visible"/>
                                      </p:to>
                                    </p:set>
                                    <p:animEffect filter="fade" transition="in">
                                      <p:cBhvr>
                                        <p:cTn dur="500"/>
                                        <p:tgtEl>
                                          <p:spTgt spid="5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xEl>
                                              <p:pRg end="4" st="4"/>
                                            </p:txEl>
                                          </p:spTgt>
                                        </p:tgtEl>
                                        <p:attrNameLst>
                                          <p:attrName>style.visibility</p:attrName>
                                        </p:attrNameLst>
                                      </p:cBhvr>
                                      <p:to>
                                        <p:strVal val="visible"/>
                                      </p:to>
                                    </p:set>
                                    <p:animEffect filter="fade" transition="in">
                                      <p:cBhvr>
                                        <p:cTn dur="500"/>
                                        <p:tgtEl>
                                          <p:spTgt spid="5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xEl>
                                              <p:pRg end="5" st="5"/>
                                            </p:txEl>
                                          </p:spTgt>
                                        </p:tgtEl>
                                        <p:attrNameLst>
                                          <p:attrName>style.visibility</p:attrName>
                                        </p:attrNameLst>
                                      </p:cBhvr>
                                      <p:to>
                                        <p:strVal val="visible"/>
                                      </p:to>
                                    </p:set>
                                    <p:animEffect filter="fade" transition="in">
                                      <p:cBhvr>
                                        <p:cTn dur="500"/>
                                        <p:tgtEl>
                                          <p:spTgt spid="56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8"/>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Descriptive Attribute</a:t>
            </a:r>
            <a:endParaRPr/>
          </a:p>
        </p:txBody>
      </p:sp>
      <p:sp>
        <p:nvSpPr>
          <p:cNvPr id="573" name="Google Shape;573;p18"/>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b="1" lang="en-US">
                <a:solidFill>
                  <a:schemeClr val="accent6"/>
                </a:solidFill>
              </a:rPr>
              <a:t>Attributes of the relationship </a:t>
            </a:r>
            <a:r>
              <a:rPr lang="en-US"/>
              <a:t>is called descriptive attribute.</a:t>
            </a:r>
            <a:endParaRPr/>
          </a:p>
        </p:txBody>
      </p:sp>
      <p:sp>
        <p:nvSpPr>
          <p:cNvPr id="574" name="Google Shape;574;p18"/>
          <p:cNvSpPr/>
          <p:nvPr/>
        </p:nvSpPr>
        <p:spPr>
          <a:xfrm>
            <a:off x="2674623" y="3699031"/>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800">
              <a:solidFill>
                <a:schemeClr val="dk1"/>
              </a:solidFill>
              <a:latin typeface="Roboto Condensed"/>
              <a:ea typeface="Roboto Condensed"/>
              <a:cs typeface="Roboto Condensed"/>
              <a:sym typeface="Roboto Condensed"/>
            </a:endParaRPr>
          </a:p>
        </p:txBody>
      </p:sp>
      <p:sp>
        <p:nvSpPr>
          <p:cNvPr id="575" name="Google Shape;575;p18"/>
          <p:cNvSpPr/>
          <p:nvPr/>
        </p:nvSpPr>
        <p:spPr>
          <a:xfrm>
            <a:off x="7854600" y="3694675"/>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Book</a:t>
            </a:r>
            <a:endParaRPr/>
          </a:p>
        </p:txBody>
      </p:sp>
      <p:sp>
        <p:nvSpPr>
          <p:cNvPr id="576" name="Google Shape;576;p18"/>
          <p:cNvSpPr/>
          <p:nvPr/>
        </p:nvSpPr>
        <p:spPr>
          <a:xfrm>
            <a:off x="5248549" y="3620651"/>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Issue</a:t>
            </a:r>
            <a:endParaRPr/>
          </a:p>
        </p:txBody>
      </p:sp>
      <p:cxnSp>
        <p:nvCxnSpPr>
          <p:cNvPr id="577" name="Google Shape;577;p18"/>
          <p:cNvCxnSpPr>
            <a:stCxn id="576" idx="3"/>
            <a:endCxn id="575" idx="1"/>
          </p:cNvCxnSpPr>
          <p:nvPr/>
        </p:nvCxnSpPr>
        <p:spPr>
          <a:xfrm>
            <a:off x="6972847" y="4066966"/>
            <a:ext cx="881700" cy="0"/>
          </a:xfrm>
          <a:prstGeom prst="straightConnector1">
            <a:avLst/>
          </a:prstGeom>
          <a:noFill/>
          <a:ln cap="flat" cmpd="sng" w="28575">
            <a:solidFill>
              <a:schemeClr val="accent4"/>
            </a:solidFill>
            <a:prstDash val="solid"/>
            <a:miter lim="800000"/>
            <a:headEnd len="sm" w="sm" type="none"/>
            <a:tailEnd len="sm" w="sm" type="none"/>
          </a:ln>
        </p:spPr>
      </p:cxnSp>
      <p:cxnSp>
        <p:nvCxnSpPr>
          <p:cNvPr id="578" name="Google Shape;578;p18"/>
          <p:cNvCxnSpPr/>
          <p:nvPr/>
        </p:nvCxnSpPr>
        <p:spPr>
          <a:xfrm>
            <a:off x="4366796" y="4066966"/>
            <a:ext cx="881753" cy="1"/>
          </a:xfrm>
          <a:prstGeom prst="straightConnector1">
            <a:avLst/>
          </a:prstGeom>
          <a:noFill/>
          <a:ln cap="flat" cmpd="sng" w="28575">
            <a:solidFill>
              <a:schemeClr val="accent4"/>
            </a:solidFill>
            <a:prstDash val="solid"/>
            <a:miter lim="800000"/>
            <a:headEnd len="sm" w="sm" type="none"/>
            <a:tailEnd len="sm" w="sm" type="none"/>
          </a:ln>
        </p:spPr>
      </p:cxnSp>
      <p:cxnSp>
        <p:nvCxnSpPr>
          <p:cNvPr id="579" name="Google Shape;579;p18"/>
          <p:cNvCxnSpPr>
            <a:stCxn id="580" idx="4"/>
            <a:endCxn id="574" idx="0"/>
          </p:cNvCxnSpPr>
          <p:nvPr/>
        </p:nvCxnSpPr>
        <p:spPr>
          <a:xfrm>
            <a:off x="2560320" y="3263058"/>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580" name="Google Shape;580;p18"/>
          <p:cNvSpPr/>
          <p:nvPr/>
        </p:nvSpPr>
        <p:spPr>
          <a:xfrm>
            <a:off x="1828800" y="2840148"/>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RollNo</a:t>
            </a:r>
            <a:endParaRPr sz="1800" u="sng">
              <a:solidFill>
                <a:schemeClr val="dk1"/>
              </a:solidFill>
              <a:latin typeface="Roboto Condensed"/>
              <a:ea typeface="Roboto Condensed"/>
              <a:cs typeface="Roboto Condensed"/>
              <a:sym typeface="Roboto Condensed"/>
            </a:endParaRPr>
          </a:p>
        </p:txBody>
      </p:sp>
      <p:cxnSp>
        <p:nvCxnSpPr>
          <p:cNvPr id="581" name="Google Shape;581;p18"/>
          <p:cNvCxnSpPr>
            <a:stCxn id="582" idx="4"/>
            <a:endCxn id="574" idx="0"/>
          </p:cNvCxnSpPr>
          <p:nvPr/>
        </p:nvCxnSpPr>
        <p:spPr>
          <a:xfrm flipH="1">
            <a:off x="3523843" y="3240647"/>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582" name="Google Shape;582;p18"/>
          <p:cNvSpPr/>
          <p:nvPr/>
        </p:nvSpPr>
        <p:spPr>
          <a:xfrm>
            <a:off x="3446923" y="2817737"/>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583" name="Google Shape;583;p18"/>
          <p:cNvCxnSpPr/>
          <p:nvPr/>
        </p:nvCxnSpPr>
        <p:spPr>
          <a:xfrm flipH="1">
            <a:off x="2692909" y="4439258"/>
            <a:ext cx="830800" cy="404874"/>
          </a:xfrm>
          <a:prstGeom prst="straightConnector1">
            <a:avLst/>
          </a:prstGeom>
          <a:noFill/>
          <a:ln cap="flat" cmpd="sng" w="28575">
            <a:solidFill>
              <a:schemeClr val="dk2"/>
            </a:solidFill>
            <a:prstDash val="solid"/>
            <a:miter lim="800000"/>
            <a:headEnd len="sm" w="sm" type="none"/>
            <a:tailEnd len="sm" w="sm" type="none"/>
          </a:ln>
        </p:spPr>
      </p:cxnSp>
      <p:sp>
        <p:nvSpPr>
          <p:cNvPr id="584" name="Google Shape;584;p18"/>
          <p:cNvSpPr/>
          <p:nvPr/>
        </p:nvSpPr>
        <p:spPr>
          <a:xfrm>
            <a:off x="1943103" y="4849842"/>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Branch</a:t>
            </a:r>
            <a:endParaRPr/>
          </a:p>
        </p:txBody>
      </p:sp>
      <p:sp>
        <p:nvSpPr>
          <p:cNvPr id="585" name="Google Shape;585;p18"/>
          <p:cNvSpPr/>
          <p:nvPr/>
        </p:nvSpPr>
        <p:spPr>
          <a:xfrm>
            <a:off x="3579454" y="4862663"/>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Sem</a:t>
            </a:r>
            <a:endParaRPr sz="1800">
              <a:solidFill>
                <a:schemeClr val="dk1"/>
              </a:solidFill>
              <a:latin typeface="Roboto Condensed"/>
              <a:ea typeface="Roboto Condensed"/>
              <a:cs typeface="Roboto Condensed"/>
              <a:sym typeface="Roboto Condensed"/>
            </a:endParaRPr>
          </a:p>
        </p:txBody>
      </p:sp>
      <p:cxnSp>
        <p:nvCxnSpPr>
          <p:cNvPr id="586" name="Google Shape;586;p18"/>
          <p:cNvCxnSpPr>
            <a:stCxn id="574" idx="2"/>
            <a:endCxn id="585" idx="0"/>
          </p:cNvCxnSpPr>
          <p:nvPr/>
        </p:nvCxnSpPr>
        <p:spPr>
          <a:xfrm>
            <a:off x="3523709" y="4443614"/>
            <a:ext cx="787200" cy="419100"/>
          </a:xfrm>
          <a:prstGeom prst="straightConnector1">
            <a:avLst/>
          </a:prstGeom>
          <a:noFill/>
          <a:ln cap="flat" cmpd="sng" w="28575">
            <a:solidFill>
              <a:schemeClr val="dk2"/>
            </a:solidFill>
            <a:prstDash val="solid"/>
            <a:miter lim="800000"/>
            <a:headEnd len="sm" w="sm" type="none"/>
            <a:tailEnd len="sm" w="sm" type="none"/>
          </a:ln>
        </p:spPr>
      </p:cxnSp>
      <p:cxnSp>
        <p:nvCxnSpPr>
          <p:cNvPr id="587" name="Google Shape;587;p18"/>
          <p:cNvCxnSpPr>
            <a:stCxn id="588" idx="4"/>
          </p:cNvCxnSpPr>
          <p:nvPr/>
        </p:nvCxnSpPr>
        <p:spPr>
          <a:xfrm>
            <a:off x="7802085" y="3259045"/>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588" name="Google Shape;588;p18"/>
          <p:cNvSpPr/>
          <p:nvPr/>
        </p:nvSpPr>
        <p:spPr>
          <a:xfrm>
            <a:off x="7070565" y="283613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BookNo</a:t>
            </a:r>
            <a:endParaRPr sz="1800" u="sng">
              <a:solidFill>
                <a:schemeClr val="dk1"/>
              </a:solidFill>
              <a:latin typeface="Roboto Condensed"/>
              <a:ea typeface="Roboto Condensed"/>
              <a:cs typeface="Roboto Condensed"/>
              <a:sym typeface="Roboto Condensed"/>
            </a:endParaRPr>
          </a:p>
        </p:txBody>
      </p:sp>
      <p:cxnSp>
        <p:nvCxnSpPr>
          <p:cNvPr id="589" name="Google Shape;589;p18"/>
          <p:cNvCxnSpPr>
            <a:stCxn id="590" idx="4"/>
          </p:cNvCxnSpPr>
          <p:nvPr/>
        </p:nvCxnSpPr>
        <p:spPr>
          <a:xfrm flipH="1">
            <a:off x="8765608" y="3236634"/>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590" name="Google Shape;590;p18"/>
          <p:cNvSpPr/>
          <p:nvPr/>
        </p:nvSpPr>
        <p:spPr>
          <a:xfrm>
            <a:off x="8688688" y="281372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591" name="Google Shape;591;p18"/>
          <p:cNvCxnSpPr/>
          <p:nvPr/>
        </p:nvCxnSpPr>
        <p:spPr>
          <a:xfrm flipH="1">
            <a:off x="7934674" y="4435245"/>
            <a:ext cx="830800" cy="404874"/>
          </a:xfrm>
          <a:prstGeom prst="straightConnector1">
            <a:avLst/>
          </a:prstGeom>
          <a:noFill/>
          <a:ln cap="flat" cmpd="sng" w="28575">
            <a:solidFill>
              <a:schemeClr val="dk2"/>
            </a:solidFill>
            <a:prstDash val="solid"/>
            <a:miter lim="800000"/>
            <a:headEnd len="sm" w="sm" type="none"/>
            <a:tailEnd len="sm" w="sm" type="none"/>
          </a:ln>
        </p:spPr>
      </p:cxnSp>
      <p:sp>
        <p:nvSpPr>
          <p:cNvPr id="592" name="Google Shape;592;p18"/>
          <p:cNvSpPr/>
          <p:nvPr/>
        </p:nvSpPr>
        <p:spPr>
          <a:xfrm>
            <a:off x="7184868" y="4845829"/>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Author</a:t>
            </a:r>
            <a:endParaRPr/>
          </a:p>
        </p:txBody>
      </p:sp>
      <p:sp>
        <p:nvSpPr>
          <p:cNvPr id="593" name="Google Shape;593;p18"/>
          <p:cNvSpPr/>
          <p:nvPr/>
        </p:nvSpPr>
        <p:spPr>
          <a:xfrm>
            <a:off x="8821219" y="4858650"/>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Price</a:t>
            </a:r>
            <a:endParaRPr/>
          </a:p>
        </p:txBody>
      </p:sp>
      <p:cxnSp>
        <p:nvCxnSpPr>
          <p:cNvPr id="594" name="Google Shape;594;p18"/>
          <p:cNvCxnSpPr>
            <a:endCxn id="593" idx="0"/>
          </p:cNvCxnSpPr>
          <p:nvPr/>
        </p:nvCxnSpPr>
        <p:spPr>
          <a:xfrm>
            <a:off x="8765539" y="4439550"/>
            <a:ext cx="787200" cy="419100"/>
          </a:xfrm>
          <a:prstGeom prst="straightConnector1">
            <a:avLst/>
          </a:prstGeom>
          <a:noFill/>
          <a:ln cap="flat" cmpd="sng" w="28575">
            <a:solidFill>
              <a:schemeClr val="dk2"/>
            </a:solidFill>
            <a:prstDash val="solid"/>
            <a:miter lim="800000"/>
            <a:headEnd len="sm" w="sm" type="none"/>
            <a:tailEnd len="sm" w="sm" type="none"/>
          </a:ln>
        </p:spPr>
      </p:cxnSp>
      <p:cxnSp>
        <p:nvCxnSpPr>
          <p:cNvPr id="595" name="Google Shape;595;p18"/>
          <p:cNvCxnSpPr>
            <a:stCxn id="596" idx="4"/>
            <a:endCxn id="576" idx="0"/>
          </p:cNvCxnSpPr>
          <p:nvPr/>
        </p:nvCxnSpPr>
        <p:spPr>
          <a:xfrm flipH="1">
            <a:off x="6110567" y="3236291"/>
            <a:ext cx="3300" cy="384300"/>
          </a:xfrm>
          <a:prstGeom prst="straightConnector1">
            <a:avLst/>
          </a:prstGeom>
          <a:noFill/>
          <a:ln cap="flat" cmpd="sng" w="28575">
            <a:solidFill>
              <a:schemeClr val="dk2"/>
            </a:solidFill>
            <a:prstDash val="solid"/>
            <a:miter lim="800000"/>
            <a:headEnd len="sm" w="sm" type="none"/>
            <a:tailEnd len="sm" w="sm" type="none"/>
          </a:ln>
        </p:spPr>
      </p:cxnSp>
      <p:sp>
        <p:nvSpPr>
          <p:cNvPr id="596" name="Google Shape;596;p18"/>
          <p:cNvSpPr/>
          <p:nvPr/>
        </p:nvSpPr>
        <p:spPr>
          <a:xfrm>
            <a:off x="5314651" y="2628900"/>
            <a:ext cx="1598431" cy="607391"/>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Issue Date</a:t>
            </a:r>
            <a:endParaRPr sz="1800">
              <a:solidFill>
                <a:schemeClr val="dk1"/>
              </a:solidFill>
              <a:latin typeface="Roboto Condensed"/>
              <a:ea typeface="Roboto Condensed"/>
              <a:cs typeface="Roboto Condensed"/>
              <a:sym typeface="Roboto Condensed"/>
            </a:endParaRPr>
          </a:p>
        </p:txBody>
      </p:sp>
      <p:sp>
        <p:nvSpPr>
          <p:cNvPr id="597" name="Google Shape;597;p18"/>
          <p:cNvSpPr/>
          <p:nvPr/>
        </p:nvSpPr>
        <p:spPr>
          <a:xfrm>
            <a:off x="5448970" y="1714500"/>
            <a:ext cx="1332000" cy="612000"/>
          </a:xfrm>
          <a:prstGeom prst="wedgeRoundRectCallout">
            <a:avLst>
              <a:gd fmla="val -31123" name="adj1"/>
              <a:gd fmla="val 107671"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Descriptive Attribute</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xEl>
                                              <p:pRg end="0" st="0"/>
                                            </p:txEl>
                                          </p:spTgt>
                                        </p:tgtEl>
                                        <p:attrNameLst>
                                          <p:attrName>style.visibility</p:attrName>
                                        </p:attrNameLst>
                                      </p:cBhvr>
                                      <p:to>
                                        <p:strVal val="visible"/>
                                      </p:to>
                                    </p:set>
                                    <p:animEffect filter="fade" transition="in">
                                      <p:cBhvr>
                                        <p:cTn dur="500"/>
                                        <p:tgtEl>
                                          <p:spTgt spid="5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par>
                                <p:cTn fill="hold" nodeType="with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par>
                                <p:cTn fill="hold" nodeType="with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par>
                                <p:cTn fill="hold" nodeType="with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par>
                                <p:cTn fill="hold" nodeType="with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par>
                                <p:cTn fill="hold" nodeType="with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par>
                                <p:cTn fill="hold" nodeType="with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par>
                                <p:cTn fill="hold" nodeType="with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par>
                                <p:cTn fill="hold" nodeType="with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par>
                                <p:cTn fill="hold" nodeType="with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par>
                                <p:cTn fill="hold" nodeType="with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par>
                                <p:cTn fill="hold" nodeType="with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par>
                                <p:cTn fill="hold" nodeType="with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par>
                                <p:cTn fill="hold" nodeType="with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500"/>
                                        <p:tgtEl>
                                          <p:spTgt spid="592"/>
                                        </p:tgtEl>
                                      </p:cBhvr>
                                    </p:animEffect>
                                  </p:childTnLst>
                                </p:cTn>
                              </p:par>
                              <p:par>
                                <p:cTn fill="hold" nodeType="with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500"/>
                                        <p:tgtEl>
                                          <p:spTgt spid="593"/>
                                        </p:tgtEl>
                                      </p:cBhvr>
                                    </p:animEffect>
                                  </p:childTnLst>
                                </p:cTn>
                              </p:par>
                              <p:par>
                                <p:cTn fill="hold" nodeType="with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par>
                                <p:cTn fill="hold" nodeType="with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500"/>
                                        <p:tgtEl>
                                          <p:spTgt spid="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9"/>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Role</a:t>
            </a:r>
            <a:endParaRPr/>
          </a:p>
        </p:txBody>
      </p:sp>
      <p:sp>
        <p:nvSpPr>
          <p:cNvPr id="603" name="Google Shape;603;p19"/>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Roles are indicated by labeling the lines that connect diamonds (relationship) to rectangles (entity).</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The labels “Coordinator” and “Head” are called roles; they specify Faculty entities interact with whom via Reports_To relationship set.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Role labels are optional, and are used to clarify semantics (meaning) of the relationship.</a:t>
            </a:r>
            <a:endParaRPr/>
          </a:p>
        </p:txBody>
      </p:sp>
      <p:sp>
        <p:nvSpPr>
          <p:cNvPr id="604" name="Google Shape;604;p19"/>
          <p:cNvSpPr/>
          <p:nvPr/>
        </p:nvSpPr>
        <p:spPr>
          <a:xfrm>
            <a:off x="4024994" y="4147508"/>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Faculty</a:t>
            </a:r>
            <a:endParaRPr sz="1800">
              <a:solidFill>
                <a:schemeClr val="dk1"/>
              </a:solidFill>
              <a:latin typeface="Roboto Condensed"/>
              <a:ea typeface="Roboto Condensed"/>
              <a:cs typeface="Roboto Condensed"/>
              <a:sym typeface="Roboto Condensed"/>
            </a:endParaRPr>
          </a:p>
        </p:txBody>
      </p:sp>
      <p:sp>
        <p:nvSpPr>
          <p:cNvPr id="605" name="Google Shape;605;p19"/>
          <p:cNvSpPr/>
          <p:nvPr/>
        </p:nvSpPr>
        <p:spPr>
          <a:xfrm>
            <a:off x="6598920" y="4069128"/>
            <a:ext cx="2468880"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Reports_To</a:t>
            </a:r>
            <a:endParaRPr sz="1800">
              <a:solidFill>
                <a:schemeClr val="dk1"/>
              </a:solidFill>
              <a:latin typeface="Roboto Condensed"/>
              <a:ea typeface="Roboto Condensed"/>
              <a:cs typeface="Roboto Condensed"/>
              <a:sym typeface="Roboto Condensed"/>
            </a:endParaRPr>
          </a:p>
        </p:txBody>
      </p:sp>
      <p:cxnSp>
        <p:nvCxnSpPr>
          <p:cNvPr id="606" name="Google Shape;606;p19"/>
          <p:cNvCxnSpPr/>
          <p:nvPr/>
        </p:nvCxnSpPr>
        <p:spPr>
          <a:xfrm>
            <a:off x="5717166" y="4438649"/>
            <a:ext cx="1097280" cy="1"/>
          </a:xfrm>
          <a:prstGeom prst="straightConnector1">
            <a:avLst/>
          </a:prstGeom>
          <a:noFill/>
          <a:ln cap="flat" cmpd="sng" w="28575">
            <a:solidFill>
              <a:schemeClr val="accent4"/>
            </a:solidFill>
            <a:prstDash val="solid"/>
            <a:miter lim="800000"/>
            <a:headEnd len="sm" w="sm" type="none"/>
            <a:tailEnd len="sm" w="sm" type="none"/>
          </a:ln>
        </p:spPr>
      </p:cxnSp>
      <p:cxnSp>
        <p:nvCxnSpPr>
          <p:cNvPr id="607" name="Google Shape;607;p19"/>
          <p:cNvCxnSpPr>
            <a:stCxn id="608" idx="4"/>
            <a:endCxn id="604" idx="0"/>
          </p:cNvCxnSpPr>
          <p:nvPr/>
        </p:nvCxnSpPr>
        <p:spPr>
          <a:xfrm>
            <a:off x="3910691" y="3711535"/>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608" name="Google Shape;608;p19"/>
          <p:cNvSpPr/>
          <p:nvPr/>
        </p:nvSpPr>
        <p:spPr>
          <a:xfrm>
            <a:off x="3179171" y="328862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EmpID</a:t>
            </a:r>
            <a:endParaRPr sz="1800" u="sng">
              <a:solidFill>
                <a:schemeClr val="dk1"/>
              </a:solidFill>
              <a:latin typeface="Roboto Condensed"/>
              <a:ea typeface="Roboto Condensed"/>
              <a:cs typeface="Roboto Condensed"/>
              <a:sym typeface="Roboto Condensed"/>
            </a:endParaRPr>
          </a:p>
        </p:txBody>
      </p:sp>
      <p:cxnSp>
        <p:nvCxnSpPr>
          <p:cNvPr id="609" name="Google Shape;609;p19"/>
          <p:cNvCxnSpPr>
            <a:stCxn id="610" idx="4"/>
            <a:endCxn id="604" idx="0"/>
          </p:cNvCxnSpPr>
          <p:nvPr/>
        </p:nvCxnSpPr>
        <p:spPr>
          <a:xfrm flipH="1">
            <a:off x="4874214" y="3689124"/>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610" name="Google Shape;610;p19"/>
          <p:cNvSpPr/>
          <p:nvPr/>
        </p:nvSpPr>
        <p:spPr>
          <a:xfrm>
            <a:off x="4797294" y="326621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611" name="Google Shape;611;p19"/>
          <p:cNvCxnSpPr/>
          <p:nvPr/>
        </p:nvCxnSpPr>
        <p:spPr>
          <a:xfrm flipH="1">
            <a:off x="4043280" y="4887735"/>
            <a:ext cx="830800" cy="404874"/>
          </a:xfrm>
          <a:prstGeom prst="straightConnector1">
            <a:avLst/>
          </a:prstGeom>
          <a:noFill/>
          <a:ln cap="flat" cmpd="sng" w="28575">
            <a:solidFill>
              <a:schemeClr val="dk2"/>
            </a:solidFill>
            <a:prstDash val="solid"/>
            <a:miter lim="800000"/>
            <a:headEnd len="sm" w="sm" type="none"/>
            <a:tailEnd len="sm" w="sm" type="none"/>
          </a:ln>
        </p:spPr>
      </p:cxnSp>
      <p:sp>
        <p:nvSpPr>
          <p:cNvPr id="612" name="Google Shape;612;p19"/>
          <p:cNvSpPr/>
          <p:nvPr/>
        </p:nvSpPr>
        <p:spPr>
          <a:xfrm>
            <a:off x="3293474" y="5298319"/>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Branch</a:t>
            </a:r>
            <a:endParaRPr/>
          </a:p>
        </p:txBody>
      </p:sp>
      <p:sp>
        <p:nvSpPr>
          <p:cNvPr id="613" name="Google Shape;613;p19"/>
          <p:cNvSpPr/>
          <p:nvPr/>
        </p:nvSpPr>
        <p:spPr>
          <a:xfrm>
            <a:off x="4929825" y="5311140"/>
            <a:ext cx="173736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Experience</a:t>
            </a:r>
            <a:endParaRPr sz="1800">
              <a:solidFill>
                <a:schemeClr val="dk1"/>
              </a:solidFill>
              <a:latin typeface="Roboto Condensed"/>
              <a:ea typeface="Roboto Condensed"/>
              <a:cs typeface="Roboto Condensed"/>
              <a:sym typeface="Roboto Condensed"/>
            </a:endParaRPr>
          </a:p>
        </p:txBody>
      </p:sp>
      <p:cxnSp>
        <p:nvCxnSpPr>
          <p:cNvPr id="614" name="Google Shape;614;p19"/>
          <p:cNvCxnSpPr>
            <a:stCxn id="604" idx="2"/>
            <a:endCxn id="613" idx="0"/>
          </p:cNvCxnSpPr>
          <p:nvPr/>
        </p:nvCxnSpPr>
        <p:spPr>
          <a:xfrm>
            <a:off x="4874080" y="4892091"/>
            <a:ext cx="924300" cy="419100"/>
          </a:xfrm>
          <a:prstGeom prst="straightConnector1">
            <a:avLst/>
          </a:prstGeom>
          <a:noFill/>
          <a:ln cap="flat" cmpd="sng" w="28575">
            <a:solidFill>
              <a:schemeClr val="dk2"/>
            </a:solidFill>
            <a:prstDash val="solid"/>
            <a:miter lim="800000"/>
            <a:headEnd len="sm" w="sm" type="none"/>
            <a:tailEnd len="sm" w="sm" type="none"/>
          </a:ln>
        </p:spPr>
      </p:cxnSp>
      <p:cxnSp>
        <p:nvCxnSpPr>
          <p:cNvPr id="615" name="Google Shape;615;p19"/>
          <p:cNvCxnSpPr/>
          <p:nvPr/>
        </p:nvCxnSpPr>
        <p:spPr>
          <a:xfrm>
            <a:off x="5714999" y="4591050"/>
            <a:ext cx="1097280" cy="1"/>
          </a:xfrm>
          <a:prstGeom prst="straightConnector1">
            <a:avLst/>
          </a:prstGeom>
          <a:noFill/>
          <a:ln cap="flat" cmpd="sng" w="28575">
            <a:solidFill>
              <a:schemeClr val="accent4"/>
            </a:solidFill>
            <a:prstDash val="solid"/>
            <a:miter lim="800000"/>
            <a:headEnd len="sm" w="sm" type="none"/>
            <a:tailEnd len="sm" w="sm" type="none"/>
          </a:ln>
        </p:spPr>
      </p:cxnSp>
      <p:sp>
        <p:nvSpPr>
          <p:cNvPr id="616" name="Google Shape;616;p19"/>
          <p:cNvSpPr txBox="1"/>
          <p:nvPr/>
        </p:nvSpPr>
        <p:spPr>
          <a:xfrm>
            <a:off x="5892800" y="4603019"/>
            <a:ext cx="73152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Head</a:t>
            </a:r>
            <a:endParaRPr sz="1800">
              <a:solidFill>
                <a:schemeClr val="dk1"/>
              </a:solidFill>
              <a:latin typeface="Roboto Condensed"/>
              <a:ea typeface="Roboto Condensed"/>
              <a:cs typeface="Roboto Condensed"/>
              <a:sym typeface="Roboto Condensed"/>
            </a:endParaRPr>
          </a:p>
        </p:txBody>
      </p:sp>
      <p:sp>
        <p:nvSpPr>
          <p:cNvPr id="617" name="Google Shape;617;p19"/>
          <p:cNvSpPr txBox="1"/>
          <p:nvPr/>
        </p:nvSpPr>
        <p:spPr>
          <a:xfrm>
            <a:off x="5692100" y="4068372"/>
            <a:ext cx="1371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Coordinator</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0" st="0"/>
                                            </p:txEl>
                                          </p:spTgt>
                                        </p:tgtEl>
                                        <p:attrNameLst>
                                          <p:attrName>style.visibility</p:attrName>
                                        </p:attrNameLst>
                                      </p:cBhvr>
                                      <p:to>
                                        <p:strVal val="visible"/>
                                      </p:to>
                                    </p:set>
                                    <p:animEffect filter="fade" transition="in">
                                      <p:cBhvr>
                                        <p:cTn dur="500"/>
                                        <p:tgtEl>
                                          <p:spTgt spid="6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1" st="1"/>
                                            </p:txEl>
                                          </p:spTgt>
                                        </p:tgtEl>
                                        <p:attrNameLst>
                                          <p:attrName>style.visibility</p:attrName>
                                        </p:attrNameLst>
                                      </p:cBhvr>
                                      <p:to>
                                        <p:strVal val="visible"/>
                                      </p:to>
                                    </p:set>
                                    <p:animEffect filter="fade" transition="in">
                                      <p:cBhvr>
                                        <p:cTn dur="500"/>
                                        <p:tgtEl>
                                          <p:spTgt spid="6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xEl>
                                              <p:pRg end="2" st="2"/>
                                            </p:txEl>
                                          </p:spTgt>
                                        </p:tgtEl>
                                        <p:attrNameLst>
                                          <p:attrName>style.visibility</p:attrName>
                                        </p:attrNameLst>
                                      </p:cBhvr>
                                      <p:to>
                                        <p:strVal val="visible"/>
                                      </p:to>
                                    </p:set>
                                    <p:animEffect filter="fade" transition="in">
                                      <p:cBhvr>
                                        <p:cTn dur="500"/>
                                        <p:tgtEl>
                                          <p:spTgt spid="6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par>
                                <p:cTn fill="hold" nodeType="with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par>
                                <p:cTn fill="hold" nodeType="with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500"/>
                                        <p:tgtEl>
                                          <p:spTgt spid="609"/>
                                        </p:tgtEl>
                                      </p:cBhvr>
                                    </p:animEffect>
                                  </p:childTnLst>
                                </p:cTn>
                              </p:par>
                              <p:par>
                                <p:cTn fill="hold" nodeType="with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par>
                                <p:cTn fill="hold" nodeType="with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par>
                                <p:cTn fill="hold" nodeType="with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par>
                                <p:cTn fill="hold" nodeType="with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par>
                                <p:cTn fill="hold" nodeType="with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20"/>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Recursive Relationship Set</a:t>
            </a:r>
            <a:endParaRPr/>
          </a:p>
        </p:txBody>
      </p:sp>
      <p:sp>
        <p:nvSpPr>
          <p:cNvPr id="623" name="Google Shape;623;p20"/>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The same </a:t>
            </a:r>
            <a:r>
              <a:rPr b="1" lang="en-US">
                <a:solidFill>
                  <a:schemeClr val="accent6"/>
                </a:solidFill>
              </a:rPr>
              <a:t>entity participates in a relationship set more than once </a:t>
            </a:r>
            <a:r>
              <a:rPr lang="en-US"/>
              <a:t>then it is called recursive relationship set.</a:t>
            </a:r>
            <a:endParaRPr/>
          </a:p>
        </p:txBody>
      </p:sp>
      <p:sp>
        <p:nvSpPr>
          <p:cNvPr id="624" name="Google Shape;624;p20"/>
          <p:cNvSpPr/>
          <p:nvPr/>
        </p:nvSpPr>
        <p:spPr>
          <a:xfrm>
            <a:off x="2788923" y="2637907"/>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Faculty</a:t>
            </a:r>
            <a:endParaRPr sz="1800">
              <a:solidFill>
                <a:schemeClr val="dk1"/>
              </a:solidFill>
              <a:latin typeface="Roboto Condensed"/>
              <a:ea typeface="Roboto Condensed"/>
              <a:cs typeface="Roboto Condensed"/>
              <a:sym typeface="Roboto Condensed"/>
            </a:endParaRPr>
          </a:p>
        </p:txBody>
      </p:sp>
      <p:sp>
        <p:nvSpPr>
          <p:cNvPr id="625" name="Google Shape;625;p20"/>
          <p:cNvSpPr/>
          <p:nvPr/>
        </p:nvSpPr>
        <p:spPr>
          <a:xfrm>
            <a:off x="7968900" y="2633551"/>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Department</a:t>
            </a:r>
            <a:endParaRPr sz="1800">
              <a:solidFill>
                <a:schemeClr val="dk1"/>
              </a:solidFill>
              <a:latin typeface="Roboto Condensed"/>
              <a:ea typeface="Roboto Condensed"/>
              <a:cs typeface="Roboto Condensed"/>
              <a:sym typeface="Roboto Condensed"/>
            </a:endParaRPr>
          </a:p>
        </p:txBody>
      </p:sp>
      <p:sp>
        <p:nvSpPr>
          <p:cNvPr id="626" name="Google Shape;626;p20"/>
          <p:cNvSpPr/>
          <p:nvPr/>
        </p:nvSpPr>
        <p:spPr>
          <a:xfrm>
            <a:off x="5362849" y="2559527"/>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Works</a:t>
            </a:r>
            <a:endParaRPr sz="1800">
              <a:solidFill>
                <a:schemeClr val="dk1"/>
              </a:solidFill>
              <a:latin typeface="Roboto Condensed"/>
              <a:ea typeface="Roboto Condensed"/>
              <a:cs typeface="Roboto Condensed"/>
              <a:sym typeface="Roboto Condensed"/>
            </a:endParaRPr>
          </a:p>
        </p:txBody>
      </p:sp>
      <p:cxnSp>
        <p:nvCxnSpPr>
          <p:cNvPr id="627" name="Google Shape;627;p20"/>
          <p:cNvCxnSpPr>
            <a:stCxn id="626" idx="3"/>
            <a:endCxn id="625" idx="1"/>
          </p:cNvCxnSpPr>
          <p:nvPr/>
        </p:nvCxnSpPr>
        <p:spPr>
          <a:xfrm>
            <a:off x="7087147" y="3005842"/>
            <a:ext cx="881700" cy="0"/>
          </a:xfrm>
          <a:prstGeom prst="straightConnector1">
            <a:avLst/>
          </a:prstGeom>
          <a:noFill/>
          <a:ln cap="flat" cmpd="sng" w="28575">
            <a:solidFill>
              <a:schemeClr val="accent4"/>
            </a:solidFill>
            <a:prstDash val="solid"/>
            <a:miter lim="800000"/>
            <a:headEnd len="sm" w="sm" type="none"/>
            <a:tailEnd len="sm" w="sm" type="none"/>
          </a:ln>
        </p:spPr>
      </p:cxnSp>
      <p:cxnSp>
        <p:nvCxnSpPr>
          <p:cNvPr id="628" name="Google Shape;628;p20"/>
          <p:cNvCxnSpPr/>
          <p:nvPr/>
        </p:nvCxnSpPr>
        <p:spPr>
          <a:xfrm>
            <a:off x="4481096" y="3005842"/>
            <a:ext cx="881753" cy="1"/>
          </a:xfrm>
          <a:prstGeom prst="straightConnector1">
            <a:avLst/>
          </a:prstGeom>
          <a:noFill/>
          <a:ln cap="flat" cmpd="sng" w="28575">
            <a:solidFill>
              <a:schemeClr val="accent4"/>
            </a:solidFill>
            <a:prstDash val="solid"/>
            <a:miter lim="800000"/>
            <a:headEnd len="sm" w="sm" type="none"/>
            <a:tailEnd len="sm" w="sm" type="none"/>
          </a:ln>
        </p:spPr>
      </p:cxnSp>
      <p:cxnSp>
        <p:nvCxnSpPr>
          <p:cNvPr id="629" name="Google Shape;629;p20"/>
          <p:cNvCxnSpPr>
            <a:stCxn id="630" idx="4"/>
            <a:endCxn id="624" idx="0"/>
          </p:cNvCxnSpPr>
          <p:nvPr/>
        </p:nvCxnSpPr>
        <p:spPr>
          <a:xfrm>
            <a:off x="2674620" y="2201934"/>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630" name="Google Shape;630;p20"/>
          <p:cNvSpPr/>
          <p:nvPr/>
        </p:nvSpPr>
        <p:spPr>
          <a:xfrm>
            <a:off x="1943100" y="177902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FacID</a:t>
            </a:r>
            <a:endParaRPr sz="1800" u="sng">
              <a:solidFill>
                <a:schemeClr val="dk1"/>
              </a:solidFill>
              <a:latin typeface="Roboto Condensed"/>
              <a:ea typeface="Roboto Condensed"/>
              <a:cs typeface="Roboto Condensed"/>
              <a:sym typeface="Roboto Condensed"/>
            </a:endParaRPr>
          </a:p>
        </p:txBody>
      </p:sp>
      <p:cxnSp>
        <p:nvCxnSpPr>
          <p:cNvPr id="631" name="Google Shape;631;p20"/>
          <p:cNvCxnSpPr>
            <a:stCxn id="632" idx="4"/>
            <a:endCxn id="624" idx="0"/>
          </p:cNvCxnSpPr>
          <p:nvPr/>
        </p:nvCxnSpPr>
        <p:spPr>
          <a:xfrm flipH="1">
            <a:off x="3638143" y="2179523"/>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632" name="Google Shape;632;p20"/>
          <p:cNvSpPr/>
          <p:nvPr/>
        </p:nvSpPr>
        <p:spPr>
          <a:xfrm>
            <a:off x="3561223" y="1756613"/>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FName</a:t>
            </a:r>
            <a:endParaRPr sz="1800">
              <a:solidFill>
                <a:schemeClr val="dk1"/>
              </a:solidFill>
              <a:latin typeface="Roboto Condensed"/>
              <a:ea typeface="Roboto Condensed"/>
              <a:cs typeface="Roboto Condensed"/>
              <a:sym typeface="Roboto Condensed"/>
            </a:endParaRPr>
          </a:p>
        </p:txBody>
      </p:sp>
      <p:cxnSp>
        <p:nvCxnSpPr>
          <p:cNvPr id="633" name="Google Shape;633;p20"/>
          <p:cNvCxnSpPr/>
          <p:nvPr/>
        </p:nvCxnSpPr>
        <p:spPr>
          <a:xfrm flipH="1">
            <a:off x="2807209" y="3378134"/>
            <a:ext cx="830800" cy="404874"/>
          </a:xfrm>
          <a:prstGeom prst="straightConnector1">
            <a:avLst/>
          </a:prstGeom>
          <a:noFill/>
          <a:ln cap="flat" cmpd="sng" w="28575">
            <a:solidFill>
              <a:schemeClr val="dk2"/>
            </a:solidFill>
            <a:prstDash val="solid"/>
            <a:miter lim="800000"/>
            <a:headEnd len="sm" w="sm" type="none"/>
            <a:tailEnd len="sm" w="sm" type="none"/>
          </a:ln>
        </p:spPr>
      </p:cxnSp>
      <p:sp>
        <p:nvSpPr>
          <p:cNvPr id="634" name="Google Shape;634;p20"/>
          <p:cNvSpPr/>
          <p:nvPr/>
        </p:nvSpPr>
        <p:spPr>
          <a:xfrm>
            <a:off x="2057403" y="3788718"/>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Post</a:t>
            </a:r>
            <a:endParaRPr sz="1800">
              <a:solidFill>
                <a:schemeClr val="dk1"/>
              </a:solidFill>
              <a:latin typeface="Roboto Condensed"/>
              <a:ea typeface="Roboto Condensed"/>
              <a:cs typeface="Roboto Condensed"/>
              <a:sym typeface="Roboto Condensed"/>
            </a:endParaRPr>
          </a:p>
        </p:txBody>
      </p:sp>
      <p:cxnSp>
        <p:nvCxnSpPr>
          <p:cNvPr id="635" name="Google Shape;635;p20"/>
          <p:cNvCxnSpPr>
            <a:stCxn id="636" idx="4"/>
          </p:cNvCxnSpPr>
          <p:nvPr/>
        </p:nvCxnSpPr>
        <p:spPr>
          <a:xfrm>
            <a:off x="7916385" y="2197921"/>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636" name="Google Shape;636;p20"/>
          <p:cNvSpPr/>
          <p:nvPr/>
        </p:nvSpPr>
        <p:spPr>
          <a:xfrm>
            <a:off x="7184865" y="1775011"/>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DeptID</a:t>
            </a:r>
            <a:endParaRPr sz="1800" u="sng">
              <a:solidFill>
                <a:schemeClr val="dk1"/>
              </a:solidFill>
              <a:latin typeface="Roboto Condensed"/>
              <a:ea typeface="Roboto Condensed"/>
              <a:cs typeface="Roboto Condensed"/>
              <a:sym typeface="Roboto Condensed"/>
            </a:endParaRPr>
          </a:p>
        </p:txBody>
      </p:sp>
      <p:cxnSp>
        <p:nvCxnSpPr>
          <p:cNvPr id="637" name="Google Shape;637;p20"/>
          <p:cNvCxnSpPr>
            <a:stCxn id="638" idx="4"/>
          </p:cNvCxnSpPr>
          <p:nvPr/>
        </p:nvCxnSpPr>
        <p:spPr>
          <a:xfrm flipH="1">
            <a:off x="8879908" y="2175510"/>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638" name="Google Shape;638;p20"/>
          <p:cNvSpPr/>
          <p:nvPr/>
        </p:nvSpPr>
        <p:spPr>
          <a:xfrm>
            <a:off x="8802988" y="1752600"/>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DName</a:t>
            </a:r>
            <a:endParaRPr sz="1800">
              <a:solidFill>
                <a:schemeClr val="dk1"/>
              </a:solidFill>
              <a:latin typeface="Roboto Condensed"/>
              <a:ea typeface="Roboto Condensed"/>
              <a:cs typeface="Roboto Condensed"/>
              <a:sym typeface="Roboto Condensed"/>
            </a:endParaRPr>
          </a:p>
        </p:txBody>
      </p:sp>
      <p:sp>
        <p:nvSpPr>
          <p:cNvPr id="639" name="Google Shape;639;p20"/>
          <p:cNvSpPr/>
          <p:nvPr/>
        </p:nvSpPr>
        <p:spPr>
          <a:xfrm>
            <a:off x="5796653" y="4511220"/>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Prof.</a:t>
            </a:r>
            <a:endParaRPr sz="1800">
              <a:solidFill>
                <a:schemeClr val="dk1"/>
              </a:solidFill>
              <a:latin typeface="Roboto Condensed"/>
              <a:ea typeface="Roboto Condensed"/>
              <a:cs typeface="Roboto Condensed"/>
              <a:sym typeface="Roboto Condensed"/>
            </a:endParaRPr>
          </a:p>
        </p:txBody>
      </p:sp>
      <p:cxnSp>
        <p:nvCxnSpPr>
          <p:cNvPr id="640" name="Google Shape;640;p20"/>
          <p:cNvCxnSpPr>
            <a:stCxn id="639" idx="3"/>
          </p:cNvCxnSpPr>
          <p:nvPr/>
        </p:nvCxnSpPr>
        <p:spPr>
          <a:xfrm>
            <a:off x="7520951" y="4957535"/>
            <a:ext cx="822900" cy="0"/>
          </a:xfrm>
          <a:prstGeom prst="straightConnector1">
            <a:avLst/>
          </a:prstGeom>
          <a:noFill/>
          <a:ln cap="flat" cmpd="sng" w="28575">
            <a:solidFill>
              <a:schemeClr val="accent4"/>
            </a:solidFill>
            <a:prstDash val="solid"/>
            <a:miter lim="800000"/>
            <a:headEnd len="sm" w="sm" type="none"/>
            <a:tailEnd len="sm" w="sm" type="none"/>
          </a:ln>
        </p:spPr>
      </p:cxnSp>
      <p:cxnSp>
        <p:nvCxnSpPr>
          <p:cNvPr id="641" name="Google Shape;641;p20"/>
          <p:cNvCxnSpPr/>
          <p:nvPr/>
        </p:nvCxnSpPr>
        <p:spPr>
          <a:xfrm flipH="1" rot="10800000">
            <a:off x="5008575" y="4951009"/>
            <a:ext cx="801679" cy="13714"/>
          </a:xfrm>
          <a:prstGeom prst="straightConnector1">
            <a:avLst/>
          </a:prstGeom>
          <a:noFill/>
          <a:ln cap="flat" cmpd="sng" w="28575">
            <a:solidFill>
              <a:schemeClr val="accent4"/>
            </a:solidFill>
            <a:prstDash val="solid"/>
            <a:miter lim="800000"/>
            <a:headEnd len="sm" w="sm" type="none"/>
            <a:tailEnd len="sm" w="sm" type="none"/>
          </a:ln>
        </p:spPr>
      </p:cxnSp>
      <p:grpSp>
        <p:nvGrpSpPr>
          <p:cNvPr id="642" name="Google Shape;642;p20"/>
          <p:cNvGrpSpPr/>
          <p:nvPr/>
        </p:nvGrpSpPr>
        <p:grpSpPr>
          <a:xfrm rot="-397616">
            <a:off x="4999654" y="4697417"/>
            <a:ext cx="3358070" cy="892630"/>
            <a:chOff x="3577594" y="5116733"/>
            <a:chExt cx="3358070" cy="892630"/>
          </a:xfrm>
        </p:grpSpPr>
        <p:sp>
          <p:nvSpPr>
            <p:cNvPr id="643" name="Google Shape;643;p20"/>
            <p:cNvSpPr/>
            <p:nvPr/>
          </p:nvSpPr>
          <p:spPr>
            <a:xfrm>
              <a:off x="4388166" y="5116733"/>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Prof.</a:t>
              </a:r>
              <a:endParaRPr sz="1800">
                <a:solidFill>
                  <a:schemeClr val="dk1"/>
                </a:solidFill>
                <a:latin typeface="Roboto Condensed"/>
                <a:ea typeface="Roboto Condensed"/>
                <a:cs typeface="Roboto Condensed"/>
                <a:sym typeface="Roboto Condensed"/>
              </a:endParaRPr>
            </a:p>
          </p:txBody>
        </p:sp>
        <p:cxnSp>
          <p:nvCxnSpPr>
            <p:cNvPr id="644" name="Google Shape;644;p20"/>
            <p:cNvCxnSpPr>
              <a:stCxn id="643" idx="3"/>
            </p:cNvCxnSpPr>
            <p:nvPr/>
          </p:nvCxnSpPr>
          <p:spPr>
            <a:xfrm flipH="1" rot="-10401758">
              <a:off x="6115274" y="5515473"/>
              <a:ext cx="817580" cy="95150"/>
            </a:xfrm>
            <a:prstGeom prst="straightConnector1">
              <a:avLst/>
            </a:prstGeom>
            <a:noFill/>
            <a:ln cap="flat" cmpd="sng" w="28575">
              <a:solidFill>
                <a:schemeClr val="accent4"/>
              </a:solidFill>
              <a:prstDash val="solid"/>
              <a:miter lim="800000"/>
              <a:headEnd len="sm" w="sm" type="none"/>
              <a:tailEnd len="sm" w="sm" type="none"/>
            </a:ln>
          </p:spPr>
        </p:cxnSp>
        <p:cxnSp>
          <p:nvCxnSpPr>
            <p:cNvPr id="645" name="Google Shape;645;p20"/>
            <p:cNvCxnSpPr/>
            <p:nvPr/>
          </p:nvCxnSpPr>
          <p:spPr>
            <a:xfrm>
              <a:off x="3577594" y="5568723"/>
              <a:ext cx="822960" cy="1"/>
            </a:xfrm>
            <a:prstGeom prst="straightConnector1">
              <a:avLst/>
            </a:prstGeom>
            <a:noFill/>
            <a:ln cap="flat" cmpd="sng" w="28575">
              <a:solidFill>
                <a:schemeClr val="accent4"/>
              </a:solidFill>
              <a:prstDash val="solid"/>
              <a:miter lim="800000"/>
              <a:headEnd len="sm" w="sm" type="none"/>
              <a:tailEnd len="sm" w="sm" type="none"/>
            </a:ln>
          </p:spPr>
        </p:cxnSp>
      </p:grpSp>
      <p:sp>
        <p:nvSpPr>
          <p:cNvPr id="646" name="Google Shape;646;p20"/>
          <p:cNvSpPr/>
          <p:nvPr/>
        </p:nvSpPr>
        <p:spPr>
          <a:xfrm>
            <a:off x="6134100" y="3778250"/>
            <a:ext cx="1463040" cy="914400"/>
          </a:xfrm>
          <a:prstGeom prst="wedgeRoundRectCallout">
            <a:avLst>
              <a:gd fmla="val -19777" name="adj1"/>
              <a:gd fmla="val 72964" name="adj2"/>
              <a:gd fmla="val 16667" name="adj3"/>
            </a:avLst>
          </a:prstGeom>
          <a:solidFill>
            <a:srgbClr val="F2F2F2"/>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Recursive Relationship</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Set</a:t>
            </a:r>
            <a:endParaRPr sz="1800">
              <a:solidFill>
                <a:schemeClr val="dk1"/>
              </a:solidFill>
              <a:latin typeface="Roboto Condensed"/>
              <a:ea typeface="Roboto Condensed"/>
              <a:cs typeface="Roboto Condensed"/>
              <a:sym typeface="Roboto Condensed"/>
            </a:endParaRPr>
          </a:p>
        </p:txBody>
      </p:sp>
      <p:grpSp>
        <p:nvGrpSpPr>
          <p:cNvPr id="647" name="Google Shape;647;p20"/>
          <p:cNvGrpSpPr/>
          <p:nvPr/>
        </p:nvGrpSpPr>
        <p:grpSpPr>
          <a:xfrm rot="-774844">
            <a:off x="4963677" y="4886824"/>
            <a:ext cx="3431706" cy="892630"/>
            <a:chOff x="3577594" y="5127170"/>
            <a:chExt cx="3356557" cy="892630"/>
          </a:xfrm>
        </p:grpSpPr>
        <p:sp>
          <p:nvSpPr>
            <p:cNvPr id="648" name="Google Shape;648;p20"/>
            <p:cNvSpPr/>
            <p:nvPr/>
          </p:nvSpPr>
          <p:spPr>
            <a:xfrm>
              <a:off x="4386953" y="5127170"/>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Prof./</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HOD</a:t>
              </a:r>
              <a:endParaRPr sz="1800">
                <a:solidFill>
                  <a:schemeClr val="dk1"/>
                </a:solidFill>
                <a:latin typeface="Roboto Condensed"/>
                <a:ea typeface="Roboto Condensed"/>
                <a:cs typeface="Roboto Condensed"/>
                <a:sym typeface="Roboto Condensed"/>
              </a:endParaRPr>
            </a:p>
          </p:txBody>
        </p:sp>
        <p:cxnSp>
          <p:nvCxnSpPr>
            <p:cNvPr id="649" name="Google Shape;649;p20"/>
            <p:cNvCxnSpPr>
              <a:stCxn id="648" idx="3"/>
            </p:cNvCxnSpPr>
            <p:nvPr/>
          </p:nvCxnSpPr>
          <p:spPr>
            <a:xfrm flipH="1" rot="-10008290">
              <a:off x="6121201" y="5479559"/>
              <a:ext cx="803001" cy="187851"/>
            </a:xfrm>
            <a:prstGeom prst="straightConnector1">
              <a:avLst/>
            </a:prstGeom>
            <a:noFill/>
            <a:ln cap="flat" cmpd="sng" w="28575">
              <a:solidFill>
                <a:schemeClr val="accent4"/>
              </a:solidFill>
              <a:prstDash val="solid"/>
              <a:miter lim="800000"/>
              <a:headEnd len="sm" w="sm" type="none"/>
              <a:tailEnd len="sm" w="sm" type="none"/>
            </a:ln>
          </p:spPr>
        </p:cxnSp>
        <p:cxnSp>
          <p:nvCxnSpPr>
            <p:cNvPr id="650" name="Google Shape;650;p20"/>
            <p:cNvCxnSpPr/>
            <p:nvPr/>
          </p:nvCxnSpPr>
          <p:spPr>
            <a:xfrm>
              <a:off x="3577594" y="5568723"/>
              <a:ext cx="822960" cy="1"/>
            </a:xfrm>
            <a:prstGeom prst="straightConnector1">
              <a:avLst/>
            </a:prstGeom>
            <a:noFill/>
            <a:ln cap="flat" cmpd="sng" w="28575">
              <a:solidFill>
                <a:schemeClr val="accent4"/>
              </a:solidFill>
              <a:prstDash val="solid"/>
              <a:miter lim="800000"/>
              <a:headEnd len="sm" w="sm" type="none"/>
              <a:tailEnd len="sm" w="sm" type="none"/>
            </a:ln>
          </p:spPr>
        </p:cxnSp>
      </p:grpSp>
      <p:graphicFrame>
        <p:nvGraphicFramePr>
          <p:cNvPr id="651" name="Google Shape;651;p20"/>
          <p:cNvGraphicFramePr/>
          <p:nvPr/>
        </p:nvGraphicFramePr>
        <p:xfrm>
          <a:off x="2842230" y="4321501"/>
          <a:ext cx="3000000" cy="3000000"/>
        </p:xfrm>
        <a:graphic>
          <a:graphicData uri="http://schemas.openxmlformats.org/drawingml/2006/table">
            <a:tbl>
              <a:tblPr bandRow="1" firstRow="1">
                <a:noFill/>
                <a:tableStyleId>{2FE9E659-6503-4E8C-9AC6-ED4A2EF7120C}</a:tableStyleId>
              </a:tblPr>
              <a:tblGrid>
                <a:gridCol w="1002025"/>
                <a:gridCol w="1167125"/>
              </a:tblGrid>
              <a:tr h="411475">
                <a:tc>
                  <a:txBody>
                    <a:bodyPr/>
                    <a:lstStyle/>
                    <a:p>
                      <a:pPr indent="0" lvl="0" marL="0" marR="0" rtl="0" algn="l">
                        <a:spcBef>
                          <a:spcPts val="0"/>
                        </a:spcBef>
                        <a:spcAft>
                          <a:spcPts val="0"/>
                        </a:spcAft>
                        <a:buNone/>
                      </a:pPr>
                      <a:r>
                        <a:rPr b="1" lang="en-US" sz="1800">
                          <a:solidFill>
                            <a:schemeClr val="dk1"/>
                          </a:solidFill>
                        </a:rPr>
                        <a:t>FName</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Post</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r h="411475">
                <a:tc>
                  <a:txBody>
                    <a:bodyPr/>
                    <a:lstStyle/>
                    <a:p>
                      <a:pPr indent="0" lvl="0" marL="0" marR="0" rtl="0" algn="l">
                        <a:spcBef>
                          <a:spcPts val="0"/>
                        </a:spcBef>
                        <a:spcAft>
                          <a:spcPts val="0"/>
                        </a:spcAft>
                        <a:buNone/>
                      </a:pPr>
                      <a:r>
                        <a:rPr lang="en-US" sz="1900"/>
                        <a:t>Ajay</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Professor</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Haresh</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Professor</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Ramesh</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HOD</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652" name="Google Shape;652;p20"/>
          <p:cNvGraphicFramePr/>
          <p:nvPr/>
        </p:nvGraphicFramePr>
        <p:xfrm>
          <a:off x="8306214" y="4321501"/>
          <a:ext cx="3000000" cy="3000000"/>
        </p:xfrm>
        <a:graphic>
          <a:graphicData uri="http://schemas.openxmlformats.org/drawingml/2006/table">
            <a:tbl>
              <a:tblPr bandRow="1" firstRow="1">
                <a:noFill/>
                <a:tableStyleId>{2FE9E659-6503-4E8C-9AC6-ED4A2EF7120C}</a:tableStyleId>
              </a:tblPr>
              <a:tblGrid>
                <a:gridCol w="1332225"/>
              </a:tblGrid>
              <a:tr h="411475">
                <a:tc>
                  <a:txBody>
                    <a:bodyPr/>
                    <a:lstStyle/>
                    <a:p>
                      <a:pPr indent="0" lvl="0" marL="0" marR="0" rtl="0" algn="l">
                        <a:spcBef>
                          <a:spcPts val="0"/>
                        </a:spcBef>
                        <a:spcAft>
                          <a:spcPts val="0"/>
                        </a:spcAft>
                        <a:buNone/>
                      </a:pPr>
                      <a:r>
                        <a:rPr lang="en-US" sz="1800">
                          <a:solidFill>
                            <a:schemeClr val="dk1"/>
                          </a:solidFill>
                        </a:rPr>
                        <a:t>DName</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r h="411475">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Computer</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Civil</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Mechanical</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xEl>
                                              <p:pRg end="0" st="0"/>
                                            </p:txEl>
                                          </p:spTgt>
                                        </p:tgtEl>
                                        <p:attrNameLst>
                                          <p:attrName>style.visibility</p:attrName>
                                        </p:attrNameLst>
                                      </p:cBhvr>
                                      <p:to>
                                        <p:strVal val="visible"/>
                                      </p:to>
                                    </p:set>
                                    <p:animEffect filter="fade" transition="in">
                                      <p:cBhvr>
                                        <p:cTn dur="500"/>
                                        <p:tgtEl>
                                          <p:spTgt spid="6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par>
                                <p:cTn fill="hold" nodeType="with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par>
                                <p:cTn fill="hold" nodeType="with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par>
                                <p:cTn fill="hold" nodeType="with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500"/>
                                        <p:tgtEl>
                                          <p:spTgt spid="629"/>
                                        </p:tgtEl>
                                      </p:cBhvr>
                                    </p:animEffect>
                                  </p:childTnLst>
                                </p:cTn>
                              </p:par>
                              <p:par>
                                <p:cTn fill="hold" nodeType="with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par>
                                <p:cTn fill="hold" nodeType="with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par>
                                <p:cTn fill="hold" nodeType="with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500"/>
                                        <p:tgtEl>
                                          <p:spTgt spid="632"/>
                                        </p:tgtEl>
                                      </p:cBhvr>
                                    </p:animEffect>
                                  </p:childTnLst>
                                </p:cTn>
                              </p:par>
                              <p:par>
                                <p:cTn fill="hold" nodeType="with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par>
                                <p:cTn fill="hold" nodeType="withEffect" presetClass="entr" presetID="10" presetSubtype="0">
                                  <p:stCondLst>
                                    <p:cond delay="0"/>
                                  </p:stCondLst>
                                  <p:childTnLst>
                                    <p:set>
                                      <p:cBhvr>
                                        <p:cTn dur="1" fill="hold">
                                          <p:stCondLst>
                                            <p:cond delay="0"/>
                                          </p:stCondLst>
                                        </p:cTn>
                                        <p:tgtEl>
                                          <p:spTgt spid="634"/>
                                        </p:tgtEl>
                                        <p:attrNameLst>
                                          <p:attrName>style.visibility</p:attrName>
                                        </p:attrNameLst>
                                      </p:cBhvr>
                                      <p:to>
                                        <p:strVal val="visible"/>
                                      </p:to>
                                    </p:set>
                                    <p:animEffect filter="fade" transition="in">
                                      <p:cBhvr>
                                        <p:cTn dur="500"/>
                                        <p:tgtEl>
                                          <p:spTgt spid="634"/>
                                        </p:tgtEl>
                                      </p:cBhvr>
                                    </p:animEffect>
                                  </p:childTnLst>
                                </p:cTn>
                              </p:par>
                              <p:par>
                                <p:cTn fill="hold" nodeType="with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500"/>
                                        <p:tgtEl>
                                          <p:spTgt spid="635"/>
                                        </p:tgtEl>
                                      </p:cBhvr>
                                    </p:animEffect>
                                  </p:childTnLst>
                                </p:cTn>
                              </p:par>
                              <p:par>
                                <p:cTn fill="hold" nodeType="with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500"/>
                                        <p:tgtEl>
                                          <p:spTgt spid="636"/>
                                        </p:tgtEl>
                                      </p:cBhvr>
                                    </p:animEffect>
                                  </p:childTnLst>
                                </p:cTn>
                              </p:par>
                              <p:par>
                                <p:cTn fill="hold" nodeType="with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par>
                                <p:cTn fill="hold" nodeType="with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500"/>
                                        <p:tgtEl>
                                          <p:spTgt spid="651"/>
                                        </p:tgtEl>
                                      </p:cBhvr>
                                    </p:animEffect>
                                  </p:childTnLst>
                                </p:cTn>
                              </p:par>
                              <p:par>
                                <p:cTn fill="hold" nodeType="with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500"/>
                                        <p:tgtEl>
                                          <p:spTgt spid="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
                                        <p:tgtEl>
                                          <p:spTgt spid="639"/>
                                        </p:tgtEl>
                                      </p:cBhvr>
                                    </p:animEffect>
                                    <p:set>
                                      <p:cBhvr>
                                        <p:cTn dur="1" fill="hold">
                                          <p:stCondLst>
                                            <p:cond delay="100"/>
                                          </p:stCondLst>
                                        </p:cTn>
                                        <p:tgtEl>
                                          <p:spTgt spid="63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
                                        <p:tgtEl>
                                          <p:spTgt spid="640"/>
                                        </p:tgtEl>
                                      </p:cBhvr>
                                    </p:animEffect>
                                    <p:set>
                                      <p:cBhvr>
                                        <p:cTn dur="1" fill="hold">
                                          <p:stCondLst>
                                            <p:cond delay="100"/>
                                          </p:stCondLst>
                                        </p:cTn>
                                        <p:tgtEl>
                                          <p:spTgt spid="64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
                                        <p:tgtEl>
                                          <p:spTgt spid="641"/>
                                        </p:tgtEl>
                                      </p:cBhvr>
                                    </p:animEffect>
                                    <p:set>
                                      <p:cBhvr>
                                        <p:cTn dur="1" fill="hold">
                                          <p:stCondLst>
                                            <p:cond delay="100"/>
                                          </p:stCondLst>
                                        </p:cTn>
                                        <p:tgtEl>
                                          <p:spTgt spid="64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
                                        <p:tgtEl>
                                          <p:spTgt spid="642"/>
                                        </p:tgtEl>
                                      </p:cBhvr>
                                    </p:animEffect>
                                    <p:set>
                                      <p:cBhvr>
                                        <p:cTn dur="1" fill="hold">
                                          <p:stCondLst>
                                            <p:cond delay="100"/>
                                          </p:stCondLst>
                                        </p:cTn>
                                        <p:tgtEl>
                                          <p:spTgt spid="6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500"/>
                                        <p:tgtEl>
                                          <p:spTgt spid="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Mapping Cardinality</a:t>
            </a:r>
            <a:endParaRPr/>
          </a:p>
        </p:txBody>
      </p:sp>
      <p:sp>
        <p:nvSpPr>
          <p:cNvPr id="658" name="Google Shape;658;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- 3</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22"/>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Mapping Cardinality (Cardinality Constraints)</a:t>
            </a:r>
            <a:endParaRPr/>
          </a:p>
        </p:txBody>
      </p:sp>
      <p:sp>
        <p:nvSpPr>
          <p:cNvPr id="664" name="Google Shape;664;p22"/>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It represents the </a:t>
            </a:r>
            <a:r>
              <a:rPr b="1" lang="en-US">
                <a:solidFill>
                  <a:schemeClr val="accent6"/>
                </a:solidFill>
              </a:rPr>
              <a:t>number of entities of another entity set </a:t>
            </a:r>
            <a:r>
              <a:rPr lang="en-US"/>
              <a:t>which are </a:t>
            </a:r>
            <a:r>
              <a:rPr b="1" lang="en-US">
                <a:solidFill>
                  <a:schemeClr val="accent6"/>
                </a:solidFill>
              </a:rPr>
              <a:t>connected to an entity </a:t>
            </a:r>
            <a:r>
              <a:rPr lang="en-US"/>
              <a:t>using a relationship set.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It is most </a:t>
            </a:r>
            <a:r>
              <a:rPr b="1" lang="en-US">
                <a:solidFill>
                  <a:schemeClr val="accent6"/>
                </a:solidFill>
              </a:rPr>
              <a:t>useful in describing binary relationship sets</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For a binary relationship set the mapping cardinality must be one of the following types:</a:t>
            </a:r>
            <a:endParaRPr/>
          </a:p>
          <a:p>
            <a:pPr indent="-352425" lvl="1" marL="809625" rtl="0" algn="just">
              <a:lnSpc>
                <a:spcPct val="90000"/>
              </a:lnSpc>
              <a:spcBef>
                <a:spcPts val="500"/>
              </a:spcBef>
              <a:spcAft>
                <a:spcPts val="0"/>
              </a:spcAft>
              <a:buSzPts val="2000"/>
              <a:buChar char="⮩"/>
            </a:pPr>
            <a:r>
              <a:rPr lang="en-US"/>
              <a:t>One to One</a:t>
            </a:r>
            <a:endParaRPr/>
          </a:p>
          <a:p>
            <a:pPr indent="-352425" lvl="1" marL="809625" rtl="0" algn="just">
              <a:lnSpc>
                <a:spcPct val="90000"/>
              </a:lnSpc>
              <a:spcBef>
                <a:spcPts val="500"/>
              </a:spcBef>
              <a:spcAft>
                <a:spcPts val="0"/>
              </a:spcAft>
              <a:buSzPts val="2000"/>
              <a:buChar char="⮩"/>
            </a:pPr>
            <a:r>
              <a:rPr lang="en-US"/>
              <a:t>One to Many</a:t>
            </a:r>
            <a:endParaRPr/>
          </a:p>
          <a:p>
            <a:pPr indent="-352425" lvl="1" marL="809625" rtl="0" algn="just">
              <a:lnSpc>
                <a:spcPct val="90000"/>
              </a:lnSpc>
              <a:spcBef>
                <a:spcPts val="500"/>
              </a:spcBef>
              <a:spcAft>
                <a:spcPts val="0"/>
              </a:spcAft>
              <a:buSzPts val="2000"/>
              <a:buChar char="⮩"/>
            </a:pPr>
            <a:r>
              <a:rPr lang="en-US"/>
              <a:t>Many to One</a:t>
            </a:r>
            <a:endParaRPr/>
          </a:p>
          <a:p>
            <a:pPr indent="-352425" lvl="1" marL="809625" rtl="0" algn="just">
              <a:lnSpc>
                <a:spcPct val="90000"/>
              </a:lnSpc>
              <a:spcBef>
                <a:spcPts val="500"/>
              </a:spcBef>
              <a:spcAft>
                <a:spcPts val="0"/>
              </a:spcAft>
              <a:buSzPts val="2000"/>
              <a:buChar char="⮩"/>
            </a:pPr>
            <a:r>
              <a:rPr lang="en-US"/>
              <a:t>Many to Many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0" st="0"/>
                                            </p:txEl>
                                          </p:spTgt>
                                        </p:tgtEl>
                                        <p:attrNameLst>
                                          <p:attrName>style.visibility</p:attrName>
                                        </p:attrNameLst>
                                      </p:cBhvr>
                                      <p:to>
                                        <p:strVal val="visible"/>
                                      </p:to>
                                    </p:set>
                                    <p:animEffect filter="fade" transition="in">
                                      <p:cBhvr>
                                        <p:cTn dur="500"/>
                                        <p:tgtEl>
                                          <p:spTgt spid="6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1" st="1"/>
                                            </p:txEl>
                                          </p:spTgt>
                                        </p:tgtEl>
                                        <p:attrNameLst>
                                          <p:attrName>style.visibility</p:attrName>
                                        </p:attrNameLst>
                                      </p:cBhvr>
                                      <p:to>
                                        <p:strVal val="visible"/>
                                      </p:to>
                                    </p:set>
                                    <p:animEffect filter="fade" transition="in">
                                      <p:cBhvr>
                                        <p:cTn dur="500"/>
                                        <p:tgtEl>
                                          <p:spTgt spid="6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2" st="2"/>
                                            </p:txEl>
                                          </p:spTgt>
                                        </p:tgtEl>
                                        <p:attrNameLst>
                                          <p:attrName>style.visibility</p:attrName>
                                        </p:attrNameLst>
                                      </p:cBhvr>
                                      <p:to>
                                        <p:strVal val="visible"/>
                                      </p:to>
                                    </p:set>
                                    <p:animEffect filter="fade" transition="in">
                                      <p:cBhvr>
                                        <p:cTn dur="500"/>
                                        <p:tgtEl>
                                          <p:spTgt spid="6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3" st="3"/>
                                            </p:txEl>
                                          </p:spTgt>
                                        </p:tgtEl>
                                        <p:attrNameLst>
                                          <p:attrName>style.visibility</p:attrName>
                                        </p:attrNameLst>
                                      </p:cBhvr>
                                      <p:to>
                                        <p:strVal val="visible"/>
                                      </p:to>
                                    </p:set>
                                    <p:animEffect filter="fade" transition="in">
                                      <p:cBhvr>
                                        <p:cTn dur="500"/>
                                        <p:tgtEl>
                                          <p:spTgt spid="6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4" st="4"/>
                                            </p:txEl>
                                          </p:spTgt>
                                        </p:tgtEl>
                                        <p:attrNameLst>
                                          <p:attrName>style.visibility</p:attrName>
                                        </p:attrNameLst>
                                      </p:cBhvr>
                                      <p:to>
                                        <p:strVal val="visible"/>
                                      </p:to>
                                    </p:set>
                                    <p:animEffect filter="fade" transition="in">
                                      <p:cBhvr>
                                        <p:cTn dur="500"/>
                                        <p:tgtEl>
                                          <p:spTgt spid="6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5" st="5"/>
                                            </p:txEl>
                                          </p:spTgt>
                                        </p:tgtEl>
                                        <p:attrNameLst>
                                          <p:attrName>style.visibility</p:attrName>
                                        </p:attrNameLst>
                                      </p:cBhvr>
                                      <p:to>
                                        <p:strVal val="visible"/>
                                      </p:to>
                                    </p:set>
                                    <p:animEffect filter="fade" transition="in">
                                      <p:cBhvr>
                                        <p:cTn dur="500"/>
                                        <p:tgtEl>
                                          <p:spTgt spid="6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6" st="6"/>
                                            </p:txEl>
                                          </p:spTgt>
                                        </p:tgtEl>
                                        <p:attrNameLst>
                                          <p:attrName>style.visibility</p:attrName>
                                        </p:attrNameLst>
                                      </p:cBhvr>
                                      <p:to>
                                        <p:strVal val="visible"/>
                                      </p:to>
                                    </p:set>
                                    <p:animEffect filter="fade" transition="in">
                                      <p:cBhvr>
                                        <p:cTn dur="500"/>
                                        <p:tgtEl>
                                          <p:spTgt spid="66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23"/>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One-to-One relationship (1 – 1)</a:t>
            </a:r>
            <a:endParaRPr/>
          </a:p>
        </p:txBody>
      </p:sp>
      <p:sp>
        <p:nvSpPr>
          <p:cNvPr id="670" name="Google Shape;670;p23"/>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An entity in </a:t>
            </a:r>
            <a:r>
              <a:rPr b="1" lang="en-US">
                <a:solidFill>
                  <a:schemeClr val="accent6"/>
                </a:solidFill>
              </a:rPr>
              <a:t>A is associated with only one entity in B </a:t>
            </a:r>
            <a:r>
              <a:rPr lang="en-US"/>
              <a:t>and an entity in </a:t>
            </a:r>
            <a:r>
              <a:rPr b="1" lang="en-US">
                <a:solidFill>
                  <a:schemeClr val="accent6"/>
                </a:solidFill>
              </a:rPr>
              <a:t>B is associated with only one entity in A</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Example: A </a:t>
            </a:r>
            <a:r>
              <a:rPr b="1" lang="en-US">
                <a:solidFill>
                  <a:schemeClr val="accent6"/>
                </a:solidFill>
              </a:rPr>
              <a:t>customer is connected with only one loan </a:t>
            </a:r>
            <a:r>
              <a:rPr lang="en-US"/>
              <a:t>using the relationship borrower and a </a:t>
            </a:r>
            <a:r>
              <a:rPr b="1" lang="en-US">
                <a:solidFill>
                  <a:schemeClr val="accent6"/>
                </a:solidFill>
              </a:rPr>
              <a:t>loan is connected with only one customer </a:t>
            </a:r>
            <a:r>
              <a:rPr lang="en-US"/>
              <a:t>using borrower.</a:t>
            </a:r>
            <a:endParaRPr/>
          </a:p>
        </p:txBody>
      </p:sp>
      <p:sp>
        <p:nvSpPr>
          <p:cNvPr id="671" name="Google Shape;671;p23"/>
          <p:cNvSpPr/>
          <p:nvPr/>
        </p:nvSpPr>
        <p:spPr>
          <a:xfrm>
            <a:off x="12382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672" name="Google Shape;672;p23"/>
          <p:cNvSpPr/>
          <p:nvPr/>
        </p:nvSpPr>
        <p:spPr>
          <a:xfrm>
            <a:off x="15430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A1</a:t>
            </a:r>
            <a:endParaRPr sz="1800">
              <a:solidFill>
                <a:schemeClr val="dk1"/>
              </a:solidFill>
              <a:latin typeface="Roboto Condensed"/>
              <a:ea typeface="Roboto Condensed"/>
              <a:cs typeface="Roboto Condensed"/>
              <a:sym typeface="Roboto Condensed"/>
            </a:endParaRPr>
          </a:p>
        </p:txBody>
      </p:sp>
      <p:sp>
        <p:nvSpPr>
          <p:cNvPr id="673" name="Google Shape;673;p23"/>
          <p:cNvSpPr/>
          <p:nvPr/>
        </p:nvSpPr>
        <p:spPr>
          <a:xfrm>
            <a:off x="15430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A2</a:t>
            </a:r>
            <a:endParaRPr sz="1800">
              <a:solidFill>
                <a:schemeClr val="dk1"/>
              </a:solidFill>
              <a:latin typeface="Roboto Condensed"/>
              <a:ea typeface="Roboto Condensed"/>
              <a:cs typeface="Roboto Condensed"/>
              <a:sym typeface="Roboto Condensed"/>
            </a:endParaRPr>
          </a:p>
        </p:txBody>
      </p:sp>
      <p:sp>
        <p:nvSpPr>
          <p:cNvPr id="674" name="Google Shape;674;p23"/>
          <p:cNvSpPr/>
          <p:nvPr/>
        </p:nvSpPr>
        <p:spPr>
          <a:xfrm>
            <a:off x="30670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675" name="Google Shape;675;p23"/>
          <p:cNvSpPr/>
          <p:nvPr/>
        </p:nvSpPr>
        <p:spPr>
          <a:xfrm>
            <a:off x="33718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B1</a:t>
            </a:r>
            <a:endParaRPr sz="1800">
              <a:solidFill>
                <a:schemeClr val="dk1"/>
              </a:solidFill>
              <a:latin typeface="Roboto Condensed"/>
              <a:ea typeface="Roboto Condensed"/>
              <a:cs typeface="Roboto Condensed"/>
              <a:sym typeface="Roboto Condensed"/>
            </a:endParaRPr>
          </a:p>
        </p:txBody>
      </p:sp>
      <p:sp>
        <p:nvSpPr>
          <p:cNvPr id="676" name="Google Shape;676;p23"/>
          <p:cNvSpPr/>
          <p:nvPr/>
        </p:nvSpPr>
        <p:spPr>
          <a:xfrm>
            <a:off x="33718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B2</a:t>
            </a:r>
            <a:endParaRPr sz="1800">
              <a:solidFill>
                <a:schemeClr val="dk1"/>
              </a:solidFill>
              <a:latin typeface="Roboto Condensed"/>
              <a:ea typeface="Roboto Condensed"/>
              <a:cs typeface="Roboto Condensed"/>
              <a:sym typeface="Roboto Condensed"/>
            </a:endParaRPr>
          </a:p>
        </p:txBody>
      </p:sp>
      <p:cxnSp>
        <p:nvCxnSpPr>
          <p:cNvPr id="677" name="Google Shape;677;p23"/>
          <p:cNvCxnSpPr>
            <a:stCxn id="672" idx="3"/>
            <a:endCxn id="675" idx="1"/>
          </p:cNvCxnSpPr>
          <p:nvPr/>
        </p:nvCxnSpPr>
        <p:spPr>
          <a:xfrm>
            <a:off x="2152650" y="2628900"/>
            <a:ext cx="1219200" cy="0"/>
          </a:xfrm>
          <a:prstGeom prst="straightConnector1">
            <a:avLst/>
          </a:prstGeom>
          <a:noFill/>
          <a:ln cap="flat" cmpd="sng" w="28575">
            <a:solidFill>
              <a:schemeClr val="accent1"/>
            </a:solidFill>
            <a:prstDash val="solid"/>
            <a:miter lim="800000"/>
            <a:headEnd len="sm" w="sm" type="none"/>
            <a:tailEnd len="sm" w="sm" type="none"/>
          </a:ln>
        </p:spPr>
      </p:cxnSp>
      <p:sp>
        <p:nvSpPr>
          <p:cNvPr id="678" name="Google Shape;678;p23"/>
          <p:cNvSpPr txBox="1"/>
          <p:nvPr/>
        </p:nvSpPr>
        <p:spPr>
          <a:xfrm>
            <a:off x="1238250" y="4000500"/>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A</a:t>
            </a:r>
            <a:endParaRPr sz="2000">
              <a:solidFill>
                <a:schemeClr val="dk1"/>
              </a:solidFill>
              <a:latin typeface="Roboto Condensed"/>
              <a:ea typeface="Roboto Condensed"/>
              <a:cs typeface="Roboto Condensed"/>
              <a:sym typeface="Roboto Condensed"/>
            </a:endParaRPr>
          </a:p>
        </p:txBody>
      </p:sp>
      <p:sp>
        <p:nvSpPr>
          <p:cNvPr id="679" name="Google Shape;679;p23"/>
          <p:cNvSpPr txBox="1"/>
          <p:nvPr/>
        </p:nvSpPr>
        <p:spPr>
          <a:xfrm>
            <a:off x="3067050" y="4012167"/>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B</a:t>
            </a:r>
            <a:endParaRPr sz="2000">
              <a:solidFill>
                <a:schemeClr val="dk1"/>
              </a:solidFill>
              <a:latin typeface="Roboto Condensed"/>
              <a:ea typeface="Roboto Condensed"/>
              <a:cs typeface="Roboto Condensed"/>
              <a:sym typeface="Roboto Condensed"/>
            </a:endParaRPr>
          </a:p>
        </p:txBody>
      </p:sp>
      <p:sp>
        <p:nvSpPr>
          <p:cNvPr id="680" name="Google Shape;680;p23"/>
          <p:cNvSpPr/>
          <p:nvPr/>
        </p:nvSpPr>
        <p:spPr>
          <a:xfrm>
            <a:off x="6307720" y="2171700"/>
            <a:ext cx="12954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cxnSp>
        <p:nvCxnSpPr>
          <p:cNvPr id="681" name="Google Shape;681;p23"/>
          <p:cNvCxnSpPr/>
          <p:nvPr/>
        </p:nvCxnSpPr>
        <p:spPr>
          <a:xfrm>
            <a:off x="2152650" y="3390900"/>
            <a:ext cx="1219200" cy="0"/>
          </a:xfrm>
          <a:prstGeom prst="straightConnector1">
            <a:avLst/>
          </a:prstGeom>
          <a:noFill/>
          <a:ln cap="flat" cmpd="sng" w="28575">
            <a:solidFill>
              <a:schemeClr val="accent1"/>
            </a:solidFill>
            <a:prstDash val="solid"/>
            <a:miter lim="800000"/>
            <a:headEnd len="sm" w="sm" type="none"/>
            <a:tailEnd len="sm" w="sm" type="none"/>
          </a:ln>
        </p:spPr>
      </p:cxnSp>
      <p:sp>
        <p:nvSpPr>
          <p:cNvPr id="682" name="Google Shape;682;p23"/>
          <p:cNvSpPr/>
          <p:nvPr/>
        </p:nvSpPr>
        <p:spPr>
          <a:xfrm>
            <a:off x="10346320" y="2171700"/>
            <a:ext cx="685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sp>
        <p:nvSpPr>
          <p:cNvPr id="683" name="Google Shape;683;p23"/>
          <p:cNvSpPr/>
          <p:nvPr/>
        </p:nvSpPr>
        <p:spPr>
          <a:xfrm>
            <a:off x="7988131" y="2095500"/>
            <a:ext cx="1977189" cy="6096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borrow</a:t>
            </a:r>
            <a:endParaRPr sz="1800">
              <a:solidFill>
                <a:schemeClr val="dk1"/>
              </a:solidFill>
              <a:latin typeface="Roboto Condensed"/>
              <a:ea typeface="Roboto Condensed"/>
              <a:cs typeface="Roboto Condensed"/>
              <a:sym typeface="Roboto Condensed"/>
            </a:endParaRPr>
          </a:p>
        </p:txBody>
      </p:sp>
      <p:sp>
        <p:nvSpPr>
          <p:cNvPr id="684" name="Google Shape;684;p23"/>
          <p:cNvSpPr/>
          <p:nvPr/>
        </p:nvSpPr>
        <p:spPr>
          <a:xfrm>
            <a:off x="71459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C1</a:t>
            </a:r>
            <a:endParaRPr sz="1800">
              <a:solidFill>
                <a:schemeClr val="dk1"/>
              </a:solidFill>
              <a:latin typeface="Roboto Condensed"/>
              <a:ea typeface="Roboto Condensed"/>
              <a:cs typeface="Roboto Condensed"/>
              <a:sym typeface="Roboto Condensed"/>
            </a:endParaRPr>
          </a:p>
        </p:txBody>
      </p:sp>
      <p:sp>
        <p:nvSpPr>
          <p:cNvPr id="685" name="Google Shape;685;p23"/>
          <p:cNvSpPr/>
          <p:nvPr/>
        </p:nvSpPr>
        <p:spPr>
          <a:xfrm>
            <a:off x="71459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C2</a:t>
            </a:r>
            <a:endParaRPr sz="1800">
              <a:solidFill>
                <a:schemeClr val="dk1"/>
              </a:solidFill>
              <a:latin typeface="Roboto Condensed"/>
              <a:ea typeface="Roboto Condensed"/>
              <a:cs typeface="Roboto Condensed"/>
              <a:sym typeface="Roboto Condensed"/>
            </a:endParaRPr>
          </a:p>
        </p:txBody>
      </p:sp>
      <p:sp>
        <p:nvSpPr>
          <p:cNvPr id="686" name="Google Shape;686;p23"/>
          <p:cNvSpPr/>
          <p:nvPr/>
        </p:nvSpPr>
        <p:spPr>
          <a:xfrm>
            <a:off x="103463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L1</a:t>
            </a:r>
            <a:endParaRPr sz="1800">
              <a:solidFill>
                <a:schemeClr val="dk1"/>
              </a:solidFill>
              <a:latin typeface="Roboto Condensed"/>
              <a:ea typeface="Roboto Condensed"/>
              <a:cs typeface="Roboto Condensed"/>
              <a:sym typeface="Roboto Condensed"/>
            </a:endParaRPr>
          </a:p>
        </p:txBody>
      </p:sp>
      <p:sp>
        <p:nvSpPr>
          <p:cNvPr id="687" name="Google Shape;687;p23"/>
          <p:cNvSpPr/>
          <p:nvPr/>
        </p:nvSpPr>
        <p:spPr>
          <a:xfrm>
            <a:off x="103463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L2</a:t>
            </a:r>
            <a:endParaRPr sz="1800">
              <a:solidFill>
                <a:schemeClr val="dk1"/>
              </a:solidFill>
              <a:latin typeface="Roboto Condensed"/>
              <a:ea typeface="Roboto Condensed"/>
              <a:cs typeface="Roboto Condensed"/>
              <a:sym typeface="Roboto Condensed"/>
            </a:endParaRPr>
          </a:p>
        </p:txBody>
      </p:sp>
      <p:sp>
        <p:nvSpPr>
          <p:cNvPr id="688" name="Google Shape;688;p23"/>
          <p:cNvSpPr/>
          <p:nvPr/>
        </p:nvSpPr>
        <p:spPr>
          <a:xfrm>
            <a:off x="71459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C3</a:t>
            </a:r>
            <a:endParaRPr sz="1800">
              <a:solidFill>
                <a:schemeClr val="dk1"/>
              </a:solidFill>
              <a:latin typeface="Roboto Condensed"/>
              <a:ea typeface="Roboto Condensed"/>
              <a:cs typeface="Roboto Condensed"/>
              <a:sym typeface="Roboto Condensed"/>
            </a:endParaRPr>
          </a:p>
        </p:txBody>
      </p:sp>
      <p:sp>
        <p:nvSpPr>
          <p:cNvPr id="689" name="Google Shape;689;p23"/>
          <p:cNvSpPr/>
          <p:nvPr/>
        </p:nvSpPr>
        <p:spPr>
          <a:xfrm>
            <a:off x="103463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L3</a:t>
            </a:r>
            <a:endParaRPr sz="1800">
              <a:solidFill>
                <a:schemeClr val="dk1"/>
              </a:solidFill>
              <a:latin typeface="Roboto Condensed"/>
              <a:ea typeface="Roboto Condensed"/>
              <a:cs typeface="Roboto Condensed"/>
              <a:sym typeface="Roboto Condensed"/>
            </a:endParaRPr>
          </a:p>
        </p:txBody>
      </p:sp>
      <p:cxnSp>
        <p:nvCxnSpPr>
          <p:cNvPr id="690" name="Google Shape;690;p23"/>
          <p:cNvCxnSpPr>
            <a:stCxn id="684" idx="3"/>
            <a:endCxn id="686" idx="1"/>
          </p:cNvCxnSpPr>
          <p:nvPr/>
        </p:nvCxnSpPr>
        <p:spPr>
          <a:xfrm>
            <a:off x="7577920" y="2979300"/>
            <a:ext cx="2768400" cy="0"/>
          </a:xfrm>
          <a:prstGeom prst="straightConnector1">
            <a:avLst/>
          </a:prstGeom>
          <a:noFill/>
          <a:ln cap="flat" cmpd="sng" w="28575">
            <a:solidFill>
              <a:schemeClr val="accent1"/>
            </a:solidFill>
            <a:prstDash val="solid"/>
            <a:miter lim="800000"/>
            <a:headEnd len="sm" w="sm" type="none"/>
            <a:tailEnd len="sm" w="sm" type="none"/>
          </a:ln>
        </p:spPr>
      </p:cxnSp>
      <p:cxnSp>
        <p:nvCxnSpPr>
          <p:cNvPr id="691" name="Google Shape;691;p23"/>
          <p:cNvCxnSpPr>
            <a:stCxn id="685" idx="3"/>
            <a:endCxn id="687" idx="1"/>
          </p:cNvCxnSpPr>
          <p:nvPr/>
        </p:nvCxnSpPr>
        <p:spPr>
          <a:xfrm>
            <a:off x="7577920" y="3512700"/>
            <a:ext cx="2768400" cy="0"/>
          </a:xfrm>
          <a:prstGeom prst="straightConnector1">
            <a:avLst/>
          </a:prstGeom>
          <a:noFill/>
          <a:ln cap="flat" cmpd="sng" w="28575">
            <a:solidFill>
              <a:schemeClr val="accent1"/>
            </a:solidFill>
            <a:prstDash val="solid"/>
            <a:miter lim="800000"/>
            <a:headEnd len="sm" w="sm" type="none"/>
            <a:tailEnd len="sm" w="sm" type="none"/>
          </a:ln>
        </p:spPr>
      </p:cxnSp>
      <p:cxnSp>
        <p:nvCxnSpPr>
          <p:cNvPr id="692" name="Google Shape;692;p23"/>
          <p:cNvCxnSpPr>
            <a:stCxn id="688" idx="3"/>
            <a:endCxn id="689" idx="1"/>
          </p:cNvCxnSpPr>
          <p:nvPr/>
        </p:nvCxnSpPr>
        <p:spPr>
          <a:xfrm>
            <a:off x="7577920" y="4046100"/>
            <a:ext cx="2768400" cy="0"/>
          </a:xfrm>
          <a:prstGeom prst="straightConnector1">
            <a:avLst/>
          </a:prstGeom>
          <a:noFill/>
          <a:ln cap="flat" cmpd="sng" w="28575">
            <a:solidFill>
              <a:schemeClr val="accent1"/>
            </a:solidFill>
            <a:prstDash val="solid"/>
            <a:miter lim="800000"/>
            <a:headEnd len="sm" w="sm" type="none"/>
            <a:tailEnd len="sm" w="sm" type="none"/>
          </a:ln>
        </p:spPr>
      </p:cxnSp>
      <p:cxnSp>
        <p:nvCxnSpPr>
          <p:cNvPr id="693" name="Google Shape;693;p23"/>
          <p:cNvCxnSpPr/>
          <p:nvPr/>
        </p:nvCxnSpPr>
        <p:spPr>
          <a:xfrm rot="10800000">
            <a:off x="7603120" y="2400300"/>
            <a:ext cx="384048" cy="0"/>
          </a:xfrm>
          <a:prstGeom prst="straightConnector1">
            <a:avLst/>
          </a:prstGeom>
          <a:noFill/>
          <a:ln cap="flat" cmpd="sng" w="28575">
            <a:solidFill>
              <a:schemeClr val="accent4"/>
            </a:solidFill>
            <a:prstDash val="solid"/>
            <a:miter lim="800000"/>
            <a:headEnd len="sm" w="sm" type="none"/>
            <a:tailEnd len="med" w="med" type="triangle"/>
          </a:ln>
        </p:spPr>
      </p:cxnSp>
      <p:cxnSp>
        <p:nvCxnSpPr>
          <p:cNvPr id="694" name="Google Shape;694;p23"/>
          <p:cNvCxnSpPr/>
          <p:nvPr/>
        </p:nvCxnSpPr>
        <p:spPr>
          <a:xfrm>
            <a:off x="9965320" y="2400300"/>
            <a:ext cx="381000" cy="0"/>
          </a:xfrm>
          <a:prstGeom prst="straightConnector1">
            <a:avLst/>
          </a:prstGeom>
          <a:noFill/>
          <a:ln cap="flat" cmpd="sng" w="28575">
            <a:solidFill>
              <a:schemeClr val="accent4"/>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0" st="0"/>
                                            </p:txEl>
                                          </p:spTgt>
                                        </p:tgtEl>
                                        <p:attrNameLst>
                                          <p:attrName>style.visibility</p:attrName>
                                        </p:attrNameLst>
                                      </p:cBhvr>
                                      <p:to>
                                        <p:strVal val="visible"/>
                                      </p:to>
                                    </p:set>
                                    <p:animEffect filter="fade" transition="in">
                                      <p:cBhvr>
                                        <p:cTn dur="500"/>
                                        <p:tgtEl>
                                          <p:spTgt spid="6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1" st="1"/>
                                            </p:txEl>
                                          </p:spTgt>
                                        </p:tgtEl>
                                        <p:attrNameLst>
                                          <p:attrName>style.visibility</p:attrName>
                                        </p:attrNameLst>
                                      </p:cBhvr>
                                      <p:to>
                                        <p:strVal val="visible"/>
                                      </p:to>
                                    </p:set>
                                    <p:animEffect filter="fade" transition="in">
                                      <p:cBhvr>
                                        <p:cTn dur="500"/>
                                        <p:tgtEl>
                                          <p:spTgt spid="6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2" st="2"/>
                                            </p:txEl>
                                          </p:spTgt>
                                        </p:tgtEl>
                                        <p:attrNameLst>
                                          <p:attrName>style.visibility</p:attrName>
                                        </p:attrNameLst>
                                      </p:cBhvr>
                                      <p:to>
                                        <p:strVal val="visible"/>
                                      </p:to>
                                    </p:set>
                                    <p:animEffect filter="fade" transition="in">
                                      <p:cBhvr>
                                        <p:cTn dur="500"/>
                                        <p:tgtEl>
                                          <p:spTgt spid="6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3" st="3"/>
                                            </p:txEl>
                                          </p:spTgt>
                                        </p:tgtEl>
                                        <p:attrNameLst>
                                          <p:attrName>style.visibility</p:attrName>
                                        </p:attrNameLst>
                                      </p:cBhvr>
                                      <p:to>
                                        <p:strVal val="visible"/>
                                      </p:to>
                                    </p:set>
                                    <p:animEffect filter="fade" transition="in">
                                      <p:cBhvr>
                                        <p:cTn dur="500"/>
                                        <p:tgtEl>
                                          <p:spTgt spid="6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4" st="4"/>
                                            </p:txEl>
                                          </p:spTgt>
                                        </p:tgtEl>
                                        <p:attrNameLst>
                                          <p:attrName>style.visibility</p:attrName>
                                        </p:attrNameLst>
                                      </p:cBhvr>
                                      <p:to>
                                        <p:strVal val="visible"/>
                                      </p:to>
                                    </p:set>
                                    <p:animEffect filter="fade" transition="in">
                                      <p:cBhvr>
                                        <p:cTn dur="500"/>
                                        <p:tgtEl>
                                          <p:spTgt spid="6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5" st="5"/>
                                            </p:txEl>
                                          </p:spTgt>
                                        </p:tgtEl>
                                        <p:attrNameLst>
                                          <p:attrName>style.visibility</p:attrName>
                                        </p:attrNameLst>
                                      </p:cBhvr>
                                      <p:to>
                                        <p:strVal val="visible"/>
                                      </p:to>
                                    </p:set>
                                    <p:animEffect filter="fade" transition="in">
                                      <p:cBhvr>
                                        <p:cTn dur="500"/>
                                        <p:tgtEl>
                                          <p:spTgt spid="6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6" st="6"/>
                                            </p:txEl>
                                          </p:spTgt>
                                        </p:tgtEl>
                                        <p:attrNameLst>
                                          <p:attrName>style.visibility</p:attrName>
                                        </p:attrNameLst>
                                      </p:cBhvr>
                                      <p:to>
                                        <p:strVal val="visible"/>
                                      </p:to>
                                    </p:set>
                                    <p:animEffect filter="fade" transition="in">
                                      <p:cBhvr>
                                        <p:cTn dur="500"/>
                                        <p:tgtEl>
                                          <p:spTgt spid="6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7" st="7"/>
                                            </p:txEl>
                                          </p:spTgt>
                                        </p:tgtEl>
                                        <p:attrNameLst>
                                          <p:attrName>style.visibility</p:attrName>
                                        </p:attrNameLst>
                                      </p:cBhvr>
                                      <p:to>
                                        <p:strVal val="visible"/>
                                      </p:to>
                                    </p:set>
                                    <p:animEffect filter="fade" transition="in">
                                      <p:cBhvr>
                                        <p:cTn dur="500"/>
                                        <p:tgtEl>
                                          <p:spTgt spid="67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8" st="8"/>
                                            </p:txEl>
                                          </p:spTgt>
                                        </p:tgtEl>
                                        <p:attrNameLst>
                                          <p:attrName>style.visibility</p:attrName>
                                        </p:attrNameLst>
                                      </p:cBhvr>
                                      <p:to>
                                        <p:strVal val="visible"/>
                                      </p:to>
                                    </p:set>
                                    <p:animEffect filter="fade" transition="in">
                                      <p:cBhvr>
                                        <p:cTn dur="500"/>
                                        <p:tgtEl>
                                          <p:spTgt spid="670">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500"/>
                                        <p:tgtEl>
                                          <p:spTgt spid="671"/>
                                        </p:tgtEl>
                                      </p:cBhvr>
                                    </p:animEffect>
                                  </p:childTnLst>
                                </p:cTn>
                              </p:par>
                              <p:par>
                                <p:cTn fill="hold" nodeType="with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par>
                                <p:cTn fill="hold" nodeType="with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par>
                                <p:cTn fill="hold" nodeType="with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500"/>
                                        <p:tgtEl>
                                          <p:spTgt spid="675"/>
                                        </p:tgtEl>
                                      </p:cBhvr>
                                    </p:animEffect>
                                  </p:childTnLst>
                                </p:cTn>
                              </p:par>
                              <p:par>
                                <p:cTn fill="hold" nodeType="with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par>
                                <p:cTn fill="hold" nodeType="with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500"/>
                                        <p:tgtEl>
                                          <p:spTgt spid="678"/>
                                        </p:tgtEl>
                                      </p:cBhvr>
                                    </p:animEffect>
                                  </p:childTnLst>
                                </p:cTn>
                              </p:par>
                              <p:par>
                                <p:cTn fill="hold" nodeType="with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500"/>
                                        <p:tgtEl>
                                          <p:spTgt spid="680"/>
                                        </p:tgtEl>
                                      </p:cBhvr>
                                    </p:animEffect>
                                  </p:childTnLst>
                                </p:cTn>
                              </p:par>
                              <p:par>
                                <p:cTn fill="hold" nodeType="with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500"/>
                                        <p:tgtEl>
                                          <p:spTgt spid="683"/>
                                        </p:tgtEl>
                                      </p:cBhvr>
                                    </p:animEffect>
                                  </p:childTnLst>
                                </p:cTn>
                              </p:par>
                              <p:par>
                                <p:cTn fill="hold" nodeType="with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500"/>
                                        <p:tgtEl>
                                          <p:spTgt spid="684"/>
                                        </p:tgtEl>
                                      </p:cBhvr>
                                    </p:animEffect>
                                  </p:childTnLst>
                                </p:cTn>
                              </p:par>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par>
                                <p:cTn fill="hold" nodeType="with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par>
                                <p:cTn fill="hold" nodeType="with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par>
                                <p:cTn fill="hold" nodeType="with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24"/>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One-to-Many relationship (1 – N)</a:t>
            </a:r>
            <a:endParaRPr/>
          </a:p>
        </p:txBody>
      </p:sp>
      <p:sp>
        <p:nvSpPr>
          <p:cNvPr id="700" name="Google Shape;700;p24"/>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An entity in </a:t>
            </a:r>
            <a:r>
              <a:rPr b="1" lang="en-US">
                <a:solidFill>
                  <a:schemeClr val="accent6"/>
                </a:solidFill>
              </a:rPr>
              <a:t>A is associated with more than one entities in B </a:t>
            </a:r>
            <a:r>
              <a:rPr lang="en-US"/>
              <a:t>and an entity in </a:t>
            </a:r>
            <a:r>
              <a:rPr b="1" lang="en-US">
                <a:solidFill>
                  <a:schemeClr val="accent6"/>
                </a:solidFill>
              </a:rPr>
              <a:t>B is associated with only one entity in A</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Example: A </a:t>
            </a:r>
            <a:r>
              <a:rPr b="1" lang="en-US">
                <a:solidFill>
                  <a:schemeClr val="accent6"/>
                </a:solidFill>
              </a:rPr>
              <a:t>loan is connected with only one customer </a:t>
            </a:r>
            <a:r>
              <a:rPr lang="en-US"/>
              <a:t>using borrower and a </a:t>
            </a:r>
            <a:r>
              <a:rPr b="1" lang="en-US">
                <a:solidFill>
                  <a:schemeClr val="accent6"/>
                </a:solidFill>
              </a:rPr>
              <a:t>customer is connected with more than one loans using borrower</a:t>
            </a:r>
            <a:r>
              <a:rPr lang="en-US"/>
              <a:t>.</a:t>
            </a:r>
            <a:endParaRPr/>
          </a:p>
        </p:txBody>
      </p:sp>
      <p:sp>
        <p:nvSpPr>
          <p:cNvPr id="701" name="Google Shape;701;p24"/>
          <p:cNvSpPr/>
          <p:nvPr/>
        </p:nvSpPr>
        <p:spPr>
          <a:xfrm>
            <a:off x="12382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702" name="Google Shape;702;p24"/>
          <p:cNvSpPr/>
          <p:nvPr/>
        </p:nvSpPr>
        <p:spPr>
          <a:xfrm>
            <a:off x="15430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A1</a:t>
            </a:r>
            <a:endParaRPr sz="1800">
              <a:solidFill>
                <a:schemeClr val="dk1"/>
              </a:solidFill>
              <a:latin typeface="Roboto Condensed"/>
              <a:ea typeface="Roboto Condensed"/>
              <a:cs typeface="Roboto Condensed"/>
              <a:sym typeface="Roboto Condensed"/>
            </a:endParaRPr>
          </a:p>
        </p:txBody>
      </p:sp>
      <p:sp>
        <p:nvSpPr>
          <p:cNvPr id="703" name="Google Shape;703;p24"/>
          <p:cNvSpPr/>
          <p:nvPr/>
        </p:nvSpPr>
        <p:spPr>
          <a:xfrm>
            <a:off x="15430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A2</a:t>
            </a:r>
            <a:endParaRPr sz="1800">
              <a:solidFill>
                <a:schemeClr val="dk1"/>
              </a:solidFill>
              <a:latin typeface="Roboto Condensed"/>
              <a:ea typeface="Roboto Condensed"/>
              <a:cs typeface="Roboto Condensed"/>
              <a:sym typeface="Roboto Condensed"/>
            </a:endParaRPr>
          </a:p>
        </p:txBody>
      </p:sp>
      <p:sp>
        <p:nvSpPr>
          <p:cNvPr id="704" name="Google Shape;704;p24"/>
          <p:cNvSpPr/>
          <p:nvPr/>
        </p:nvSpPr>
        <p:spPr>
          <a:xfrm>
            <a:off x="30670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705" name="Google Shape;705;p24"/>
          <p:cNvSpPr/>
          <p:nvPr/>
        </p:nvSpPr>
        <p:spPr>
          <a:xfrm>
            <a:off x="33718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B1</a:t>
            </a:r>
            <a:endParaRPr sz="1800">
              <a:solidFill>
                <a:schemeClr val="dk1"/>
              </a:solidFill>
              <a:latin typeface="Roboto Condensed"/>
              <a:ea typeface="Roboto Condensed"/>
              <a:cs typeface="Roboto Condensed"/>
              <a:sym typeface="Roboto Condensed"/>
            </a:endParaRPr>
          </a:p>
        </p:txBody>
      </p:sp>
      <p:sp>
        <p:nvSpPr>
          <p:cNvPr id="706" name="Google Shape;706;p24"/>
          <p:cNvSpPr/>
          <p:nvPr/>
        </p:nvSpPr>
        <p:spPr>
          <a:xfrm>
            <a:off x="33718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B2</a:t>
            </a:r>
            <a:endParaRPr sz="1800">
              <a:solidFill>
                <a:schemeClr val="dk1"/>
              </a:solidFill>
              <a:latin typeface="Roboto Condensed"/>
              <a:ea typeface="Roboto Condensed"/>
              <a:cs typeface="Roboto Condensed"/>
              <a:sym typeface="Roboto Condensed"/>
            </a:endParaRPr>
          </a:p>
        </p:txBody>
      </p:sp>
      <p:cxnSp>
        <p:nvCxnSpPr>
          <p:cNvPr id="707" name="Google Shape;707;p24"/>
          <p:cNvCxnSpPr>
            <a:stCxn id="702" idx="3"/>
            <a:endCxn id="705" idx="1"/>
          </p:cNvCxnSpPr>
          <p:nvPr/>
        </p:nvCxnSpPr>
        <p:spPr>
          <a:xfrm>
            <a:off x="2152650" y="2628900"/>
            <a:ext cx="1219200" cy="0"/>
          </a:xfrm>
          <a:prstGeom prst="straightConnector1">
            <a:avLst/>
          </a:prstGeom>
          <a:noFill/>
          <a:ln cap="flat" cmpd="sng" w="28575">
            <a:solidFill>
              <a:schemeClr val="accent1"/>
            </a:solidFill>
            <a:prstDash val="solid"/>
            <a:miter lim="800000"/>
            <a:headEnd len="sm" w="sm" type="none"/>
            <a:tailEnd len="sm" w="sm" type="none"/>
          </a:ln>
        </p:spPr>
      </p:cxnSp>
      <p:sp>
        <p:nvSpPr>
          <p:cNvPr id="708" name="Google Shape;708;p24"/>
          <p:cNvSpPr txBox="1"/>
          <p:nvPr/>
        </p:nvSpPr>
        <p:spPr>
          <a:xfrm>
            <a:off x="1238250" y="4000500"/>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A</a:t>
            </a:r>
            <a:endParaRPr sz="2000">
              <a:solidFill>
                <a:schemeClr val="dk1"/>
              </a:solidFill>
              <a:latin typeface="Roboto Condensed"/>
              <a:ea typeface="Roboto Condensed"/>
              <a:cs typeface="Roboto Condensed"/>
              <a:sym typeface="Roboto Condensed"/>
            </a:endParaRPr>
          </a:p>
        </p:txBody>
      </p:sp>
      <p:sp>
        <p:nvSpPr>
          <p:cNvPr id="709" name="Google Shape;709;p24"/>
          <p:cNvSpPr txBox="1"/>
          <p:nvPr/>
        </p:nvSpPr>
        <p:spPr>
          <a:xfrm>
            <a:off x="3067050" y="4012167"/>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B</a:t>
            </a:r>
            <a:endParaRPr sz="2000">
              <a:solidFill>
                <a:schemeClr val="dk1"/>
              </a:solidFill>
              <a:latin typeface="Roboto Condensed"/>
              <a:ea typeface="Roboto Condensed"/>
              <a:cs typeface="Roboto Condensed"/>
              <a:sym typeface="Roboto Condensed"/>
            </a:endParaRPr>
          </a:p>
        </p:txBody>
      </p:sp>
      <p:sp>
        <p:nvSpPr>
          <p:cNvPr id="710" name="Google Shape;710;p24"/>
          <p:cNvSpPr/>
          <p:nvPr/>
        </p:nvSpPr>
        <p:spPr>
          <a:xfrm>
            <a:off x="6307720" y="2171700"/>
            <a:ext cx="12954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cxnSp>
        <p:nvCxnSpPr>
          <p:cNvPr id="711" name="Google Shape;711;p24"/>
          <p:cNvCxnSpPr>
            <a:stCxn id="702" idx="3"/>
          </p:cNvCxnSpPr>
          <p:nvPr/>
        </p:nvCxnSpPr>
        <p:spPr>
          <a:xfrm>
            <a:off x="2152650" y="2628900"/>
            <a:ext cx="1219200" cy="762000"/>
          </a:xfrm>
          <a:prstGeom prst="straightConnector1">
            <a:avLst/>
          </a:prstGeom>
          <a:noFill/>
          <a:ln cap="flat" cmpd="sng" w="28575">
            <a:solidFill>
              <a:schemeClr val="accent1"/>
            </a:solidFill>
            <a:prstDash val="solid"/>
            <a:miter lim="800000"/>
            <a:headEnd len="sm" w="sm" type="none"/>
            <a:tailEnd len="sm" w="sm" type="none"/>
          </a:ln>
        </p:spPr>
      </p:cxnSp>
      <p:sp>
        <p:nvSpPr>
          <p:cNvPr id="712" name="Google Shape;712;p24"/>
          <p:cNvSpPr/>
          <p:nvPr/>
        </p:nvSpPr>
        <p:spPr>
          <a:xfrm>
            <a:off x="10346320" y="2171700"/>
            <a:ext cx="685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sp>
        <p:nvSpPr>
          <p:cNvPr id="713" name="Google Shape;713;p24"/>
          <p:cNvSpPr/>
          <p:nvPr/>
        </p:nvSpPr>
        <p:spPr>
          <a:xfrm>
            <a:off x="7988131" y="2095500"/>
            <a:ext cx="1977189" cy="6096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borrow</a:t>
            </a:r>
            <a:endParaRPr sz="1800">
              <a:solidFill>
                <a:schemeClr val="dk1"/>
              </a:solidFill>
              <a:latin typeface="Roboto Condensed"/>
              <a:ea typeface="Roboto Condensed"/>
              <a:cs typeface="Roboto Condensed"/>
              <a:sym typeface="Roboto Condensed"/>
            </a:endParaRPr>
          </a:p>
        </p:txBody>
      </p:sp>
      <p:sp>
        <p:nvSpPr>
          <p:cNvPr id="714" name="Google Shape;714;p24"/>
          <p:cNvSpPr/>
          <p:nvPr/>
        </p:nvSpPr>
        <p:spPr>
          <a:xfrm>
            <a:off x="71459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C1</a:t>
            </a:r>
            <a:endParaRPr sz="1800">
              <a:solidFill>
                <a:schemeClr val="dk1"/>
              </a:solidFill>
              <a:latin typeface="Roboto Condensed"/>
              <a:ea typeface="Roboto Condensed"/>
              <a:cs typeface="Roboto Condensed"/>
              <a:sym typeface="Roboto Condensed"/>
            </a:endParaRPr>
          </a:p>
        </p:txBody>
      </p:sp>
      <p:sp>
        <p:nvSpPr>
          <p:cNvPr id="715" name="Google Shape;715;p24"/>
          <p:cNvSpPr/>
          <p:nvPr/>
        </p:nvSpPr>
        <p:spPr>
          <a:xfrm>
            <a:off x="71459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C2</a:t>
            </a:r>
            <a:endParaRPr sz="1800">
              <a:solidFill>
                <a:schemeClr val="dk1"/>
              </a:solidFill>
              <a:latin typeface="Roboto Condensed"/>
              <a:ea typeface="Roboto Condensed"/>
              <a:cs typeface="Roboto Condensed"/>
              <a:sym typeface="Roboto Condensed"/>
            </a:endParaRPr>
          </a:p>
        </p:txBody>
      </p:sp>
      <p:sp>
        <p:nvSpPr>
          <p:cNvPr id="716" name="Google Shape;716;p24"/>
          <p:cNvSpPr/>
          <p:nvPr/>
        </p:nvSpPr>
        <p:spPr>
          <a:xfrm>
            <a:off x="103463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L1</a:t>
            </a:r>
            <a:endParaRPr sz="1800">
              <a:solidFill>
                <a:schemeClr val="dk1"/>
              </a:solidFill>
              <a:latin typeface="Roboto Condensed"/>
              <a:ea typeface="Roboto Condensed"/>
              <a:cs typeface="Roboto Condensed"/>
              <a:sym typeface="Roboto Condensed"/>
            </a:endParaRPr>
          </a:p>
        </p:txBody>
      </p:sp>
      <p:sp>
        <p:nvSpPr>
          <p:cNvPr id="717" name="Google Shape;717;p24"/>
          <p:cNvSpPr/>
          <p:nvPr/>
        </p:nvSpPr>
        <p:spPr>
          <a:xfrm>
            <a:off x="103463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L2</a:t>
            </a:r>
            <a:endParaRPr sz="1800">
              <a:solidFill>
                <a:schemeClr val="dk1"/>
              </a:solidFill>
              <a:latin typeface="Roboto Condensed"/>
              <a:ea typeface="Roboto Condensed"/>
              <a:cs typeface="Roboto Condensed"/>
              <a:sym typeface="Roboto Condensed"/>
            </a:endParaRPr>
          </a:p>
        </p:txBody>
      </p:sp>
      <p:sp>
        <p:nvSpPr>
          <p:cNvPr id="718" name="Google Shape;718;p24"/>
          <p:cNvSpPr/>
          <p:nvPr/>
        </p:nvSpPr>
        <p:spPr>
          <a:xfrm>
            <a:off x="71459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C3</a:t>
            </a:r>
            <a:endParaRPr sz="1800">
              <a:solidFill>
                <a:schemeClr val="dk1"/>
              </a:solidFill>
              <a:latin typeface="Roboto Condensed"/>
              <a:ea typeface="Roboto Condensed"/>
              <a:cs typeface="Roboto Condensed"/>
              <a:sym typeface="Roboto Condensed"/>
            </a:endParaRPr>
          </a:p>
        </p:txBody>
      </p:sp>
      <p:sp>
        <p:nvSpPr>
          <p:cNvPr id="719" name="Google Shape;719;p24"/>
          <p:cNvSpPr/>
          <p:nvPr/>
        </p:nvSpPr>
        <p:spPr>
          <a:xfrm>
            <a:off x="103463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L3</a:t>
            </a:r>
            <a:endParaRPr sz="1800">
              <a:solidFill>
                <a:schemeClr val="dk1"/>
              </a:solidFill>
              <a:latin typeface="Roboto Condensed"/>
              <a:ea typeface="Roboto Condensed"/>
              <a:cs typeface="Roboto Condensed"/>
              <a:sym typeface="Roboto Condensed"/>
            </a:endParaRPr>
          </a:p>
        </p:txBody>
      </p:sp>
      <p:cxnSp>
        <p:nvCxnSpPr>
          <p:cNvPr id="720" name="Google Shape;720;p24"/>
          <p:cNvCxnSpPr>
            <a:stCxn id="714" idx="3"/>
            <a:endCxn id="716" idx="1"/>
          </p:cNvCxnSpPr>
          <p:nvPr/>
        </p:nvCxnSpPr>
        <p:spPr>
          <a:xfrm>
            <a:off x="7577920" y="2979300"/>
            <a:ext cx="2768400" cy="0"/>
          </a:xfrm>
          <a:prstGeom prst="straightConnector1">
            <a:avLst/>
          </a:prstGeom>
          <a:noFill/>
          <a:ln cap="flat" cmpd="sng" w="28575">
            <a:solidFill>
              <a:schemeClr val="accent1"/>
            </a:solidFill>
            <a:prstDash val="solid"/>
            <a:miter lim="800000"/>
            <a:headEnd len="sm" w="sm" type="none"/>
            <a:tailEnd len="sm" w="sm" type="none"/>
          </a:ln>
        </p:spPr>
      </p:cxnSp>
      <p:cxnSp>
        <p:nvCxnSpPr>
          <p:cNvPr id="721" name="Google Shape;721;p24"/>
          <p:cNvCxnSpPr>
            <a:stCxn id="714" idx="3"/>
            <a:endCxn id="717" idx="1"/>
          </p:cNvCxnSpPr>
          <p:nvPr/>
        </p:nvCxnSpPr>
        <p:spPr>
          <a:xfrm>
            <a:off x="7577920" y="2979300"/>
            <a:ext cx="2768400" cy="533400"/>
          </a:xfrm>
          <a:prstGeom prst="straightConnector1">
            <a:avLst/>
          </a:prstGeom>
          <a:noFill/>
          <a:ln cap="flat" cmpd="sng" w="28575">
            <a:solidFill>
              <a:schemeClr val="accent1"/>
            </a:solidFill>
            <a:prstDash val="solid"/>
            <a:miter lim="800000"/>
            <a:headEnd len="sm" w="sm" type="none"/>
            <a:tailEnd len="sm" w="sm" type="none"/>
          </a:ln>
        </p:spPr>
      </p:cxnSp>
      <p:cxnSp>
        <p:nvCxnSpPr>
          <p:cNvPr id="722" name="Google Shape;722;p24"/>
          <p:cNvCxnSpPr>
            <a:stCxn id="715" idx="3"/>
            <a:endCxn id="719" idx="1"/>
          </p:cNvCxnSpPr>
          <p:nvPr/>
        </p:nvCxnSpPr>
        <p:spPr>
          <a:xfrm>
            <a:off x="7577920" y="3512700"/>
            <a:ext cx="2768400" cy="533400"/>
          </a:xfrm>
          <a:prstGeom prst="straightConnector1">
            <a:avLst/>
          </a:prstGeom>
          <a:noFill/>
          <a:ln cap="flat" cmpd="sng" w="28575">
            <a:solidFill>
              <a:schemeClr val="accent1"/>
            </a:solidFill>
            <a:prstDash val="solid"/>
            <a:miter lim="800000"/>
            <a:headEnd len="sm" w="sm" type="none"/>
            <a:tailEnd len="sm" w="sm" type="none"/>
          </a:ln>
        </p:spPr>
      </p:cxnSp>
      <p:cxnSp>
        <p:nvCxnSpPr>
          <p:cNvPr id="723" name="Google Shape;723;p24"/>
          <p:cNvCxnSpPr/>
          <p:nvPr/>
        </p:nvCxnSpPr>
        <p:spPr>
          <a:xfrm rot="10800000">
            <a:off x="7603120" y="2400300"/>
            <a:ext cx="384048" cy="0"/>
          </a:xfrm>
          <a:prstGeom prst="straightConnector1">
            <a:avLst/>
          </a:prstGeom>
          <a:noFill/>
          <a:ln cap="flat" cmpd="sng" w="28575">
            <a:solidFill>
              <a:schemeClr val="accent4"/>
            </a:solidFill>
            <a:prstDash val="solid"/>
            <a:miter lim="800000"/>
            <a:headEnd len="sm" w="sm" type="none"/>
            <a:tailEnd len="med" w="med" type="triangle"/>
          </a:ln>
        </p:spPr>
      </p:cxnSp>
      <p:sp>
        <p:nvSpPr>
          <p:cNvPr id="724" name="Google Shape;724;p24"/>
          <p:cNvSpPr/>
          <p:nvPr/>
        </p:nvSpPr>
        <p:spPr>
          <a:xfrm>
            <a:off x="10348490" y="43815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L4</a:t>
            </a:r>
            <a:endParaRPr sz="1800">
              <a:solidFill>
                <a:schemeClr val="dk1"/>
              </a:solidFill>
              <a:latin typeface="Roboto Condensed"/>
              <a:ea typeface="Roboto Condensed"/>
              <a:cs typeface="Roboto Condensed"/>
              <a:sym typeface="Roboto Condensed"/>
            </a:endParaRPr>
          </a:p>
        </p:txBody>
      </p:sp>
      <p:cxnSp>
        <p:nvCxnSpPr>
          <p:cNvPr id="725" name="Google Shape;725;p24"/>
          <p:cNvCxnSpPr>
            <a:stCxn id="715" idx="3"/>
            <a:endCxn id="724" idx="1"/>
          </p:cNvCxnSpPr>
          <p:nvPr/>
        </p:nvCxnSpPr>
        <p:spPr>
          <a:xfrm>
            <a:off x="7577920" y="3512700"/>
            <a:ext cx="2770500" cy="1066800"/>
          </a:xfrm>
          <a:prstGeom prst="straightConnector1">
            <a:avLst/>
          </a:prstGeom>
          <a:noFill/>
          <a:ln cap="flat" cmpd="sng" w="28575">
            <a:solidFill>
              <a:schemeClr val="accent1"/>
            </a:solidFill>
            <a:prstDash val="solid"/>
            <a:miter lim="800000"/>
            <a:headEnd len="sm" w="sm" type="none"/>
            <a:tailEnd len="sm" w="sm" type="none"/>
          </a:ln>
        </p:spPr>
      </p:cxnSp>
      <p:cxnSp>
        <p:nvCxnSpPr>
          <p:cNvPr id="726" name="Google Shape;726;p24"/>
          <p:cNvCxnSpPr/>
          <p:nvPr/>
        </p:nvCxnSpPr>
        <p:spPr>
          <a:xfrm>
            <a:off x="9944944" y="2400300"/>
            <a:ext cx="385011" cy="0"/>
          </a:xfrm>
          <a:prstGeom prst="straightConnector1">
            <a:avLst/>
          </a:prstGeom>
          <a:noFill/>
          <a:ln cap="flat" cmpd="sng" w="28575">
            <a:solidFill>
              <a:schemeClr val="accent4"/>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0" st="0"/>
                                            </p:txEl>
                                          </p:spTgt>
                                        </p:tgtEl>
                                        <p:attrNameLst>
                                          <p:attrName>style.visibility</p:attrName>
                                        </p:attrNameLst>
                                      </p:cBhvr>
                                      <p:to>
                                        <p:strVal val="visible"/>
                                      </p:to>
                                    </p:set>
                                    <p:animEffect filter="fade" transition="in">
                                      <p:cBhvr>
                                        <p:cTn dur="500"/>
                                        <p:tgtEl>
                                          <p:spTgt spid="7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1" st="1"/>
                                            </p:txEl>
                                          </p:spTgt>
                                        </p:tgtEl>
                                        <p:attrNameLst>
                                          <p:attrName>style.visibility</p:attrName>
                                        </p:attrNameLst>
                                      </p:cBhvr>
                                      <p:to>
                                        <p:strVal val="visible"/>
                                      </p:to>
                                    </p:set>
                                    <p:animEffect filter="fade" transition="in">
                                      <p:cBhvr>
                                        <p:cTn dur="500"/>
                                        <p:tgtEl>
                                          <p:spTgt spid="7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2" st="2"/>
                                            </p:txEl>
                                          </p:spTgt>
                                        </p:tgtEl>
                                        <p:attrNameLst>
                                          <p:attrName>style.visibility</p:attrName>
                                        </p:attrNameLst>
                                      </p:cBhvr>
                                      <p:to>
                                        <p:strVal val="visible"/>
                                      </p:to>
                                    </p:set>
                                    <p:animEffect filter="fade" transition="in">
                                      <p:cBhvr>
                                        <p:cTn dur="500"/>
                                        <p:tgtEl>
                                          <p:spTgt spid="7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3" st="3"/>
                                            </p:txEl>
                                          </p:spTgt>
                                        </p:tgtEl>
                                        <p:attrNameLst>
                                          <p:attrName>style.visibility</p:attrName>
                                        </p:attrNameLst>
                                      </p:cBhvr>
                                      <p:to>
                                        <p:strVal val="visible"/>
                                      </p:to>
                                    </p:set>
                                    <p:animEffect filter="fade" transition="in">
                                      <p:cBhvr>
                                        <p:cTn dur="500"/>
                                        <p:tgtEl>
                                          <p:spTgt spid="7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4" st="4"/>
                                            </p:txEl>
                                          </p:spTgt>
                                        </p:tgtEl>
                                        <p:attrNameLst>
                                          <p:attrName>style.visibility</p:attrName>
                                        </p:attrNameLst>
                                      </p:cBhvr>
                                      <p:to>
                                        <p:strVal val="visible"/>
                                      </p:to>
                                    </p:set>
                                    <p:animEffect filter="fade" transition="in">
                                      <p:cBhvr>
                                        <p:cTn dur="500"/>
                                        <p:tgtEl>
                                          <p:spTgt spid="7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5" st="5"/>
                                            </p:txEl>
                                          </p:spTgt>
                                        </p:tgtEl>
                                        <p:attrNameLst>
                                          <p:attrName>style.visibility</p:attrName>
                                        </p:attrNameLst>
                                      </p:cBhvr>
                                      <p:to>
                                        <p:strVal val="visible"/>
                                      </p:to>
                                    </p:set>
                                    <p:animEffect filter="fade" transition="in">
                                      <p:cBhvr>
                                        <p:cTn dur="500"/>
                                        <p:tgtEl>
                                          <p:spTgt spid="7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6" st="6"/>
                                            </p:txEl>
                                          </p:spTgt>
                                        </p:tgtEl>
                                        <p:attrNameLst>
                                          <p:attrName>style.visibility</p:attrName>
                                        </p:attrNameLst>
                                      </p:cBhvr>
                                      <p:to>
                                        <p:strVal val="visible"/>
                                      </p:to>
                                    </p:set>
                                    <p:animEffect filter="fade" transition="in">
                                      <p:cBhvr>
                                        <p:cTn dur="500"/>
                                        <p:tgtEl>
                                          <p:spTgt spid="7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7" st="7"/>
                                            </p:txEl>
                                          </p:spTgt>
                                        </p:tgtEl>
                                        <p:attrNameLst>
                                          <p:attrName>style.visibility</p:attrName>
                                        </p:attrNameLst>
                                      </p:cBhvr>
                                      <p:to>
                                        <p:strVal val="visible"/>
                                      </p:to>
                                    </p:set>
                                    <p:animEffect filter="fade" transition="in">
                                      <p:cBhvr>
                                        <p:cTn dur="500"/>
                                        <p:tgtEl>
                                          <p:spTgt spid="7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8" st="8"/>
                                            </p:txEl>
                                          </p:spTgt>
                                        </p:tgtEl>
                                        <p:attrNameLst>
                                          <p:attrName>style.visibility</p:attrName>
                                        </p:attrNameLst>
                                      </p:cBhvr>
                                      <p:to>
                                        <p:strVal val="visible"/>
                                      </p:to>
                                    </p:set>
                                    <p:animEffect filter="fade" transition="in">
                                      <p:cBhvr>
                                        <p:cTn dur="500"/>
                                        <p:tgtEl>
                                          <p:spTgt spid="7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xEl>
                                              <p:pRg end="9" st="9"/>
                                            </p:txEl>
                                          </p:spTgt>
                                        </p:tgtEl>
                                        <p:attrNameLst>
                                          <p:attrName>style.visibility</p:attrName>
                                        </p:attrNameLst>
                                      </p:cBhvr>
                                      <p:to>
                                        <p:strVal val="visible"/>
                                      </p:to>
                                    </p:set>
                                    <p:animEffect filter="fade" transition="in">
                                      <p:cBhvr>
                                        <p:cTn dur="500"/>
                                        <p:tgtEl>
                                          <p:spTgt spid="700">
                                            <p:txEl>
                                              <p:pRg end="9" st="9"/>
                                            </p:txEl>
                                          </p:spTgt>
                                        </p:tgtEl>
                                      </p:cBhvr>
                                    </p:animEffect>
                                  </p:childTnLst>
                                </p:cTn>
                              </p:par>
                              <p:par>
                                <p:cTn fill="hold" nodeType="with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500"/>
                                        <p:tgtEl>
                                          <p:spTgt spid="701"/>
                                        </p:tgtEl>
                                      </p:cBhvr>
                                    </p:animEffect>
                                  </p:childTnLst>
                                </p:cTn>
                              </p:par>
                              <p:par>
                                <p:cTn fill="hold" nodeType="with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500"/>
                                        <p:tgtEl>
                                          <p:spTgt spid="702"/>
                                        </p:tgtEl>
                                      </p:cBhvr>
                                    </p:animEffect>
                                  </p:childTnLst>
                                </p:cTn>
                              </p:par>
                              <p:par>
                                <p:cTn fill="hold" nodeType="with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par>
                                <p:cTn fill="hold" nodeType="with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500"/>
                                        <p:tgtEl>
                                          <p:spTgt spid="704"/>
                                        </p:tgtEl>
                                      </p:cBhvr>
                                    </p:animEffect>
                                  </p:childTnLst>
                                </p:cTn>
                              </p:par>
                              <p:par>
                                <p:cTn fill="hold" nodeType="with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par>
                                <p:cTn fill="hold" nodeType="with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500"/>
                                        <p:tgtEl>
                                          <p:spTgt spid="706"/>
                                        </p:tgtEl>
                                      </p:cBhvr>
                                    </p:animEffect>
                                  </p:childTnLst>
                                </p:cTn>
                              </p:par>
                              <p:par>
                                <p:cTn fill="hold" nodeType="with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500"/>
                                        <p:tgtEl>
                                          <p:spTgt spid="707"/>
                                        </p:tgtEl>
                                      </p:cBhvr>
                                    </p:animEffect>
                                  </p:childTnLst>
                                </p:cTn>
                              </p:par>
                              <p:par>
                                <p:cTn fill="hold" nodeType="with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500"/>
                                        <p:tgtEl>
                                          <p:spTgt spid="708"/>
                                        </p:tgtEl>
                                      </p:cBhvr>
                                    </p:animEffect>
                                  </p:childTnLst>
                                </p:cTn>
                              </p:par>
                              <p:par>
                                <p:cTn fill="hold" nodeType="with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500"/>
                                        <p:tgtEl>
                                          <p:spTgt spid="709"/>
                                        </p:tgtEl>
                                      </p:cBhvr>
                                    </p:animEffect>
                                  </p:childTnLst>
                                </p:cTn>
                              </p:par>
                              <p:par>
                                <p:cTn fill="hold" nodeType="with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par>
                                <p:cTn fill="hold" nodeType="with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500"/>
                                        <p:tgtEl>
                                          <p:spTgt spid="713"/>
                                        </p:tgtEl>
                                      </p:cBhvr>
                                    </p:animEffect>
                                  </p:childTnLst>
                                </p:cTn>
                              </p:par>
                              <p:par>
                                <p:cTn fill="hold" nodeType="with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500"/>
                                        <p:tgtEl>
                                          <p:spTgt spid="714"/>
                                        </p:tgtEl>
                                      </p:cBhvr>
                                    </p:animEffect>
                                  </p:childTnLst>
                                </p:cTn>
                              </p:par>
                              <p:par>
                                <p:cTn fill="hold" nodeType="with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500"/>
                                        <p:tgtEl>
                                          <p:spTgt spid="715"/>
                                        </p:tgtEl>
                                      </p:cBhvr>
                                    </p:animEffect>
                                  </p:childTnLst>
                                </p:cTn>
                              </p:par>
                              <p:par>
                                <p:cTn fill="hold" nodeType="with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500"/>
                                        <p:tgtEl>
                                          <p:spTgt spid="716"/>
                                        </p:tgtEl>
                                      </p:cBhvr>
                                    </p:animEffect>
                                  </p:childTnLst>
                                </p:cTn>
                              </p:par>
                              <p:par>
                                <p:cTn fill="hold" nodeType="with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500"/>
                                        <p:tgtEl>
                                          <p:spTgt spid="717"/>
                                        </p:tgtEl>
                                      </p:cBhvr>
                                    </p:animEffect>
                                  </p:childTnLst>
                                </p:cTn>
                              </p:par>
                              <p:par>
                                <p:cTn fill="hold" nodeType="withEffect" presetClass="entr" presetID="10" presetSubtype="0">
                                  <p:stCondLst>
                                    <p:cond delay="0"/>
                                  </p:stCondLst>
                                  <p:childTnLst>
                                    <p:set>
                                      <p:cBhvr>
                                        <p:cTn dur="1" fill="hold">
                                          <p:stCondLst>
                                            <p:cond delay="0"/>
                                          </p:stCondLst>
                                        </p:cTn>
                                        <p:tgtEl>
                                          <p:spTgt spid="718"/>
                                        </p:tgtEl>
                                        <p:attrNameLst>
                                          <p:attrName>style.visibility</p:attrName>
                                        </p:attrNameLst>
                                      </p:cBhvr>
                                      <p:to>
                                        <p:strVal val="visible"/>
                                      </p:to>
                                    </p:set>
                                    <p:animEffect filter="fade" transition="in">
                                      <p:cBhvr>
                                        <p:cTn dur="500"/>
                                        <p:tgtEl>
                                          <p:spTgt spid="718"/>
                                        </p:tgtEl>
                                      </p:cBhvr>
                                    </p:animEffect>
                                  </p:childTnLst>
                                </p:cTn>
                              </p:par>
                              <p:par>
                                <p:cTn fill="hold" nodeType="with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500"/>
                                        <p:tgtEl>
                                          <p:spTgt spid="719"/>
                                        </p:tgtEl>
                                      </p:cBhvr>
                                    </p:animEffect>
                                  </p:childTnLst>
                                </p:cTn>
                              </p:par>
                              <p:par>
                                <p:cTn fill="hold" nodeType="withEffect" presetClass="entr" presetID="10" presetSubtype="0">
                                  <p:stCondLst>
                                    <p:cond delay="0"/>
                                  </p:stCondLst>
                                  <p:childTnLst>
                                    <p:set>
                                      <p:cBhvr>
                                        <p:cTn dur="1" fill="hold">
                                          <p:stCondLst>
                                            <p:cond delay="0"/>
                                          </p:stCondLst>
                                        </p:cTn>
                                        <p:tgtEl>
                                          <p:spTgt spid="720"/>
                                        </p:tgtEl>
                                        <p:attrNameLst>
                                          <p:attrName>style.visibility</p:attrName>
                                        </p:attrNameLst>
                                      </p:cBhvr>
                                      <p:to>
                                        <p:strVal val="visible"/>
                                      </p:to>
                                    </p:set>
                                    <p:animEffect filter="fade" transition="in">
                                      <p:cBhvr>
                                        <p:cTn dur="500"/>
                                        <p:tgtEl>
                                          <p:spTgt spid="720"/>
                                        </p:tgtEl>
                                      </p:cBhvr>
                                    </p:animEffect>
                                  </p:childTnLst>
                                </p:cTn>
                              </p:par>
                              <p:par>
                                <p:cTn fill="hold" nodeType="with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500"/>
                                        <p:tgtEl>
                                          <p:spTgt spid="721"/>
                                        </p:tgtEl>
                                      </p:cBhvr>
                                    </p:animEffect>
                                  </p:childTnLst>
                                </p:cTn>
                              </p:par>
                              <p:par>
                                <p:cTn fill="hold" nodeType="with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par>
                                <p:cTn fill="hold" nodeType="with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500"/>
                                        <p:tgtEl>
                                          <p:spTgt spid="712"/>
                                        </p:tgtEl>
                                      </p:cBhvr>
                                    </p:animEffect>
                                  </p:childTnLst>
                                </p:cTn>
                              </p:par>
                              <p:par>
                                <p:cTn fill="hold" nodeType="with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500"/>
                                        <p:tgtEl>
                                          <p:spTgt spid="723"/>
                                        </p:tgtEl>
                                      </p:cBhvr>
                                    </p:animEffect>
                                  </p:childTnLst>
                                </p:cTn>
                              </p:par>
                              <p:par>
                                <p:cTn fill="hold" nodeType="with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500"/>
                                        <p:tgtEl>
                                          <p:spTgt spid="724"/>
                                        </p:tgtEl>
                                      </p:cBhvr>
                                    </p:animEffect>
                                  </p:childTnLst>
                                </p:cTn>
                              </p:par>
                              <p:par>
                                <p:cTn fill="hold" nodeType="with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500"/>
                                        <p:tgtEl>
                                          <p:spTgt spid="726"/>
                                        </p:tgtEl>
                                      </p:cBhvr>
                                    </p:animEffect>
                                  </p:childTnLst>
                                </p:cTn>
                              </p:par>
                              <p:par>
                                <p:cTn fill="hold" nodeType="with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25"/>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Many-to-One relationship (N – 1)</a:t>
            </a:r>
            <a:endParaRPr/>
          </a:p>
        </p:txBody>
      </p:sp>
      <p:sp>
        <p:nvSpPr>
          <p:cNvPr id="732" name="Google Shape;732;p25"/>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An entity in </a:t>
            </a:r>
            <a:r>
              <a:rPr b="1" lang="en-US">
                <a:solidFill>
                  <a:schemeClr val="accent6"/>
                </a:solidFill>
              </a:rPr>
              <a:t>A is associated with only one entity in B </a:t>
            </a:r>
            <a:r>
              <a:rPr lang="en-US"/>
              <a:t>and an entity in </a:t>
            </a:r>
            <a:r>
              <a:rPr b="1" lang="en-US">
                <a:solidFill>
                  <a:schemeClr val="accent6"/>
                </a:solidFill>
              </a:rPr>
              <a:t>B is associated with more than one entities in A</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Example: A </a:t>
            </a:r>
            <a:r>
              <a:rPr b="1" lang="en-US">
                <a:solidFill>
                  <a:schemeClr val="accent6"/>
                </a:solidFill>
              </a:rPr>
              <a:t>loan is connected with more than one customer </a:t>
            </a:r>
            <a:r>
              <a:rPr lang="en-US"/>
              <a:t>using borrower and a </a:t>
            </a:r>
            <a:r>
              <a:rPr b="1" lang="en-US">
                <a:solidFill>
                  <a:schemeClr val="accent6"/>
                </a:solidFill>
              </a:rPr>
              <a:t>customer is connected with only one loan</a:t>
            </a:r>
            <a:r>
              <a:rPr lang="en-US"/>
              <a:t> using borrower.</a:t>
            </a:r>
            <a:endParaRPr/>
          </a:p>
        </p:txBody>
      </p:sp>
      <p:sp>
        <p:nvSpPr>
          <p:cNvPr id="733" name="Google Shape;733;p25"/>
          <p:cNvSpPr/>
          <p:nvPr/>
        </p:nvSpPr>
        <p:spPr>
          <a:xfrm>
            <a:off x="12382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734" name="Google Shape;734;p25"/>
          <p:cNvSpPr/>
          <p:nvPr/>
        </p:nvSpPr>
        <p:spPr>
          <a:xfrm>
            <a:off x="15430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A1</a:t>
            </a:r>
            <a:endParaRPr sz="1800">
              <a:solidFill>
                <a:schemeClr val="dk1"/>
              </a:solidFill>
              <a:latin typeface="Roboto Condensed"/>
              <a:ea typeface="Roboto Condensed"/>
              <a:cs typeface="Roboto Condensed"/>
              <a:sym typeface="Roboto Condensed"/>
            </a:endParaRPr>
          </a:p>
        </p:txBody>
      </p:sp>
      <p:sp>
        <p:nvSpPr>
          <p:cNvPr id="735" name="Google Shape;735;p25"/>
          <p:cNvSpPr/>
          <p:nvPr/>
        </p:nvSpPr>
        <p:spPr>
          <a:xfrm>
            <a:off x="15430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A2</a:t>
            </a:r>
            <a:endParaRPr sz="1800">
              <a:solidFill>
                <a:schemeClr val="dk1"/>
              </a:solidFill>
              <a:latin typeface="Roboto Condensed"/>
              <a:ea typeface="Roboto Condensed"/>
              <a:cs typeface="Roboto Condensed"/>
              <a:sym typeface="Roboto Condensed"/>
            </a:endParaRPr>
          </a:p>
        </p:txBody>
      </p:sp>
      <p:sp>
        <p:nvSpPr>
          <p:cNvPr id="736" name="Google Shape;736;p25"/>
          <p:cNvSpPr/>
          <p:nvPr/>
        </p:nvSpPr>
        <p:spPr>
          <a:xfrm>
            <a:off x="30670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737" name="Google Shape;737;p25"/>
          <p:cNvSpPr/>
          <p:nvPr/>
        </p:nvSpPr>
        <p:spPr>
          <a:xfrm>
            <a:off x="33718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B1</a:t>
            </a:r>
            <a:endParaRPr sz="1800">
              <a:solidFill>
                <a:schemeClr val="dk1"/>
              </a:solidFill>
              <a:latin typeface="Roboto Condensed"/>
              <a:ea typeface="Roboto Condensed"/>
              <a:cs typeface="Roboto Condensed"/>
              <a:sym typeface="Roboto Condensed"/>
            </a:endParaRPr>
          </a:p>
        </p:txBody>
      </p:sp>
      <p:sp>
        <p:nvSpPr>
          <p:cNvPr id="738" name="Google Shape;738;p25"/>
          <p:cNvSpPr/>
          <p:nvPr/>
        </p:nvSpPr>
        <p:spPr>
          <a:xfrm>
            <a:off x="33718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B2</a:t>
            </a:r>
            <a:endParaRPr sz="1800">
              <a:solidFill>
                <a:schemeClr val="dk1"/>
              </a:solidFill>
              <a:latin typeface="Roboto Condensed"/>
              <a:ea typeface="Roboto Condensed"/>
              <a:cs typeface="Roboto Condensed"/>
              <a:sym typeface="Roboto Condensed"/>
            </a:endParaRPr>
          </a:p>
        </p:txBody>
      </p:sp>
      <p:cxnSp>
        <p:nvCxnSpPr>
          <p:cNvPr id="739" name="Google Shape;739;p25"/>
          <p:cNvCxnSpPr>
            <a:stCxn id="734" idx="3"/>
            <a:endCxn id="737" idx="1"/>
          </p:cNvCxnSpPr>
          <p:nvPr/>
        </p:nvCxnSpPr>
        <p:spPr>
          <a:xfrm>
            <a:off x="2152650" y="2628900"/>
            <a:ext cx="1219200" cy="0"/>
          </a:xfrm>
          <a:prstGeom prst="straightConnector1">
            <a:avLst/>
          </a:prstGeom>
          <a:noFill/>
          <a:ln cap="flat" cmpd="sng" w="28575">
            <a:solidFill>
              <a:schemeClr val="accent1"/>
            </a:solidFill>
            <a:prstDash val="solid"/>
            <a:miter lim="800000"/>
            <a:headEnd len="sm" w="sm" type="none"/>
            <a:tailEnd len="sm" w="sm" type="none"/>
          </a:ln>
        </p:spPr>
      </p:cxnSp>
      <p:sp>
        <p:nvSpPr>
          <p:cNvPr id="740" name="Google Shape;740;p25"/>
          <p:cNvSpPr txBox="1"/>
          <p:nvPr/>
        </p:nvSpPr>
        <p:spPr>
          <a:xfrm>
            <a:off x="1238250" y="4000500"/>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A</a:t>
            </a:r>
            <a:endParaRPr sz="2000">
              <a:solidFill>
                <a:schemeClr val="dk1"/>
              </a:solidFill>
              <a:latin typeface="Roboto Condensed"/>
              <a:ea typeface="Roboto Condensed"/>
              <a:cs typeface="Roboto Condensed"/>
              <a:sym typeface="Roboto Condensed"/>
            </a:endParaRPr>
          </a:p>
        </p:txBody>
      </p:sp>
      <p:sp>
        <p:nvSpPr>
          <p:cNvPr id="741" name="Google Shape;741;p25"/>
          <p:cNvSpPr txBox="1"/>
          <p:nvPr/>
        </p:nvSpPr>
        <p:spPr>
          <a:xfrm>
            <a:off x="3067050" y="4012167"/>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B</a:t>
            </a:r>
            <a:endParaRPr sz="2000">
              <a:solidFill>
                <a:schemeClr val="dk1"/>
              </a:solidFill>
              <a:latin typeface="Roboto Condensed"/>
              <a:ea typeface="Roboto Condensed"/>
              <a:cs typeface="Roboto Condensed"/>
              <a:sym typeface="Roboto Condensed"/>
            </a:endParaRPr>
          </a:p>
        </p:txBody>
      </p:sp>
      <p:sp>
        <p:nvSpPr>
          <p:cNvPr id="742" name="Google Shape;742;p25"/>
          <p:cNvSpPr/>
          <p:nvPr/>
        </p:nvSpPr>
        <p:spPr>
          <a:xfrm>
            <a:off x="6307720" y="2171700"/>
            <a:ext cx="12954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cxnSp>
        <p:nvCxnSpPr>
          <p:cNvPr id="743" name="Google Shape;743;p25"/>
          <p:cNvCxnSpPr>
            <a:stCxn id="735" idx="3"/>
          </p:cNvCxnSpPr>
          <p:nvPr/>
        </p:nvCxnSpPr>
        <p:spPr>
          <a:xfrm flipH="1" rot="10800000">
            <a:off x="2152650" y="2628900"/>
            <a:ext cx="1219200" cy="762000"/>
          </a:xfrm>
          <a:prstGeom prst="straightConnector1">
            <a:avLst/>
          </a:prstGeom>
          <a:noFill/>
          <a:ln cap="flat" cmpd="sng" w="28575">
            <a:solidFill>
              <a:schemeClr val="accent1"/>
            </a:solidFill>
            <a:prstDash val="solid"/>
            <a:miter lim="800000"/>
            <a:headEnd len="sm" w="sm" type="none"/>
            <a:tailEnd len="sm" w="sm" type="none"/>
          </a:ln>
        </p:spPr>
      </p:cxnSp>
      <p:sp>
        <p:nvSpPr>
          <p:cNvPr id="744" name="Google Shape;744;p25"/>
          <p:cNvSpPr/>
          <p:nvPr/>
        </p:nvSpPr>
        <p:spPr>
          <a:xfrm>
            <a:off x="10346320" y="2171700"/>
            <a:ext cx="685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sp>
        <p:nvSpPr>
          <p:cNvPr id="745" name="Google Shape;745;p25"/>
          <p:cNvSpPr/>
          <p:nvPr/>
        </p:nvSpPr>
        <p:spPr>
          <a:xfrm>
            <a:off x="7988131" y="2095500"/>
            <a:ext cx="1977189" cy="6096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borrow</a:t>
            </a:r>
            <a:endParaRPr sz="1800">
              <a:solidFill>
                <a:schemeClr val="dk1"/>
              </a:solidFill>
              <a:latin typeface="Roboto Condensed"/>
              <a:ea typeface="Roboto Condensed"/>
              <a:cs typeface="Roboto Condensed"/>
              <a:sym typeface="Roboto Condensed"/>
            </a:endParaRPr>
          </a:p>
        </p:txBody>
      </p:sp>
      <p:sp>
        <p:nvSpPr>
          <p:cNvPr id="746" name="Google Shape;746;p25"/>
          <p:cNvSpPr/>
          <p:nvPr/>
        </p:nvSpPr>
        <p:spPr>
          <a:xfrm>
            <a:off x="71459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C1</a:t>
            </a:r>
            <a:endParaRPr sz="1800">
              <a:solidFill>
                <a:schemeClr val="dk1"/>
              </a:solidFill>
              <a:latin typeface="Roboto Condensed"/>
              <a:ea typeface="Roboto Condensed"/>
              <a:cs typeface="Roboto Condensed"/>
              <a:sym typeface="Roboto Condensed"/>
            </a:endParaRPr>
          </a:p>
        </p:txBody>
      </p:sp>
      <p:sp>
        <p:nvSpPr>
          <p:cNvPr id="747" name="Google Shape;747;p25"/>
          <p:cNvSpPr/>
          <p:nvPr/>
        </p:nvSpPr>
        <p:spPr>
          <a:xfrm>
            <a:off x="71459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C2</a:t>
            </a:r>
            <a:endParaRPr sz="1800">
              <a:solidFill>
                <a:schemeClr val="dk1"/>
              </a:solidFill>
              <a:latin typeface="Roboto Condensed"/>
              <a:ea typeface="Roboto Condensed"/>
              <a:cs typeface="Roboto Condensed"/>
              <a:sym typeface="Roboto Condensed"/>
            </a:endParaRPr>
          </a:p>
        </p:txBody>
      </p:sp>
      <p:sp>
        <p:nvSpPr>
          <p:cNvPr id="748" name="Google Shape;748;p25"/>
          <p:cNvSpPr/>
          <p:nvPr/>
        </p:nvSpPr>
        <p:spPr>
          <a:xfrm>
            <a:off x="103463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L1</a:t>
            </a:r>
            <a:endParaRPr sz="1800">
              <a:solidFill>
                <a:schemeClr val="dk1"/>
              </a:solidFill>
              <a:latin typeface="Roboto Condensed"/>
              <a:ea typeface="Roboto Condensed"/>
              <a:cs typeface="Roboto Condensed"/>
              <a:sym typeface="Roboto Condensed"/>
            </a:endParaRPr>
          </a:p>
        </p:txBody>
      </p:sp>
      <p:sp>
        <p:nvSpPr>
          <p:cNvPr id="749" name="Google Shape;749;p25"/>
          <p:cNvSpPr/>
          <p:nvPr/>
        </p:nvSpPr>
        <p:spPr>
          <a:xfrm>
            <a:off x="103463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L2</a:t>
            </a:r>
            <a:endParaRPr sz="1800">
              <a:solidFill>
                <a:schemeClr val="dk1"/>
              </a:solidFill>
              <a:latin typeface="Roboto Condensed"/>
              <a:ea typeface="Roboto Condensed"/>
              <a:cs typeface="Roboto Condensed"/>
              <a:sym typeface="Roboto Condensed"/>
            </a:endParaRPr>
          </a:p>
        </p:txBody>
      </p:sp>
      <p:sp>
        <p:nvSpPr>
          <p:cNvPr id="750" name="Google Shape;750;p25"/>
          <p:cNvSpPr/>
          <p:nvPr/>
        </p:nvSpPr>
        <p:spPr>
          <a:xfrm>
            <a:off x="71459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C3</a:t>
            </a:r>
            <a:endParaRPr sz="1800">
              <a:solidFill>
                <a:schemeClr val="dk1"/>
              </a:solidFill>
              <a:latin typeface="Roboto Condensed"/>
              <a:ea typeface="Roboto Condensed"/>
              <a:cs typeface="Roboto Condensed"/>
              <a:sym typeface="Roboto Condensed"/>
            </a:endParaRPr>
          </a:p>
        </p:txBody>
      </p:sp>
      <p:sp>
        <p:nvSpPr>
          <p:cNvPr id="751" name="Google Shape;751;p25"/>
          <p:cNvSpPr/>
          <p:nvPr/>
        </p:nvSpPr>
        <p:spPr>
          <a:xfrm>
            <a:off x="103463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L3</a:t>
            </a:r>
            <a:endParaRPr sz="1800">
              <a:solidFill>
                <a:schemeClr val="dk1"/>
              </a:solidFill>
              <a:latin typeface="Roboto Condensed"/>
              <a:ea typeface="Roboto Condensed"/>
              <a:cs typeface="Roboto Condensed"/>
              <a:sym typeface="Roboto Condensed"/>
            </a:endParaRPr>
          </a:p>
        </p:txBody>
      </p:sp>
      <p:cxnSp>
        <p:nvCxnSpPr>
          <p:cNvPr id="752" name="Google Shape;752;p25"/>
          <p:cNvCxnSpPr>
            <a:stCxn id="746" idx="3"/>
            <a:endCxn id="748" idx="1"/>
          </p:cNvCxnSpPr>
          <p:nvPr/>
        </p:nvCxnSpPr>
        <p:spPr>
          <a:xfrm>
            <a:off x="7577920" y="2979300"/>
            <a:ext cx="2768400" cy="0"/>
          </a:xfrm>
          <a:prstGeom prst="straightConnector1">
            <a:avLst/>
          </a:prstGeom>
          <a:noFill/>
          <a:ln cap="flat" cmpd="sng" w="28575">
            <a:solidFill>
              <a:schemeClr val="accent1"/>
            </a:solidFill>
            <a:prstDash val="solid"/>
            <a:miter lim="800000"/>
            <a:headEnd len="sm" w="sm" type="none"/>
            <a:tailEnd len="sm" w="sm" type="none"/>
          </a:ln>
        </p:spPr>
      </p:cxnSp>
      <p:cxnSp>
        <p:nvCxnSpPr>
          <p:cNvPr id="753" name="Google Shape;753;p25"/>
          <p:cNvCxnSpPr>
            <a:stCxn id="747" idx="3"/>
            <a:endCxn id="748" idx="1"/>
          </p:cNvCxnSpPr>
          <p:nvPr/>
        </p:nvCxnSpPr>
        <p:spPr>
          <a:xfrm flipH="1" rot="10800000">
            <a:off x="7577920" y="2979300"/>
            <a:ext cx="2768400" cy="533400"/>
          </a:xfrm>
          <a:prstGeom prst="straightConnector1">
            <a:avLst/>
          </a:prstGeom>
          <a:noFill/>
          <a:ln cap="flat" cmpd="sng" w="28575">
            <a:solidFill>
              <a:schemeClr val="accent1"/>
            </a:solidFill>
            <a:prstDash val="solid"/>
            <a:miter lim="800000"/>
            <a:headEnd len="sm" w="sm" type="none"/>
            <a:tailEnd len="sm" w="sm" type="none"/>
          </a:ln>
        </p:spPr>
      </p:cxnSp>
      <p:cxnSp>
        <p:nvCxnSpPr>
          <p:cNvPr id="754" name="Google Shape;754;p25"/>
          <p:cNvCxnSpPr>
            <a:stCxn id="750" idx="3"/>
            <a:endCxn id="749" idx="1"/>
          </p:cNvCxnSpPr>
          <p:nvPr/>
        </p:nvCxnSpPr>
        <p:spPr>
          <a:xfrm flipH="1" rot="10800000">
            <a:off x="7577920" y="3512700"/>
            <a:ext cx="2768400" cy="533400"/>
          </a:xfrm>
          <a:prstGeom prst="straightConnector1">
            <a:avLst/>
          </a:prstGeom>
          <a:noFill/>
          <a:ln cap="flat" cmpd="sng" w="28575">
            <a:solidFill>
              <a:schemeClr val="accent1"/>
            </a:solidFill>
            <a:prstDash val="solid"/>
            <a:miter lim="800000"/>
            <a:headEnd len="sm" w="sm" type="none"/>
            <a:tailEnd len="sm" w="sm" type="none"/>
          </a:ln>
        </p:spPr>
      </p:cxnSp>
      <p:cxnSp>
        <p:nvCxnSpPr>
          <p:cNvPr id="755" name="Google Shape;755;p25"/>
          <p:cNvCxnSpPr/>
          <p:nvPr/>
        </p:nvCxnSpPr>
        <p:spPr>
          <a:xfrm>
            <a:off x="9965320" y="2400300"/>
            <a:ext cx="381000" cy="0"/>
          </a:xfrm>
          <a:prstGeom prst="straightConnector1">
            <a:avLst/>
          </a:prstGeom>
          <a:noFill/>
          <a:ln cap="flat" cmpd="sng" w="28575">
            <a:solidFill>
              <a:schemeClr val="accent4"/>
            </a:solidFill>
            <a:prstDash val="solid"/>
            <a:miter lim="800000"/>
            <a:headEnd len="sm" w="sm" type="none"/>
            <a:tailEnd len="med" w="med" type="triangle"/>
          </a:ln>
        </p:spPr>
      </p:cxnSp>
      <p:sp>
        <p:nvSpPr>
          <p:cNvPr id="756" name="Google Shape;756;p25"/>
          <p:cNvSpPr/>
          <p:nvPr/>
        </p:nvSpPr>
        <p:spPr>
          <a:xfrm>
            <a:off x="7145920" y="4386629"/>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C4</a:t>
            </a:r>
            <a:endParaRPr sz="1800">
              <a:solidFill>
                <a:schemeClr val="dk1"/>
              </a:solidFill>
              <a:latin typeface="Roboto Condensed"/>
              <a:ea typeface="Roboto Condensed"/>
              <a:cs typeface="Roboto Condensed"/>
              <a:sym typeface="Roboto Condensed"/>
            </a:endParaRPr>
          </a:p>
        </p:txBody>
      </p:sp>
      <p:cxnSp>
        <p:nvCxnSpPr>
          <p:cNvPr id="757" name="Google Shape;757;p25"/>
          <p:cNvCxnSpPr>
            <a:stCxn id="756" idx="3"/>
            <a:endCxn id="749" idx="1"/>
          </p:cNvCxnSpPr>
          <p:nvPr/>
        </p:nvCxnSpPr>
        <p:spPr>
          <a:xfrm flipH="1" rot="10800000">
            <a:off x="7577920" y="3512729"/>
            <a:ext cx="2768400" cy="1071900"/>
          </a:xfrm>
          <a:prstGeom prst="straightConnector1">
            <a:avLst/>
          </a:prstGeom>
          <a:noFill/>
          <a:ln cap="flat" cmpd="sng" w="28575">
            <a:solidFill>
              <a:schemeClr val="accent1"/>
            </a:solidFill>
            <a:prstDash val="solid"/>
            <a:miter lim="800000"/>
            <a:headEnd len="sm" w="sm" type="none"/>
            <a:tailEnd len="sm" w="sm" type="none"/>
          </a:ln>
        </p:spPr>
      </p:cxnSp>
      <p:cxnSp>
        <p:nvCxnSpPr>
          <p:cNvPr id="758" name="Google Shape;758;p25"/>
          <p:cNvCxnSpPr/>
          <p:nvPr/>
        </p:nvCxnSpPr>
        <p:spPr>
          <a:xfrm>
            <a:off x="7607229" y="2400300"/>
            <a:ext cx="385011" cy="0"/>
          </a:xfrm>
          <a:prstGeom prst="straightConnector1">
            <a:avLst/>
          </a:prstGeom>
          <a:noFill/>
          <a:ln cap="flat" cmpd="sng" w="28575">
            <a:solidFill>
              <a:schemeClr val="accent4"/>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0" st="0"/>
                                            </p:txEl>
                                          </p:spTgt>
                                        </p:tgtEl>
                                        <p:attrNameLst>
                                          <p:attrName>style.visibility</p:attrName>
                                        </p:attrNameLst>
                                      </p:cBhvr>
                                      <p:to>
                                        <p:strVal val="visible"/>
                                      </p:to>
                                    </p:set>
                                    <p:animEffect filter="fade" transition="in">
                                      <p:cBhvr>
                                        <p:cTn dur="500"/>
                                        <p:tgtEl>
                                          <p:spTgt spid="7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1" st="1"/>
                                            </p:txEl>
                                          </p:spTgt>
                                        </p:tgtEl>
                                        <p:attrNameLst>
                                          <p:attrName>style.visibility</p:attrName>
                                        </p:attrNameLst>
                                      </p:cBhvr>
                                      <p:to>
                                        <p:strVal val="visible"/>
                                      </p:to>
                                    </p:set>
                                    <p:animEffect filter="fade" transition="in">
                                      <p:cBhvr>
                                        <p:cTn dur="500"/>
                                        <p:tgtEl>
                                          <p:spTgt spid="7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2" st="2"/>
                                            </p:txEl>
                                          </p:spTgt>
                                        </p:tgtEl>
                                        <p:attrNameLst>
                                          <p:attrName>style.visibility</p:attrName>
                                        </p:attrNameLst>
                                      </p:cBhvr>
                                      <p:to>
                                        <p:strVal val="visible"/>
                                      </p:to>
                                    </p:set>
                                    <p:animEffect filter="fade" transition="in">
                                      <p:cBhvr>
                                        <p:cTn dur="500"/>
                                        <p:tgtEl>
                                          <p:spTgt spid="7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3" st="3"/>
                                            </p:txEl>
                                          </p:spTgt>
                                        </p:tgtEl>
                                        <p:attrNameLst>
                                          <p:attrName>style.visibility</p:attrName>
                                        </p:attrNameLst>
                                      </p:cBhvr>
                                      <p:to>
                                        <p:strVal val="visible"/>
                                      </p:to>
                                    </p:set>
                                    <p:animEffect filter="fade" transition="in">
                                      <p:cBhvr>
                                        <p:cTn dur="500"/>
                                        <p:tgtEl>
                                          <p:spTgt spid="7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4" st="4"/>
                                            </p:txEl>
                                          </p:spTgt>
                                        </p:tgtEl>
                                        <p:attrNameLst>
                                          <p:attrName>style.visibility</p:attrName>
                                        </p:attrNameLst>
                                      </p:cBhvr>
                                      <p:to>
                                        <p:strVal val="visible"/>
                                      </p:to>
                                    </p:set>
                                    <p:animEffect filter="fade" transition="in">
                                      <p:cBhvr>
                                        <p:cTn dur="500"/>
                                        <p:tgtEl>
                                          <p:spTgt spid="7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5" st="5"/>
                                            </p:txEl>
                                          </p:spTgt>
                                        </p:tgtEl>
                                        <p:attrNameLst>
                                          <p:attrName>style.visibility</p:attrName>
                                        </p:attrNameLst>
                                      </p:cBhvr>
                                      <p:to>
                                        <p:strVal val="visible"/>
                                      </p:to>
                                    </p:set>
                                    <p:animEffect filter="fade" transition="in">
                                      <p:cBhvr>
                                        <p:cTn dur="500"/>
                                        <p:tgtEl>
                                          <p:spTgt spid="7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6" st="6"/>
                                            </p:txEl>
                                          </p:spTgt>
                                        </p:tgtEl>
                                        <p:attrNameLst>
                                          <p:attrName>style.visibility</p:attrName>
                                        </p:attrNameLst>
                                      </p:cBhvr>
                                      <p:to>
                                        <p:strVal val="visible"/>
                                      </p:to>
                                    </p:set>
                                    <p:animEffect filter="fade" transition="in">
                                      <p:cBhvr>
                                        <p:cTn dur="500"/>
                                        <p:tgtEl>
                                          <p:spTgt spid="73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7" st="7"/>
                                            </p:txEl>
                                          </p:spTgt>
                                        </p:tgtEl>
                                        <p:attrNameLst>
                                          <p:attrName>style.visibility</p:attrName>
                                        </p:attrNameLst>
                                      </p:cBhvr>
                                      <p:to>
                                        <p:strVal val="visible"/>
                                      </p:to>
                                    </p:set>
                                    <p:animEffect filter="fade" transition="in">
                                      <p:cBhvr>
                                        <p:cTn dur="500"/>
                                        <p:tgtEl>
                                          <p:spTgt spid="73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8" st="8"/>
                                            </p:txEl>
                                          </p:spTgt>
                                        </p:tgtEl>
                                        <p:attrNameLst>
                                          <p:attrName>style.visibility</p:attrName>
                                        </p:attrNameLst>
                                      </p:cBhvr>
                                      <p:to>
                                        <p:strVal val="visible"/>
                                      </p:to>
                                    </p:set>
                                    <p:animEffect filter="fade" transition="in">
                                      <p:cBhvr>
                                        <p:cTn dur="500"/>
                                        <p:tgtEl>
                                          <p:spTgt spid="73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xEl>
                                              <p:pRg end="9" st="9"/>
                                            </p:txEl>
                                          </p:spTgt>
                                        </p:tgtEl>
                                        <p:attrNameLst>
                                          <p:attrName>style.visibility</p:attrName>
                                        </p:attrNameLst>
                                      </p:cBhvr>
                                      <p:to>
                                        <p:strVal val="visible"/>
                                      </p:to>
                                    </p:set>
                                    <p:animEffect filter="fade" transition="in">
                                      <p:cBhvr>
                                        <p:cTn dur="500"/>
                                        <p:tgtEl>
                                          <p:spTgt spid="732">
                                            <p:txEl>
                                              <p:pRg end="9" st="9"/>
                                            </p:txEl>
                                          </p:spTgt>
                                        </p:tgtEl>
                                      </p:cBhvr>
                                    </p:animEffect>
                                  </p:childTnLst>
                                </p:cTn>
                              </p:par>
                              <p:par>
                                <p:cTn fill="hold" nodeType="with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par>
                                <p:cTn fill="hold" nodeType="with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par>
                                <p:cTn fill="hold" nodeType="with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500"/>
                                        <p:tgtEl>
                                          <p:spTgt spid="735"/>
                                        </p:tgtEl>
                                      </p:cBhvr>
                                    </p:animEffect>
                                  </p:childTnLst>
                                </p:cTn>
                              </p:par>
                              <p:par>
                                <p:cTn fill="hold" nodeType="with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500"/>
                                        <p:tgtEl>
                                          <p:spTgt spid="736"/>
                                        </p:tgtEl>
                                      </p:cBhvr>
                                    </p:animEffect>
                                  </p:childTnLst>
                                </p:cTn>
                              </p:par>
                              <p:par>
                                <p:cTn fill="hold" nodeType="with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500"/>
                                        <p:tgtEl>
                                          <p:spTgt spid="737"/>
                                        </p:tgtEl>
                                      </p:cBhvr>
                                    </p:animEffect>
                                  </p:childTnLst>
                                </p:cTn>
                              </p:par>
                              <p:par>
                                <p:cTn fill="hold" nodeType="with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500"/>
                                        <p:tgtEl>
                                          <p:spTgt spid="739"/>
                                        </p:tgtEl>
                                      </p:cBhvr>
                                    </p:animEffect>
                                  </p:childTnLst>
                                </p:cTn>
                              </p:par>
                              <p:par>
                                <p:cTn fill="hold" nodeType="with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par>
                                <p:cTn fill="hold" nodeType="with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par>
                                <p:cTn fill="hold" nodeType="with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500"/>
                                        <p:tgtEl>
                                          <p:spTgt spid="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500"/>
                                        <p:tgtEl>
                                          <p:spTgt spid="742"/>
                                        </p:tgtEl>
                                      </p:cBhvr>
                                    </p:animEffect>
                                  </p:childTnLst>
                                </p:cTn>
                              </p:par>
                              <p:par>
                                <p:cTn fill="hold" nodeType="with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500"/>
                                        <p:tgtEl>
                                          <p:spTgt spid="745"/>
                                        </p:tgtEl>
                                      </p:cBhvr>
                                    </p:animEffect>
                                  </p:childTnLst>
                                </p:cTn>
                              </p:par>
                              <p:par>
                                <p:cTn fill="hold" nodeType="with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500"/>
                                        <p:tgtEl>
                                          <p:spTgt spid="746"/>
                                        </p:tgtEl>
                                      </p:cBhvr>
                                    </p:animEffect>
                                  </p:childTnLst>
                                </p:cTn>
                              </p:par>
                              <p:par>
                                <p:cTn fill="hold" nodeType="with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500"/>
                                        <p:tgtEl>
                                          <p:spTgt spid="747"/>
                                        </p:tgtEl>
                                      </p:cBhvr>
                                    </p:animEffect>
                                  </p:childTnLst>
                                </p:cTn>
                              </p:par>
                              <p:par>
                                <p:cTn fill="hold" nodeType="with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500"/>
                                        <p:tgtEl>
                                          <p:spTgt spid="748"/>
                                        </p:tgtEl>
                                      </p:cBhvr>
                                    </p:animEffect>
                                  </p:childTnLst>
                                </p:cTn>
                              </p:par>
                              <p:par>
                                <p:cTn fill="hold" nodeType="with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par>
                                <p:cTn fill="hold" nodeType="with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par>
                                <p:cTn fill="hold" nodeType="with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par>
                                <p:cTn fill="hold" nodeType="with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500"/>
                                        <p:tgtEl>
                                          <p:spTgt spid="752"/>
                                        </p:tgtEl>
                                      </p:cBhvr>
                                    </p:animEffect>
                                  </p:childTnLst>
                                </p:cTn>
                              </p:par>
                              <p:par>
                                <p:cTn fill="hold" nodeType="with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500"/>
                                        <p:tgtEl>
                                          <p:spTgt spid="753"/>
                                        </p:tgtEl>
                                      </p:cBhvr>
                                    </p:animEffect>
                                  </p:childTnLst>
                                </p:cTn>
                              </p:par>
                              <p:par>
                                <p:cTn fill="hold" nodeType="withEffect" presetClass="entr" presetID="10" presetSubtype="0">
                                  <p:stCondLst>
                                    <p:cond delay="0"/>
                                  </p:stCondLst>
                                  <p:childTnLst>
                                    <p:set>
                                      <p:cBhvr>
                                        <p:cTn dur="1" fill="hold">
                                          <p:stCondLst>
                                            <p:cond delay="0"/>
                                          </p:stCondLst>
                                        </p:cTn>
                                        <p:tgtEl>
                                          <p:spTgt spid="754"/>
                                        </p:tgtEl>
                                        <p:attrNameLst>
                                          <p:attrName>style.visibility</p:attrName>
                                        </p:attrNameLst>
                                      </p:cBhvr>
                                      <p:to>
                                        <p:strVal val="visible"/>
                                      </p:to>
                                    </p:set>
                                    <p:animEffect filter="fade" transition="in">
                                      <p:cBhvr>
                                        <p:cTn dur="500"/>
                                        <p:tgtEl>
                                          <p:spTgt spid="754"/>
                                        </p:tgtEl>
                                      </p:cBhvr>
                                    </p:animEffect>
                                  </p:childTnLst>
                                </p:cTn>
                              </p:par>
                              <p:par>
                                <p:cTn fill="hold" nodeType="with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par>
                                <p:cTn fill="hold" nodeType="with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500"/>
                                        <p:tgtEl>
                                          <p:spTgt spid="756"/>
                                        </p:tgtEl>
                                      </p:cBhvr>
                                    </p:animEffect>
                                  </p:childTnLst>
                                </p:cTn>
                              </p:par>
                              <p:par>
                                <p:cTn fill="hold" nodeType="withEffect" presetClass="entr" presetID="10" presetSubtype="0">
                                  <p:stCondLst>
                                    <p:cond delay="0"/>
                                  </p:stCondLst>
                                  <p:childTnLst>
                                    <p:set>
                                      <p:cBhvr>
                                        <p:cTn dur="1" fill="hold">
                                          <p:stCondLst>
                                            <p:cond delay="0"/>
                                          </p:stCondLst>
                                        </p:cTn>
                                        <p:tgtEl>
                                          <p:spTgt spid="755"/>
                                        </p:tgtEl>
                                        <p:attrNameLst>
                                          <p:attrName>style.visibility</p:attrName>
                                        </p:attrNameLst>
                                      </p:cBhvr>
                                      <p:to>
                                        <p:strVal val="visible"/>
                                      </p:to>
                                    </p:set>
                                    <p:animEffect filter="fade" transition="in">
                                      <p:cBhvr>
                                        <p:cTn dur="500"/>
                                        <p:tgtEl>
                                          <p:spTgt spid="755"/>
                                        </p:tgtEl>
                                      </p:cBhvr>
                                    </p:animEffect>
                                  </p:childTnLst>
                                </p:cTn>
                              </p:par>
                              <p:par>
                                <p:cTn fill="hold" nodeType="with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500"/>
                                        <p:tgtEl>
                                          <p:spTgt spid="758"/>
                                        </p:tgtEl>
                                      </p:cBhvr>
                                    </p:animEffect>
                                  </p:childTnLst>
                                </p:cTn>
                              </p:par>
                              <p:par>
                                <p:cTn fill="hold" nodeType="with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500"/>
                                        <p:tgtEl>
                                          <p:spTgt spid="7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2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Many-to-Many relationship (N – N)</a:t>
            </a:r>
            <a:endParaRPr/>
          </a:p>
        </p:txBody>
      </p:sp>
      <p:sp>
        <p:nvSpPr>
          <p:cNvPr id="764" name="Google Shape;764;p26"/>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An entity in </a:t>
            </a:r>
            <a:r>
              <a:rPr b="1" lang="en-US">
                <a:solidFill>
                  <a:schemeClr val="accent6"/>
                </a:solidFill>
              </a:rPr>
              <a:t>A is associated with more than one entities in B</a:t>
            </a:r>
            <a:r>
              <a:rPr lang="en-US"/>
              <a:t> and an entity in </a:t>
            </a:r>
            <a:r>
              <a:rPr b="1" lang="en-US">
                <a:solidFill>
                  <a:schemeClr val="accent6"/>
                </a:solidFill>
              </a:rPr>
              <a:t>B is associated with more than one entities in A</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Example: A </a:t>
            </a:r>
            <a:r>
              <a:rPr b="1" lang="en-US">
                <a:solidFill>
                  <a:schemeClr val="accent6"/>
                </a:solidFill>
              </a:rPr>
              <a:t>customer is connected with more than one loan </a:t>
            </a:r>
            <a:r>
              <a:rPr lang="en-US"/>
              <a:t>using borrower and a </a:t>
            </a:r>
            <a:r>
              <a:rPr b="1" lang="en-US">
                <a:solidFill>
                  <a:schemeClr val="accent6"/>
                </a:solidFill>
              </a:rPr>
              <a:t>loan is connected with more than one customer</a:t>
            </a:r>
            <a:r>
              <a:rPr lang="en-US"/>
              <a:t> using borrower.</a:t>
            </a:r>
            <a:endParaRPr/>
          </a:p>
        </p:txBody>
      </p:sp>
      <p:sp>
        <p:nvSpPr>
          <p:cNvPr id="765" name="Google Shape;765;p26"/>
          <p:cNvSpPr/>
          <p:nvPr/>
        </p:nvSpPr>
        <p:spPr>
          <a:xfrm>
            <a:off x="12382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766" name="Google Shape;766;p26"/>
          <p:cNvSpPr/>
          <p:nvPr/>
        </p:nvSpPr>
        <p:spPr>
          <a:xfrm>
            <a:off x="15430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A1</a:t>
            </a:r>
            <a:endParaRPr sz="1800">
              <a:solidFill>
                <a:schemeClr val="dk1"/>
              </a:solidFill>
              <a:latin typeface="Roboto Condensed"/>
              <a:ea typeface="Roboto Condensed"/>
              <a:cs typeface="Roboto Condensed"/>
              <a:sym typeface="Roboto Condensed"/>
            </a:endParaRPr>
          </a:p>
        </p:txBody>
      </p:sp>
      <p:sp>
        <p:nvSpPr>
          <p:cNvPr id="767" name="Google Shape;767;p26"/>
          <p:cNvSpPr/>
          <p:nvPr/>
        </p:nvSpPr>
        <p:spPr>
          <a:xfrm>
            <a:off x="15430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A2</a:t>
            </a:r>
            <a:endParaRPr sz="1800">
              <a:solidFill>
                <a:schemeClr val="dk1"/>
              </a:solidFill>
              <a:latin typeface="Roboto Condensed"/>
              <a:ea typeface="Roboto Condensed"/>
              <a:cs typeface="Roboto Condensed"/>
              <a:sym typeface="Roboto Condensed"/>
            </a:endParaRPr>
          </a:p>
        </p:txBody>
      </p:sp>
      <p:sp>
        <p:nvSpPr>
          <p:cNvPr id="768" name="Google Shape;768;p26"/>
          <p:cNvSpPr/>
          <p:nvPr/>
        </p:nvSpPr>
        <p:spPr>
          <a:xfrm>
            <a:off x="3067050" y="2019300"/>
            <a:ext cx="1219200" cy="1981200"/>
          </a:xfrm>
          <a:prstGeom prst="ellipse">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769" name="Google Shape;769;p26"/>
          <p:cNvSpPr/>
          <p:nvPr/>
        </p:nvSpPr>
        <p:spPr>
          <a:xfrm>
            <a:off x="3371850" y="2324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B1</a:t>
            </a:r>
            <a:endParaRPr sz="1800">
              <a:solidFill>
                <a:schemeClr val="dk1"/>
              </a:solidFill>
              <a:latin typeface="Roboto Condensed"/>
              <a:ea typeface="Roboto Condensed"/>
              <a:cs typeface="Roboto Condensed"/>
              <a:sym typeface="Roboto Condensed"/>
            </a:endParaRPr>
          </a:p>
        </p:txBody>
      </p:sp>
      <p:sp>
        <p:nvSpPr>
          <p:cNvPr id="770" name="Google Shape;770;p26"/>
          <p:cNvSpPr/>
          <p:nvPr/>
        </p:nvSpPr>
        <p:spPr>
          <a:xfrm>
            <a:off x="3371850" y="3086100"/>
            <a:ext cx="609600" cy="6096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B2</a:t>
            </a:r>
            <a:endParaRPr sz="1800">
              <a:solidFill>
                <a:schemeClr val="dk1"/>
              </a:solidFill>
              <a:latin typeface="Roboto Condensed"/>
              <a:ea typeface="Roboto Condensed"/>
              <a:cs typeface="Roboto Condensed"/>
              <a:sym typeface="Roboto Condensed"/>
            </a:endParaRPr>
          </a:p>
        </p:txBody>
      </p:sp>
      <p:cxnSp>
        <p:nvCxnSpPr>
          <p:cNvPr id="771" name="Google Shape;771;p26"/>
          <p:cNvCxnSpPr>
            <a:stCxn id="766" idx="3"/>
            <a:endCxn id="769" idx="1"/>
          </p:cNvCxnSpPr>
          <p:nvPr/>
        </p:nvCxnSpPr>
        <p:spPr>
          <a:xfrm>
            <a:off x="2152650" y="2628900"/>
            <a:ext cx="1219200" cy="0"/>
          </a:xfrm>
          <a:prstGeom prst="straightConnector1">
            <a:avLst/>
          </a:prstGeom>
          <a:noFill/>
          <a:ln cap="flat" cmpd="sng" w="28575">
            <a:solidFill>
              <a:schemeClr val="accent1"/>
            </a:solidFill>
            <a:prstDash val="solid"/>
            <a:miter lim="800000"/>
            <a:headEnd len="sm" w="sm" type="none"/>
            <a:tailEnd len="sm" w="sm" type="none"/>
          </a:ln>
        </p:spPr>
      </p:cxnSp>
      <p:sp>
        <p:nvSpPr>
          <p:cNvPr id="772" name="Google Shape;772;p26"/>
          <p:cNvSpPr txBox="1"/>
          <p:nvPr/>
        </p:nvSpPr>
        <p:spPr>
          <a:xfrm>
            <a:off x="1238250" y="4000500"/>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A</a:t>
            </a:r>
            <a:endParaRPr sz="2000">
              <a:solidFill>
                <a:schemeClr val="dk1"/>
              </a:solidFill>
              <a:latin typeface="Roboto Condensed"/>
              <a:ea typeface="Roboto Condensed"/>
              <a:cs typeface="Roboto Condensed"/>
              <a:sym typeface="Roboto Condensed"/>
            </a:endParaRPr>
          </a:p>
        </p:txBody>
      </p:sp>
      <p:sp>
        <p:nvSpPr>
          <p:cNvPr id="773" name="Google Shape;773;p26"/>
          <p:cNvSpPr txBox="1"/>
          <p:nvPr/>
        </p:nvSpPr>
        <p:spPr>
          <a:xfrm>
            <a:off x="3067050" y="4012167"/>
            <a:ext cx="12192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B</a:t>
            </a:r>
            <a:endParaRPr sz="2000">
              <a:solidFill>
                <a:schemeClr val="dk1"/>
              </a:solidFill>
              <a:latin typeface="Roboto Condensed"/>
              <a:ea typeface="Roboto Condensed"/>
              <a:cs typeface="Roboto Condensed"/>
              <a:sym typeface="Roboto Condensed"/>
            </a:endParaRPr>
          </a:p>
        </p:txBody>
      </p:sp>
      <p:sp>
        <p:nvSpPr>
          <p:cNvPr id="774" name="Google Shape;774;p26"/>
          <p:cNvSpPr/>
          <p:nvPr/>
        </p:nvSpPr>
        <p:spPr>
          <a:xfrm>
            <a:off x="6307720" y="2171700"/>
            <a:ext cx="12954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cxnSp>
        <p:nvCxnSpPr>
          <p:cNvPr id="775" name="Google Shape;775;p26"/>
          <p:cNvCxnSpPr>
            <a:stCxn id="767" idx="3"/>
          </p:cNvCxnSpPr>
          <p:nvPr/>
        </p:nvCxnSpPr>
        <p:spPr>
          <a:xfrm flipH="1" rot="10800000">
            <a:off x="2152650" y="2628900"/>
            <a:ext cx="1219200" cy="762000"/>
          </a:xfrm>
          <a:prstGeom prst="straightConnector1">
            <a:avLst/>
          </a:prstGeom>
          <a:noFill/>
          <a:ln cap="flat" cmpd="sng" w="28575">
            <a:solidFill>
              <a:schemeClr val="accent1"/>
            </a:solidFill>
            <a:prstDash val="solid"/>
            <a:miter lim="800000"/>
            <a:headEnd len="sm" w="sm" type="none"/>
            <a:tailEnd len="sm" w="sm" type="none"/>
          </a:ln>
        </p:spPr>
      </p:cxnSp>
      <p:sp>
        <p:nvSpPr>
          <p:cNvPr id="776" name="Google Shape;776;p26"/>
          <p:cNvSpPr/>
          <p:nvPr/>
        </p:nvSpPr>
        <p:spPr>
          <a:xfrm>
            <a:off x="10346320" y="2171700"/>
            <a:ext cx="685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sp>
        <p:nvSpPr>
          <p:cNvPr id="777" name="Google Shape;777;p26"/>
          <p:cNvSpPr/>
          <p:nvPr/>
        </p:nvSpPr>
        <p:spPr>
          <a:xfrm>
            <a:off x="7988131" y="2095500"/>
            <a:ext cx="1977189" cy="6096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borrow</a:t>
            </a:r>
            <a:endParaRPr sz="1800">
              <a:solidFill>
                <a:schemeClr val="dk1"/>
              </a:solidFill>
              <a:latin typeface="Roboto Condensed"/>
              <a:ea typeface="Roboto Condensed"/>
              <a:cs typeface="Roboto Condensed"/>
              <a:sym typeface="Roboto Condensed"/>
            </a:endParaRPr>
          </a:p>
        </p:txBody>
      </p:sp>
      <p:sp>
        <p:nvSpPr>
          <p:cNvPr id="778" name="Google Shape;778;p26"/>
          <p:cNvSpPr/>
          <p:nvPr/>
        </p:nvSpPr>
        <p:spPr>
          <a:xfrm>
            <a:off x="71459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C1</a:t>
            </a:r>
            <a:endParaRPr sz="1800">
              <a:solidFill>
                <a:schemeClr val="dk1"/>
              </a:solidFill>
              <a:latin typeface="Roboto Condensed"/>
              <a:ea typeface="Roboto Condensed"/>
              <a:cs typeface="Roboto Condensed"/>
              <a:sym typeface="Roboto Condensed"/>
            </a:endParaRPr>
          </a:p>
        </p:txBody>
      </p:sp>
      <p:sp>
        <p:nvSpPr>
          <p:cNvPr id="779" name="Google Shape;779;p26"/>
          <p:cNvSpPr/>
          <p:nvPr/>
        </p:nvSpPr>
        <p:spPr>
          <a:xfrm>
            <a:off x="71459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C2</a:t>
            </a:r>
            <a:endParaRPr sz="1800">
              <a:solidFill>
                <a:schemeClr val="dk1"/>
              </a:solidFill>
              <a:latin typeface="Roboto Condensed"/>
              <a:ea typeface="Roboto Condensed"/>
              <a:cs typeface="Roboto Condensed"/>
              <a:sym typeface="Roboto Condensed"/>
            </a:endParaRPr>
          </a:p>
        </p:txBody>
      </p:sp>
      <p:sp>
        <p:nvSpPr>
          <p:cNvPr id="780" name="Google Shape;780;p26"/>
          <p:cNvSpPr/>
          <p:nvPr/>
        </p:nvSpPr>
        <p:spPr>
          <a:xfrm>
            <a:off x="10346320" y="27813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L1</a:t>
            </a:r>
            <a:endParaRPr sz="1800">
              <a:solidFill>
                <a:schemeClr val="dk1"/>
              </a:solidFill>
              <a:latin typeface="Roboto Condensed"/>
              <a:ea typeface="Roboto Condensed"/>
              <a:cs typeface="Roboto Condensed"/>
              <a:sym typeface="Roboto Condensed"/>
            </a:endParaRPr>
          </a:p>
        </p:txBody>
      </p:sp>
      <p:sp>
        <p:nvSpPr>
          <p:cNvPr id="781" name="Google Shape;781;p26"/>
          <p:cNvSpPr/>
          <p:nvPr/>
        </p:nvSpPr>
        <p:spPr>
          <a:xfrm>
            <a:off x="10346320" y="33147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L2</a:t>
            </a:r>
            <a:endParaRPr sz="1800">
              <a:solidFill>
                <a:schemeClr val="dk1"/>
              </a:solidFill>
              <a:latin typeface="Roboto Condensed"/>
              <a:ea typeface="Roboto Condensed"/>
              <a:cs typeface="Roboto Condensed"/>
              <a:sym typeface="Roboto Condensed"/>
            </a:endParaRPr>
          </a:p>
        </p:txBody>
      </p:sp>
      <p:sp>
        <p:nvSpPr>
          <p:cNvPr id="782" name="Google Shape;782;p26"/>
          <p:cNvSpPr/>
          <p:nvPr/>
        </p:nvSpPr>
        <p:spPr>
          <a:xfrm>
            <a:off x="71459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C3</a:t>
            </a:r>
            <a:endParaRPr sz="1800">
              <a:solidFill>
                <a:schemeClr val="dk1"/>
              </a:solidFill>
              <a:latin typeface="Roboto Condensed"/>
              <a:ea typeface="Roboto Condensed"/>
              <a:cs typeface="Roboto Condensed"/>
              <a:sym typeface="Roboto Condensed"/>
            </a:endParaRPr>
          </a:p>
        </p:txBody>
      </p:sp>
      <p:sp>
        <p:nvSpPr>
          <p:cNvPr id="783" name="Google Shape;783;p26"/>
          <p:cNvSpPr/>
          <p:nvPr/>
        </p:nvSpPr>
        <p:spPr>
          <a:xfrm>
            <a:off x="10346320" y="3848100"/>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L3</a:t>
            </a:r>
            <a:endParaRPr sz="1800">
              <a:solidFill>
                <a:schemeClr val="dk1"/>
              </a:solidFill>
              <a:latin typeface="Roboto Condensed"/>
              <a:ea typeface="Roboto Condensed"/>
              <a:cs typeface="Roboto Condensed"/>
              <a:sym typeface="Roboto Condensed"/>
            </a:endParaRPr>
          </a:p>
        </p:txBody>
      </p:sp>
      <p:cxnSp>
        <p:nvCxnSpPr>
          <p:cNvPr id="784" name="Google Shape;784;p26"/>
          <p:cNvCxnSpPr>
            <a:stCxn id="778" idx="3"/>
            <a:endCxn id="780" idx="1"/>
          </p:cNvCxnSpPr>
          <p:nvPr/>
        </p:nvCxnSpPr>
        <p:spPr>
          <a:xfrm>
            <a:off x="7577920" y="2979300"/>
            <a:ext cx="2768400" cy="0"/>
          </a:xfrm>
          <a:prstGeom prst="straightConnector1">
            <a:avLst/>
          </a:prstGeom>
          <a:noFill/>
          <a:ln cap="flat" cmpd="sng" w="28575">
            <a:solidFill>
              <a:schemeClr val="accent1"/>
            </a:solidFill>
            <a:prstDash val="solid"/>
            <a:miter lim="800000"/>
            <a:headEnd len="sm" w="sm" type="none"/>
            <a:tailEnd len="sm" w="sm" type="none"/>
          </a:ln>
        </p:spPr>
      </p:cxnSp>
      <p:cxnSp>
        <p:nvCxnSpPr>
          <p:cNvPr id="785" name="Google Shape;785;p26"/>
          <p:cNvCxnSpPr>
            <a:stCxn id="779" idx="3"/>
            <a:endCxn id="780" idx="1"/>
          </p:cNvCxnSpPr>
          <p:nvPr/>
        </p:nvCxnSpPr>
        <p:spPr>
          <a:xfrm flipH="1" rot="10800000">
            <a:off x="7577920" y="2979300"/>
            <a:ext cx="2768400" cy="533400"/>
          </a:xfrm>
          <a:prstGeom prst="straightConnector1">
            <a:avLst/>
          </a:prstGeom>
          <a:noFill/>
          <a:ln cap="flat" cmpd="sng" w="28575">
            <a:solidFill>
              <a:schemeClr val="accent1"/>
            </a:solidFill>
            <a:prstDash val="solid"/>
            <a:miter lim="800000"/>
            <a:headEnd len="sm" w="sm" type="none"/>
            <a:tailEnd len="sm" w="sm" type="none"/>
          </a:ln>
        </p:spPr>
      </p:cxnSp>
      <p:cxnSp>
        <p:nvCxnSpPr>
          <p:cNvPr id="786" name="Google Shape;786;p26"/>
          <p:cNvCxnSpPr>
            <a:stCxn id="782" idx="3"/>
            <a:endCxn id="781" idx="1"/>
          </p:cNvCxnSpPr>
          <p:nvPr/>
        </p:nvCxnSpPr>
        <p:spPr>
          <a:xfrm flipH="1" rot="10800000">
            <a:off x="7577920" y="3512700"/>
            <a:ext cx="2768400" cy="533400"/>
          </a:xfrm>
          <a:prstGeom prst="straightConnector1">
            <a:avLst/>
          </a:prstGeom>
          <a:noFill/>
          <a:ln cap="flat" cmpd="sng" w="28575">
            <a:solidFill>
              <a:schemeClr val="accent1"/>
            </a:solidFill>
            <a:prstDash val="solid"/>
            <a:miter lim="800000"/>
            <a:headEnd len="sm" w="sm" type="none"/>
            <a:tailEnd len="sm" w="sm" type="none"/>
          </a:ln>
        </p:spPr>
      </p:cxnSp>
      <p:sp>
        <p:nvSpPr>
          <p:cNvPr id="787" name="Google Shape;787;p26"/>
          <p:cNvSpPr/>
          <p:nvPr/>
        </p:nvSpPr>
        <p:spPr>
          <a:xfrm>
            <a:off x="7145920" y="4386629"/>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C4</a:t>
            </a:r>
            <a:endParaRPr sz="1800">
              <a:solidFill>
                <a:schemeClr val="dk1"/>
              </a:solidFill>
              <a:latin typeface="Roboto Condensed"/>
              <a:ea typeface="Roboto Condensed"/>
              <a:cs typeface="Roboto Condensed"/>
              <a:sym typeface="Roboto Condensed"/>
            </a:endParaRPr>
          </a:p>
        </p:txBody>
      </p:sp>
      <p:cxnSp>
        <p:nvCxnSpPr>
          <p:cNvPr id="788" name="Google Shape;788;p26"/>
          <p:cNvCxnSpPr>
            <a:stCxn id="787" idx="3"/>
            <a:endCxn id="783" idx="1"/>
          </p:cNvCxnSpPr>
          <p:nvPr/>
        </p:nvCxnSpPr>
        <p:spPr>
          <a:xfrm flipH="1" rot="10800000">
            <a:off x="7577920" y="4046129"/>
            <a:ext cx="2768400" cy="538500"/>
          </a:xfrm>
          <a:prstGeom prst="straightConnector1">
            <a:avLst/>
          </a:prstGeom>
          <a:noFill/>
          <a:ln cap="flat" cmpd="sng" w="28575">
            <a:solidFill>
              <a:schemeClr val="accent1"/>
            </a:solidFill>
            <a:prstDash val="solid"/>
            <a:miter lim="800000"/>
            <a:headEnd len="sm" w="sm" type="none"/>
            <a:tailEnd len="sm" w="sm" type="none"/>
          </a:ln>
        </p:spPr>
      </p:cxnSp>
      <p:cxnSp>
        <p:nvCxnSpPr>
          <p:cNvPr id="789" name="Google Shape;789;p26"/>
          <p:cNvCxnSpPr/>
          <p:nvPr/>
        </p:nvCxnSpPr>
        <p:spPr>
          <a:xfrm>
            <a:off x="7607229" y="2400300"/>
            <a:ext cx="385011" cy="0"/>
          </a:xfrm>
          <a:prstGeom prst="straightConnector1">
            <a:avLst/>
          </a:prstGeom>
          <a:noFill/>
          <a:ln cap="flat" cmpd="sng" w="28575">
            <a:solidFill>
              <a:schemeClr val="accent4"/>
            </a:solidFill>
            <a:prstDash val="solid"/>
            <a:miter lim="800000"/>
            <a:headEnd len="sm" w="sm" type="none"/>
            <a:tailEnd len="sm" w="sm" type="none"/>
          </a:ln>
        </p:spPr>
      </p:cxnSp>
      <p:cxnSp>
        <p:nvCxnSpPr>
          <p:cNvPr id="790" name="Google Shape;790;p26"/>
          <p:cNvCxnSpPr/>
          <p:nvPr/>
        </p:nvCxnSpPr>
        <p:spPr>
          <a:xfrm>
            <a:off x="2152650" y="3390900"/>
            <a:ext cx="1219200" cy="0"/>
          </a:xfrm>
          <a:prstGeom prst="straightConnector1">
            <a:avLst/>
          </a:prstGeom>
          <a:noFill/>
          <a:ln cap="flat" cmpd="sng" w="28575">
            <a:solidFill>
              <a:schemeClr val="accent1"/>
            </a:solidFill>
            <a:prstDash val="solid"/>
            <a:miter lim="800000"/>
            <a:headEnd len="sm" w="sm" type="none"/>
            <a:tailEnd len="sm" w="sm" type="none"/>
          </a:ln>
        </p:spPr>
      </p:cxnSp>
      <p:cxnSp>
        <p:nvCxnSpPr>
          <p:cNvPr id="791" name="Google Shape;791;p26"/>
          <p:cNvCxnSpPr>
            <a:stCxn id="766" idx="3"/>
            <a:endCxn id="770" idx="1"/>
          </p:cNvCxnSpPr>
          <p:nvPr/>
        </p:nvCxnSpPr>
        <p:spPr>
          <a:xfrm>
            <a:off x="2152650" y="2628900"/>
            <a:ext cx="1219200" cy="762000"/>
          </a:xfrm>
          <a:prstGeom prst="straightConnector1">
            <a:avLst/>
          </a:prstGeom>
          <a:noFill/>
          <a:ln cap="flat" cmpd="sng" w="28575">
            <a:solidFill>
              <a:schemeClr val="accent1"/>
            </a:solidFill>
            <a:prstDash val="solid"/>
            <a:miter lim="800000"/>
            <a:headEnd len="sm" w="sm" type="none"/>
            <a:tailEnd len="sm" w="sm" type="none"/>
          </a:ln>
        </p:spPr>
      </p:cxnSp>
      <p:cxnSp>
        <p:nvCxnSpPr>
          <p:cNvPr id="792" name="Google Shape;792;p26"/>
          <p:cNvCxnSpPr/>
          <p:nvPr/>
        </p:nvCxnSpPr>
        <p:spPr>
          <a:xfrm>
            <a:off x="9965320" y="2400048"/>
            <a:ext cx="385011" cy="0"/>
          </a:xfrm>
          <a:prstGeom prst="straightConnector1">
            <a:avLst/>
          </a:prstGeom>
          <a:noFill/>
          <a:ln cap="flat" cmpd="sng" w="28575">
            <a:solidFill>
              <a:schemeClr val="accent4"/>
            </a:solidFill>
            <a:prstDash val="solid"/>
            <a:miter lim="800000"/>
            <a:headEnd len="sm" w="sm" type="none"/>
            <a:tailEnd len="sm" w="sm" type="none"/>
          </a:ln>
        </p:spPr>
      </p:cxnSp>
      <p:cxnSp>
        <p:nvCxnSpPr>
          <p:cNvPr id="793" name="Google Shape;793;p26"/>
          <p:cNvCxnSpPr>
            <a:stCxn id="778" idx="3"/>
            <a:endCxn id="781" idx="1"/>
          </p:cNvCxnSpPr>
          <p:nvPr/>
        </p:nvCxnSpPr>
        <p:spPr>
          <a:xfrm>
            <a:off x="7577920" y="2979300"/>
            <a:ext cx="2768400" cy="533400"/>
          </a:xfrm>
          <a:prstGeom prst="straightConnector1">
            <a:avLst/>
          </a:prstGeom>
          <a:noFill/>
          <a:ln cap="flat" cmpd="sng" w="28575">
            <a:solidFill>
              <a:schemeClr val="accent1"/>
            </a:solidFill>
            <a:prstDash val="solid"/>
            <a:miter lim="800000"/>
            <a:headEnd len="sm" w="sm" type="none"/>
            <a:tailEnd len="sm" w="sm" type="none"/>
          </a:ln>
        </p:spPr>
      </p:cxnSp>
      <p:sp>
        <p:nvSpPr>
          <p:cNvPr id="794" name="Google Shape;794;p26"/>
          <p:cNvSpPr/>
          <p:nvPr/>
        </p:nvSpPr>
        <p:spPr>
          <a:xfrm>
            <a:off x="10346320" y="4381499"/>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L4</a:t>
            </a:r>
            <a:endParaRPr sz="1800">
              <a:solidFill>
                <a:schemeClr val="dk1"/>
              </a:solidFill>
              <a:latin typeface="Roboto Condensed"/>
              <a:ea typeface="Roboto Condensed"/>
              <a:cs typeface="Roboto Condensed"/>
              <a:sym typeface="Roboto Condensed"/>
            </a:endParaRPr>
          </a:p>
        </p:txBody>
      </p:sp>
      <p:cxnSp>
        <p:nvCxnSpPr>
          <p:cNvPr id="795" name="Google Shape;795;p26"/>
          <p:cNvCxnSpPr>
            <a:stCxn id="779" idx="3"/>
          </p:cNvCxnSpPr>
          <p:nvPr/>
        </p:nvCxnSpPr>
        <p:spPr>
          <a:xfrm>
            <a:off x="7577920" y="3512700"/>
            <a:ext cx="2768400" cy="533400"/>
          </a:xfrm>
          <a:prstGeom prst="straightConnector1">
            <a:avLst/>
          </a:prstGeom>
          <a:noFill/>
          <a:ln cap="flat" cmpd="sng" w="28575">
            <a:solidFill>
              <a:schemeClr val="accent1"/>
            </a:solidFill>
            <a:prstDash val="solid"/>
            <a:miter lim="800000"/>
            <a:headEnd len="sm" w="sm" type="none"/>
            <a:tailEnd len="sm" w="sm" type="none"/>
          </a:ln>
        </p:spPr>
      </p:cxnSp>
      <p:cxnSp>
        <p:nvCxnSpPr>
          <p:cNvPr id="796" name="Google Shape;796;p26"/>
          <p:cNvCxnSpPr/>
          <p:nvPr/>
        </p:nvCxnSpPr>
        <p:spPr>
          <a:xfrm>
            <a:off x="7577920" y="4046099"/>
            <a:ext cx="2768400" cy="533400"/>
          </a:xfrm>
          <a:prstGeom prst="straightConnector1">
            <a:avLst/>
          </a:prstGeom>
          <a:noFill/>
          <a:ln cap="flat" cmpd="sng" w="28575">
            <a:solidFill>
              <a:schemeClr val="accent1"/>
            </a:solidFill>
            <a:prstDash val="solid"/>
            <a:miter lim="800000"/>
            <a:headEnd len="sm" w="sm" type="none"/>
            <a:tailEnd len="sm" w="sm" type="none"/>
          </a:ln>
        </p:spPr>
      </p:cxnSp>
      <p:cxnSp>
        <p:nvCxnSpPr>
          <p:cNvPr id="797" name="Google Shape;797;p26"/>
          <p:cNvCxnSpPr/>
          <p:nvPr/>
        </p:nvCxnSpPr>
        <p:spPr>
          <a:xfrm>
            <a:off x="7577920" y="4588171"/>
            <a:ext cx="2768400" cy="0"/>
          </a:xfrm>
          <a:prstGeom prst="straightConnector1">
            <a:avLst/>
          </a:prstGeom>
          <a:noFill/>
          <a:ln cap="flat" cmpd="sng" w="28575">
            <a:solidFill>
              <a:schemeClr val="accent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0" st="0"/>
                                            </p:txEl>
                                          </p:spTgt>
                                        </p:tgtEl>
                                        <p:attrNameLst>
                                          <p:attrName>style.visibility</p:attrName>
                                        </p:attrNameLst>
                                      </p:cBhvr>
                                      <p:to>
                                        <p:strVal val="visible"/>
                                      </p:to>
                                    </p:set>
                                    <p:animEffect filter="fade" transition="in">
                                      <p:cBhvr>
                                        <p:cTn dur="500"/>
                                        <p:tgtEl>
                                          <p:spTgt spid="7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1" st="1"/>
                                            </p:txEl>
                                          </p:spTgt>
                                        </p:tgtEl>
                                        <p:attrNameLst>
                                          <p:attrName>style.visibility</p:attrName>
                                        </p:attrNameLst>
                                      </p:cBhvr>
                                      <p:to>
                                        <p:strVal val="visible"/>
                                      </p:to>
                                    </p:set>
                                    <p:animEffect filter="fade" transition="in">
                                      <p:cBhvr>
                                        <p:cTn dur="500"/>
                                        <p:tgtEl>
                                          <p:spTgt spid="7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2" st="2"/>
                                            </p:txEl>
                                          </p:spTgt>
                                        </p:tgtEl>
                                        <p:attrNameLst>
                                          <p:attrName>style.visibility</p:attrName>
                                        </p:attrNameLst>
                                      </p:cBhvr>
                                      <p:to>
                                        <p:strVal val="visible"/>
                                      </p:to>
                                    </p:set>
                                    <p:animEffect filter="fade" transition="in">
                                      <p:cBhvr>
                                        <p:cTn dur="500"/>
                                        <p:tgtEl>
                                          <p:spTgt spid="7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3" st="3"/>
                                            </p:txEl>
                                          </p:spTgt>
                                        </p:tgtEl>
                                        <p:attrNameLst>
                                          <p:attrName>style.visibility</p:attrName>
                                        </p:attrNameLst>
                                      </p:cBhvr>
                                      <p:to>
                                        <p:strVal val="visible"/>
                                      </p:to>
                                    </p:set>
                                    <p:animEffect filter="fade" transition="in">
                                      <p:cBhvr>
                                        <p:cTn dur="500"/>
                                        <p:tgtEl>
                                          <p:spTgt spid="7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4" st="4"/>
                                            </p:txEl>
                                          </p:spTgt>
                                        </p:tgtEl>
                                        <p:attrNameLst>
                                          <p:attrName>style.visibility</p:attrName>
                                        </p:attrNameLst>
                                      </p:cBhvr>
                                      <p:to>
                                        <p:strVal val="visible"/>
                                      </p:to>
                                    </p:set>
                                    <p:animEffect filter="fade" transition="in">
                                      <p:cBhvr>
                                        <p:cTn dur="500"/>
                                        <p:tgtEl>
                                          <p:spTgt spid="7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5" st="5"/>
                                            </p:txEl>
                                          </p:spTgt>
                                        </p:tgtEl>
                                        <p:attrNameLst>
                                          <p:attrName>style.visibility</p:attrName>
                                        </p:attrNameLst>
                                      </p:cBhvr>
                                      <p:to>
                                        <p:strVal val="visible"/>
                                      </p:to>
                                    </p:set>
                                    <p:animEffect filter="fade" transition="in">
                                      <p:cBhvr>
                                        <p:cTn dur="500"/>
                                        <p:tgtEl>
                                          <p:spTgt spid="7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6" st="6"/>
                                            </p:txEl>
                                          </p:spTgt>
                                        </p:tgtEl>
                                        <p:attrNameLst>
                                          <p:attrName>style.visibility</p:attrName>
                                        </p:attrNameLst>
                                      </p:cBhvr>
                                      <p:to>
                                        <p:strVal val="visible"/>
                                      </p:to>
                                    </p:set>
                                    <p:animEffect filter="fade" transition="in">
                                      <p:cBhvr>
                                        <p:cTn dur="500"/>
                                        <p:tgtEl>
                                          <p:spTgt spid="7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7" st="7"/>
                                            </p:txEl>
                                          </p:spTgt>
                                        </p:tgtEl>
                                        <p:attrNameLst>
                                          <p:attrName>style.visibility</p:attrName>
                                        </p:attrNameLst>
                                      </p:cBhvr>
                                      <p:to>
                                        <p:strVal val="visible"/>
                                      </p:to>
                                    </p:set>
                                    <p:animEffect filter="fade" transition="in">
                                      <p:cBhvr>
                                        <p:cTn dur="500"/>
                                        <p:tgtEl>
                                          <p:spTgt spid="7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8" st="8"/>
                                            </p:txEl>
                                          </p:spTgt>
                                        </p:tgtEl>
                                        <p:attrNameLst>
                                          <p:attrName>style.visibility</p:attrName>
                                        </p:attrNameLst>
                                      </p:cBhvr>
                                      <p:to>
                                        <p:strVal val="visible"/>
                                      </p:to>
                                    </p:set>
                                    <p:animEffect filter="fade" transition="in">
                                      <p:cBhvr>
                                        <p:cTn dur="500"/>
                                        <p:tgtEl>
                                          <p:spTgt spid="7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xEl>
                                              <p:pRg end="9" st="9"/>
                                            </p:txEl>
                                          </p:spTgt>
                                        </p:tgtEl>
                                        <p:attrNameLst>
                                          <p:attrName>style.visibility</p:attrName>
                                        </p:attrNameLst>
                                      </p:cBhvr>
                                      <p:to>
                                        <p:strVal val="visible"/>
                                      </p:to>
                                    </p:set>
                                    <p:animEffect filter="fade" transition="in">
                                      <p:cBhvr>
                                        <p:cTn dur="500"/>
                                        <p:tgtEl>
                                          <p:spTgt spid="764">
                                            <p:txEl>
                                              <p:pRg end="9" st="9"/>
                                            </p:txEl>
                                          </p:spTgt>
                                        </p:tgtEl>
                                      </p:cBhvr>
                                    </p:animEffect>
                                  </p:childTnLst>
                                </p:cTn>
                              </p:par>
                              <p:par>
                                <p:cTn fill="hold" nodeType="with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500"/>
                                        <p:tgtEl>
                                          <p:spTgt spid="765"/>
                                        </p:tgtEl>
                                      </p:cBhvr>
                                    </p:animEffect>
                                  </p:childTnLst>
                                </p:cTn>
                              </p:par>
                              <p:par>
                                <p:cTn fill="hold" nodeType="with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500"/>
                                        <p:tgtEl>
                                          <p:spTgt spid="766"/>
                                        </p:tgtEl>
                                      </p:cBhvr>
                                    </p:animEffect>
                                  </p:childTnLst>
                                </p:cTn>
                              </p:par>
                              <p:par>
                                <p:cTn fill="hold" nodeType="with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par>
                                <p:cTn fill="hold" nodeType="withEffect" presetClass="entr" presetID="10" presetSubtype="0">
                                  <p:stCondLst>
                                    <p:cond delay="0"/>
                                  </p:stCondLst>
                                  <p:childTnLst>
                                    <p:set>
                                      <p:cBhvr>
                                        <p:cTn dur="1" fill="hold">
                                          <p:stCondLst>
                                            <p:cond delay="0"/>
                                          </p:stCondLst>
                                        </p:cTn>
                                        <p:tgtEl>
                                          <p:spTgt spid="768"/>
                                        </p:tgtEl>
                                        <p:attrNameLst>
                                          <p:attrName>style.visibility</p:attrName>
                                        </p:attrNameLst>
                                      </p:cBhvr>
                                      <p:to>
                                        <p:strVal val="visible"/>
                                      </p:to>
                                    </p:set>
                                    <p:animEffect filter="fade" transition="in">
                                      <p:cBhvr>
                                        <p:cTn dur="500"/>
                                        <p:tgtEl>
                                          <p:spTgt spid="768"/>
                                        </p:tgtEl>
                                      </p:cBhvr>
                                    </p:animEffect>
                                  </p:childTnLst>
                                </p:cTn>
                              </p:par>
                              <p:par>
                                <p:cTn fill="hold" nodeType="with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500"/>
                                        <p:tgtEl>
                                          <p:spTgt spid="769"/>
                                        </p:tgtEl>
                                      </p:cBhvr>
                                    </p:animEffect>
                                  </p:childTnLst>
                                </p:cTn>
                              </p:par>
                              <p:par>
                                <p:cTn fill="hold" nodeType="with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500"/>
                                        <p:tgtEl>
                                          <p:spTgt spid="770"/>
                                        </p:tgtEl>
                                      </p:cBhvr>
                                    </p:animEffect>
                                  </p:childTnLst>
                                </p:cTn>
                              </p:par>
                              <p:par>
                                <p:cTn fill="hold" nodeType="with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500"/>
                                        <p:tgtEl>
                                          <p:spTgt spid="771"/>
                                        </p:tgtEl>
                                      </p:cBhvr>
                                    </p:animEffect>
                                  </p:childTnLst>
                                </p:cTn>
                              </p:par>
                              <p:par>
                                <p:cTn fill="hold" nodeType="with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500"/>
                                        <p:tgtEl>
                                          <p:spTgt spid="772"/>
                                        </p:tgtEl>
                                      </p:cBhvr>
                                    </p:animEffect>
                                  </p:childTnLst>
                                </p:cTn>
                              </p:par>
                              <p:par>
                                <p:cTn fill="hold" nodeType="with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500"/>
                                        <p:tgtEl>
                                          <p:spTgt spid="773"/>
                                        </p:tgtEl>
                                      </p:cBhvr>
                                    </p:animEffect>
                                  </p:childTnLst>
                                </p:cTn>
                              </p:par>
                              <p:par>
                                <p:cTn fill="hold" nodeType="with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500"/>
                                        <p:tgtEl>
                                          <p:spTgt spid="775"/>
                                        </p:tgtEl>
                                      </p:cBhvr>
                                    </p:animEffect>
                                  </p:childTnLst>
                                </p:cTn>
                              </p:par>
                              <p:par>
                                <p:cTn fill="hold" nodeType="with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500"/>
                                        <p:tgtEl>
                                          <p:spTgt spid="790"/>
                                        </p:tgtEl>
                                      </p:cBhvr>
                                    </p:animEffect>
                                  </p:childTnLst>
                                </p:cTn>
                              </p:par>
                              <p:par>
                                <p:cTn fill="hold" nodeType="with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500"/>
                                        <p:tgtEl>
                                          <p:spTgt spid="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500"/>
                                        <p:tgtEl>
                                          <p:spTgt spid="774"/>
                                        </p:tgtEl>
                                      </p:cBhvr>
                                    </p:animEffect>
                                  </p:childTnLst>
                                </p:cTn>
                              </p:par>
                              <p:par>
                                <p:cTn fill="hold" nodeType="with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500"/>
                                        <p:tgtEl>
                                          <p:spTgt spid="777"/>
                                        </p:tgtEl>
                                      </p:cBhvr>
                                    </p:animEffect>
                                  </p:childTnLst>
                                </p:cTn>
                              </p:par>
                              <p:par>
                                <p:cTn fill="hold" nodeType="with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500"/>
                                        <p:tgtEl>
                                          <p:spTgt spid="778"/>
                                        </p:tgtEl>
                                      </p:cBhvr>
                                    </p:animEffect>
                                  </p:childTnLst>
                                </p:cTn>
                              </p:par>
                              <p:par>
                                <p:cTn fill="hold" nodeType="with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500"/>
                                        <p:tgtEl>
                                          <p:spTgt spid="779"/>
                                        </p:tgtEl>
                                      </p:cBhvr>
                                    </p:animEffect>
                                  </p:childTnLst>
                                </p:cTn>
                              </p:par>
                              <p:par>
                                <p:cTn fill="hold" nodeType="with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500"/>
                                        <p:tgtEl>
                                          <p:spTgt spid="780"/>
                                        </p:tgtEl>
                                      </p:cBhvr>
                                    </p:animEffect>
                                  </p:childTnLst>
                                </p:cTn>
                              </p:par>
                              <p:par>
                                <p:cTn fill="hold" nodeType="with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500"/>
                                        <p:tgtEl>
                                          <p:spTgt spid="781"/>
                                        </p:tgtEl>
                                      </p:cBhvr>
                                    </p:animEffect>
                                  </p:childTnLst>
                                </p:cTn>
                              </p:par>
                              <p:par>
                                <p:cTn fill="hold" nodeType="withEffect" presetClass="entr" presetID="10" presetSubtype="0">
                                  <p:stCondLst>
                                    <p:cond delay="0"/>
                                  </p:stCondLst>
                                  <p:childTnLst>
                                    <p:set>
                                      <p:cBhvr>
                                        <p:cTn dur="1" fill="hold">
                                          <p:stCondLst>
                                            <p:cond delay="0"/>
                                          </p:stCondLst>
                                        </p:cTn>
                                        <p:tgtEl>
                                          <p:spTgt spid="782"/>
                                        </p:tgtEl>
                                        <p:attrNameLst>
                                          <p:attrName>style.visibility</p:attrName>
                                        </p:attrNameLst>
                                      </p:cBhvr>
                                      <p:to>
                                        <p:strVal val="visible"/>
                                      </p:to>
                                    </p:set>
                                    <p:animEffect filter="fade" transition="in">
                                      <p:cBhvr>
                                        <p:cTn dur="500"/>
                                        <p:tgtEl>
                                          <p:spTgt spid="782"/>
                                        </p:tgtEl>
                                      </p:cBhvr>
                                    </p:animEffect>
                                  </p:childTnLst>
                                </p:cTn>
                              </p:par>
                              <p:par>
                                <p:cTn fill="hold" nodeType="withEffect" presetClass="entr" presetID="10" presetSubtype="0">
                                  <p:stCondLst>
                                    <p:cond delay="0"/>
                                  </p:stCondLst>
                                  <p:childTnLst>
                                    <p:set>
                                      <p:cBhvr>
                                        <p:cTn dur="1" fill="hold">
                                          <p:stCondLst>
                                            <p:cond delay="0"/>
                                          </p:stCondLst>
                                        </p:cTn>
                                        <p:tgtEl>
                                          <p:spTgt spid="783"/>
                                        </p:tgtEl>
                                        <p:attrNameLst>
                                          <p:attrName>style.visibility</p:attrName>
                                        </p:attrNameLst>
                                      </p:cBhvr>
                                      <p:to>
                                        <p:strVal val="visible"/>
                                      </p:to>
                                    </p:set>
                                    <p:animEffect filter="fade" transition="in">
                                      <p:cBhvr>
                                        <p:cTn dur="500"/>
                                        <p:tgtEl>
                                          <p:spTgt spid="783"/>
                                        </p:tgtEl>
                                      </p:cBhvr>
                                    </p:animEffect>
                                  </p:childTnLst>
                                </p:cTn>
                              </p:par>
                              <p:par>
                                <p:cTn fill="hold" nodeType="withEffect" presetClass="entr" presetID="10" presetSubtype="0">
                                  <p:stCondLst>
                                    <p:cond delay="0"/>
                                  </p:stCondLst>
                                  <p:childTnLst>
                                    <p:set>
                                      <p:cBhvr>
                                        <p:cTn dur="1" fill="hold">
                                          <p:stCondLst>
                                            <p:cond delay="0"/>
                                          </p:stCondLst>
                                        </p:cTn>
                                        <p:tgtEl>
                                          <p:spTgt spid="784"/>
                                        </p:tgtEl>
                                        <p:attrNameLst>
                                          <p:attrName>style.visibility</p:attrName>
                                        </p:attrNameLst>
                                      </p:cBhvr>
                                      <p:to>
                                        <p:strVal val="visible"/>
                                      </p:to>
                                    </p:set>
                                    <p:animEffect filter="fade" transition="in">
                                      <p:cBhvr>
                                        <p:cTn dur="500"/>
                                        <p:tgtEl>
                                          <p:spTgt spid="784"/>
                                        </p:tgtEl>
                                      </p:cBhvr>
                                    </p:animEffect>
                                  </p:childTnLst>
                                </p:cTn>
                              </p:par>
                              <p:par>
                                <p:cTn fill="hold" nodeType="withEffect" presetClass="entr" presetID="10" presetSubtype="0">
                                  <p:stCondLst>
                                    <p:cond delay="0"/>
                                  </p:stCondLst>
                                  <p:childTnLst>
                                    <p:set>
                                      <p:cBhvr>
                                        <p:cTn dur="1" fill="hold">
                                          <p:stCondLst>
                                            <p:cond delay="0"/>
                                          </p:stCondLst>
                                        </p:cTn>
                                        <p:tgtEl>
                                          <p:spTgt spid="785"/>
                                        </p:tgtEl>
                                        <p:attrNameLst>
                                          <p:attrName>style.visibility</p:attrName>
                                        </p:attrNameLst>
                                      </p:cBhvr>
                                      <p:to>
                                        <p:strVal val="visible"/>
                                      </p:to>
                                    </p:set>
                                    <p:animEffect filter="fade" transition="in">
                                      <p:cBhvr>
                                        <p:cTn dur="500"/>
                                        <p:tgtEl>
                                          <p:spTgt spid="785"/>
                                        </p:tgtEl>
                                      </p:cBhvr>
                                    </p:animEffect>
                                  </p:childTnLst>
                                </p:cTn>
                              </p:par>
                              <p:par>
                                <p:cTn fill="hold" nodeType="with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500"/>
                                        <p:tgtEl>
                                          <p:spTgt spid="786"/>
                                        </p:tgtEl>
                                      </p:cBhvr>
                                    </p:animEffect>
                                  </p:childTnLst>
                                </p:cTn>
                              </p:par>
                              <p:par>
                                <p:cTn fill="hold" nodeType="with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500"/>
                                        <p:tgtEl>
                                          <p:spTgt spid="776"/>
                                        </p:tgtEl>
                                      </p:cBhvr>
                                    </p:animEffect>
                                  </p:childTnLst>
                                </p:cTn>
                              </p:par>
                              <p:par>
                                <p:cTn fill="hold" nodeType="with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500"/>
                                        <p:tgtEl>
                                          <p:spTgt spid="787"/>
                                        </p:tgtEl>
                                      </p:cBhvr>
                                    </p:animEffect>
                                  </p:childTnLst>
                                </p:cTn>
                              </p:par>
                              <p:par>
                                <p:cTn fill="hold" nodeType="with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500"/>
                                        <p:tgtEl>
                                          <p:spTgt spid="789"/>
                                        </p:tgtEl>
                                      </p:cBhvr>
                                    </p:animEffect>
                                  </p:childTnLst>
                                </p:cTn>
                              </p:par>
                              <p:par>
                                <p:cTn fill="hold" nodeType="with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500"/>
                                        <p:tgtEl>
                                          <p:spTgt spid="792"/>
                                        </p:tgtEl>
                                      </p:cBhvr>
                                    </p:animEffect>
                                  </p:childTnLst>
                                </p:cTn>
                              </p:par>
                              <p:par>
                                <p:cTn fill="hold" nodeType="with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500"/>
                                        <p:tgtEl>
                                          <p:spTgt spid="793"/>
                                        </p:tgtEl>
                                      </p:cBhvr>
                                    </p:animEffect>
                                  </p:childTnLst>
                                </p:cTn>
                              </p:par>
                              <p:par>
                                <p:cTn fill="hold" nodeType="with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par>
                                <p:cTn fill="hold" nodeType="with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500"/>
                                        <p:tgtEl>
                                          <p:spTgt spid="795"/>
                                        </p:tgtEl>
                                      </p:cBhvr>
                                    </p:animEffect>
                                  </p:childTnLst>
                                </p:cTn>
                              </p:par>
                              <p:par>
                                <p:cTn fill="hold" nodeType="with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500"/>
                                        <p:tgtEl>
                                          <p:spTgt spid="796"/>
                                        </p:tgtEl>
                                      </p:cBhvr>
                                    </p:animEffect>
                                  </p:childTnLst>
                                </p:cTn>
                              </p:par>
                              <p:par>
                                <p:cTn fill="hold" nodeType="with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500"/>
                                        <p:tgtEl>
                                          <p:spTgt spid="7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27"/>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Mapping Cardinality (Cardinality Constraints) </a:t>
            </a:r>
            <a:r>
              <a:rPr lang="en-US">
                <a:solidFill>
                  <a:srgbClr val="8F8F8F"/>
                </a:solidFill>
              </a:rPr>
              <a:t>[Exercise]</a:t>
            </a:r>
            <a:endParaRPr/>
          </a:p>
        </p:txBody>
      </p:sp>
      <p:sp>
        <p:nvSpPr>
          <p:cNvPr id="803" name="Google Shape;803;p27"/>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Draw an E-R diagram and specify which type of mapping cardinality will be there in the following examples:</a:t>
            </a:r>
            <a:endParaRPr/>
          </a:p>
          <a:p>
            <a:pPr indent="-352425" lvl="1" marL="809625" rtl="0" algn="just">
              <a:lnSpc>
                <a:spcPct val="90000"/>
              </a:lnSpc>
              <a:spcBef>
                <a:spcPts val="500"/>
              </a:spcBef>
              <a:spcAft>
                <a:spcPts val="0"/>
              </a:spcAft>
              <a:buSzPts val="2000"/>
              <a:buChar char="⮩"/>
            </a:pPr>
            <a:r>
              <a:rPr lang="en-US"/>
              <a:t>Each customer has only one account in the bank and each account is held by only one customer. [single account]</a:t>
            </a:r>
            <a:endParaRPr/>
          </a:p>
          <a:p>
            <a:pPr indent="-352425" lvl="1" marL="809625" rtl="0" algn="just">
              <a:lnSpc>
                <a:spcPct val="90000"/>
              </a:lnSpc>
              <a:spcBef>
                <a:spcPts val="500"/>
              </a:spcBef>
              <a:spcAft>
                <a:spcPts val="0"/>
              </a:spcAft>
              <a:buSzPts val="2000"/>
              <a:buChar char="⮩"/>
            </a:pPr>
            <a:r>
              <a:rPr lang="en-US"/>
              <a:t>Each customer has only one account in the bank but an account can be held by more than one customer. [joint account]</a:t>
            </a:r>
            <a:endParaRPr/>
          </a:p>
          <a:p>
            <a:pPr indent="-352425" lvl="1" marL="809625" rtl="0" algn="just">
              <a:lnSpc>
                <a:spcPct val="90000"/>
              </a:lnSpc>
              <a:spcBef>
                <a:spcPts val="500"/>
              </a:spcBef>
              <a:spcAft>
                <a:spcPts val="0"/>
              </a:spcAft>
              <a:buSzPts val="2000"/>
              <a:buChar char="⮩"/>
            </a:pPr>
            <a:r>
              <a:rPr lang="en-US"/>
              <a:t>A customer may have more than one account in the bank but each account is held by only one customer. [multiple accounts]</a:t>
            </a:r>
            <a:endParaRPr/>
          </a:p>
          <a:p>
            <a:pPr indent="-352425" lvl="1" marL="809625" rtl="0" algn="just">
              <a:lnSpc>
                <a:spcPct val="90000"/>
              </a:lnSpc>
              <a:spcBef>
                <a:spcPts val="500"/>
              </a:spcBef>
              <a:spcAft>
                <a:spcPts val="0"/>
              </a:spcAft>
              <a:buSzPts val="2000"/>
              <a:buChar char="⮩"/>
            </a:pPr>
            <a:r>
              <a:rPr lang="en-US"/>
              <a:t>A customer may have more than one account in the bank and each account is held by more than one customer. [join account as well as multiple accounts]</a:t>
            </a:r>
            <a:endParaRPr/>
          </a:p>
          <a:p>
            <a:pPr indent="-352425" lvl="1" marL="809625" rtl="0" algn="just">
              <a:lnSpc>
                <a:spcPct val="90000"/>
              </a:lnSpc>
              <a:spcBef>
                <a:spcPts val="500"/>
              </a:spcBef>
              <a:spcAft>
                <a:spcPts val="0"/>
              </a:spcAft>
              <a:buSzPts val="2000"/>
              <a:buChar char="⮩"/>
            </a:pPr>
            <a:r>
              <a:rPr lang="en-US"/>
              <a:t>A student can work in more than one project and a project can be done by more than one student.</a:t>
            </a:r>
            <a:endParaRPr/>
          </a:p>
          <a:p>
            <a:pPr indent="-352425" lvl="1" marL="809625" rtl="0" algn="just">
              <a:lnSpc>
                <a:spcPct val="90000"/>
              </a:lnSpc>
              <a:spcBef>
                <a:spcPts val="500"/>
              </a:spcBef>
              <a:spcAft>
                <a:spcPts val="0"/>
              </a:spcAft>
              <a:buSzPts val="2000"/>
              <a:buChar char="⮩"/>
            </a:pPr>
            <a:r>
              <a:rPr lang="en-US"/>
              <a:t>A student can issue more than one book but a book is issued to only one student.</a:t>
            </a:r>
            <a:endParaRPr/>
          </a:p>
          <a:p>
            <a:pPr indent="-352425" lvl="1" marL="809625" rtl="0" algn="just">
              <a:lnSpc>
                <a:spcPct val="90000"/>
              </a:lnSpc>
              <a:spcBef>
                <a:spcPts val="500"/>
              </a:spcBef>
              <a:spcAft>
                <a:spcPts val="0"/>
              </a:spcAft>
              <a:buSzPts val="2000"/>
              <a:buChar char="⮩"/>
            </a:pPr>
            <a:r>
              <a:rPr lang="en-US"/>
              <a:t>A subject is taught by more than one faculty and a faculty can teach more than one subject.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0" st="0"/>
                                            </p:txEl>
                                          </p:spTgt>
                                        </p:tgtEl>
                                        <p:attrNameLst>
                                          <p:attrName>style.visibility</p:attrName>
                                        </p:attrNameLst>
                                      </p:cBhvr>
                                      <p:to>
                                        <p:strVal val="visible"/>
                                      </p:to>
                                    </p:set>
                                    <p:animEffect filter="fade" transition="in">
                                      <p:cBhvr>
                                        <p:cTn dur="500"/>
                                        <p:tgtEl>
                                          <p:spTgt spid="8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1" st="1"/>
                                            </p:txEl>
                                          </p:spTgt>
                                        </p:tgtEl>
                                        <p:attrNameLst>
                                          <p:attrName>style.visibility</p:attrName>
                                        </p:attrNameLst>
                                      </p:cBhvr>
                                      <p:to>
                                        <p:strVal val="visible"/>
                                      </p:to>
                                    </p:set>
                                    <p:animEffect filter="fade" transition="in">
                                      <p:cBhvr>
                                        <p:cTn dur="500"/>
                                        <p:tgtEl>
                                          <p:spTgt spid="8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2" st="2"/>
                                            </p:txEl>
                                          </p:spTgt>
                                        </p:tgtEl>
                                        <p:attrNameLst>
                                          <p:attrName>style.visibility</p:attrName>
                                        </p:attrNameLst>
                                      </p:cBhvr>
                                      <p:to>
                                        <p:strVal val="visible"/>
                                      </p:to>
                                    </p:set>
                                    <p:animEffect filter="fade" transition="in">
                                      <p:cBhvr>
                                        <p:cTn dur="500"/>
                                        <p:tgtEl>
                                          <p:spTgt spid="8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3" st="3"/>
                                            </p:txEl>
                                          </p:spTgt>
                                        </p:tgtEl>
                                        <p:attrNameLst>
                                          <p:attrName>style.visibility</p:attrName>
                                        </p:attrNameLst>
                                      </p:cBhvr>
                                      <p:to>
                                        <p:strVal val="visible"/>
                                      </p:to>
                                    </p:set>
                                    <p:animEffect filter="fade" transition="in">
                                      <p:cBhvr>
                                        <p:cTn dur="500"/>
                                        <p:tgtEl>
                                          <p:spTgt spid="8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4" st="4"/>
                                            </p:txEl>
                                          </p:spTgt>
                                        </p:tgtEl>
                                        <p:attrNameLst>
                                          <p:attrName>style.visibility</p:attrName>
                                        </p:attrNameLst>
                                      </p:cBhvr>
                                      <p:to>
                                        <p:strVal val="visible"/>
                                      </p:to>
                                    </p:set>
                                    <p:animEffect filter="fade" transition="in">
                                      <p:cBhvr>
                                        <p:cTn dur="500"/>
                                        <p:tgtEl>
                                          <p:spTgt spid="8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5" st="5"/>
                                            </p:txEl>
                                          </p:spTgt>
                                        </p:tgtEl>
                                        <p:attrNameLst>
                                          <p:attrName>style.visibility</p:attrName>
                                        </p:attrNameLst>
                                      </p:cBhvr>
                                      <p:to>
                                        <p:strVal val="visible"/>
                                      </p:to>
                                    </p:set>
                                    <p:animEffect filter="fade" transition="in">
                                      <p:cBhvr>
                                        <p:cTn dur="500"/>
                                        <p:tgtEl>
                                          <p:spTgt spid="8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6" st="6"/>
                                            </p:txEl>
                                          </p:spTgt>
                                        </p:tgtEl>
                                        <p:attrNameLst>
                                          <p:attrName>style.visibility</p:attrName>
                                        </p:attrNameLst>
                                      </p:cBhvr>
                                      <p:to>
                                        <p:strVal val="visible"/>
                                      </p:to>
                                    </p:set>
                                    <p:animEffect filter="fade" transition="in">
                                      <p:cBhvr>
                                        <p:cTn dur="500"/>
                                        <p:tgtEl>
                                          <p:spTgt spid="8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7" st="7"/>
                                            </p:txEl>
                                          </p:spTgt>
                                        </p:tgtEl>
                                        <p:attrNameLst>
                                          <p:attrName>style.visibility</p:attrName>
                                        </p:attrNameLst>
                                      </p:cBhvr>
                                      <p:to>
                                        <p:strVal val="visible"/>
                                      </p:to>
                                    </p:set>
                                    <p:animEffect filter="fade" transition="in">
                                      <p:cBhvr>
                                        <p:cTn dur="500"/>
                                        <p:tgtEl>
                                          <p:spTgt spid="80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Participation Constraints</a:t>
            </a:r>
            <a:endParaRPr/>
          </a:p>
        </p:txBody>
      </p:sp>
      <p:sp>
        <p:nvSpPr>
          <p:cNvPr id="809" name="Google Shape;809;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- 4</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29"/>
          <p:cNvSpPr/>
          <p:nvPr/>
        </p:nvSpPr>
        <p:spPr>
          <a:xfrm>
            <a:off x="6583309" y="2478322"/>
            <a:ext cx="5400000" cy="1440000"/>
          </a:xfrm>
          <a:prstGeom prst="wedgeRoundRectCallout">
            <a:avLst>
              <a:gd fmla="val -33981" name="adj1"/>
              <a:gd fmla="val 95347" name="adj2"/>
              <a:gd fmla="val 16667" name="adj3"/>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accent6"/>
                </a:solidFill>
                <a:latin typeface="Roboto Condensed"/>
                <a:ea typeface="Roboto Condensed"/>
                <a:cs typeface="Roboto Condensed"/>
                <a:sym typeface="Roboto Condensed"/>
              </a:rPr>
              <a:t>Total participation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Roboto Condensed"/>
                <a:ea typeface="Roboto Condensed"/>
                <a:cs typeface="Roboto Condensed"/>
                <a:sym typeface="Roboto Condensed"/>
              </a:rPr>
              <a:t>every entity in the entity set participates in at least one relationship in the relationship set.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Roboto Condensed"/>
                <a:ea typeface="Roboto Condensed"/>
                <a:cs typeface="Roboto Condensed"/>
                <a:sym typeface="Roboto Condensed"/>
              </a:rPr>
              <a:t>indicated by </a:t>
            </a:r>
            <a:r>
              <a:rPr lang="en-US" sz="1800">
                <a:solidFill>
                  <a:schemeClr val="accent6"/>
                </a:solidFill>
                <a:latin typeface="Roboto Condensed"/>
                <a:ea typeface="Roboto Condensed"/>
                <a:cs typeface="Roboto Condensed"/>
                <a:sym typeface="Roboto Condensed"/>
              </a:rPr>
              <a:t>double line</a:t>
            </a:r>
            <a:endParaRPr/>
          </a:p>
        </p:txBody>
      </p:sp>
      <p:sp>
        <p:nvSpPr>
          <p:cNvPr id="815" name="Google Shape;815;p29"/>
          <p:cNvSpPr/>
          <p:nvPr/>
        </p:nvSpPr>
        <p:spPr>
          <a:xfrm>
            <a:off x="626806" y="2462722"/>
            <a:ext cx="5400000" cy="1440000"/>
          </a:xfrm>
          <a:prstGeom prst="wedgeRoundRectCallout">
            <a:avLst>
              <a:gd fmla="val 34452" name="adj1"/>
              <a:gd fmla="val 99857" name="adj2"/>
              <a:gd fmla="val 16667" name="adj3"/>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accent6"/>
                </a:solidFill>
                <a:latin typeface="Roboto Condensed"/>
                <a:ea typeface="Roboto Condensed"/>
                <a:cs typeface="Roboto Condensed"/>
                <a:sym typeface="Roboto Condensed"/>
              </a:rPr>
              <a:t>Partial participation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Roboto Condensed"/>
                <a:ea typeface="Roboto Condensed"/>
                <a:cs typeface="Roboto Condensed"/>
                <a:sym typeface="Roboto Condensed"/>
              </a:rPr>
              <a:t>some entities in the entity set may not participate in any relationship in the relationship set.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Roboto Condensed"/>
                <a:ea typeface="Roboto Condensed"/>
                <a:cs typeface="Roboto Condensed"/>
                <a:sym typeface="Roboto Condensed"/>
              </a:rPr>
              <a:t>indicated by </a:t>
            </a:r>
            <a:r>
              <a:rPr lang="en-US" sz="1800">
                <a:solidFill>
                  <a:schemeClr val="accent6"/>
                </a:solidFill>
                <a:latin typeface="Roboto Condensed"/>
                <a:ea typeface="Roboto Condensed"/>
                <a:cs typeface="Roboto Condensed"/>
                <a:sym typeface="Roboto Condensed"/>
              </a:rPr>
              <a:t>single line</a:t>
            </a:r>
            <a:endParaRPr/>
          </a:p>
        </p:txBody>
      </p:sp>
      <p:sp>
        <p:nvSpPr>
          <p:cNvPr id="816" name="Google Shape;816;p29"/>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Participation Constraints</a:t>
            </a:r>
            <a:endParaRPr/>
          </a:p>
        </p:txBody>
      </p:sp>
      <p:sp>
        <p:nvSpPr>
          <p:cNvPr id="817" name="Google Shape;817;p29"/>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It specifies the </a:t>
            </a:r>
            <a:r>
              <a:rPr b="1" lang="en-US">
                <a:solidFill>
                  <a:schemeClr val="accent6"/>
                </a:solidFill>
              </a:rPr>
              <a:t>participation of an entity set </a:t>
            </a:r>
            <a:r>
              <a:rPr lang="en-US"/>
              <a:t>in a relationship set.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There are two types participation constraints</a:t>
            </a:r>
            <a:endParaRPr/>
          </a:p>
          <a:p>
            <a:pPr indent="-352425" lvl="1" marL="809625" rtl="0" algn="just">
              <a:lnSpc>
                <a:spcPct val="90000"/>
              </a:lnSpc>
              <a:spcBef>
                <a:spcPts val="500"/>
              </a:spcBef>
              <a:spcAft>
                <a:spcPts val="0"/>
              </a:spcAft>
              <a:buSzPts val="2000"/>
              <a:buChar char="⮩"/>
            </a:pPr>
            <a:r>
              <a:rPr lang="en-US"/>
              <a:t>Total participation</a:t>
            </a:r>
            <a:endParaRPr/>
          </a:p>
          <a:p>
            <a:pPr indent="-352425" lvl="1" marL="809625" rtl="0" algn="just">
              <a:lnSpc>
                <a:spcPct val="90000"/>
              </a:lnSpc>
              <a:spcBef>
                <a:spcPts val="500"/>
              </a:spcBef>
              <a:spcAft>
                <a:spcPts val="0"/>
              </a:spcAft>
              <a:buSzPts val="2000"/>
              <a:buChar char="⮩"/>
            </a:pPr>
            <a:r>
              <a:rPr lang="en-US"/>
              <a:t>Partial participation</a:t>
            </a:r>
            <a:endParaRPr/>
          </a:p>
        </p:txBody>
      </p:sp>
      <p:sp>
        <p:nvSpPr>
          <p:cNvPr id="818" name="Google Shape;818;p29"/>
          <p:cNvSpPr/>
          <p:nvPr/>
        </p:nvSpPr>
        <p:spPr>
          <a:xfrm>
            <a:off x="3637927" y="4411357"/>
            <a:ext cx="12954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sp>
        <p:nvSpPr>
          <p:cNvPr id="819" name="Google Shape;819;p29"/>
          <p:cNvSpPr/>
          <p:nvPr/>
        </p:nvSpPr>
        <p:spPr>
          <a:xfrm>
            <a:off x="7676527" y="4411357"/>
            <a:ext cx="685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sp>
        <p:nvSpPr>
          <p:cNvPr id="820" name="Google Shape;820;p29"/>
          <p:cNvSpPr/>
          <p:nvPr/>
        </p:nvSpPr>
        <p:spPr>
          <a:xfrm>
            <a:off x="5318338" y="4335157"/>
            <a:ext cx="1977189" cy="6096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borrow</a:t>
            </a:r>
            <a:endParaRPr sz="1800">
              <a:solidFill>
                <a:schemeClr val="dk1"/>
              </a:solidFill>
              <a:latin typeface="Roboto Condensed"/>
              <a:ea typeface="Roboto Condensed"/>
              <a:cs typeface="Roboto Condensed"/>
              <a:sym typeface="Roboto Condensed"/>
            </a:endParaRPr>
          </a:p>
        </p:txBody>
      </p:sp>
      <p:cxnSp>
        <p:nvCxnSpPr>
          <p:cNvPr id="821" name="Google Shape;821;p29"/>
          <p:cNvCxnSpPr>
            <a:stCxn id="818" idx="3"/>
            <a:endCxn id="820" idx="1"/>
          </p:cNvCxnSpPr>
          <p:nvPr/>
        </p:nvCxnSpPr>
        <p:spPr>
          <a:xfrm>
            <a:off x="4933327" y="4639957"/>
            <a:ext cx="384900" cy="0"/>
          </a:xfrm>
          <a:prstGeom prst="straightConnector1">
            <a:avLst/>
          </a:prstGeom>
          <a:noFill/>
          <a:ln cap="flat" cmpd="sng" w="28575">
            <a:solidFill>
              <a:schemeClr val="accent4"/>
            </a:solidFill>
            <a:prstDash val="solid"/>
            <a:miter lim="800000"/>
            <a:headEnd len="sm" w="sm" type="none"/>
            <a:tailEnd len="sm" w="sm" type="none"/>
          </a:ln>
        </p:spPr>
      </p:cxnSp>
      <p:cxnSp>
        <p:nvCxnSpPr>
          <p:cNvPr id="822" name="Google Shape;822;p29"/>
          <p:cNvCxnSpPr/>
          <p:nvPr/>
        </p:nvCxnSpPr>
        <p:spPr>
          <a:xfrm>
            <a:off x="7168179" y="4588809"/>
            <a:ext cx="504000" cy="0"/>
          </a:xfrm>
          <a:prstGeom prst="straightConnector1">
            <a:avLst/>
          </a:prstGeom>
          <a:noFill/>
          <a:ln cap="flat" cmpd="sng" w="28575">
            <a:solidFill>
              <a:schemeClr val="accent4"/>
            </a:solidFill>
            <a:prstDash val="solid"/>
            <a:miter lim="800000"/>
            <a:headEnd len="sm" w="sm" type="none"/>
            <a:tailEnd len="sm" w="sm" type="none"/>
          </a:ln>
        </p:spPr>
      </p:cxnSp>
      <p:sp>
        <p:nvSpPr>
          <p:cNvPr id="823" name="Google Shape;823;p29"/>
          <p:cNvSpPr/>
          <p:nvPr/>
        </p:nvSpPr>
        <p:spPr>
          <a:xfrm>
            <a:off x="4476127" y="5005957"/>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C1</a:t>
            </a:r>
            <a:endParaRPr sz="1800">
              <a:solidFill>
                <a:schemeClr val="dk1"/>
              </a:solidFill>
              <a:latin typeface="Roboto Condensed"/>
              <a:ea typeface="Roboto Condensed"/>
              <a:cs typeface="Roboto Condensed"/>
              <a:sym typeface="Roboto Condensed"/>
            </a:endParaRPr>
          </a:p>
        </p:txBody>
      </p:sp>
      <p:sp>
        <p:nvSpPr>
          <p:cNvPr id="824" name="Google Shape;824;p29"/>
          <p:cNvSpPr/>
          <p:nvPr/>
        </p:nvSpPr>
        <p:spPr>
          <a:xfrm>
            <a:off x="4476127" y="5539357"/>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C2</a:t>
            </a:r>
            <a:endParaRPr sz="1800">
              <a:solidFill>
                <a:schemeClr val="dk1"/>
              </a:solidFill>
              <a:latin typeface="Roboto Condensed"/>
              <a:ea typeface="Roboto Condensed"/>
              <a:cs typeface="Roboto Condensed"/>
              <a:sym typeface="Roboto Condensed"/>
            </a:endParaRPr>
          </a:p>
        </p:txBody>
      </p:sp>
      <p:sp>
        <p:nvSpPr>
          <p:cNvPr id="825" name="Google Shape;825;p29"/>
          <p:cNvSpPr/>
          <p:nvPr/>
        </p:nvSpPr>
        <p:spPr>
          <a:xfrm>
            <a:off x="7676527" y="5005957"/>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L1</a:t>
            </a:r>
            <a:endParaRPr sz="1800">
              <a:solidFill>
                <a:schemeClr val="dk1"/>
              </a:solidFill>
              <a:latin typeface="Roboto Condensed"/>
              <a:ea typeface="Roboto Condensed"/>
              <a:cs typeface="Roboto Condensed"/>
              <a:sym typeface="Roboto Condensed"/>
            </a:endParaRPr>
          </a:p>
        </p:txBody>
      </p:sp>
      <p:sp>
        <p:nvSpPr>
          <p:cNvPr id="826" name="Google Shape;826;p29"/>
          <p:cNvSpPr/>
          <p:nvPr/>
        </p:nvSpPr>
        <p:spPr>
          <a:xfrm>
            <a:off x="7676527" y="5539357"/>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L2</a:t>
            </a:r>
            <a:endParaRPr sz="1800">
              <a:solidFill>
                <a:schemeClr val="dk1"/>
              </a:solidFill>
              <a:latin typeface="Roboto Condensed"/>
              <a:ea typeface="Roboto Condensed"/>
              <a:cs typeface="Roboto Condensed"/>
              <a:sym typeface="Roboto Condensed"/>
            </a:endParaRPr>
          </a:p>
        </p:txBody>
      </p:sp>
      <p:sp>
        <p:nvSpPr>
          <p:cNvPr id="827" name="Google Shape;827;p29"/>
          <p:cNvSpPr/>
          <p:nvPr/>
        </p:nvSpPr>
        <p:spPr>
          <a:xfrm>
            <a:off x="4476127" y="6072757"/>
            <a:ext cx="432000" cy="39600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C3</a:t>
            </a:r>
            <a:endParaRPr sz="1800">
              <a:solidFill>
                <a:schemeClr val="dk1"/>
              </a:solidFill>
              <a:latin typeface="Roboto Condensed"/>
              <a:ea typeface="Roboto Condensed"/>
              <a:cs typeface="Roboto Condensed"/>
              <a:sym typeface="Roboto Condensed"/>
            </a:endParaRPr>
          </a:p>
        </p:txBody>
      </p:sp>
      <p:cxnSp>
        <p:nvCxnSpPr>
          <p:cNvPr id="828" name="Google Shape;828;p29"/>
          <p:cNvCxnSpPr>
            <a:stCxn id="823" idx="3"/>
            <a:endCxn id="825" idx="1"/>
          </p:cNvCxnSpPr>
          <p:nvPr/>
        </p:nvCxnSpPr>
        <p:spPr>
          <a:xfrm>
            <a:off x="4908127" y="5203957"/>
            <a:ext cx="2768400" cy="0"/>
          </a:xfrm>
          <a:prstGeom prst="straightConnector1">
            <a:avLst/>
          </a:prstGeom>
          <a:noFill/>
          <a:ln cap="flat" cmpd="sng" w="28575">
            <a:solidFill>
              <a:schemeClr val="accent1"/>
            </a:solidFill>
            <a:prstDash val="solid"/>
            <a:miter lim="800000"/>
            <a:headEnd len="sm" w="sm" type="none"/>
            <a:tailEnd len="sm" w="sm" type="none"/>
          </a:ln>
        </p:spPr>
      </p:cxnSp>
      <p:cxnSp>
        <p:nvCxnSpPr>
          <p:cNvPr id="829" name="Google Shape;829;p29"/>
          <p:cNvCxnSpPr>
            <a:stCxn id="824" idx="3"/>
            <a:endCxn id="826" idx="1"/>
          </p:cNvCxnSpPr>
          <p:nvPr/>
        </p:nvCxnSpPr>
        <p:spPr>
          <a:xfrm>
            <a:off x="4908127" y="5737357"/>
            <a:ext cx="2768400" cy="0"/>
          </a:xfrm>
          <a:prstGeom prst="straightConnector1">
            <a:avLst/>
          </a:prstGeom>
          <a:noFill/>
          <a:ln cap="flat" cmpd="sng" w="28575">
            <a:solidFill>
              <a:schemeClr val="accent1"/>
            </a:solidFill>
            <a:prstDash val="solid"/>
            <a:miter lim="800000"/>
            <a:headEnd len="sm" w="sm" type="none"/>
            <a:tailEnd len="sm" w="sm" type="none"/>
          </a:ln>
        </p:spPr>
      </p:cxnSp>
      <p:sp>
        <p:nvSpPr>
          <p:cNvPr id="830" name="Google Shape;830;p29"/>
          <p:cNvSpPr txBox="1"/>
          <p:nvPr/>
        </p:nvSpPr>
        <p:spPr>
          <a:xfrm>
            <a:off x="1962575" y="5347427"/>
            <a:ext cx="2286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Each customer has maximum one  loan</a:t>
            </a:r>
            <a:endParaRPr sz="1800">
              <a:solidFill>
                <a:schemeClr val="dk1"/>
              </a:solidFill>
              <a:latin typeface="Roboto Condensed"/>
              <a:ea typeface="Roboto Condensed"/>
              <a:cs typeface="Roboto Condensed"/>
              <a:sym typeface="Roboto Condensed"/>
            </a:endParaRPr>
          </a:p>
        </p:txBody>
      </p:sp>
      <p:cxnSp>
        <p:nvCxnSpPr>
          <p:cNvPr id="831" name="Google Shape;831;p29"/>
          <p:cNvCxnSpPr/>
          <p:nvPr/>
        </p:nvCxnSpPr>
        <p:spPr>
          <a:xfrm>
            <a:off x="7168179" y="4691105"/>
            <a:ext cx="504000" cy="0"/>
          </a:xfrm>
          <a:prstGeom prst="straightConnector1">
            <a:avLst/>
          </a:prstGeom>
          <a:noFill/>
          <a:ln cap="flat" cmpd="sng" w="28575">
            <a:solidFill>
              <a:schemeClr val="accent4"/>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0" st="0"/>
                                            </p:txEl>
                                          </p:spTgt>
                                        </p:tgtEl>
                                        <p:attrNameLst>
                                          <p:attrName>style.visibility</p:attrName>
                                        </p:attrNameLst>
                                      </p:cBhvr>
                                      <p:to>
                                        <p:strVal val="visible"/>
                                      </p:to>
                                    </p:set>
                                    <p:animEffect filter="fade" transition="in">
                                      <p:cBhvr>
                                        <p:cTn dur="500"/>
                                        <p:tgtEl>
                                          <p:spTgt spid="8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 st="1"/>
                                            </p:txEl>
                                          </p:spTgt>
                                        </p:tgtEl>
                                        <p:attrNameLst>
                                          <p:attrName>style.visibility</p:attrName>
                                        </p:attrNameLst>
                                      </p:cBhvr>
                                      <p:to>
                                        <p:strVal val="visible"/>
                                      </p:to>
                                    </p:set>
                                    <p:animEffect filter="fade" transition="in">
                                      <p:cBhvr>
                                        <p:cTn dur="500"/>
                                        <p:tgtEl>
                                          <p:spTgt spid="8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2" st="2"/>
                                            </p:txEl>
                                          </p:spTgt>
                                        </p:tgtEl>
                                        <p:attrNameLst>
                                          <p:attrName>style.visibility</p:attrName>
                                        </p:attrNameLst>
                                      </p:cBhvr>
                                      <p:to>
                                        <p:strVal val="visible"/>
                                      </p:to>
                                    </p:set>
                                    <p:animEffect filter="fade" transition="in">
                                      <p:cBhvr>
                                        <p:cTn dur="500"/>
                                        <p:tgtEl>
                                          <p:spTgt spid="8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3" st="3"/>
                                            </p:txEl>
                                          </p:spTgt>
                                        </p:tgtEl>
                                        <p:attrNameLst>
                                          <p:attrName>style.visibility</p:attrName>
                                        </p:attrNameLst>
                                      </p:cBhvr>
                                      <p:to>
                                        <p:strVal val="visible"/>
                                      </p:to>
                                    </p:set>
                                    <p:animEffect filter="fade" transition="in">
                                      <p:cBhvr>
                                        <p:cTn dur="500"/>
                                        <p:tgtEl>
                                          <p:spTgt spid="8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500"/>
                                        <p:tgtEl>
                                          <p:spTgt spid="818"/>
                                        </p:tgtEl>
                                      </p:cBhvr>
                                    </p:animEffect>
                                  </p:childTnLst>
                                </p:cTn>
                              </p:par>
                              <p:par>
                                <p:cTn fill="hold" nodeType="with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500"/>
                                        <p:tgtEl>
                                          <p:spTgt spid="819"/>
                                        </p:tgtEl>
                                      </p:cBhvr>
                                    </p:animEffect>
                                  </p:childTnLst>
                                </p:cTn>
                              </p:par>
                              <p:par>
                                <p:cTn fill="hold" nodeType="with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500"/>
                                        <p:tgtEl>
                                          <p:spTgt spid="820"/>
                                        </p:tgtEl>
                                      </p:cBhvr>
                                    </p:animEffect>
                                  </p:childTnLst>
                                </p:cTn>
                              </p:par>
                              <p:par>
                                <p:cTn fill="hold" nodeType="with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500"/>
                                        <p:tgtEl>
                                          <p:spTgt spid="821"/>
                                        </p:tgtEl>
                                      </p:cBhvr>
                                    </p:animEffect>
                                  </p:childTnLst>
                                </p:cTn>
                              </p:par>
                              <p:par>
                                <p:cTn fill="hold" nodeType="with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500"/>
                                        <p:tgtEl>
                                          <p:spTgt spid="822"/>
                                        </p:tgtEl>
                                      </p:cBhvr>
                                    </p:animEffect>
                                  </p:childTnLst>
                                </p:cTn>
                              </p:par>
                              <p:par>
                                <p:cTn fill="hold" nodeType="with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500"/>
                                        <p:tgtEl>
                                          <p:spTgt spid="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500"/>
                                        <p:tgtEl>
                                          <p:spTgt spid="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500"/>
                                        <p:tgtEl>
                                          <p:spTgt spid="823"/>
                                        </p:tgtEl>
                                      </p:cBhvr>
                                    </p:animEffect>
                                  </p:childTnLst>
                                </p:cTn>
                              </p:par>
                              <p:par>
                                <p:cTn fill="hold" nodeType="with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par>
                                <p:cTn fill="hold" nodeType="with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500"/>
                                        <p:tgtEl>
                                          <p:spTgt spid="827"/>
                                        </p:tgtEl>
                                      </p:cBhvr>
                                    </p:animEffect>
                                  </p:childTnLst>
                                </p:cTn>
                              </p:par>
                              <p:par>
                                <p:cTn fill="hold" nodeType="with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par>
                                <p:cTn fill="hold" nodeType="with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5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
                                        </p:tgtEl>
                                        <p:attrNameLst>
                                          <p:attrName>style.visibility</p:attrName>
                                        </p:attrNameLst>
                                      </p:cBhvr>
                                      <p:to>
                                        <p:strVal val="visible"/>
                                      </p:to>
                                    </p:set>
                                    <p:animEffect filter="fade" transition="in">
                                      <p:cBhvr>
                                        <p:cTn dur="500"/>
                                        <p:tgtEl>
                                          <p:spTgt spid="8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500"/>
                                        <p:tgtEl>
                                          <p:spTgt spid="815"/>
                                        </p:tgtEl>
                                      </p:cBhvr>
                                    </p:animEffect>
                                  </p:childTnLst>
                                </p:cTn>
                              </p:par>
                              <p:par>
                                <p:cTn fill="hold" nodeType="withEffect" presetClass="entr" presetID="10" presetSubtype="0">
                                  <p:stCondLst>
                                    <p:cond delay="0"/>
                                  </p:stCondLst>
                                  <p:childTnLst>
                                    <p:set>
                                      <p:cBhvr>
                                        <p:cTn dur="1" fill="hold">
                                          <p:stCondLst>
                                            <p:cond delay="0"/>
                                          </p:stCondLst>
                                        </p:cTn>
                                        <p:tgtEl>
                                          <p:spTgt spid="815">
                                            <p:txEl>
                                              <p:pRg end="0" st="0"/>
                                            </p:txEl>
                                          </p:spTgt>
                                        </p:tgtEl>
                                        <p:attrNameLst>
                                          <p:attrName>style.visibility</p:attrName>
                                        </p:attrNameLst>
                                      </p:cBhvr>
                                      <p:to>
                                        <p:strVal val="visible"/>
                                      </p:to>
                                    </p:set>
                                    <p:animEffect filter="fade" transition="in">
                                      <p:cBhvr>
                                        <p:cTn dur="500"/>
                                        <p:tgtEl>
                                          <p:spTgt spid="81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815">
                                            <p:txEl>
                                              <p:pRg end="1" st="1"/>
                                            </p:txEl>
                                          </p:spTgt>
                                        </p:tgtEl>
                                        <p:attrNameLst>
                                          <p:attrName>style.visibility</p:attrName>
                                        </p:attrNameLst>
                                      </p:cBhvr>
                                      <p:to>
                                        <p:strVal val="visible"/>
                                      </p:to>
                                    </p:set>
                                    <p:animEffect filter="fade" transition="in">
                                      <p:cBhvr>
                                        <p:cTn dur="500"/>
                                        <p:tgtEl>
                                          <p:spTgt spid="81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815">
                                            <p:txEl>
                                              <p:pRg end="2" st="2"/>
                                            </p:txEl>
                                          </p:spTgt>
                                        </p:tgtEl>
                                        <p:attrNameLst>
                                          <p:attrName>style.visibility</p:attrName>
                                        </p:attrNameLst>
                                      </p:cBhvr>
                                      <p:to>
                                        <p:strVal val="visible"/>
                                      </p:to>
                                    </p:set>
                                    <p:animEffect filter="fade" transition="in">
                                      <p:cBhvr>
                                        <p:cTn dur="500"/>
                                        <p:tgtEl>
                                          <p:spTgt spid="8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500"/>
                                        <p:tgtEl>
                                          <p:spTgt spid="814"/>
                                        </p:tgtEl>
                                      </p:cBhvr>
                                    </p:animEffect>
                                  </p:childTnLst>
                                </p:cTn>
                              </p:par>
                              <p:par>
                                <p:cTn fill="hold" nodeType="withEffect" presetClass="entr" presetID="10" presetSubtype="0">
                                  <p:stCondLst>
                                    <p:cond delay="0"/>
                                  </p:stCondLst>
                                  <p:childTnLst>
                                    <p:set>
                                      <p:cBhvr>
                                        <p:cTn dur="1" fill="hold">
                                          <p:stCondLst>
                                            <p:cond delay="0"/>
                                          </p:stCondLst>
                                        </p:cTn>
                                        <p:tgtEl>
                                          <p:spTgt spid="814">
                                            <p:txEl>
                                              <p:pRg end="0" st="0"/>
                                            </p:txEl>
                                          </p:spTgt>
                                        </p:tgtEl>
                                        <p:attrNameLst>
                                          <p:attrName>style.visibility</p:attrName>
                                        </p:attrNameLst>
                                      </p:cBhvr>
                                      <p:to>
                                        <p:strVal val="visible"/>
                                      </p:to>
                                    </p:set>
                                    <p:animEffect filter="fade" transition="in">
                                      <p:cBhvr>
                                        <p:cTn dur="500"/>
                                        <p:tgtEl>
                                          <p:spTgt spid="81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814">
                                            <p:txEl>
                                              <p:pRg end="1" st="1"/>
                                            </p:txEl>
                                          </p:spTgt>
                                        </p:tgtEl>
                                        <p:attrNameLst>
                                          <p:attrName>style.visibility</p:attrName>
                                        </p:attrNameLst>
                                      </p:cBhvr>
                                      <p:to>
                                        <p:strVal val="visible"/>
                                      </p:to>
                                    </p:set>
                                    <p:animEffect filter="fade" transition="in">
                                      <p:cBhvr>
                                        <p:cTn dur="500"/>
                                        <p:tgtEl>
                                          <p:spTgt spid="81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814">
                                            <p:txEl>
                                              <p:pRg end="2" st="2"/>
                                            </p:txEl>
                                          </p:spTgt>
                                        </p:tgtEl>
                                        <p:attrNameLst>
                                          <p:attrName>style.visibility</p:attrName>
                                        </p:attrNameLst>
                                      </p:cBhvr>
                                      <p:to>
                                        <p:strVal val="visible"/>
                                      </p:to>
                                    </p:set>
                                    <p:animEffect filter="fade" transition="in">
                                      <p:cBhvr>
                                        <p:cTn dur="500"/>
                                        <p:tgtEl>
                                          <p:spTgt spid="81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Weak Entity Set</a:t>
            </a:r>
            <a:endParaRPr/>
          </a:p>
        </p:txBody>
      </p:sp>
      <p:sp>
        <p:nvSpPr>
          <p:cNvPr id="837" name="Google Shape;837;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- 5</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31"/>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Weak Entity Set</a:t>
            </a:r>
            <a:endParaRPr/>
          </a:p>
        </p:txBody>
      </p:sp>
      <p:sp>
        <p:nvSpPr>
          <p:cNvPr id="843" name="Google Shape;843;p31"/>
          <p:cNvSpPr txBox="1"/>
          <p:nvPr>
            <p:ph idx="1" type="body"/>
          </p:nvPr>
        </p:nvSpPr>
        <p:spPr>
          <a:xfrm>
            <a:off x="131175" y="862350"/>
            <a:ext cx="11718900" cy="55905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An </a:t>
            </a:r>
            <a:r>
              <a:rPr b="1" lang="en-US">
                <a:solidFill>
                  <a:schemeClr val="accent6"/>
                </a:solidFill>
              </a:rPr>
              <a:t>entity set that does not have a primary key </a:t>
            </a:r>
            <a:r>
              <a:rPr lang="en-US"/>
              <a:t>is called weak entity set.</a:t>
            </a:r>
            <a:endParaRPr/>
          </a:p>
        </p:txBody>
      </p:sp>
      <p:sp>
        <p:nvSpPr>
          <p:cNvPr id="844" name="Google Shape;844;p31"/>
          <p:cNvSpPr/>
          <p:nvPr/>
        </p:nvSpPr>
        <p:spPr>
          <a:xfrm>
            <a:off x="7129572" y="2952750"/>
            <a:ext cx="1398477" cy="6480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845" name="Google Shape;845;p31"/>
          <p:cNvSpPr/>
          <p:nvPr/>
        </p:nvSpPr>
        <p:spPr>
          <a:xfrm>
            <a:off x="3184068" y="3046557"/>
            <a:ext cx="12954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sp>
        <p:nvSpPr>
          <p:cNvPr id="846" name="Google Shape;846;p31"/>
          <p:cNvSpPr/>
          <p:nvPr/>
        </p:nvSpPr>
        <p:spPr>
          <a:xfrm>
            <a:off x="7222668" y="3046557"/>
            <a:ext cx="12192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payment</a:t>
            </a:r>
            <a:endParaRPr sz="1800">
              <a:solidFill>
                <a:schemeClr val="dk1"/>
              </a:solidFill>
              <a:latin typeface="Roboto Condensed"/>
              <a:ea typeface="Roboto Condensed"/>
              <a:cs typeface="Roboto Condensed"/>
              <a:sym typeface="Roboto Condensed"/>
            </a:endParaRPr>
          </a:p>
        </p:txBody>
      </p:sp>
      <p:sp>
        <p:nvSpPr>
          <p:cNvPr id="847" name="Google Shape;847;p31"/>
          <p:cNvSpPr/>
          <p:nvPr/>
        </p:nvSpPr>
        <p:spPr>
          <a:xfrm>
            <a:off x="4864479" y="2970357"/>
            <a:ext cx="1977189" cy="6096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cxnSp>
        <p:nvCxnSpPr>
          <p:cNvPr id="848" name="Google Shape;848;p31"/>
          <p:cNvCxnSpPr>
            <a:stCxn id="845" idx="3"/>
            <a:endCxn id="847" idx="1"/>
          </p:cNvCxnSpPr>
          <p:nvPr/>
        </p:nvCxnSpPr>
        <p:spPr>
          <a:xfrm>
            <a:off x="4479468" y="3275157"/>
            <a:ext cx="384900" cy="0"/>
          </a:xfrm>
          <a:prstGeom prst="straightConnector1">
            <a:avLst/>
          </a:prstGeom>
          <a:noFill/>
          <a:ln cap="flat" cmpd="sng" w="28575">
            <a:solidFill>
              <a:schemeClr val="accent4"/>
            </a:solidFill>
            <a:prstDash val="solid"/>
            <a:miter lim="800000"/>
            <a:headEnd len="sm" w="sm" type="none"/>
            <a:tailEnd len="sm" w="sm" type="none"/>
          </a:ln>
        </p:spPr>
      </p:cxnSp>
      <p:cxnSp>
        <p:nvCxnSpPr>
          <p:cNvPr id="849" name="Google Shape;849;p31"/>
          <p:cNvCxnSpPr/>
          <p:nvPr/>
        </p:nvCxnSpPr>
        <p:spPr>
          <a:xfrm>
            <a:off x="6695272" y="3224009"/>
            <a:ext cx="432000" cy="0"/>
          </a:xfrm>
          <a:prstGeom prst="straightConnector1">
            <a:avLst/>
          </a:prstGeom>
          <a:noFill/>
          <a:ln cap="flat" cmpd="sng" w="28575">
            <a:solidFill>
              <a:schemeClr val="accent4"/>
            </a:solidFill>
            <a:prstDash val="solid"/>
            <a:miter lim="800000"/>
            <a:headEnd len="sm" w="sm" type="none"/>
            <a:tailEnd len="sm" w="sm" type="none"/>
          </a:ln>
        </p:spPr>
      </p:cxnSp>
      <p:cxnSp>
        <p:nvCxnSpPr>
          <p:cNvPr id="850" name="Google Shape;850;p31"/>
          <p:cNvCxnSpPr/>
          <p:nvPr/>
        </p:nvCxnSpPr>
        <p:spPr>
          <a:xfrm>
            <a:off x="6695272" y="3326305"/>
            <a:ext cx="432000" cy="0"/>
          </a:xfrm>
          <a:prstGeom prst="straightConnector1">
            <a:avLst/>
          </a:prstGeom>
          <a:noFill/>
          <a:ln cap="flat" cmpd="sng" w="28575">
            <a:solidFill>
              <a:schemeClr val="accent4"/>
            </a:solidFill>
            <a:prstDash val="solid"/>
            <a:miter lim="800000"/>
            <a:headEnd len="sm" w="sm" type="none"/>
            <a:tailEnd len="sm" w="sm" type="none"/>
          </a:ln>
        </p:spPr>
      </p:cxnSp>
      <p:cxnSp>
        <p:nvCxnSpPr>
          <p:cNvPr id="851" name="Google Shape;851;p31"/>
          <p:cNvCxnSpPr>
            <a:stCxn id="852" idx="4"/>
            <a:endCxn id="845" idx="0"/>
          </p:cNvCxnSpPr>
          <p:nvPr/>
        </p:nvCxnSpPr>
        <p:spPr>
          <a:xfrm>
            <a:off x="2716489" y="2623511"/>
            <a:ext cx="1115400" cy="423000"/>
          </a:xfrm>
          <a:prstGeom prst="straightConnector1">
            <a:avLst/>
          </a:prstGeom>
          <a:noFill/>
          <a:ln cap="flat" cmpd="sng" w="28575">
            <a:solidFill>
              <a:schemeClr val="dk2"/>
            </a:solidFill>
            <a:prstDash val="solid"/>
            <a:miter lim="800000"/>
            <a:headEnd len="sm" w="sm" type="none"/>
            <a:tailEnd len="sm" w="sm" type="none"/>
          </a:ln>
        </p:spPr>
      </p:cxnSp>
      <p:sp>
        <p:nvSpPr>
          <p:cNvPr id="852" name="Google Shape;852;p31"/>
          <p:cNvSpPr/>
          <p:nvPr/>
        </p:nvSpPr>
        <p:spPr>
          <a:xfrm>
            <a:off x="2000250" y="2038046"/>
            <a:ext cx="1432477" cy="585465"/>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loan-no</a:t>
            </a:r>
            <a:endParaRPr/>
          </a:p>
        </p:txBody>
      </p:sp>
      <p:cxnSp>
        <p:nvCxnSpPr>
          <p:cNvPr id="853" name="Google Shape;853;p31"/>
          <p:cNvCxnSpPr>
            <a:stCxn id="854" idx="4"/>
            <a:endCxn id="845" idx="0"/>
          </p:cNvCxnSpPr>
          <p:nvPr/>
        </p:nvCxnSpPr>
        <p:spPr>
          <a:xfrm flipH="1">
            <a:off x="3831727" y="2610003"/>
            <a:ext cx="656100" cy="436500"/>
          </a:xfrm>
          <a:prstGeom prst="straightConnector1">
            <a:avLst/>
          </a:prstGeom>
          <a:noFill/>
          <a:ln cap="flat" cmpd="sng" w="28575">
            <a:solidFill>
              <a:schemeClr val="dk2"/>
            </a:solidFill>
            <a:prstDash val="solid"/>
            <a:miter lim="800000"/>
            <a:headEnd len="sm" w="sm" type="none"/>
            <a:tailEnd len="sm" w="sm" type="none"/>
          </a:ln>
        </p:spPr>
      </p:cxnSp>
      <p:sp>
        <p:nvSpPr>
          <p:cNvPr id="854" name="Google Shape;854;p31"/>
          <p:cNvSpPr/>
          <p:nvPr/>
        </p:nvSpPr>
        <p:spPr>
          <a:xfrm>
            <a:off x="3771588" y="2024538"/>
            <a:ext cx="1432477" cy="585465"/>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amount</a:t>
            </a:r>
            <a:endParaRPr/>
          </a:p>
        </p:txBody>
      </p:sp>
      <p:cxnSp>
        <p:nvCxnSpPr>
          <p:cNvPr id="855" name="Google Shape;855;p31"/>
          <p:cNvCxnSpPr>
            <a:stCxn id="856" idx="4"/>
            <a:endCxn id="844" idx="0"/>
          </p:cNvCxnSpPr>
          <p:nvPr/>
        </p:nvCxnSpPr>
        <p:spPr>
          <a:xfrm>
            <a:off x="6445552" y="2637019"/>
            <a:ext cx="1383300" cy="315600"/>
          </a:xfrm>
          <a:prstGeom prst="straightConnector1">
            <a:avLst/>
          </a:prstGeom>
          <a:noFill/>
          <a:ln cap="flat" cmpd="sng" w="28575">
            <a:solidFill>
              <a:schemeClr val="dk2"/>
            </a:solidFill>
            <a:prstDash val="solid"/>
            <a:miter lim="800000"/>
            <a:headEnd len="sm" w="sm" type="none"/>
            <a:tailEnd len="sm" w="sm" type="none"/>
          </a:ln>
        </p:spPr>
      </p:cxnSp>
      <p:sp>
        <p:nvSpPr>
          <p:cNvPr id="856" name="Google Shape;856;p31"/>
          <p:cNvSpPr/>
          <p:nvPr/>
        </p:nvSpPr>
        <p:spPr>
          <a:xfrm>
            <a:off x="5504337" y="2051554"/>
            <a:ext cx="1882431" cy="585465"/>
          </a:xfrm>
          <a:prstGeom prst="ellipse">
            <a:avLst/>
          </a:prstGeom>
          <a:solidFill>
            <a:schemeClr val="lt1"/>
          </a:solid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payment-no</a:t>
            </a:r>
            <a:endParaRPr/>
          </a:p>
        </p:txBody>
      </p:sp>
      <p:cxnSp>
        <p:nvCxnSpPr>
          <p:cNvPr id="857" name="Google Shape;857;p31"/>
          <p:cNvCxnSpPr>
            <a:stCxn id="858" idx="4"/>
            <a:endCxn id="844" idx="0"/>
          </p:cNvCxnSpPr>
          <p:nvPr/>
        </p:nvCxnSpPr>
        <p:spPr>
          <a:xfrm flipH="1">
            <a:off x="7828668" y="2038046"/>
            <a:ext cx="3600" cy="914700"/>
          </a:xfrm>
          <a:prstGeom prst="straightConnector1">
            <a:avLst/>
          </a:prstGeom>
          <a:noFill/>
          <a:ln cap="flat" cmpd="sng" w="28575">
            <a:solidFill>
              <a:schemeClr val="dk2"/>
            </a:solidFill>
            <a:prstDash val="solid"/>
            <a:miter lim="800000"/>
            <a:headEnd len="sm" w="sm" type="none"/>
            <a:tailEnd len="sm" w="sm" type="none"/>
          </a:ln>
        </p:spPr>
      </p:cxnSp>
      <p:sp>
        <p:nvSpPr>
          <p:cNvPr id="858" name="Google Shape;858;p31"/>
          <p:cNvSpPr/>
          <p:nvPr/>
        </p:nvSpPr>
        <p:spPr>
          <a:xfrm>
            <a:off x="6754776" y="1452581"/>
            <a:ext cx="2154983" cy="585465"/>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Payment-date</a:t>
            </a:r>
            <a:endParaRPr/>
          </a:p>
        </p:txBody>
      </p:sp>
      <p:cxnSp>
        <p:nvCxnSpPr>
          <p:cNvPr id="859" name="Google Shape;859;p31"/>
          <p:cNvCxnSpPr>
            <a:stCxn id="860" idx="4"/>
            <a:endCxn id="844" idx="0"/>
          </p:cNvCxnSpPr>
          <p:nvPr/>
        </p:nvCxnSpPr>
        <p:spPr>
          <a:xfrm flipH="1">
            <a:off x="7828710" y="2637018"/>
            <a:ext cx="1700100" cy="315600"/>
          </a:xfrm>
          <a:prstGeom prst="straightConnector1">
            <a:avLst/>
          </a:prstGeom>
          <a:noFill/>
          <a:ln cap="flat" cmpd="sng" w="28575">
            <a:solidFill>
              <a:schemeClr val="dk2"/>
            </a:solidFill>
            <a:prstDash val="solid"/>
            <a:miter lim="800000"/>
            <a:headEnd len="sm" w="sm" type="none"/>
            <a:tailEnd len="sm" w="sm" type="none"/>
          </a:ln>
        </p:spPr>
      </p:cxnSp>
      <p:sp>
        <p:nvSpPr>
          <p:cNvPr id="861" name="Google Shape;861;p31"/>
          <p:cNvSpPr/>
          <p:nvPr/>
        </p:nvSpPr>
        <p:spPr>
          <a:xfrm>
            <a:off x="5116271" y="3059157"/>
            <a:ext cx="1473605" cy="4320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L_P</a:t>
            </a:r>
            <a:endParaRPr sz="1800">
              <a:solidFill>
                <a:schemeClr val="dk1"/>
              </a:solidFill>
              <a:latin typeface="Roboto Condensed"/>
              <a:ea typeface="Roboto Condensed"/>
              <a:cs typeface="Roboto Condensed"/>
              <a:sym typeface="Roboto Condensed"/>
            </a:endParaRPr>
          </a:p>
        </p:txBody>
      </p:sp>
      <p:sp>
        <p:nvSpPr>
          <p:cNvPr id="860" name="Google Shape;860;p31"/>
          <p:cNvSpPr/>
          <p:nvPr/>
        </p:nvSpPr>
        <p:spPr>
          <a:xfrm>
            <a:off x="8248650" y="2051553"/>
            <a:ext cx="2560320" cy="585465"/>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Payment-amount</a:t>
            </a:r>
            <a:endParaRPr/>
          </a:p>
        </p:txBody>
      </p:sp>
      <p:sp>
        <p:nvSpPr>
          <p:cNvPr id="862" name="Google Shape;862;p31"/>
          <p:cNvSpPr/>
          <p:nvPr/>
        </p:nvSpPr>
        <p:spPr>
          <a:xfrm>
            <a:off x="3184068" y="3817035"/>
            <a:ext cx="1487905" cy="720000"/>
          </a:xfrm>
          <a:prstGeom prst="wedgeRoundRectCallout">
            <a:avLst>
              <a:gd fmla="val -12298" name="adj1"/>
              <a:gd fmla="val -93422"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Strong Entity Set</a:t>
            </a:r>
            <a:endParaRPr sz="1800">
              <a:solidFill>
                <a:schemeClr val="dk1"/>
              </a:solidFill>
              <a:latin typeface="Roboto Condensed"/>
              <a:ea typeface="Roboto Condensed"/>
              <a:cs typeface="Roboto Condensed"/>
              <a:sym typeface="Roboto Condensed"/>
            </a:endParaRPr>
          </a:p>
        </p:txBody>
      </p:sp>
      <p:sp>
        <p:nvSpPr>
          <p:cNvPr id="863" name="Google Shape;863;p31"/>
          <p:cNvSpPr/>
          <p:nvPr/>
        </p:nvSpPr>
        <p:spPr>
          <a:xfrm>
            <a:off x="7040144" y="3817035"/>
            <a:ext cx="1487905" cy="720000"/>
          </a:xfrm>
          <a:prstGeom prst="wedgeRoundRectCallout">
            <a:avLst>
              <a:gd fmla="val 505" name="adj1"/>
              <a:gd fmla="val -87500"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Weak Entity Set</a:t>
            </a:r>
            <a:endParaRPr sz="1800">
              <a:solidFill>
                <a:schemeClr val="dk1"/>
              </a:solidFill>
              <a:latin typeface="Roboto Condensed"/>
              <a:ea typeface="Roboto Condensed"/>
              <a:cs typeface="Roboto Condensed"/>
              <a:sym typeface="Roboto Condensed"/>
            </a:endParaRPr>
          </a:p>
        </p:txBody>
      </p:sp>
      <p:sp>
        <p:nvSpPr>
          <p:cNvPr id="864" name="Google Shape;864;p31"/>
          <p:cNvSpPr/>
          <p:nvPr/>
        </p:nvSpPr>
        <p:spPr>
          <a:xfrm>
            <a:off x="5109120" y="3817035"/>
            <a:ext cx="1487905" cy="720000"/>
          </a:xfrm>
          <a:prstGeom prst="wedgeRoundRectCallout">
            <a:avLst>
              <a:gd fmla="val 505" name="adj1"/>
              <a:gd fmla="val -87500"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Weak Entity Relationship</a:t>
            </a:r>
            <a:endParaRPr sz="1800">
              <a:solidFill>
                <a:schemeClr val="dk1"/>
              </a:solidFill>
              <a:latin typeface="Roboto Condensed"/>
              <a:ea typeface="Roboto Condensed"/>
              <a:cs typeface="Roboto Condensed"/>
              <a:sym typeface="Roboto Condensed"/>
            </a:endParaRPr>
          </a:p>
        </p:txBody>
      </p:sp>
      <p:sp>
        <p:nvSpPr>
          <p:cNvPr id="865" name="Google Shape;865;p31"/>
          <p:cNvSpPr/>
          <p:nvPr/>
        </p:nvSpPr>
        <p:spPr>
          <a:xfrm>
            <a:off x="2503552" y="5022858"/>
            <a:ext cx="7884000" cy="1328023"/>
          </a:xfrm>
          <a:prstGeom prst="roundRect">
            <a:avLst>
              <a:gd fmla="val 16667" name="adj"/>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chemeClr val="lt1"/>
              </a:buClr>
              <a:buSzPts val="2400"/>
              <a:buFont typeface="Arial"/>
              <a:buChar char="•"/>
            </a:pPr>
            <a:r>
              <a:rPr lang="en-US" sz="2400">
                <a:solidFill>
                  <a:schemeClr val="lt1"/>
                </a:solidFill>
                <a:latin typeface="Roboto Condensed"/>
                <a:ea typeface="Roboto Condensed"/>
                <a:cs typeface="Roboto Condensed"/>
                <a:sym typeface="Roboto Condensed"/>
              </a:rPr>
              <a:t>Weak entity set is indicated by double rectangle.</a:t>
            </a:r>
            <a:endParaRPr/>
          </a:p>
          <a:p>
            <a:pPr indent="-342900" lvl="0" marL="342900" marR="0" rtl="0" algn="l">
              <a:spcBef>
                <a:spcPts val="0"/>
              </a:spcBef>
              <a:spcAft>
                <a:spcPts val="0"/>
              </a:spcAft>
              <a:buClr>
                <a:schemeClr val="lt1"/>
              </a:buClr>
              <a:buSzPts val="2400"/>
              <a:buFont typeface="Arial"/>
              <a:buChar char="•"/>
            </a:pPr>
            <a:r>
              <a:rPr lang="en-US" sz="2400">
                <a:solidFill>
                  <a:schemeClr val="lt1"/>
                </a:solidFill>
                <a:latin typeface="Roboto Condensed"/>
                <a:ea typeface="Roboto Condensed"/>
                <a:cs typeface="Roboto Condensed"/>
                <a:sym typeface="Roboto Condensed"/>
              </a:rPr>
              <a:t>Weak entity relationship set is indicated by double diamond.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xEl>
                                              <p:pRg end="0" st="0"/>
                                            </p:txEl>
                                          </p:spTgt>
                                        </p:tgtEl>
                                        <p:attrNameLst>
                                          <p:attrName>style.visibility</p:attrName>
                                        </p:attrNameLst>
                                      </p:cBhvr>
                                      <p:to>
                                        <p:strVal val="visible"/>
                                      </p:to>
                                    </p:set>
                                    <p:animEffect filter="fade" transition="in">
                                      <p:cBhvr>
                                        <p:cTn dur="500"/>
                                        <p:tgtEl>
                                          <p:spTgt spid="8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500"/>
                                        <p:tgtEl>
                                          <p:spTgt spid="845"/>
                                        </p:tgtEl>
                                      </p:cBhvr>
                                    </p:animEffect>
                                  </p:childTnLst>
                                </p:cTn>
                              </p:par>
                              <p:par>
                                <p:cTn fill="hold" nodeType="with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500"/>
                                        <p:tgtEl>
                                          <p:spTgt spid="846"/>
                                        </p:tgtEl>
                                      </p:cBhvr>
                                    </p:animEffect>
                                  </p:childTnLst>
                                </p:cTn>
                              </p:par>
                              <p:par>
                                <p:cTn fill="hold" nodeType="withEffect" presetClass="entr" presetID="10" presetSubtype="0">
                                  <p:stCondLst>
                                    <p:cond delay="0"/>
                                  </p:stCondLst>
                                  <p:childTnLst>
                                    <p:set>
                                      <p:cBhvr>
                                        <p:cTn dur="1" fill="hold">
                                          <p:stCondLst>
                                            <p:cond delay="0"/>
                                          </p:stCondLst>
                                        </p:cTn>
                                        <p:tgtEl>
                                          <p:spTgt spid="844"/>
                                        </p:tgtEl>
                                        <p:attrNameLst>
                                          <p:attrName>style.visibility</p:attrName>
                                        </p:attrNameLst>
                                      </p:cBhvr>
                                      <p:to>
                                        <p:strVal val="visible"/>
                                      </p:to>
                                    </p:set>
                                    <p:animEffect filter="fade" transition="in">
                                      <p:cBhvr>
                                        <p:cTn dur="500"/>
                                        <p:tgtEl>
                                          <p:spTgt spid="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500"/>
                                        <p:tgtEl>
                                          <p:spTgt spid="851"/>
                                        </p:tgtEl>
                                      </p:cBhvr>
                                    </p:animEffect>
                                  </p:childTnLst>
                                </p:cTn>
                              </p:par>
                              <p:par>
                                <p:cTn fill="hold" nodeType="with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500"/>
                                        <p:tgtEl>
                                          <p:spTgt spid="852"/>
                                        </p:tgtEl>
                                      </p:cBhvr>
                                    </p:animEffect>
                                  </p:childTnLst>
                                </p:cTn>
                              </p:par>
                              <p:par>
                                <p:cTn fill="hold" nodeType="with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500"/>
                                        <p:tgtEl>
                                          <p:spTgt spid="853"/>
                                        </p:tgtEl>
                                      </p:cBhvr>
                                    </p:animEffect>
                                  </p:childTnLst>
                                </p:cTn>
                              </p:par>
                              <p:par>
                                <p:cTn fill="hold" nodeType="with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500"/>
                                        <p:tgtEl>
                                          <p:spTgt spid="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500"/>
                                        <p:tgtEl>
                                          <p:spTgt spid="855"/>
                                        </p:tgtEl>
                                      </p:cBhvr>
                                    </p:animEffect>
                                  </p:childTnLst>
                                </p:cTn>
                              </p:par>
                              <p:par>
                                <p:cTn fill="hold" nodeType="with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500"/>
                                        <p:tgtEl>
                                          <p:spTgt spid="856"/>
                                        </p:tgtEl>
                                      </p:cBhvr>
                                    </p:animEffect>
                                  </p:childTnLst>
                                </p:cTn>
                              </p:par>
                              <p:par>
                                <p:cTn fill="hold" nodeType="with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500"/>
                                        <p:tgtEl>
                                          <p:spTgt spid="857"/>
                                        </p:tgtEl>
                                      </p:cBhvr>
                                    </p:animEffect>
                                  </p:childTnLst>
                                </p:cTn>
                              </p:par>
                              <p:par>
                                <p:cTn fill="hold" nodeType="with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500"/>
                                        <p:tgtEl>
                                          <p:spTgt spid="858"/>
                                        </p:tgtEl>
                                      </p:cBhvr>
                                    </p:animEffect>
                                  </p:childTnLst>
                                </p:cTn>
                              </p:par>
                              <p:par>
                                <p:cTn fill="hold" nodeType="with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500"/>
                                        <p:tgtEl>
                                          <p:spTgt spid="859"/>
                                        </p:tgtEl>
                                      </p:cBhvr>
                                    </p:animEffect>
                                  </p:childTnLst>
                                </p:cTn>
                              </p:par>
                              <p:par>
                                <p:cTn fill="hold" nodeType="with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500"/>
                                        <p:tgtEl>
                                          <p:spTgt spid="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par>
                                <p:cTn fill="hold" nodeType="with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500"/>
                                        <p:tgtEl>
                                          <p:spTgt spid="848"/>
                                        </p:tgtEl>
                                      </p:cBhvr>
                                    </p:animEffect>
                                  </p:childTnLst>
                                </p:cTn>
                              </p:par>
                              <p:par>
                                <p:cTn fill="hold" nodeType="withEffect" presetClass="entr" presetID="10" presetSubtype="0">
                                  <p:stCondLst>
                                    <p:cond delay="0"/>
                                  </p:stCondLst>
                                  <p:childTnLst>
                                    <p:set>
                                      <p:cBhvr>
                                        <p:cTn dur="1" fill="hold">
                                          <p:stCondLst>
                                            <p:cond delay="0"/>
                                          </p:stCondLst>
                                        </p:cTn>
                                        <p:tgtEl>
                                          <p:spTgt spid="849"/>
                                        </p:tgtEl>
                                        <p:attrNameLst>
                                          <p:attrName>style.visibility</p:attrName>
                                        </p:attrNameLst>
                                      </p:cBhvr>
                                      <p:to>
                                        <p:strVal val="visible"/>
                                      </p:to>
                                    </p:set>
                                    <p:animEffect filter="fade" transition="in">
                                      <p:cBhvr>
                                        <p:cTn dur="500"/>
                                        <p:tgtEl>
                                          <p:spTgt spid="849"/>
                                        </p:tgtEl>
                                      </p:cBhvr>
                                    </p:animEffect>
                                  </p:childTnLst>
                                </p:cTn>
                              </p:par>
                              <p:par>
                                <p:cTn fill="hold" nodeType="with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500"/>
                                        <p:tgtEl>
                                          <p:spTgt spid="850"/>
                                        </p:tgtEl>
                                      </p:cBhvr>
                                    </p:animEffect>
                                  </p:childTnLst>
                                </p:cTn>
                              </p:par>
                              <p:par>
                                <p:cTn fill="hold" nodeType="with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500"/>
                                        <p:tgtEl>
                                          <p:spTgt spid="8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500"/>
                                        <p:tgtEl>
                                          <p:spTgt spid="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500"/>
                                        <p:tgtEl>
                                          <p:spTgt spid="8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500"/>
                                        <p:tgtEl>
                                          <p:spTgt spid="8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5"/>
                                        </p:tgtEl>
                                        <p:attrNameLst>
                                          <p:attrName>style.visibility</p:attrName>
                                        </p:attrNameLst>
                                      </p:cBhvr>
                                      <p:to>
                                        <p:strVal val="visible"/>
                                      </p:to>
                                    </p:set>
                                    <p:animEffect filter="fade" transition="in">
                                      <p:cBhvr>
                                        <p:cTn dur="500"/>
                                        <p:tgtEl>
                                          <p:spTgt spid="8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32"/>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Weak Entity Set</a:t>
            </a:r>
            <a:endParaRPr/>
          </a:p>
        </p:txBody>
      </p:sp>
      <p:sp>
        <p:nvSpPr>
          <p:cNvPr id="871" name="Google Shape;871;p32"/>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The </a:t>
            </a:r>
            <a:r>
              <a:rPr b="1" lang="en-US">
                <a:solidFill>
                  <a:schemeClr val="accent6"/>
                </a:solidFill>
              </a:rPr>
              <a:t>existence of a weak entity set</a:t>
            </a:r>
            <a:r>
              <a:rPr lang="en-US"/>
              <a:t> depends on the </a:t>
            </a:r>
            <a:r>
              <a:rPr b="1" lang="en-US">
                <a:solidFill>
                  <a:schemeClr val="accent6"/>
                </a:solidFill>
              </a:rPr>
              <a:t>existence of a strong entity set</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The </a:t>
            </a:r>
            <a:r>
              <a:rPr b="1" lang="en-US">
                <a:solidFill>
                  <a:schemeClr val="accent6"/>
                </a:solidFill>
              </a:rPr>
              <a:t>discriminator (partial key) </a:t>
            </a:r>
            <a:r>
              <a:rPr lang="en-US"/>
              <a:t>of a weak entity set is the set of </a:t>
            </a:r>
            <a:r>
              <a:rPr b="1" lang="en-US">
                <a:solidFill>
                  <a:schemeClr val="accent6"/>
                </a:solidFill>
              </a:rPr>
              <a:t>attributes that distinguishes all the entities</a:t>
            </a:r>
            <a:r>
              <a:rPr lang="en-US"/>
              <a:t> of a weak entity set.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The </a:t>
            </a:r>
            <a:r>
              <a:rPr b="1" lang="en-US">
                <a:solidFill>
                  <a:schemeClr val="accent6"/>
                </a:solidFill>
              </a:rPr>
              <a:t>primary key </a:t>
            </a:r>
            <a:r>
              <a:rPr lang="en-US"/>
              <a:t>of a weak entity set is created by </a:t>
            </a:r>
            <a:r>
              <a:rPr b="1" lang="en-US">
                <a:solidFill>
                  <a:schemeClr val="accent6"/>
                </a:solidFill>
              </a:rPr>
              <a:t>combining the primary key of the strong entity set</a:t>
            </a:r>
            <a:r>
              <a:rPr lang="en-US"/>
              <a:t> on which the weak entity set is existence dependent and the </a:t>
            </a:r>
            <a:r>
              <a:rPr b="1" lang="en-US">
                <a:solidFill>
                  <a:schemeClr val="accent6"/>
                </a:solidFill>
              </a:rPr>
              <a:t>weak entity set’s discriminator</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We underline the discriminator attribute of a weak entity set with a </a:t>
            </a:r>
            <a:r>
              <a:rPr b="1" lang="en-US">
                <a:solidFill>
                  <a:schemeClr val="accent6"/>
                </a:solidFill>
              </a:rPr>
              <a:t>dashed line</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Payment entity has payment-no which is discriminator.</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Loan entity has loan-no as primary key.</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So primary key for payment is </a:t>
            </a:r>
            <a:r>
              <a:rPr b="1" lang="en-US">
                <a:solidFill>
                  <a:schemeClr val="accent6"/>
                </a:solidFill>
              </a:rPr>
              <a:t>(loan-no, payment-no).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xEl>
                                              <p:pRg end="0" st="0"/>
                                            </p:txEl>
                                          </p:spTgt>
                                        </p:tgtEl>
                                        <p:attrNameLst>
                                          <p:attrName>style.visibility</p:attrName>
                                        </p:attrNameLst>
                                      </p:cBhvr>
                                      <p:to>
                                        <p:strVal val="visible"/>
                                      </p:to>
                                    </p:set>
                                    <p:animEffect filter="fade" transition="in">
                                      <p:cBhvr>
                                        <p:cTn dur="500"/>
                                        <p:tgtEl>
                                          <p:spTgt spid="8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xEl>
                                              <p:pRg end="1" st="1"/>
                                            </p:txEl>
                                          </p:spTgt>
                                        </p:tgtEl>
                                        <p:attrNameLst>
                                          <p:attrName>style.visibility</p:attrName>
                                        </p:attrNameLst>
                                      </p:cBhvr>
                                      <p:to>
                                        <p:strVal val="visible"/>
                                      </p:to>
                                    </p:set>
                                    <p:animEffect filter="fade" transition="in">
                                      <p:cBhvr>
                                        <p:cTn dur="500"/>
                                        <p:tgtEl>
                                          <p:spTgt spid="8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xEl>
                                              <p:pRg end="2" st="2"/>
                                            </p:txEl>
                                          </p:spTgt>
                                        </p:tgtEl>
                                        <p:attrNameLst>
                                          <p:attrName>style.visibility</p:attrName>
                                        </p:attrNameLst>
                                      </p:cBhvr>
                                      <p:to>
                                        <p:strVal val="visible"/>
                                      </p:to>
                                    </p:set>
                                    <p:animEffect filter="fade" transition="in">
                                      <p:cBhvr>
                                        <p:cTn dur="500"/>
                                        <p:tgtEl>
                                          <p:spTgt spid="8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xEl>
                                              <p:pRg end="3" st="3"/>
                                            </p:txEl>
                                          </p:spTgt>
                                        </p:tgtEl>
                                        <p:attrNameLst>
                                          <p:attrName>style.visibility</p:attrName>
                                        </p:attrNameLst>
                                      </p:cBhvr>
                                      <p:to>
                                        <p:strVal val="visible"/>
                                      </p:to>
                                    </p:set>
                                    <p:animEffect filter="fade" transition="in">
                                      <p:cBhvr>
                                        <p:cTn dur="500"/>
                                        <p:tgtEl>
                                          <p:spTgt spid="8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xEl>
                                              <p:pRg end="4" st="4"/>
                                            </p:txEl>
                                          </p:spTgt>
                                        </p:tgtEl>
                                        <p:attrNameLst>
                                          <p:attrName>style.visibility</p:attrName>
                                        </p:attrNameLst>
                                      </p:cBhvr>
                                      <p:to>
                                        <p:strVal val="visible"/>
                                      </p:to>
                                    </p:set>
                                    <p:animEffect filter="fade" transition="in">
                                      <p:cBhvr>
                                        <p:cTn dur="500"/>
                                        <p:tgtEl>
                                          <p:spTgt spid="8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xEl>
                                              <p:pRg end="5" st="5"/>
                                            </p:txEl>
                                          </p:spTgt>
                                        </p:tgtEl>
                                        <p:attrNameLst>
                                          <p:attrName>style.visibility</p:attrName>
                                        </p:attrNameLst>
                                      </p:cBhvr>
                                      <p:to>
                                        <p:strVal val="visible"/>
                                      </p:to>
                                    </p:set>
                                    <p:animEffect filter="fade" transition="in">
                                      <p:cBhvr>
                                        <p:cTn dur="500"/>
                                        <p:tgtEl>
                                          <p:spTgt spid="8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1">
                                            <p:txEl>
                                              <p:pRg end="6" st="6"/>
                                            </p:txEl>
                                          </p:spTgt>
                                        </p:tgtEl>
                                        <p:attrNameLst>
                                          <p:attrName>style.visibility</p:attrName>
                                        </p:attrNameLst>
                                      </p:cBhvr>
                                      <p:to>
                                        <p:strVal val="visible"/>
                                      </p:to>
                                    </p:set>
                                    <p:animEffect filter="fade" transition="in">
                                      <p:cBhvr>
                                        <p:cTn dur="500"/>
                                        <p:tgtEl>
                                          <p:spTgt spid="87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Superclass v/s Subclass</a:t>
            </a:r>
            <a:endParaRPr/>
          </a:p>
        </p:txBody>
      </p:sp>
      <p:sp>
        <p:nvSpPr>
          <p:cNvPr id="877" name="Google Shape;877;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- 6</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34"/>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Superclass v/s Subclass</a:t>
            </a:r>
            <a:endParaRPr/>
          </a:p>
        </p:txBody>
      </p:sp>
      <p:sp>
        <p:nvSpPr>
          <p:cNvPr id="883" name="Google Shape;883;p34"/>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graphicFrame>
        <p:nvGraphicFramePr>
          <p:cNvPr id="884" name="Google Shape;884;p34"/>
          <p:cNvGraphicFramePr/>
          <p:nvPr/>
        </p:nvGraphicFramePr>
        <p:xfrm>
          <a:off x="131178" y="859690"/>
          <a:ext cx="3000000" cy="3000000"/>
        </p:xfrm>
        <a:graphic>
          <a:graphicData uri="http://schemas.openxmlformats.org/drawingml/2006/table">
            <a:tbl>
              <a:tblPr bandRow="1" firstRow="1">
                <a:noFill/>
                <a:tableStyleId>{2FE9E659-6503-4E8C-9AC6-ED4A2EF7120C}</a:tableStyleId>
              </a:tblPr>
              <a:tblGrid>
                <a:gridCol w="5964825"/>
                <a:gridCol w="5964825"/>
              </a:tblGrid>
              <a:tr h="630000">
                <a:tc>
                  <a:txBody>
                    <a:bodyPr/>
                    <a:lstStyle/>
                    <a:p>
                      <a:pPr indent="0" lvl="0" marL="0" marR="0" rtl="0" algn="l">
                        <a:spcBef>
                          <a:spcPts val="0"/>
                        </a:spcBef>
                        <a:spcAft>
                          <a:spcPts val="0"/>
                        </a:spcAft>
                        <a:buNone/>
                      </a:pPr>
                      <a:r>
                        <a:rPr b="1" lang="en-US" sz="2400">
                          <a:solidFill>
                            <a:schemeClr val="dk1"/>
                          </a:solidFill>
                        </a:rPr>
                        <a:t>Super Class</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2400">
                          <a:solidFill>
                            <a:schemeClr val="dk1"/>
                          </a:solidFill>
                        </a:rPr>
                        <a:t>Sub Class</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bl>
          </a:graphicData>
        </a:graphic>
      </p:graphicFrame>
      <p:graphicFrame>
        <p:nvGraphicFramePr>
          <p:cNvPr id="885" name="Google Shape;885;p34"/>
          <p:cNvGraphicFramePr/>
          <p:nvPr/>
        </p:nvGraphicFramePr>
        <p:xfrm>
          <a:off x="131178" y="1503193"/>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A superclass is an entity from which </a:t>
                      </a:r>
                      <a:r>
                        <a:rPr b="1" lang="en-US" sz="2400">
                          <a:solidFill>
                            <a:schemeClr val="accent6"/>
                          </a:solidFill>
                          <a:latin typeface="Roboto Condensed"/>
                          <a:ea typeface="Roboto Condensed"/>
                          <a:cs typeface="Roboto Condensed"/>
                          <a:sym typeface="Roboto Condensed"/>
                        </a:rPr>
                        <a:t>another entities can be derived</a:t>
                      </a:r>
                      <a:r>
                        <a:rPr b="0" lang="en-US" sz="2400">
                          <a:solidFill>
                            <a:schemeClr val="dk1"/>
                          </a:solidFill>
                          <a:latin typeface="Roboto Condensed"/>
                          <a:ea typeface="Roboto Condensed"/>
                          <a:cs typeface="Roboto Condensed"/>
                          <a:sym typeface="Roboto Condensed"/>
                        </a:rPr>
                        <a:t>.</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A subclass is an entity that is </a:t>
                      </a:r>
                      <a:r>
                        <a:rPr b="1" lang="en-US" sz="2400">
                          <a:solidFill>
                            <a:schemeClr val="accent6"/>
                          </a:solidFill>
                          <a:latin typeface="Roboto Condensed"/>
                          <a:ea typeface="Roboto Condensed"/>
                          <a:cs typeface="Roboto Condensed"/>
                          <a:sym typeface="Roboto Condensed"/>
                        </a:rPr>
                        <a:t>derived from another entity</a:t>
                      </a:r>
                      <a:r>
                        <a:rPr b="0" lang="en-US" sz="2400">
                          <a:solidFill>
                            <a:schemeClr val="dk1"/>
                          </a:solidFill>
                          <a:latin typeface="Roboto Condensed"/>
                          <a:ea typeface="Roboto Condensed"/>
                          <a:cs typeface="Roboto Condensed"/>
                          <a:sym typeface="Roboto Condensed"/>
                        </a:rPr>
                        <a:t>.</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886" name="Google Shape;886;p34"/>
          <p:cNvGraphicFramePr/>
          <p:nvPr/>
        </p:nvGraphicFramePr>
        <p:xfrm>
          <a:off x="131178" y="2319178"/>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an entity account has two subsets </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saving_account and current_account</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So an </a:t>
                      </a:r>
                      <a:r>
                        <a:rPr b="1" lang="en-US" sz="2400">
                          <a:solidFill>
                            <a:schemeClr val="accent6"/>
                          </a:solidFill>
                          <a:latin typeface="Roboto Condensed"/>
                          <a:ea typeface="Roboto Condensed"/>
                          <a:cs typeface="Roboto Condensed"/>
                          <a:sym typeface="Roboto Condensed"/>
                        </a:rPr>
                        <a:t>account is superclass</a:t>
                      </a:r>
                      <a:r>
                        <a:rPr b="0" lang="en-US" sz="2400">
                          <a:solidFill>
                            <a:schemeClr val="dk1"/>
                          </a:solidFill>
                          <a:latin typeface="Roboto Condensed"/>
                          <a:ea typeface="Roboto Condensed"/>
                          <a:cs typeface="Roboto Condensed"/>
                          <a:sym typeface="Roboto Condensed"/>
                        </a:rPr>
                        <a:t>.</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E.g, </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saving_account and current_account entities are derived from entity account. </a:t>
                      </a:r>
                      <a:endParaRPr/>
                    </a:p>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So </a:t>
                      </a:r>
                      <a:r>
                        <a:rPr b="1" lang="en-US" sz="2400">
                          <a:solidFill>
                            <a:schemeClr val="accent6"/>
                          </a:solidFill>
                          <a:latin typeface="Roboto Condensed"/>
                          <a:ea typeface="Roboto Condensed"/>
                          <a:cs typeface="Roboto Condensed"/>
                          <a:sym typeface="Roboto Condensed"/>
                        </a:rPr>
                        <a:t>saving_account and current_account are subclass</a:t>
                      </a:r>
                      <a:r>
                        <a:rPr b="0" lang="en-US" sz="2400">
                          <a:solidFill>
                            <a:schemeClr val="dk1"/>
                          </a:solidFill>
                          <a:latin typeface="Roboto Condensed"/>
                          <a:ea typeface="Roboto Condensed"/>
                          <a:cs typeface="Roboto Condensed"/>
                          <a:sym typeface="Roboto Condensed"/>
                        </a:rPr>
                        <a:t>.</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
        <p:nvSpPr>
          <p:cNvPr id="887" name="Google Shape;887;p34"/>
          <p:cNvSpPr/>
          <p:nvPr/>
        </p:nvSpPr>
        <p:spPr>
          <a:xfrm>
            <a:off x="3312696" y="4366391"/>
            <a:ext cx="1828800" cy="5400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Account</a:t>
            </a:r>
            <a:endParaRPr/>
          </a:p>
        </p:txBody>
      </p:sp>
      <p:sp>
        <p:nvSpPr>
          <p:cNvPr id="888" name="Google Shape;888;p34"/>
          <p:cNvSpPr/>
          <p:nvPr/>
        </p:nvSpPr>
        <p:spPr>
          <a:xfrm>
            <a:off x="2169696" y="5179595"/>
            <a:ext cx="1828800" cy="5400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Saving_Account</a:t>
            </a:r>
            <a:endParaRPr sz="1800">
              <a:solidFill>
                <a:schemeClr val="dk1"/>
              </a:solidFill>
              <a:latin typeface="Roboto Condensed"/>
              <a:ea typeface="Roboto Condensed"/>
              <a:cs typeface="Roboto Condensed"/>
              <a:sym typeface="Roboto Condensed"/>
            </a:endParaRPr>
          </a:p>
        </p:txBody>
      </p:sp>
      <p:sp>
        <p:nvSpPr>
          <p:cNvPr id="889" name="Google Shape;889;p34"/>
          <p:cNvSpPr/>
          <p:nvPr/>
        </p:nvSpPr>
        <p:spPr>
          <a:xfrm>
            <a:off x="4455696" y="5179595"/>
            <a:ext cx="1828800" cy="5400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Current_Account</a:t>
            </a:r>
            <a:endParaRPr sz="1800">
              <a:solidFill>
                <a:schemeClr val="dk1"/>
              </a:solidFill>
              <a:latin typeface="Roboto Condensed"/>
              <a:ea typeface="Roboto Condensed"/>
              <a:cs typeface="Roboto Condensed"/>
              <a:sym typeface="Roboto Condensed"/>
            </a:endParaRPr>
          </a:p>
        </p:txBody>
      </p:sp>
      <p:cxnSp>
        <p:nvCxnSpPr>
          <p:cNvPr id="890" name="Google Shape;890;p34"/>
          <p:cNvCxnSpPr>
            <a:stCxn id="887" idx="2"/>
            <a:endCxn id="888" idx="0"/>
          </p:cNvCxnSpPr>
          <p:nvPr/>
        </p:nvCxnSpPr>
        <p:spPr>
          <a:xfrm flipH="1">
            <a:off x="3084096" y="4906391"/>
            <a:ext cx="1143000" cy="273300"/>
          </a:xfrm>
          <a:prstGeom prst="straightConnector1">
            <a:avLst/>
          </a:prstGeom>
          <a:noFill/>
          <a:ln cap="flat" cmpd="sng" w="28575">
            <a:solidFill>
              <a:srgbClr val="00B050"/>
            </a:solidFill>
            <a:prstDash val="solid"/>
            <a:miter lim="800000"/>
            <a:headEnd len="sm" w="sm" type="none"/>
            <a:tailEnd len="sm" w="sm" type="none"/>
          </a:ln>
        </p:spPr>
      </p:cxnSp>
      <p:cxnSp>
        <p:nvCxnSpPr>
          <p:cNvPr id="891" name="Google Shape;891;p34"/>
          <p:cNvCxnSpPr>
            <a:stCxn id="887" idx="2"/>
            <a:endCxn id="889" idx="0"/>
          </p:cNvCxnSpPr>
          <p:nvPr/>
        </p:nvCxnSpPr>
        <p:spPr>
          <a:xfrm>
            <a:off x="4227096" y="4906391"/>
            <a:ext cx="1143000" cy="273300"/>
          </a:xfrm>
          <a:prstGeom prst="straightConnector1">
            <a:avLst/>
          </a:prstGeom>
          <a:noFill/>
          <a:ln cap="flat" cmpd="sng" w="28575">
            <a:solidFill>
              <a:srgbClr val="00B050"/>
            </a:solidFill>
            <a:prstDash val="solid"/>
            <a:miter lim="800000"/>
            <a:headEnd len="sm" w="sm" type="none"/>
            <a:tailEnd len="sm" w="sm" type="none"/>
          </a:ln>
        </p:spPr>
      </p:cxnSp>
      <p:sp>
        <p:nvSpPr>
          <p:cNvPr id="892" name="Google Shape;892;p34"/>
          <p:cNvSpPr/>
          <p:nvPr/>
        </p:nvSpPr>
        <p:spPr>
          <a:xfrm>
            <a:off x="8341896" y="4346621"/>
            <a:ext cx="1371600" cy="205740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893" name="Google Shape;893;p34"/>
          <p:cNvSpPr/>
          <p:nvPr/>
        </p:nvSpPr>
        <p:spPr>
          <a:xfrm>
            <a:off x="8722896" y="4460921"/>
            <a:ext cx="609600" cy="76200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894" name="Google Shape;894;p34"/>
          <p:cNvSpPr/>
          <p:nvPr/>
        </p:nvSpPr>
        <p:spPr>
          <a:xfrm>
            <a:off x="8722896" y="5489621"/>
            <a:ext cx="609600" cy="76200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895" name="Google Shape;895;p34"/>
          <p:cNvSpPr txBox="1"/>
          <p:nvPr/>
        </p:nvSpPr>
        <p:spPr>
          <a:xfrm>
            <a:off x="6498809" y="4344274"/>
            <a:ext cx="1295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Super Class</a:t>
            </a:r>
            <a:endParaRPr sz="1800">
              <a:solidFill>
                <a:schemeClr val="dk1"/>
              </a:solidFill>
              <a:latin typeface="Roboto Condensed"/>
              <a:ea typeface="Roboto Condensed"/>
              <a:cs typeface="Roboto Condensed"/>
              <a:sym typeface="Roboto Condensed"/>
            </a:endParaRPr>
          </a:p>
        </p:txBody>
      </p:sp>
      <p:sp>
        <p:nvSpPr>
          <p:cNvPr id="896" name="Google Shape;896;p34"/>
          <p:cNvSpPr txBox="1"/>
          <p:nvPr/>
        </p:nvSpPr>
        <p:spPr>
          <a:xfrm>
            <a:off x="6513096" y="6067563"/>
            <a:ext cx="1295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Sub Class</a:t>
            </a:r>
            <a:endParaRPr sz="1800">
              <a:solidFill>
                <a:schemeClr val="dk1"/>
              </a:solidFill>
              <a:latin typeface="Roboto Condensed"/>
              <a:ea typeface="Roboto Condensed"/>
              <a:cs typeface="Roboto Condensed"/>
              <a:sym typeface="Roboto Condensed"/>
            </a:endParaRPr>
          </a:p>
        </p:txBody>
      </p:sp>
      <p:cxnSp>
        <p:nvCxnSpPr>
          <p:cNvPr id="897" name="Google Shape;897;p34"/>
          <p:cNvCxnSpPr>
            <a:stCxn id="895" idx="3"/>
            <a:endCxn id="892" idx="1"/>
          </p:cNvCxnSpPr>
          <p:nvPr/>
        </p:nvCxnSpPr>
        <p:spPr>
          <a:xfrm>
            <a:off x="7794209" y="4528940"/>
            <a:ext cx="748500" cy="119100"/>
          </a:xfrm>
          <a:prstGeom prst="straightConnector1">
            <a:avLst/>
          </a:prstGeom>
          <a:noFill/>
          <a:ln cap="flat" cmpd="sng" w="28575">
            <a:solidFill>
              <a:srgbClr val="7F7F7F"/>
            </a:solidFill>
            <a:prstDash val="solid"/>
            <a:miter lim="800000"/>
            <a:headEnd len="sm" w="sm" type="none"/>
            <a:tailEnd len="med" w="med" type="triangle"/>
          </a:ln>
        </p:spPr>
      </p:cxnSp>
      <p:cxnSp>
        <p:nvCxnSpPr>
          <p:cNvPr id="898" name="Google Shape;898;p34"/>
          <p:cNvCxnSpPr>
            <a:stCxn id="895" idx="1"/>
            <a:endCxn id="887" idx="3"/>
          </p:cNvCxnSpPr>
          <p:nvPr/>
        </p:nvCxnSpPr>
        <p:spPr>
          <a:xfrm flipH="1">
            <a:off x="5141609" y="4528940"/>
            <a:ext cx="1357200" cy="107400"/>
          </a:xfrm>
          <a:prstGeom prst="straightConnector1">
            <a:avLst/>
          </a:prstGeom>
          <a:noFill/>
          <a:ln cap="flat" cmpd="sng" w="28575">
            <a:solidFill>
              <a:srgbClr val="7F7F7F"/>
            </a:solidFill>
            <a:prstDash val="solid"/>
            <a:miter lim="800000"/>
            <a:headEnd len="sm" w="sm" type="none"/>
            <a:tailEnd len="med" w="med" type="triangle"/>
          </a:ln>
        </p:spPr>
      </p:cxnSp>
      <p:cxnSp>
        <p:nvCxnSpPr>
          <p:cNvPr id="899" name="Google Shape;899;p34"/>
          <p:cNvCxnSpPr>
            <a:stCxn id="896" idx="1"/>
          </p:cNvCxnSpPr>
          <p:nvPr/>
        </p:nvCxnSpPr>
        <p:spPr>
          <a:xfrm rot="10800000">
            <a:off x="3084096" y="5719729"/>
            <a:ext cx="3429000" cy="532500"/>
          </a:xfrm>
          <a:prstGeom prst="straightConnector1">
            <a:avLst/>
          </a:prstGeom>
          <a:noFill/>
          <a:ln cap="flat" cmpd="sng" w="28575">
            <a:solidFill>
              <a:srgbClr val="7F7F7F"/>
            </a:solidFill>
            <a:prstDash val="solid"/>
            <a:miter lim="800000"/>
            <a:headEnd len="sm" w="sm" type="none"/>
            <a:tailEnd len="med" w="med" type="triangle"/>
          </a:ln>
        </p:spPr>
      </p:cxnSp>
      <p:cxnSp>
        <p:nvCxnSpPr>
          <p:cNvPr id="900" name="Google Shape;900;p34"/>
          <p:cNvCxnSpPr>
            <a:endCxn id="889" idx="2"/>
          </p:cNvCxnSpPr>
          <p:nvPr/>
        </p:nvCxnSpPr>
        <p:spPr>
          <a:xfrm rot="10800000">
            <a:off x="5370096" y="5719595"/>
            <a:ext cx="1128600" cy="532500"/>
          </a:xfrm>
          <a:prstGeom prst="straightConnector1">
            <a:avLst/>
          </a:prstGeom>
          <a:noFill/>
          <a:ln cap="flat" cmpd="sng" w="28575">
            <a:solidFill>
              <a:srgbClr val="7F7F7F"/>
            </a:solidFill>
            <a:prstDash val="solid"/>
            <a:miter lim="800000"/>
            <a:headEnd len="sm" w="sm" type="none"/>
            <a:tailEnd len="med" w="med" type="triangle"/>
          </a:ln>
        </p:spPr>
      </p:cxnSp>
      <p:cxnSp>
        <p:nvCxnSpPr>
          <p:cNvPr id="901" name="Google Shape;901;p34"/>
          <p:cNvCxnSpPr>
            <a:stCxn id="896" idx="3"/>
          </p:cNvCxnSpPr>
          <p:nvPr/>
        </p:nvCxnSpPr>
        <p:spPr>
          <a:xfrm flipH="1" rot="10800000">
            <a:off x="7808496" y="4841929"/>
            <a:ext cx="914400" cy="1410300"/>
          </a:xfrm>
          <a:prstGeom prst="straightConnector1">
            <a:avLst/>
          </a:prstGeom>
          <a:noFill/>
          <a:ln cap="flat" cmpd="sng" w="28575">
            <a:solidFill>
              <a:srgbClr val="7F7F7F"/>
            </a:solidFill>
            <a:prstDash val="solid"/>
            <a:miter lim="800000"/>
            <a:headEnd len="sm" w="sm" type="none"/>
            <a:tailEnd len="med" w="med" type="triangle"/>
          </a:ln>
        </p:spPr>
      </p:cxnSp>
      <p:cxnSp>
        <p:nvCxnSpPr>
          <p:cNvPr id="902" name="Google Shape;902;p34"/>
          <p:cNvCxnSpPr>
            <a:stCxn id="896" idx="3"/>
            <a:endCxn id="894" idx="2"/>
          </p:cNvCxnSpPr>
          <p:nvPr/>
        </p:nvCxnSpPr>
        <p:spPr>
          <a:xfrm flipH="1" rot="10800000">
            <a:off x="7808496" y="5870629"/>
            <a:ext cx="914400" cy="381600"/>
          </a:xfrm>
          <a:prstGeom prst="straightConnector1">
            <a:avLst/>
          </a:prstGeom>
          <a:noFill/>
          <a:ln cap="flat" cmpd="sng" w="28575">
            <a:solidFill>
              <a:srgbClr val="7F7F7F"/>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500"/>
                                        <p:tgtEl>
                                          <p:spTgt spid="8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500"/>
                                        <p:tgtEl>
                                          <p:spTgt spid="890"/>
                                        </p:tgtEl>
                                      </p:cBhvr>
                                    </p:animEffect>
                                  </p:childTnLst>
                                </p:cTn>
                              </p:par>
                              <p:par>
                                <p:cTn fill="hold" nodeType="with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500"/>
                                        <p:tgtEl>
                                          <p:spTgt spid="891"/>
                                        </p:tgtEl>
                                      </p:cBhvr>
                                    </p:animEffect>
                                  </p:childTnLst>
                                </p:cTn>
                              </p:par>
                              <p:par>
                                <p:cTn fill="hold" nodeType="with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500"/>
                                        <p:tgtEl>
                                          <p:spTgt spid="888"/>
                                        </p:tgtEl>
                                      </p:cBhvr>
                                    </p:animEffect>
                                  </p:childTnLst>
                                </p:cTn>
                              </p:par>
                              <p:par>
                                <p:cTn fill="hold" nodeType="with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500"/>
                                        <p:tgtEl>
                                          <p:spTgt spid="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500"/>
                                        <p:tgtEl>
                                          <p:spTgt spid="8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500"/>
                                        <p:tgtEl>
                                          <p:spTgt spid="893"/>
                                        </p:tgtEl>
                                      </p:cBhvr>
                                    </p:animEffect>
                                  </p:childTnLst>
                                </p:cTn>
                              </p:par>
                              <p:par>
                                <p:cTn fill="hold" nodeType="with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500"/>
                                        <p:tgtEl>
                                          <p:spTgt spid="8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500"/>
                                        <p:tgtEl>
                                          <p:spTgt spid="895"/>
                                        </p:tgtEl>
                                      </p:cBhvr>
                                    </p:animEffect>
                                  </p:childTnLst>
                                </p:cTn>
                              </p:par>
                              <p:par>
                                <p:cTn fill="hold" nodeType="with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500"/>
                                        <p:tgtEl>
                                          <p:spTgt spid="898"/>
                                        </p:tgtEl>
                                      </p:cBhvr>
                                    </p:animEffect>
                                  </p:childTnLst>
                                </p:cTn>
                              </p:par>
                              <p:par>
                                <p:cTn fill="hold" nodeType="with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500"/>
                                        <p:tgtEl>
                                          <p:spTgt spid="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500"/>
                                        <p:tgtEl>
                                          <p:spTgt spid="900"/>
                                        </p:tgtEl>
                                      </p:cBhvr>
                                    </p:animEffect>
                                  </p:childTnLst>
                                </p:cTn>
                              </p:par>
                              <p:par>
                                <p:cTn fill="hold" nodeType="with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500"/>
                                        <p:tgtEl>
                                          <p:spTgt spid="899"/>
                                        </p:tgtEl>
                                      </p:cBhvr>
                                    </p:animEffect>
                                  </p:childTnLst>
                                </p:cTn>
                              </p:par>
                              <p:par>
                                <p:cTn fill="hold" nodeType="with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500"/>
                                        <p:tgtEl>
                                          <p:spTgt spid="901"/>
                                        </p:tgtEl>
                                      </p:cBhvr>
                                    </p:animEffect>
                                  </p:childTnLst>
                                </p:cTn>
                              </p:par>
                              <p:par>
                                <p:cTn fill="hold" nodeType="with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500"/>
                                        <p:tgtEl>
                                          <p:spTgt spid="902"/>
                                        </p:tgtEl>
                                      </p:cBhvr>
                                    </p:animEffect>
                                  </p:childTnLst>
                                </p:cTn>
                              </p:par>
                              <p:par>
                                <p:cTn fill="hold" nodeType="with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Generalization v/s Specialization</a:t>
            </a:r>
            <a:endParaRPr/>
          </a:p>
        </p:txBody>
      </p:sp>
      <p:sp>
        <p:nvSpPr>
          <p:cNvPr id="908" name="Google Shape;908;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- 7</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3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Generalization v/s Specialization</a:t>
            </a:r>
            <a:endParaRPr/>
          </a:p>
        </p:txBody>
      </p:sp>
      <p:sp>
        <p:nvSpPr>
          <p:cNvPr id="914" name="Google Shape;914;p36"/>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graphicFrame>
        <p:nvGraphicFramePr>
          <p:cNvPr id="915" name="Google Shape;915;p36"/>
          <p:cNvGraphicFramePr/>
          <p:nvPr/>
        </p:nvGraphicFramePr>
        <p:xfrm>
          <a:off x="131178" y="859690"/>
          <a:ext cx="3000000" cy="3000000"/>
        </p:xfrm>
        <a:graphic>
          <a:graphicData uri="http://schemas.openxmlformats.org/drawingml/2006/table">
            <a:tbl>
              <a:tblPr bandRow="1" firstRow="1">
                <a:noFill/>
                <a:tableStyleId>{2FE9E659-6503-4E8C-9AC6-ED4A2EF7120C}</a:tableStyleId>
              </a:tblPr>
              <a:tblGrid>
                <a:gridCol w="5964825"/>
                <a:gridCol w="5964825"/>
              </a:tblGrid>
              <a:tr h="630000">
                <a:tc>
                  <a:txBody>
                    <a:bodyPr/>
                    <a:lstStyle/>
                    <a:p>
                      <a:pPr indent="0" lvl="0" marL="0" marR="0" rtl="0" algn="l">
                        <a:spcBef>
                          <a:spcPts val="0"/>
                        </a:spcBef>
                        <a:spcAft>
                          <a:spcPts val="0"/>
                        </a:spcAft>
                        <a:buNone/>
                      </a:pPr>
                      <a:r>
                        <a:rPr b="1" lang="en-US" sz="2400">
                          <a:solidFill>
                            <a:schemeClr val="dk1"/>
                          </a:solidFill>
                        </a:rPr>
                        <a:t>Generalization</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2400">
                          <a:solidFill>
                            <a:schemeClr val="dk1"/>
                          </a:solidFill>
                        </a:rPr>
                        <a:t>Specialization</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bl>
          </a:graphicData>
        </a:graphic>
      </p:graphicFrame>
      <p:graphicFrame>
        <p:nvGraphicFramePr>
          <p:cNvPr id="916" name="Google Shape;916;p36"/>
          <p:cNvGraphicFramePr/>
          <p:nvPr/>
        </p:nvGraphicFramePr>
        <p:xfrm>
          <a:off x="131178" y="1503193"/>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 </a:t>
                      </a:r>
                      <a:r>
                        <a:rPr b="1" lang="en-US" sz="2400">
                          <a:solidFill>
                            <a:schemeClr val="accent6"/>
                          </a:solidFill>
                          <a:latin typeface="Roboto Condensed"/>
                          <a:ea typeface="Roboto Condensed"/>
                          <a:cs typeface="Roboto Condensed"/>
                          <a:sym typeface="Roboto Condensed"/>
                        </a:rPr>
                        <a:t>extracts the common features </a:t>
                      </a:r>
                      <a:r>
                        <a:rPr b="0" lang="en-US" sz="2400">
                          <a:solidFill>
                            <a:schemeClr val="dk1"/>
                          </a:solidFill>
                          <a:latin typeface="Roboto Condensed"/>
                          <a:ea typeface="Roboto Condensed"/>
                          <a:cs typeface="Roboto Condensed"/>
                          <a:sym typeface="Roboto Condensed"/>
                        </a:rPr>
                        <a:t>of </a:t>
                      </a:r>
                      <a:r>
                        <a:rPr b="1" lang="en-US" sz="2400">
                          <a:solidFill>
                            <a:schemeClr val="accent6"/>
                          </a:solidFill>
                          <a:latin typeface="Roboto Condensed"/>
                          <a:ea typeface="Roboto Condensed"/>
                          <a:cs typeface="Roboto Condensed"/>
                          <a:sym typeface="Roboto Condensed"/>
                        </a:rPr>
                        <a:t>multiple entities</a:t>
                      </a:r>
                      <a:r>
                        <a:rPr b="0" lang="en-US" sz="2400">
                          <a:solidFill>
                            <a:schemeClr val="dk1"/>
                          </a:solidFill>
                          <a:latin typeface="Roboto Condensed"/>
                          <a:ea typeface="Roboto Condensed"/>
                          <a:cs typeface="Roboto Condensed"/>
                          <a:sym typeface="Roboto Condensed"/>
                        </a:rPr>
                        <a:t> to </a:t>
                      </a:r>
                      <a:r>
                        <a:rPr b="1" lang="en-US" sz="2400">
                          <a:solidFill>
                            <a:schemeClr val="accent6"/>
                          </a:solidFill>
                          <a:latin typeface="Roboto Condensed"/>
                          <a:ea typeface="Roboto Condensed"/>
                          <a:cs typeface="Roboto Condensed"/>
                          <a:sym typeface="Roboto Condensed"/>
                        </a:rPr>
                        <a:t>form a new entity</a:t>
                      </a:r>
                      <a:r>
                        <a:rPr b="0" lang="en-US" sz="2400">
                          <a:solidFill>
                            <a:schemeClr val="dk1"/>
                          </a:solidFill>
                          <a:latin typeface="Roboto Condensed"/>
                          <a:ea typeface="Roboto Condensed"/>
                          <a:cs typeface="Roboto Condensed"/>
                          <a:sym typeface="Roboto Condensed"/>
                        </a:rPr>
                        <a:t>.</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 </a:t>
                      </a:r>
                      <a:r>
                        <a:rPr b="1" lang="en-US" sz="2400">
                          <a:solidFill>
                            <a:schemeClr val="accent6"/>
                          </a:solidFill>
                          <a:latin typeface="Roboto Condensed"/>
                          <a:ea typeface="Roboto Condensed"/>
                          <a:cs typeface="Roboto Condensed"/>
                          <a:sym typeface="Roboto Condensed"/>
                        </a:rPr>
                        <a:t>splits an entity to form multiple new entities </a:t>
                      </a:r>
                      <a:r>
                        <a:rPr b="0" lang="en-US" sz="2400">
                          <a:solidFill>
                            <a:schemeClr val="dk1"/>
                          </a:solidFill>
                          <a:latin typeface="Roboto Condensed"/>
                          <a:ea typeface="Roboto Condensed"/>
                          <a:cs typeface="Roboto Condensed"/>
                          <a:sym typeface="Roboto Condensed"/>
                        </a:rPr>
                        <a:t>that </a:t>
                      </a:r>
                      <a:r>
                        <a:rPr b="1" lang="en-US" sz="2400">
                          <a:solidFill>
                            <a:schemeClr val="accent6"/>
                          </a:solidFill>
                          <a:latin typeface="Roboto Condensed"/>
                          <a:ea typeface="Roboto Condensed"/>
                          <a:cs typeface="Roboto Condensed"/>
                          <a:sym typeface="Roboto Condensed"/>
                        </a:rPr>
                        <a:t>inherit some feature of the splitting entity</a:t>
                      </a:r>
                      <a:r>
                        <a:rPr b="0" lang="en-US" sz="2400">
                          <a:solidFill>
                            <a:schemeClr val="dk1"/>
                          </a:solidFill>
                          <a:latin typeface="Roboto Condensed"/>
                          <a:ea typeface="Roboto Condensed"/>
                          <a:cs typeface="Roboto Condensed"/>
                          <a:sym typeface="Roboto Condensed"/>
                        </a:rPr>
                        <a:t>.</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917" name="Google Shape;917;p36"/>
          <p:cNvGraphicFramePr/>
          <p:nvPr/>
        </p:nvGraphicFramePr>
        <p:xfrm>
          <a:off x="131178" y="2319178"/>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
        <p:nvSpPr>
          <p:cNvPr id="918" name="Google Shape;918;p36"/>
          <p:cNvSpPr/>
          <p:nvPr/>
        </p:nvSpPr>
        <p:spPr>
          <a:xfrm>
            <a:off x="1084967" y="4748953"/>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a:p>
        </p:txBody>
      </p:sp>
      <p:sp>
        <p:nvSpPr>
          <p:cNvPr id="919" name="Google Shape;919;p36"/>
          <p:cNvSpPr/>
          <p:nvPr/>
        </p:nvSpPr>
        <p:spPr>
          <a:xfrm>
            <a:off x="3370967" y="4748953"/>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Faculty</a:t>
            </a:r>
            <a:endParaRPr/>
          </a:p>
        </p:txBody>
      </p:sp>
      <p:sp>
        <p:nvSpPr>
          <p:cNvPr id="920" name="Google Shape;920;p36"/>
          <p:cNvSpPr/>
          <p:nvPr/>
        </p:nvSpPr>
        <p:spPr>
          <a:xfrm>
            <a:off x="828527" y="3615438"/>
            <a:ext cx="1047750"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sp>
        <p:nvSpPr>
          <p:cNvPr id="921" name="Google Shape;921;p36"/>
          <p:cNvSpPr/>
          <p:nvPr/>
        </p:nvSpPr>
        <p:spPr>
          <a:xfrm>
            <a:off x="1658471" y="4052118"/>
            <a:ext cx="1357625"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Address</a:t>
            </a:r>
            <a:endParaRPr/>
          </a:p>
        </p:txBody>
      </p:sp>
      <p:sp>
        <p:nvSpPr>
          <p:cNvPr id="922" name="Google Shape;922;p36"/>
          <p:cNvSpPr/>
          <p:nvPr/>
        </p:nvSpPr>
        <p:spPr>
          <a:xfrm>
            <a:off x="1353671" y="5611287"/>
            <a:ext cx="90741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SPI</a:t>
            </a:r>
            <a:endParaRPr/>
          </a:p>
        </p:txBody>
      </p:sp>
      <p:sp>
        <p:nvSpPr>
          <p:cNvPr id="923" name="Google Shape;923;p36"/>
          <p:cNvSpPr/>
          <p:nvPr/>
        </p:nvSpPr>
        <p:spPr>
          <a:xfrm>
            <a:off x="2815759" y="3618020"/>
            <a:ext cx="107156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sp>
        <p:nvSpPr>
          <p:cNvPr id="924" name="Google Shape;924;p36"/>
          <p:cNvSpPr/>
          <p:nvPr/>
        </p:nvSpPr>
        <p:spPr>
          <a:xfrm>
            <a:off x="3715871" y="4056490"/>
            <a:ext cx="1404937"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Address</a:t>
            </a:r>
            <a:endParaRPr/>
          </a:p>
        </p:txBody>
      </p:sp>
      <p:sp>
        <p:nvSpPr>
          <p:cNvPr id="925" name="Google Shape;925;p36"/>
          <p:cNvSpPr/>
          <p:nvPr/>
        </p:nvSpPr>
        <p:spPr>
          <a:xfrm>
            <a:off x="3564583" y="5611288"/>
            <a:ext cx="1064575"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Salary</a:t>
            </a:r>
            <a:endParaRPr/>
          </a:p>
        </p:txBody>
      </p:sp>
      <p:cxnSp>
        <p:nvCxnSpPr>
          <p:cNvPr id="926" name="Google Shape;926;p36"/>
          <p:cNvCxnSpPr>
            <a:stCxn id="918" idx="0"/>
            <a:endCxn id="920" idx="4"/>
          </p:cNvCxnSpPr>
          <p:nvPr/>
        </p:nvCxnSpPr>
        <p:spPr>
          <a:xfrm rot="10800000">
            <a:off x="1352387" y="4026853"/>
            <a:ext cx="464100" cy="722100"/>
          </a:xfrm>
          <a:prstGeom prst="straightConnector1">
            <a:avLst/>
          </a:prstGeom>
          <a:noFill/>
          <a:ln cap="flat" cmpd="sng" w="28575">
            <a:solidFill>
              <a:schemeClr val="dk2"/>
            </a:solidFill>
            <a:prstDash val="solid"/>
            <a:miter lim="800000"/>
            <a:headEnd len="sm" w="sm" type="none"/>
            <a:tailEnd len="sm" w="sm" type="none"/>
          </a:ln>
        </p:spPr>
      </p:cxnSp>
      <p:cxnSp>
        <p:nvCxnSpPr>
          <p:cNvPr id="927" name="Google Shape;927;p36"/>
          <p:cNvCxnSpPr>
            <a:stCxn id="918" idx="0"/>
            <a:endCxn id="921" idx="4"/>
          </p:cNvCxnSpPr>
          <p:nvPr/>
        </p:nvCxnSpPr>
        <p:spPr>
          <a:xfrm flipH="1" rot="10800000">
            <a:off x="1816487" y="4463653"/>
            <a:ext cx="520800" cy="285300"/>
          </a:xfrm>
          <a:prstGeom prst="straightConnector1">
            <a:avLst/>
          </a:prstGeom>
          <a:noFill/>
          <a:ln cap="flat" cmpd="sng" w="28575">
            <a:solidFill>
              <a:schemeClr val="dk2"/>
            </a:solidFill>
            <a:prstDash val="solid"/>
            <a:miter lim="800000"/>
            <a:headEnd len="sm" w="sm" type="none"/>
            <a:tailEnd len="sm" w="sm" type="none"/>
          </a:ln>
        </p:spPr>
      </p:cxnSp>
      <p:cxnSp>
        <p:nvCxnSpPr>
          <p:cNvPr id="928" name="Google Shape;928;p36"/>
          <p:cNvCxnSpPr>
            <a:stCxn id="919" idx="0"/>
            <a:endCxn id="923" idx="4"/>
          </p:cNvCxnSpPr>
          <p:nvPr/>
        </p:nvCxnSpPr>
        <p:spPr>
          <a:xfrm rot="10800000">
            <a:off x="3351587" y="4029553"/>
            <a:ext cx="750900" cy="719400"/>
          </a:xfrm>
          <a:prstGeom prst="straightConnector1">
            <a:avLst/>
          </a:prstGeom>
          <a:noFill/>
          <a:ln cap="flat" cmpd="sng" w="28575">
            <a:solidFill>
              <a:schemeClr val="dk2"/>
            </a:solidFill>
            <a:prstDash val="solid"/>
            <a:miter lim="800000"/>
            <a:headEnd len="sm" w="sm" type="none"/>
            <a:tailEnd len="sm" w="sm" type="none"/>
          </a:ln>
        </p:spPr>
      </p:cxnSp>
      <p:cxnSp>
        <p:nvCxnSpPr>
          <p:cNvPr id="929" name="Google Shape;929;p36"/>
          <p:cNvCxnSpPr>
            <a:stCxn id="919" idx="0"/>
            <a:endCxn id="924" idx="4"/>
          </p:cNvCxnSpPr>
          <p:nvPr/>
        </p:nvCxnSpPr>
        <p:spPr>
          <a:xfrm flipH="1" rot="10800000">
            <a:off x="4102487" y="4467853"/>
            <a:ext cx="315900" cy="281100"/>
          </a:xfrm>
          <a:prstGeom prst="straightConnector1">
            <a:avLst/>
          </a:prstGeom>
          <a:noFill/>
          <a:ln cap="flat" cmpd="sng" w="28575">
            <a:solidFill>
              <a:schemeClr val="dk2"/>
            </a:solidFill>
            <a:prstDash val="solid"/>
            <a:miter lim="800000"/>
            <a:headEnd len="sm" w="sm" type="none"/>
            <a:tailEnd len="sm" w="sm" type="none"/>
          </a:ln>
        </p:spPr>
      </p:cxnSp>
      <p:cxnSp>
        <p:nvCxnSpPr>
          <p:cNvPr id="930" name="Google Shape;930;p36"/>
          <p:cNvCxnSpPr>
            <a:stCxn id="918" idx="2"/>
            <a:endCxn id="922" idx="0"/>
          </p:cNvCxnSpPr>
          <p:nvPr/>
        </p:nvCxnSpPr>
        <p:spPr>
          <a:xfrm flipH="1">
            <a:off x="1807487" y="5206153"/>
            <a:ext cx="9000" cy="405000"/>
          </a:xfrm>
          <a:prstGeom prst="straightConnector1">
            <a:avLst/>
          </a:prstGeom>
          <a:noFill/>
          <a:ln cap="flat" cmpd="sng" w="28575">
            <a:solidFill>
              <a:schemeClr val="dk2"/>
            </a:solidFill>
            <a:prstDash val="solid"/>
            <a:miter lim="800000"/>
            <a:headEnd len="sm" w="sm" type="none"/>
            <a:tailEnd len="sm" w="sm" type="none"/>
          </a:ln>
        </p:spPr>
      </p:cxnSp>
      <p:cxnSp>
        <p:nvCxnSpPr>
          <p:cNvPr id="931" name="Google Shape;931;p36"/>
          <p:cNvCxnSpPr>
            <a:stCxn id="919" idx="2"/>
            <a:endCxn id="925" idx="0"/>
          </p:cNvCxnSpPr>
          <p:nvPr/>
        </p:nvCxnSpPr>
        <p:spPr>
          <a:xfrm flipH="1">
            <a:off x="4096787" y="5206153"/>
            <a:ext cx="5700" cy="405000"/>
          </a:xfrm>
          <a:prstGeom prst="straightConnector1">
            <a:avLst/>
          </a:prstGeom>
          <a:noFill/>
          <a:ln cap="flat" cmpd="sng" w="28575">
            <a:solidFill>
              <a:schemeClr val="dk2"/>
            </a:solidFill>
            <a:prstDash val="solid"/>
            <a:miter lim="800000"/>
            <a:headEnd len="sm" w="sm" type="none"/>
            <a:tailEnd len="sm" w="sm" type="none"/>
          </a:ln>
        </p:spPr>
      </p:cxnSp>
      <p:sp>
        <p:nvSpPr>
          <p:cNvPr id="932" name="Google Shape;932;p36"/>
          <p:cNvSpPr/>
          <p:nvPr/>
        </p:nvSpPr>
        <p:spPr>
          <a:xfrm>
            <a:off x="2218442" y="3228329"/>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a:t>
            </a:r>
            <a:endParaRPr/>
          </a:p>
        </p:txBody>
      </p:sp>
      <p:sp>
        <p:nvSpPr>
          <p:cNvPr id="933" name="Google Shape;933;p36"/>
          <p:cNvSpPr/>
          <p:nvPr/>
        </p:nvSpPr>
        <p:spPr>
          <a:xfrm>
            <a:off x="1899990" y="2501882"/>
            <a:ext cx="107156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sp>
        <p:nvSpPr>
          <p:cNvPr id="934" name="Google Shape;934;p36"/>
          <p:cNvSpPr/>
          <p:nvPr/>
        </p:nvSpPr>
        <p:spPr>
          <a:xfrm>
            <a:off x="3072934" y="2466329"/>
            <a:ext cx="1404937"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Address</a:t>
            </a:r>
            <a:endParaRPr/>
          </a:p>
        </p:txBody>
      </p:sp>
      <p:cxnSp>
        <p:nvCxnSpPr>
          <p:cNvPr id="935" name="Google Shape;935;p36"/>
          <p:cNvCxnSpPr>
            <a:stCxn id="919" idx="0"/>
            <a:endCxn id="932" idx="2"/>
          </p:cNvCxnSpPr>
          <p:nvPr/>
        </p:nvCxnSpPr>
        <p:spPr>
          <a:xfrm rot="10800000">
            <a:off x="2949887" y="3685453"/>
            <a:ext cx="1152600" cy="1063500"/>
          </a:xfrm>
          <a:prstGeom prst="straightConnector1">
            <a:avLst/>
          </a:prstGeom>
          <a:noFill/>
          <a:ln cap="flat" cmpd="sng" w="28575">
            <a:solidFill>
              <a:schemeClr val="dk2"/>
            </a:solidFill>
            <a:prstDash val="solid"/>
            <a:miter lim="800000"/>
            <a:headEnd len="sm" w="sm" type="none"/>
            <a:tailEnd len="sm" w="sm" type="none"/>
          </a:ln>
        </p:spPr>
      </p:cxnSp>
      <p:cxnSp>
        <p:nvCxnSpPr>
          <p:cNvPr id="936" name="Google Shape;936;p36"/>
          <p:cNvCxnSpPr>
            <a:stCxn id="918" idx="0"/>
            <a:endCxn id="932" idx="2"/>
          </p:cNvCxnSpPr>
          <p:nvPr/>
        </p:nvCxnSpPr>
        <p:spPr>
          <a:xfrm flipH="1" rot="10800000">
            <a:off x="1816487" y="3685453"/>
            <a:ext cx="1133400" cy="1063500"/>
          </a:xfrm>
          <a:prstGeom prst="straightConnector1">
            <a:avLst/>
          </a:prstGeom>
          <a:noFill/>
          <a:ln cap="flat" cmpd="sng" w="28575">
            <a:solidFill>
              <a:schemeClr val="dk2"/>
            </a:solidFill>
            <a:prstDash val="solid"/>
            <a:miter lim="800000"/>
            <a:headEnd len="sm" w="sm" type="none"/>
            <a:tailEnd len="sm" w="sm" type="none"/>
          </a:ln>
        </p:spPr>
      </p:cxnSp>
      <p:cxnSp>
        <p:nvCxnSpPr>
          <p:cNvPr id="937" name="Google Shape;937;p36"/>
          <p:cNvCxnSpPr>
            <a:stCxn id="932" idx="0"/>
            <a:endCxn id="933" idx="4"/>
          </p:cNvCxnSpPr>
          <p:nvPr/>
        </p:nvCxnSpPr>
        <p:spPr>
          <a:xfrm rot="10800000">
            <a:off x="2435762" y="2913329"/>
            <a:ext cx="514200" cy="315000"/>
          </a:xfrm>
          <a:prstGeom prst="straightConnector1">
            <a:avLst/>
          </a:prstGeom>
          <a:noFill/>
          <a:ln cap="flat" cmpd="sng" w="28575">
            <a:solidFill>
              <a:schemeClr val="dk2"/>
            </a:solidFill>
            <a:prstDash val="solid"/>
            <a:miter lim="800000"/>
            <a:headEnd len="sm" w="sm" type="none"/>
            <a:tailEnd len="sm" w="sm" type="none"/>
          </a:ln>
        </p:spPr>
      </p:cxnSp>
      <p:cxnSp>
        <p:nvCxnSpPr>
          <p:cNvPr id="938" name="Google Shape;938;p36"/>
          <p:cNvCxnSpPr>
            <a:stCxn id="934" idx="4"/>
            <a:endCxn id="932" idx="0"/>
          </p:cNvCxnSpPr>
          <p:nvPr/>
        </p:nvCxnSpPr>
        <p:spPr>
          <a:xfrm flipH="1">
            <a:off x="2950103" y="2877809"/>
            <a:ext cx="825300" cy="350400"/>
          </a:xfrm>
          <a:prstGeom prst="straightConnector1">
            <a:avLst/>
          </a:prstGeom>
          <a:noFill/>
          <a:ln cap="flat" cmpd="sng" w="28575">
            <a:solidFill>
              <a:schemeClr val="dk2"/>
            </a:solidFill>
            <a:prstDash val="solid"/>
            <a:miter lim="800000"/>
            <a:headEnd len="sm" w="sm" type="none"/>
            <a:tailEnd len="sm" w="sm" type="none"/>
          </a:ln>
        </p:spPr>
      </p:cxnSp>
      <p:sp>
        <p:nvSpPr>
          <p:cNvPr id="939" name="Google Shape;939;p36"/>
          <p:cNvSpPr/>
          <p:nvPr/>
        </p:nvSpPr>
        <p:spPr>
          <a:xfrm>
            <a:off x="2536362" y="3994098"/>
            <a:ext cx="812798" cy="544671"/>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Roboto Condensed"/>
                <a:ea typeface="Roboto Condensed"/>
                <a:cs typeface="Roboto Condensed"/>
                <a:sym typeface="Roboto Condensed"/>
              </a:rPr>
              <a:t>ISA</a:t>
            </a:r>
            <a:endParaRPr/>
          </a:p>
        </p:txBody>
      </p:sp>
      <p:cxnSp>
        <p:nvCxnSpPr>
          <p:cNvPr id="940" name="Google Shape;940;p36"/>
          <p:cNvCxnSpPr>
            <a:stCxn id="932" idx="2"/>
            <a:endCxn id="939" idx="0"/>
          </p:cNvCxnSpPr>
          <p:nvPr/>
        </p:nvCxnSpPr>
        <p:spPr>
          <a:xfrm flipH="1">
            <a:off x="2942762" y="3685529"/>
            <a:ext cx="7200" cy="308700"/>
          </a:xfrm>
          <a:prstGeom prst="straightConnector1">
            <a:avLst/>
          </a:prstGeom>
          <a:noFill/>
          <a:ln cap="flat" cmpd="sng" w="28575">
            <a:solidFill>
              <a:schemeClr val="accent4"/>
            </a:solidFill>
            <a:prstDash val="solid"/>
            <a:miter lim="800000"/>
            <a:headEnd len="sm" w="sm" type="none"/>
            <a:tailEnd len="sm" w="sm" type="none"/>
          </a:ln>
        </p:spPr>
      </p:cxnSp>
      <p:cxnSp>
        <p:nvCxnSpPr>
          <p:cNvPr id="941" name="Google Shape;941;p36"/>
          <p:cNvCxnSpPr>
            <a:stCxn id="918" idx="0"/>
            <a:endCxn id="939" idx="1"/>
          </p:cNvCxnSpPr>
          <p:nvPr/>
        </p:nvCxnSpPr>
        <p:spPr>
          <a:xfrm flipH="1" rot="10800000">
            <a:off x="1816487" y="4266553"/>
            <a:ext cx="923100" cy="482400"/>
          </a:xfrm>
          <a:prstGeom prst="straightConnector1">
            <a:avLst/>
          </a:prstGeom>
          <a:noFill/>
          <a:ln cap="flat" cmpd="sng" w="28575">
            <a:solidFill>
              <a:schemeClr val="accent4"/>
            </a:solidFill>
            <a:prstDash val="solid"/>
            <a:miter lim="800000"/>
            <a:headEnd len="sm" w="sm" type="none"/>
            <a:tailEnd len="sm" w="sm" type="none"/>
          </a:ln>
        </p:spPr>
      </p:cxnSp>
      <p:cxnSp>
        <p:nvCxnSpPr>
          <p:cNvPr id="942" name="Google Shape;942;p36"/>
          <p:cNvCxnSpPr>
            <a:stCxn id="919" idx="0"/>
            <a:endCxn id="939" idx="3"/>
          </p:cNvCxnSpPr>
          <p:nvPr/>
        </p:nvCxnSpPr>
        <p:spPr>
          <a:xfrm rot="10800000">
            <a:off x="3146087" y="4266553"/>
            <a:ext cx="956400" cy="482400"/>
          </a:xfrm>
          <a:prstGeom prst="straightConnector1">
            <a:avLst/>
          </a:prstGeom>
          <a:noFill/>
          <a:ln cap="flat" cmpd="sng" w="28575">
            <a:solidFill>
              <a:schemeClr val="accent4"/>
            </a:solidFill>
            <a:prstDash val="solid"/>
            <a:miter lim="800000"/>
            <a:headEnd len="sm" w="sm" type="none"/>
            <a:tailEnd len="sm" w="sm" type="none"/>
          </a:ln>
        </p:spPr>
      </p:cxnSp>
      <p:sp>
        <p:nvSpPr>
          <p:cNvPr id="943" name="Google Shape;943;p36"/>
          <p:cNvSpPr/>
          <p:nvPr/>
        </p:nvSpPr>
        <p:spPr>
          <a:xfrm>
            <a:off x="2615730" y="4024099"/>
            <a:ext cx="673546" cy="2194560"/>
          </a:xfrm>
          <a:prstGeom prst="upArrow">
            <a:avLst>
              <a:gd fmla="val 50000" name="adj1"/>
              <a:gd fmla="val 50000" name="adj2"/>
            </a:avLst>
          </a:prstGeom>
          <a:solidFill>
            <a:schemeClr val="accent1"/>
          </a:solidFill>
          <a:ln cap="flat" cmpd="sng" w="12700">
            <a:solidFill>
              <a:srgbClr val="69696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6"/>
          <p:cNvSpPr txBox="1"/>
          <p:nvPr/>
        </p:nvSpPr>
        <p:spPr>
          <a:xfrm rot="-5400000">
            <a:off x="1939411" y="5037162"/>
            <a:ext cx="2026173" cy="33677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oboto Condensed"/>
                <a:ea typeface="Roboto Condensed"/>
                <a:cs typeface="Roboto Condensed"/>
                <a:sym typeface="Roboto Condensed"/>
              </a:rPr>
              <a:t>Bottom-up approach</a:t>
            </a:r>
            <a:endParaRPr sz="1800">
              <a:solidFill>
                <a:schemeClr val="lt1"/>
              </a:solidFill>
              <a:latin typeface="Roboto Condensed"/>
              <a:ea typeface="Roboto Condensed"/>
              <a:cs typeface="Roboto Condensed"/>
              <a:sym typeface="Roboto Condensed"/>
            </a:endParaRPr>
          </a:p>
        </p:txBody>
      </p:sp>
      <p:sp>
        <p:nvSpPr>
          <p:cNvPr id="945" name="Google Shape;945;p36"/>
          <p:cNvSpPr/>
          <p:nvPr/>
        </p:nvSpPr>
        <p:spPr>
          <a:xfrm>
            <a:off x="7129716" y="4746106"/>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a:p>
        </p:txBody>
      </p:sp>
      <p:sp>
        <p:nvSpPr>
          <p:cNvPr id="946" name="Google Shape;946;p36"/>
          <p:cNvSpPr/>
          <p:nvPr/>
        </p:nvSpPr>
        <p:spPr>
          <a:xfrm>
            <a:off x="9415716" y="4746106"/>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Faculty</a:t>
            </a:r>
            <a:endParaRPr/>
          </a:p>
        </p:txBody>
      </p:sp>
      <p:sp>
        <p:nvSpPr>
          <p:cNvPr id="947" name="Google Shape;947;p36"/>
          <p:cNvSpPr/>
          <p:nvPr/>
        </p:nvSpPr>
        <p:spPr>
          <a:xfrm>
            <a:off x="8315327" y="3226114"/>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a:t>
            </a:r>
            <a:endParaRPr/>
          </a:p>
        </p:txBody>
      </p:sp>
      <p:sp>
        <p:nvSpPr>
          <p:cNvPr id="948" name="Google Shape;948;p36"/>
          <p:cNvSpPr/>
          <p:nvPr/>
        </p:nvSpPr>
        <p:spPr>
          <a:xfrm>
            <a:off x="7996875" y="2499667"/>
            <a:ext cx="107156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sp>
        <p:nvSpPr>
          <p:cNvPr id="949" name="Google Shape;949;p36"/>
          <p:cNvSpPr/>
          <p:nvPr/>
        </p:nvSpPr>
        <p:spPr>
          <a:xfrm>
            <a:off x="9169819" y="2464114"/>
            <a:ext cx="1404937"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Address</a:t>
            </a:r>
            <a:endParaRPr/>
          </a:p>
        </p:txBody>
      </p:sp>
      <p:cxnSp>
        <p:nvCxnSpPr>
          <p:cNvPr id="950" name="Google Shape;950;p36"/>
          <p:cNvCxnSpPr>
            <a:stCxn id="947" idx="0"/>
            <a:endCxn id="948" idx="4"/>
          </p:cNvCxnSpPr>
          <p:nvPr/>
        </p:nvCxnSpPr>
        <p:spPr>
          <a:xfrm rot="10800000">
            <a:off x="8532647" y="2911114"/>
            <a:ext cx="514200" cy="315000"/>
          </a:xfrm>
          <a:prstGeom prst="straightConnector1">
            <a:avLst/>
          </a:prstGeom>
          <a:noFill/>
          <a:ln cap="flat" cmpd="sng" w="28575">
            <a:solidFill>
              <a:schemeClr val="dk2"/>
            </a:solidFill>
            <a:prstDash val="solid"/>
            <a:miter lim="800000"/>
            <a:headEnd len="sm" w="sm" type="none"/>
            <a:tailEnd len="sm" w="sm" type="none"/>
          </a:ln>
        </p:spPr>
      </p:cxnSp>
      <p:cxnSp>
        <p:nvCxnSpPr>
          <p:cNvPr id="951" name="Google Shape;951;p36"/>
          <p:cNvCxnSpPr>
            <a:stCxn id="949" idx="4"/>
            <a:endCxn id="947" idx="0"/>
          </p:cNvCxnSpPr>
          <p:nvPr/>
        </p:nvCxnSpPr>
        <p:spPr>
          <a:xfrm flipH="1">
            <a:off x="9046988" y="2875594"/>
            <a:ext cx="825300" cy="350400"/>
          </a:xfrm>
          <a:prstGeom prst="straightConnector1">
            <a:avLst/>
          </a:prstGeom>
          <a:noFill/>
          <a:ln cap="flat" cmpd="sng" w="28575">
            <a:solidFill>
              <a:schemeClr val="dk2"/>
            </a:solidFill>
            <a:prstDash val="solid"/>
            <a:miter lim="800000"/>
            <a:headEnd len="sm" w="sm" type="none"/>
            <a:tailEnd len="sm" w="sm" type="none"/>
          </a:ln>
        </p:spPr>
      </p:cxnSp>
      <p:sp>
        <p:nvSpPr>
          <p:cNvPr id="952" name="Google Shape;952;p36"/>
          <p:cNvSpPr/>
          <p:nvPr/>
        </p:nvSpPr>
        <p:spPr>
          <a:xfrm>
            <a:off x="7044241" y="3049579"/>
            <a:ext cx="90741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SPI</a:t>
            </a:r>
            <a:endParaRPr/>
          </a:p>
        </p:txBody>
      </p:sp>
      <p:sp>
        <p:nvSpPr>
          <p:cNvPr id="953" name="Google Shape;953;p36"/>
          <p:cNvSpPr/>
          <p:nvPr/>
        </p:nvSpPr>
        <p:spPr>
          <a:xfrm>
            <a:off x="10172906" y="3049579"/>
            <a:ext cx="1064575"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Salary</a:t>
            </a:r>
            <a:endParaRPr/>
          </a:p>
        </p:txBody>
      </p:sp>
      <p:cxnSp>
        <p:nvCxnSpPr>
          <p:cNvPr id="954" name="Google Shape;954;p36"/>
          <p:cNvCxnSpPr>
            <a:stCxn id="953" idx="3"/>
            <a:endCxn id="947" idx="3"/>
          </p:cNvCxnSpPr>
          <p:nvPr/>
        </p:nvCxnSpPr>
        <p:spPr>
          <a:xfrm flipH="1">
            <a:off x="9778309" y="3400799"/>
            <a:ext cx="550500" cy="54000"/>
          </a:xfrm>
          <a:prstGeom prst="straightConnector1">
            <a:avLst/>
          </a:prstGeom>
          <a:noFill/>
          <a:ln cap="flat" cmpd="sng" w="28575">
            <a:solidFill>
              <a:schemeClr val="dk2"/>
            </a:solidFill>
            <a:prstDash val="solid"/>
            <a:miter lim="800000"/>
            <a:headEnd len="sm" w="sm" type="none"/>
            <a:tailEnd len="sm" w="sm" type="none"/>
          </a:ln>
        </p:spPr>
      </p:cxnSp>
      <p:cxnSp>
        <p:nvCxnSpPr>
          <p:cNvPr id="955" name="Google Shape;955;p36"/>
          <p:cNvCxnSpPr>
            <a:stCxn id="947" idx="1"/>
            <a:endCxn id="952" idx="5"/>
          </p:cNvCxnSpPr>
          <p:nvPr/>
        </p:nvCxnSpPr>
        <p:spPr>
          <a:xfrm rot="10800000">
            <a:off x="7818827" y="3400714"/>
            <a:ext cx="496500" cy="54000"/>
          </a:xfrm>
          <a:prstGeom prst="straightConnector1">
            <a:avLst/>
          </a:prstGeom>
          <a:noFill/>
          <a:ln cap="flat" cmpd="sng" w="28575">
            <a:solidFill>
              <a:schemeClr val="dk2"/>
            </a:solidFill>
            <a:prstDash val="solid"/>
            <a:miter lim="800000"/>
            <a:headEnd len="sm" w="sm" type="none"/>
            <a:tailEnd len="sm" w="sm" type="none"/>
          </a:ln>
        </p:spPr>
      </p:cxnSp>
      <p:sp>
        <p:nvSpPr>
          <p:cNvPr id="956" name="Google Shape;956;p36"/>
          <p:cNvSpPr/>
          <p:nvPr/>
        </p:nvSpPr>
        <p:spPr>
          <a:xfrm>
            <a:off x="7328427" y="5596372"/>
            <a:ext cx="90741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SPI</a:t>
            </a:r>
            <a:endParaRPr/>
          </a:p>
        </p:txBody>
      </p:sp>
      <p:sp>
        <p:nvSpPr>
          <p:cNvPr id="957" name="Google Shape;957;p36"/>
          <p:cNvSpPr/>
          <p:nvPr/>
        </p:nvSpPr>
        <p:spPr>
          <a:xfrm>
            <a:off x="9568938" y="5608440"/>
            <a:ext cx="1064575"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Salary</a:t>
            </a:r>
            <a:endParaRPr/>
          </a:p>
        </p:txBody>
      </p:sp>
      <p:cxnSp>
        <p:nvCxnSpPr>
          <p:cNvPr id="958" name="Google Shape;958;p36"/>
          <p:cNvCxnSpPr/>
          <p:nvPr/>
        </p:nvCxnSpPr>
        <p:spPr>
          <a:xfrm flipH="1">
            <a:off x="7782134" y="5203938"/>
            <a:ext cx="3493" cy="402336"/>
          </a:xfrm>
          <a:prstGeom prst="straightConnector1">
            <a:avLst/>
          </a:prstGeom>
          <a:noFill/>
          <a:ln cap="flat" cmpd="sng" w="28575">
            <a:solidFill>
              <a:schemeClr val="dk2"/>
            </a:solidFill>
            <a:prstDash val="solid"/>
            <a:miter lim="800000"/>
            <a:headEnd len="sm" w="sm" type="none"/>
            <a:tailEnd len="sm" w="sm" type="none"/>
          </a:ln>
        </p:spPr>
      </p:cxnSp>
      <p:cxnSp>
        <p:nvCxnSpPr>
          <p:cNvPr id="959" name="Google Shape;959;p36"/>
          <p:cNvCxnSpPr/>
          <p:nvPr/>
        </p:nvCxnSpPr>
        <p:spPr>
          <a:xfrm>
            <a:off x="10101226" y="5216004"/>
            <a:ext cx="0" cy="402336"/>
          </a:xfrm>
          <a:prstGeom prst="straightConnector1">
            <a:avLst/>
          </a:prstGeom>
          <a:noFill/>
          <a:ln cap="flat" cmpd="sng" w="28575">
            <a:solidFill>
              <a:schemeClr val="dk2"/>
            </a:solidFill>
            <a:prstDash val="solid"/>
            <a:miter lim="800000"/>
            <a:headEnd len="sm" w="sm" type="none"/>
            <a:tailEnd len="sm" w="sm" type="none"/>
          </a:ln>
        </p:spPr>
      </p:cxnSp>
      <p:cxnSp>
        <p:nvCxnSpPr>
          <p:cNvPr id="960" name="Google Shape;960;p36"/>
          <p:cNvCxnSpPr>
            <a:stCxn id="946" idx="0"/>
            <a:endCxn id="947" idx="2"/>
          </p:cNvCxnSpPr>
          <p:nvPr/>
        </p:nvCxnSpPr>
        <p:spPr>
          <a:xfrm rot="10800000">
            <a:off x="9046836" y="3683206"/>
            <a:ext cx="1100400" cy="1062900"/>
          </a:xfrm>
          <a:prstGeom prst="straightConnector1">
            <a:avLst/>
          </a:prstGeom>
          <a:noFill/>
          <a:ln cap="flat" cmpd="sng" w="28575">
            <a:solidFill>
              <a:schemeClr val="dk2"/>
            </a:solidFill>
            <a:prstDash val="solid"/>
            <a:miter lim="800000"/>
            <a:headEnd len="sm" w="sm" type="none"/>
            <a:tailEnd len="sm" w="sm" type="none"/>
          </a:ln>
        </p:spPr>
      </p:cxnSp>
      <p:cxnSp>
        <p:nvCxnSpPr>
          <p:cNvPr id="961" name="Google Shape;961;p36"/>
          <p:cNvCxnSpPr>
            <a:stCxn id="945" idx="0"/>
            <a:endCxn id="947" idx="2"/>
          </p:cNvCxnSpPr>
          <p:nvPr/>
        </p:nvCxnSpPr>
        <p:spPr>
          <a:xfrm flipH="1" rot="10800000">
            <a:off x="7861236" y="3683206"/>
            <a:ext cx="1185600" cy="1062900"/>
          </a:xfrm>
          <a:prstGeom prst="straightConnector1">
            <a:avLst/>
          </a:prstGeom>
          <a:noFill/>
          <a:ln cap="flat" cmpd="sng" w="28575">
            <a:solidFill>
              <a:schemeClr val="dk2"/>
            </a:solidFill>
            <a:prstDash val="solid"/>
            <a:miter lim="800000"/>
            <a:headEnd len="sm" w="sm" type="none"/>
            <a:tailEnd len="sm" w="sm" type="none"/>
          </a:ln>
        </p:spPr>
      </p:cxnSp>
      <p:sp>
        <p:nvSpPr>
          <p:cNvPr id="962" name="Google Shape;962;p36"/>
          <p:cNvSpPr/>
          <p:nvPr/>
        </p:nvSpPr>
        <p:spPr>
          <a:xfrm>
            <a:off x="8643022" y="3991251"/>
            <a:ext cx="812798" cy="544671"/>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Roboto Condensed"/>
                <a:ea typeface="Roboto Condensed"/>
                <a:cs typeface="Roboto Condensed"/>
                <a:sym typeface="Roboto Condensed"/>
              </a:rPr>
              <a:t>ISA</a:t>
            </a:r>
            <a:endParaRPr sz="1400">
              <a:solidFill>
                <a:schemeClr val="dk1"/>
              </a:solidFill>
              <a:latin typeface="Roboto Condensed"/>
              <a:ea typeface="Roboto Condensed"/>
              <a:cs typeface="Roboto Condensed"/>
              <a:sym typeface="Roboto Condensed"/>
            </a:endParaRPr>
          </a:p>
        </p:txBody>
      </p:sp>
      <p:cxnSp>
        <p:nvCxnSpPr>
          <p:cNvPr id="963" name="Google Shape;963;p36"/>
          <p:cNvCxnSpPr>
            <a:stCxn id="947" idx="2"/>
            <a:endCxn id="962" idx="0"/>
          </p:cNvCxnSpPr>
          <p:nvPr/>
        </p:nvCxnSpPr>
        <p:spPr>
          <a:xfrm>
            <a:off x="9046847" y="3683314"/>
            <a:ext cx="2700" cy="307800"/>
          </a:xfrm>
          <a:prstGeom prst="straightConnector1">
            <a:avLst/>
          </a:prstGeom>
          <a:noFill/>
          <a:ln cap="flat" cmpd="sng" w="28575">
            <a:solidFill>
              <a:schemeClr val="accent4"/>
            </a:solidFill>
            <a:prstDash val="solid"/>
            <a:miter lim="800000"/>
            <a:headEnd len="sm" w="sm" type="none"/>
            <a:tailEnd len="sm" w="sm" type="none"/>
          </a:ln>
        </p:spPr>
      </p:cxnSp>
      <p:cxnSp>
        <p:nvCxnSpPr>
          <p:cNvPr id="964" name="Google Shape;964;p36"/>
          <p:cNvCxnSpPr>
            <a:stCxn id="945" idx="0"/>
            <a:endCxn id="962" idx="1"/>
          </p:cNvCxnSpPr>
          <p:nvPr/>
        </p:nvCxnSpPr>
        <p:spPr>
          <a:xfrm flipH="1" rot="10800000">
            <a:off x="7861236" y="4263706"/>
            <a:ext cx="984900" cy="482400"/>
          </a:xfrm>
          <a:prstGeom prst="straightConnector1">
            <a:avLst/>
          </a:prstGeom>
          <a:noFill/>
          <a:ln cap="flat" cmpd="sng" w="28575">
            <a:solidFill>
              <a:schemeClr val="accent4"/>
            </a:solidFill>
            <a:prstDash val="solid"/>
            <a:miter lim="800000"/>
            <a:headEnd len="sm" w="sm" type="none"/>
            <a:tailEnd len="sm" w="sm" type="none"/>
          </a:ln>
        </p:spPr>
      </p:cxnSp>
      <p:cxnSp>
        <p:nvCxnSpPr>
          <p:cNvPr id="965" name="Google Shape;965;p36"/>
          <p:cNvCxnSpPr>
            <a:stCxn id="946" idx="0"/>
            <a:endCxn id="962" idx="3"/>
          </p:cNvCxnSpPr>
          <p:nvPr/>
        </p:nvCxnSpPr>
        <p:spPr>
          <a:xfrm rot="10800000">
            <a:off x="9252636" y="4263706"/>
            <a:ext cx="894600" cy="482400"/>
          </a:xfrm>
          <a:prstGeom prst="straightConnector1">
            <a:avLst/>
          </a:prstGeom>
          <a:noFill/>
          <a:ln cap="flat" cmpd="sng" w="28575">
            <a:solidFill>
              <a:schemeClr val="accent4"/>
            </a:solidFill>
            <a:prstDash val="solid"/>
            <a:miter lim="800000"/>
            <a:headEnd len="sm" w="sm" type="none"/>
            <a:tailEnd len="sm" w="sm" type="none"/>
          </a:ln>
        </p:spPr>
      </p:cxnSp>
      <p:sp>
        <p:nvSpPr>
          <p:cNvPr id="966" name="Google Shape;966;p36"/>
          <p:cNvSpPr/>
          <p:nvPr/>
        </p:nvSpPr>
        <p:spPr>
          <a:xfrm flipH="1" rot="10800000">
            <a:off x="8708109" y="4021252"/>
            <a:ext cx="673546" cy="2197407"/>
          </a:xfrm>
          <a:prstGeom prst="upArrow">
            <a:avLst>
              <a:gd fmla="val 50000" name="adj1"/>
              <a:gd fmla="val 50000" name="adj2"/>
            </a:avLst>
          </a:prstGeom>
          <a:solidFill>
            <a:schemeClr val="accent1"/>
          </a:solidFill>
          <a:ln cap="flat" cmpd="sng" w="12700">
            <a:solidFill>
              <a:srgbClr val="69696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6"/>
          <p:cNvSpPr txBox="1"/>
          <p:nvPr/>
        </p:nvSpPr>
        <p:spPr>
          <a:xfrm flipH="1" rot="-5400000">
            <a:off x="8030363" y="4867374"/>
            <a:ext cx="2029021" cy="33677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Roboto Condensed"/>
                <a:ea typeface="Roboto Condensed"/>
                <a:cs typeface="Roboto Condensed"/>
                <a:sym typeface="Roboto Condensed"/>
              </a:rPr>
              <a:t>Top-down approach</a:t>
            </a:r>
            <a:endParaRPr sz="1800">
              <a:solidFill>
                <a:schemeClr val="lt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500"/>
                                        <p:tgtEl>
                                          <p:spTgt spid="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500"/>
                                        <p:tgtEl>
                                          <p:spTgt spid="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500"/>
                                        <p:tgtEl>
                                          <p:spTgt spid="9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500"/>
                                        <p:tgtEl>
                                          <p:spTgt spid="918"/>
                                        </p:tgtEl>
                                      </p:cBhvr>
                                    </p:animEffect>
                                  </p:childTnLst>
                                </p:cTn>
                              </p:par>
                              <p:par>
                                <p:cTn fill="hold" nodeType="with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500"/>
                                        <p:tgtEl>
                                          <p:spTgt spid="919"/>
                                        </p:tgtEl>
                                      </p:cBhvr>
                                    </p:animEffect>
                                  </p:childTnLst>
                                </p:cTn>
                              </p:par>
                              <p:par>
                                <p:cTn fill="hold" nodeType="with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500"/>
                                        <p:tgtEl>
                                          <p:spTgt spid="930"/>
                                        </p:tgtEl>
                                      </p:cBhvr>
                                    </p:animEffect>
                                  </p:childTnLst>
                                </p:cTn>
                              </p:par>
                              <p:par>
                                <p:cTn fill="hold" nodeType="withEffect" presetClass="entr" presetID="10" presetSubtype="0">
                                  <p:stCondLst>
                                    <p:cond delay="0"/>
                                  </p:stCondLst>
                                  <p:childTnLst>
                                    <p:set>
                                      <p:cBhvr>
                                        <p:cTn dur="1" fill="hold">
                                          <p:stCondLst>
                                            <p:cond delay="0"/>
                                          </p:stCondLst>
                                        </p:cTn>
                                        <p:tgtEl>
                                          <p:spTgt spid="931"/>
                                        </p:tgtEl>
                                        <p:attrNameLst>
                                          <p:attrName>style.visibility</p:attrName>
                                        </p:attrNameLst>
                                      </p:cBhvr>
                                      <p:to>
                                        <p:strVal val="visible"/>
                                      </p:to>
                                    </p:set>
                                    <p:animEffect filter="fade" transition="in">
                                      <p:cBhvr>
                                        <p:cTn dur="500"/>
                                        <p:tgtEl>
                                          <p:spTgt spid="931"/>
                                        </p:tgtEl>
                                      </p:cBhvr>
                                    </p:animEffect>
                                  </p:childTnLst>
                                </p:cTn>
                              </p:par>
                              <p:par>
                                <p:cTn fill="hold" nodeType="withEffect" presetClass="entr" presetID="10" presetSubtype="0">
                                  <p:stCondLst>
                                    <p:cond delay="0"/>
                                  </p:stCondLst>
                                  <p:childTnLst>
                                    <p:set>
                                      <p:cBhvr>
                                        <p:cTn dur="1" fill="hold">
                                          <p:stCondLst>
                                            <p:cond delay="0"/>
                                          </p:stCondLst>
                                        </p:cTn>
                                        <p:tgtEl>
                                          <p:spTgt spid="925"/>
                                        </p:tgtEl>
                                        <p:attrNameLst>
                                          <p:attrName>style.visibility</p:attrName>
                                        </p:attrNameLst>
                                      </p:cBhvr>
                                      <p:to>
                                        <p:strVal val="visible"/>
                                      </p:to>
                                    </p:set>
                                    <p:animEffect filter="fade" transition="in">
                                      <p:cBhvr>
                                        <p:cTn dur="500"/>
                                        <p:tgtEl>
                                          <p:spTgt spid="925"/>
                                        </p:tgtEl>
                                      </p:cBhvr>
                                    </p:animEffect>
                                  </p:childTnLst>
                                </p:cTn>
                              </p:par>
                              <p:par>
                                <p:cTn fill="hold" nodeType="withEffect" presetClass="entr" presetID="10" presetSubtype="0">
                                  <p:stCondLst>
                                    <p:cond delay="0"/>
                                  </p:stCondLst>
                                  <p:childTnLst>
                                    <p:set>
                                      <p:cBhvr>
                                        <p:cTn dur="1" fill="hold">
                                          <p:stCondLst>
                                            <p:cond delay="0"/>
                                          </p:stCondLst>
                                        </p:cTn>
                                        <p:tgtEl>
                                          <p:spTgt spid="922"/>
                                        </p:tgtEl>
                                        <p:attrNameLst>
                                          <p:attrName>style.visibility</p:attrName>
                                        </p:attrNameLst>
                                      </p:cBhvr>
                                      <p:to>
                                        <p:strVal val="visible"/>
                                      </p:to>
                                    </p:set>
                                    <p:animEffect filter="fade" transition="in">
                                      <p:cBhvr>
                                        <p:cTn dur="500"/>
                                        <p:tgtEl>
                                          <p:spTgt spid="922"/>
                                        </p:tgtEl>
                                      </p:cBhvr>
                                    </p:animEffect>
                                  </p:childTnLst>
                                </p:cTn>
                              </p:par>
                              <p:par>
                                <p:cTn fill="hold" nodeType="with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500"/>
                                        <p:tgtEl>
                                          <p:spTgt spid="926"/>
                                        </p:tgtEl>
                                      </p:cBhvr>
                                    </p:animEffect>
                                  </p:childTnLst>
                                </p:cTn>
                              </p:par>
                              <p:par>
                                <p:cTn fill="hold" nodeType="withEffect" presetClass="entr" presetID="10" presetSubtype="0">
                                  <p:stCondLst>
                                    <p:cond delay="0"/>
                                  </p:stCondLst>
                                  <p:childTnLst>
                                    <p:set>
                                      <p:cBhvr>
                                        <p:cTn dur="1" fill="hold">
                                          <p:stCondLst>
                                            <p:cond delay="0"/>
                                          </p:stCondLst>
                                        </p:cTn>
                                        <p:tgtEl>
                                          <p:spTgt spid="920"/>
                                        </p:tgtEl>
                                        <p:attrNameLst>
                                          <p:attrName>style.visibility</p:attrName>
                                        </p:attrNameLst>
                                      </p:cBhvr>
                                      <p:to>
                                        <p:strVal val="visible"/>
                                      </p:to>
                                    </p:set>
                                    <p:animEffect filter="fade" transition="in">
                                      <p:cBhvr>
                                        <p:cTn dur="500"/>
                                        <p:tgtEl>
                                          <p:spTgt spid="920"/>
                                        </p:tgtEl>
                                      </p:cBhvr>
                                    </p:animEffect>
                                  </p:childTnLst>
                                </p:cTn>
                              </p:par>
                              <p:par>
                                <p:cTn fill="hold" nodeType="with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500"/>
                                        <p:tgtEl>
                                          <p:spTgt spid="927"/>
                                        </p:tgtEl>
                                      </p:cBhvr>
                                    </p:animEffect>
                                  </p:childTnLst>
                                </p:cTn>
                              </p:par>
                              <p:par>
                                <p:cTn fill="hold" nodeType="with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500"/>
                                        <p:tgtEl>
                                          <p:spTgt spid="921"/>
                                        </p:tgtEl>
                                      </p:cBhvr>
                                    </p:animEffect>
                                  </p:childTnLst>
                                </p:cTn>
                              </p:par>
                              <p:par>
                                <p:cTn fill="hold" nodeType="with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500"/>
                                        <p:tgtEl>
                                          <p:spTgt spid="928"/>
                                        </p:tgtEl>
                                      </p:cBhvr>
                                    </p:animEffect>
                                  </p:childTnLst>
                                </p:cTn>
                              </p:par>
                              <p:par>
                                <p:cTn fill="hold" nodeType="withEffect" presetClass="entr" presetID="10" presetSubtype="0">
                                  <p:stCondLst>
                                    <p:cond delay="0"/>
                                  </p:stCondLst>
                                  <p:childTnLst>
                                    <p:set>
                                      <p:cBhvr>
                                        <p:cTn dur="1" fill="hold">
                                          <p:stCondLst>
                                            <p:cond delay="0"/>
                                          </p:stCondLst>
                                        </p:cTn>
                                        <p:tgtEl>
                                          <p:spTgt spid="923"/>
                                        </p:tgtEl>
                                        <p:attrNameLst>
                                          <p:attrName>style.visibility</p:attrName>
                                        </p:attrNameLst>
                                      </p:cBhvr>
                                      <p:to>
                                        <p:strVal val="visible"/>
                                      </p:to>
                                    </p:set>
                                    <p:animEffect filter="fade" transition="in">
                                      <p:cBhvr>
                                        <p:cTn dur="500"/>
                                        <p:tgtEl>
                                          <p:spTgt spid="923"/>
                                        </p:tgtEl>
                                      </p:cBhvr>
                                    </p:animEffect>
                                  </p:childTnLst>
                                </p:cTn>
                              </p:par>
                              <p:par>
                                <p:cTn fill="hold" nodeType="with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500"/>
                                        <p:tgtEl>
                                          <p:spTgt spid="929"/>
                                        </p:tgtEl>
                                      </p:cBhvr>
                                    </p:animEffect>
                                  </p:childTnLst>
                                </p:cTn>
                              </p:par>
                              <p:par>
                                <p:cTn fill="hold" nodeType="with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500"/>
                                        <p:tgtEl>
                                          <p:spTgt spid="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500"/>
                                        <p:tgtEl>
                                          <p:spTgt spid="9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26"/>
                                        </p:tgtEl>
                                      </p:cBhvr>
                                    </p:animEffect>
                                    <p:set>
                                      <p:cBhvr>
                                        <p:cTn dur="1" fill="hold">
                                          <p:stCondLst>
                                            <p:cond delay="500"/>
                                          </p:stCondLst>
                                        </p:cTn>
                                        <p:tgtEl>
                                          <p:spTgt spid="92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0"/>
                                        </p:tgtEl>
                                      </p:cBhvr>
                                    </p:animEffect>
                                    <p:set>
                                      <p:cBhvr>
                                        <p:cTn dur="1" fill="hold">
                                          <p:stCondLst>
                                            <p:cond delay="500"/>
                                          </p:stCondLst>
                                        </p:cTn>
                                        <p:tgtEl>
                                          <p:spTgt spid="92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7"/>
                                        </p:tgtEl>
                                      </p:cBhvr>
                                    </p:animEffect>
                                    <p:set>
                                      <p:cBhvr>
                                        <p:cTn dur="1" fill="hold">
                                          <p:stCondLst>
                                            <p:cond delay="500"/>
                                          </p:stCondLst>
                                        </p:cTn>
                                        <p:tgtEl>
                                          <p:spTgt spid="92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1"/>
                                        </p:tgtEl>
                                      </p:cBhvr>
                                    </p:animEffect>
                                    <p:set>
                                      <p:cBhvr>
                                        <p:cTn dur="1" fill="hold">
                                          <p:stCondLst>
                                            <p:cond delay="500"/>
                                          </p:stCondLst>
                                        </p:cTn>
                                        <p:tgtEl>
                                          <p:spTgt spid="9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8"/>
                                        </p:tgtEl>
                                      </p:cBhvr>
                                    </p:animEffect>
                                    <p:set>
                                      <p:cBhvr>
                                        <p:cTn dur="1" fill="hold">
                                          <p:stCondLst>
                                            <p:cond delay="500"/>
                                          </p:stCondLst>
                                        </p:cTn>
                                        <p:tgtEl>
                                          <p:spTgt spid="92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3"/>
                                        </p:tgtEl>
                                      </p:cBhvr>
                                    </p:animEffect>
                                    <p:set>
                                      <p:cBhvr>
                                        <p:cTn dur="1" fill="hold">
                                          <p:stCondLst>
                                            <p:cond delay="500"/>
                                          </p:stCondLst>
                                        </p:cTn>
                                        <p:tgtEl>
                                          <p:spTgt spid="92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9"/>
                                        </p:tgtEl>
                                      </p:cBhvr>
                                    </p:animEffect>
                                    <p:set>
                                      <p:cBhvr>
                                        <p:cTn dur="1" fill="hold">
                                          <p:stCondLst>
                                            <p:cond delay="500"/>
                                          </p:stCondLst>
                                        </p:cTn>
                                        <p:tgtEl>
                                          <p:spTgt spid="92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24"/>
                                        </p:tgtEl>
                                      </p:cBhvr>
                                    </p:animEffect>
                                    <p:set>
                                      <p:cBhvr>
                                        <p:cTn dur="1" fill="hold">
                                          <p:stCondLst>
                                            <p:cond delay="500"/>
                                          </p:stCondLst>
                                        </p:cTn>
                                        <p:tgtEl>
                                          <p:spTgt spid="9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500"/>
                                        <p:tgtEl>
                                          <p:spTgt spid="937"/>
                                        </p:tgtEl>
                                      </p:cBhvr>
                                    </p:animEffect>
                                  </p:childTnLst>
                                </p:cTn>
                              </p:par>
                              <p:par>
                                <p:cTn fill="hold" nodeType="withEffect" presetClass="entr" presetID="10" presetSubtype="0">
                                  <p:stCondLst>
                                    <p:cond delay="0"/>
                                  </p:stCondLst>
                                  <p:childTnLst>
                                    <p:set>
                                      <p:cBhvr>
                                        <p:cTn dur="1" fill="hold">
                                          <p:stCondLst>
                                            <p:cond delay="0"/>
                                          </p:stCondLst>
                                        </p:cTn>
                                        <p:tgtEl>
                                          <p:spTgt spid="933"/>
                                        </p:tgtEl>
                                        <p:attrNameLst>
                                          <p:attrName>style.visibility</p:attrName>
                                        </p:attrNameLst>
                                      </p:cBhvr>
                                      <p:to>
                                        <p:strVal val="visible"/>
                                      </p:to>
                                    </p:set>
                                    <p:animEffect filter="fade" transition="in">
                                      <p:cBhvr>
                                        <p:cTn dur="500"/>
                                        <p:tgtEl>
                                          <p:spTgt spid="933"/>
                                        </p:tgtEl>
                                      </p:cBhvr>
                                    </p:animEffect>
                                  </p:childTnLst>
                                </p:cTn>
                              </p:par>
                              <p:par>
                                <p:cTn fill="hold" nodeType="withEffect" presetClass="entr" presetID="10" presetSubtype="0">
                                  <p:stCondLst>
                                    <p:cond delay="0"/>
                                  </p:stCondLst>
                                  <p:childTnLst>
                                    <p:set>
                                      <p:cBhvr>
                                        <p:cTn dur="1" fill="hold">
                                          <p:stCondLst>
                                            <p:cond delay="0"/>
                                          </p:stCondLst>
                                        </p:cTn>
                                        <p:tgtEl>
                                          <p:spTgt spid="934"/>
                                        </p:tgtEl>
                                        <p:attrNameLst>
                                          <p:attrName>style.visibility</p:attrName>
                                        </p:attrNameLst>
                                      </p:cBhvr>
                                      <p:to>
                                        <p:strVal val="visible"/>
                                      </p:to>
                                    </p:set>
                                    <p:animEffect filter="fade" transition="in">
                                      <p:cBhvr>
                                        <p:cTn dur="500"/>
                                        <p:tgtEl>
                                          <p:spTgt spid="934"/>
                                        </p:tgtEl>
                                      </p:cBhvr>
                                    </p:animEffect>
                                  </p:childTnLst>
                                </p:cTn>
                              </p:par>
                              <p:par>
                                <p:cTn fill="hold" nodeType="withEffect" presetClass="entr" presetID="10" presetSubtype="0">
                                  <p:stCondLst>
                                    <p:cond delay="0"/>
                                  </p:stCondLst>
                                  <p:childTnLst>
                                    <p:set>
                                      <p:cBhvr>
                                        <p:cTn dur="1" fill="hold">
                                          <p:stCondLst>
                                            <p:cond delay="0"/>
                                          </p:stCondLst>
                                        </p:cTn>
                                        <p:tgtEl>
                                          <p:spTgt spid="938"/>
                                        </p:tgtEl>
                                        <p:attrNameLst>
                                          <p:attrName>style.visibility</p:attrName>
                                        </p:attrNameLst>
                                      </p:cBhvr>
                                      <p:to>
                                        <p:strVal val="visible"/>
                                      </p:to>
                                    </p:set>
                                    <p:animEffect filter="fade" transition="in">
                                      <p:cBhvr>
                                        <p:cTn dur="500"/>
                                        <p:tgtEl>
                                          <p:spTgt spid="9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500"/>
                                        <p:tgtEl>
                                          <p:spTgt spid="936"/>
                                        </p:tgtEl>
                                      </p:cBhvr>
                                    </p:animEffect>
                                  </p:childTnLst>
                                </p:cTn>
                              </p:par>
                              <p:par>
                                <p:cTn fill="hold" nodeType="with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500"/>
                                        <p:tgtEl>
                                          <p:spTgt spid="9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36"/>
                                        </p:tgtEl>
                                      </p:cBhvr>
                                    </p:animEffect>
                                    <p:set>
                                      <p:cBhvr>
                                        <p:cTn dur="1" fill="hold">
                                          <p:stCondLst>
                                            <p:cond delay="500"/>
                                          </p:stCondLst>
                                        </p:cTn>
                                        <p:tgtEl>
                                          <p:spTgt spid="9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35"/>
                                        </p:tgtEl>
                                      </p:cBhvr>
                                    </p:animEffect>
                                    <p:set>
                                      <p:cBhvr>
                                        <p:cTn dur="1" fill="hold">
                                          <p:stCondLst>
                                            <p:cond delay="500"/>
                                          </p:stCondLst>
                                        </p:cTn>
                                        <p:tgtEl>
                                          <p:spTgt spid="93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500"/>
                                        <p:tgtEl>
                                          <p:spTgt spid="940"/>
                                        </p:tgtEl>
                                      </p:cBhvr>
                                    </p:animEffect>
                                  </p:childTnLst>
                                </p:cTn>
                              </p:par>
                              <p:par>
                                <p:cTn fill="hold" nodeType="with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500"/>
                                        <p:tgtEl>
                                          <p:spTgt spid="939"/>
                                        </p:tgtEl>
                                      </p:cBhvr>
                                    </p:animEffect>
                                  </p:childTnLst>
                                </p:cTn>
                              </p:par>
                              <p:par>
                                <p:cTn fill="hold" nodeType="with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500"/>
                                        <p:tgtEl>
                                          <p:spTgt spid="941"/>
                                        </p:tgtEl>
                                      </p:cBhvr>
                                    </p:animEffect>
                                  </p:childTnLst>
                                </p:cTn>
                              </p:par>
                              <p:par>
                                <p:cTn fill="hold" nodeType="with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500"/>
                                        <p:tgtEl>
                                          <p:spTgt spid="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gtEl>
                                        <p:attrNameLst>
                                          <p:attrName>style.visibility</p:attrName>
                                        </p:attrNameLst>
                                      </p:cBhvr>
                                      <p:to>
                                        <p:strVal val="visible"/>
                                      </p:to>
                                    </p:set>
                                    <p:animEffect filter="fade" transition="in">
                                      <p:cBhvr>
                                        <p:cTn dur="500"/>
                                        <p:tgtEl>
                                          <p:spTgt spid="9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7"/>
                                        </p:tgtEl>
                                        <p:attrNameLst>
                                          <p:attrName>style.visibility</p:attrName>
                                        </p:attrNameLst>
                                      </p:cBhvr>
                                      <p:to>
                                        <p:strVal val="visible"/>
                                      </p:to>
                                    </p:set>
                                    <p:animEffect filter="fade" transition="in">
                                      <p:cBhvr>
                                        <p:cTn dur="500"/>
                                        <p:tgtEl>
                                          <p:spTgt spid="9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0"/>
                                        </p:tgtEl>
                                        <p:attrNameLst>
                                          <p:attrName>style.visibility</p:attrName>
                                        </p:attrNameLst>
                                      </p:cBhvr>
                                      <p:to>
                                        <p:strVal val="visible"/>
                                      </p:to>
                                    </p:set>
                                    <p:animEffect filter="fade" transition="in">
                                      <p:cBhvr>
                                        <p:cTn dur="500"/>
                                        <p:tgtEl>
                                          <p:spTgt spid="950"/>
                                        </p:tgtEl>
                                      </p:cBhvr>
                                    </p:animEffect>
                                  </p:childTnLst>
                                </p:cTn>
                              </p:par>
                              <p:par>
                                <p:cTn fill="hold" nodeType="withEffect" presetClass="entr" presetID="10" presetSubtype="0">
                                  <p:stCondLst>
                                    <p:cond delay="0"/>
                                  </p:stCondLst>
                                  <p:childTnLst>
                                    <p:set>
                                      <p:cBhvr>
                                        <p:cTn dur="1" fill="hold">
                                          <p:stCondLst>
                                            <p:cond delay="0"/>
                                          </p:stCondLst>
                                        </p:cTn>
                                        <p:tgtEl>
                                          <p:spTgt spid="948"/>
                                        </p:tgtEl>
                                        <p:attrNameLst>
                                          <p:attrName>style.visibility</p:attrName>
                                        </p:attrNameLst>
                                      </p:cBhvr>
                                      <p:to>
                                        <p:strVal val="visible"/>
                                      </p:to>
                                    </p:set>
                                    <p:animEffect filter="fade" transition="in">
                                      <p:cBhvr>
                                        <p:cTn dur="500"/>
                                        <p:tgtEl>
                                          <p:spTgt spid="948"/>
                                        </p:tgtEl>
                                      </p:cBhvr>
                                    </p:animEffect>
                                  </p:childTnLst>
                                </p:cTn>
                              </p:par>
                              <p:par>
                                <p:cTn fill="hold" nodeType="withEffect" presetClass="entr" presetID="10" presetSubtype="0">
                                  <p:stCondLst>
                                    <p:cond delay="0"/>
                                  </p:stCondLst>
                                  <p:childTnLst>
                                    <p:set>
                                      <p:cBhvr>
                                        <p:cTn dur="1" fill="hold">
                                          <p:stCondLst>
                                            <p:cond delay="0"/>
                                          </p:stCondLst>
                                        </p:cTn>
                                        <p:tgtEl>
                                          <p:spTgt spid="949"/>
                                        </p:tgtEl>
                                        <p:attrNameLst>
                                          <p:attrName>style.visibility</p:attrName>
                                        </p:attrNameLst>
                                      </p:cBhvr>
                                      <p:to>
                                        <p:strVal val="visible"/>
                                      </p:to>
                                    </p:set>
                                    <p:animEffect filter="fade" transition="in">
                                      <p:cBhvr>
                                        <p:cTn dur="500"/>
                                        <p:tgtEl>
                                          <p:spTgt spid="949"/>
                                        </p:tgtEl>
                                      </p:cBhvr>
                                    </p:animEffect>
                                  </p:childTnLst>
                                </p:cTn>
                              </p:par>
                              <p:par>
                                <p:cTn fill="hold" nodeType="with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500"/>
                                        <p:tgtEl>
                                          <p:spTgt spid="951"/>
                                        </p:tgtEl>
                                      </p:cBhvr>
                                    </p:animEffect>
                                  </p:childTnLst>
                                </p:cTn>
                              </p:par>
                              <p:par>
                                <p:cTn fill="hold" nodeType="with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500"/>
                                        <p:tgtEl>
                                          <p:spTgt spid="953"/>
                                        </p:tgtEl>
                                      </p:cBhvr>
                                    </p:animEffect>
                                  </p:childTnLst>
                                </p:cTn>
                              </p:par>
                              <p:par>
                                <p:cTn fill="hold" nodeType="withEffect" presetClass="entr" presetID="10" presetSubtype="0">
                                  <p:stCondLst>
                                    <p:cond delay="0"/>
                                  </p:stCondLst>
                                  <p:childTnLst>
                                    <p:set>
                                      <p:cBhvr>
                                        <p:cTn dur="1" fill="hold">
                                          <p:stCondLst>
                                            <p:cond delay="0"/>
                                          </p:stCondLst>
                                        </p:cTn>
                                        <p:tgtEl>
                                          <p:spTgt spid="952"/>
                                        </p:tgtEl>
                                        <p:attrNameLst>
                                          <p:attrName>style.visibility</p:attrName>
                                        </p:attrNameLst>
                                      </p:cBhvr>
                                      <p:to>
                                        <p:strVal val="visible"/>
                                      </p:to>
                                    </p:set>
                                    <p:animEffect filter="fade" transition="in">
                                      <p:cBhvr>
                                        <p:cTn dur="500"/>
                                        <p:tgtEl>
                                          <p:spTgt spid="952"/>
                                        </p:tgtEl>
                                      </p:cBhvr>
                                    </p:animEffect>
                                  </p:childTnLst>
                                </p:cTn>
                              </p:par>
                              <p:par>
                                <p:cTn fill="hold" nodeType="with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500"/>
                                        <p:tgtEl>
                                          <p:spTgt spid="954"/>
                                        </p:tgtEl>
                                      </p:cBhvr>
                                    </p:animEffect>
                                  </p:childTnLst>
                                </p:cTn>
                              </p:par>
                              <p:par>
                                <p:cTn fill="hold" nodeType="with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500"/>
                                        <p:tgtEl>
                                          <p:spTgt spid="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500"/>
                                        <p:tgtEl>
                                          <p:spTgt spid="945"/>
                                        </p:tgtEl>
                                      </p:cBhvr>
                                    </p:animEffect>
                                  </p:childTnLst>
                                </p:cTn>
                              </p:par>
                              <p:par>
                                <p:cTn fill="hold" nodeType="withEffect" presetClass="entr" presetID="10" presetSubtype="0">
                                  <p:stCondLst>
                                    <p:cond delay="0"/>
                                  </p:stCondLst>
                                  <p:childTnLst>
                                    <p:set>
                                      <p:cBhvr>
                                        <p:cTn dur="1" fill="hold">
                                          <p:stCondLst>
                                            <p:cond delay="0"/>
                                          </p:stCondLst>
                                        </p:cTn>
                                        <p:tgtEl>
                                          <p:spTgt spid="946"/>
                                        </p:tgtEl>
                                        <p:attrNameLst>
                                          <p:attrName>style.visibility</p:attrName>
                                        </p:attrNameLst>
                                      </p:cBhvr>
                                      <p:to>
                                        <p:strVal val="visible"/>
                                      </p:to>
                                    </p:set>
                                    <p:animEffect filter="fade" transition="in">
                                      <p:cBhvr>
                                        <p:cTn dur="500"/>
                                        <p:tgtEl>
                                          <p:spTgt spid="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53"/>
                                        </p:tgtEl>
                                      </p:cBhvr>
                                    </p:animEffect>
                                    <p:set>
                                      <p:cBhvr>
                                        <p:cTn dur="1" fill="hold">
                                          <p:stCondLst>
                                            <p:cond delay="500"/>
                                          </p:stCondLst>
                                        </p:cTn>
                                        <p:tgtEl>
                                          <p:spTgt spid="9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52"/>
                                        </p:tgtEl>
                                      </p:cBhvr>
                                    </p:animEffect>
                                    <p:set>
                                      <p:cBhvr>
                                        <p:cTn dur="1" fill="hold">
                                          <p:stCondLst>
                                            <p:cond delay="500"/>
                                          </p:stCondLst>
                                        </p:cTn>
                                        <p:tgtEl>
                                          <p:spTgt spid="95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54"/>
                                        </p:tgtEl>
                                      </p:cBhvr>
                                    </p:animEffect>
                                    <p:set>
                                      <p:cBhvr>
                                        <p:cTn dur="1" fill="hold">
                                          <p:stCondLst>
                                            <p:cond delay="500"/>
                                          </p:stCondLst>
                                        </p:cTn>
                                        <p:tgtEl>
                                          <p:spTgt spid="9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55"/>
                                        </p:tgtEl>
                                      </p:cBhvr>
                                    </p:animEffect>
                                    <p:set>
                                      <p:cBhvr>
                                        <p:cTn dur="1" fill="hold">
                                          <p:stCondLst>
                                            <p:cond delay="500"/>
                                          </p:stCondLst>
                                        </p:cTn>
                                        <p:tgtEl>
                                          <p:spTgt spid="9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500"/>
                                        <p:tgtEl>
                                          <p:spTgt spid="958"/>
                                        </p:tgtEl>
                                      </p:cBhvr>
                                    </p:animEffect>
                                  </p:childTnLst>
                                </p:cTn>
                              </p:par>
                              <p:par>
                                <p:cTn fill="hold" nodeType="with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500"/>
                                        <p:tgtEl>
                                          <p:spTgt spid="959"/>
                                        </p:tgtEl>
                                      </p:cBhvr>
                                    </p:animEffect>
                                  </p:childTnLst>
                                </p:cTn>
                              </p:par>
                              <p:par>
                                <p:cTn fill="hold" nodeType="with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500"/>
                                        <p:tgtEl>
                                          <p:spTgt spid="957"/>
                                        </p:tgtEl>
                                      </p:cBhvr>
                                    </p:animEffect>
                                  </p:childTnLst>
                                </p:cTn>
                              </p:par>
                              <p:par>
                                <p:cTn fill="hold" nodeType="with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500"/>
                                        <p:tgtEl>
                                          <p:spTgt spid="9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500"/>
                                        <p:tgtEl>
                                          <p:spTgt spid="961"/>
                                        </p:tgtEl>
                                      </p:cBhvr>
                                    </p:animEffect>
                                  </p:childTnLst>
                                </p:cTn>
                              </p:par>
                              <p:par>
                                <p:cTn fill="hold" nodeType="with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500"/>
                                        <p:tgtEl>
                                          <p:spTgt spid="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61"/>
                                        </p:tgtEl>
                                      </p:cBhvr>
                                    </p:animEffect>
                                    <p:set>
                                      <p:cBhvr>
                                        <p:cTn dur="1" fill="hold">
                                          <p:stCondLst>
                                            <p:cond delay="500"/>
                                          </p:stCondLst>
                                        </p:cTn>
                                        <p:tgtEl>
                                          <p:spTgt spid="9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960"/>
                                        </p:tgtEl>
                                      </p:cBhvr>
                                    </p:animEffect>
                                    <p:set>
                                      <p:cBhvr>
                                        <p:cTn dur="1" fill="hold">
                                          <p:stCondLst>
                                            <p:cond delay="500"/>
                                          </p:stCondLst>
                                        </p:cTn>
                                        <p:tgtEl>
                                          <p:spTgt spid="9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500"/>
                                        <p:tgtEl>
                                          <p:spTgt spid="963"/>
                                        </p:tgtEl>
                                      </p:cBhvr>
                                    </p:animEffect>
                                  </p:childTnLst>
                                </p:cTn>
                              </p:par>
                              <p:par>
                                <p:cTn fill="hold" nodeType="withEffect" presetClass="entr" presetID="10" presetSubtype="0">
                                  <p:stCondLst>
                                    <p:cond delay="0"/>
                                  </p:stCondLst>
                                  <p:childTnLst>
                                    <p:set>
                                      <p:cBhvr>
                                        <p:cTn dur="1" fill="hold">
                                          <p:stCondLst>
                                            <p:cond delay="0"/>
                                          </p:stCondLst>
                                        </p:cTn>
                                        <p:tgtEl>
                                          <p:spTgt spid="962"/>
                                        </p:tgtEl>
                                        <p:attrNameLst>
                                          <p:attrName>style.visibility</p:attrName>
                                        </p:attrNameLst>
                                      </p:cBhvr>
                                      <p:to>
                                        <p:strVal val="visible"/>
                                      </p:to>
                                    </p:set>
                                    <p:animEffect filter="fade" transition="in">
                                      <p:cBhvr>
                                        <p:cTn dur="500"/>
                                        <p:tgtEl>
                                          <p:spTgt spid="962"/>
                                        </p:tgtEl>
                                      </p:cBhvr>
                                    </p:animEffect>
                                  </p:childTnLst>
                                </p:cTn>
                              </p:par>
                              <p:par>
                                <p:cTn fill="hold" nodeType="with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500"/>
                                        <p:tgtEl>
                                          <p:spTgt spid="964"/>
                                        </p:tgtEl>
                                      </p:cBhvr>
                                    </p:animEffect>
                                  </p:childTnLst>
                                </p:cTn>
                              </p:par>
                              <p:par>
                                <p:cTn fill="hold" nodeType="withEffect" presetClass="entr" presetID="10" presetSubtype="0">
                                  <p:stCondLst>
                                    <p:cond delay="0"/>
                                  </p:stCondLst>
                                  <p:childTnLst>
                                    <p:set>
                                      <p:cBhvr>
                                        <p:cTn dur="1" fill="hold">
                                          <p:stCondLst>
                                            <p:cond delay="0"/>
                                          </p:stCondLst>
                                        </p:cTn>
                                        <p:tgtEl>
                                          <p:spTgt spid="965"/>
                                        </p:tgtEl>
                                        <p:attrNameLst>
                                          <p:attrName>style.visibility</p:attrName>
                                        </p:attrNameLst>
                                      </p:cBhvr>
                                      <p:to>
                                        <p:strVal val="visible"/>
                                      </p:to>
                                    </p:set>
                                    <p:animEffect filter="fade" transition="in">
                                      <p:cBhvr>
                                        <p:cTn dur="500"/>
                                        <p:tgtEl>
                                          <p:spTgt spid="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500"/>
                                        <p:tgtEl>
                                          <p:spTgt spid="9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37"/>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Generalization v/s Specialization</a:t>
            </a:r>
            <a:endParaRPr/>
          </a:p>
        </p:txBody>
      </p:sp>
      <p:sp>
        <p:nvSpPr>
          <p:cNvPr id="973" name="Google Shape;973;p37"/>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graphicFrame>
        <p:nvGraphicFramePr>
          <p:cNvPr id="974" name="Google Shape;974;p37"/>
          <p:cNvGraphicFramePr/>
          <p:nvPr/>
        </p:nvGraphicFramePr>
        <p:xfrm>
          <a:off x="131178" y="859690"/>
          <a:ext cx="3000000" cy="3000000"/>
        </p:xfrm>
        <a:graphic>
          <a:graphicData uri="http://schemas.openxmlformats.org/drawingml/2006/table">
            <a:tbl>
              <a:tblPr bandRow="1" firstRow="1">
                <a:noFill/>
                <a:tableStyleId>{2FE9E659-6503-4E8C-9AC6-ED4A2EF7120C}</a:tableStyleId>
              </a:tblPr>
              <a:tblGrid>
                <a:gridCol w="5964825"/>
                <a:gridCol w="5964825"/>
              </a:tblGrid>
              <a:tr h="630000">
                <a:tc>
                  <a:txBody>
                    <a:bodyPr/>
                    <a:lstStyle/>
                    <a:p>
                      <a:pPr indent="0" lvl="0" marL="0" marR="0" rtl="0" algn="l">
                        <a:spcBef>
                          <a:spcPts val="0"/>
                        </a:spcBef>
                        <a:spcAft>
                          <a:spcPts val="0"/>
                        </a:spcAft>
                        <a:buNone/>
                      </a:pPr>
                      <a:r>
                        <a:rPr b="1" lang="en-US" sz="2400">
                          <a:solidFill>
                            <a:schemeClr val="dk1"/>
                          </a:solidFill>
                        </a:rPr>
                        <a:t>Generalization</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2400">
                          <a:solidFill>
                            <a:schemeClr val="dk1"/>
                          </a:solidFill>
                        </a:rPr>
                        <a:t>Specialization</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bl>
          </a:graphicData>
        </a:graphic>
      </p:graphicFrame>
      <p:graphicFrame>
        <p:nvGraphicFramePr>
          <p:cNvPr id="975" name="Google Shape;975;p37"/>
          <p:cNvGraphicFramePr/>
          <p:nvPr/>
        </p:nvGraphicFramePr>
        <p:xfrm>
          <a:off x="131179" y="1493668"/>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The process of </a:t>
                      </a:r>
                      <a:r>
                        <a:rPr b="1" lang="en-US" sz="2400">
                          <a:solidFill>
                            <a:schemeClr val="accent6"/>
                          </a:solidFill>
                          <a:latin typeface="Roboto Condensed"/>
                          <a:ea typeface="Roboto Condensed"/>
                          <a:cs typeface="Roboto Condensed"/>
                          <a:sym typeface="Roboto Condensed"/>
                        </a:rPr>
                        <a:t>creation of group from various entities</a:t>
                      </a:r>
                      <a:r>
                        <a:rPr b="0" lang="en-US" sz="2400">
                          <a:solidFill>
                            <a:schemeClr val="dk1"/>
                          </a:solidFill>
                          <a:latin typeface="Roboto Condensed"/>
                          <a:ea typeface="Roboto Condensed"/>
                          <a:cs typeface="Roboto Condensed"/>
                          <a:sym typeface="Roboto Condensed"/>
                        </a:rPr>
                        <a:t> is called generalization.</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The process of </a:t>
                      </a:r>
                      <a:r>
                        <a:rPr b="1" lang="en-US" sz="2400">
                          <a:solidFill>
                            <a:schemeClr val="accent6"/>
                          </a:solidFill>
                          <a:latin typeface="Roboto Condensed"/>
                          <a:ea typeface="Roboto Condensed"/>
                          <a:cs typeface="Roboto Condensed"/>
                          <a:sym typeface="Roboto Condensed"/>
                        </a:rPr>
                        <a:t>creation of sub-groups within an entity</a:t>
                      </a:r>
                      <a:r>
                        <a:rPr b="0" lang="en-US" sz="2400">
                          <a:solidFill>
                            <a:schemeClr val="dk1"/>
                          </a:solidFill>
                          <a:latin typeface="Roboto Condensed"/>
                          <a:ea typeface="Roboto Condensed"/>
                          <a:cs typeface="Roboto Condensed"/>
                          <a:sym typeface="Roboto Condensed"/>
                        </a:rPr>
                        <a:t> is called specialization.</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976" name="Google Shape;976;p37"/>
          <p:cNvGraphicFramePr/>
          <p:nvPr/>
        </p:nvGraphicFramePr>
        <p:xfrm>
          <a:off x="131179" y="2319178"/>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 is </a:t>
                      </a:r>
                      <a:r>
                        <a:rPr b="1" lang="en-US" sz="2400">
                          <a:solidFill>
                            <a:schemeClr val="accent6"/>
                          </a:solidFill>
                          <a:latin typeface="Roboto Condensed"/>
                          <a:ea typeface="Roboto Condensed"/>
                          <a:cs typeface="Roboto Condensed"/>
                          <a:sym typeface="Roboto Condensed"/>
                        </a:rPr>
                        <a:t>Bottom-up</a:t>
                      </a:r>
                      <a:r>
                        <a:rPr b="0" lang="en-US" sz="2400">
                          <a:solidFill>
                            <a:schemeClr val="dk1"/>
                          </a:solidFill>
                          <a:latin typeface="Roboto Condensed"/>
                          <a:ea typeface="Roboto Condensed"/>
                          <a:cs typeface="Roboto Condensed"/>
                          <a:sym typeface="Roboto Condensed"/>
                        </a:rPr>
                        <a:t> approach.</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 is </a:t>
                      </a:r>
                      <a:r>
                        <a:rPr b="1" lang="en-US" sz="2400">
                          <a:solidFill>
                            <a:schemeClr val="accent6"/>
                          </a:solidFill>
                          <a:latin typeface="Roboto Condensed"/>
                          <a:ea typeface="Roboto Condensed"/>
                          <a:cs typeface="Roboto Condensed"/>
                          <a:sym typeface="Roboto Condensed"/>
                        </a:rPr>
                        <a:t>Top-down</a:t>
                      </a:r>
                      <a:r>
                        <a:rPr b="0" lang="en-US" sz="2400">
                          <a:solidFill>
                            <a:schemeClr val="dk1"/>
                          </a:solidFill>
                          <a:latin typeface="Roboto Condensed"/>
                          <a:ea typeface="Roboto Condensed"/>
                          <a:cs typeface="Roboto Condensed"/>
                          <a:sym typeface="Roboto Condensed"/>
                        </a:rPr>
                        <a:t> approach.</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977" name="Google Shape;977;p37"/>
          <p:cNvGraphicFramePr/>
          <p:nvPr/>
        </p:nvGraphicFramePr>
        <p:xfrm>
          <a:off x="131180" y="2861744"/>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The process of taking the </a:t>
                      </a:r>
                      <a:r>
                        <a:rPr b="1" lang="en-US" sz="2400">
                          <a:solidFill>
                            <a:schemeClr val="accent6"/>
                          </a:solidFill>
                          <a:latin typeface="Roboto Condensed"/>
                          <a:ea typeface="Roboto Condensed"/>
                          <a:cs typeface="Roboto Condensed"/>
                          <a:sym typeface="Roboto Condensed"/>
                        </a:rPr>
                        <a:t>union of two or more lower level entity </a:t>
                      </a:r>
                      <a:r>
                        <a:rPr b="0" lang="en-US" sz="2400">
                          <a:solidFill>
                            <a:schemeClr val="dk1"/>
                          </a:solidFill>
                          <a:latin typeface="Roboto Condensed"/>
                          <a:ea typeface="Roboto Condensed"/>
                          <a:cs typeface="Roboto Condensed"/>
                          <a:sym typeface="Roboto Condensed"/>
                        </a:rPr>
                        <a:t>sets to produce a higher level entity set.</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The process of taking a </a:t>
                      </a:r>
                      <a:r>
                        <a:rPr b="1" lang="en-US" sz="2400">
                          <a:solidFill>
                            <a:schemeClr val="accent6"/>
                          </a:solidFill>
                          <a:latin typeface="Roboto Condensed"/>
                          <a:ea typeface="Roboto Condensed"/>
                          <a:cs typeface="Roboto Condensed"/>
                          <a:sym typeface="Roboto Condensed"/>
                        </a:rPr>
                        <a:t>sub set of higher level entity set</a:t>
                      </a:r>
                      <a:r>
                        <a:rPr b="0" lang="en-US" sz="2400">
                          <a:solidFill>
                            <a:schemeClr val="dk1"/>
                          </a:solidFill>
                          <a:latin typeface="Roboto Condensed"/>
                          <a:ea typeface="Roboto Condensed"/>
                          <a:cs typeface="Roboto Condensed"/>
                          <a:sym typeface="Roboto Condensed"/>
                        </a:rPr>
                        <a:t> to form a lower level entity set.</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978" name="Google Shape;978;p37"/>
          <p:cNvGraphicFramePr/>
          <p:nvPr/>
        </p:nvGraphicFramePr>
        <p:xfrm>
          <a:off x="131180" y="4037727"/>
          <a:ext cx="3000000" cy="3000000"/>
        </p:xfrm>
        <a:graphic>
          <a:graphicData uri="http://schemas.openxmlformats.org/drawingml/2006/table">
            <a:tbl>
              <a:tblPr bandRow="1" firstRow="1">
                <a:noFill/>
                <a:tableStyleId>{2FE9E659-6503-4E8C-9AC6-ED4A2EF7120C}</a:tableStyleId>
              </a:tblPr>
              <a:tblGrid>
                <a:gridCol w="5964825"/>
                <a:gridCol w="5964825"/>
              </a:tblGrid>
              <a:tr h="540000">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 starts from the number of entity sets and creates high level entity set using some common features.</a:t>
                      </a:r>
                      <a:endParaRPr b="0" sz="2400">
                        <a:solidFill>
                          <a:schemeClr val="dk1"/>
                        </a:solidFill>
                        <a:latin typeface="Roboto Condensed"/>
                        <a:ea typeface="Roboto Condensed"/>
                        <a:cs typeface="Roboto Condensed"/>
                        <a:sym typeface="Roboto Condensed"/>
                      </a:endParaRPr>
                    </a:p>
                  </a:txBody>
                  <a:tcPr marT="45725" marB="45725" marR="91450" marL="91450">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US" sz="2400">
                          <a:solidFill>
                            <a:schemeClr val="dk1"/>
                          </a:solidFill>
                          <a:latin typeface="Roboto Condensed"/>
                          <a:ea typeface="Roboto Condensed"/>
                          <a:cs typeface="Roboto Condensed"/>
                          <a:sym typeface="Roboto Condensed"/>
                        </a:rPr>
                        <a:t>It starts from a single entity set and creates different low level entity sets using some different features.</a:t>
                      </a:r>
                      <a:endParaRPr b="0" sz="24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500"/>
                                        <p:tgtEl>
                                          <p:spTgt spid="9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500"/>
                                        <p:tgtEl>
                                          <p:spTgt spid="9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500"/>
                                        <p:tgtEl>
                                          <p:spTgt spid="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gtEl>
                                        <p:attrNameLst>
                                          <p:attrName>style.visibility</p:attrName>
                                        </p:attrNameLst>
                                      </p:cBhvr>
                                      <p:to>
                                        <p:strVal val="visible"/>
                                      </p:to>
                                    </p:set>
                                    <p:animEffect filter="fade" transition="in">
                                      <p:cBhvr>
                                        <p:cTn dur="500"/>
                                        <p:tgtEl>
                                          <p:spTgt spid="9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gtEl>
                                        <p:attrNameLst>
                                          <p:attrName>style.visibility</p:attrName>
                                        </p:attrNameLst>
                                      </p:cBhvr>
                                      <p:to>
                                        <p:strVal val="visible"/>
                                      </p:to>
                                    </p:set>
                                    <p:animEffect filter="fade" transition="in">
                                      <p:cBhvr>
                                        <p:cTn dur="500"/>
                                        <p:tgtEl>
                                          <p:spTgt spid="9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38"/>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Generalization &amp; Specialization example</a:t>
            </a:r>
            <a:endParaRPr/>
          </a:p>
        </p:txBody>
      </p:sp>
      <p:sp>
        <p:nvSpPr>
          <p:cNvPr id="984" name="Google Shape;984;p38"/>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t/>
            </a:r>
            <a:endParaRPr/>
          </a:p>
        </p:txBody>
      </p:sp>
      <p:sp>
        <p:nvSpPr>
          <p:cNvPr id="985" name="Google Shape;985;p38"/>
          <p:cNvSpPr/>
          <p:nvPr/>
        </p:nvSpPr>
        <p:spPr>
          <a:xfrm>
            <a:off x="4684601" y="3348792"/>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Employee</a:t>
            </a:r>
            <a:endParaRPr/>
          </a:p>
        </p:txBody>
      </p:sp>
      <p:sp>
        <p:nvSpPr>
          <p:cNvPr id="986" name="Google Shape;986;p38"/>
          <p:cNvSpPr/>
          <p:nvPr/>
        </p:nvSpPr>
        <p:spPr>
          <a:xfrm>
            <a:off x="6970601" y="3348792"/>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a:p>
        </p:txBody>
      </p:sp>
      <p:sp>
        <p:nvSpPr>
          <p:cNvPr id="987" name="Google Shape;987;p38"/>
          <p:cNvSpPr/>
          <p:nvPr/>
        </p:nvSpPr>
        <p:spPr>
          <a:xfrm>
            <a:off x="5870212" y="1828800"/>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a:t>
            </a:r>
            <a:endParaRPr/>
          </a:p>
        </p:txBody>
      </p:sp>
      <p:sp>
        <p:nvSpPr>
          <p:cNvPr id="988" name="Google Shape;988;p38"/>
          <p:cNvSpPr/>
          <p:nvPr/>
        </p:nvSpPr>
        <p:spPr>
          <a:xfrm>
            <a:off x="5551760" y="1102353"/>
            <a:ext cx="107156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sp>
        <p:nvSpPr>
          <p:cNvPr id="989" name="Google Shape;989;p38"/>
          <p:cNvSpPr/>
          <p:nvPr/>
        </p:nvSpPr>
        <p:spPr>
          <a:xfrm>
            <a:off x="6724704" y="1066800"/>
            <a:ext cx="1404937"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Address</a:t>
            </a:r>
            <a:endParaRPr/>
          </a:p>
        </p:txBody>
      </p:sp>
      <p:cxnSp>
        <p:nvCxnSpPr>
          <p:cNvPr id="990" name="Google Shape;990;p38"/>
          <p:cNvCxnSpPr>
            <a:stCxn id="987" idx="0"/>
            <a:endCxn id="988" idx="4"/>
          </p:cNvCxnSpPr>
          <p:nvPr/>
        </p:nvCxnSpPr>
        <p:spPr>
          <a:xfrm rot="10800000">
            <a:off x="6087532" y="1513800"/>
            <a:ext cx="514200" cy="315000"/>
          </a:xfrm>
          <a:prstGeom prst="straightConnector1">
            <a:avLst/>
          </a:prstGeom>
          <a:noFill/>
          <a:ln cap="flat" cmpd="sng" w="28575">
            <a:solidFill>
              <a:schemeClr val="dk2"/>
            </a:solidFill>
            <a:prstDash val="solid"/>
            <a:miter lim="800000"/>
            <a:headEnd len="sm" w="sm" type="none"/>
            <a:tailEnd len="sm" w="sm" type="none"/>
          </a:ln>
        </p:spPr>
      </p:cxnSp>
      <p:cxnSp>
        <p:nvCxnSpPr>
          <p:cNvPr id="991" name="Google Shape;991;p38"/>
          <p:cNvCxnSpPr>
            <a:stCxn id="989" idx="4"/>
            <a:endCxn id="987" idx="0"/>
          </p:cNvCxnSpPr>
          <p:nvPr/>
        </p:nvCxnSpPr>
        <p:spPr>
          <a:xfrm flipH="1">
            <a:off x="6601873" y="1478280"/>
            <a:ext cx="825300" cy="350400"/>
          </a:xfrm>
          <a:prstGeom prst="straightConnector1">
            <a:avLst/>
          </a:prstGeom>
          <a:noFill/>
          <a:ln cap="flat" cmpd="sng" w="28575">
            <a:solidFill>
              <a:schemeClr val="dk2"/>
            </a:solidFill>
            <a:prstDash val="solid"/>
            <a:miter lim="800000"/>
            <a:headEnd len="sm" w="sm" type="none"/>
            <a:tailEnd len="sm" w="sm" type="none"/>
          </a:ln>
        </p:spPr>
      </p:cxnSp>
      <p:sp>
        <p:nvSpPr>
          <p:cNvPr id="992" name="Google Shape;992;p38"/>
          <p:cNvSpPr/>
          <p:nvPr/>
        </p:nvSpPr>
        <p:spPr>
          <a:xfrm>
            <a:off x="4599126" y="1652265"/>
            <a:ext cx="907413"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PID</a:t>
            </a:r>
            <a:endParaRPr/>
          </a:p>
        </p:txBody>
      </p:sp>
      <p:sp>
        <p:nvSpPr>
          <p:cNvPr id="993" name="Google Shape;993;p38"/>
          <p:cNvSpPr/>
          <p:nvPr/>
        </p:nvSpPr>
        <p:spPr>
          <a:xfrm>
            <a:off x="7727791" y="1652265"/>
            <a:ext cx="1064575"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City</a:t>
            </a:r>
            <a:endParaRPr/>
          </a:p>
        </p:txBody>
      </p:sp>
      <p:cxnSp>
        <p:nvCxnSpPr>
          <p:cNvPr id="994" name="Google Shape;994;p38"/>
          <p:cNvCxnSpPr>
            <a:stCxn id="993" idx="3"/>
            <a:endCxn id="987" idx="3"/>
          </p:cNvCxnSpPr>
          <p:nvPr/>
        </p:nvCxnSpPr>
        <p:spPr>
          <a:xfrm flipH="1">
            <a:off x="7333194" y="2003485"/>
            <a:ext cx="550500" cy="54000"/>
          </a:xfrm>
          <a:prstGeom prst="straightConnector1">
            <a:avLst/>
          </a:prstGeom>
          <a:noFill/>
          <a:ln cap="flat" cmpd="sng" w="28575">
            <a:solidFill>
              <a:schemeClr val="dk2"/>
            </a:solidFill>
            <a:prstDash val="solid"/>
            <a:miter lim="800000"/>
            <a:headEnd len="sm" w="sm" type="none"/>
            <a:tailEnd len="sm" w="sm" type="none"/>
          </a:ln>
        </p:spPr>
      </p:cxnSp>
      <p:cxnSp>
        <p:nvCxnSpPr>
          <p:cNvPr id="995" name="Google Shape;995;p38"/>
          <p:cNvCxnSpPr>
            <a:stCxn id="987" idx="1"/>
            <a:endCxn id="992" idx="5"/>
          </p:cNvCxnSpPr>
          <p:nvPr/>
        </p:nvCxnSpPr>
        <p:spPr>
          <a:xfrm rot="10800000">
            <a:off x="5373712" y="2003400"/>
            <a:ext cx="496500" cy="54000"/>
          </a:xfrm>
          <a:prstGeom prst="straightConnector1">
            <a:avLst/>
          </a:prstGeom>
          <a:noFill/>
          <a:ln cap="flat" cmpd="sng" w="28575">
            <a:solidFill>
              <a:schemeClr val="dk2"/>
            </a:solidFill>
            <a:prstDash val="solid"/>
            <a:miter lim="800000"/>
            <a:headEnd len="sm" w="sm" type="none"/>
            <a:tailEnd len="sm" w="sm" type="none"/>
          </a:ln>
        </p:spPr>
      </p:cxnSp>
      <p:sp>
        <p:nvSpPr>
          <p:cNvPr id="996" name="Google Shape;996;p38"/>
          <p:cNvSpPr/>
          <p:nvPr/>
        </p:nvSpPr>
        <p:spPr>
          <a:xfrm>
            <a:off x="3151325" y="3373176"/>
            <a:ext cx="1080000"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Salary</a:t>
            </a:r>
            <a:endParaRPr/>
          </a:p>
        </p:txBody>
      </p:sp>
      <p:sp>
        <p:nvSpPr>
          <p:cNvPr id="997" name="Google Shape;997;p38"/>
          <p:cNvSpPr/>
          <p:nvPr/>
        </p:nvSpPr>
        <p:spPr>
          <a:xfrm>
            <a:off x="9018725" y="3371652"/>
            <a:ext cx="1296000"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Balance</a:t>
            </a:r>
            <a:endParaRPr/>
          </a:p>
        </p:txBody>
      </p:sp>
      <p:cxnSp>
        <p:nvCxnSpPr>
          <p:cNvPr id="998" name="Google Shape;998;p38"/>
          <p:cNvCxnSpPr>
            <a:stCxn id="996" idx="6"/>
            <a:endCxn id="985" idx="1"/>
          </p:cNvCxnSpPr>
          <p:nvPr/>
        </p:nvCxnSpPr>
        <p:spPr>
          <a:xfrm flipH="1" rot="10800000">
            <a:off x="4231325" y="3577416"/>
            <a:ext cx="453300" cy="1500"/>
          </a:xfrm>
          <a:prstGeom prst="straightConnector1">
            <a:avLst/>
          </a:prstGeom>
          <a:noFill/>
          <a:ln cap="flat" cmpd="sng" w="28575">
            <a:solidFill>
              <a:schemeClr val="dk2"/>
            </a:solidFill>
            <a:prstDash val="solid"/>
            <a:miter lim="800000"/>
            <a:headEnd len="sm" w="sm" type="none"/>
            <a:tailEnd len="sm" w="sm" type="none"/>
          </a:ln>
        </p:spPr>
      </p:cxnSp>
      <p:cxnSp>
        <p:nvCxnSpPr>
          <p:cNvPr id="999" name="Google Shape;999;p38"/>
          <p:cNvCxnSpPr>
            <a:endCxn id="997" idx="2"/>
          </p:cNvCxnSpPr>
          <p:nvPr/>
        </p:nvCxnSpPr>
        <p:spPr>
          <a:xfrm flipH="1" rot="10800000">
            <a:off x="8433725" y="3577392"/>
            <a:ext cx="585000" cy="1500"/>
          </a:xfrm>
          <a:prstGeom prst="straightConnector1">
            <a:avLst/>
          </a:prstGeom>
          <a:noFill/>
          <a:ln cap="flat" cmpd="sng" w="28575">
            <a:solidFill>
              <a:schemeClr val="dk2"/>
            </a:solidFill>
            <a:prstDash val="solid"/>
            <a:miter lim="800000"/>
            <a:headEnd len="sm" w="sm" type="none"/>
            <a:tailEnd len="sm" w="sm" type="none"/>
          </a:ln>
        </p:spPr>
      </p:cxnSp>
      <p:sp>
        <p:nvSpPr>
          <p:cNvPr id="1000" name="Google Shape;1000;p38"/>
          <p:cNvSpPr/>
          <p:nvPr/>
        </p:nvSpPr>
        <p:spPr>
          <a:xfrm>
            <a:off x="6197907" y="2593937"/>
            <a:ext cx="812798" cy="544671"/>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Roboto Condensed"/>
                <a:ea typeface="Roboto Condensed"/>
                <a:cs typeface="Roboto Condensed"/>
                <a:sym typeface="Roboto Condensed"/>
              </a:rPr>
              <a:t>ISA</a:t>
            </a:r>
            <a:endParaRPr sz="1200">
              <a:solidFill>
                <a:schemeClr val="dk1"/>
              </a:solidFill>
              <a:latin typeface="Roboto Condensed"/>
              <a:ea typeface="Roboto Condensed"/>
              <a:cs typeface="Roboto Condensed"/>
              <a:sym typeface="Roboto Condensed"/>
            </a:endParaRPr>
          </a:p>
        </p:txBody>
      </p:sp>
      <p:cxnSp>
        <p:nvCxnSpPr>
          <p:cNvPr id="1001" name="Google Shape;1001;p38"/>
          <p:cNvCxnSpPr>
            <a:stCxn id="987" idx="2"/>
            <a:endCxn id="1000" idx="0"/>
          </p:cNvCxnSpPr>
          <p:nvPr/>
        </p:nvCxnSpPr>
        <p:spPr>
          <a:xfrm>
            <a:off x="6601732" y="2286000"/>
            <a:ext cx="2700" cy="307800"/>
          </a:xfrm>
          <a:prstGeom prst="straightConnector1">
            <a:avLst/>
          </a:prstGeom>
          <a:noFill/>
          <a:ln cap="flat" cmpd="sng" w="28575">
            <a:solidFill>
              <a:schemeClr val="accent4"/>
            </a:solidFill>
            <a:prstDash val="solid"/>
            <a:miter lim="800000"/>
            <a:headEnd len="sm" w="sm" type="none"/>
            <a:tailEnd len="sm" w="sm" type="none"/>
          </a:ln>
        </p:spPr>
      </p:cxnSp>
      <p:cxnSp>
        <p:nvCxnSpPr>
          <p:cNvPr id="1002" name="Google Shape;1002;p38"/>
          <p:cNvCxnSpPr>
            <a:stCxn id="985" idx="0"/>
            <a:endCxn id="1000" idx="1"/>
          </p:cNvCxnSpPr>
          <p:nvPr/>
        </p:nvCxnSpPr>
        <p:spPr>
          <a:xfrm flipH="1" rot="10800000">
            <a:off x="5416121" y="2866392"/>
            <a:ext cx="984900" cy="482400"/>
          </a:xfrm>
          <a:prstGeom prst="straightConnector1">
            <a:avLst/>
          </a:prstGeom>
          <a:noFill/>
          <a:ln cap="flat" cmpd="sng" w="28575">
            <a:solidFill>
              <a:schemeClr val="accent4"/>
            </a:solidFill>
            <a:prstDash val="solid"/>
            <a:miter lim="800000"/>
            <a:headEnd len="sm" w="sm" type="none"/>
            <a:tailEnd len="sm" w="sm" type="none"/>
          </a:ln>
        </p:spPr>
      </p:cxnSp>
      <p:cxnSp>
        <p:nvCxnSpPr>
          <p:cNvPr id="1003" name="Google Shape;1003;p38"/>
          <p:cNvCxnSpPr>
            <a:stCxn id="986" idx="0"/>
            <a:endCxn id="1000" idx="3"/>
          </p:cNvCxnSpPr>
          <p:nvPr/>
        </p:nvCxnSpPr>
        <p:spPr>
          <a:xfrm rot="10800000">
            <a:off x="6807521" y="2866392"/>
            <a:ext cx="894600" cy="482400"/>
          </a:xfrm>
          <a:prstGeom prst="straightConnector1">
            <a:avLst/>
          </a:prstGeom>
          <a:noFill/>
          <a:ln cap="flat" cmpd="sng" w="28575">
            <a:solidFill>
              <a:schemeClr val="accent4"/>
            </a:solidFill>
            <a:prstDash val="solid"/>
            <a:miter lim="800000"/>
            <a:headEnd len="sm" w="sm" type="none"/>
            <a:tailEnd len="sm" w="sm" type="none"/>
          </a:ln>
        </p:spPr>
      </p:cxnSp>
      <p:sp>
        <p:nvSpPr>
          <p:cNvPr id="1004" name="Google Shape;1004;p38"/>
          <p:cNvSpPr/>
          <p:nvPr/>
        </p:nvSpPr>
        <p:spPr>
          <a:xfrm>
            <a:off x="3493709" y="4868990"/>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Full Time</a:t>
            </a:r>
            <a:endParaRPr/>
          </a:p>
        </p:txBody>
      </p:sp>
      <p:sp>
        <p:nvSpPr>
          <p:cNvPr id="1005" name="Google Shape;1005;p38"/>
          <p:cNvSpPr/>
          <p:nvPr/>
        </p:nvSpPr>
        <p:spPr>
          <a:xfrm>
            <a:off x="5779709" y="4868990"/>
            <a:ext cx="146304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Part Time</a:t>
            </a:r>
            <a:endParaRPr/>
          </a:p>
        </p:txBody>
      </p:sp>
      <p:sp>
        <p:nvSpPr>
          <p:cNvPr id="1006" name="Google Shape;1006;p38"/>
          <p:cNvSpPr/>
          <p:nvPr/>
        </p:nvSpPr>
        <p:spPr>
          <a:xfrm>
            <a:off x="3227526" y="5715000"/>
            <a:ext cx="1980000"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Days Worked</a:t>
            </a:r>
            <a:endParaRPr/>
          </a:p>
        </p:txBody>
      </p:sp>
      <p:sp>
        <p:nvSpPr>
          <p:cNvPr id="1007" name="Google Shape;1007;p38"/>
          <p:cNvSpPr/>
          <p:nvPr/>
        </p:nvSpPr>
        <p:spPr>
          <a:xfrm>
            <a:off x="5504852" y="5715000"/>
            <a:ext cx="2016000" cy="41148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Hour Worked</a:t>
            </a:r>
            <a:endParaRPr/>
          </a:p>
        </p:txBody>
      </p:sp>
      <p:cxnSp>
        <p:nvCxnSpPr>
          <p:cNvPr id="1008" name="Google Shape;1008;p38"/>
          <p:cNvCxnSpPr>
            <a:stCxn id="1006" idx="0"/>
            <a:endCxn id="1004" idx="2"/>
          </p:cNvCxnSpPr>
          <p:nvPr/>
        </p:nvCxnSpPr>
        <p:spPr>
          <a:xfrm flipH="1" rot="10800000">
            <a:off x="4217526" y="5326200"/>
            <a:ext cx="7800" cy="388800"/>
          </a:xfrm>
          <a:prstGeom prst="straightConnector1">
            <a:avLst/>
          </a:prstGeom>
          <a:noFill/>
          <a:ln cap="flat" cmpd="sng" w="28575">
            <a:solidFill>
              <a:schemeClr val="dk2"/>
            </a:solidFill>
            <a:prstDash val="solid"/>
            <a:miter lim="800000"/>
            <a:headEnd len="sm" w="sm" type="none"/>
            <a:tailEnd len="sm" w="sm" type="none"/>
          </a:ln>
        </p:spPr>
      </p:cxnSp>
      <p:cxnSp>
        <p:nvCxnSpPr>
          <p:cNvPr id="1009" name="Google Shape;1009;p38"/>
          <p:cNvCxnSpPr>
            <a:stCxn id="1005" idx="2"/>
            <a:endCxn id="1007" idx="0"/>
          </p:cNvCxnSpPr>
          <p:nvPr/>
        </p:nvCxnSpPr>
        <p:spPr>
          <a:xfrm>
            <a:off x="6511229" y="5326190"/>
            <a:ext cx="1500" cy="388800"/>
          </a:xfrm>
          <a:prstGeom prst="straightConnector1">
            <a:avLst/>
          </a:prstGeom>
          <a:noFill/>
          <a:ln cap="flat" cmpd="sng" w="28575">
            <a:solidFill>
              <a:schemeClr val="dk2"/>
            </a:solidFill>
            <a:prstDash val="solid"/>
            <a:miter lim="800000"/>
            <a:headEnd len="sm" w="sm" type="none"/>
            <a:tailEnd len="sm" w="sm" type="none"/>
          </a:ln>
        </p:spPr>
      </p:cxnSp>
      <p:sp>
        <p:nvSpPr>
          <p:cNvPr id="1010" name="Google Shape;1010;p38"/>
          <p:cNvSpPr/>
          <p:nvPr/>
        </p:nvSpPr>
        <p:spPr>
          <a:xfrm>
            <a:off x="5007015" y="4114135"/>
            <a:ext cx="812798" cy="544671"/>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Roboto Condensed"/>
                <a:ea typeface="Roboto Condensed"/>
                <a:cs typeface="Roboto Condensed"/>
                <a:sym typeface="Roboto Condensed"/>
              </a:rPr>
              <a:t>ISA</a:t>
            </a:r>
            <a:endParaRPr sz="1200">
              <a:solidFill>
                <a:schemeClr val="dk1"/>
              </a:solidFill>
              <a:latin typeface="Roboto Condensed"/>
              <a:ea typeface="Roboto Condensed"/>
              <a:cs typeface="Roboto Condensed"/>
              <a:sym typeface="Roboto Condensed"/>
            </a:endParaRPr>
          </a:p>
        </p:txBody>
      </p:sp>
      <p:cxnSp>
        <p:nvCxnSpPr>
          <p:cNvPr id="1011" name="Google Shape;1011;p38"/>
          <p:cNvCxnSpPr>
            <a:endCxn id="1010" idx="0"/>
          </p:cNvCxnSpPr>
          <p:nvPr/>
        </p:nvCxnSpPr>
        <p:spPr>
          <a:xfrm>
            <a:off x="5410714" y="3806335"/>
            <a:ext cx="2700" cy="307800"/>
          </a:xfrm>
          <a:prstGeom prst="straightConnector1">
            <a:avLst/>
          </a:prstGeom>
          <a:noFill/>
          <a:ln cap="flat" cmpd="sng" w="28575">
            <a:solidFill>
              <a:schemeClr val="accent4"/>
            </a:solidFill>
            <a:prstDash val="solid"/>
            <a:miter lim="800000"/>
            <a:headEnd len="sm" w="sm" type="none"/>
            <a:tailEnd len="sm" w="sm" type="none"/>
          </a:ln>
        </p:spPr>
      </p:cxnSp>
      <p:cxnSp>
        <p:nvCxnSpPr>
          <p:cNvPr id="1012" name="Google Shape;1012;p38"/>
          <p:cNvCxnSpPr>
            <a:stCxn id="1004" idx="0"/>
            <a:endCxn id="1010" idx="1"/>
          </p:cNvCxnSpPr>
          <p:nvPr/>
        </p:nvCxnSpPr>
        <p:spPr>
          <a:xfrm flipH="1" rot="10800000">
            <a:off x="4225229" y="4386590"/>
            <a:ext cx="984900" cy="482400"/>
          </a:xfrm>
          <a:prstGeom prst="straightConnector1">
            <a:avLst/>
          </a:prstGeom>
          <a:noFill/>
          <a:ln cap="flat" cmpd="sng" w="28575">
            <a:solidFill>
              <a:schemeClr val="accent4"/>
            </a:solidFill>
            <a:prstDash val="solid"/>
            <a:miter lim="800000"/>
            <a:headEnd len="sm" w="sm" type="none"/>
            <a:tailEnd len="sm" w="sm" type="none"/>
          </a:ln>
        </p:spPr>
      </p:cxnSp>
      <p:cxnSp>
        <p:nvCxnSpPr>
          <p:cNvPr id="1013" name="Google Shape;1013;p38"/>
          <p:cNvCxnSpPr>
            <a:stCxn id="1005" idx="0"/>
            <a:endCxn id="1010" idx="3"/>
          </p:cNvCxnSpPr>
          <p:nvPr/>
        </p:nvCxnSpPr>
        <p:spPr>
          <a:xfrm rot="10800000">
            <a:off x="5616629" y="4386590"/>
            <a:ext cx="894600" cy="482400"/>
          </a:xfrm>
          <a:prstGeom prst="straightConnector1">
            <a:avLst/>
          </a:prstGeom>
          <a:noFill/>
          <a:ln cap="flat" cmpd="sng" w="28575">
            <a:solidFill>
              <a:schemeClr val="accent4"/>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500"/>
                                        <p:tgtEl>
                                          <p:spTgt spid="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500"/>
                                        <p:tgtEl>
                                          <p:spTgt spid="990"/>
                                        </p:tgtEl>
                                      </p:cBhvr>
                                    </p:animEffect>
                                  </p:childTnLst>
                                </p:cTn>
                              </p:par>
                              <p:par>
                                <p:cTn fill="hold" nodeType="with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500"/>
                                        <p:tgtEl>
                                          <p:spTgt spid="988"/>
                                        </p:tgtEl>
                                      </p:cBhvr>
                                    </p:animEffect>
                                  </p:childTnLst>
                                </p:cTn>
                              </p:par>
                              <p:par>
                                <p:cTn fill="hold" nodeType="with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par>
                                <p:cTn fill="hold" nodeType="with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500"/>
                                        <p:tgtEl>
                                          <p:spTgt spid="991"/>
                                        </p:tgtEl>
                                      </p:cBhvr>
                                    </p:animEffect>
                                  </p:childTnLst>
                                </p:cTn>
                              </p:par>
                              <p:par>
                                <p:cTn fill="hold" nodeType="with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500"/>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500"/>
                                        <p:tgtEl>
                                          <p:spTgt spid="992"/>
                                        </p:tgtEl>
                                      </p:cBhvr>
                                    </p:animEffect>
                                  </p:childTnLst>
                                </p:cTn>
                              </p:par>
                              <p:par>
                                <p:cTn fill="hold" nodeType="with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5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500"/>
                                        <p:tgtEl>
                                          <p:spTgt spid="9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par>
                                <p:cTn fill="hold" nodeType="with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500"/>
                                        <p:tgtEl>
                                          <p:spTgt spid="998"/>
                                        </p:tgtEl>
                                      </p:cBhvr>
                                    </p:animEffect>
                                  </p:childTnLst>
                                </p:cTn>
                              </p:par>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500"/>
                                        <p:tgtEl>
                                          <p:spTgt spid="999"/>
                                        </p:tgtEl>
                                      </p:cBhvr>
                                    </p:animEffect>
                                  </p:childTnLst>
                                </p:cTn>
                              </p:par>
                              <p:par>
                                <p:cTn fill="hold" nodeType="with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500"/>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500"/>
                                        <p:tgtEl>
                                          <p:spTgt spid="9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500"/>
                                        <p:tgtEl>
                                          <p:spTgt spid="1001"/>
                                        </p:tgtEl>
                                      </p:cBhvr>
                                    </p:animEffect>
                                  </p:childTnLst>
                                </p:cTn>
                              </p:par>
                              <p:par>
                                <p:cTn fill="hold" nodeType="with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500"/>
                                        <p:tgtEl>
                                          <p:spTgt spid="1000"/>
                                        </p:tgtEl>
                                      </p:cBhvr>
                                    </p:animEffect>
                                  </p:childTnLst>
                                </p:cTn>
                              </p:par>
                              <p:par>
                                <p:cTn fill="hold" nodeType="with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500"/>
                                        <p:tgtEl>
                                          <p:spTgt spid="1002"/>
                                        </p:tgtEl>
                                      </p:cBhvr>
                                    </p:animEffect>
                                  </p:childTnLst>
                                </p:cTn>
                              </p:par>
                              <p:par>
                                <p:cTn fill="hold" nodeType="with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500"/>
                                        <p:tgtEl>
                                          <p:spTgt spid="10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500"/>
                                        <p:tgtEl>
                                          <p:spTgt spid="1004"/>
                                        </p:tgtEl>
                                      </p:cBhvr>
                                    </p:animEffect>
                                  </p:childTnLst>
                                </p:cTn>
                              </p:par>
                              <p:par>
                                <p:cTn fill="hold" nodeType="with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500"/>
                                        <p:tgtEl>
                                          <p:spTgt spid="10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8"/>
                                        </p:tgtEl>
                                        <p:attrNameLst>
                                          <p:attrName>style.visibility</p:attrName>
                                        </p:attrNameLst>
                                      </p:cBhvr>
                                      <p:to>
                                        <p:strVal val="visible"/>
                                      </p:to>
                                    </p:set>
                                    <p:animEffect filter="fade" transition="in">
                                      <p:cBhvr>
                                        <p:cTn dur="500"/>
                                        <p:tgtEl>
                                          <p:spTgt spid="1008"/>
                                        </p:tgtEl>
                                      </p:cBhvr>
                                    </p:animEffect>
                                  </p:childTnLst>
                                </p:cTn>
                              </p:par>
                              <p:par>
                                <p:cTn fill="hold" nodeType="withEffect" presetClass="entr" presetID="10" presetSubtype="0">
                                  <p:stCondLst>
                                    <p:cond delay="0"/>
                                  </p:stCondLst>
                                  <p:childTnLst>
                                    <p:set>
                                      <p:cBhvr>
                                        <p:cTn dur="1" fill="hold">
                                          <p:stCondLst>
                                            <p:cond delay="0"/>
                                          </p:stCondLst>
                                        </p:cTn>
                                        <p:tgtEl>
                                          <p:spTgt spid="1009"/>
                                        </p:tgtEl>
                                        <p:attrNameLst>
                                          <p:attrName>style.visibility</p:attrName>
                                        </p:attrNameLst>
                                      </p:cBhvr>
                                      <p:to>
                                        <p:strVal val="visible"/>
                                      </p:to>
                                    </p:set>
                                    <p:animEffect filter="fade" transition="in">
                                      <p:cBhvr>
                                        <p:cTn dur="500"/>
                                        <p:tgtEl>
                                          <p:spTgt spid="1009"/>
                                        </p:tgtEl>
                                      </p:cBhvr>
                                    </p:animEffect>
                                  </p:childTnLst>
                                </p:cTn>
                              </p:par>
                              <p:par>
                                <p:cTn fill="hold" nodeType="with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500"/>
                                        <p:tgtEl>
                                          <p:spTgt spid="1007"/>
                                        </p:tgtEl>
                                      </p:cBhvr>
                                    </p:animEffect>
                                  </p:childTnLst>
                                </p:cTn>
                              </p:par>
                              <p:par>
                                <p:cTn fill="hold" nodeType="with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500"/>
                                        <p:tgtEl>
                                          <p:spTgt spid="10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1"/>
                                        </p:tgtEl>
                                        <p:attrNameLst>
                                          <p:attrName>style.visibility</p:attrName>
                                        </p:attrNameLst>
                                      </p:cBhvr>
                                      <p:to>
                                        <p:strVal val="visible"/>
                                      </p:to>
                                    </p:set>
                                    <p:animEffect filter="fade" transition="in">
                                      <p:cBhvr>
                                        <p:cTn dur="500"/>
                                        <p:tgtEl>
                                          <p:spTgt spid="1011"/>
                                        </p:tgtEl>
                                      </p:cBhvr>
                                    </p:animEffect>
                                  </p:childTnLst>
                                </p:cTn>
                              </p:par>
                              <p:par>
                                <p:cTn fill="hold" nodeType="withEffect" presetClass="entr" presetID="10" presetSubtype="0">
                                  <p:stCondLst>
                                    <p:cond delay="0"/>
                                  </p:stCondLst>
                                  <p:childTnLst>
                                    <p:set>
                                      <p:cBhvr>
                                        <p:cTn dur="1" fill="hold">
                                          <p:stCondLst>
                                            <p:cond delay="0"/>
                                          </p:stCondLst>
                                        </p:cTn>
                                        <p:tgtEl>
                                          <p:spTgt spid="1010"/>
                                        </p:tgtEl>
                                        <p:attrNameLst>
                                          <p:attrName>style.visibility</p:attrName>
                                        </p:attrNameLst>
                                      </p:cBhvr>
                                      <p:to>
                                        <p:strVal val="visible"/>
                                      </p:to>
                                    </p:set>
                                    <p:animEffect filter="fade" transition="in">
                                      <p:cBhvr>
                                        <p:cTn dur="500"/>
                                        <p:tgtEl>
                                          <p:spTgt spid="1010"/>
                                        </p:tgtEl>
                                      </p:cBhvr>
                                    </p:animEffect>
                                  </p:childTnLst>
                                </p:cTn>
                              </p:par>
                              <p:par>
                                <p:cTn fill="hold" nodeType="withEffect" presetClass="entr" presetID="10" presetSubtype="0">
                                  <p:stCondLst>
                                    <p:cond delay="0"/>
                                  </p:stCondLst>
                                  <p:childTnLst>
                                    <p:set>
                                      <p:cBhvr>
                                        <p:cTn dur="1" fill="hold">
                                          <p:stCondLst>
                                            <p:cond delay="0"/>
                                          </p:stCondLst>
                                        </p:cTn>
                                        <p:tgtEl>
                                          <p:spTgt spid="1012"/>
                                        </p:tgtEl>
                                        <p:attrNameLst>
                                          <p:attrName>style.visibility</p:attrName>
                                        </p:attrNameLst>
                                      </p:cBhvr>
                                      <p:to>
                                        <p:strVal val="visible"/>
                                      </p:to>
                                    </p:set>
                                    <p:animEffect filter="fade" transition="in">
                                      <p:cBhvr>
                                        <p:cTn dur="500"/>
                                        <p:tgtEl>
                                          <p:spTgt spid="1012"/>
                                        </p:tgtEl>
                                      </p:cBhvr>
                                    </p:animEffect>
                                  </p:childTnLst>
                                </p:cTn>
                              </p:par>
                              <p:par>
                                <p:cTn fill="hold" nodeType="withEffect" presetClass="entr" presetID="10" presetSubtype="0">
                                  <p:stCondLst>
                                    <p:cond delay="0"/>
                                  </p:stCondLst>
                                  <p:childTnLst>
                                    <p:set>
                                      <p:cBhvr>
                                        <p:cTn dur="1" fill="hold">
                                          <p:stCondLst>
                                            <p:cond delay="0"/>
                                          </p:stCondLst>
                                        </p:cTn>
                                        <p:tgtEl>
                                          <p:spTgt spid="1013"/>
                                        </p:tgtEl>
                                        <p:attrNameLst>
                                          <p:attrName>style.visibility</p:attrName>
                                        </p:attrNameLst>
                                      </p:cBhvr>
                                      <p:to>
                                        <p:strVal val="visible"/>
                                      </p:to>
                                    </p:set>
                                    <p:animEffect filter="fade" transition="in">
                                      <p:cBhvr>
                                        <p:cTn dur="500"/>
                                        <p:tgtEl>
                                          <p:spTgt spid="10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39"/>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Exercise</a:t>
            </a:r>
            <a:endParaRPr/>
          </a:p>
        </p:txBody>
      </p:sp>
      <p:sp>
        <p:nvSpPr>
          <p:cNvPr id="1019" name="Google Shape;1019;p39"/>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Give the examples of Generalization/Specialization in the following E-R diagram:</a:t>
            </a:r>
            <a:endParaRPr/>
          </a:p>
          <a:p>
            <a:pPr indent="-352425" lvl="1" marL="809625" rtl="0" algn="just">
              <a:lnSpc>
                <a:spcPct val="90000"/>
              </a:lnSpc>
              <a:spcBef>
                <a:spcPts val="500"/>
              </a:spcBef>
              <a:spcAft>
                <a:spcPts val="0"/>
              </a:spcAft>
              <a:buSzPts val="2000"/>
              <a:buChar char="⮩"/>
            </a:pPr>
            <a:r>
              <a:rPr lang="en-US"/>
              <a:t>Hospital Management System.</a:t>
            </a:r>
            <a:endParaRPr/>
          </a:p>
          <a:p>
            <a:pPr indent="-352425" lvl="1" marL="809625" rtl="0" algn="just">
              <a:lnSpc>
                <a:spcPct val="90000"/>
              </a:lnSpc>
              <a:spcBef>
                <a:spcPts val="500"/>
              </a:spcBef>
              <a:spcAft>
                <a:spcPts val="0"/>
              </a:spcAft>
              <a:buSzPts val="2000"/>
              <a:buChar char="⮩"/>
            </a:pPr>
            <a:r>
              <a:rPr lang="en-US"/>
              <a:t>College Management System.</a:t>
            </a:r>
            <a:endParaRPr/>
          </a:p>
          <a:p>
            <a:pPr indent="-352425" lvl="1" marL="809625" rtl="0" algn="just">
              <a:lnSpc>
                <a:spcPct val="90000"/>
              </a:lnSpc>
              <a:spcBef>
                <a:spcPts val="500"/>
              </a:spcBef>
              <a:spcAft>
                <a:spcPts val="0"/>
              </a:spcAft>
              <a:buSzPts val="2000"/>
              <a:buChar char="⮩"/>
            </a:pPr>
            <a:r>
              <a:rPr lang="en-US"/>
              <a:t>Bank Management System.</a:t>
            </a:r>
            <a:endParaRPr/>
          </a:p>
          <a:p>
            <a:pPr indent="-352425" lvl="1" marL="809625" rtl="0" algn="just">
              <a:lnSpc>
                <a:spcPct val="90000"/>
              </a:lnSpc>
              <a:spcBef>
                <a:spcPts val="500"/>
              </a:spcBef>
              <a:spcAft>
                <a:spcPts val="0"/>
              </a:spcAft>
              <a:buSzPts val="2000"/>
              <a:buChar char="⮩"/>
            </a:pPr>
            <a:r>
              <a:rPr lang="en-US"/>
              <a:t>Insurance Company.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xEl>
                                              <p:pRg end="0" st="0"/>
                                            </p:txEl>
                                          </p:spTgt>
                                        </p:tgtEl>
                                        <p:attrNameLst>
                                          <p:attrName>style.visibility</p:attrName>
                                        </p:attrNameLst>
                                      </p:cBhvr>
                                      <p:to>
                                        <p:strVal val="visible"/>
                                      </p:to>
                                    </p:set>
                                    <p:animEffect filter="fade" transition="in">
                                      <p:cBhvr>
                                        <p:cTn dur="500"/>
                                        <p:tgtEl>
                                          <p:spTgt spid="10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xEl>
                                              <p:pRg end="1" st="1"/>
                                            </p:txEl>
                                          </p:spTgt>
                                        </p:tgtEl>
                                        <p:attrNameLst>
                                          <p:attrName>style.visibility</p:attrName>
                                        </p:attrNameLst>
                                      </p:cBhvr>
                                      <p:to>
                                        <p:strVal val="visible"/>
                                      </p:to>
                                    </p:set>
                                    <p:animEffect filter="fade" transition="in">
                                      <p:cBhvr>
                                        <p:cTn dur="500"/>
                                        <p:tgtEl>
                                          <p:spTgt spid="10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xEl>
                                              <p:pRg end="2" st="2"/>
                                            </p:txEl>
                                          </p:spTgt>
                                        </p:tgtEl>
                                        <p:attrNameLst>
                                          <p:attrName>style.visibility</p:attrName>
                                        </p:attrNameLst>
                                      </p:cBhvr>
                                      <p:to>
                                        <p:strVal val="visible"/>
                                      </p:to>
                                    </p:set>
                                    <p:animEffect filter="fade" transition="in">
                                      <p:cBhvr>
                                        <p:cTn dur="500"/>
                                        <p:tgtEl>
                                          <p:spTgt spid="10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xEl>
                                              <p:pRg end="3" st="3"/>
                                            </p:txEl>
                                          </p:spTgt>
                                        </p:tgtEl>
                                        <p:attrNameLst>
                                          <p:attrName>style.visibility</p:attrName>
                                        </p:attrNameLst>
                                      </p:cBhvr>
                                      <p:to>
                                        <p:strVal val="visible"/>
                                      </p:to>
                                    </p:set>
                                    <p:animEffect filter="fade" transition="in">
                                      <p:cBhvr>
                                        <p:cTn dur="500"/>
                                        <p:tgtEl>
                                          <p:spTgt spid="10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xEl>
                                              <p:pRg end="4" st="4"/>
                                            </p:txEl>
                                          </p:spTgt>
                                        </p:tgtEl>
                                        <p:attrNameLst>
                                          <p:attrName>style.visibility</p:attrName>
                                        </p:attrNameLst>
                                      </p:cBhvr>
                                      <p:to>
                                        <p:strVal val="visible"/>
                                      </p:to>
                                    </p:set>
                                    <p:animEffect filter="fade" transition="in">
                                      <p:cBhvr>
                                        <p:cTn dur="500"/>
                                        <p:tgtEl>
                                          <p:spTgt spid="101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4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Constraints on </a:t>
            </a:r>
            <a:br>
              <a:rPr lang="en-US">
                <a:solidFill>
                  <a:srgbClr val="5C2321"/>
                </a:solidFill>
              </a:rPr>
            </a:br>
            <a:r>
              <a:rPr lang="en-US">
                <a:solidFill>
                  <a:srgbClr val="5C2321"/>
                </a:solidFill>
              </a:rPr>
              <a:t>Specialization and Generalization</a:t>
            </a:r>
            <a:endParaRPr/>
          </a:p>
        </p:txBody>
      </p:sp>
      <p:sp>
        <p:nvSpPr>
          <p:cNvPr id="1025" name="Google Shape;1025;p4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- 8</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41"/>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Constraints on Specialization and Generalization</a:t>
            </a:r>
            <a:endParaRPr/>
          </a:p>
        </p:txBody>
      </p:sp>
      <p:sp>
        <p:nvSpPr>
          <p:cNvPr id="1031" name="Google Shape;1031;p41"/>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t/>
            </a:r>
            <a:endParaRPr/>
          </a:p>
        </p:txBody>
      </p:sp>
      <p:sp>
        <p:nvSpPr>
          <p:cNvPr id="1032" name="Google Shape;1032;p41"/>
          <p:cNvSpPr/>
          <p:nvPr/>
        </p:nvSpPr>
        <p:spPr>
          <a:xfrm>
            <a:off x="3771899" y="1309255"/>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Constraints</a:t>
            </a:r>
            <a:endParaRPr/>
          </a:p>
        </p:txBody>
      </p:sp>
      <p:cxnSp>
        <p:nvCxnSpPr>
          <p:cNvPr id="1033" name="Google Shape;1033;p41"/>
          <p:cNvCxnSpPr>
            <a:stCxn id="1032" idx="2"/>
          </p:cNvCxnSpPr>
          <p:nvPr/>
        </p:nvCxnSpPr>
        <p:spPr>
          <a:xfrm>
            <a:off x="4686299" y="2147455"/>
            <a:ext cx="0" cy="519600"/>
          </a:xfrm>
          <a:prstGeom prst="straightConnector1">
            <a:avLst/>
          </a:prstGeom>
          <a:noFill/>
          <a:ln cap="flat" cmpd="sng" w="28575">
            <a:solidFill>
              <a:schemeClr val="accent6"/>
            </a:solidFill>
            <a:prstDash val="solid"/>
            <a:miter lim="800000"/>
            <a:headEnd len="sm" w="sm" type="none"/>
            <a:tailEnd len="sm" w="sm" type="none"/>
          </a:ln>
        </p:spPr>
      </p:cxnSp>
      <p:cxnSp>
        <p:nvCxnSpPr>
          <p:cNvPr id="1034" name="Google Shape;1034;p41"/>
          <p:cNvCxnSpPr/>
          <p:nvPr/>
        </p:nvCxnSpPr>
        <p:spPr>
          <a:xfrm>
            <a:off x="2438400" y="2667000"/>
            <a:ext cx="4495799" cy="0"/>
          </a:xfrm>
          <a:prstGeom prst="straightConnector1">
            <a:avLst/>
          </a:prstGeom>
          <a:noFill/>
          <a:ln cap="flat" cmpd="sng" w="28575">
            <a:solidFill>
              <a:schemeClr val="accent6"/>
            </a:solidFill>
            <a:prstDash val="solid"/>
            <a:miter lim="800000"/>
            <a:headEnd len="sm" w="sm" type="none"/>
            <a:tailEnd len="sm" w="sm" type="none"/>
          </a:ln>
        </p:spPr>
      </p:cxnSp>
      <p:cxnSp>
        <p:nvCxnSpPr>
          <p:cNvPr id="1035" name="Google Shape;1035;p41"/>
          <p:cNvCxnSpPr>
            <a:endCxn id="1036" idx="0"/>
          </p:cNvCxnSpPr>
          <p:nvPr/>
        </p:nvCxnSpPr>
        <p:spPr>
          <a:xfrm>
            <a:off x="2438400" y="2667132"/>
            <a:ext cx="0" cy="552300"/>
          </a:xfrm>
          <a:prstGeom prst="straightConnector1">
            <a:avLst/>
          </a:prstGeom>
          <a:noFill/>
          <a:ln cap="flat" cmpd="sng" w="28575">
            <a:solidFill>
              <a:schemeClr val="accent6"/>
            </a:solidFill>
            <a:prstDash val="solid"/>
            <a:miter lim="800000"/>
            <a:headEnd len="sm" w="sm" type="none"/>
            <a:tailEnd len="sm" w="sm" type="none"/>
          </a:ln>
        </p:spPr>
      </p:cxnSp>
      <p:cxnSp>
        <p:nvCxnSpPr>
          <p:cNvPr id="1037" name="Google Shape;1037;p41"/>
          <p:cNvCxnSpPr>
            <a:endCxn id="1038" idx="0"/>
          </p:cNvCxnSpPr>
          <p:nvPr/>
        </p:nvCxnSpPr>
        <p:spPr>
          <a:xfrm>
            <a:off x="6934200" y="2667100"/>
            <a:ext cx="0" cy="546000"/>
          </a:xfrm>
          <a:prstGeom prst="straightConnector1">
            <a:avLst/>
          </a:prstGeom>
          <a:noFill/>
          <a:ln cap="flat" cmpd="sng" w="28575">
            <a:solidFill>
              <a:schemeClr val="accent6"/>
            </a:solidFill>
            <a:prstDash val="solid"/>
            <a:miter lim="800000"/>
            <a:headEnd len="sm" w="sm" type="none"/>
            <a:tailEnd len="sm" w="sm" type="none"/>
          </a:ln>
        </p:spPr>
      </p:cxnSp>
      <p:sp>
        <p:nvSpPr>
          <p:cNvPr id="1036" name="Google Shape;1036;p41"/>
          <p:cNvSpPr/>
          <p:nvPr/>
        </p:nvSpPr>
        <p:spPr>
          <a:xfrm>
            <a:off x="1524000" y="3219432"/>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Disjoint</a:t>
            </a:r>
            <a:endParaRPr/>
          </a:p>
        </p:txBody>
      </p:sp>
      <p:sp>
        <p:nvSpPr>
          <p:cNvPr id="1038" name="Google Shape;1038;p41"/>
          <p:cNvSpPr/>
          <p:nvPr/>
        </p:nvSpPr>
        <p:spPr>
          <a:xfrm>
            <a:off x="6019800" y="321310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Participation</a:t>
            </a:r>
            <a:endParaRPr/>
          </a:p>
        </p:txBody>
      </p:sp>
      <p:cxnSp>
        <p:nvCxnSpPr>
          <p:cNvPr id="1039" name="Google Shape;1039;p41"/>
          <p:cNvCxnSpPr/>
          <p:nvPr/>
        </p:nvCxnSpPr>
        <p:spPr>
          <a:xfrm flipH="1">
            <a:off x="2453055" y="4057632"/>
            <a:ext cx="1" cy="491157"/>
          </a:xfrm>
          <a:prstGeom prst="straightConnector1">
            <a:avLst/>
          </a:prstGeom>
          <a:noFill/>
          <a:ln cap="flat" cmpd="sng" w="28575">
            <a:solidFill>
              <a:schemeClr val="accent6"/>
            </a:solidFill>
            <a:prstDash val="solid"/>
            <a:miter lim="800000"/>
            <a:headEnd len="sm" w="sm" type="none"/>
            <a:tailEnd len="sm" w="sm" type="none"/>
          </a:ln>
        </p:spPr>
      </p:cxnSp>
      <p:cxnSp>
        <p:nvCxnSpPr>
          <p:cNvPr id="1040" name="Google Shape;1040;p41"/>
          <p:cNvCxnSpPr/>
          <p:nvPr/>
        </p:nvCxnSpPr>
        <p:spPr>
          <a:xfrm>
            <a:off x="1301264" y="4533888"/>
            <a:ext cx="2356336" cy="0"/>
          </a:xfrm>
          <a:prstGeom prst="straightConnector1">
            <a:avLst/>
          </a:prstGeom>
          <a:noFill/>
          <a:ln cap="flat" cmpd="sng" w="28575">
            <a:solidFill>
              <a:schemeClr val="accent6"/>
            </a:solidFill>
            <a:prstDash val="solid"/>
            <a:miter lim="800000"/>
            <a:headEnd len="sm" w="sm" type="none"/>
            <a:tailEnd len="sm" w="sm" type="none"/>
          </a:ln>
        </p:spPr>
      </p:cxnSp>
      <p:cxnSp>
        <p:nvCxnSpPr>
          <p:cNvPr id="1041" name="Google Shape;1041;p41"/>
          <p:cNvCxnSpPr/>
          <p:nvPr/>
        </p:nvCxnSpPr>
        <p:spPr>
          <a:xfrm>
            <a:off x="1301264" y="4533888"/>
            <a:ext cx="486" cy="533401"/>
          </a:xfrm>
          <a:prstGeom prst="straightConnector1">
            <a:avLst/>
          </a:prstGeom>
          <a:noFill/>
          <a:ln cap="flat" cmpd="sng" w="28575">
            <a:solidFill>
              <a:schemeClr val="accent6"/>
            </a:solidFill>
            <a:prstDash val="solid"/>
            <a:miter lim="800000"/>
            <a:headEnd len="sm" w="sm" type="none"/>
            <a:tailEnd len="sm" w="sm" type="none"/>
          </a:ln>
        </p:spPr>
      </p:cxnSp>
      <p:cxnSp>
        <p:nvCxnSpPr>
          <p:cNvPr id="1042" name="Google Shape;1042;p41"/>
          <p:cNvCxnSpPr/>
          <p:nvPr/>
        </p:nvCxnSpPr>
        <p:spPr>
          <a:xfrm>
            <a:off x="3657600" y="4533888"/>
            <a:ext cx="0" cy="503116"/>
          </a:xfrm>
          <a:prstGeom prst="straightConnector1">
            <a:avLst/>
          </a:prstGeom>
          <a:noFill/>
          <a:ln cap="flat" cmpd="sng" w="28575">
            <a:solidFill>
              <a:schemeClr val="accent6"/>
            </a:solidFill>
            <a:prstDash val="solid"/>
            <a:miter lim="800000"/>
            <a:headEnd len="sm" w="sm" type="none"/>
            <a:tailEnd len="sm" w="sm" type="none"/>
          </a:ln>
        </p:spPr>
      </p:cxnSp>
      <p:sp>
        <p:nvSpPr>
          <p:cNvPr id="1043" name="Google Shape;1043;p41"/>
          <p:cNvSpPr/>
          <p:nvPr/>
        </p:nvSpPr>
        <p:spPr>
          <a:xfrm>
            <a:off x="387350" y="5010144"/>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Disjoint</a:t>
            </a:r>
            <a:endParaRPr/>
          </a:p>
        </p:txBody>
      </p:sp>
      <p:sp>
        <p:nvSpPr>
          <p:cNvPr id="1044" name="Google Shape;1044;p41"/>
          <p:cNvSpPr/>
          <p:nvPr/>
        </p:nvSpPr>
        <p:spPr>
          <a:xfrm>
            <a:off x="2661134" y="5037004"/>
            <a:ext cx="1972899"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Non-disjoint (Overlapping)</a:t>
            </a:r>
            <a:endParaRPr/>
          </a:p>
        </p:txBody>
      </p:sp>
      <p:sp>
        <p:nvSpPr>
          <p:cNvPr id="1045" name="Google Shape;1045;p41"/>
          <p:cNvSpPr/>
          <p:nvPr/>
        </p:nvSpPr>
        <p:spPr>
          <a:xfrm>
            <a:off x="4870940" y="503751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Total (Mandatory)</a:t>
            </a:r>
            <a:endParaRPr/>
          </a:p>
        </p:txBody>
      </p:sp>
      <p:sp>
        <p:nvSpPr>
          <p:cNvPr id="1046" name="Google Shape;1046;p41"/>
          <p:cNvSpPr/>
          <p:nvPr/>
        </p:nvSpPr>
        <p:spPr>
          <a:xfrm>
            <a:off x="7086600" y="502920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Partial (Optional)</a:t>
            </a:r>
            <a:endParaRPr/>
          </a:p>
        </p:txBody>
      </p:sp>
      <p:cxnSp>
        <p:nvCxnSpPr>
          <p:cNvPr id="1047" name="Google Shape;1047;p41"/>
          <p:cNvCxnSpPr/>
          <p:nvPr/>
        </p:nvCxnSpPr>
        <p:spPr>
          <a:xfrm flipH="1">
            <a:off x="6934200" y="4051300"/>
            <a:ext cx="1" cy="491157"/>
          </a:xfrm>
          <a:prstGeom prst="straightConnector1">
            <a:avLst/>
          </a:prstGeom>
          <a:noFill/>
          <a:ln cap="flat" cmpd="sng" w="28575">
            <a:solidFill>
              <a:schemeClr val="accent6"/>
            </a:solidFill>
            <a:prstDash val="solid"/>
            <a:miter lim="800000"/>
            <a:headEnd len="sm" w="sm" type="none"/>
            <a:tailEnd len="sm" w="sm" type="none"/>
          </a:ln>
        </p:spPr>
      </p:cxnSp>
      <p:cxnSp>
        <p:nvCxnSpPr>
          <p:cNvPr id="1048" name="Google Shape;1048;p41"/>
          <p:cNvCxnSpPr/>
          <p:nvPr/>
        </p:nvCxnSpPr>
        <p:spPr>
          <a:xfrm>
            <a:off x="5785340" y="4536893"/>
            <a:ext cx="2209805" cy="5564"/>
          </a:xfrm>
          <a:prstGeom prst="straightConnector1">
            <a:avLst/>
          </a:prstGeom>
          <a:noFill/>
          <a:ln cap="flat" cmpd="sng" w="28575">
            <a:solidFill>
              <a:schemeClr val="accent6"/>
            </a:solidFill>
            <a:prstDash val="solid"/>
            <a:miter lim="800000"/>
            <a:headEnd len="sm" w="sm" type="none"/>
            <a:tailEnd len="sm" w="sm" type="none"/>
          </a:ln>
        </p:spPr>
      </p:cxnSp>
      <p:cxnSp>
        <p:nvCxnSpPr>
          <p:cNvPr id="1049" name="Google Shape;1049;p41"/>
          <p:cNvCxnSpPr>
            <a:endCxn id="1045" idx="0"/>
          </p:cNvCxnSpPr>
          <p:nvPr/>
        </p:nvCxnSpPr>
        <p:spPr>
          <a:xfrm>
            <a:off x="5785340" y="4542510"/>
            <a:ext cx="0" cy="495000"/>
          </a:xfrm>
          <a:prstGeom prst="straightConnector1">
            <a:avLst/>
          </a:prstGeom>
          <a:noFill/>
          <a:ln cap="flat" cmpd="sng" w="28575">
            <a:solidFill>
              <a:schemeClr val="accent6"/>
            </a:solidFill>
            <a:prstDash val="solid"/>
            <a:miter lim="800000"/>
            <a:headEnd len="sm" w="sm" type="none"/>
            <a:tailEnd len="sm" w="sm" type="none"/>
          </a:ln>
        </p:spPr>
      </p:cxnSp>
      <p:cxnSp>
        <p:nvCxnSpPr>
          <p:cNvPr id="1050" name="Google Shape;1050;p41"/>
          <p:cNvCxnSpPr>
            <a:endCxn id="1046" idx="0"/>
          </p:cNvCxnSpPr>
          <p:nvPr/>
        </p:nvCxnSpPr>
        <p:spPr>
          <a:xfrm>
            <a:off x="7995000" y="4535700"/>
            <a:ext cx="6000" cy="493500"/>
          </a:xfrm>
          <a:prstGeom prst="straightConnector1">
            <a:avLst/>
          </a:prstGeom>
          <a:noFill/>
          <a:ln cap="flat" cmpd="sng" w="28575">
            <a:solidFill>
              <a:schemeClr val="accent6"/>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500"/>
                                        <p:tgtEl>
                                          <p:spTgt spid="10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500"/>
                                        <p:tgtEl>
                                          <p:spTgt spid="1034"/>
                                        </p:tgtEl>
                                      </p:cBhvr>
                                    </p:animEffect>
                                  </p:childTnLst>
                                </p:cTn>
                              </p:par>
                              <p:par>
                                <p:cTn fill="hold" nodeType="with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500"/>
                                        <p:tgtEl>
                                          <p:spTgt spid="1035"/>
                                        </p:tgtEl>
                                      </p:cBhvr>
                                    </p:animEffect>
                                  </p:childTnLst>
                                </p:cTn>
                              </p:par>
                              <p:par>
                                <p:cTn fill="hold" nodeType="with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500"/>
                                        <p:tgtEl>
                                          <p:spTgt spid="1037"/>
                                        </p:tgtEl>
                                      </p:cBhvr>
                                    </p:animEffect>
                                  </p:childTnLst>
                                </p:cTn>
                              </p:par>
                              <p:par>
                                <p:cTn fill="hold" nodeType="with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500"/>
                                        <p:tgtEl>
                                          <p:spTgt spid="1033"/>
                                        </p:tgtEl>
                                      </p:cBhvr>
                                    </p:animEffect>
                                  </p:childTnLst>
                                </p:cTn>
                              </p:par>
                              <p:par>
                                <p:cTn fill="hold" nodeType="with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500"/>
                                        <p:tgtEl>
                                          <p:spTgt spid="1038"/>
                                        </p:tgtEl>
                                      </p:cBhvr>
                                    </p:animEffect>
                                  </p:childTnLst>
                                </p:cTn>
                              </p:par>
                              <p:par>
                                <p:cTn fill="hold" nodeType="with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500"/>
                                        <p:tgtEl>
                                          <p:spTgt spid="1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500"/>
                                        <p:tgtEl>
                                          <p:spTgt spid="1039"/>
                                        </p:tgtEl>
                                      </p:cBhvr>
                                    </p:animEffect>
                                  </p:childTnLst>
                                </p:cTn>
                              </p:par>
                              <p:par>
                                <p:cTn fill="hold" nodeType="with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500"/>
                                        <p:tgtEl>
                                          <p:spTgt spid="1040"/>
                                        </p:tgtEl>
                                      </p:cBhvr>
                                    </p:animEffect>
                                  </p:childTnLst>
                                </p:cTn>
                              </p:par>
                              <p:par>
                                <p:cTn fill="hold" nodeType="with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500"/>
                                        <p:tgtEl>
                                          <p:spTgt spid="1041"/>
                                        </p:tgtEl>
                                      </p:cBhvr>
                                    </p:animEffect>
                                  </p:childTnLst>
                                </p:cTn>
                              </p:par>
                              <p:par>
                                <p:cTn fill="hold" nodeType="with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par>
                                <p:cTn fill="hold" nodeType="with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500"/>
                                        <p:tgtEl>
                                          <p:spTgt spid="1043"/>
                                        </p:tgtEl>
                                      </p:cBhvr>
                                    </p:animEffect>
                                  </p:childTnLst>
                                </p:cTn>
                              </p:par>
                              <p:par>
                                <p:cTn fill="hold" nodeType="with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par>
                                <p:cTn fill="hold" nodeType="with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par>
                                <p:cTn fill="hold" nodeType="with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500"/>
                                        <p:tgtEl>
                                          <p:spTgt spid="1047"/>
                                        </p:tgtEl>
                                      </p:cBhvr>
                                    </p:animEffect>
                                  </p:childTnLst>
                                </p:cTn>
                              </p:par>
                              <p:par>
                                <p:cTn fill="hold" nodeType="with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500"/>
                                        <p:tgtEl>
                                          <p:spTgt spid="1049"/>
                                        </p:tgtEl>
                                      </p:cBhvr>
                                    </p:animEffect>
                                  </p:childTnLst>
                                </p:cTn>
                              </p:par>
                              <p:par>
                                <p:cTn fill="hold" nodeType="with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500"/>
                                        <p:tgtEl>
                                          <p:spTgt spid="10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42"/>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Disjoint Constraint</a:t>
            </a:r>
            <a:endParaRPr/>
          </a:p>
        </p:txBody>
      </p:sp>
      <p:sp>
        <p:nvSpPr>
          <p:cNvPr id="1056" name="Google Shape;1056;p42"/>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It describes </a:t>
            </a:r>
            <a:r>
              <a:rPr b="1" lang="en-US">
                <a:solidFill>
                  <a:schemeClr val="accent6"/>
                </a:solidFill>
              </a:rPr>
              <a:t>relationship between members of the superclass and subclass </a:t>
            </a:r>
            <a:r>
              <a:rPr lang="en-US"/>
              <a:t>and indicates whether member of a superclass can be a member of one, or more than one subclass.</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Types of disjoint constraints</a:t>
            </a:r>
            <a:endParaRPr/>
          </a:p>
          <a:p>
            <a:pPr indent="-352425" lvl="1" marL="809625" rtl="0" algn="just">
              <a:lnSpc>
                <a:spcPct val="90000"/>
              </a:lnSpc>
              <a:spcBef>
                <a:spcPts val="500"/>
              </a:spcBef>
              <a:spcAft>
                <a:spcPts val="0"/>
              </a:spcAft>
              <a:buSzPts val="2000"/>
              <a:buChar char="⮩"/>
            </a:pPr>
            <a:r>
              <a:rPr lang="en-US"/>
              <a:t>Disjoint Constraint</a:t>
            </a:r>
            <a:endParaRPr/>
          </a:p>
          <a:p>
            <a:pPr indent="-352425" lvl="1" marL="809625" rtl="0" algn="just">
              <a:lnSpc>
                <a:spcPct val="90000"/>
              </a:lnSpc>
              <a:spcBef>
                <a:spcPts val="500"/>
              </a:spcBef>
              <a:spcAft>
                <a:spcPts val="0"/>
              </a:spcAft>
              <a:buSzPts val="2000"/>
              <a:buChar char="⮩"/>
            </a:pPr>
            <a:r>
              <a:rPr lang="en-US"/>
              <a:t>Non-disjoint (Overlapping) Constraint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0" st="0"/>
                                            </p:txEl>
                                          </p:spTgt>
                                        </p:tgtEl>
                                        <p:attrNameLst>
                                          <p:attrName>style.visibility</p:attrName>
                                        </p:attrNameLst>
                                      </p:cBhvr>
                                      <p:to>
                                        <p:strVal val="visible"/>
                                      </p:to>
                                    </p:set>
                                    <p:animEffect filter="fade" transition="in">
                                      <p:cBhvr>
                                        <p:cTn dur="500"/>
                                        <p:tgtEl>
                                          <p:spTgt spid="10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 st="1"/>
                                            </p:txEl>
                                          </p:spTgt>
                                        </p:tgtEl>
                                        <p:attrNameLst>
                                          <p:attrName>style.visibility</p:attrName>
                                        </p:attrNameLst>
                                      </p:cBhvr>
                                      <p:to>
                                        <p:strVal val="visible"/>
                                      </p:to>
                                    </p:set>
                                    <p:animEffect filter="fade" transition="in">
                                      <p:cBhvr>
                                        <p:cTn dur="500"/>
                                        <p:tgtEl>
                                          <p:spTgt spid="10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2" st="2"/>
                                            </p:txEl>
                                          </p:spTgt>
                                        </p:tgtEl>
                                        <p:attrNameLst>
                                          <p:attrName>style.visibility</p:attrName>
                                        </p:attrNameLst>
                                      </p:cBhvr>
                                      <p:to>
                                        <p:strVal val="visible"/>
                                      </p:to>
                                    </p:set>
                                    <p:animEffect filter="fade" transition="in">
                                      <p:cBhvr>
                                        <p:cTn dur="500"/>
                                        <p:tgtEl>
                                          <p:spTgt spid="10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3" st="3"/>
                                            </p:txEl>
                                          </p:spTgt>
                                        </p:tgtEl>
                                        <p:attrNameLst>
                                          <p:attrName>style.visibility</p:attrName>
                                        </p:attrNameLst>
                                      </p:cBhvr>
                                      <p:to>
                                        <p:strVal val="visible"/>
                                      </p:to>
                                    </p:set>
                                    <p:animEffect filter="fade" transition="in">
                                      <p:cBhvr>
                                        <p:cTn dur="500"/>
                                        <p:tgtEl>
                                          <p:spTgt spid="105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43"/>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Disjoint Constraint</a:t>
            </a:r>
            <a:endParaRPr/>
          </a:p>
        </p:txBody>
      </p:sp>
      <p:sp>
        <p:nvSpPr>
          <p:cNvPr id="1062" name="Google Shape;1062;p43"/>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It specifies that the </a:t>
            </a:r>
            <a:r>
              <a:rPr b="1" lang="en-US">
                <a:solidFill>
                  <a:schemeClr val="accent6"/>
                </a:solidFill>
              </a:rPr>
              <a:t>entity of a super class can belong to only one lower-level entity set</a:t>
            </a:r>
            <a:r>
              <a:rPr lang="en-US"/>
              <a:t> (sub class).</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Specified by ‘</a:t>
            </a:r>
            <a:r>
              <a:rPr b="1" lang="en-US">
                <a:solidFill>
                  <a:schemeClr val="accent6"/>
                </a:solidFill>
              </a:rPr>
              <a:t>d</a:t>
            </a:r>
            <a:r>
              <a:rPr lang="en-US"/>
              <a:t>’ or by writing </a:t>
            </a:r>
            <a:r>
              <a:rPr b="1" lang="en-US">
                <a:solidFill>
                  <a:schemeClr val="accent6"/>
                </a:solidFill>
              </a:rPr>
              <a:t>disjoint</a:t>
            </a:r>
            <a:r>
              <a:rPr lang="en-US"/>
              <a:t> near to the ISA triangle.</a:t>
            </a:r>
            <a:endParaRPr/>
          </a:p>
          <a:p>
            <a:pPr indent="0" lvl="0" marL="0" rtl="0" algn="just">
              <a:lnSpc>
                <a:spcPct val="90000"/>
              </a:lnSpc>
              <a:spcBef>
                <a:spcPts val="1000"/>
              </a:spcBef>
              <a:spcAft>
                <a:spcPts val="0"/>
              </a:spcAft>
              <a:buSzPts val="2400"/>
              <a:buNone/>
            </a:pPr>
            <a:r>
              <a:t/>
            </a:r>
            <a:endParaRPr/>
          </a:p>
        </p:txBody>
      </p:sp>
      <p:sp>
        <p:nvSpPr>
          <p:cNvPr id="1063" name="Google Shape;1063;p43"/>
          <p:cNvSpPr/>
          <p:nvPr/>
        </p:nvSpPr>
        <p:spPr>
          <a:xfrm>
            <a:off x="2749928" y="211003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Cricketer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(Super class)</a:t>
            </a:r>
            <a:endParaRPr/>
          </a:p>
        </p:txBody>
      </p:sp>
      <p:cxnSp>
        <p:nvCxnSpPr>
          <p:cNvPr id="1064" name="Google Shape;1064;p43"/>
          <p:cNvCxnSpPr>
            <a:stCxn id="1063" idx="2"/>
          </p:cNvCxnSpPr>
          <p:nvPr/>
        </p:nvCxnSpPr>
        <p:spPr>
          <a:xfrm>
            <a:off x="3664328" y="2948230"/>
            <a:ext cx="0" cy="228600"/>
          </a:xfrm>
          <a:prstGeom prst="straightConnector1">
            <a:avLst/>
          </a:prstGeom>
          <a:noFill/>
          <a:ln cap="flat" cmpd="sng" w="28575">
            <a:solidFill>
              <a:schemeClr val="accent6"/>
            </a:solidFill>
            <a:prstDash val="solid"/>
            <a:miter lim="800000"/>
            <a:headEnd len="sm" w="sm" type="none"/>
            <a:tailEnd len="sm" w="sm" type="none"/>
          </a:ln>
        </p:spPr>
      </p:cxnSp>
      <p:cxnSp>
        <p:nvCxnSpPr>
          <p:cNvPr id="1065" name="Google Shape;1065;p43"/>
          <p:cNvCxnSpPr/>
          <p:nvPr/>
        </p:nvCxnSpPr>
        <p:spPr>
          <a:xfrm>
            <a:off x="1403569" y="3176830"/>
            <a:ext cx="4517136" cy="0"/>
          </a:xfrm>
          <a:prstGeom prst="straightConnector1">
            <a:avLst/>
          </a:prstGeom>
          <a:noFill/>
          <a:ln cap="flat" cmpd="sng" w="28575">
            <a:solidFill>
              <a:schemeClr val="accent6"/>
            </a:solidFill>
            <a:prstDash val="solid"/>
            <a:miter lim="800000"/>
            <a:headEnd len="sm" w="sm" type="none"/>
            <a:tailEnd len="sm" w="sm" type="none"/>
          </a:ln>
        </p:spPr>
      </p:cxnSp>
      <p:cxnSp>
        <p:nvCxnSpPr>
          <p:cNvPr id="1066" name="Google Shape;1066;p43"/>
          <p:cNvCxnSpPr/>
          <p:nvPr/>
        </p:nvCxnSpPr>
        <p:spPr>
          <a:xfrm>
            <a:off x="1416428" y="3184450"/>
            <a:ext cx="0" cy="228600"/>
          </a:xfrm>
          <a:prstGeom prst="straightConnector1">
            <a:avLst/>
          </a:prstGeom>
          <a:noFill/>
          <a:ln cap="flat" cmpd="sng" w="28575">
            <a:solidFill>
              <a:schemeClr val="accent6"/>
            </a:solidFill>
            <a:prstDash val="solid"/>
            <a:miter lim="800000"/>
            <a:headEnd len="sm" w="sm" type="none"/>
            <a:tailEnd len="sm" w="sm" type="none"/>
          </a:ln>
        </p:spPr>
      </p:cxnSp>
      <p:sp>
        <p:nvSpPr>
          <p:cNvPr id="1067" name="Google Shape;1067;p43"/>
          <p:cNvSpPr/>
          <p:nvPr/>
        </p:nvSpPr>
        <p:spPr>
          <a:xfrm>
            <a:off x="502028" y="339908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Batsman</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sp>
        <p:nvSpPr>
          <p:cNvPr id="1068" name="Google Shape;1068;p43"/>
          <p:cNvSpPr/>
          <p:nvPr/>
        </p:nvSpPr>
        <p:spPr>
          <a:xfrm>
            <a:off x="4997828" y="3411072"/>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Bowler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cxnSp>
        <p:nvCxnSpPr>
          <p:cNvPr id="1069" name="Google Shape;1069;p43"/>
          <p:cNvCxnSpPr/>
          <p:nvPr/>
        </p:nvCxnSpPr>
        <p:spPr>
          <a:xfrm>
            <a:off x="5912228" y="3178213"/>
            <a:ext cx="0" cy="228600"/>
          </a:xfrm>
          <a:prstGeom prst="straightConnector1">
            <a:avLst/>
          </a:prstGeom>
          <a:noFill/>
          <a:ln cap="flat" cmpd="sng" w="28575">
            <a:solidFill>
              <a:schemeClr val="accent6"/>
            </a:solidFill>
            <a:prstDash val="solid"/>
            <a:miter lim="800000"/>
            <a:headEnd len="sm" w="sm" type="none"/>
            <a:tailEnd len="sm" w="sm" type="none"/>
          </a:ln>
        </p:spPr>
      </p:cxnSp>
      <p:pic>
        <p:nvPicPr>
          <p:cNvPr descr="https://hindi.sportzwiki.com/wp-content/uploads/2016/08/Gautam-Gambhir3.jpg" id="1070" name="Google Shape;1070;p43"/>
          <p:cNvPicPr preferRelativeResize="0"/>
          <p:nvPr/>
        </p:nvPicPr>
        <p:blipFill rotWithShape="1">
          <a:blip r:embed="rId3">
            <a:alphaModFix/>
          </a:blip>
          <a:srcRect b="0" l="0" r="10138" t="0"/>
          <a:stretch/>
        </p:blipFill>
        <p:spPr>
          <a:xfrm>
            <a:off x="730628" y="4536439"/>
            <a:ext cx="1371600" cy="1371600"/>
          </a:xfrm>
          <a:prstGeom prst="rect">
            <a:avLst/>
          </a:prstGeom>
          <a:noFill/>
          <a:ln>
            <a:noFill/>
          </a:ln>
        </p:spPr>
      </p:pic>
      <p:pic>
        <p:nvPicPr>
          <p:cNvPr descr="Related image" id="1071" name="Google Shape;1071;p43"/>
          <p:cNvPicPr preferRelativeResize="0"/>
          <p:nvPr/>
        </p:nvPicPr>
        <p:blipFill rotWithShape="1">
          <a:blip r:embed="rId4">
            <a:alphaModFix/>
          </a:blip>
          <a:srcRect b="0" l="21164" r="9438" t="0"/>
          <a:stretch/>
        </p:blipFill>
        <p:spPr>
          <a:xfrm>
            <a:off x="5226428" y="4536439"/>
            <a:ext cx="1371600" cy="1371600"/>
          </a:xfrm>
          <a:prstGeom prst="rect">
            <a:avLst/>
          </a:prstGeom>
          <a:noFill/>
          <a:ln>
            <a:noFill/>
          </a:ln>
        </p:spPr>
      </p:pic>
      <p:sp>
        <p:nvSpPr>
          <p:cNvPr id="1072" name="Google Shape;1072;p43"/>
          <p:cNvSpPr txBox="1"/>
          <p:nvPr/>
        </p:nvSpPr>
        <p:spPr>
          <a:xfrm>
            <a:off x="730627" y="6004633"/>
            <a:ext cx="7539313" cy="457200"/>
          </a:xfrm>
          <a:prstGeom prst="rect">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chemeClr val="dk1"/>
                </a:solidFill>
                <a:latin typeface="Roboto Condensed"/>
                <a:ea typeface="Roboto Condensed"/>
                <a:cs typeface="Roboto Condensed"/>
                <a:sym typeface="Roboto Condensed"/>
              </a:rPr>
              <a:t>All the players are associated with only one sub class either (Batsman or Bowler).</a:t>
            </a:r>
            <a:endParaRPr/>
          </a:p>
        </p:txBody>
      </p:sp>
      <p:sp>
        <p:nvSpPr>
          <p:cNvPr id="1073" name="Google Shape;1073;p43"/>
          <p:cNvSpPr/>
          <p:nvPr/>
        </p:nvSpPr>
        <p:spPr>
          <a:xfrm>
            <a:off x="8892977" y="1743634"/>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Employee</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(Super class)</a:t>
            </a:r>
            <a:endParaRPr/>
          </a:p>
        </p:txBody>
      </p:sp>
      <p:cxnSp>
        <p:nvCxnSpPr>
          <p:cNvPr id="1074" name="Google Shape;1074;p43"/>
          <p:cNvCxnSpPr/>
          <p:nvPr/>
        </p:nvCxnSpPr>
        <p:spPr>
          <a:xfrm>
            <a:off x="9809618" y="2578092"/>
            <a:ext cx="0" cy="1005840"/>
          </a:xfrm>
          <a:prstGeom prst="straightConnector1">
            <a:avLst/>
          </a:prstGeom>
          <a:noFill/>
          <a:ln cap="flat" cmpd="sng" w="28575">
            <a:solidFill>
              <a:schemeClr val="accent4"/>
            </a:solidFill>
            <a:prstDash val="solid"/>
            <a:miter lim="800000"/>
            <a:headEnd len="sm" w="sm" type="none"/>
            <a:tailEnd len="sm" w="sm" type="none"/>
          </a:ln>
        </p:spPr>
      </p:cxnSp>
      <p:cxnSp>
        <p:nvCxnSpPr>
          <p:cNvPr id="1075" name="Google Shape;1075;p43"/>
          <p:cNvCxnSpPr>
            <a:stCxn id="1076" idx="1"/>
          </p:cNvCxnSpPr>
          <p:nvPr/>
        </p:nvCxnSpPr>
        <p:spPr>
          <a:xfrm flipH="1">
            <a:off x="8590568" y="4013522"/>
            <a:ext cx="895200" cy="872700"/>
          </a:xfrm>
          <a:prstGeom prst="straightConnector1">
            <a:avLst/>
          </a:prstGeom>
          <a:noFill/>
          <a:ln cap="flat" cmpd="sng" w="28575">
            <a:solidFill>
              <a:schemeClr val="accent4"/>
            </a:solidFill>
            <a:prstDash val="solid"/>
            <a:miter lim="800000"/>
            <a:headEnd len="sm" w="sm" type="none"/>
            <a:tailEnd len="sm" w="sm" type="none"/>
          </a:ln>
        </p:spPr>
      </p:cxnSp>
      <p:sp>
        <p:nvSpPr>
          <p:cNvPr id="1077" name="Google Shape;1077;p43"/>
          <p:cNvSpPr/>
          <p:nvPr/>
        </p:nvSpPr>
        <p:spPr>
          <a:xfrm>
            <a:off x="765696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Full-time</a:t>
            </a:r>
            <a:endParaRPr sz="1800">
              <a:solidFill>
                <a:schemeClr val="dk1"/>
              </a:solidFill>
              <a:latin typeface="Roboto Condensed"/>
              <a:ea typeface="Roboto Condensed"/>
              <a:cs typeface="Roboto Condensed"/>
              <a:sym typeface="Roboto Condensed"/>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sp>
        <p:nvSpPr>
          <p:cNvPr id="1078" name="Google Shape;1078;p43"/>
          <p:cNvSpPr/>
          <p:nvPr/>
        </p:nvSpPr>
        <p:spPr>
          <a:xfrm>
            <a:off x="1022871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Part-time</a:t>
            </a:r>
            <a:endParaRPr sz="1800">
              <a:solidFill>
                <a:schemeClr val="dk1"/>
              </a:solidFill>
              <a:latin typeface="Roboto Condensed"/>
              <a:ea typeface="Roboto Condensed"/>
              <a:cs typeface="Roboto Condensed"/>
              <a:sym typeface="Roboto Condensed"/>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cxnSp>
        <p:nvCxnSpPr>
          <p:cNvPr id="1079" name="Google Shape;1079;p43"/>
          <p:cNvCxnSpPr>
            <a:stCxn id="1076" idx="3"/>
            <a:endCxn id="1078" idx="0"/>
          </p:cNvCxnSpPr>
          <p:nvPr/>
        </p:nvCxnSpPr>
        <p:spPr>
          <a:xfrm>
            <a:off x="10133468" y="4013522"/>
            <a:ext cx="1009800" cy="872700"/>
          </a:xfrm>
          <a:prstGeom prst="straightConnector1">
            <a:avLst/>
          </a:prstGeom>
          <a:noFill/>
          <a:ln cap="flat" cmpd="sng" w="28575">
            <a:solidFill>
              <a:schemeClr val="accent4"/>
            </a:solidFill>
            <a:prstDash val="solid"/>
            <a:miter lim="800000"/>
            <a:headEnd len="sm" w="sm" type="none"/>
            <a:tailEnd len="sm" w="sm" type="none"/>
          </a:ln>
        </p:spPr>
      </p:cxnSp>
      <p:sp>
        <p:nvSpPr>
          <p:cNvPr id="1076" name="Google Shape;1076;p43"/>
          <p:cNvSpPr/>
          <p:nvPr/>
        </p:nvSpPr>
        <p:spPr>
          <a:xfrm>
            <a:off x="9161918" y="3607444"/>
            <a:ext cx="1295400" cy="812156"/>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sp>
        <p:nvSpPr>
          <p:cNvPr id="1080" name="Google Shape;1080;p43"/>
          <p:cNvSpPr txBox="1"/>
          <p:nvPr/>
        </p:nvSpPr>
        <p:spPr>
          <a:xfrm flipH="1" rot="-5400000">
            <a:off x="9612702" y="2903374"/>
            <a:ext cx="8229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Roboto Condensed"/>
                <a:ea typeface="Roboto Condensed"/>
                <a:cs typeface="Roboto Condensed"/>
                <a:sym typeface="Roboto Condensed"/>
              </a:rPr>
              <a:t>Disjoint</a:t>
            </a:r>
            <a:endParaRPr sz="1800">
              <a:solidFill>
                <a:schemeClr val="dk1"/>
              </a:solidFill>
              <a:latin typeface="Roboto Condensed"/>
              <a:ea typeface="Roboto Condensed"/>
              <a:cs typeface="Roboto Condensed"/>
              <a:sym typeface="Roboto Condensed"/>
            </a:endParaRPr>
          </a:p>
        </p:txBody>
      </p:sp>
      <p:cxnSp>
        <p:nvCxnSpPr>
          <p:cNvPr id="1081" name="Google Shape;1081;p43"/>
          <p:cNvCxnSpPr/>
          <p:nvPr/>
        </p:nvCxnSpPr>
        <p:spPr>
          <a:xfrm flipH="1">
            <a:off x="7233932" y="2110030"/>
            <a:ext cx="13447" cy="3798009"/>
          </a:xfrm>
          <a:prstGeom prst="straightConnector1">
            <a:avLst/>
          </a:prstGeom>
          <a:noFill/>
          <a:ln cap="flat" cmpd="sng" w="38100">
            <a:solidFill>
              <a:schemeClr val="accent1"/>
            </a:solidFill>
            <a:prstDash val="solid"/>
            <a:miter lim="800000"/>
            <a:headEnd len="sm" w="sm" type="none"/>
            <a:tailEnd len="sm" w="sm" type="none"/>
          </a:ln>
        </p:spPr>
      </p:cxnSp>
      <p:pic>
        <p:nvPicPr>
          <p:cNvPr descr="https://hindi.sportzwiki.com/wp-content/uploads/2016/08/Gautam-Gambhir3.jpg" id="1082" name="Google Shape;1082;p43"/>
          <p:cNvPicPr preferRelativeResize="0"/>
          <p:nvPr/>
        </p:nvPicPr>
        <p:blipFill rotWithShape="1">
          <a:blip r:embed="rId5">
            <a:alphaModFix/>
          </a:blip>
          <a:srcRect b="0" l="0" r="10138" t="0"/>
          <a:stretch/>
        </p:blipFill>
        <p:spPr>
          <a:xfrm>
            <a:off x="604591" y="2110030"/>
            <a:ext cx="914400" cy="914400"/>
          </a:xfrm>
          <a:prstGeom prst="rect">
            <a:avLst/>
          </a:prstGeom>
          <a:noFill/>
          <a:ln>
            <a:noFill/>
          </a:ln>
        </p:spPr>
      </p:pic>
      <p:pic>
        <p:nvPicPr>
          <p:cNvPr descr="Related image" id="1083" name="Google Shape;1083;p43"/>
          <p:cNvPicPr preferRelativeResize="0"/>
          <p:nvPr/>
        </p:nvPicPr>
        <p:blipFill rotWithShape="1">
          <a:blip r:embed="rId4">
            <a:alphaModFix/>
          </a:blip>
          <a:srcRect b="0" l="21164" r="9438" t="0"/>
          <a:stretch/>
        </p:blipFill>
        <p:spPr>
          <a:xfrm>
            <a:off x="1631876" y="2110030"/>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
                                            <p:txEl>
                                              <p:pRg end="0" st="0"/>
                                            </p:txEl>
                                          </p:spTgt>
                                        </p:tgtEl>
                                        <p:attrNameLst>
                                          <p:attrName>style.visibility</p:attrName>
                                        </p:attrNameLst>
                                      </p:cBhvr>
                                      <p:to>
                                        <p:strVal val="visible"/>
                                      </p:to>
                                    </p:set>
                                    <p:animEffect filter="fade" transition="in">
                                      <p:cBhvr>
                                        <p:cTn dur="500"/>
                                        <p:tgtEl>
                                          <p:spTgt spid="10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
                                            <p:txEl>
                                              <p:pRg end="1" st="1"/>
                                            </p:txEl>
                                          </p:spTgt>
                                        </p:tgtEl>
                                        <p:attrNameLst>
                                          <p:attrName>style.visibility</p:attrName>
                                        </p:attrNameLst>
                                      </p:cBhvr>
                                      <p:to>
                                        <p:strVal val="visible"/>
                                      </p:to>
                                    </p:set>
                                    <p:animEffect filter="fade" transition="in">
                                      <p:cBhvr>
                                        <p:cTn dur="500"/>
                                        <p:tgtEl>
                                          <p:spTgt spid="10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2">
                                            <p:txEl>
                                              <p:pRg end="2" st="2"/>
                                            </p:txEl>
                                          </p:spTgt>
                                        </p:tgtEl>
                                        <p:attrNameLst>
                                          <p:attrName>style.visibility</p:attrName>
                                        </p:attrNameLst>
                                      </p:cBhvr>
                                      <p:to>
                                        <p:strVal val="visible"/>
                                      </p:to>
                                    </p:set>
                                    <p:animEffect filter="fade" transition="in">
                                      <p:cBhvr>
                                        <p:cTn dur="500"/>
                                        <p:tgtEl>
                                          <p:spTgt spid="10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500"/>
                                        <p:tgtEl>
                                          <p:spTgt spid="10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par>
                                <p:cTn fill="hold" nodeType="with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par>
                                <p:cTn fill="hold" nodeType="with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par>
                                <p:cTn fill="hold" nodeType="withEffect" presetClass="entr" presetID="10" presetSubtype="0">
                                  <p:stCondLst>
                                    <p:cond delay="0"/>
                                  </p:stCondLst>
                                  <p:childTnLst>
                                    <p:set>
                                      <p:cBhvr>
                                        <p:cTn dur="1" fill="hold">
                                          <p:stCondLst>
                                            <p:cond delay="0"/>
                                          </p:stCondLst>
                                        </p:cTn>
                                        <p:tgtEl>
                                          <p:spTgt spid="1067"/>
                                        </p:tgtEl>
                                        <p:attrNameLst>
                                          <p:attrName>style.visibility</p:attrName>
                                        </p:attrNameLst>
                                      </p:cBhvr>
                                      <p:to>
                                        <p:strVal val="visible"/>
                                      </p:to>
                                    </p:set>
                                    <p:animEffect filter="fade" transition="in">
                                      <p:cBhvr>
                                        <p:cTn dur="500"/>
                                        <p:tgtEl>
                                          <p:spTgt spid="1067"/>
                                        </p:tgtEl>
                                      </p:cBhvr>
                                    </p:animEffect>
                                  </p:childTnLst>
                                </p:cTn>
                              </p:par>
                              <p:par>
                                <p:cTn fill="hold" nodeType="with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500"/>
                                        <p:tgtEl>
                                          <p:spTgt spid="1068"/>
                                        </p:tgtEl>
                                      </p:cBhvr>
                                    </p:animEffect>
                                  </p:childTnLst>
                                </p:cTn>
                              </p:par>
                              <p:par>
                                <p:cTn fill="hold" nodeType="with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500"/>
                                        <p:tgtEl>
                                          <p:spTgt spid="10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2"/>
                                        </p:tgtEl>
                                        <p:attrNameLst>
                                          <p:attrName>style.visibility</p:attrName>
                                        </p:attrNameLst>
                                      </p:cBhvr>
                                      <p:to>
                                        <p:strVal val="visible"/>
                                      </p:to>
                                    </p:set>
                                    <p:animEffect filter="fade" transition="in">
                                      <p:cBhvr>
                                        <p:cTn dur="500"/>
                                        <p:tgtEl>
                                          <p:spTgt spid="1082"/>
                                        </p:tgtEl>
                                      </p:cBhvr>
                                    </p:animEffect>
                                  </p:childTnLst>
                                </p:cTn>
                              </p:par>
                              <p:par>
                                <p:cTn fill="hold" nodeType="withEffect" presetClass="entr" presetID="10" presetSubtype="0">
                                  <p:stCondLst>
                                    <p:cond delay="0"/>
                                  </p:stCondLst>
                                  <p:childTnLst>
                                    <p:set>
                                      <p:cBhvr>
                                        <p:cTn dur="1" fill="hold">
                                          <p:stCondLst>
                                            <p:cond delay="0"/>
                                          </p:stCondLst>
                                        </p:cTn>
                                        <p:tgtEl>
                                          <p:spTgt spid="1083"/>
                                        </p:tgtEl>
                                        <p:attrNameLst>
                                          <p:attrName>style.visibility</p:attrName>
                                        </p:attrNameLst>
                                      </p:cBhvr>
                                      <p:to>
                                        <p:strVal val="visible"/>
                                      </p:to>
                                    </p:set>
                                    <p:animEffect filter="fade" transition="in">
                                      <p:cBhvr>
                                        <p:cTn dur="500"/>
                                        <p:tgtEl>
                                          <p:spTgt spid="10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500"/>
                                        <p:tgtEl>
                                          <p:spTgt spid="1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500"/>
                                        <p:tgtEl>
                                          <p:spTgt spid="1077"/>
                                        </p:tgtEl>
                                      </p:cBhvr>
                                    </p:animEffect>
                                  </p:childTnLst>
                                </p:cTn>
                              </p:par>
                              <p:par>
                                <p:cTn fill="hold" nodeType="with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500"/>
                                        <p:tgtEl>
                                          <p:spTgt spid="10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500"/>
                                        <p:tgtEl>
                                          <p:spTgt spid="1076"/>
                                        </p:tgtEl>
                                      </p:cBhvr>
                                    </p:animEffect>
                                  </p:childTnLst>
                                </p:cTn>
                              </p:par>
                              <p:par>
                                <p:cTn fill="hold" nodeType="with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500"/>
                                        <p:tgtEl>
                                          <p:spTgt spid="1074"/>
                                        </p:tgtEl>
                                      </p:cBhvr>
                                    </p:animEffect>
                                  </p:childTnLst>
                                </p:cTn>
                              </p:par>
                              <p:par>
                                <p:cTn fill="hold" nodeType="with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par>
                                <p:cTn fill="hold" nodeType="with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500"/>
                                        <p:tgtEl>
                                          <p:spTgt spid="10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44"/>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Non-disjoint (Overlapping) Constraint</a:t>
            </a:r>
            <a:endParaRPr/>
          </a:p>
        </p:txBody>
      </p:sp>
      <p:sp>
        <p:nvSpPr>
          <p:cNvPr id="1089" name="Google Shape;1089;p44"/>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It specifies that an </a:t>
            </a:r>
            <a:r>
              <a:rPr b="1" lang="en-US">
                <a:solidFill>
                  <a:schemeClr val="accent6"/>
                </a:solidFill>
              </a:rPr>
              <a:t>entity of a super class can belong to more than one lower-level entity </a:t>
            </a:r>
            <a:r>
              <a:rPr lang="en-US"/>
              <a:t>set (sub class).</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Specified by ‘</a:t>
            </a:r>
            <a:r>
              <a:rPr b="1" lang="en-US">
                <a:solidFill>
                  <a:schemeClr val="accent6"/>
                </a:solidFill>
              </a:rPr>
              <a:t>o</a:t>
            </a:r>
            <a:r>
              <a:rPr lang="en-US"/>
              <a:t>’ or by writing </a:t>
            </a:r>
            <a:r>
              <a:rPr b="1" lang="en-US">
                <a:solidFill>
                  <a:schemeClr val="accent6"/>
                </a:solidFill>
              </a:rPr>
              <a:t>overlapping</a:t>
            </a:r>
            <a:r>
              <a:rPr lang="en-US"/>
              <a:t> near to the ISA triangle.</a:t>
            </a:r>
            <a:endParaRPr/>
          </a:p>
          <a:p>
            <a:pPr indent="0" lvl="0" marL="0" rtl="0" algn="just">
              <a:lnSpc>
                <a:spcPct val="90000"/>
              </a:lnSpc>
              <a:spcBef>
                <a:spcPts val="1000"/>
              </a:spcBef>
              <a:spcAft>
                <a:spcPts val="0"/>
              </a:spcAft>
              <a:buSzPts val="2400"/>
              <a:buNone/>
            </a:pPr>
            <a:r>
              <a:t/>
            </a:r>
            <a:endParaRPr/>
          </a:p>
        </p:txBody>
      </p:sp>
      <p:sp>
        <p:nvSpPr>
          <p:cNvPr id="1090" name="Google Shape;1090;p44"/>
          <p:cNvSpPr/>
          <p:nvPr/>
        </p:nvSpPr>
        <p:spPr>
          <a:xfrm>
            <a:off x="2749928" y="211003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Cricketer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(Super class)</a:t>
            </a:r>
            <a:endParaRPr/>
          </a:p>
        </p:txBody>
      </p:sp>
      <p:cxnSp>
        <p:nvCxnSpPr>
          <p:cNvPr id="1091" name="Google Shape;1091;p44"/>
          <p:cNvCxnSpPr>
            <a:stCxn id="1090" idx="2"/>
          </p:cNvCxnSpPr>
          <p:nvPr/>
        </p:nvCxnSpPr>
        <p:spPr>
          <a:xfrm>
            <a:off x="3664328" y="2948230"/>
            <a:ext cx="0" cy="228600"/>
          </a:xfrm>
          <a:prstGeom prst="straightConnector1">
            <a:avLst/>
          </a:prstGeom>
          <a:noFill/>
          <a:ln cap="flat" cmpd="sng" w="28575">
            <a:solidFill>
              <a:schemeClr val="accent6"/>
            </a:solidFill>
            <a:prstDash val="solid"/>
            <a:miter lim="800000"/>
            <a:headEnd len="sm" w="sm" type="none"/>
            <a:tailEnd len="sm" w="sm" type="none"/>
          </a:ln>
        </p:spPr>
      </p:cxnSp>
      <p:cxnSp>
        <p:nvCxnSpPr>
          <p:cNvPr id="1092" name="Google Shape;1092;p44"/>
          <p:cNvCxnSpPr/>
          <p:nvPr/>
        </p:nvCxnSpPr>
        <p:spPr>
          <a:xfrm>
            <a:off x="1403569" y="3176830"/>
            <a:ext cx="4517136" cy="0"/>
          </a:xfrm>
          <a:prstGeom prst="straightConnector1">
            <a:avLst/>
          </a:prstGeom>
          <a:noFill/>
          <a:ln cap="flat" cmpd="sng" w="28575">
            <a:solidFill>
              <a:schemeClr val="accent6"/>
            </a:solidFill>
            <a:prstDash val="solid"/>
            <a:miter lim="800000"/>
            <a:headEnd len="sm" w="sm" type="none"/>
            <a:tailEnd len="sm" w="sm" type="none"/>
          </a:ln>
        </p:spPr>
      </p:cxnSp>
      <p:cxnSp>
        <p:nvCxnSpPr>
          <p:cNvPr id="1093" name="Google Shape;1093;p44"/>
          <p:cNvCxnSpPr/>
          <p:nvPr/>
        </p:nvCxnSpPr>
        <p:spPr>
          <a:xfrm>
            <a:off x="1416428" y="3184450"/>
            <a:ext cx="0" cy="228600"/>
          </a:xfrm>
          <a:prstGeom prst="straightConnector1">
            <a:avLst/>
          </a:prstGeom>
          <a:noFill/>
          <a:ln cap="flat" cmpd="sng" w="28575">
            <a:solidFill>
              <a:schemeClr val="accent6"/>
            </a:solidFill>
            <a:prstDash val="solid"/>
            <a:miter lim="800000"/>
            <a:headEnd len="sm" w="sm" type="none"/>
            <a:tailEnd len="sm" w="sm" type="none"/>
          </a:ln>
        </p:spPr>
      </p:cxnSp>
      <p:sp>
        <p:nvSpPr>
          <p:cNvPr id="1094" name="Google Shape;1094;p44"/>
          <p:cNvSpPr/>
          <p:nvPr/>
        </p:nvSpPr>
        <p:spPr>
          <a:xfrm>
            <a:off x="502028" y="339908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Batsman</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sp>
        <p:nvSpPr>
          <p:cNvPr id="1095" name="Google Shape;1095;p44"/>
          <p:cNvSpPr/>
          <p:nvPr/>
        </p:nvSpPr>
        <p:spPr>
          <a:xfrm>
            <a:off x="4997828" y="3411072"/>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Bowler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cxnSp>
        <p:nvCxnSpPr>
          <p:cNvPr id="1096" name="Google Shape;1096;p44"/>
          <p:cNvCxnSpPr/>
          <p:nvPr/>
        </p:nvCxnSpPr>
        <p:spPr>
          <a:xfrm>
            <a:off x="5912228" y="3178213"/>
            <a:ext cx="0" cy="228600"/>
          </a:xfrm>
          <a:prstGeom prst="straightConnector1">
            <a:avLst/>
          </a:prstGeom>
          <a:noFill/>
          <a:ln cap="flat" cmpd="sng" w="28575">
            <a:solidFill>
              <a:schemeClr val="accent6"/>
            </a:solidFill>
            <a:prstDash val="solid"/>
            <a:miter lim="800000"/>
            <a:headEnd len="sm" w="sm" type="none"/>
            <a:tailEnd len="sm" w="sm" type="none"/>
          </a:ln>
        </p:spPr>
      </p:cxnSp>
      <p:pic>
        <p:nvPicPr>
          <p:cNvPr descr="https://hindi.sportzwiki.com/wp-content/uploads/2016/08/Gautam-Gambhir3.jpg" id="1097" name="Google Shape;1097;p44"/>
          <p:cNvPicPr preferRelativeResize="0"/>
          <p:nvPr/>
        </p:nvPicPr>
        <p:blipFill rotWithShape="1">
          <a:blip r:embed="rId3">
            <a:alphaModFix/>
          </a:blip>
          <a:srcRect b="0" l="0" r="10138" t="0"/>
          <a:stretch/>
        </p:blipFill>
        <p:spPr>
          <a:xfrm>
            <a:off x="730628" y="4536439"/>
            <a:ext cx="1371600" cy="1371600"/>
          </a:xfrm>
          <a:prstGeom prst="rect">
            <a:avLst/>
          </a:prstGeom>
          <a:noFill/>
          <a:ln>
            <a:noFill/>
          </a:ln>
        </p:spPr>
      </p:pic>
      <p:pic>
        <p:nvPicPr>
          <p:cNvPr descr="Related image" id="1098" name="Google Shape;1098;p44"/>
          <p:cNvPicPr preferRelativeResize="0"/>
          <p:nvPr/>
        </p:nvPicPr>
        <p:blipFill rotWithShape="1">
          <a:blip r:embed="rId4">
            <a:alphaModFix/>
          </a:blip>
          <a:srcRect b="0" l="21164" r="9438" t="0"/>
          <a:stretch/>
        </p:blipFill>
        <p:spPr>
          <a:xfrm>
            <a:off x="5226428" y="4536439"/>
            <a:ext cx="1371600" cy="1371600"/>
          </a:xfrm>
          <a:prstGeom prst="rect">
            <a:avLst/>
          </a:prstGeom>
          <a:noFill/>
          <a:ln>
            <a:noFill/>
          </a:ln>
        </p:spPr>
      </p:pic>
      <p:sp>
        <p:nvSpPr>
          <p:cNvPr id="1099" name="Google Shape;1099;p44"/>
          <p:cNvSpPr txBox="1"/>
          <p:nvPr/>
        </p:nvSpPr>
        <p:spPr>
          <a:xfrm>
            <a:off x="730627" y="6004633"/>
            <a:ext cx="6492240" cy="457200"/>
          </a:xfrm>
          <a:prstGeom prst="rect">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chemeClr val="dk1"/>
                </a:solidFill>
                <a:latin typeface="Roboto Condensed"/>
                <a:ea typeface="Roboto Condensed"/>
                <a:cs typeface="Roboto Condensed"/>
                <a:sym typeface="Roboto Condensed"/>
              </a:rPr>
              <a:t>One player (Yuvraj singh) is associated with more than one sub class.</a:t>
            </a:r>
            <a:endParaRPr/>
          </a:p>
        </p:txBody>
      </p:sp>
      <p:sp>
        <p:nvSpPr>
          <p:cNvPr id="1100" name="Google Shape;1100;p44"/>
          <p:cNvSpPr/>
          <p:nvPr/>
        </p:nvSpPr>
        <p:spPr>
          <a:xfrm>
            <a:off x="8892977" y="1743634"/>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Employee</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(Super class)</a:t>
            </a:r>
            <a:endParaRPr/>
          </a:p>
        </p:txBody>
      </p:sp>
      <p:cxnSp>
        <p:nvCxnSpPr>
          <p:cNvPr id="1101" name="Google Shape;1101;p44"/>
          <p:cNvCxnSpPr/>
          <p:nvPr/>
        </p:nvCxnSpPr>
        <p:spPr>
          <a:xfrm>
            <a:off x="9809618" y="2578092"/>
            <a:ext cx="0" cy="1005840"/>
          </a:xfrm>
          <a:prstGeom prst="straightConnector1">
            <a:avLst/>
          </a:prstGeom>
          <a:noFill/>
          <a:ln cap="flat" cmpd="sng" w="28575">
            <a:solidFill>
              <a:schemeClr val="accent4"/>
            </a:solidFill>
            <a:prstDash val="solid"/>
            <a:miter lim="800000"/>
            <a:headEnd len="sm" w="sm" type="none"/>
            <a:tailEnd len="sm" w="sm" type="none"/>
          </a:ln>
        </p:spPr>
      </p:cxnSp>
      <p:cxnSp>
        <p:nvCxnSpPr>
          <p:cNvPr id="1102" name="Google Shape;1102;p44"/>
          <p:cNvCxnSpPr>
            <a:stCxn id="1103" idx="1"/>
          </p:cNvCxnSpPr>
          <p:nvPr/>
        </p:nvCxnSpPr>
        <p:spPr>
          <a:xfrm flipH="1">
            <a:off x="8590568" y="4013522"/>
            <a:ext cx="895200" cy="872700"/>
          </a:xfrm>
          <a:prstGeom prst="straightConnector1">
            <a:avLst/>
          </a:prstGeom>
          <a:noFill/>
          <a:ln cap="flat" cmpd="sng" w="28575">
            <a:solidFill>
              <a:schemeClr val="accent4"/>
            </a:solidFill>
            <a:prstDash val="solid"/>
            <a:miter lim="800000"/>
            <a:headEnd len="sm" w="sm" type="none"/>
            <a:tailEnd len="sm" w="sm" type="none"/>
          </a:ln>
        </p:spPr>
      </p:cxnSp>
      <p:sp>
        <p:nvSpPr>
          <p:cNvPr id="1104" name="Google Shape;1104;p44"/>
          <p:cNvSpPr/>
          <p:nvPr/>
        </p:nvSpPr>
        <p:spPr>
          <a:xfrm>
            <a:off x="765696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Faculty</a:t>
            </a:r>
            <a:endParaRPr sz="1800">
              <a:solidFill>
                <a:schemeClr val="dk1"/>
              </a:solidFill>
              <a:latin typeface="Roboto Condensed"/>
              <a:ea typeface="Roboto Condensed"/>
              <a:cs typeface="Roboto Condensed"/>
              <a:sym typeface="Roboto Condensed"/>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sp>
        <p:nvSpPr>
          <p:cNvPr id="1105" name="Google Shape;1105;p44"/>
          <p:cNvSpPr/>
          <p:nvPr/>
        </p:nvSpPr>
        <p:spPr>
          <a:xfrm>
            <a:off x="1022871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Head</a:t>
            </a:r>
            <a:endParaRPr sz="1800">
              <a:solidFill>
                <a:schemeClr val="dk1"/>
              </a:solidFill>
              <a:latin typeface="Roboto Condensed"/>
              <a:ea typeface="Roboto Condensed"/>
              <a:cs typeface="Roboto Condensed"/>
              <a:sym typeface="Roboto Condensed"/>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cxnSp>
        <p:nvCxnSpPr>
          <p:cNvPr id="1106" name="Google Shape;1106;p44"/>
          <p:cNvCxnSpPr>
            <a:stCxn id="1103" idx="3"/>
            <a:endCxn id="1105" idx="0"/>
          </p:cNvCxnSpPr>
          <p:nvPr/>
        </p:nvCxnSpPr>
        <p:spPr>
          <a:xfrm>
            <a:off x="10133468" y="4013522"/>
            <a:ext cx="1009800" cy="872700"/>
          </a:xfrm>
          <a:prstGeom prst="straightConnector1">
            <a:avLst/>
          </a:prstGeom>
          <a:noFill/>
          <a:ln cap="flat" cmpd="sng" w="28575">
            <a:solidFill>
              <a:schemeClr val="accent4"/>
            </a:solidFill>
            <a:prstDash val="solid"/>
            <a:miter lim="800000"/>
            <a:headEnd len="sm" w="sm" type="none"/>
            <a:tailEnd len="sm" w="sm" type="none"/>
          </a:ln>
        </p:spPr>
      </p:cxnSp>
      <p:sp>
        <p:nvSpPr>
          <p:cNvPr id="1103" name="Google Shape;1103;p44"/>
          <p:cNvSpPr/>
          <p:nvPr/>
        </p:nvSpPr>
        <p:spPr>
          <a:xfrm>
            <a:off x="9161918" y="3607444"/>
            <a:ext cx="1295400" cy="812156"/>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sp>
        <p:nvSpPr>
          <p:cNvPr id="1107" name="Google Shape;1107;p44"/>
          <p:cNvSpPr txBox="1"/>
          <p:nvPr/>
        </p:nvSpPr>
        <p:spPr>
          <a:xfrm flipH="1" rot="-5400000">
            <a:off x="9612702" y="2959294"/>
            <a:ext cx="822960"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50">
                <a:solidFill>
                  <a:schemeClr val="dk1"/>
                </a:solidFill>
                <a:latin typeface="Roboto Condensed"/>
                <a:ea typeface="Roboto Condensed"/>
                <a:cs typeface="Roboto Condensed"/>
                <a:sym typeface="Roboto Condensed"/>
              </a:rPr>
              <a:t>Non-disjoint</a:t>
            </a:r>
            <a:endParaRPr sz="1050">
              <a:solidFill>
                <a:schemeClr val="dk1"/>
              </a:solidFill>
              <a:latin typeface="Roboto Condensed"/>
              <a:ea typeface="Roboto Condensed"/>
              <a:cs typeface="Roboto Condensed"/>
              <a:sym typeface="Roboto Condensed"/>
            </a:endParaRPr>
          </a:p>
        </p:txBody>
      </p:sp>
      <p:cxnSp>
        <p:nvCxnSpPr>
          <p:cNvPr id="1108" name="Google Shape;1108;p44"/>
          <p:cNvCxnSpPr/>
          <p:nvPr/>
        </p:nvCxnSpPr>
        <p:spPr>
          <a:xfrm flipH="1">
            <a:off x="7233932" y="2110030"/>
            <a:ext cx="13447" cy="3798009"/>
          </a:xfrm>
          <a:prstGeom prst="straightConnector1">
            <a:avLst/>
          </a:prstGeom>
          <a:noFill/>
          <a:ln cap="flat" cmpd="sng" w="38100">
            <a:solidFill>
              <a:schemeClr val="accent1"/>
            </a:solidFill>
            <a:prstDash val="solid"/>
            <a:miter lim="800000"/>
            <a:headEnd len="sm" w="sm" type="none"/>
            <a:tailEnd len="sm" w="sm" type="none"/>
          </a:ln>
        </p:spPr>
      </p:cxnSp>
      <p:pic>
        <p:nvPicPr>
          <p:cNvPr descr="Related image" id="1109" name="Google Shape;1109;p44"/>
          <p:cNvPicPr preferRelativeResize="0"/>
          <p:nvPr/>
        </p:nvPicPr>
        <p:blipFill rotWithShape="1">
          <a:blip r:embed="rId5">
            <a:alphaModFix/>
          </a:blip>
          <a:srcRect b="0" l="0" r="0" t="0"/>
          <a:stretch/>
        </p:blipFill>
        <p:spPr>
          <a:xfrm>
            <a:off x="2978528" y="4536439"/>
            <a:ext cx="1371600" cy="1371600"/>
          </a:xfrm>
          <a:prstGeom prst="rect">
            <a:avLst/>
          </a:prstGeom>
          <a:noFill/>
          <a:ln>
            <a:noFill/>
          </a:ln>
        </p:spPr>
      </p:pic>
      <p:cxnSp>
        <p:nvCxnSpPr>
          <p:cNvPr id="1110" name="Google Shape;1110;p44"/>
          <p:cNvCxnSpPr>
            <a:stCxn id="1109" idx="0"/>
          </p:cNvCxnSpPr>
          <p:nvPr/>
        </p:nvCxnSpPr>
        <p:spPr>
          <a:xfrm rot="10800000">
            <a:off x="2330828" y="3818239"/>
            <a:ext cx="1333500" cy="718200"/>
          </a:xfrm>
          <a:prstGeom prst="straightConnector1">
            <a:avLst/>
          </a:prstGeom>
          <a:noFill/>
          <a:ln cap="flat" cmpd="sng" w="28575">
            <a:solidFill>
              <a:srgbClr val="C00000"/>
            </a:solidFill>
            <a:prstDash val="solid"/>
            <a:miter lim="800000"/>
            <a:headEnd len="sm" w="sm" type="none"/>
            <a:tailEnd len="med" w="med" type="triangle"/>
          </a:ln>
        </p:spPr>
      </p:cxnSp>
      <p:cxnSp>
        <p:nvCxnSpPr>
          <p:cNvPr id="1111" name="Google Shape;1111;p44"/>
          <p:cNvCxnSpPr>
            <a:stCxn id="1109" idx="0"/>
          </p:cNvCxnSpPr>
          <p:nvPr/>
        </p:nvCxnSpPr>
        <p:spPr>
          <a:xfrm flipH="1" rot="10800000">
            <a:off x="3664328" y="3830239"/>
            <a:ext cx="1333500" cy="706200"/>
          </a:xfrm>
          <a:prstGeom prst="straightConnector1">
            <a:avLst/>
          </a:prstGeom>
          <a:noFill/>
          <a:ln cap="flat" cmpd="sng" w="28575">
            <a:solidFill>
              <a:srgbClr val="C00000"/>
            </a:solidFill>
            <a:prstDash val="solid"/>
            <a:miter lim="800000"/>
            <a:headEnd len="sm" w="sm" type="none"/>
            <a:tailEnd len="med" w="med" type="triangle"/>
          </a:ln>
        </p:spPr>
      </p:cxnSp>
      <p:pic>
        <p:nvPicPr>
          <p:cNvPr descr="Related image" id="1112" name="Google Shape;1112;p44"/>
          <p:cNvPicPr preferRelativeResize="0"/>
          <p:nvPr/>
        </p:nvPicPr>
        <p:blipFill rotWithShape="1">
          <a:blip r:embed="rId5">
            <a:alphaModFix/>
          </a:blip>
          <a:srcRect b="0" l="0" r="0" t="0"/>
          <a:stretch/>
        </p:blipFill>
        <p:spPr>
          <a:xfrm>
            <a:off x="4782380" y="2110030"/>
            <a:ext cx="914400" cy="914400"/>
          </a:xfrm>
          <a:prstGeom prst="rect">
            <a:avLst/>
          </a:prstGeom>
          <a:noFill/>
          <a:ln>
            <a:noFill/>
          </a:ln>
        </p:spPr>
      </p:pic>
      <p:pic>
        <p:nvPicPr>
          <p:cNvPr descr="https://hindi.sportzwiki.com/wp-content/uploads/2016/08/Gautam-Gambhir3.jpg" id="1113" name="Google Shape;1113;p44"/>
          <p:cNvPicPr preferRelativeResize="0"/>
          <p:nvPr/>
        </p:nvPicPr>
        <p:blipFill rotWithShape="1">
          <a:blip r:embed="rId6">
            <a:alphaModFix/>
          </a:blip>
          <a:srcRect b="0" l="0" r="10138" t="0"/>
          <a:stretch/>
        </p:blipFill>
        <p:spPr>
          <a:xfrm>
            <a:off x="604591" y="2110030"/>
            <a:ext cx="914400" cy="914400"/>
          </a:xfrm>
          <a:prstGeom prst="rect">
            <a:avLst/>
          </a:prstGeom>
          <a:noFill/>
          <a:ln>
            <a:noFill/>
          </a:ln>
        </p:spPr>
      </p:pic>
      <p:pic>
        <p:nvPicPr>
          <p:cNvPr descr="Related image" id="1114" name="Google Shape;1114;p44"/>
          <p:cNvPicPr preferRelativeResize="0"/>
          <p:nvPr/>
        </p:nvPicPr>
        <p:blipFill rotWithShape="1">
          <a:blip r:embed="rId4">
            <a:alphaModFix/>
          </a:blip>
          <a:srcRect b="0" l="21164" r="9438" t="0"/>
          <a:stretch/>
        </p:blipFill>
        <p:spPr>
          <a:xfrm>
            <a:off x="1631876" y="2110030"/>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9">
                                            <p:txEl>
                                              <p:pRg end="0" st="0"/>
                                            </p:txEl>
                                          </p:spTgt>
                                        </p:tgtEl>
                                        <p:attrNameLst>
                                          <p:attrName>style.visibility</p:attrName>
                                        </p:attrNameLst>
                                      </p:cBhvr>
                                      <p:to>
                                        <p:strVal val="visible"/>
                                      </p:to>
                                    </p:set>
                                    <p:animEffect filter="fade" transition="in">
                                      <p:cBhvr>
                                        <p:cTn dur="500"/>
                                        <p:tgtEl>
                                          <p:spTgt spid="10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9">
                                            <p:txEl>
                                              <p:pRg end="1" st="1"/>
                                            </p:txEl>
                                          </p:spTgt>
                                        </p:tgtEl>
                                        <p:attrNameLst>
                                          <p:attrName>style.visibility</p:attrName>
                                        </p:attrNameLst>
                                      </p:cBhvr>
                                      <p:to>
                                        <p:strVal val="visible"/>
                                      </p:to>
                                    </p:set>
                                    <p:animEffect filter="fade" transition="in">
                                      <p:cBhvr>
                                        <p:cTn dur="500"/>
                                        <p:tgtEl>
                                          <p:spTgt spid="10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9">
                                            <p:txEl>
                                              <p:pRg end="2" st="2"/>
                                            </p:txEl>
                                          </p:spTgt>
                                        </p:tgtEl>
                                        <p:attrNameLst>
                                          <p:attrName>style.visibility</p:attrName>
                                        </p:attrNameLst>
                                      </p:cBhvr>
                                      <p:to>
                                        <p:strVal val="visible"/>
                                      </p:to>
                                    </p:set>
                                    <p:animEffect filter="fade" transition="in">
                                      <p:cBhvr>
                                        <p:cTn dur="500"/>
                                        <p:tgtEl>
                                          <p:spTgt spid="10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500"/>
                                        <p:tgtEl>
                                          <p:spTgt spid="10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2"/>
                                        </p:tgtEl>
                                        <p:attrNameLst>
                                          <p:attrName>style.visibility</p:attrName>
                                        </p:attrNameLst>
                                      </p:cBhvr>
                                      <p:to>
                                        <p:strVal val="visible"/>
                                      </p:to>
                                    </p:set>
                                    <p:animEffect filter="fade" transition="in">
                                      <p:cBhvr>
                                        <p:cTn dur="500"/>
                                        <p:tgtEl>
                                          <p:spTgt spid="1092"/>
                                        </p:tgtEl>
                                      </p:cBhvr>
                                    </p:animEffect>
                                  </p:childTnLst>
                                </p:cTn>
                              </p:par>
                              <p:par>
                                <p:cTn fill="hold" nodeType="with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par>
                                <p:cTn fill="hold" nodeType="withEffect" presetClass="entr" presetID="10" presetSubtype="0">
                                  <p:stCondLst>
                                    <p:cond delay="0"/>
                                  </p:stCondLst>
                                  <p:childTnLst>
                                    <p:set>
                                      <p:cBhvr>
                                        <p:cTn dur="1" fill="hold">
                                          <p:stCondLst>
                                            <p:cond delay="0"/>
                                          </p:stCondLst>
                                        </p:cTn>
                                        <p:tgtEl>
                                          <p:spTgt spid="1093"/>
                                        </p:tgtEl>
                                        <p:attrNameLst>
                                          <p:attrName>style.visibility</p:attrName>
                                        </p:attrNameLst>
                                      </p:cBhvr>
                                      <p:to>
                                        <p:strVal val="visible"/>
                                      </p:to>
                                    </p:set>
                                    <p:animEffect filter="fade" transition="in">
                                      <p:cBhvr>
                                        <p:cTn dur="500"/>
                                        <p:tgtEl>
                                          <p:spTgt spid="1093"/>
                                        </p:tgtEl>
                                      </p:cBhvr>
                                    </p:animEffect>
                                  </p:childTnLst>
                                </p:cTn>
                              </p:par>
                              <p:par>
                                <p:cTn fill="hold" nodeType="with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500"/>
                                        <p:tgtEl>
                                          <p:spTgt spid="1094"/>
                                        </p:tgtEl>
                                      </p:cBhvr>
                                    </p:animEffect>
                                  </p:childTnLst>
                                </p:cTn>
                              </p:par>
                              <p:par>
                                <p:cTn fill="hold" nodeType="withEffect" presetClass="entr" presetID="10" presetSubtype="0">
                                  <p:stCondLst>
                                    <p:cond delay="0"/>
                                  </p:stCondLst>
                                  <p:childTnLst>
                                    <p:set>
                                      <p:cBhvr>
                                        <p:cTn dur="1" fill="hold">
                                          <p:stCondLst>
                                            <p:cond delay="0"/>
                                          </p:stCondLst>
                                        </p:cTn>
                                        <p:tgtEl>
                                          <p:spTgt spid="1095"/>
                                        </p:tgtEl>
                                        <p:attrNameLst>
                                          <p:attrName>style.visibility</p:attrName>
                                        </p:attrNameLst>
                                      </p:cBhvr>
                                      <p:to>
                                        <p:strVal val="visible"/>
                                      </p:to>
                                    </p:set>
                                    <p:animEffect filter="fade" transition="in">
                                      <p:cBhvr>
                                        <p:cTn dur="500"/>
                                        <p:tgtEl>
                                          <p:spTgt spid="1095"/>
                                        </p:tgtEl>
                                      </p:cBhvr>
                                    </p:animEffect>
                                  </p:childTnLst>
                                </p:cTn>
                              </p:par>
                              <p:par>
                                <p:cTn fill="hold" nodeType="withEffect" presetClass="entr" presetID="10" presetSubtype="0">
                                  <p:stCondLst>
                                    <p:cond delay="0"/>
                                  </p:stCondLst>
                                  <p:childTnLst>
                                    <p:set>
                                      <p:cBhvr>
                                        <p:cTn dur="1" fill="hold">
                                          <p:stCondLst>
                                            <p:cond delay="0"/>
                                          </p:stCondLst>
                                        </p:cTn>
                                        <p:tgtEl>
                                          <p:spTgt spid="1096"/>
                                        </p:tgtEl>
                                        <p:attrNameLst>
                                          <p:attrName>style.visibility</p:attrName>
                                        </p:attrNameLst>
                                      </p:cBhvr>
                                      <p:to>
                                        <p:strVal val="visible"/>
                                      </p:to>
                                    </p:set>
                                    <p:animEffect filter="fade" transition="in">
                                      <p:cBhvr>
                                        <p:cTn dur="500"/>
                                        <p:tgtEl>
                                          <p:spTgt spid="10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500"/>
                                        <p:tgtEl>
                                          <p:spTgt spid="1112"/>
                                        </p:tgtEl>
                                      </p:cBhvr>
                                    </p:animEffect>
                                  </p:childTnLst>
                                </p:cTn>
                              </p:par>
                              <p:par>
                                <p:cTn fill="hold" nodeType="with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500"/>
                                        <p:tgtEl>
                                          <p:spTgt spid="1113"/>
                                        </p:tgtEl>
                                      </p:cBhvr>
                                    </p:animEffect>
                                  </p:childTnLst>
                                </p:cTn>
                              </p:par>
                              <p:par>
                                <p:cTn fill="hold" nodeType="with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500"/>
                                        <p:tgtEl>
                                          <p:spTgt spid="1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7"/>
                                        </p:tgtEl>
                                        <p:attrNameLst>
                                          <p:attrName>style.visibility</p:attrName>
                                        </p:attrNameLst>
                                      </p:cBhvr>
                                      <p:to>
                                        <p:strVal val="visible"/>
                                      </p:to>
                                    </p:set>
                                    <p:animEffect filter="fade" transition="in">
                                      <p:cBhvr>
                                        <p:cTn dur="500"/>
                                        <p:tgtEl>
                                          <p:spTgt spid="1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8"/>
                                        </p:tgtEl>
                                        <p:attrNameLst>
                                          <p:attrName>style.visibility</p:attrName>
                                        </p:attrNameLst>
                                      </p:cBhvr>
                                      <p:to>
                                        <p:strVal val="visible"/>
                                      </p:to>
                                    </p:set>
                                    <p:animEffect filter="fade" transition="in">
                                      <p:cBhvr>
                                        <p:cTn dur="500"/>
                                        <p:tgtEl>
                                          <p:spTgt spid="10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500"/>
                                        <p:tgtEl>
                                          <p:spTgt spid="1110"/>
                                        </p:tgtEl>
                                      </p:cBhvr>
                                    </p:animEffect>
                                  </p:childTnLst>
                                </p:cTn>
                              </p:par>
                              <p:par>
                                <p:cTn fill="hold" nodeType="with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500"/>
                                        <p:tgtEl>
                                          <p:spTgt spid="1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9"/>
                                        </p:tgtEl>
                                        <p:attrNameLst>
                                          <p:attrName>style.visibility</p:attrName>
                                        </p:attrNameLst>
                                      </p:cBhvr>
                                      <p:to>
                                        <p:strVal val="visible"/>
                                      </p:to>
                                    </p:set>
                                    <p:animEffect filter="fade" transition="in">
                                      <p:cBhvr>
                                        <p:cTn dur="500"/>
                                        <p:tgtEl>
                                          <p:spTgt spid="10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500"/>
                                        <p:tgtEl>
                                          <p:spTgt spid="1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500"/>
                                        <p:tgtEl>
                                          <p:spTgt spid="1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500"/>
                                        <p:tgtEl>
                                          <p:spTgt spid="1104"/>
                                        </p:tgtEl>
                                      </p:cBhvr>
                                    </p:animEffect>
                                  </p:childTnLst>
                                </p:cTn>
                              </p:par>
                              <p:par>
                                <p:cTn fill="hold" nodeType="withEffect" presetClass="entr" presetID="10" presetSubtype="0">
                                  <p:stCondLst>
                                    <p:cond delay="0"/>
                                  </p:stCondLst>
                                  <p:childTnLst>
                                    <p:set>
                                      <p:cBhvr>
                                        <p:cTn dur="1" fill="hold">
                                          <p:stCondLst>
                                            <p:cond delay="0"/>
                                          </p:stCondLst>
                                        </p:cTn>
                                        <p:tgtEl>
                                          <p:spTgt spid="1105"/>
                                        </p:tgtEl>
                                        <p:attrNameLst>
                                          <p:attrName>style.visibility</p:attrName>
                                        </p:attrNameLst>
                                      </p:cBhvr>
                                      <p:to>
                                        <p:strVal val="visible"/>
                                      </p:to>
                                    </p:set>
                                    <p:animEffect filter="fade" transition="in">
                                      <p:cBhvr>
                                        <p:cTn dur="500"/>
                                        <p:tgtEl>
                                          <p:spTgt spid="1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500"/>
                                        <p:tgtEl>
                                          <p:spTgt spid="1103"/>
                                        </p:tgtEl>
                                      </p:cBhvr>
                                    </p:animEffect>
                                  </p:childTnLst>
                                </p:cTn>
                              </p:par>
                              <p:par>
                                <p:cTn fill="hold" nodeType="with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500"/>
                                        <p:tgtEl>
                                          <p:spTgt spid="1101"/>
                                        </p:tgtEl>
                                      </p:cBhvr>
                                    </p:animEffect>
                                  </p:childTnLst>
                                </p:cTn>
                              </p:par>
                              <p:par>
                                <p:cTn fill="hold" nodeType="with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500"/>
                                        <p:tgtEl>
                                          <p:spTgt spid="1102"/>
                                        </p:tgtEl>
                                      </p:cBhvr>
                                    </p:animEffect>
                                  </p:childTnLst>
                                </p:cTn>
                              </p:par>
                              <p:par>
                                <p:cTn fill="hold" nodeType="withEffect" presetClass="entr" presetID="10" presetSubtype="0">
                                  <p:stCondLst>
                                    <p:cond delay="0"/>
                                  </p:stCondLst>
                                  <p:childTnLst>
                                    <p:set>
                                      <p:cBhvr>
                                        <p:cTn dur="1" fill="hold">
                                          <p:stCondLst>
                                            <p:cond delay="0"/>
                                          </p:stCondLst>
                                        </p:cTn>
                                        <p:tgtEl>
                                          <p:spTgt spid="1106"/>
                                        </p:tgtEl>
                                        <p:attrNameLst>
                                          <p:attrName>style.visibility</p:attrName>
                                        </p:attrNameLst>
                                      </p:cBhvr>
                                      <p:to>
                                        <p:strVal val="visible"/>
                                      </p:to>
                                    </p:set>
                                    <p:animEffect filter="fade" transition="in">
                                      <p:cBhvr>
                                        <p:cTn dur="500"/>
                                        <p:tgtEl>
                                          <p:spTgt spid="1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500"/>
                                        <p:tgtEl>
                                          <p:spTgt spid="1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45"/>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Constraints on Specialization and Generalization</a:t>
            </a:r>
            <a:endParaRPr/>
          </a:p>
        </p:txBody>
      </p:sp>
      <p:sp>
        <p:nvSpPr>
          <p:cNvPr id="1120" name="Google Shape;1120;p45"/>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t/>
            </a:r>
            <a:endParaRPr/>
          </a:p>
        </p:txBody>
      </p:sp>
      <p:sp>
        <p:nvSpPr>
          <p:cNvPr id="1121" name="Google Shape;1121;p45"/>
          <p:cNvSpPr/>
          <p:nvPr/>
        </p:nvSpPr>
        <p:spPr>
          <a:xfrm>
            <a:off x="3771899" y="1309255"/>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Constraints</a:t>
            </a:r>
            <a:endParaRPr/>
          </a:p>
        </p:txBody>
      </p:sp>
      <p:cxnSp>
        <p:nvCxnSpPr>
          <p:cNvPr id="1122" name="Google Shape;1122;p45"/>
          <p:cNvCxnSpPr>
            <a:stCxn id="1121" idx="2"/>
          </p:cNvCxnSpPr>
          <p:nvPr/>
        </p:nvCxnSpPr>
        <p:spPr>
          <a:xfrm>
            <a:off x="4686299" y="2147455"/>
            <a:ext cx="0" cy="519600"/>
          </a:xfrm>
          <a:prstGeom prst="straightConnector1">
            <a:avLst/>
          </a:prstGeom>
          <a:noFill/>
          <a:ln cap="flat" cmpd="sng" w="28575">
            <a:solidFill>
              <a:schemeClr val="accent6"/>
            </a:solidFill>
            <a:prstDash val="solid"/>
            <a:miter lim="800000"/>
            <a:headEnd len="sm" w="sm" type="none"/>
            <a:tailEnd len="sm" w="sm" type="none"/>
          </a:ln>
        </p:spPr>
      </p:cxnSp>
      <p:cxnSp>
        <p:nvCxnSpPr>
          <p:cNvPr id="1123" name="Google Shape;1123;p45"/>
          <p:cNvCxnSpPr/>
          <p:nvPr/>
        </p:nvCxnSpPr>
        <p:spPr>
          <a:xfrm>
            <a:off x="2438400" y="2667000"/>
            <a:ext cx="4495799" cy="0"/>
          </a:xfrm>
          <a:prstGeom prst="straightConnector1">
            <a:avLst/>
          </a:prstGeom>
          <a:noFill/>
          <a:ln cap="flat" cmpd="sng" w="28575">
            <a:solidFill>
              <a:schemeClr val="accent6"/>
            </a:solidFill>
            <a:prstDash val="solid"/>
            <a:miter lim="800000"/>
            <a:headEnd len="sm" w="sm" type="none"/>
            <a:tailEnd len="sm" w="sm" type="none"/>
          </a:ln>
        </p:spPr>
      </p:cxnSp>
      <p:cxnSp>
        <p:nvCxnSpPr>
          <p:cNvPr id="1124" name="Google Shape;1124;p45"/>
          <p:cNvCxnSpPr>
            <a:endCxn id="1125" idx="0"/>
          </p:cNvCxnSpPr>
          <p:nvPr/>
        </p:nvCxnSpPr>
        <p:spPr>
          <a:xfrm>
            <a:off x="2438400" y="2667132"/>
            <a:ext cx="0" cy="552300"/>
          </a:xfrm>
          <a:prstGeom prst="straightConnector1">
            <a:avLst/>
          </a:prstGeom>
          <a:noFill/>
          <a:ln cap="flat" cmpd="sng" w="28575">
            <a:solidFill>
              <a:schemeClr val="accent6"/>
            </a:solidFill>
            <a:prstDash val="solid"/>
            <a:miter lim="800000"/>
            <a:headEnd len="sm" w="sm" type="none"/>
            <a:tailEnd len="sm" w="sm" type="none"/>
          </a:ln>
        </p:spPr>
      </p:cxnSp>
      <p:cxnSp>
        <p:nvCxnSpPr>
          <p:cNvPr id="1126" name="Google Shape;1126;p45"/>
          <p:cNvCxnSpPr>
            <a:endCxn id="1127" idx="0"/>
          </p:cNvCxnSpPr>
          <p:nvPr/>
        </p:nvCxnSpPr>
        <p:spPr>
          <a:xfrm>
            <a:off x="6934200" y="2667100"/>
            <a:ext cx="0" cy="546000"/>
          </a:xfrm>
          <a:prstGeom prst="straightConnector1">
            <a:avLst/>
          </a:prstGeom>
          <a:noFill/>
          <a:ln cap="flat" cmpd="sng" w="28575">
            <a:solidFill>
              <a:schemeClr val="accent6"/>
            </a:solidFill>
            <a:prstDash val="solid"/>
            <a:miter lim="800000"/>
            <a:headEnd len="sm" w="sm" type="none"/>
            <a:tailEnd len="sm" w="sm" type="none"/>
          </a:ln>
        </p:spPr>
      </p:cxnSp>
      <p:sp>
        <p:nvSpPr>
          <p:cNvPr id="1125" name="Google Shape;1125;p45"/>
          <p:cNvSpPr/>
          <p:nvPr/>
        </p:nvSpPr>
        <p:spPr>
          <a:xfrm>
            <a:off x="1524000" y="3219432"/>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Disjoint</a:t>
            </a:r>
            <a:endParaRPr/>
          </a:p>
        </p:txBody>
      </p:sp>
      <p:sp>
        <p:nvSpPr>
          <p:cNvPr id="1127" name="Google Shape;1127;p45"/>
          <p:cNvSpPr/>
          <p:nvPr/>
        </p:nvSpPr>
        <p:spPr>
          <a:xfrm>
            <a:off x="6019800" y="321310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Participation</a:t>
            </a:r>
            <a:endParaRPr/>
          </a:p>
        </p:txBody>
      </p:sp>
      <p:cxnSp>
        <p:nvCxnSpPr>
          <p:cNvPr id="1128" name="Google Shape;1128;p45"/>
          <p:cNvCxnSpPr/>
          <p:nvPr/>
        </p:nvCxnSpPr>
        <p:spPr>
          <a:xfrm flipH="1">
            <a:off x="2453055" y="4057632"/>
            <a:ext cx="1" cy="491157"/>
          </a:xfrm>
          <a:prstGeom prst="straightConnector1">
            <a:avLst/>
          </a:prstGeom>
          <a:noFill/>
          <a:ln cap="flat" cmpd="sng" w="28575">
            <a:solidFill>
              <a:schemeClr val="accent6"/>
            </a:solidFill>
            <a:prstDash val="solid"/>
            <a:miter lim="800000"/>
            <a:headEnd len="sm" w="sm" type="none"/>
            <a:tailEnd len="sm" w="sm" type="none"/>
          </a:ln>
        </p:spPr>
      </p:cxnSp>
      <p:cxnSp>
        <p:nvCxnSpPr>
          <p:cNvPr id="1129" name="Google Shape;1129;p45"/>
          <p:cNvCxnSpPr/>
          <p:nvPr/>
        </p:nvCxnSpPr>
        <p:spPr>
          <a:xfrm>
            <a:off x="1301264" y="4533888"/>
            <a:ext cx="2356336" cy="0"/>
          </a:xfrm>
          <a:prstGeom prst="straightConnector1">
            <a:avLst/>
          </a:prstGeom>
          <a:noFill/>
          <a:ln cap="flat" cmpd="sng" w="28575">
            <a:solidFill>
              <a:schemeClr val="accent6"/>
            </a:solidFill>
            <a:prstDash val="solid"/>
            <a:miter lim="800000"/>
            <a:headEnd len="sm" w="sm" type="none"/>
            <a:tailEnd len="sm" w="sm" type="none"/>
          </a:ln>
        </p:spPr>
      </p:cxnSp>
      <p:cxnSp>
        <p:nvCxnSpPr>
          <p:cNvPr id="1130" name="Google Shape;1130;p45"/>
          <p:cNvCxnSpPr/>
          <p:nvPr/>
        </p:nvCxnSpPr>
        <p:spPr>
          <a:xfrm>
            <a:off x="1301264" y="4533888"/>
            <a:ext cx="486" cy="533401"/>
          </a:xfrm>
          <a:prstGeom prst="straightConnector1">
            <a:avLst/>
          </a:prstGeom>
          <a:noFill/>
          <a:ln cap="flat" cmpd="sng" w="28575">
            <a:solidFill>
              <a:schemeClr val="accent6"/>
            </a:solidFill>
            <a:prstDash val="solid"/>
            <a:miter lim="800000"/>
            <a:headEnd len="sm" w="sm" type="none"/>
            <a:tailEnd len="sm" w="sm" type="none"/>
          </a:ln>
        </p:spPr>
      </p:cxnSp>
      <p:cxnSp>
        <p:nvCxnSpPr>
          <p:cNvPr id="1131" name="Google Shape;1131;p45"/>
          <p:cNvCxnSpPr/>
          <p:nvPr/>
        </p:nvCxnSpPr>
        <p:spPr>
          <a:xfrm>
            <a:off x="3657600" y="4533888"/>
            <a:ext cx="0" cy="503116"/>
          </a:xfrm>
          <a:prstGeom prst="straightConnector1">
            <a:avLst/>
          </a:prstGeom>
          <a:noFill/>
          <a:ln cap="flat" cmpd="sng" w="28575">
            <a:solidFill>
              <a:schemeClr val="accent6"/>
            </a:solidFill>
            <a:prstDash val="solid"/>
            <a:miter lim="800000"/>
            <a:headEnd len="sm" w="sm" type="none"/>
            <a:tailEnd len="sm" w="sm" type="none"/>
          </a:ln>
        </p:spPr>
      </p:cxnSp>
      <p:sp>
        <p:nvSpPr>
          <p:cNvPr id="1132" name="Google Shape;1132;p45"/>
          <p:cNvSpPr/>
          <p:nvPr/>
        </p:nvSpPr>
        <p:spPr>
          <a:xfrm>
            <a:off x="387350" y="5010144"/>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Disjoint</a:t>
            </a:r>
            <a:endParaRPr/>
          </a:p>
        </p:txBody>
      </p:sp>
      <p:sp>
        <p:nvSpPr>
          <p:cNvPr id="1133" name="Google Shape;1133;p45"/>
          <p:cNvSpPr/>
          <p:nvPr/>
        </p:nvSpPr>
        <p:spPr>
          <a:xfrm>
            <a:off x="2661134" y="5037004"/>
            <a:ext cx="1972899"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Non-disjoint (Overlapping)</a:t>
            </a:r>
            <a:endParaRPr/>
          </a:p>
        </p:txBody>
      </p:sp>
      <p:sp>
        <p:nvSpPr>
          <p:cNvPr id="1134" name="Google Shape;1134;p45"/>
          <p:cNvSpPr/>
          <p:nvPr/>
        </p:nvSpPr>
        <p:spPr>
          <a:xfrm>
            <a:off x="4870940" y="503751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Total (Mandatory)</a:t>
            </a:r>
            <a:endParaRPr/>
          </a:p>
        </p:txBody>
      </p:sp>
      <p:sp>
        <p:nvSpPr>
          <p:cNvPr id="1135" name="Google Shape;1135;p45"/>
          <p:cNvSpPr/>
          <p:nvPr/>
        </p:nvSpPr>
        <p:spPr>
          <a:xfrm>
            <a:off x="7086600" y="502920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Partial (Optional)</a:t>
            </a:r>
            <a:endParaRPr/>
          </a:p>
        </p:txBody>
      </p:sp>
      <p:cxnSp>
        <p:nvCxnSpPr>
          <p:cNvPr id="1136" name="Google Shape;1136;p45"/>
          <p:cNvCxnSpPr/>
          <p:nvPr/>
        </p:nvCxnSpPr>
        <p:spPr>
          <a:xfrm flipH="1">
            <a:off x="6934200" y="4051300"/>
            <a:ext cx="1" cy="491157"/>
          </a:xfrm>
          <a:prstGeom prst="straightConnector1">
            <a:avLst/>
          </a:prstGeom>
          <a:noFill/>
          <a:ln cap="flat" cmpd="sng" w="28575">
            <a:solidFill>
              <a:schemeClr val="accent6"/>
            </a:solidFill>
            <a:prstDash val="solid"/>
            <a:miter lim="800000"/>
            <a:headEnd len="sm" w="sm" type="none"/>
            <a:tailEnd len="sm" w="sm" type="none"/>
          </a:ln>
        </p:spPr>
      </p:cxnSp>
      <p:cxnSp>
        <p:nvCxnSpPr>
          <p:cNvPr id="1137" name="Google Shape;1137;p45"/>
          <p:cNvCxnSpPr/>
          <p:nvPr/>
        </p:nvCxnSpPr>
        <p:spPr>
          <a:xfrm>
            <a:off x="5785340" y="4536893"/>
            <a:ext cx="2209805" cy="5564"/>
          </a:xfrm>
          <a:prstGeom prst="straightConnector1">
            <a:avLst/>
          </a:prstGeom>
          <a:noFill/>
          <a:ln cap="flat" cmpd="sng" w="28575">
            <a:solidFill>
              <a:schemeClr val="accent6"/>
            </a:solidFill>
            <a:prstDash val="solid"/>
            <a:miter lim="800000"/>
            <a:headEnd len="sm" w="sm" type="none"/>
            <a:tailEnd len="sm" w="sm" type="none"/>
          </a:ln>
        </p:spPr>
      </p:cxnSp>
      <p:cxnSp>
        <p:nvCxnSpPr>
          <p:cNvPr id="1138" name="Google Shape;1138;p45"/>
          <p:cNvCxnSpPr>
            <a:endCxn id="1134" idx="0"/>
          </p:cNvCxnSpPr>
          <p:nvPr/>
        </p:nvCxnSpPr>
        <p:spPr>
          <a:xfrm>
            <a:off x="5785340" y="4542510"/>
            <a:ext cx="0" cy="495000"/>
          </a:xfrm>
          <a:prstGeom prst="straightConnector1">
            <a:avLst/>
          </a:prstGeom>
          <a:noFill/>
          <a:ln cap="flat" cmpd="sng" w="28575">
            <a:solidFill>
              <a:schemeClr val="accent6"/>
            </a:solidFill>
            <a:prstDash val="solid"/>
            <a:miter lim="800000"/>
            <a:headEnd len="sm" w="sm" type="none"/>
            <a:tailEnd len="sm" w="sm" type="none"/>
          </a:ln>
        </p:spPr>
      </p:cxnSp>
      <p:cxnSp>
        <p:nvCxnSpPr>
          <p:cNvPr id="1139" name="Google Shape;1139;p45"/>
          <p:cNvCxnSpPr>
            <a:endCxn id="1135" idx="0"/>
          </p:cNvCxnSpPr>
          <p:nvPr/>
        </p:nvCxnSpPr>
        <p:spPr>
          <a:xfrm>
            <a:off x="7995000" y="4535700"/>
            <a:ext cx="6000" cy="493500"/>
          </a:xfrm>
          <a:prstGeom prst="straightConnector1">
            <a:avLst/>
          </a:prstGeom>
          <a:noFill/>
          <a:ln cap="flat" cmpd="sng" w="28575">
            <a:solidFill>
              <a:schemeClr val="accent6"/>
            </a:solidFill>
            <a:prstDash val="solid"/>
            <a:miter lim="800000"/>
            <a:headEnd len="sm" w="sm" type="none"/>
            <a:tailEnd len="sm" w="sm" type="non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4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Participation (Completeness) Constraint</a:t>
            </a:r>
            <a:endParaRPr/>
          </a:p>
        </p:txBody>
      </p:sp>
      <p:sp>
        <p:nvSpPr>
          <p:cNvPr id="1145" name="Google Shape;1145;p46"/>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It determines </a:t>
            </a:r>
            <a:r>
              <a:rPr b="1" lang="en-US">
                <a:solidFill>
                  <a:schemeClr val="accent6"/>
                </a:solidFill>
              </a:rPr>
              <a:t>whether every member of super class must participate as a member of subclass or not</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Types of participation (Completeness) Constraint</a:t>
            </a:r>
            <a:endParaRPr/>
          </a:p>
          <a:p>
            <a:pPr indent="-352425" lvl="1" marL="809625" rtl="0" algn="just">
              <a:lnSpc>
                <a:spcPct val="90000"/>
              </a:lnSpc>
              <a:spcBef>
                <a:spcPts val="500"/>
              </a:spcBef>
              <a:spcAft>
                <a:spcPts val="0"/>
              </a:spcAft>
              <a:buSzPts val="2000"/>
              <a:buChar char="⮩"/>
            </a:pPr>
            <a:r>
              <a:rPr lang="en-US"/>
              <a:t>Total (Mandatory) participation</a:t>
            </a:r>
            <a:endParaRPr/>
          </a:p>
          <a:p>
            <a:pPr indent="-352425" lvl="1" marL="809625" rtl="0" algn="just">
              <a:lnSpc>
                <a:spcPct val="90000"/>
              </a:lnSpc>
              <a:spcBef>
                <a:spcPts val="500"/>
              </a:spcBef>
              <a:spcAft>
                <a:spcPts val="0"/>
              </a:spcAft>
              <a:buSzPts val="2000"/>
              <a:buChar char="⮩"/>
            </a:pPr>
            <a:r>
              <a:rPr lang="en-US"/>
              <a:t>Partial (Optional) participation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0" st="0"/>
                                            </p:txEl>
                                          </p:spTgt>
                                        </p:tgtEl>
                                        <p:attrNameLst>
                                          <p:attrName>style.visibility</p:attrName>
                                        </p:attrNameLst>
                                      </p:cBhvr>
                                      <p:to>
                                        <p:strVal val="visible"/>
                                      </p:to>
                                    </p:set>
                                    <p:animEffect filter="fade" transition="in">
                                      <p:cBhvr>
                                        <p:cTn dur="500"/>
                                        <p:tgtEl>
                                          <p:spTgt spid="11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1" st="1"/>
                                            </p:txEl>
                                          </p:spTgt>
                                        </p:tgtEl>
                                        <p:attrNameLst>
                                          <p:attrName>style.visibility</p:attrName>
                                        </p:attrNameLst>
                                      </p:cBhvr>
                                      <p:to>
                                        <p:strVal val="visible"/>
                                      </p:to>
                                    </p:set>
                                    <p:animEffect filter="fade" transition="in">
                                      <p:cBhvr>
                                        <p:cTn dur="500"/>
                                        <p:tgtEl>
                                          <p:spTgt spid="11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2" st="2"/>
                                            </p:txEl>
                                          </p:spTgt>
                                        </p:tgtEl>
                                        <p:attrNameLst>
                                          <p:attrName>style.visibility</p:attrName>
                                        </p:attrNameLst>
                                      </p:cBhvr>
                                      <p:to>
                                        <p:strVal val="visible"/>
                                      </p:to>
                                    </p:set>
                                    <p:animEffect filter="fade" transition="in">
                                      <p:cBhvr>
                                        <p:cTn dur="500"/>
                                        <p:tgtEl>
                                          <p:spTgt spid="11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xEl>
                                              <p:pRg end="3" st="3"/>
                                            </p:txEl>
                                          </p:spTgt>
                                        </p:tgtEl>
                                        <p:attrNameLst>
                                          <p:attrName>style.visibility</p:attrName>
                                        </p:attrNameLst>
                                      </p:cBhvr>
                                      <p:to>
                                        <p:strVal val="visible"/>
                                      </p:to>
                                    </p:set>
                                    <p:animEffect filter="fade" transition="in">
                                      <p:cBhvr>
                                        <p:cTn dur="500"/>
                                        <p:tgtEl>
                                          <p:spTgt spid="114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47"/>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Total (Mandatory) Participation</a:t>
            </a:r>
            <a:endParaRPr/>
          </a:p>
        </p:txBody>
      </p:sp>
      <p:sp>
        <p:nvSpPr>
          <p:cNvPr id="1151" name="Google Shape;1151;p47"/>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Total participation specifies that </a:t>
            </a:r>
            <a:r>
              <a:rPr b="1" lang="en-US">
                <a:solidFill>
                  <a:schemeClr val="accent6"/>
                </a:solidFill>
              </a:rPr>
              <a:t>every entity in the superclass must be a member of some subclass</a:t>
            </a:r>
            <a:r>
              <a:rPr lang="en-US"/>
              <a:t> in the specialization.</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Specified by a </a:t>
            </a:r>
            <a:r>
              <a:rPr b="1" lang="en-US">
                <a:solidFill>
                  <a:schemeClr val="accent6"/>
                </a:solidFill>
              </a:rPr>
              <a:t>double line </a:t>
            </a:r>
            <a:r>
              <a:rPr lang="en-US"/>
              <a:t>in E-R diagram.</a:t>
            </a:r>
            <a:endParaRPr/>
          </a:p>
          <a:p>
            <a:pPr indent="0" lvl="0" marL="0" rtl="0" algn="just">
              <a:lnSpc>
                <a:spcPct val="90000"/>
              </a:lnSpc>
              <a:spcBef>
                <a:spcPts val="1000"/>
              </a:spcBef>
              <a:spcAft>
                <a:spcPts val="0"/>
              </a:spcAft>
              <a:buSzPts val="2400"/>
              <a:buNone/>
            </a:pPr>
            <a:r>
              <a:t/>
            </a:r>
            <a:endParaRPr/>
          </a:p>
        </p:txBody>
      </p:sp>
      <p:sp>
        <p:nvSpPr>
          <p:cNvPr id="1152" name="Google Shape;1152;p47"/>
          <p:cNvSpPr/>
          <p:nvPr/>
        </p:nvSpPr>
        <p:spPr>
          <a:xfrm>
            <a:off x="2749928" y="211003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Cricketer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(Super class)</a:t>
            </a:r>
            <a:endParaRPr/>
          </a:p>
        </p:txBody>
      </p:sp>
      <p:cxnSp>
        <p:nvCxnSpPr>
          <p:cNvPr id="1153" name="Google Shape;1153;p47"/>
          <p:cNvCxnSpPr>
            <a:stCxn id="1152" idx="2"/>
          </p:cNvCxnSpPr>
          <p:nvPr/>
        </p:nvCxnSpPr>
        <p:spPr>
          <a:xfrm>
            <a:off x="3664328" y="2948230"/>
            <a:ext cx="0" cy="228600"/>
          </a:xfrm>
          <a:prstGeom prst="straightConnector1">
            <a:avLst/>
          </a:prstGeom>
          <a:noFill/>
          <a:ln cap="flat" cmpd="sng" w="28575">
            <a:solidFill>
              <a:schemeClr val="accent6"/>
            </a:solidFill>
            <a:prstDash val="solid"/>
            <a:miter lim="800000"/>
            <a:headEnd len="sm" w="sm" type="none"/>
            <a:tailEnd len="sm" w="sm" type="none"/>
          </a:ln>
        </p:spPr>
      </p:cxnSp>
      <p:cxnSp>
        <p:nvCxnSpPr>
          <p:cNvPr id="1154" name="Google Shape;1154;p47"/>
          <p:cNvCxnSpPr/>
          <p:nvPr/>
        </p:nvCxnSpPr>
        <p:spPr>
          <a:xfrm>
            <a:off x="1403569" y="3176830"/>
            <a:ext cx="4517136" cy="0"/>
          </a:xfrm>
          <a:prstGeom prst="straightConnector1">
            <a:avLst/>
          </a:prstGeom>
          <a:noFill/>
          <a:ln cap="flat" cmpd="sng" w="28575">
            <a:solidFill>
              <a:schemeClr val="accent6"/>
            </a:solidFill>
            <a:prstDash val="solid"/>
            <a:miter lim="800000"/>
            <a:headEnd len="sm" w="sm" type="none"/>
            <a:tailEnd len="sm" w="sm" type="none"/>
          </a:ln>
        </p:spPr>
      </p:cxnSp>
      <p:cxnSp>
        <p:nvCxnSpPr>
          <p:cNvPr id="1155" name="Google Shape;1155;p47"/>
          <p:cNvCxnSpPr/>
          <p:nvPr/>
        </p:nvCxnSpPr>
        <p:spPr>
          <a:xfrm>
            <a:off x="1416428" y="3184450"/>
            <a:ext cx="0" cy="228600"/>
          </a:xfrm>
          <a:prstGeom prst="straightConnector1">
            <a:avLst/>
          </a:prstGeom>
          <a:noFill/>
          <a:ln cap="flat" cmpd="sng" w="28575">
            <a:solidFill>
              <a:schemeClr val="accent6"/>
            </a:solidFill>
            <a:prstDash val="solid"/>
            <a:miter lim="800000"/>
            <a:headEnd len="sm" w="sm" type="none"/>
            <a:tailEnd len="sm" w="sm" type="none"/>
          </a:ln>
        </p:spPr>
      </p:cxnSp>
      <p:sp>
        <p:nvSpPr>
          <p:cNvPr id="1156" name="Google Shape;1156;p47"/>
          <p:cNvSpPr/>
          <p:nvPr/>
        </p:nvSpPr>
        <p:spPr>
          <a:xfrm>
            <a:off x="502028" y="339908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Batsman</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sp>
        <p:nvSpPr>
          <p:cNvPr id="1157" name="Google Shape;1157;p47"/>
          <p:cNvSpPr/>
          <p:nvPr/>
        </p:nvSpPr>
        <p:spPr>
          <a:xfrm>
            <a:off x="4997828" y="3411072"/>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Bowler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cxnSp>
        <p:nvCxnSpPr>
          <p:cNvPr id="1158" name="Google Shape;1158;p47"/>
          <p:cNvCxnSpPr/>
          <p:nvPr/>
        </p:nvCxnSpPr>
        <p:spPr>
          <a:xfrm>
            <a:off x="5912228" y="3178213"/>
            <a:ext cx="0" cy="228600"/>
          </a:xfrm>
          <a:prstGeom prst="straightConnector1">
            <a:avLst/>
          </a:prstGeom>
          <a:noFill/>
          <a:ln cap="flat" cmpd="sng" w="28575">
            <a:solidFill>
              <a:schemeClr val="accent6"/>
            </a:solidFill>
            <a:prstDash val="solid"/>
            <a:miter lim="800000"/>
            <a:headEnd len="sm" w="sm" type="none"/>
            <a:tailEnd len="sm" w="sm" type="none"/>
          </a:ln>
        </p:spPr>
      </p:cxnSp>
      <p:pic>
        <p:nvPicPr>
          <p:cNvPr descr="https://hindi.sportzwiki.com/wp-content/uploads/2016/08/Gautam-Gambhir3.jpg" id="1159" name="Google Shape;1159;p47"/>
          <p:cNvPicPr preferRelativeResize="0"/>
          <p:nvPr/>
        </p:nvPicPr>
        <p:blipFill rotWithShape="1">
          <a:blip r:embed="rId3">
            <a:alphaModFix/>
          </a:blip>
          <a:srcRect b="0" l="0" r="10138" t="0"/>
          <a:stretch/>
        </p:blipFill>
        <p:spPr>
          <a:xfrm>
            <a:off x="730628" y="4536439"/>
            <a:ext cx="1371600" cy="1371600"/>
          </a:xfrm>
          <a:prstGeom prst="rect">
            <a:avLst/>
          </a:prstGeom>
          <a:noFill/>
          <a:ln>
            <a:noFill/>
          </a:ln>
        </p:spPr>
      </p:pic>
      <p:pic>
        <p:nvPicPr>
          <p:cNvPr descr="Related image" id="1160" name="Google Shape;1160;p47"/>
          <p:cNvPicPr preferRelativeResize="0"/>
          <p:nvPr/>
        </p:nvPicPr>
        <p:blipFill rotWithShape="1">
          <a:blip r:embed="rId4">
            <a:alphaModFix/>
          </a:blip>
          <a:srcRect b="0" l="21164" r="9438" t="0"/>
          <a:stretch/>
        </p:blipFill>
        <p:spPr>
          <a:xfrm>
            <a:off x="5226428" y="4536439"/>
            <a:ext cx="1371600" cy="1371600"/>
          </a:xfrm>
          <a:prstGeom prst="rect">
            <a:avLst/>
          </a:prstGeom>
          <a:noFill/>
          <a:ln>
            <a:noFill/>
          </a:ln>
        </p:spPr>
      </p:pic>
      <p:sp>
        <p:nvSpPr>
          <p:cNvPr id="1161" name="Google Shape;1161;p47"/>
          <p:cNvSpPr txBox="1"/>
          <p:nvPr/>
        </p:nvSpPr>
        <p:spPr>
          <a:xfrm>
            <a:off x="730627" y="6004633"/>
            <a:ext cx="8046720" cy="457200"/>
          </a:xfrm>
          <a:prstGeom prst="rect">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1800">
                <a:solidFill>
                  <a:schemeClr val="dk1"/>
                </a:solidFill>
                <a:latin typeface="Roboto Condensed"/>
                <a:ea typeface="Roboto Condensed"/>
                <a:cs typeface="Roboto Condensed"/>
                <a:sym typeface="Roboto Condensed"/>
              </a:rPr>
              <a:t>All the players are associated with minimum one sub class either (Batsman or Bowler).</a:t>
            </a:r>
            <a:endParaRPr/>
          </a:p>
        </p:txBody>
      </p:sp>
      <p:sp>
        <p:nvSpPr>
          <p:cNvPr id="1162" name="Google Shape;1162;p47"/>
          <p:cNvSpPr/>
          <p:nvPr/>
        </p:nvSpPr>
        <p:spPr>
          <a:xfrm>
            <a:off x="8892977" y="1743634"/>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Employee</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(Super class)</a:t>
            </a:r>
            <a:endParaRPr/>
          </a:p>
        </p:txBody>
      </p:sp>
      <p:cxnSp>
        <p:nvCxnSpPr>
          <p:cNvPr id="1163" name="Google Shape;1163;p47"/>
          <p:cNvCxnSpPr/>
          <p:nvPr/>
        </p:nvCxnSpPr>
        <p:spPr>
          <a:xfrm>
            <a:off x="9809618" y="2581267"/>
            <a:ext cx="0" cy="1024128"/>
          </a:xfrm>
          <a:prstGeom prst="straightConnector1">
            <a:avLst/>
          </a:prstGeom>
          <a:noFill/>
          <a:ln cap="flat" cmpd="sng" w="28575">
            <a:solidFill>
              <a:schemeClr val="accent4"/>
            </a:solidFill>
            <a:prstDash val="solid"/>
            <a:miter lim="800000"/>
            <a:headEnd len="sm" w="sm" type="none"/>
            <a:tailEnd len="sm" w="sm" type="none"/>
          </a:ln>
        </p:spPr>
      </p:cxnSp>
      <p:cxnSp>
        <p:nvCxnSpPr>
          <p:cNvPr id="1164" name="Google Shape;1164;p47"/>
          <p:cNvCxnSpPr>
            <a:stCxn id="1165" idx="1"/>
          </p:cNvCxnSpPr>
          <p:nvPr/>
        </p:nvCxnSpPr>
        <p:spPr>
          <a:xfrm flipH="1">
            <a:off x="8590568" y="4013522"/>
            <a:ext cx="895200" cy="872700"/>
          </a:xfrm>
          <a:prstGeom prst="straightConnector1">
            <a:avLst/>
          </a:prstGeom>
          <a:noFill/>
          <a:ln cap="flat" cmpd="sng" w="28575">
            <a:solidFill>
              <a:schemeClr val="accent4"/>
            </a:solidFill>
            <a:prstDash val="solid"/>
            <a:miter lim="800000"/>
            <a:headEnd len="sm" w="sm" type="none"/>
            <a:tailEnd len="sm" w="sm" type="none"/>
          </a:ln>
        </p:spPr>
      </p:cxnSp>
      <p:sp>
        <p:nvSpPr>
          <p:cNvPr id="1166" name="Google Shape;1166;p47"/>
          <p:cNvSpPr/>
          <p:nvPr/>
        </p:nvSpPr>
        <p:spPr>
          <a:xfrm>
            <a:off x="765696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Professor</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sp>
        <p:nvSpPr>
          <p:cNvPr id="1167" name="Google Shape;1167;p47"/>
          <p:cNvSpPr/>
          <p:nvPr/>
        </p:nvSpPr>
        <p:spPr>
          <a:xfrm>
            <a:off x="1022871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Head</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cxnSp>
        <p:nvCxnSpPr>
          <p:cNvPr id="1168" name="Google Shape;1168;p47"/>
          <p:cNvCxnSpPr>
            <a:stCxn id="1165" idx="3"/>
            <a:endCxn id="1167" idx="0"/>
          </p:cNvCxnSpPr>
          <p:nvPr/>
        </p:nvCxnSpPr>
        <p:spPr>
          <a:xfrm>
            <a:off x="10133468" y="4013522"/>
            <a:ext cx="1009800" cy="872700"/>
          </a:xfrm>
          <a:prstGeom prst="straightConnector1">
            <a:avLst/>
          </a:prstGeom>
          <a:noFill/>
          <a:ln cap="flat" cmpd="sng" w="28575">
            <a:solidFill>
              <a:schemeClr val="accent4"/>
            </a:solidFill>
            <a:prstDash val="solid"/>
            <a:miter lim="800000"/>
            <a:headEnd len="sm" w="sm" type="none"/>
            <a:tailEnd len="sm" w="sm" type="none"/>
          </a:ln>
        </p:spPr>
      </p:cxnSp>
      <p:sp>
        <p:nvSpPr>
          <p:cNvPr id="1165" name="Google Shape;1165;p47"/>
          <p:cNvSpPr/>
          <p:nvPr/>
        </p:nvSpPr>
        <p:spPr>
          <a:xfrm>
            <a:off x="9161918" y="3607444"/>
            <a:ext cx="1295400" cy="812156"/>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cxnSp>
        <p:nvCxnSpPr>
          <p:cNvPr id="1169" name="Google Shape;1169;p47"/>
          <p:cNvCxnSpPr/>
          <p:nvPr/>
        </p:nvCxnSpPr>
        <p:spPr>
          <a:xfrm flipH="1">
            <a:off x="7233932" y="2110030"/>
            <a:ext cx="13447" cy="3798009"/>
          </a:xfrm>
          <a:prstGeom prst="straightConnector1">
            <a:avLst/>
          </a:prstGeom>
          <a:noFill/>
          <a:ln cap="flat" cmpd="sng" w="38100">
            <a:solidFill>
              <a:schemeClr val="accent1"/>
            </a:solidFill>
            <a:prstDash val="solid"/>
            <a:miter lim="800000"/>
            <a:headEnd len="sm" w="sm" type="none"/>
            <a:tailEnd len="sm" w="sm" type="none"/>
          </a:ln>
        </p:spPr>
      </p:cxnSp>
      <p:cxnSp>
        <p:nvCxnSpPr>
          <p:cNvPr id="1170" name="Google Shape;1170;p47"/>
          <p:cNvCxnSpPr/>
          <p:nvPr/>
        </p:nvCxnSpPr>
        <p:spPr>
          <a:xfrm>
            <a:off x="9921677" y="2582575"/>
            <a:ext cx="0" cy="1024128"/>
          </a:xfrm>
          <a:prstGeom prst="straightConnector1">
            <a:avLst/>
          </a:prstGeom>
          <a:noFill/>
          <a:ln cap="flat" cmpd="sng" w="28575">
            <a:solidFill>
              <a:schemeClr val="accent4"/>
            </a:solidFill>
            <a:prstDash val="solid"/>
            <a:miter lim="800000"/>
            <a:headEnd len="sm" w="sm" type="none"/>
            <a:tailEnd len="sm" w="sm" type="none"/>
          </a:ln>
        </p:spPr>
      </p:cxnSp>
      <p:pic>
        <p:nvPicPr>
          <p:cNvPr descr="https://hindi.sportzwiki.com/wp-content/uploads/2016/08/Gautam-Gambhir3.jpg" id="1171" name="Google Shape;1171;p47"/>
          <p:cNvPicPr preferRelativeResize="0"/>
          <p:nvPr/>
        </p:nvPicPr>
        <p:blipFill rotWithShape="1">
          <a:blip r:embed="rId5">
            <a:alphaModFix/>
          </a:blip>
          <a:srcRect b="0" l="0" r="10138" t="0"/>
          <a:stretch/>
        </p:blipFill>
        <p:spPr>
          <a:xfrm>
            <a:off x="604591" y="2110030"/>
            <a:ext cx="914400" cy="914400"/>
          </a:xfrm>
          <a:prstGeom prst="rect">
            <a:avLst/>
          </a:prstGeom>
          <a:noFill/>
          <a:ln>
            <a:noFill/>
          </a:ln>
        </p:spPr>
      </p:pic>
      <p:pic>
        <p:nvPicPr>
          <p:cNvPr descr="Related image" id="1172" name="Google Shape;1172;p47"/>
          <p:cNvPicPr preferRelativeResize="0"/>
          <p:nvPr/>
        </p:nvPicPr>
        <p:blipFill rotWithShape="1">
          <a:blip r:embed="rId4">
            <a:alphaModFix/>
          </a:blip>
          <a:srcRect b="0" l="21164" r="9438" t="0"/>
          <a:stretch/>
        </p:blipFill>
        <p:spPr>
          <a:xfrm>
            <a:off x="1631876" y="2110030"/>
            <a:ext cx="914400"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0" st="0"/>
                                            </p:txEl>
                                          </p:spTgt>
                                        </p:tgtEl>
                                        <p:attrNameLst>
                                          <p:attrName>style.visibility</p:attrName>
                                        </p:attrNameLst>
                                      </p:cBhvr>
                                      <p:to>
                                        <p:strVal val="visible"/>
                                      </p:to>
                                    </p:set>
                                    <p:animEffect filter="fade" transition="in">
                                      <p:cBhvr>
                                        <p:cTn dur="500"/>
                                        <p:tgtEl>
                                          <p:spTgt spid="1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1" st="1"/>
                                            </p:txEl>
                                          </p:spTgt>
                                        </p:tgtEl>
                                        <p:attrNameLst>
                                          <p:attrName>style.visibility</p:attrName>
                                        </p:attrNameLst>
                                      </p:cBhvr>
                                      <p:to>
                                        <p:strVal val="visible"/>
                                      </p:to>
                                    </p:set>
                                    <p:animEffect filter="fade" transition="in">
                                      <p:cBhvr>
                                        <p:cTn dur="500"/>
                                        <p:tgtEl>
                                          <p:spTgt spid="1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xEl>
                                              <p:pRg end="2" st="2"/>
                                            </p:txEl>
                                          </p:spTgt>
                                        </p:tgtEl>
                                        <p:attrNameLst>
                                          <p:attrName>style.visibility</p:attrName>
                                        </p:attrNameLst>
                                      </p:cBhvr>
                                      <p:to>
                                        <p:strVal val="visible"/>
                                      </p:to>
                                    </p:set>
                                    <p:animEffect filter="fade" transition="in">
                                      <p:cBhvr>
                                        <p:cTn dur="500"/>
                                        <p:tgtEl>
                                          <p:spTgt spid="1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500"/>
                                        <p:tgtEl>
                                          <p:spTgt spid="1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4"/>
                                        </p:tgtEl>
                                        <p:attrNameLst>
                                          <p:attrName>style.visibility</p:attrName>
                                        </p:attrNameLst>
                                      </p:cBhvr>
                                      <p:to>
                                        <p:strVal val="visible"/>
                                      </p:to>
                                    </p:set>
                                    <p:animEffect filter="fade" transition="in">
                                      <p:cBhvr>
                                        <p:cTn dur="500"/>
                                        <p:tgtEl>
                                          <p:spTgt spid="1154"/>
                                        </p:tgtEl>
                                      </p:cBhvr>
                                    </p:animEffect>
                                  </p:childTnLst>
                                </p:cTn>
                              </p:par>
                              <p:par>
                                <p:cTn fill="hold" nodeType="with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500"/>
                                        <p:tgtEl>
                                          <p:spTgt spid="1153"/>
                                        </p:tgtEl>
                                      </p:cBhvr>
                                    </p:animEffect>
                                  </p:childTnLst>
                                </p:cTn>
                              </p:par>
                              <p:par>
                                <p:cTn fill="hold" nodeType="withEffect" presetClass="entr" presetID="10" presetSubtype="0">
                                  <p:stCondLst>
                                    <p:cond delay="0"/>
                                  </p:stCondLst>
                                  <p:childTnLst>
                                    <p:set>
                                      <p:cBhvr>
                                        <p:cTn dur="1" fill="hold">
                                          <p:stCondLst>
                                            <p:cond delay="0"/>
                                          </p:stCondLst>
                                        </p:cTn>
                                        <p:tgtEl>
                                          <p:spTgt spid="1155"/>
                                        </p:tgtEl>
                                        <p:attrNameLst>
                                          <p:attrName>style.visibility</p:attrName>
                                        </p:attrNameLst>
                                      </p:cBhvr>
                                      <p:to>
                                        <p:strVal val="visible"/>
                                      </p:to>
                                    </p:set>
                                    <p:animEffect filter="fade" transition="in">
                                      <p:cBhvr>
                                        <p:cTn dur="500"/>
                                        <p:tgtEl>
                                          <p:spTgt spid="1155"/>
                                        </p:tgtEl>
                                      </p:cBhvr>
                                    </p:animEffect>
                                  </p:childTnLst>
                                </p:cTn>
                              </p:par>
                              <p:par>
                                <p:cTn fill="hold" nodeType="with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500"/>
                                        <p:tgtEl>
                                          <p:spTgt spid="1156"/>
                                        </p:tgtEl>
                                      </p:cBhvr>
                                    </p:animEffect>
                                  </p:childTnLst>
                                </p:cTn>
                              </p:par>
                              <p:par>
                                <p:cTn fill="hold" nodeType="with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500"/>
                                        <p:tgtEl>
                                          <p:spTgt spid="1157"/>
                                        </p:tgtEl>
                                      </p:cBhvr>
                                    </p:animEffect>
                                  </p:childTnLst>
                                </p:cTn>
                              </p:par>
                              <p:par>
                                <p:cTn fill="hold" nodeType="with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500"/>
                                        <p:tgtEl>
                                          <p:spTgt spid="1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500"/>
                                        <p:tgtEl>
                                          <p:spTgt spid="1171"/>
                                        </p:tgtEl>
                                      </p:cBhvr>
                                    </p:animEffect>
                                  </p:childTnLst>
                                </p:cTn>
                              </p:par>
                              <p:par>
                                <p:cTn fill="hold" nodeType="with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500"/>
                                        <p:tgtEl>
                                          <p:spTgt spid="1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gtEl>
                                        <p:attrNameLst>
                                          <p:attrName>style.visibility</p:attrName>
                                        </p:attrNameLst>
                                      </p:cBhvr>
                                      <p:to>
                                        <p:strVal val="visible"/>
                                      </p:to>
                                    </p:set>
                                    <p:animEffect filter="fade" transition="in">
                                      <p:cBhvr>
                                        <p:cTn dur="500"/>
                                        <p:tgtEl>
                                          <p:spTgt spid="1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0"/>
                                        </p:tgtEl>
                                        <p:attrNameLst>
                                          <p:attrName>style.visibility</p:attrName>
                                        </p:attrNameLst>
                                      </p:cBhvr>
                                      <p:to>
                                        <p:strVal val="visible"/>
                                      </p:to>
                                    </p:set>
                                    <p:animEffect filter="fade" transition="in">
                                      <p:cBhvr>
                                        <p:cTn dur="500"/>
                                        <p:tgtEl>
                                          <p:spTgt spid="1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500"/>
                                        <p:tgtEl>
                                          <p:spTgt spid="1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500"/>
                                        <p:tgtEl>
                                          <p:spTgt spid="1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500"/>
                                        <p:tgtEl>
                                          <p:spTgt spid="1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500"/>
                                        <p:tgtEl>
                                          <p:spTgt spid="1166"/>
                                        </p:tgtEl>
                                      </p:cBhvr>
                                    </p:animEffect>
                                  </p:childTnLst>
                                </p:cTn>
                              </p:par>
                              <p:par>
                                <p:cTn fill="hold" nodeType="with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500"/>
                                        <p:tgtEl>
                                          <p:spTgt spid="1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500"/>
                                        <p:tgtEl>
                                          <p:spTgt spid="1165"/>
                                        </p:tgtEl>
                                      </p:cBhvr>
                                    </p:animEffect>
                                  </p:childTnLst>
                                </p:cTn>
                              </p:par>
                              <p:par>
                                <p:cTn fill="hold" nodeType="with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500"/>
                                        <p:tgtEl>
                                          <p:spTgt spid="1163"/>
                                        </p:tgtEl>
                                      </p:cBhvr>
                                    </p:animEffect>
                                  </p:childTnLst>
                                </p:cTn>
                              </p:par>
                              <p:par>
                                <p:cTn fill="hold" nodeType="with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500"/>
                                        <p:tgtEl>
                                          <p:spTgt spid="1164"/>
                                        </p:tgtEl>
                                      </p:cBhvr>
                                    </p:animEffect>
                                  </p:childTnLst>
                                </p:cTn>
                              </p:par>
                              <p:par>
                                <p:cTn fill="hold" nodeType="with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500"/>
                                        <p:tgtEl>
                                          <p:spTgt spid="1168"/>
                                        </p:tgtEl>
                                      </p:cBhvr>
                                    </p:animEffect>
                                  </p:childTnLst>
                                </p:cTn>
                              </p:par>
                              <p:par>
                                <p:cTn fill="hold" nodeType="with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500"/>
                                        <p:tgtEl>
                                          <p:spTgt spid="1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48"/>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Partial (Optional) Participation</a:t>
            </a:r>
            <a:endParaRPr/>
          </a:p>
        </p:txBody>
      </p:sp>
      <p:sp>
        <p:nvSpPr>
          <p:cNvPr id="1178" name="Google Shape;1178;p48"/>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Partial participation specifies that </a:t>
            </a:r>
            <a:r>
              <a:rPr b="1" lang="en-US">
                <a:solidFill>
                  <a:schemeClr val="accent6"/>
                </a:solidFill>
              </a:rPr>
              <a:t>every entity in the super class does not belong to any of the subclass </a:t>
            </a:r>
            <a:r>
              <a:rPr lang="en-US"/>
              <a:t>of specialization.</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Specified by a </a:t>
            </a:r>
            <a:r>
              <a:rPr b="1" lang="en-US">
                <a:solidFill>
                  <a:schemeClr val="accent6"/>
                </a:solidFill>
              </a:rPr>
              <a:t>single line </a:t>
            </a:r>
            <a:r>
              <a:rPr lang="en-US"/>
              <a:t>in E-R diagram.</a:t>
            </a:r>
            <a:endParaRPr/>
          </a:p>
          <a:p>
            <a:pPr indent="0" lvl="0" marL="0" rtl="0" algn="just">
              <a:lnSpc>
                <a:spcPct val="90000"/>
              </a:lnSpc>
              <a:spcBef>
                <a:spcPts val="1000"/>
              </a:spcBef>
              <a:spcAft>
                <a:spcPts val="0"/>
              </a:spcAft>
              <a:buSzPts val="2400"/>
              <a:buNone/>
            </a:pPr>
            <a:r>
              <a:t/>
            </a:r>
            <a:endParaRPr/>
          </a:p>
        </p:txBody>
      </p:sp>
      <p:sp>
        <p:nvSpPr>
          <p:cNvPr id="1179" name="Google Shape;1179;p48"/>
          <p:cNvSpPr/>
          <p:nvPr/>
        </p:nvSpPr>
        <p:spPr>
          <a:xfrm>
            <a:off x="2749928" y="211003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Cricketer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(Super class)</a:t>
            </a:r>
            <a:endParaRPr/>
          </a:p>
        </p:txBody>
      </p:sp>
      <p:cxnSp>
        <p:nvCxnSpPr>
          <p:cNvPr id="1180" name="Google Shape;1180;p48"/>
          <p:cNvCxnSpPr>
            <a:stCxn id="1179" idx="2"/>
          </p:cNvCxnSpPr>
          <p:nvPr/>
        </p:nvCxnSpPr>
        <p:spPr>
          <a:xfrm>
            <a:off x="3664328" y="2948230"/>
            <a:ext cx="0" cy="228600"/>
          </a:xfrm>
          <a:prstGeom prst="straightConnector1">
            <a:avLst/>
          </a:prstGeom>
          <a:noFill/>
          <a:ln cap="flat" cmpd="sng" w="28575">
            <a:solidFill>
              <a:schemeClr val="accent6"/>
            </a:solidFill>
            <a:prstDash val="solid"/>
            <a:miter lim="800000"/>
            <a:headEnd len="sm" w="sm" type="none"/>
            <a:tailEnd len="sm" w="sm" type="none"/>
          </a:ln>
        </p:spPr>
      </p:cxnSp>
      <p:cxnSp>
        <p:nvCxnSpPr>
          <p:cNvPr id="1181" name="Google Shape;1181;p48"/>
          <p:cNvCxnSpPr/>
          <p:nvPr/>
        </p:nvCxnSpPr>
        <p:spPr>
          <a:xfrm>
            <a:off x="1403569" y="3176830"/>
            <a:ext cx="4517136" cy="0"/>
          </a:xfrm>
          <a:prstGeom prst="straightConnector1">
            <a:avLst/>
          </a:prstGeom>
          <a:noFill/>
          <a:ln cap="flat" cmpd="sng" w="28575">
            <a:solidFill>
              <a:schemeClr val="accent6"/>
            </a:solidFill>
            <a:prstDash val="solid"/>
            <a:miter lim="800000"/>
            <a:headEnd len="sm" w="sm" type="none"/>
            <a:tailEnd len="sm" w="sm" type="none"/>
          </a:ln>
        </p:spPr>
      </p:cxnSp>
      <p:cxnSp>
        <p:nvCxnSpPr>
          <p:cNvPr id="1182" name="Google Shape;1182;p48"/>
          <p:cNvCxnSpPr/>
          <p:nvPr/>
        </p:nvCxnSpPr>
        <p:spPr>
          <a:xfrm>
            <a:off x="1416428" y="3184450"/>
            <a:ext cx="0" cy="228600"/>
          </a:xfrm>
          <a:prstGeom prst="straightConnector1">
            <a:avLst/>
          </a:prstGeom>
          <a:noFill/>
          <a:ln cap="flat" cmpd="sng" w="28575">
            <a:solidFill>
              <a:schemeClr val="accent6"/>
            </a:solidFill>
            <a:prstDash val="solid"/>
            <a:miter lim="800000"/>
            <a:headEnd len="sm" w="sm" type="none"/>
            <a:tailEnd len="sm" w="sm" type="none"/>
          </a:ln>
        </p:spPr>
      </p:cxnSp>
      <p:sp>
        <p:nvSpPr>
          <p:cNvPr id="1183" name="Google Shape;1183;p48"/>
          <p:cNvSpPr/>
          <p:nvPr/>
        </p:nvSpPr>
        <p:spPr>
          <a:xfrm>
            <a:off x="502028" y="3399080"/>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Batsman</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sp>
        <p:nvSpPr>
          <p:cNvPr id="1184" name="Google Shape;1184;p48"/>
          <p:cNvSpPr/>
          <p:nvPr/>
        </p:nvSpPr>
        <p:spPr>
          <a:xfrm>
            <a:off x="4997828" y="3411072"/>
            <a:ext cx="1828800" cy="8382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Bowler</a:t>
            </a:r>
            <a:endParaRPr/>
          </a:p>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(Sub class)</a:t>
            </a:r>
            <a:endParaRPr/>
          </a:p>
        </p:txBody>
      </p:sp>
      <p:cxnSp>
        <p:nvCxnSpPr>
          <p:cNvPr id="1185" name="Google Shape;1185;p48"/>
          <p:cNvCxnSpPr/>
          <p:nvPr/>
        </p:nvCxnSpPr>
        <p:spPr>
          <a:xfrm>
            <a:off x="5912228" y="3178213"/>
            <a:ext cx="0" cy="228600"/>
          </a:xfrm>
          <a:prstGeom prst="straightConnector1">
            <a:avLst/>
          </a:prstGeom>
          <a:noFill/>
          <a:ln cap="flat" cmpd="sng" w="28575">
            <a:solidFill>
              <a:schemeClr val="accent6"/>
            </a:solidFill>
            <a:prstDash val="solid"/>
            <a:miter lim="800000"/>
            <a:headEnd len="sm" w="sm" type="none"/>
            <a:tailEnd len="sm" w="sm" type="none"/>
          </a:ln>
        </p:spPr>
      </p:cxnSp>
      <p:pic>
        <p:nvPicPr>
          <p:cNvPr descr="https://hindi.sportzwiki.com/wp-content/uploads/2016/08/Gautam-Gambhir3.jpg" id="1186" name="Google Shape;1186;p48"/>
          <p:cNvPicPr preferRelativeResize="0"/>
          <p:nvPr/>
        </p:nvPicPr>
        <p:blipFill rotWithShape="1">
          <a:blip r:embed="rId3">
            <a:alphaModFix/>
          </a:blip>
          <a:srcRect b="0" l="0" r="10138" t="0"/>
          <a:stretch/>
        </p:blipFill>
        <p:spPr>
          <a:xfrm>
            <a:off x="730628" y="4536439"/>
            <a:ext cx="1371600" cy="1371600"/>
          </a:xfrm>
          <a:prstGeom prst="rect">
            <a:avLst/>
          </a:prstGeom>
          <a:noFill/>
          <a:ln>
            <a:noFill/>
          </a:ln>
        </p:spPr>
      </p:pic>
      <p:pic>
        <p:nvPicPr>
          <p:cNvPr descr="Related image" id="1187" name="Google Shape;1187;p48"/>
          <p:cNvPicPr preferRelativeResize="0"/>
          <p:nvPr/>
        </p:nvPicPr>
        <p:blipFill rotWithShape="1">
          <a:blip r:embed="rId4">
            <a:alphaModFix/>
          </a:blip>
          <a:srcRect b="0" l="21164" r="9438" t="0"/>
          <a:stretch/>
        </p:blipFill>
        <p:spPr>
          <a:xfrm>
            <a:off x="5226428" y="4536439"/>
            <a:ext cx="1371600" cy="1371600"/>
          </a:xfrm>
          <a:prstGeom prst="rect">
            <a:avLst/>
          </a:prstGeom>
          <a:noFill/>
          <a:ln>
            <a:noFill/>
          </a:ln>
        </p:spPr>
      </p:pic>
      <p:sp>
        <p:nvSpPr>
          <p:cNvPr id="1188" name="Google Shape;1188;p48"/>
          <p:cNvSpPr/>
          <p:nvPr/>
        </p:nvSpPr>
        <p:spPr>
          <a:xfrm>
            <a:off x="8892977" y="1743634"/>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Employee</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(Super class)</a:t>
            </a:r>
            <a:endParaRPr/>
          </a:p>
        </p:txBody>
      </p:sp>
      <p:cxnSp>
        <p:nvCxnSpPr>
          <p:cNvPr id="1189" name="Google Shape;1189;p48"/>
          <p:cNvCxnSpPr/>
          <p:nvPr/>
        </p:nvCxnSpPr>
        <p:spPr>
          <a:xfrm>
            <a:off x="9809618" y="2581267"/>
            <a:ext cx="0" cy="1024128"/>
          </a:xfrm>
          <a:prstGeom prst="straightConnector1">
            <a:avLst/>
          </a:prstGeom>
          <a:noFill/>
          <a:ln cap="flat" cmpd="sng" w="28575">
            <a:solidFill>
              <a:schemeClr val="accent4"/>
            </a:solidFill>
            <a:prstDash val="solid"/>
            <a:miter lim="800000"/>
            <a:headEnd len="sm" w="sm" type="none"/>
            <a:tailEnd len="sm" w="sm" type="none"/>
          </a:ln>
        </p:spPr>
      </p:cxnSp>
      <p:cxnSp>
        <p:nvCxnSpPr>
          <p:cNvPr id="1190" name="Google Shape;1190;p48"/>
          <p:cNvCxnSpPr>
            <a:stCxn id="1191" idx="1"/>
          </p:cNvCxnSpPr>
          <p:nvPr/>
        </p:nvCxnSpPr>
        <p:spPr>
          <a:xfrm flipH="1">
            <a:off x="8590568" y="4013522"/>
            <a:ext cx="895200" cy="872700"/>
          </a:xfrm>
          <a:prstGeom prst="straightConnector1">
            <a:avLst/>
          </a:prstGeom>
          <a:noFill/>
          <a:ln cap="flat" cmpd="sng" w="28575">
            <a:solidFill>
              <a:schemeClr val="accent4"/>
            </a:solidFill>
            <a:prstDash val="solid"/>
            <a:miter lim="800000"/>
            <a:headEnd len="sm" w="sm" type="none"/>
            <a:tailEnd len="sm" w="sm" type="none"/>
          </a:ln>
        </p:spPr>
      </p:cxnSp>
      <p:sp>
        <p:nvSpPr>
          <p:cNvPr id="1192" name="Google Shape;1192;p48"/>
          <p:cNvSpPr/>
          <p:nvPr/>
        </p:nvSpPr>
        <p:spPr>
          <a:xfrm>
            <a:off x="765696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Professor</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sp>
        <p:nvSpPr>
          <p:cNvPr id="1193" name="Google Shape;1193;p48"/>
          <p:cNvSpPr/>
          <p:nvPr/>
        </p:nvSpPr>
        <p:spPr>
          <a:xfrm>
            <a:off x="10228718" y="4886153"/>
            <a:ext cx="1828800" cy="838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Head</a:t>
            </a:r>
            <a:endParaRPr/>
          </a:p>
          <a:p>
            <a:pPr indent="0" lvl="0" marL="0" marR="0" rtl="0" algn="ctr">
              <a:spcBef>
                <a:spcPts val="0"/>
              </a:spcBef>
              <a:spcAft>
                <a:spcPts val="0"/>
              </a:spcAft>
              <a:buNone/>
            </a:pPr>
            <a:r>
              <a:rPr i="1" lang="en-US" sz="1800">
                <a:solidFill>
                  <a:srgbClr val="A5A5A5"/>
                </a:solidFill>
                <a:latin typeface="Roboto Condensed"/>
                <a:ea typeface="Roboto Condensed"/>
                <a:cs typeface="Roboto Condensed"/>
                <a:sym typeface="Roboto Condensed"/>
              </a:rPr>
              <a:t>(Sub class)</a:t>
            </a:r>
            <a:endParaRPr/>
          </a:p>
        </p:txBody>
      </p:sp>
      <p:cxnSp>
        <p:nvCxnSpPr>
          <p:cNvPr id="1194" name="Google Shape;1194;p48"/>
          <p:cNvCxnSpPr>
            <a:stCxn id="1191" idx="3"/>
            <a:endCxn id="1193" idx="0"/>
          </p:cNvCxnSpPr>
          <p:nvPr/>
        </p:nvCxnSpPr>
        <p:spPr>
          <a:xfrm>
            <a:off x="10133468" y="4013522"/>
            <a:ext cx="1009800" cy="872700"/>
          </a:xfrm>
          <a:prstGeom prst="straightConnector1">
            <a:avLst/>
          </a:prstGeom>
          <a:noFill/>
          <a:ln cap="flat" cmpd="sng" w="28575">
            <a:solidFill>
              <a:schemeClr val="accent4"/>
            </a:solidFill>
            <a:prstDash val="solid"/>
            <a:miter lim="800000"/>
            <a:headEnd len="sm" w="sm" type="none"/>
            <a:tailEnd len="sm" w="sm" type="none"/>
          </a:ln>
        </p:spPr>
      </p:cxnSp>
      <p:sp>
        <p:nvSpPr>
          <p:cNvPr id="1191" name="Google Shape;1191;p48"/>
          <p:cNvSpPr/>
          <p:nvPr/>
        </p:nvSpPr>
        <p:spPr>
          <a:xfrm>
            <a:off x="9161918" y="3607444"/>
            <a:ext cx="1295400" cy="812156"/>
          </a:xfrm>
          <a:prstGeom prst="flowChartMerge">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cxnSp>
        <p:nvCxnSpPr>
          <p:cNvPr id="1195" name="Google Shape;1195;p48"/>
          <p:cNvCxnSpPr/>
          <p:nvPr/>
        </p:nvCxnSpPr>
        <p:spPr>
          <a:xfrm flipH="1">
            <a:off x="7233932" y="2110030"/>
            <a:ext cx="13447" cy="3798009"/>
          </a:xfrm>
          <a:prstGeom prst="straightConnector1">
            <a:avLst/>
          </a:prstGeom>
          <a:noFill/>
          <a:ln cap="flat" cmpd="sng" w="38100">
            <a:solidFill>
              <a:schemeClr val="accent1"/>
            </a:solidFill>
            <a:prstDash val="solid"/>
            <a:miter lim="800000"/>
            <a:headEnd len="sm" w="sm" type="none"/>
            <a:tailEnd len="sm" w="sm" type="none"/>
          </a:ln>
        </p:spPr>
      </p:cxnSp>
      <p:sp>
        <p:nvSpPr>
          <p:cNvPr id="1196" name="Google Shape;1196;p48"/>
          <p:cNvSpPr/>
          <p:nvPr/>
        </p:nvSpPr>
        <p:spPr>
          <a:xfrm>
            <a:off x="2632237" y="3468182"/>
            <a:ext cx="2103120" cy="723980"/>
          </a:xfrm>
          <a:prstGeom prst="wedgeRoundRectCallout">
            <a:avLst>
              <a:gd fmla="val -13582" name="adj1"/>
              <a:gd fmla="val 99062" name="adj2"/>
              <a:gd fmla="val 16667" name="adj3"/>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Roboto Condensed"/>
                <a:ea typeface="Roboto Condensed"/>
                <a:cs typeface="Roboto Condensed"/>
                <a:sym typeface="Roboto Condensed"/>
              </a:rPr>
              <a:t>Not associated with any sub class</a:t>
            </a:r>
            <a:endParaRPr sz="1800">
              <a:solidFill>
                <a:schemeClr val="dk1"/>
              </a:solidFill>
              <a:latin typeface="Roboto Condensed"/>
              <a:ea typeface="Roboto Condensed"/>
              <a:cs typeface="Roboto Condensed"/>
              <a:sym typeface="Roboto Condensed"/>
            </a:endParaRPr>
          </a:p>
        </p:txBody>
      </p:sp>
      <p:pic>
        <p:nvPicPr>
          <p:cNvPr descr="Related image" id="1197" name="Google Shape;1197;p48"/>
          <p:cNvPicPr preferRelativeResize="0"/>
          <p:nvPr/>
        </p:nvPicPr>
        <p:blipFill rotWithShape="1">
          <a:blip r:embed="rId5">
            <a:alphaModFix/>
          </a:blip>
          <a:srcRect b="0" l="0" r="0" t="0"/>
          <a:stretch/>
        </p:blipFill>
        <p:spPr>
          <a:xfrm>
            <a:off x="2771589" y="4536439"/>
            <a:ext cx="1828799" cy="1371600"/>
          </a:xfrm>
          <a:prstGeom prst="rect">
            <a:avLst/>
          </a:prstGeom>
          <a:noFill/>
          <a:ln>
            <a:noFill/>
          </a:ln>
        </p:spPr>
      </p:pic>
      <p:pic>
        <p:nvPicPr>
          <p:cNvPr descr="https://hindi.sportzwiki.com/wp-content/uploads/2016/08/Gautam-Gambhir3.jpg" id="1198" name="Google Shape;1198;p48"/>
          <p:cNvPicPr preferRelativeResize="0"/>
          <p:nvPr/>
        </p:nvPicPr>
        <p:blipFill rotWithShape="1">
          <a:blip r:embed="rId6">
            <a:alphaModFix/>
          </a:blip>
          <a:srcRect b="0" l="0" r="10138" t="0"/>
          <a:stretch/>
        </p:blipFill>
        <p:spPr>
          <a:xfrm>
            <a:off x="604591" y="2110030"/>
            <a:ext cx="914400" cy="914400"/>
          </a:xfrm>
          <a:prstGeom prst="rect">
            <a:avLst/>
          </a:prstGeom>
          <a:noFill/>
          <a:ln>
            <a:noFill/>
          </a:ln>
        </p:spPr>
      </p:pic>
      <p:pic>
        <p:nvPicPr>
          <p:cNvPr descr="Related image" id="1199" name="Google Shape;1199;p48"/>
          <p:cNvPicPr preferRelativeResize="0"/>
          <p:nvPr/>
        </p:nvPicPr>
        <p:blipFill rotWithShape="1">
          <a:blip r:embed="rId4">
            <a:alphaModFix/>
          </a:blip>
          <a:srcRect b="0" l="21164" r="9438" t="0"/>
          <a:stretch/>
        </p:blipFill>
        <p:spPr>
          <a:xfrm>
            <a:off x="1631876" y="2110030"/>
            <a:ext cx="914400" cy="914400"/>
          </a:xfrm>
          <a:prstGeom prst="rect">
            <a:avLst/>
          </a:prstGeom>
          <a:noFill/>
          <a:ln>
            <a:noFill/>
          </a:ln>
        </p:spPr>
      </p:pic>
      <p:pic>
        <p:nvPicPr>
          <p:cNvPr descr="Related image" id="1200" name="Google Shape;1200;p48"/>
          <p:cNvPicPr preferRelativeResize="0"/>
          <p:nvPr/>
        </p:nvPicPr>
        <p:blipFill rotWithShape="1">
          <a:blip r:embed="rId7">
            <a:alphaModFix/>
          </a:blip>
          <a:srcRect b="0" l="0" r="0" t="0"/>
          <a:stretch/>
        </p:blipFill>
        <p:spPr>
          <a:xfrm>
            <a:off x="4782380" y="2110030"/>
            <a:ext cx="1219199"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8">
                                            <p:txEl>
                                              <p:pRg end="0" st="0"/>
                                            </p:txEl>
                                          </p:spTgt>
                                        </p:tgtEl>
                                        <p:attrNameLst>
                                          <p:attrName>style.visibility</p:attrName>
                                        </p:attrNameLst>
                                      </p:cBhvr>
                                      <p:to>
                                        <p:strVal val="visible"/>
                                      </p:to>
                                    </p:set>
                                    <p:animEffect filter="fade" transition="in">
                                      <p:cBhvr>
                                        <p:cTn dur="500"/>
                                        <p:tgtEl>
                                          <p:spTgt spid="11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8">
                                            <p:txEl>
                                              <p:pRg end="1" st="1"/>
                                            </p:txEl>
                                          </p:spTgt>
                                        </p:tgtEl>
                                        <p:attrNameLst>
                                          <p:attrName>style.visibility</p:attrName>
                                        </p:attrNameLst>
                                      </p:cBhvr>
                                      <p:to>
                                        <p:strVal val="visible"/>
                                      </p:to>
                                    </p:set>
                                    <p:animEffect filter="fade" transition="in">
                                      <p:cBhvr>
                                        <p:cTn dur="500"/>
                                        <p:tgtEl>
                                          <p:spTgt spid="11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8">
                                            <p:txEl>
                                              <p:pRg end="2" st="2"/>
                                            </p:txEl>
                                          </p:spTgt>
                                        </p:tgtEl>
                                        <p:attrNameLst>
                                          <p:attrName>style.visibility</p:attrName>
                                        </p:attrNameLst>
                                      </p:cBhvr>
                                      <p:to>
                                        <p:strVal val="visible"/>
                                      </p:to>
                                    </p:set>
                                    <p:animEffect filter="fade" transition="in">
                                      <p:cBhvr>
                                        <p:cTn dur="500"/>
                                        <p:tgtEl>
                                          <p:spTgt spid="11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500"/>
                                        <p:tgtEl>
                                          <p:spTgt spid="1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1"/>
                                        </p:tgtEl>
                                        <p:attrNameLst>
                                          <p:attrName>style.visibility</p:attrName>
                                        </p:attrNameLst>
                                      </p:cBhvr>
                                      <p:to>
                                        <p:strVal val="visible"/>
                                      </p:to>
                                    </p:set>
                                    <p:animEffect filter="fade" transition="in">
                                      <p:cBhvr>
                                        <p:cTn dur="500"/>
                                        <p:tgtEl>
                                          <p:spTgt spid="1181"/>
                                        </p:tgtEl>
                                      </p:cBhvr>
                                    </p:animEffect>
                                  </p:childTnLst>
                                </p:cTn>
                              </p:par>
                              <p:par>
                                <p:cTn fill="hold" nodeType="withEffect" presetClass="entr" presetID="10" presetSubtype="0">
                                  <p:stCondLst>
                                    <p:cond delay="0"/>
                                  </p:stCondLst>
                                  <p:childTnLst>
                                    <p:set>
                                      <p:cBhvr>
                                        <p:cTn dur="1" fill="hold">
                                          <p:stCondLst>
                                            <p:cond delay="0"/>
                                          </p:stCondLst>
                                        </p:cTn>
                                        <p:tgtEl>
                                          <p:spTgt spid="1180"/>
                                        </p:tgtEl>
                                        <p:attrNameLst>
                                          <p:attrName>style.visibility</p:attrName>
                                        </p:attrNameLst>
                                      </p:cBhvr>
                                      <p:to>
                                        <p:strVal val="visible"/>
                                      </p:to>
                                    </p:set>
                                    <p:animEffect filter="fade" transition="in">
                                      <p:cBhvr>
                                        <p:cTn dur="500"/>
                                        <p:tgtEl>
                                          <p:spTgt spid="1180"/>
                                        </p:tgtEl>
                                      </p:cBhvr>
                                    </p:animEffect>
                                  </p:childTnLst>
                                </p:cTn>
                              </p:par>
                              <p:par>
                                <p:cTn fill="hold" nodeType="with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500"/>
                                        <p:tgtEl>
                                          <p:spTgt spid="1182"/>
                                        </p:tgtEl>
                                      </p:cBhvr>
                                    </p:animEffect>
                                  </p:childTnLst>
                                </p:cTn>
                              </p:par>
                              <p:par>
                                <p:cTn fill="hold" nodeType="with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500"/>
                                        <p:tgtEl>
                                          <p:spTgt spid="1183"/>
                                        </p:tgtEl>
                                      </p:cBhvr>
                                    </p:animEffect>
                                  </p:childTnLst>
                                </p:cTn>
                              </p:par>
                              <p:par>
                                <p:cTn fill="hold" nodeType="with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500"/>
                                        <p:tgtEl>
                                          <p:spTgt spid="1184"/>
                                        </p:tgtEl>
                                      </p:cBhvr>
                                    </p:animEffect>
                                  </p:childTnLst>
                                </p:cTn>
                              </p:par>
                              <p:par>
                                <p:cTn fill="hold" nodeType="withEffect" presetClass="entr" presetID="10" presetSubtype="0">
                                  <p:stCondLst>
                                    <p:cond delay="0"/>
                                  </p:stCondLst>
                                  <p:childTnLst>
                                    <p:set>
                                      <p:cBhvr>
                                        <p:cTn dur="1" fill="hold">
                                          <p:stCondLst>
                                            <p:cond delay="0"/>
                                          </p:stCondLst>
                                        </p:cTn>
                                        <p:tgtEl>
                                          <p:spTgt spid="1185"/>
                                        </p:tgtEl>
                                        <p:attrNameLst>
                                          <p:attrName>style.visibility</p:attrName>
                                        </p:attrNameLst>
                                      </p:cBhvr>
                                      <p:to>
                                        <p:strVal val="visible"/>
                                      </p:to>
                                    </p:set>
                                    <p:animEffect filter="fade" transition="in">
                                      <p:cBhvr>
                                        <p:cTn dur="500"/>
                                        <p:tgtEl>
                                          <p:spTgt spid="1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500"/>
                                        <p:tgtEl>
                                          <p:spTgt spid="1200"/>
                                        </p:tgtEl>
                                      </p:cBhvr>
                                    </p:animEffect>
                                  </p:childTnLst>
                                </p:cTn>
                              </p:par>
                              <p:par>
                                <p:cTn fill="hold" nodeType="with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500"/>
                                        <p:tgtEl>
                                          <p:spTgt spid="1198"/>
                                        </p:tgtEl>
                                      </p:cBhvr>
                                    </p:animEffect>
                                  </p:childTnLst>
                                </p:cTn>
                              </p:par>
                              <p:par>
                                <p:cTn fill="hold" nodeType="withEffect" presetClass="entr" presetID="10" presetSubtype="0">
                                  <p:stCondLst>
                                    <p:cond delay="0"/>
                                  </p:stCondLst>
                                  <p:childTnLst>
                                    <p:set>
                                      <p:cBhvr>
                                        <p:cTn dur="1" fill="hold">
                                          <p:stCondLst>
                                            <p:cond delay="0"/>
                                          </p:stCondLst>
                                        </p:cTn>
                                        <p:tgtEl>
                                          <p:spTgt spid="1199"/>
                                        </p:tgtEl>
                                        <p:attrNameLst>
                                          <p:attrName>style.visibility</p:attrName>
                                        </p:attrNameLst>
                                      </p:cBhvr>
                                      <p:to>
                                        <p:strVal val="visible"/>
                                      </p:to>
                                    </p:set>
                                    <p:animEffect filter="fade" transition="in">
                                      <p:cBhvr>
                                        <p:cTn dur="500"/>
                                        <p:tgtEl>
                                          <p:spTgt spid="1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500"/>
                                        <p:tgtEl>
                                          <p:spTgt spid="1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gtEl>
                                        <p:attrNameLst>
                                          <p:attrName>style.visibility</p:attrName>
                                        </p:attrNameLst>
                                      </p:cBhvr>
                                      <p:to>
                                        <p:strVal val="visible"/>
                                      </p:to>
                                    </p:set>
                                    <p:animEffect filter="fade" transition="in">
                                      <p:cBhvr>
                                        <p:cTn dur="500"/>
                                        <p:tgtEl>
                                          <p:spTgt spid="1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7"/>
                                        </p:tgtEl>
                                        <p:attrNameLst>
                                          <p:attrName>style.visibility</p:attrName>
                                        </p:attrNameLst>
                                      </p:cBhvr>
                                      <p:to>
                                        <p:strVal val="visible"/>
                                      </p:to>
                                    </p:set>
                                    <p:animEffect filter="fade" transition="in">
                                      <p:cBhvr>
                                        <p:cTn dur="500"/>
                                        <p:tgtEl>
                                          <p:spTgt spid="1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6"/>
                                        </p:tgtEl>
                                        <p:attrNameLst>
                                          <p:attrName>style.visibility</p:attrName>
                                        </p:attrNameLst>
                                      </p:cBhvr>
                                      <p:to>
                                        <p:strVal val="visible"/>
                                      </p:to>
                                    </p:set>
                                    <p:animEffect filter="fade" transition="in">
                                      <p:cBhvr>
                                        <p:cTn dur="500"/>
                                        <p:tgtEl>
                                          <p:spTgt spid="1196"/>
                                        </p:tgtEl>
                                      </p:cBhvr>
                                    </p:animEffect>
                                  </p:childTnLst>
                                </p:cTn>
                              </p:par>
                              <p:par>
                                <p:cTn fill="hold" nodeType="withEffect" presetClass="entr" presetID="10" presetSubtype="0">
                                  <p:stCondLst>
                                    <p:cond delay="0"/>
                                  </p:stCondLst>
                                  <p:childTnLst>
                                    <p:set>
                                      <p:cBhvr>
                                        <p:cTn dur="1" fill="hold">
                                          <p:stCondLst>
                                            <p:cond delay="0"/>
                                          </p:stCondLst>
                                        </p:cTn>
                                        <p:tgtEl>
                                          <p:spTgt spid="1196">
                                            <p:txEl>
                                              <p:pRg end="0" st="0"/>
                                            </p:txEl>
                                          </p:spTgt>
                                        </p:tgtEl>
                                        <p:attrNameLst>
                                          <p:attrName>style.visibility</p:attrName>
                                        </p:attrNameLst>
                                      </p:cBhvr>
                                      <p:to>
                                        <p:strVal val="visible"/>
                                      </p:to>
                                    </p:set>
                                    <p:animEffect filter="fade" transition="in">
                                      <p:cBhvr>
                                        <p:cTn dur="500"/>
                                        <p:tgtEl>
                                          <p:spTgt spid="11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5"/>
                                        </p:tgtEl>
                                        <p:attrNameLst>
                                          <p:attrName>style.visibility</p:attrName>
                                        </p:attrNameLst>
                                      </p:cBhvr>
                                      <p:to>
                                        <p:strVal val="visible"/>
                                      </p:to>
                                    </p:set>
                                    <p:animEffect filter="fade" transition="in">
                                      <p:cBhvr>
                                        <p:cTn dur="500"/>
                                        <p:tgtEl>
                                          <p:spTgt spid="1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8"/>
                                        </p:tgtEl>
                                        <p:attrNameLst>
                                          <p:attrName>style.visibility</p:attrName>
                                        </p:attrNameLst>
                                      </p:cBhvr>
                                      <p:to>
                                        <p:strVal val="visible"/>
                                      </p:to>
                                    </p:set>
                                    <p:animEffect filter="fade" transition="in">
                                      <p:cBhvr>
                                        <p:cTn dur="500"/>
                                        <p:tgtEl>
                                          <p:spTgt spid="1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2"/>
                                        </p:tgtEl>
                                        <p:attrNameLst>
                                          <p:attrName>style.visibility</p:attrName>
                                        </p:attrNameLst>
                                      </p:cBhvr>
                                      <p:to>
                                        <p:strVal val="visible"/>
                                      </p:to>
                                    </p:set>
                                    <p:animEffect filter="fade" transition="in">
                                      <p:cBhvr>
                                        <p:cTn dur="500"/>
                                        <p:tgtEl>
                                          <p:spTgt spid="1192"/>
                                        </p:tgtEl>
                                      </p:cBhvr>
                                    </p:animEffect>
                                  </p:childTnLst>
                                </p:cTn>
                              </p:par>
                              <p:par>
                                <p:cTn fill="hold" nodeType="withEffect" presetClass="entr" presetID="10" presetSubtype="0">
                                  <p:stCondLst>
                                    <p:cond delay="0"/>
                                  </p:stCondLst>
                                  <p:childTnLst>
                                    <p:set>
                                      <p:cBhvr>
                                        <p:cTn dur="1" fill="hold">
                                          <p:stCondLst>
                                            <p:cond delay="0"/>
                                          </p:stCondLst>
                                        </p:cTn>
                                        <p:tgtEl>
                                          <p:spTgt spid="1193"/>
                                        </p:tgtEl>
                                        <p:attrNameLst>
                                          <p:attrName>style.visibility</p:attrName>
                                        </p:attrNameLst>
                                      </p:cBhvr>
                                      <p:to>
                                        <p:strVal val="visible"/>
                                      </p:to>
                                    </p:set>
                                    <p:animEffect filter="fade" transition="in">
                                      <p:cBhvr>
                                        <p:cTn dur="500"/>
                                        <p:tgtEl>
                                          <p:spTgt spid="1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gtEl>
                                        <p:attrNameLst>
                                          <p:attrName>style.visibility</p:attrName>
                                        </p:attrNameLst>
                                      </p:cBhvr>
                                      <p:to>
                                        <p:strVal val="visible"/>
                                      </p:to>
                                    </p:set>
                                    <p:animEffect filter="fade" transition="in">
                                      <p:cBhvr>
                                        <p:cTn dur="500"/>
                                        <p:tgtEl>
                                          <p:spTgt spid="1191"/>
                                        </p:tgtEl>
                                      </p:cBhvr>
                                    </p:animEffect>
                                  </p:childTnLst>
                                </p:cTn>
                              </p:par>
                              <p:par>
                                <p:cTn fill="hold" nodeType="withEffect" presetClass="entr" presetID="10" presetSubtype="0">
                                  <p:stCondLst>
                                    <p:cond delay="0"/>
                                  </p:stCondLst>
                                  <p:childTnLst>
                                    <p:set>
                                      <p:cBhvr>
                                        <p:cTn dur="1" fill="hold">
                                          <p:stCondLst>
                                            <p:cond delay="0"/>
                                          </p:stCondLst>
                                        </p:cTn>
                                        <p:tgtEl>
                                          <p:spTgt spid="1189"/>
                                        </p:tgtEl>
                                        <p:attrNameLst>
                                          <p:attrName>style.visibility</p:attrName>
                                        </p:attrNameLst>
                                      </p:cBhvr>
                                      <p:to>
                                        <p:strVal val="visible"/>
                                      </p:to>
                                    </p:set>
                                    <p:animEffect filter="fade" transition="in">
                                      <p:cBhvr>
                                        <p:cTn dur="500"/>
                                        <p:tgtEl>
                                          <p:spTgt spid="1189"/>
                                        </p:tgtEl>
                                      </p:cBhvr>
                                    </p:animEffect>
                                  </p:childTnLst>
                                </p:cTn>
                              </p:par>
                              <p:par>
                                <p:cTn fill="hold" nodeType="with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500"/>
                                        <p:tgtEl>
                                          <p:spTgt spid="1190"/>
                                        </p:tgtEl>
                                      </p:cBhvr>
                                    </p:animEffect>
                                  </p:childTnLst>
                                </p:cTn>
                              </p:par>
                              <p:par>
                                <p:cTn fill="hold" nodeType="withEffect" presetClass="entr" presetID="10" presetSubtype="0">
                                  <p:stCondLst>
                                    <p:cond delay="0"/>
                                  </p:stCondLst>
                                  <p:childTnLst>
                                    <p:set>
                                      <p:cBhvr>
                                        <p:cTn dur="1" fill="hold">
                                          <p:stCondLst>
                                            <p:cond delay="0"/>
                                          </p:stCondLst>
                                        </p:cTn>
                                        <p:tgtEl>
                                          <p:spTgt spid="1194"/>
                                        </p:tgtEl>
                                        <p:attrNameLst>
                                          <p:attrName>style.visibility</p:attrName>
                                        </p:attrNameLst>
                                      </p:cBhvr>
                                      <p:to>
                                        <p:strVal val="visible"/>
                                      </p:to>
                                    </p:set>
                                    <p:animEffect filter="fade" transition="in">
                                      <p:cBhvr>
                                        <p:cTn dur="500"/>
                                        <p:tgtEl>
                                          <p:spTgt spid="1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4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Aggregation in E-R diagram</a:t>
            </a:r>
            <a:endParaRPr>
              <a:solidFill>
                <a:srgbClr val="5C2321"/>
              </a:solidFill>
            </a:endParaRPr>
          </a:p>
        </p:txBody>
      </p:sp>
      <p:sp>
        <p:nvSpPr>
          <p:cNvPr id="1206" name="Google Shape;1206;p4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- 9</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50"/>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Limitation of E-R diagram</a:t>
            </a:r>
            <a:endParaRPr/>
          </a:p>
        </p:txBody>
      </p:sp>
      <p:sp>
        <p:nvSpPr>
          <p:cNvPr id="1212" name="Google Shape;1212;p50"/>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In E-R model we </a:t>
            </a:r>
            <a:r>
              <a:rPr b="1" lang="en-US">
                <a:solidFill>
                  <a:schemeClr val="accent6"/>
                </a:solidFill>
              </a:rPr>
              <a:t>cannot express relationships between two relationships</a:t>
            </a:r>
            <a:r>
              <a:rPr lang="en-US"/>
              <a:t>.</a:t>
            </a:r>
            <a:endParaRPr/>
          </a:p>
        </p:txBody>
      </p:sp>
      <p:sp>
        <p:nvSpPr>
          <p:cNvPr id="1213" name="Google Shape;1213;p50"/>
          <p:cNvSpPr/>
          <p:nvPr/>
        </p:nvSpPr>
        <p:spPr>
          <a:xfrm>
            <a:off x="4809788" y="1713914"/>
            <a:ext cx="2470150" cy="6858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Relation</a:t>
            </a:r>
            <a:endParaRPr sz="2000">
              <a:solidFill>
                <a:schemeClr val="dk1"/>
              </a:solidFill>
              <a:latin typeface="Roboto Condensed"/>
              <a:ea typeface="Roboto Condensed"/>
              <a:cs typeface="Roboto Condensed"/>
              <a:sym typeface="Roboto Condensed"/>
            </a:endParaRPr>
          </a:p>
        </p:txBody>
      </p:sp>
      <p:sp>
        <p:nvSpPr>
          <p:cNvPr id="1214" name="Google Shape;1214;p50"/>
          <p:cNvSpPr/>
          <p:nvPr/>
        </p:nvSpPr>
        <p:spPr>
          <a:xfrm>
            <a:off x="1903827" y="1713914"/>
            <a:ext cx="2470150" cy="6858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Relation</a:t>
            </a:r>
            <a:r>
              <a:rPr lang="en-US" sz="2000">
                <a:solidFill>
                  <a:schemeClr val="lt1"/>
                </a:solidFill>
                <a:latin typeface="Roboto Condensed"/>
                <a:ea typeface="Roboto Condensed"/>
                <a:cs typeface="Roboto Condensed"/>
                <a:sym typeface="Roboto Condensed"/>
              </a:rPr>
              <a:t> 1</a:t>
            </a:r>
            <a:endParaRPr sz="2000">
              <a:solidFill>
                <a:schemeClr val="lt1"/>
              </a:solidFill>
              <a:latin typeface="Roboto Condensed"/>
              <a:ea typeface="Roboto Condensed"/>
              <a:cs typeface="Roboto Condensed"/>
              <a:sym typeface="Roboto Condensed"/>
            </a:endParaRPr>
          </a:p>
        </p:txBody>
      </p:sp>
      <p:sp>
        <p:nvSpPr>
          <p:cNvPr id="1215" name="Google Shape;1215;p50"/>
          <p:cNvSpPr/>
          <p:nvPr/>
        </p:nvSpPr>
        <p:spPr>
          <a:xfrm>
            <a:off x="7663277" y="1713914"/>
            <a:ext cx="2470150" cy="6858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Relation</a:t>
            </a:r>
            <a:r>
              <a:rPr lang="en-US" sz="2000">
                <a:solidFill>
                  <a:schemeClr val="lt1"/>
                </a:solidFill>
                <a:latin typeface="Roboto Condensed"/>
                <a:ea typeface="Roboto Condensed"/>
                <a:cs typeface="Roboto Condensed"/>
                <a:sym typeface="Roboto Condensed"/>
              </a:rPr>
              <a:t> 2</a:t>
            </a:r>
            <a:endParaRPr sz="2000">
              <a:solidFill>
                <a:schemeClr val="lt1"/>
              </a:solidFill>
              <a:latin typeface="Roboto Condensed"/>
              <a:ea typeface="Roboto Condensed"/>
              <a:cs typeface="Roboto Condensed"/>
              <a:sym typeface="Roboto Condensed"/>
            </a:endParaRPr>
          </a:p>
        </p:txBody>
      </p:sp>
      <p:cxnSp>
        <p:nvCxnSpPr>
          <p:cNvPr id="1216" name="Google Shape;1216;p50"/>
          <p:cNvCxnSpPr>
            <a:stCxn id="1214" idx="3"/>
            <a:endCxn id="1213" idx="1"/>
          </p:cNvCxnSpPr>
          <p:nvPr/>
        </p:nvCxnSpPr>
        <p:spPr>
          <a:xfrm>
            <a:off x="4373977" y="2056814"/>
            <a:ext cx="435900" cy="0"/>
          </a:xfrm>
          <a:prstGeom prst="straightConnector1">
            <a:avLst/>
          </a:prstGeom>
          <a:noFill/>
          <a:ln cap="flat" cmpd="sng" w="28575">
            <a:solidFill>
              <a:schemeClr val="accent4"/>
            </a:solidFill>
            <a:prstDash val="solid"/>
            <a:miter lim="800000"/>
            <a:headEnd len="sm" w="sm" type="none"/>
            <a:tailEnd len="sm" w="sm" type="none"/>
          </a:ln>
        </p:spPr>
      </p:cxnSp>
      <p:cxnSp>
        <p:nvCxnSpPr>
          <p:cNvPr id="1217" name="Google Shape;1217;p50"/>
          <p:cNvCxnSpPr>
            <a:stCxn id="1213" idx="3"/>
          </p:cNvCxnSpPr>
          <p:nvPr/>
        </p:nvCxnSpPr>
        <p:spPr>
          <a:xfrm>
            <a:off x="7279938" y="2056814"/>
            <a:ext cx="383400" cy="0"/>
          </a:xfrm>
          <a:prstGeom prst="straightConnector1">
            <a:avLst/>
          </a:prstGeom>
          <a:noFill/>
          <a:ln cap="flat" cmpd="sng" w="28575">
            <a:solidFill>
              <a:schemeClr val="accent4"/>
            </a:solidFill>
            <a:prstDash val="solid"/>
            <a:miter lim="800000"/>
            <a:headEnd len="sm" w="sm" type="none"/>
            <a:tailEnd len="sm" w="sm" type="none"/>
          </a:ln>
        </p:spPr>
      </p:cxnSp>
      <p:sp>
        <p:nvSpPr>
          <p:cNvPr id="1218" name="Google Shape;1218;p50"/>
          <p:cNvSpPr/>
          <p:nvPr/>
        </p:nvSpPr>
        <p:spPr>
          <a:xfrm>
            <a:off x="5673503" y="1529577"/>
            <a:ext cx="742720" cy="1054473"/>
          </a:xfrm>
          <a:prstGeom prst="mathMultiply">
            <a:avLst>
              <a:gd fmla="val 15248" name="adj1"/>
            </a:avLst>
          </a:prstGeom>
          <a:solidFill>
            <a:schemeClr val="accent6"/>
          </a:soli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Condensed"/>
              <a:ea typeface="Roboto Condensed"/>
              <a:cs typeface="Roboto Condensed"/>
              <a:sym typeface="Roboto Condensed"/>
            </a:endParaRPr>
          </a:p>
        </p:txBody>
      </p:sp>
      <p:sp>
        <p:nvSpPr>
          <p:cNvPr id="1219" name="Google Shape;1219;p50"/>
          <p:cNvSpPr/>
          <p:nvPr/>
        </p:nvSpPr>
        <p:spPr>
          <a:xfrm>
            <a:off x="4809788" y="3090808"/>
            <a:ext cx="2470150" cy="6858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Relation</a:t>
            </a:r>
            <a:endParaRPr sz="2000">
              <a:solidFill>
                <a:schemeClr val="dk1"/>
              </a:solidFill>
              <a:latin typeface="Roboto Condensed"/>
              <a:ea typeface="Roboto Condensed"/>
              <a:cs typeface="Roboto Condensed"/>
              <a:sym typeface="Roboto Condensed"/>
            </a:endParaRPr>
          </a:p>
        </p:txBody>
      </p:sp>
      <p:sp>
        <p:nvSpPr>
          <p:cNvPr id="1220" name="Google Shape;1220;p50"/>
          <p:cNvSpPr/>
          <p:nvPr/>
        </p:nvSpPr>
        <p:spPr>
          <a:xfrm>
            <a:off x="1903827" y="3090808"/>
            <a:ext cx="2470150" cy="6858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Entity 1</a:t>
            </a:r>
            <a:endParaRPr sz="1800">
              <a:solidFill>
                <a:schemeClr val="dk1"/>
              </a:solidFill>
              <a:latin typeface="Roboto Condensed"/>
              <a:ea typeface="Roboto Condensed"/>
              <a:cs typeface="Roboto Condensed"/>
              <a:sym typeface="Roboto Condensed"/>
            </a:endParaRPr>
          </a:p>
        </p:txBody>
      </p:sp>
      <p:sp>
        <p:nvSpPr>
          <p:cNvPr id="1221" name="Google Shape;1221;p50"/>
          <p:cNvSpPr/>
          <p:nvPr/>
        </p:nvSpPr>
        <p:spPr>
          <a:xfrm>
            <a:off x="7663277" y="3090808"/>
            <a:ext cx="2470150" cy="6858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Entity 2</a:t>
            </a:r>
            <a:endParaRPr sz="1800">
              <a:solidFill>
                <a:schemeClr val="dk1"/>
              </a:solidFill>
              <a:latin typeface="Roboto Condensed"/>
              <a:ea typeface="Roboto Condensed"/>
              <a:cs typeface="Roboto Condensed"/>
              <a:sym typeface="Roboto Condensed"/>
            </a:endParaRPr>
          </a:p>
        </p:txBody>
      </p:sp>
      <p:cxnSp>
        <p:nvCxnSpPr>
          <p:cNvPr id="1222" name="Google Shape;1222;p50"/>
          <p:cNvCxnSpPr>
            <a:endCxn id="1219" idx="1"/>
          </p:cNvCxnSpPr>
          <p:nvPr/>
        </p:nvCxnSpPr>
        <p:spPr>
          <a:xfrm>
            <a:off x="4373888" y="3433708"/>
            <a:ext cx="435900" cy="0"/>
          </a:xfrm>
          <a:prstGeom prst="straightConnector1">
            <a:avLst/>
          </a:prstGeom>
          <a:noFill/>
          <a:ln cap="flat" cmpd="sng" w="28575">
            <a:solidFill>
              <a:schemeClr val="accent4"/>
            </a:solidFill>
            <a:prstDash val="solid"/>
            <a:miter lim="800000"/>
            <a:headEnd len="sm" w="sm" type="none"/>
            <a:tailEnd len="sm" w="sm" type="none"/>
          </a:ln>
        </p:spPr>
      </p:cxnSp>
      <p:cxnSp>
        <p:nvCxnSpPr>
          <p:cNvPr id="1223" name="Google Shape;1223;p50"/>
          <p:cNvCxnSpPr>
            <a:stCxn id="1219" idx="3"/>
          </p:cNvCxnSpPr>
          <p:nvPr/>
        </p:nvCxnSpPr>
        <p:spPr>
          <a:xfrm>
            <a:off x="7279938" y="3433708"/>
            <a:ext cx="383400" cy="0"/>
          </a:xfrm>
          <a:prstGeom prst="straightConnector1">
            <a:avLst/>
          </a:prstGeom>
          <a:noFill/>
          <a:ln cap="flat" cmpd="sng" w="28575">
            <a:solidFill>
              <a:schemeClr val="accent4"/>
            </a:solidFill>
            <a:prstDash val="solid"/>
            <a:miter lim="800000"/>
            <a:headEnd len="sm" w="sm" type="none"/>
            <a:tailEnd len="sm" w="sm" type="none"/>
          </a:ln>
        </p:spPr>
      </p:cxnSp>
      <p:grpSp>
        <p:nvGrpSpPr>
          <p:cNvPr id="1224" name="Google Shape;1224;p50"/>
          <p:cNvGrpSpPr/>
          <p:nvPr/>
        </p:nvGrpSpPr>
        <p:grpSpPr>
          <a:xfrm>
            <a:off x="5713827" y="3197216"/>
            <a:ext cx="845347" cy="472983"/>
            <a:chOff x="4420049" y="3019518"/>
            <a:chExt cx="845347" cy="472983"/>
          </a:xfrm>
        </p:grpSpPr>
        <p:cxnSp>
          <p:nvCxnSpPr>
            <p:cNvPr id="1225" name="Google Shape;1225;p50"/>
            <p:cNvCxnSpPr/>
            <p:nvPr/>
          </p:nvCxnSpPr>
          <p:spPr>
            <a:xfrm>
              <a:off x="4420049" y="3106458"/>
              <a:ext cx="308727" cy="386043"/>
            </a:xfrm>
            <a:prstGeom prst="straightConnector1">
              <a:avLst/>
            </a:prstGeom>
            <a:noFill/>
            <a:ln cap="flat" cmpd="sng" w="76200">
              <a:solidFill>
                <a:srgbClr val="00B050"/>
              </a:solidFill>
              <a:prstDash val="solid"/>
              <a:miter lim="800000"/>
              <a:headEnd len="sm" w="sm" type="none"/>
              <a:tailEnd len="sm" w="sm" type="none"/>
            </a:ln>
          </p:spPr>
        </p:cxnSp>
        <p:cxnSp>
          <p:nvCxnSpPr>
            <p:cNvPr id="1226" name="Google Shape;1226;p50"/>
            <p:cNvCxnSpPr/>
            <p:nvPr/>
          </p:nvCxnSpPr>
          <p:spPr>
            <a:xfrm flipH="1" rot="10800000">
              <a:off x="4675598" y="3019518"/>
              <a:ext cx="589798" cy="469528"/>
            </a:xfrm>
            <a:prstGeom prst="straightConnector1">
              <a:avLst/>
            </a:prstGeom>
            <a:noFill/>
            <a:ln cap="flat" cmpd="sng" w="76200">
              <a:solidFill>
                <a:srgbClr val="00B05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xEl>
                                              <p:pRg end="0" st="0"/>
                                            </p:txEl>
                                          </p:spTgt>
                                        </p:tgtEl>
                                        <p:attrNameLst>
                                          <p:attrName>style.visibility</p:attrName>
                                        </p:attrNameLst>
                                      </p:cBhvr>
                                      <p:to>
                                        <p:strVal val="visible"/>
                                      </p:to>
                                    </p:set>
                                    <p:animEffect filter="fade" transition="in">
                                      <p:cBhvr>
                                        <p:cTn dur="500"/>
                                        <p:tgtEl>
                                          <p:spTgt spid="1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4"/>
                                        </p:tgtEl>
                                        <p:attrNameLst>
                                          <p:attrName>style.visibility</p:attrName>
                                        </p:attrNameLst>
                                      </p:cBhvr>
                                      <p:to>
                                        <p:strVal val="visible"/>
                                      </p:to>
                                    </p:set>
                                    <p:animEffect filter="fade" transition="in">
                                      <p:cBhvr>
                                        <p:cTn dur="500"/>
                                        <p:tgtEl>
                                          <p:spTgt spid="1214"/>
                                        </p:tgtEl>
                                      </p:cBhvr>
                                    </p:animEffect>
                                  </p:childTnLst>
                                </p:cTn>
                              </p:par>
                              <p:par>
                                <p:cTn fill="hold" nodeType="withEffect" presetClass="entr" presetID="10" presetSubtype="0">
                                  <p:stCondLst>
                                    <p:cond delay="0"/>
                                  </p:stCondLst>
                                  <p:childTnLst>
                                    <p:set>
                                      <p:cBhvr>
                                        <p:cTn dur="1" fill="hold">
                                          <p:stCondLst>
                                            <p:cond delay="0"/>
                                          </p:stCondLst>
                                        </p:cTn>
                                        <p:tgtEl>
                                          <p:spTgt spid="1215"/>
                                        </p:tgtEl>
                                        <p:attrNameLst>
                                          <p:attrName>style.visibility</p:attrName>
                                        </p:attrNameLst>
                                      </p:cBhvr>
                                      <p:to>
                                        <p:strVal val="visible"/>
                                      </p:to>
                                    </p:set>
                                    <p:animEffect filter="fade" transition="in">
                                      <p:cBhvr>
                                        <p:cTn dur="500"/>
                                        <p:tgtEl>
                                          <p:spTgt spid="12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500"/>
                                        <p:tgtEl>
                                          <p:spTgt spid="1213"/>
                                        </p:tgtEl>
                                      </p:cBhvr>
                                    </p:animEffect>
                                  </p:childTnLst>
                                </p:cTn>
                              </p:par>
                              <p:par>
                                <p:cTn fill="hold" nodeType="withEffect" presetClass="entr" presetID="10" presetSubtype="0">
                                  <p:stCondLst>
                                    <p:cond delay="0"/>
                                  </p:stCondLst>
                                  <p:childTnLst>
                                    <p:set>
                                      <p:cBhvr>
                                        <p:cTn dur="1" fill="hold">
                                          <p:stCondLst>
                                            <p:cond delay="0"/>
                                          </p:stCondLst>
                                        </p:cTn>
                                        <p:tgtEl>
                                          <p:spTgt spid="1216"/>
                                        </p:tgtEl>
                                        <p:attrNameLst>
                                          <p:attrName>style.visibility</p:attrName>
                                        </p:attrNameLst>
                                      </p:cBhvr>
                                      <p:to>
                                        <p:strVal val="visible"/>
                                      </p:to>
                                    </p:set>
                                    <p:animEffect filter="fade" transition="in">
                                      <p:cBhvr>
                                        <p:cTn dur="500"/>
                                        <p:tgtEl>
                                          <p:spTgt spid="1216"/>
                                        </p:tgtEl>
                                      </p:cBhvr>
                                    </p:animEffect>
                                  </p:childTnLst>
                                </p:cTn>
                              </p:par>
                              <p:par>
                                <p:cTn fill="hold" nodeType="withEffect" presetClass="entr" presetID="10" presetSubtype="0">
                                  <p:stCondLst>
                                    <p:cond delay="0"/>
                                  </p:stCondLst>
                                  <p:childTnLst>
                                    <p:set>
                                      <p:cBhvr>
                                        <p:cTn dur="1" fill="hold">
                                          <p:stCondLst>
                                            <p:cond delay="0"/>
                                          </p:stCondLst>
                                        </p:cTn>
                                        <p:tgtEl>
                                          <p:spTgt spid="1217"/>
                                        </p:tgtEl>
                                        <p:attrNameLst>
                                          <p:attrName>style.visibility</p:attrName>
                                        </p:attrNameLst>
                                      </p:cBhvr>
                                      <p:to>
                                        <p:strVal val="visible"/>
                                      </p:to>
                                    </p:set>
                                    <p:animEffect filter="fade" transition="in">
                                      <p:cBhvr>
                                        <p:cTn dur="500"/>
                                        <p:tgtEl>
                                          <p:spTgt spid="1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8"/>
                                        </p:tgtEl>
                                        <p:attrNameLst>
                                          <p:attrName>style.visibility</p:attrName>
                                        </p:attrNameLst>
                                      </p:cBhvr>
                                      <p:to>
                                        <p:strVal val="visible"/>
                                      </p:to>
                                    </p:set>
                                    <p:animEffect filter="fade" transition="in">
                                      <p:cBhvr>
                                        <p:cTn dur="500"/>
                                        <p:tgtEl>
                                          <p:spTgt spid="1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500"/>
                                        <p:tgtEl>
                                          <p:spTgt spid="1220"/>
                                        </p:tgtEl>
                                      </p:cBhvr>
                                    </p:animEffect>
                                  </p:childTnLst>
                                </p:cTn>
                              </p:par>
                              <p:par>
                                <p:cTn fill="hold" nodeType="withEffect" presetClass="entr" presetID="10" presetSubtype="0">
                                  <p:stCondLst>
                                    <p:cond delay="0"/>
                                  </p:stCondLst>
                                  <p:childTnLst>
                                    <p:set>
                                      <p:cBhvr>
                                        <p:cTn dur="1" fill="hold">
                                          <p:stCondLst>
                                            <p:cond delay="0"/>
                                          </p:stCondLst>
                                        </p:cTn>
                                        <p:tgtEl>
                                          <p:spTgt spid="1221"/>
                                        </p:tgtEl>
                                        <p:attrNameLst>
                                          <p:attrName>style.visibility</p:attrName>
                                        </p:attrNameLst>
                                      </p:cBhvr>
                                      <p:to>
                                        <p:strVal val="visible"/>
                                      </p:to>
                                    </p:set>
                                    <p:animEffect filter="fade" transition="in">
                                      <p:cBhvr>
                                        <p:cTn dur="500"/>
                                        <p:tgtEl>
                                          <p:spTgt spid="1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9"/>
                                        </p:tgtEl>
                                        <p:attrNameLst>
                                          <p:attrName>style.visibility</p:attrName>
                                        </p:attrNameLst>
                                      </p:cBhvr>
                                      <p:to>
                                        <p:strVal val="visible"/>
                                      </p:to>
                                    </p:set>
                                    <p:animEffect filter="fade" transition="in">
                                      <p:cBhvr>
                                        <p:cTn dur="500"/>
                                        <p:tgtEl>
                                          <p:spTgt spid="1219"/>
                                        </p:tgtEl>
                                      </p:cBhvr>
                                    </p:animEffect>
                                  </p:childTnLst>
                                </p:cTn>
                              </p:par>
                              <p:par>
                                <p:cTn fill="hold" nodeType="withEffect" presetClass="entr" presetID="10" presetSubtype="0">
                                  <p:stCondLst>
                                    <p:cond delay="0"/>
                                  </p:stCondLst>
                                  <p:childTnLst>
                                    <p:set>
                                      <p:cBhvr>
                                        <p:cTn dur="1" fill="hold">
                                          <p:stCondLst>
                                            <p:cond delay="0"/>
                                          </p:stCondLst>
                                        </p:cTn>
                                        <p:tgtEl>
                                          <p:spTgt spid="1222"/>
                                        </p:tgtEl>
                                        <p:attrNameLst>
                                          <p:attrName>style.visibility</p:attrName>
                                        </p:attrNameLst>
                                      </p:cBhvr>
                                      <p:to>
                                        <p:strVal val="visible"/>
                                      </p:to>
                                    </p:set>
                                    <p:animEffect filter="fade" transition="in">
                                      <p:cBhvr>
                                        <p:cTn dur="500"/>
                                        <p:tgtEl>
                                          <p:spTgt spid="1222"/>
                                        </p:tgtEl>
                                      </p:cBhvr>
                                    </p:animEffect>
                                  </p:childTnLst>
                                </p:cTn>
                              </p:par>
                              <p:par>
                                <p:cTn fill="hold" nodeType="withEffect" presetClass="entr" presetID="10" presetSubtype="0">
                                  <p:stCondLst>
                                    <p:cond delay="0"/>
                                  </p:stCondLst>
                                  <p:childTnLst>
                                    <p:set>
                                      <p:cBhvr>
                                        <p:cTn dur="1" fill="hold">
                                          <p:stCondLst>
                                            <p:cond delay="0"/>
                                          </p:stCondLst>
                                        </p:cTn>
                                        <p:tgtEl>
                                          <p:spTgt spid="1223"/>
                                        </p:tgtEl>
                                        <p:attrNameLst>
                                          <p:attrName>style.visibility</p:attrName>
                                        </p:attrNameLst>
                                      </p:cBhvr>
                                      <p:to>
                                        <p:strVal val="visible"/>
                                      </p:to>
                                    </p:set>
                                    <p:animEffect filter="fade" transition="in">
                                      <p:cBhvr>
                                        <p:cTn dur="500"/>
                                        <p:tgtEl>
                                          <p:spTgt spid="1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4"/>
                                        </p:tgtEl>
                                        <p:attrNameLst>
                                          <p:attrName>style.visibility</p:attrName>
                                        </p:attrNameLst>
                                      </p:cBhvr>
                                      <p:to>
                                        <p:strVal val="visible"/>
                                      </p:to>
                                    </p:set>
                                    <p:animEffect filter="fade" transition="in">
                                      <p:cBhvr>
                                        <p:cTn dur="500"/>
                                        <p:tgtEl>
                                          <p:spTgt spid="1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51"/>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Limitation of E-R diagram</a:t>
            </a:r>
            <a:endParaRPr/>
          </a:p>
        </p:txBody>
      </p:sp>
      <p:sp>
        <p:nvSpPr>
          <p:cNvPr id="1232" name="Google Shape;1232;p51"/>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t/>
            </a:r>
            <a:endParaRPr/>
          </a:p>
        </p:txBody>
      </p:sp>
      <p:sp>
        <p:nvSpPr>
          <p:cNvPr id="1233" name="Google Shape;1233;p51"/>
          <p:cNvSpPr/>
          <p:nvPr/>
        </p:nvSpPr>
        <p:spPr>
          <a:xfrm>
            <a:off x="1062111" y="234150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Employee</a:t>
            </a:r>
            <a:endParaRPr sz="1800">
              <a:solidFill>
                <a:schemeClr val="dk1"/>
              </a:solidFill>
              <a:latin typeface="Roboto Condensed"/>
              <a:ea typeface="Roboto Condensed"/>
              <a:cs typeface="Roboto Condensed"/>
              <a:sym typeface="Roboto Condensed"/>
            </a:endParaRPr>
          </a:p>
        </p:txBody>
      </p:sp>
      <p:sp>
        <p:nvSpPr>
          <p:cNvPr id="1234" name="Google Shape;1234;p51"/>
          <p:cNvSpPr/>
          <p:nvPr/>
        </p:nvSpPr>
        <p:spPr>
          <a:xfrm>
            <a:off x="5429439" y="2337152"/>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Department</a:t>
            </a:r>
            <a:endParaRPr sz="1800">
              <a:solidFill>
                <a:schemeClr val="dk1"/>
              </a:solidFill>
              <a:latin typeface="Roboto Condensed"/>
              <a:ea typeface="Roboto Condensed"/>
              <a:cs typeface="Roboto Condensed"/>
              <a:sym typeface="Roboto Condensed"/>
            </a:endParaRPr>
          </a:p>
        </p:txBody>
      </p:sp>
      <p:sp>
        <p:nvSpPr>
          <p:cNvPr id="1235" name="Google Shape;1235;p51"/>
          <p:cNvSpPr/>
          <p:nvPr/>
        </p:nvSpPr>
        <p:spPr>
          <a:xfrm>
            <a:off x="3226571" y="2335433"/>
            <a:ext cx="1724298"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Works</a:t>
            </a:r>
            <a:endParaRPr sz="1800">
              <a:solidFill>
                <a:schemeClr val="dk1"/>
              </a:solidFill>
              <a:latin typeface="Roboto Condensed"/>
              <a:ea typeface="Roboto Condensed"/>
              <a:cs typeface="Roboto Condensed"/>
              <a:sym typeface="Roboto Condensed"/>
            </a:endParaRPr>
          </a:p>
        </p:txBody>
      </p:sp>
      <p:cxnSp>
        <p:nvCxnSpPr>
          <p:cNvPr id="1236" name="Google Shape;1236;p51"/>
          <p:cNvCxnSpPr>
            <a:stCxn id="1235" idx="3"/>
          </p:cNvCxnSpPr>
          <p:nvPr/>
        </p:nvCxnSpPr>
        <p:spPr>
          <a:xfrm>
            <a:off x="4950869" y="2564033"/>
            <a:ext cx="475500" cy="1800"/>
          </a:xfrm>
          <a:prstGeom prst="straightConnector1">
            <a:avLst/>
          </a:prstGeom>
          <a:noFill/>
          <a:ln cap="flat" cmpd="sng" w="28575">
            <a:solidFill>
              <a:schemeClr val="accent4"/>
            </a:solidFill>
            <a:prstDash val="solid"/>
            <a:miter lim="800000"/>
            <a:headEnd len="sm" w="sm" type="none"/>
            <a:tailEnd len="sm" w="sm" type="none"/>
          </a:ln>
        </p:spPr>
      </p:cxnSp>
      <p:cxnSp>
        <p:nvCxnSpPr>
          <p:cNvPr id="1237" name="Google Shape;1237;p51"/>
          <p:cNvCxnSpPr>
            <a:stCxn id="1233" idx="3"/>
            <a:endCxn id="1235" idx="1"/>
          </p:cNvCxnSpPr>
          <p:nvPr/>
        </p:nvCxnSpPr>
        <p:spPr>
          <a:xfrm flipH="1" rot="10800000">
            <a:off x="2760282" y="2564108"/>
            <a:ext cx="466200" cy="6000"/>
          </a:xfrm>
          <a:prstGeom prst="straightConnector1">
            <a:avLst/>
          </a:prstGeom>
          <a:noFill/>
          <a:ln cap="flat" cmpd="sng" w="28575">
            <a:solidFill>
              <a:schemeClr val="accent4"/>
            </a:solidFill>
            <a:prstDash val="solid"/>
            <a:miter lim="800000"/>
            <a:headEnd len="sm" w="sm" type="none"/>
            <a:tailEnd len="sm" w="sm" type="none"/>
          </a:ln>
        </p:spPr>
      </p:cxnSp>
      <p:cxnSp>
        <p:nvCxnSpPr>
          <p:cNvPr id="1238" name="Google Shape;1238;p51"/>
          <p:cNvCxnSpPr>
            <a:endCxn id="1235" idx="0"/>
          </p:cNvCxnSpPr>
          <p:nvPr/>
        </p:nvCxnSpPr>
        <p:spPr>
          <a:xfrm flipH="1">
            <a:off x="4088720" y="1847333"/>
            <a:ext cx="600" cy="488100"/>
          </a:xfrm>
          <a:prstGeom prst="straightConnector1">
            <a:avLst/>
          </a:prstGeom>
          <a:noFill/>
          <a:ln cap="flat" cmpd="sng" w="28575">
            <a:solidFill>
              <a:schemeClr val="accent4"/>
            </a:solidFill>
            <a:prstDash val="solid"/>
            <a:miter lim="800000"/>
            <a:headEnd len="sm" w="sm" type="none"/>
            <a:tailEnd len="sm" w="sm" type="none"/>
          </a:ln>
        </p:spPr>
      </p:cxnSp>
      <p:sp>
        <p:nvSpPr>
          <p:cNvPr id="1239" name="Google Shape;1239;p51"/>
          <p:cNvSpPr/>
          <p:nvPr/>
        </p:nvSpPr>
        <p:spPr>
          <a:xfrm>
            <a:off x="3171235" y="3485240"/>
            <a:ext cx="1828800"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Borrow</a:t>
            </a:r>
            <a:endParaRPr sz="1800">
              <a:solidFill>
                <a:schemeClr val="dk1"/>
              </a:solidFill>
              <a:latin typeface="Roboto Condensed"/>
              <a:ea typeface="Roboto Condensed"/>
              <a:cs typeface="Roboto Condensed"/>
              <a:sym typeface="Roboto Condensed"/>
            </a:endParaRPr>
          </a:p>
        </p:txBody>
      </p:sp>
      <p:sp>
        <p:nvSpPr>
          <p:cNvPr id="1240" name="Google Shape;1240;p51"/>
          <p:cNvSpPr/>
          <p:nvPr/>
        </p:nvSpPr>
        <p:spPr>
          <a:xfrm>
            <a:off x="3236549" y="4375086"/>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cxnSp>
        <p:nvCxnSpPr>
          <p:cNvPr id="1241" name="Google Shape;1241;p51"/>
          <p:cNvCxnSpPr>
            <a:stCxn id="1239" idx="2"/>
            <a:endCxn id="1240" idx="0"/>
          </p:cNvCxnSpPr>
          <p:nvPr/>
        </p:nvCxnSpPr>
        <p:spPr>
          <a:xfrm>
            <a:off x="4085635" y="3942440"/>
            <a:ext cx="0" cy="432600"/>
          </a:xfrm>
          <a:prstGeom prst="straightConnector1">
            <a:avLst/>
          </a:prstGeom>
          <a:noFill/>
          <a:ln cap="flat" cmpd="sng" w="28575">
            <a:solidFill>
              <a:schemeClr val="accent4"/>
            </a:solidFill>
            <a:prstDash val="solid"/>
            <a:miter lim="800000"/>
            <a:headEnd len="sm" w="sm" type="none"/>
            <a:tailEnd len="sm" w="sm" type="none"/>
          </a:ln>
        </p:spPr>
      </p:cxnSp>
      <p:cxnSp>
        <p:nvCxnSpPr>
          <p:cNvPr id="1242" name="Google Shape;1242;p51"/>
          <p:cNvCxnSpPr>
            <a:stCxn id="1235" idx="2"/>
            <a:endCxn id="1239" idx="0"/>
          </p:cNvCxnSpPr>
          <p:nvPr/>
        </p:nvCxnSpPr>
        <p:spPr>
          <a:xfrm flipH="1">
            <a:off x="4085720" y="2792633"/>
            <a:ext cx="3000" cy="692700"/>
          </a:xfrm>
          <a:prstGeom prst="straightConnector1">
            <a:avLst/>
          </a:prstGeom>
          <a:noFill/>
          <a:ln cap="flat" cmpd="sng" w="28575">
            <a:solidFill>
              <a:schemeClr val="accent4"/>
            </a:solidFill>
            <a:prstDash val="solid"/>
            <a:miter lim="800000"/>
            <a:headEnd len="sm" w="sm" type="none"/>
            <a:tailEnd len="sm" w="sm" type="none"/>
          </a:ln>
        </p:spPr>
      </p:cxnSp>
      <p:sp>
        <p:nvSpPr>
          <p:cNvPr id="1243" name="Google Shape;1243;p51"/>
          <p:cNvSpPr/>
          <p:nvPr/>
        </p:nvSpPr>
        <p:spPr>
          <a:xfrm>
            <a:off x="2991440" y="2032570"/>
            <a:ext cx="2194560" cy="2088516"/>
          </a:xfrm>
          <a:prstGeom prst="roundRect">
            <a:avLst>
              <a:gd fmla="val 10388" name="adj"/>
            </a:avLst>
          </a:prstGeom>
          <a:noFill/>
          <a:ln cap="flat" cmpd="sng" w="12700">
            <a:solidFill>
              <a:srgbClr val="C0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Roboto Condensed"/>
              <a:ea typeface="Roboto Condensed"/>
              <a:cs typeface="Roboto Condensed"/>
              <a:sym typeface="Roboto Condensed"/>
            </a:endParaRPr>
          </a:p>
        </p:txBody>
      </p:sp>
      <p:sp>
        <p:nvSpPr>
          <p:cNvPr id="1244" name="Google Shape;1244;p51"/>
          <p:cNvSpPr txBox="1"/>
          <p:nvPr/>
        </p:nvSpPr>
        <p:spPr>
          <a:xfrm>
            <a:off x="4467597" y="3006170"/>
            <a:ext cx="294634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Roboto Condensed"/>
                <a:ea typeface="Roboto Condensed"/>
                <a:cs typeface="Roboto Condensed"/>
                <a:sym typeface="Roboto Condensed"/>
              </a:rPr>
              <a:t>Can not connect two relationship</a:t>
            </a:r>
            <a:endParaRPr sz="1600">
              <a:solidFill>
                <a:schemeClr val="dk1"/>
              </a:solidFill>
              <a:latin typeface="Roboto Condensed"/>
              <a:ea typeface="Roboto Condensed"/>
              <a:cs typeface="Roboto Condensed"/>
              <a:sym typeface="Roboto Condensed"/>
            </a:endParaRPr>
          </a:p>
        </p:txBody>
      </p:sp>
      <p:cxnSp>
        <p:nvCxnSpPr>
          <p:cNvPr id="1245" name="Google Shape;1245;p51"/>
          <p:cNvCxnSpPr/>
          <p:nvPr/>
        </p:nvCxnSpPr>
        <p:spPr>
          <a:xfrm rot="10800000">
            <a:off x="4624550" y="2656353"/>
            <a:ext cx="339382" cy="380999"/>
          </a:xfrm>
          <a:prstGeom prst="straightConnector1">
            <a:avLst/>
          </a:prstGeom>
          <a:noFill/>
          <a:ln cap="flat" cmpd="sng" w="28575">
            <a:solidFill>
              <a:schemeClr val="accent1"/>
            </a:solidFill>
            <a:prstDash val="solid"/>
            <a:miter lim="800000"/>
            <a:headEnd len="sm" w="sm" type="none"/>
            <a:tailEnd len="med" w="med" type="triangle"/>
          </a:ln>
        </p:spPr>
      </p:cxnSp>
      <p:cxnSp>
        <p:nvCxnSpPr>
          <p:cNvPr id="1246" name="Google Shape;1246;p51"/>
          <p:cNvCxnSpPr/>
          <p:nvPr/>
        </p:nvCxnSpPr>
        <p:spPr>
          <a:xfrm flipH="1">
            <a:off x="4639921" y="3298514"/>
            <a:ext cx="270380" cy="342900"/>
          </a:xfrm>
          <a:prstGeom prst="straightConnector1">
            <a:avLst/>
          </a:prstGeom>
          <a:noFill/>
          <a:ln cap="flat" cmpd="sng" w="28575">
            <a:solidFill>
              <a:schemeClr val="accent1"/>
            </a:solidFill>
            <a:prstDash val="solid"/>
            <a:miter lim="800000"/>
            <a:headEnd len="sm" w="sm" type="none"/>
            <a:tailEnd len="med" w="med" type="triangle"/>
          </a:ln>
        </p:spPr>
      </p:cxnSp>
      <p:sp>
        <p:nvSpPr>
          <p:cNvPr id="1247" name="Google Shape;1247;p51"/>
          <p:cNvSpPr/>
          <p:nvPr/>
        </p:nvSpPr>
        <p:spPr>
          <a:xfrm>
            <a:off x="7493391" y="3485240"/>
            <a:ext cx="2103120"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Borrow</a:t>
            </a:r>
            <a:endParaRPr sz="2000">
              <a:solidFill>
                <a:schemeClr val="dk1"/>
              </a:solidFill>
              <a:latin typeface="Roboto Condensed"/>
              <a:ea typeface="Roboto Condensed"/>
              <a:cs typeface="Roboto Condensed"/>
              <a:sym typeface="Roboto Condensed"/>
            </a:endParaRPr>
          </a:p>
        </p:txBody>
      </p:sp>
      <p:sp>
        <p:nvSpPr>
          <p:cNvPr id="1248" name="Google Shape;1248;p51"/>
          <p:cNvSpPr/>
          <p:nvPr/>
        </p:nvSpPr>
        <p:spPr>
          <a:xfrm>
            <a:off x="7625011" y="4374155"/>
            <a:ext cx="1828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Loan</a:t>
            </a:r>
            <a:endParaRPr sz="1800">
              <a:solidFill>
                <a:schemeClr val="dk1"/>
              </a:solidFill>
              <a:latin typeface="Roboto Condensed"/>
              <a:ea typeface="Roboto Condensed"/>
              <a:cs typeface="Roboto Condensed"/>
              <a:sym typeface="Roboto Condensed"/>
            </a:endParaRPr>
          </a:p>
        </p:txBody>
      </p:sp>
      <p:sp>
        <p:nvSpPr>
          <p:cNvPr id="1249" name="Google Shape;1249;p51"/>
          <p:cNvSpPr/>
          <p:nvPr/>
        </p:nvSpPr>
        <p:spPr>
          <a:xfrm>
            <a:off x="7627747" y="2596326"/>
            <a:ext cx="1828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cxnSp>
        <p:nvCxnSpPr>
          <p:cNvPr id="1250" name="Google Shape;1250;p51"/>
          <p:cNvCxnSpPr>
            <a:stCxn id="1247" idx="0"/>
            <a:endCxn id="1249" idx="2"/>
          </p:cNvCxnSpPr>
          <p:nvPr/>
        </p:nvCxnSpPr>
        <p:spPr>
          <a:xfrm rot="10800000">
            <a:off x="8542251" y="3053540"/>
            <a:ext cx="2700" cy="431700"/>
          </a:xfrm>
          <a:prstGeom prst="straightConnector1">
            <a:avLst/>
          </a:prstGeom>
          <a:noFill/>
          <a:ln cap="flat" cmpd="sng" w="28575">
            <a:solidFill>
              <a:schemeClr val="accent4"/>
            </a:solidFill>
            <a:prstDash val="solid"/>
            <a:miter lim="800000"/>
            <a:headEnd len="sm" w="sm" type="none"/>
            <a:tailEnd len="sm" w="sm" type="none"/>
          </a:ln>
        </p:spPr>
      </p:cxnSp>
      <p:cxnSp>
        <p:nvCxnSpPr>
          <p:cNvPr id="1251" name="Google Shape;1251;p51"/>
          <p:cNvCxnSpPr>
            <a:stCxn id="1247" idx="2"/>
            <a:endCxn id="1248" idx="0"/>
          </p:cNvCxnSpPr>
          <p:nvPr/>
        </p:nvCxnSpPr>
        <p:spPr>
          <a:xfrm flipH="1">
            <a:off x="8539551" y="3942440"/>
            <a:ext cx="5400" cy="431700"/>
          </a:xfrm>
          <a:prstGeom prst="straightConnector1">
            <a:avLst/>
          </a:prstGeom>
          <a:noFill/>
          <a:ln cap="flat" cmpd="sng" w="28575">
            <a:solidFill>
              <a:schemeClr val="accent4"/>
            </a:solidFill>
            <a:prstDash val="solid"/>
            <a:miter lim="800000"/>
            <a:headEnd len="sm" w="sm" type="none"/>
            <a:tailEnd len="sm" w="sm" type="none"/>
          </a:ln>
        </p:spPr>
      </p:cxnSp>
      <p:sp>
        <p:nvSpPr>
          <p:cNvPr id="1252" name="Google Shape;1252;p51"/>
          <p:cNvSpPr/>
          <p:nvPr/>
        </p:nvSpPr>
        <p:spPr>
          <a:xfrm>
            <a:off x="880339" y="1219736"/>
            <a:ext cx="6400800" cy="1836666"/>
          </a:xfrm>
          <a:prstGeom prst="rect">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253" name="Google Shape;1253;p51"/>
          <p:cNvSpPr txBox="1"/>
          <p:nvPr/>
        </p:nvSpPr>
        <p:spPr>
          <a:xfrm>
            <a:off x="6028919" y="1297868"/>
            <a:ext cx="118872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sp>
        <p:nvSpPr>
          <p:cNvPr id="1254" name="Google Shape;1254;p51"/>
          <p:cNvSpPr/>
          <p:nvPr/>
        </p:nvSpPr>
        <p:spPr>
          <a:xfrm>
            <a:off x="3241840" y="1380105"/>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Company</a:t>
            </a:r>
            <a:endParaRPr sz="1800">
              <a:solidFill>
                <a:schemeClr val="dk1"/>
              </a:solidFill>
              <a:latin typeface="Roboto Condensed"/>
              <a:ea typeface="Roboto Condensed"/>
              <a:cs typeface="Roboto Condensed"/>
              <a:sym typeface="Roboto Condensed"/>
            </a:endParaRPr>
          </a:p>
        </p:txBody>
      </p:sp>
      <p:sp>
        <p:nvSpPr>
          <p:cNvPr id="1255" name="Google Shape;1255;p51"/>
          <p:cNvSpPr/>
          <p:nvPr/>
        </p:nvSpPr>
        <p:spPr>
          <a:xfrm>
            <a:off x="1062111" y="5058704"/>
            <a:ext cx="8229600" cy="1097280"/>
          </a:xfrm>
          <a:prstGeom prst="roundRect">
            <a:avLst>
              <a:gd fmla="val 10521" name="adj"/>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Process of creating an entity by combining various components of E-R diagram is called aggregation.</a:t>
            </a:r>
            <a:endParaRPr sz="2400">
              <a:solidFill>
                <a:schemeClr val="lt1"/>
              </a:solidFill>
              <a:latin typeface="Roboto Condensed"/>
              <a:ea typeface="Roboto Condensed"/>
              <a:cs typeface="Roboto Condensed"/>
              <a:sym typeface="Roboto Condensed"/>
            </a:endParaRPr>
          </a:p>
        </p:txBody>
      </p:sp>
      <p:sp>
        <p:nvSpPr>
          <p:cNvPr id="1256" name="Google Shape;1256;p51"/>
          <p:cNvSpPr/>
          <p:nvPr/>
        </p:nvSpPr>
        <p:spPr>
          <a:xfrm rot="5400000">
            <a:off x="7644407" y="1514179"/>
            <a:ext cx="850321" cy="1036781"/>
          </a:xfrm>
          <a:prstGeom prst="bentArrow">
            <a:avLst>
              <a:gd fmla="val 25000" name="adj1"/>
              <a:gd fmla="val 25000" name="adj2"/>
              <a:gd fmla="val 25000" name="adj3"/>
              <a:gd fmla="val 43750" name="adj4"/>
            </a:avLst>
          </a:prstGeom>
          <a:solidFill>
            <a:schemeClr val="accent1"/>
          </a:solidFill>
          <a:ln cap="flat" cmpd="sng" w="12700">
            <a:solidFill>
              <a:srgbClr val="69696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xEl>
                                              <p:pRg end="0" st="0"/>
                                            </p:txEl>
                                          </p:spTgt>
                                        </p:tgtEl>
                                        <p:attrNameLst>
                                          <p:attrName>style.visibility</p:attrName>
                                        </p:attrNameLst>
                                      </p:cBhvr>
                                      <p:to>
                                        <p:strVal val="visible"/>
                                      </p:to>
                                    </p:set>
                                    <p:animEffect filter="fade" transition="in">
                                      <p:cBhvr>
                                        <p:cTn dur="500"/>
                                        <p:tgtEl>
                                          <p:spTgt spid="1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500"/>
                                        <p:tgtEl>
                                          <p:spTgt spid="1233"/>
                                        </p:tgtEl>
                                      </p:cBhvr>
                                    </p:animEffect>
                                  </p:childTnLst>
                                </p:cTn>
                              </p:par>
                              <p:par>
                                <p:cTn fill="hold" nodeType="with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500"/>
                                        <p:tgtEl>
                                          <p:spTgt spid="1234"/>
                                        </p:tgtEl>
                                      </p:cBhvr>
                                    </p:animEffect>
                                  </p:childTnLst>
                                </p:cTn>
                              </p:par>
                              <p:par>
                                <p:cTn fill="hold" nodeType="withEffect" presetClass="entr" presetID="10" presetSubtype="0">
                                  <p:stCondLst>
                                    <p:cond delay="0"/>
                                  </p:stCondLst>
                                  <p:childTnLst>
                                    <p:set>
                                      <p:cBhvr>
                                        <p:cTn dur="1" fill="hold">
                                          <p:stCondLst>
                                            <p:cond delay="0"/>
                                          </p:stCondLst>
                                        </p:cTn>
                                        <p:tgtEl>
                                          <p:spTgt spid="1235"/>
                                        </p:tgtEl>
                                        <p:attrNameLst>
                                          <p:attrName>style.visibility</p:attrName>
                                        </p:attrNameLst>
                                      </p:cBhvr>
                                      <p:to>
                                        <p:strVal val="visible"/>
                                      </p:to>
                                    </p:set>
                                    <p:animEffect filter="fade" transition="in">
                                      <p:cBhvr>
                                        <p:cTn dur="500"/>
                                        <p:tgtEl>
                                          <p:spTgt spid="1235"/>
                                        </p:tgtEl>
                                      </p:cBhvr>
                                    </p:animEffect>
                                  </p:childTnLst>
                                </p:cTn>
                              </p:par>
                              <p:par>
                                <p:cTn fill="hold" nodeType="withEffect" presetClass="entr" presetID="10" presetSubtype="0">
                                  <p:stCondLst>
                                    <p:cond delay="0"/>
                                  </p:stCondLst>
                                  <p:childTnLst>
                                    <p:set>
                                      <p:cBhvr>
                                        <p:cTn dur="1" fill="hold">
                                          <p:stCondLst>
                                            <p:cond delay="0"/>
                                          </p:stCondLst>
                                        </p:cTn>
                                        <p:tgtEl>
                                          <p:spTgt spid="1236"/>
                                        </p:tgtEl>
                                        <p:attrNameLst>
                                          <p:attrName>style.visibility</p:attrName>
                                        </p:attrNameLst>
                                      </p:cBhvr>
                                      <p:to>
                                        <p:strVal val="visible"/>
                                      </p:to>
                                    </p:set>
                                    <p:animEffect filter="fade" transition="in">
                                      <p:cBhvr>
                                        <p:cTn dur="500"/>
                                        <p:tgtEl>
                                          <p:spTgt spid="1236"/>
                                        </p:tgtEl>
                                      </p:cBhvr>
                                    </p:animEffect>
                                  </p:childTnLst>
                                </p:cTn>
                              </p:par>
                              <p:par>
                                <p:cTn fill="hold" nodeType="withEffect" presetClass="entr" presetID="10" presetSubtype="0">
                                  <p:stCondLst>
                                    <p:cond delay="0"/>
                                  </p:stCondLst>
                                  <p:childTnLst>
                                    <p:set>
                                      <p:cBhvr>
                                        <p:cTn dur="1" fill="hold">
                                          <p:stCondLst>
                                            <p:cond delay="0"/>
                                          </p:stCondLst>
                                        </p:cTn>
                                        <p:tgtEl>
                                          <p:spTgt spid="1237"/>
                                        </p:tgtEl>
                                        <p:attrNameLst>
                                          <p:attrName>style.visibility</p:attrName>
                                        </p:attrNameLst>
                                      </p:cBhvr>
                                      <p:to>
                                        <p:strVal val="visible"/>
                                      </p:to>
                                    </p:set>
                                    <p:animEffect filter="fade" transition="in">
                                      <p:cBhvr>
                                        <p:cTn dur="500"/>
                                        <p:tgtEl>
                                          <p:spTgt spid="1237"/>
                                        </p:tgtEl>
                                      </p:cBhvr>
                                    </p:animEffect>
                                  </p:childTnLst>
                                </p:cTn>
                              </p:par>
                              <p:par>
                                <p:cTn fill="hold" nodeType="withEffect" presetClass="entr" presetID="10" presetSubtype="0">
                                  <p:stCondLst>
                                    <p:cond delay="0"/>
                                  </p:stCondLst>
                                  <p:childTnLst>
                                    <p:set>
                                      <p:cBhvr>
                                        <p:cTn dur="1" fill="hold">
                                          <p:stCondLst>
                                            <p:cond delay="0"/>
                                          </p:stCondLst>
                                        </p:cTn>
                                        <p:tgtEl>
                                          <p:spTgt spid="1238"/>
                                        </p:tgtEl>
                                        <p:attrNameLst>
                                          <p:attrName>style.visibility</p:attrName>
                                        </p:attrNameLst>
                                      </p:cBhvr>
                                      <p:to>
                                        <p:strVal val="visible"/>
                                      </p:to>
                                    </p:set>
                                    <p:animEffect filter="fade" transition="in">
                                      <p:cBhvr>
                                        <p:cTn dur="500"/>
                                        <p:tgtEl>
                                          <p:spTgt spid="1238"/>
                                        </p:tgtEl>
                                      </p:cBhvr>
                                    </p:animEffect>
                                  </p:childTnLst>
                                </p:cTn>
                              </p:par>
                              <p:par>
                                <p:cTn fill="hold" nodeType="withEffect" presetClass="entr" presetID="10" presetSubtype="0">
                                  <p:stCondLst>
                                    <p:cond delay="0"/>
                                  </p:stCondLst>
                                  <p:childTnLst>
                                    <p:set>
                                      <p:cBhvr>
                                        <p:cTn dur="1" fill="hold">
                                          <p:stCondLst>
                                            <p:cond delay="0"/>
                                          </p:stCondLst>
                                        </p:cTn>
                                        <p:tgtEl>
                                          <p:spTgt spid="1239"/>
                                        </p:tgtEl>
                                        <p:attrNameLst>
                                          <p:attrName>style.visibility</p:attrName>
                                        </p:attrNameLst>
                                      </p:cBhvr>
                                      <p:to>
                                        <p:strVal val="visible"/>
                                      </p:to>
                                    </p:set>
                                    <p:animEffect filter="fade" transition="in">
                                      <p:cBhvr>
                                        <p:cTn dur="500"/>
                                        <p:tgtEl>
                                          <p:spTgt spid="1239"/>
                                        </p:tgtEl>
                                      </p:cBhvr>
                                    </p:animEffect>
                                  </p:childTnLst>
                                </p:cTn>
                              </p:par>
                              <p:par>
                                <p:cTn fill="hold" nodeType="with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500"/>
                                        <p:tgtEl>
                                          <p:spTgt spid="1240"/>
                                        </p:tgtEl>
                                      </p:cBhvr>
                                    </p:animEffect>
                                  </p:childTnLst>
                                </p:cTn>
                              </p:par>
                              <p:par>
                                <p:cTn fill="hold" nodeType="with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500"/>
                                        <p:tgtEl>
                                          <p:spTgt spid="1241"/>
                                        </p:tgtEl>
                                      </p:cBhvr>
                                    </p:animEffect>
                                  </p:childTnLst>
                                </p:cTn>
                              </p:par>
                              <p:par>
                                <p:cTn fill="hold" nodeType="withEffect" presetClass="entr" presetID="10" presetSubtype="0">
                                  <p:stCondLst>
                                    <p:cond delay="0"/>
                                  </p:stCondLst>
                                  <p:childTnLst>
                                    <p:set>
                                      <p:cBhvr>
                                        <p:cTn dur="1" fill="hold">
                                          <p:stCondLst>
                                            <p:cond delay="0"/>
                                          </p:stCondLst>
                                        </p:cTn>
                                        <p:tgtEl>
                                          <p:spTgt spid="1254"/>
                                        </p:tgtEl>
                                        <p:attrNameLst>
                                          <p:attrName>style.visibility</p:attrName>
                                        </p:attrNameLst>
                                      </p:cBhvr>
                                      <p:to>
                                        <p:strVal val="visible"/>
                                      </p:to>
                                    </p:set>
                                    <p:animEffect filter="fade" transition="in">
                                      <p:cBhvr>
                                        <p:cTn dur="500"/>
                                        <p:tgtEl>
                                          <p:spTgt spid="1254"/>
                                        </p:tgtEl>
                                      </p:cBhvr>
                                    </p:animEffect>
                                  </p:childTnLst>
                                </p:cTn>
                              </p:par>
                              <p:par>
                                <p:cTn fill="hold" nodeType="with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500"/>
                                        <p:tgtEl>
                                          <p:spTgt spid="1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gtEl>
                                        <p:attrNameLst>
                                          <p:attrName>style.visibility</p:attrName>
                                        </p:attrNameLst>
                                      </p:cBhvr>
                                      <p:to>
                                        <p:strVal val="visible"/>
                                      </p:to>
                                    </p:set>
                                    <p:animEffect filter="fade" transition="in">
                                      <p:cBhvr>
                                        <p:cTn dur="500"/>
                                        <p:tgtEl>
                                          <p:spTgt spid="1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500"/>
                                        <p:tgtEl>
                                          <p:spTgt spid="1244"/>
                                        </p:tgtEl>
                                      </p:cBhvr>
                                    </p:animEffect>
                                  </p:childTnLst>
                                </p:cTn>
                              </p:par>
                              <p:par>
                                <p:cTn fill="hold" nodeType="with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500"/>
                                        <p:tgtEl>
                                          <p:spTgt spid="1245"/>
                                        </p:tgtEl>
                                      </p:cBhvr>
                                    </p:animEffect>
                                  </p:childTnLst>
                                </p:cTn>
                              </p:par>
                              <p:par>
                                <p:cTn fill="hold" nodeType="with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500"/>
                                        <p:tgtEl>
                                          <p:spTgt spid="1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44"/>
                                        </p:tgtEl>
                                      </p:cBhvr>
                                    </p:animEffect>
                                    <p:set>
                                      <p:cBhvr>
                                        <p:cTn dur="1" fill="hold">
                                          <p:stCondLst>
                                            <p:cond delay="500"/>
                                          </p:stCondLst>
                                        </p:cTn>
                                        <p:tgtEl>
                                          <p:spTgt spid="124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45"/>
                                        </p:tgtEl>
                                      </p:cBhvr>
                                    </p:animEffect>
                                    <p:set>
                                      <p:cBhvr>
                                        <p:cTn dur="1" fill="hold">
                                          <p:stCondLst>
                                            <p:cond delay="500"/>
                                          </p:stCondLst>
                                        </p:cTn>
                                        <p:tgtEl>
                                          <p:spTgt spid="124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46"/>
                                        </p:tgtEl>
                                      </p:cBhvr>
                                    </p:animEffect>
                                    <p:set>
                                      <p:cBhvr>
                                        <p:cTn dur="1" fill="hold">
                                          <p:stCondLst>
                                            <p:cond delay="500"/>
                                          </p:stCondLst>
                                        </p:cTn>
                                        <p:tgtEl>
                                          <p:spTgt spid="124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43"/>
                                        </p:tgtEl>
                                      </p:cBhvr>
                                    </p:animEffect>
                                    <p:set>
                                      <p:cBhvr>
                                        <p:cTn dur="1" fill="hold">
                                          <p:stCondLst>
                                            <p:cond delay="500"/>
                                          </p:stCondLst>
                                        </p:cTn>
                                        <p:tgtEl>
                                          <p:spTgt spid="12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500"/>
                                        <p:tgtEl>
                                          <p:spTgt spid="1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3"/>
                                        </p:tgtEl>
                                        <p:attrNameLst>
                                          <p:attrName>style.visibility</p:attrName>
                                        </p:attrNameLst>
                                      </p:cBhvr>
                                      <p:to>
                                        <p:strVal val="visible"/>
                                      </p:to>
                                    </p:set>
                                    <p:animEffect filter="fade" transition="in">
                                      <p:cBhvr>
                                        <p:cTn dur="500"/>
                                        <p:tgtEl>
                                          <p:spTgt spid="1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6"/>
                                        </p:tgtEl>
                                        <p:attrNameLst>
                                          <p:attrName>style.visibility</p:attrName>
                                        </p:attrNameLst>
                                      </p:cBhvr>
                                      <p:to>
                                        <p:strVal val="visible"/>
                                      </p:to>
                                    </p:set>
                                    <p:animEffect filter="fade" transition="in">
                                      <p:cBhvr>
                                        <p:cTn dur="500"/>
                                        <p:tgtEl>
                                          <p:spTgt spid="1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8"/>
                                        </p:tgtEl>
                                        <p:attrNameLst>
                                          <p:attrName>style.visibility</p:attrName>
                                        </p:attrNameLst>
                                      </p:cBhvr>
                                      <p:to>
                                        <p:strVal val="visible"/>
                                      </p:to>
                                    </p:set>
                                    <p:animEffect filter="fade" transition="in">
                                      <p:cBhvr>
                                        <p:cTn dur="500"/>
                                        <p:tgtEl>
                                          <p:spTgt spid="1248"/>
                                        </p:tgtEl>
                                      </p:cBhvr>
                                    </p:animEffect>
                                  </p:childTnLst>
                                </p:cTn>
                              </p:par>
                              <p:par>
                                <p:cTn fill="hold" nodeType="withEffect" presetClass="entr" presetID="10" presetSubtype="0">
                                  <p:stCondLst>
                                    <p:cond delay="0"/>
                                  </p:stCondLst>
                                  <p:childTnLst>
                                    <p:set>
                                      <p:cBhvr>
                                        <p:cTn dur="1" fill="hold">
                                          <p:stCondLst>
                                            <p:cond delay="0"/>
                                          </p:stCondLst>
                                        </p:cTn>
                                        <p:tgtEl>
                                          <p:spTgt spid="1249"/>
                                        </p:tgtEl>
                                        <p:attrNameLst>
                                          <p:attrName>style.visibility</p:attrName>
                                        </p:attrNameLst>
                                      </p:cBhvr>
                                      <p:to>
                                        <p:strVal val="visible"/>
                                      </p:to>
                                    </p:set>
                                    <p:animEffect filter="fade" transition="in">
                                      <p:cBhvr>
                                        <p:cTn dur="500"/>
                                        <p:tgtEl>
                                          <p:spTgt spid="1249"/>
                                        </p:tgtEl>
                                      </p:cBhvr>
                                    </p:animEffect>
                                  </p:childTnLst>
                                </p:cTn>
                              </p:par>
                              <p:par>
                                <p:cTn fill="hold" nodeType="withEffect" presetClass="entr" presetID="10" presetSubtype="0">
                                  <p:stCondLst>
                                    <p:cond delay="0"/>
                                  </p:stCondLst>
                                  <p:childTnLst>
                                    <p:set>
                                      <p:cBhvr>
                                        <p:cTn dur="1" fill="hold">
                                          <p:stCondLst>
                                            <p:cond delay="0"/>
                                          </p:stCondLst>
                                        </p:cTn>
                                        <p:tgtEl>
                                          <p:spTgt spid="1247"/>
                                        </p:tgtEl>
                                        <p:attrNameLst>
                                          <p:attrName>style.visibility</p:attrName>
                                        </p:attrNameLst>
                                      </p:cBhvr>
                                      <p:to>
                                        <p:strVal val="visible"/>
                                      </p:to>
                                    </p:set>
                                    <p:animEffect filter="fade" transition="in">
                                      <p:cBhvr>
                                        <p:cTn dur="500"/>
                                        <p:tgtEl>
                                          <p:spTgt spid="1247"/>
                                        </p:tgtEl>
                                      </p:cBhvr>
                                    </p:animEffect>
                                  </p:childTnLst>
                                </p:cTn>
                              </p:par>
                              <p:par>
                                <p:cTn fill="hold" nodeType="with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par>
                                <p:cTn fill="hold" nodeType="with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5"/>
                                        </p:tgtEl>
                                        <p:attrNameLst>
                                          <p:attrName>style.visibility</p:attrName>
                                        </p:attrNameLst>
                                      </p:cBhvr>
                                      <p:to>
                                        <p:strVal val="visible"/>
                                      </p:to>
                                    </p:set>
                                    <p:animEffect filter="fade" transition="in">
                                      <p:cBhvr>
                                        <p:cTn dur="500"/>
                                        <p:tgtEl>
                                          <p:spTgt spid="1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5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E-R diagram of </a:t>
            </a:r>
            <a:br>
              <a:rPr lang="en-US">
                <a:solidFill>
                  <a:srgbClr val="5C2321"/>
                </a:solidFill>
              </a:rPr>
            </a:br>
            <a:r>
              <a:rPr lang="en-US">
                <a:solidFill>
                  <a:srgbClr val="5C2321"/>
                </a:solidFill>
              </a:rPr>
              <a:t>Hospital Management  System</a:t>
            </a:r>
            <a:endParaRPr>
              <a:solidFill>
                <a:srgbClr val="5C2321"/>
              </a:solidFill>
            </a:endParaRPr>
          </a:p>
        </p:txBody>
      </p:sp>
      <p:sp>
        <p:nvSpPr>
          <p:cNvPr id="1262" name="Google Shape;1262;p5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- 10</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53"/>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E-R diagram of Hospital Management System</a:t>
            </a:r>
            <a:endParaRPr/>
          </a:p>
        </p:txBody>
      </p:sp>
      <p:sp>
        <p:nvSpPr>
          <p:cNvPr id="1268" name="Google Shape;1268;p53"/>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p:txBody>
      </p:sp>
      <p:sp>
        <p:nvSpPr>
          <p:cNvPr id="1269" name="Google Shape;1269;p53"/>
          <p:cNvSpPr/>
          <p:nvPr/>
        </p:nvSpPr>
        <p:spPr>
          <a:xfrm>
            <a:off x="4859098" y="237999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Patient</a:t>
            </a:r>
            <a:endParaRPr sz="1800">
              <a:solidFill>
                <a:schemeClr val="dk1"/>
              </a:solidFill>
              <a:latin typeface="Roboto Condensed"/>
              <a:ea typeface="Roboto Condensed"/>
              <a:cs typeface="Roboto Condensed"/>
              <a:sym typeface="Roboto Condensed"/>
            </a:endParaRPr>
          </a:p>
        </p:txBody>
      </p:sp>
      <p:sp>
        <p:nvSpPr>
          <p:cNvPr id="1270" name="Google Shape;1270;p53"/>
          <p:cNvSpPr/>
          <p:nvPr/>
        </p:nvSpPr>
        <p:spPr>
          <a:xfrm>
            <a:off x="9588225" y="2375642"/>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Hospital</a:t>
            </a:r>
            <a:endParaRPr sz="1800">
              <a:solidFill>
                <a:schemeClr val="dk1"/>
              </a:solidFill>
              <a:latin typeface="Roboto Condensed"/>
              <a:ea typeface="Roboto Condensed"/>
              <a:cs typeface="Roboto Condensed"/>
              <a:sym typeface="Roboto Condensed"/>
            </a:endParaRPr>
          </a:p>
        </p:txBody>
      </p:sp>
      <p:sp>
        <p:nvSpPr>
          <p:cNvPr id="1271" name="Google Shape;1271;p53"/>
          <p:cNvSpPr/>
          <p:nvPr/>
        </p:nvSpPr>
        <p:spPr>
          <a:xfrm>
            <a:off x="6969844" y="2370699"/>
            <a:ext cx="2150296"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Admitted</a:t>
            </a:r>
            <a:endParaRPr sz="1800">
              <a:solidFill>
                <a:schemeClr val="dk1"/>
              </a:solidFill>
              <a:latin typeface="Roboto Condensed"/>
              <a:ea typeface="Roboto Condensed"/>
              <a:cs typeface="Roboto Condensed"/>
              <a:sym typeface="Roboto Condensed"/>
            </a:endParaRPr>
          </a:p>
        </p:txBody>
      </p:sp>
      <p:cxnSp>
        <p:nvCxnSpPr>
          <p:cNvPr id="1272" name="Google Shape;1272;p53"/>
          <p:cNvCxnSpPr>
            <a:stCxn id="1269" idx="3"/>
            <a:endCxn id="1271" idx="1"/>
          </p:cNvCxnSpPr>
          <p:nvPr/>
        </p:nvCxnSpPr>
        <p:spPr>
          <a:xfrm flipH="1" rot="10800000">
            <a:off x="6557269" y="2599298"/>
            <a:ext cx="412500" cy="9300"/>
          </a:xfrm>
          <a:prstGeom prst="straightConnector1">
            <a:avLst/>
          </a:prstGeom>
          <a:noFill/>
          <a:ln cap="flat" cmpd="sng" w="28575">
            <a:solidFill>
              <a:schemeClr val="accent4"/>
            </a:solidFill>
            <a:prstDash val="solid"/>
            <a:miter lim="800000"/>
            <a:headEnd len="sm" w="sm" type="none"/>
            <a:tailEnd len="sm" w="sm" type="none"/>
          </a:ln>
        </p:spPr>
      </p:cxnSp>
      <p:cxnSp>
        <p:nvCxnSpPr>
          <p:cNvPr id="1273" name="Google Shape;1273;p53"/>
          <p:cNvCxnSpPr>
            <a:stCxn id="1274" idx="4"/>
            <a:endCxn id="1269" idx="0"/>
          </p:cNvCxnSpPr>
          <p:nvPr/>
        </p:nvCxnSpPr>
        <p:spPr>
          <a:xfrm>
            <a:off x="4744795" y="1944026"/>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1274" name="Google Shape;1274;p53"/>
          <p:cNvSpPr/>
          <p:nvPr/>
        </p:nvSpPr>
        <p:spPr>
          <a:xfrm>
            <a:off x="4013275" y="1521116"/>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PatID</a:t>
            </a:r>
            <a:endParaRPr sz="1800" u="sng">
              <a:solidFill>
                <a:schemeClr val="dk1"/>
              </a:solidFill>
              <a:latin typeface="Roboto Condensed"/>
              <a:ea typeface="Roboto Condensed"/>
              <a:cs typeface="Roboto Condensed"/>
              <a:sym typeface="Roboto Condensed"/>
            </a:endParaRPr>
          </a:p>
        </p:txBody>
      </p:sp>
      <p:cxnSp>
        <p:nvCxnSpPr>
          <p:cNvPr id="1275" name="Google Shape;1275;p53"/>
          <p:cNvCxnSpPr>
            <a:stCxn id="1276" idx="4"/>
            <a:endCxn id="1269" idx="0"/>
          </p:cNvCxnSpPr>
          <p:nvPr/>
        </p:nvCxnSpPr>
        <p:spPr>
          <a:xfrm flipH="1">
            <a:off x="5708318" y="1921615"/>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1276" name="Google Shape;1276;p53"/>
          <p:cNvSpPr/>
          <p:nvPr/>
        </p:nvSpPr>
        <p:spPr>
          <a:xfrm>
            <a:off x="5631398" y="149870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1277" name="Google Shape;1277;p53"/>
          <p:cNvCxnSpPr>
            <a:stCxn id="1278" idx="4"/>
          </p:cNvCxnSpPr>
          <p:nvPr/>
        </p:nvCxnSpPr>
        <p:spPr>
          <a:xfrm>
            <a:off x="9508253" y="1940013"/>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1278" name="Google Shape;1278;p53"/>
          <p:cNvSpPr/>
          <p:nvPr/>
        </p:nvSpPr>
        <p:spPr>
          <a:xfrm>
            <a:off x="8776733" y="1517103"/>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HosID</a:t>
            </a:r>
            <a:endParaRPr sz="1800" u="sng">
              <a:solidFill>
                <a:schemeClr val="dk1"/>
              </a:solidFill>
              <a:latin typeface="Roboto Condensed"/>
              <a:ea typeface="Roboto Condensed"/>
              <a:cs typeface="Roboto Condensed"/>
              <a:sym typeface="Roboto Condensed"/>
            </a:endParaRPr>
          </a:p>
        </p:txBody>
      </p:sp>
      <p:cxnSp>
        <p:nvCxnSpPr>
          <p:cNvPr id="1279" name="Google Shape;1279;p53"/>
          <p:cNvCxnSpPr>
            <a:stCxn id="1280" idx="4"/>
          </p:cNvCxnSpPr>
          <p:nvPr/>
        </p:nvCxnSpPr>
        <p:spPr>
          <a:xfrm flipH="1">
            <a:off x="10471776" y="1917602"/>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1280" name="Google Shape;1280;p53"/>
          <p:cNvSpPr/>
          <p:nvPr/>
        </p:nvSpPr>
        <p:spPr>
          <a:xfrm>
            <a:off x="10394856" y="1494692"/>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sp>
        <p:nvSpPr>
          <p:cNvPr id="1281" name="Google Shape;1281;p53"/>
          <p:cNvSpPr/>
          <p:nvPr/>
        </p:nvSpPr>
        <p:spPr>
          <a:xfrm>
            <a:off x="2538803" y="2379998"/>
            <a:ext cx="1724298"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Has</a:t>
            </a:r>
            <a:endParaRPr sz="1800">
              <a:solidFill>
                <a:schemeClr val="dk1"/>
              </a:solidFill>
              <a:latin typeface="Roboto Condensed"/>
              <a:ea typeface="Roboto Condensed"/>
              <a:cs typeface="Roboto Condensed"/>
              <a:sym typeface="Roboto Condensed"/>
            </a:endParaRPr>
          </a:p>
        </p:txBody>
      </p:sp>
      <p:sp>
        <p:nvSpPr>
          <p:cNvPr id="1282" name="Google Shape;1282;p53"/>
          <p:cNvSpPr/>
          <p:nvPr/>
        </p:nvSpPr>
        <p:spPr>
          <a:xfrm>
            <a:off x="241113" y="2373923"/>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Medical Record</a:t>
            </a:r>
            <a:endParaRPr sz="1800">
              <a:solidFill>
                <a:schemeClr val="dk1"/>
              </a:solidFill>
              <a:latin typeface="Roboto Condensed"/>
              <a:ea typeface="Roboto Condensed"/>
              <a:cs typeface="Roboto Condensed"/>
              <a:sym typeface="Roboto Condensed"/>
            </a:endParaRPr>
          </a:p>
        </p:txBody>
      </p:sp>
      <p:cxnSp>
        <p:nvCxnSpPr>
          <p:cNvPr id="1283" name="Google Shape;1283;p53"/>
          <p:cNvCxnSpPr>
            <a:stCxn id="1282" idx="0"/>
            <a:endCxn id="1284" idx="4"/>
          </p:cNvCxnSpPr>
          <p:nvPr/>
        </p:nvCxnSpPr>
        <p:spPr>
          <a:xfrm rot="10800000">
            <a:off x="1090199" y="1796723"/>
            <a:ext cx="0" cy="577200"/>
          </a:xfrm>
          <a:prstGeom prst="straightConnector1">
            <a:avLst/>
          </a:prstGeom>
          <a:noFill/>
          <a:ln cap="flat" cmpd="sng" w="28575">
            <a:solidFill>
              <a:schemeClr val="dk2"/>
            </a:solidFill>
            <a:prstDash val="solid"/>
            <a:miter lim="800000"/>
            <a:headEnd len="sm" w="sm" type="none"/>
            <a:tailEnd len="sm" w="sm" type="none"/>
          </a:ln>
        </p:spPr>
      </p:cxnSp>
      <p:sp>
        <p:nvSpPr>
          <p:cNvPr id="1284" name="Google Shape;1284;p53"/>
          <p:cNvSpPr/>
          <p:nvPr/>
        </p:nvSpPr>
        <p:spPr>
          <a:xfrm>
            <a:off x="358679" y="1339561"/>
            <a:ext cx="1463040" cy="45720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MRID</a:t>
            </a:r>
            <a:endParaRPr sz="1800" u="sng">
              <a:solidFill>
                <a:schemeClr val="dk1"/>
              </a:solidFill>
              <a:latin typeface="Roboto Condensed"/>
              <a:ea typeface="Roboto Condensed"/>
              <a:cs typeface="Roboto Condensed"/>
              <a:sym typeface="Roboto Condensed"/>
            </a:endParaRPr>
          </a:p>
        </p:txBody>
      </p:sp>
      <p:cxnSp>
        <p:nvCxnSpPr>
          <p:cNvPr id="1285" name="Google Shape;1285;p53"/>
          <p:cNvCxnSpPr/>
          <p:nvPr/>
        </p:nvCxnSpPr>
        <p:spPr>
          <a:xfrm flipH="1" rot="-5400000">
            <a:off x="4540840" y="2288821"/>
            <a:ext cx="526" cy="640080"/>
          </a:xfrm>
          <a:prstGeom prst="straightConnector1">
            <a:avLst/>
          </a:prstGeom>
          <a:noFill/>
          <a:ln cap="flat" cmpd="sng" w="28575">
            <a:solidFill>
              <a:schemeClr val="accent4"/>
            </a:solidFill>
            <a:prstDash val="solid"/>
            <a:miter lim="800000"/>
            <a:headEnd len="sm" w="sm" type="none"/>
            <a:tailEnd len="med" w="med" type="triangle"/>
          </a:ln>
        </p:spPr>
      </p:cxnSp>
      <p:cxnSp>
        <p:nvCxnSpPr>
          <p:cNvPr id="1286" name="Google Shape;1286;p53"/>
          <p:cNvCxnSpPr/>
          <p:nvPr/>
        </p:nvCxnSpPr>
        <p:spPr>
          <a:xfrm flipH="1" rot="-5400000">
            <a:off x="2252911" y="2287510"/>
            <a:ext cx="527" cy="640080"/>
          </a:xfrm>
          <a:prstGeom prst="straightConnector1">
            <a:avLst/>
          </a:prstGeom>
          <a:noFill/>
          <a:ln cap="flat" cmpd="sng" w="28575">
            <a:solidFill>
              <a:schemeClr val="accent4"/>
            </a:solidFill>
            <a:prstDash val="solid"/>
            <a:miter lim="800000"/>
            <a:headEnd len="sm" w="sm" type="none"/>
            <a:tailEnd len="sm" w="sm" type="none"/>
          </a:ln>
        </p:spPr>
      </p:cxnSp>
      <p:sp>
        <p:nvSpPr>
          <p:cNvPr id="1287" name="Google Shape;1287;p53"/>
          <p:cNvSpPr/>
          <p:nvPr/>
        </p:nvSpPr>
        <p:spPr>
          <a:xfrm>
            <a:off x="9571896" y="3274414"/>
            <a:ext cx="1724298"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Has</a:t>
            </a:r>
            <a:endParaRPr sz="1800">
              <a:solidFill>
                <a:schemeClr val="dk1"/>
              </a:solidFill>
              <a:latin typeface="Roboto Condensed"/>
              <a:ea typeface="Roboto Condensed"/>
              <a:cs typeface="Roboto Condensed"/>
              <a:sym typeface="Roboto Condensed"/>
            </a:endParaRPr>
          </a:p>
        </p:txBody>
      </p:sp>
      <p:sp>
        <p:nvSpPr>
          <p:cNvPr id="1288" name="Google Shape;1288;p53"/>
          <p:cNvSpPr/>
          <p:nvPr/>
        </p:nvSpPr>
        <p:spPr>
          <a:xfrm>
            <a:off x="9584959" y="4138442"/>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Doctor</a:t>
            </a:r>
            <a:endParaRPr sz="1800">
              <a:solidFill>
                <a:schemeClr val="dk1"/>
              </a:solidFill>
              <a:latin typeface="Roboto Condensed"/>
              <a:ea typeface="Roboto Condensed"/>
              <a:cs typeface="Roboto Condensed"/>
              <a:sym typeface="Roboto Condensed"/>
            </a:endParaRPr>
          </a:p>
        </p:txBody>
      </p:sp>
      <p:cxnSp>
        <p:nvCxnSpPr>
          <p:cNvPr id="1289" name="Google Shape;1289;p53"/>
          <p:cNvCxnSpPr>
            <a:stCxn id="1288" idx="2"/>
            <a:endCxn id="1290" idx="0"/>
          </p:cNvCxnSpPr>
          <p:nvPr/>
        </p:nvCxnSpPr>
        <p:spPr>
          <a:xfrm flipH="1">
            <a:off x="9617745" y="4595642"/>
            <a:ext cx="816300" cy="404400"/>
          </a:xfrm>
          <a:prstGeom prst="straightConnector1">
            <a:avLst/>
          </a:prstGeom>
          <a:noFill/>
          <a:ln cap="flat" cmpd="sng" w="28575">
            <a:solidFill>
              <a:schemeClr val="dk2"/>
            </a:solidFill>
            <a:prstDash val="solid"/>
            <a:miter lim="800000"/>
            <a:headEnd len="sm" w="sm" type="none"/>
            <a:tailEnd len="sm" w="sm" type="none"/>
          </a:ln>
        </p:spPr>
      </p:cxnSp>
      <p:sp>
        <p:nvSpPr>
          <p:cNvPr id="1290" name="Google Shape;1290;p53"/>
          <p:cNvSpPr/>
          <p:nvPr/>
        </p:nvSpPr>
        <p:spPr>
          <a:xfrm>
            <a:off x="8886096" y="4999892"/>
            <a:ext cx="1463040" cy="45720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DrID</a:t>
            </a:r>
            <a:endParaRPr sz="1800" u="sng">
              <a:solidFill>
                <a:schemeClr val="dk1"/>
              </a:solidFill>
              <a:latin typeface="Roboto Condensed"/>
              <a:ea typeface="Roboto Condensed"/>
              <a:cs typeface="Roboto Condensed"/>
              <a:sym typeface="Roboto Condensed"/>
            </a:endParaRPr>
          </a:p>
        </p:txBody>
      </p:sp>
      <p:cxnSp>
        <p:nvCxnSpPr>
          <p:cNvPr id="1291" name="Google Shape;1291;p53"/>
          <p:cNvCxnSpPr/>
          <p:nvPr/>
        </p:nvCxnSpPr>
        <p:spPr>
          <a:xfrm>
            <a:off x="10433518" y="3717058"/>
            <a:ext cx="526" cy="404250"/>
          </a:xfrm>
          <a:prstGeom prst="straightConnector1">
            <a:avLst/>
          </a:prstGeom>
          <a:noFill/>
          <a:ln cap="flat" cmpd="sng" w="28575">
            <a:solidFill>
              <a:schemeClr val="accent4"/>
            </a:solidFill>
            <a:prstDash val="solid"/>
            <a:miter lim="800000"/>
            <a:headEnd len="sm" w="sm" type="none"/>
            <a:tailEnd len="sm" w="sm" type="none"/>
          </a:ln>
        </p:spPr>
      </p:cxnSp>
      <p:cxnSp>
        <p:nvCxnSpPr>
          <p:cNvPr id="1292" name="Google Shape;1292;p53"/>
          <p:cNvCxnSpPr>
            <a:stCxn id="1287" idx="0"/>
            <a:endCxn id="1270" idx="2"/>
          </p:cNvCxnSpPr>
          <p:nvPr/>
        </p:nvCxnSpPr>
        <p:spPr>
          <a:xfrm flipH="1" rot="10800000">
            <a:off x="10434045" y="2832814"/>
            <a:ext cx="3300" cy="441600"/>
          </a:xfrm>
          <a:prstGeom prst="straightConnector1">
            <a:avLst/>
          </a:prstGeom>
          <a:noFill/>
          <a:ln cap="flat" cmpd="sng" w="28575">
            <a:solidFill>
              <a:schemeClr val="accent4"/>
            </a:solidFill>
            <a:prstDash val="solid"/>
            <a:miter lim="800000"/>
            <a:headEnd len="sm" w="sm" type="none"/>
            <a:tailEnd len="med" w="med" type="triangle"/>
          </a:ln>
        </p:spPr>
      </p:cxnSp>
      <p:sp>
        <p:nvSpPr>
          <p:cNvPr id="1293" name="Google Shape;1293;p53"/>
          <p:cNvSpPr/>
          <p:nvPr/>
        </p:nvSpPr>
        <p:spPr>
          <a:xfrm rot="1261021">
            <a:off x="6994292" y="3323492"/>
            <a:ext cx="2150296"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Treats</a:t>
            </a:r>
            <a:endParaRPr sz="1800">
              <a:solidFill>
                <a:schemeClr val="dk1"/>
              </a:solidFill>
              <a:latin typeface="Roboto Condensed"/>
              <a:ea typeface="Roboto Condensed"/>
              <a:cs typeface="Roboto Condensed"/>
              <a:sym typeface="Roboto Condensed"/>
            </a:endParaRPr>
          </a:p>
        </p:txBody>
      </p:sp>
      <p:cxnSp>
        <p:nvCxnSpPr>
          <p:cNvPr id="1294" name="Google Shape;1294;p53"/>
          <p:cNvCxnSpPr>
            <a:stCxn id="1293" idx="3"/>
          </p:cNvCxnSpPr>
          <p:nvPr/>
        </p:nvCxnSpPr>
        <p:spPr>
          <a:xfrm>
            <a:off x="9073063" y="3937689"/>
            <a:ext cx="511500" cy="198300"/>
          </a:xfrm>
          <a:prstGeom prst="straightConnector1">
            <a:avLst/>
          </a:prstGeom>
          <a:noFill/>
          <a:ln cap="flat" cmpd="sng" w="28575">
            <a:solidFill>
              <a:schemeClr val="accent4"/>
            </a:solidFill>
            <a:prstDash val="solid"/>
            <a:miter lim="800000"/>
            <a:headEnd len="sm" w="sm" type="none"/>
            <a:tailEnd len="sm" w="sm" type="none"/>
          </a:ln>
        </p:spPr>
      </p:cxnSp>
      <p:cxnSp>
        <p:nvCxnSpPr>
          <p:cNvPr id="1295" name="Google Shape;1295;p53"/>
          <p:cNvCxnSpPr>
            <a:endCxn id="1293" idx="1"/>
          </p:cNvCxnSpPr>
          <p:nvPr/>
        </p:nvCxnSpPr>
        <p:spPr>
          <a:xfrm>
            <a:off x="6075817" y="2843095"/>
            <a:ext cx="990000" cy="323400"/>
          </a:xfrm>
          <a:prstGeom prst="straightConnector1">
            <a:avLst/>
          </a:prstGeom>
          <a:noFill/>
          <a:ln cap="flat" cmpd="sng" w="28575">
            <a:solidFill>
              <a:schemeClr val="accent4"/>
            </a:solidFill>
            <a:prstDash val="solid"/>
            <a:miter lim="800000"/>
            <a:headEnd len="sm" w="sm" type="none"/>
            <a:tailEnd len="sm" w="sm" type="none"/>
          </a:ln>
        </p:spPr>
      </p:cxnSp>
      <p:cxnSp>
        <p:nvCxnSpPr>
          <p:cNvPr id="1296" name="Google Shape;1296;p53"/>
          <p:cNvCxnSpPr>
            <a:stCxn id="1288" idx="2"/>
            <a:endCxn id="1297" idx="0"/>
          </p:cNvCxnSpPr>
          <p:nvPr/>
        </p:nvCxnSpPr>
        <p:spPr>
          <a:xfrm>
            <a:off x="10434045" y="4595642"/>
            <a:ext cx="825000" cy="403800"/>
          </a:xfrm>
          <a:prstGeom prst="straightConnector1">
            <a:avLst/>
          </a:prstGeom>
          <a:noFill/>
          <a:ln cap="flat" cmpd="sng" w="28575">
            <a:solidFill>
              <a:schemeClr val="dk2"/>
            </a:solidFill>
            <a:prstDash val="solid"/>
            <a:miter lim="800000"/>
            <a:headEnd len="sm" w="sm" type="none"/>
            <a:tailEnd len="sm" w="sm" type="none"/>
          </a:ln>
        </p:spPr>
      </p:cxnSp>
      <p:sp>
        <p:nvSpPr>
          <p:cNvPr id="1297" name="Google Shape;1297;p53"/>
          <p:cNvSpPr/>
          <p:nvPr/>
        </p:nvSpPr>
        <p:spPr>
          <a:xfrm>
            <a:off x="10527419" y="4999471"/>
            <a:ext cx="1463040" cy="45720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Dr Name</a:t>
            </a:r>
            <a:endParaRPr sz="1800">
              <a:solidFill>
                <a:schemeClr val="dk1"/>
              </a:solidFill>
              <a:latin typeface="Roboto Condensed"/>
              <a:ea typeface="Roboto Condensed"/>
              <a:cs typeface="Roboto Condensed"/>
              <a:sym typeface="Roboto Condensed"/>
            </a:endParaRPr>
          </a:p>
        </p:txBody>
      </p:sp>
      <p:cxnSp>
        <p:nvCxnSpPr>
          <p:cNvPr id="1298" name="Google Shape;1298;p53"/>
          <p:cNvCxnSpPr>
            <a:stCxn id="1282" idx="2"/>
            <a:endCxn id="1299" idx="0"/>
          </p:cNvCxnSpPr>
          <p:nvPr/>
        </p:nvCxnSpPr>
        <p:spPr>
          <a:xfrm>
            <a:off x="1090199" y="2831123"/>
            <a:ext cx="138300" cy="342300"/>
          </a:xfrm>
          <a:prstGeom prst="straightConnector1">
            <a:avLst/>
          </a:prstGeom>
          <a:noFill/>
          <a:ln cap="flat" cmpd="sng" w="28575">
            <a:solidFill>
              <a:schemeClr val="dk2"/>
            </a:solidFill>
            <a:prstDash val="solid"/>
            <a:miter lim="800000"/>
            <a:headEnd len="sm" w="sm" type="none"/>
            <a:tailEnd len="sm" w="sm" type="none"/>
          </a:ln>
        </p:spPr>
      </p:cxnSp>
      <p:sp>
        <p:nvSpPr>
          <p:cNvPr id="1299" name="Google Shape;1299;p53"/>
          <p:cNvSpPr/>
          <p:nvPr/>
        </p:nvSpPr>
        <p:spPr>
          <a:xfrm>
            <a:off x="221745" y="3173375"/>
            <a:ext cx="2013670" cy="45720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Report Name</a:t>
            </a:r>
            <a:endParaRPr sz="1800">
              <a:solidFill>
                <a:schemeClr val="dk1"/>
              </a:solidFill>
              <a:latin typeface="Roboto Condensed"/>
              <a:ea typeface="Roboto Condensed"/>
              <a:cs typeface="Roboto Condensed"/>
              <a:sym typeface="Roboto Condensed"/>
            </a:endParaRPr>
          </a:p>
        </p:txBody>
      </p:sp>
      <p:cxnSp>
        <p:nvCxnSpPr>
          <p:cNvPr id="1300" name="Google Shape;1300;p53"/>
          <p:cNvCxnSpPr/>
          <p:nvPr/>
        </p:nvCxnSpPr>
        <p:spPr>
          <a:xfrm>
            <a:off x="9038449" y="2593299"/>
            <a:ext cx="566928" cy="11864"/>
          </a:xfrm>
          <a:prstGeom prst="straightConnector1">
            <a:avLst/>
          </a:prstGeom>
          <a:noFill/>
          <a:ln cap="flat" cmpd="sng" w="28575">
            <a:solidFill>
              <a:schemeClr val="accent4"/>
            </a:solidFill>
            <a:prstDash val="solid"/>
            <a:miter lim="800000"/>
            <a:headEnd len="sm" w="sm" type="none"/>
            <a:tailEnd len="med" w="med" type="triangle"/>
          </a:ln>
        </p:spPr>
      </p:cxnSp>
      <p:cxnSp>
        <p:nvCxnSpPr>
          <p:cNvPr id="1301" name="Google Shape;1301;p53"/>
          <p:cNvCxnSpPr>
            <a:endCxn id="1302" idx="0"/>
          </p:cNvCxnSpPr>
          <p:nvPr/>
        </p:nvCxnSpPr>
        <p:spPr>
          <a:xfrm flipH="1">
            <a:off x="5692683" y="2824466"/>
            <a:ext cx="10800" cy="470400"/>
          </a:xfrm>
          <a:prstGeom prst="straightConnector1">
            <a:avLst/>
          </a:prstGeom>
          <a:noFill/>
          <a:ln cap="flat" cmpd="sng" w="28575">
            <a:solidFill>
              <a:schemeClr val="accent4"/>
            </a:solidFill>
            <a:prstDash val="solid"/>
            <a:miter lim="800000"/>
            <a:headEnd len="sm" w="sm" type="none"/>
            <a:tailEnd len="sm" w="sm" type="none"/>
          </a:ln>
        </p:spPr>
      </p:cxnSp>
      <p:cxnSp>
        <p:nvCxnSpPr>
          <p:cNvPr id="1303" name="Google Shape;1303;p53"/>
          <p:cNvCxnSpPr>
            <a:stCxn id="1302" idx="1"/>
          </p:cNvCxnSpPr>
          <p:nvPr/>
        </p:nvCxnSpPr>
        <p:spPr>
          <a:xfrm flipH="1">
            <a:off x="4971283" y="3498927"/>
            <a:ext cx="467400" cy="410100"/>
          </a:xfrm>
          <a:prstGeom prst="straightConnector1">
            <a:avLst/>
          </a:prstGeom>
          <a:solidFill>
            <a:schemeClr val="lt1"/>
          </a:solidFill>
          <a:ln cap="flat" cmpd="sng" w="28575">
            <a:solidFill>
              <a:schemeClr val="accent4"/>
            </a:solidFill>
            <a:prstDash val="solid"/>
            <a:miter lim="800000"/>
            <a:headEnd len="sm" w="sm" type="none"/>
            <a:tailEnd len="sm" w="sm" type="none"/>
          </a:ln>
        </p:spPr>
      </p:cxnSp>
      <p:cxnSp>
        <p:nvCxnSpPr>
          <p:cNvPr id="1304" name="Google Shape;1304;p53"/>
          <p:cNvCxnSpPr>
            <a:stCxn id="1302" idx="3"/>
          </p:cNvCxnSpPr>
          <p:nvPr/>
        </p:nvCxnSpPr>
        <p:spPr>
          <a:xfrm>
            <a:off x="5946683" y="3498927"/>
            <a:ext cx="389400" cy="410100"/>
          </a:xfrm>
          <a:prstGeom prst="straightConnector1">
            <a:avLst/>
          </a:prstGeom>
          <a:solidFill>
            <a:schemeClr val="lt1"/>
          </a:solidFill>
          <a:ln cap="flat" cmpd="sng" w="28575">
            <a:solidFill>
              <a:schemeClr val="accent4"/>
            </a:solidFill>
            <a:prstDash val="solid"/>
            <a:miter lim="800000"/>
            <a:headEnd len="sm" w="sm" type="none"/>
            <a:tailEnd len="sm" w="sm" type="none"/>
          </a:ln>
        </p:spPr>
      </p:cxnSp>
      <p:sp>
        <p:nvSpPr>
          <p:cNvPr id="1302" name="Google Shape;1302;p53"/>
          <p:cNvSpPr/>
          <p:nvPr/>
        </p:nvSpPr>
        <p:spPr>
          <a:xfrm>
            <a:off x="5184683" y="3294866"/>
            <a:ext cx="1016000" cy="408122"/>
          </a:xfrm>
          <a:prstGeom prst="flowChartMerge">
            <a:avLst/>
          </a:prstGeom>
          <a:solidFill>
            <a:schemeClr val="lt1"/>
          </a:solidFill>
          <a:ln cap="flat" cmpd="sng" w="12700">
            <a:solidFill>
              <a:schemeClr val="accent4"/>
            </a:solidFill>
            <a:prstDash val="solid"/>
            <a:miter lim="800000"/>
            <a:headEnd len="sm" w="sm" type="none"/>
            <a:tailEnd len="sm" w="sm" type="none"/>
          </a:ln>
        </p:spPr>
        <p:txBody>
          <a:bodyPr anchorCtr="1"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sp>
        <p:nvSpPr>
          <p:cNvPr id="1305" name="Google Shape;1305;p53"/>
          <p:cNvSpPr/>
          <p:nvPr/>
        </p:nvSpPr>
        <p:spPr>
          <a:xfrm>
            <a:off x="4531576" y="3893855"/>
            <a:ext cx="884247"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Indoor</a:t>
            </a:r>
            <a:endParaRPr sz="1800">
              <a:solidFill>
                <a:schemeClr val="dk1"/>
              </a:solidFill>
              <a:latin typeface="Roboto Condensed"/>
              <a:ea typeface="Roboto Condensed"/>
              <a:cs typeface="Roboto Condensed"/>
              <a:sym typeface="Roboto Condensed"/>
            </a:endParaRPr>
          </a:p>
        </p:txBody>
      </p:sp>
      <p:sp>
        <p:nvSpPr>
          <p:cNvPr id="1306" name="Google Shape;1306;p53"/>
          <p:cNvSpPr/>
          <p:nvPr/>
        </p:nvSpPr>
        <p:spPr>
          <a:xfrm>
            <a:off x="5799678" y="3906402"/>
            <a:ext cx="984674"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Outdoor</a:t>
            </a:r>
            <a:endParaRPr sz="1800">
              <a:solidFill>
                <a:schemeClr val="dk1"/>
              </a:solidFill>
              <a:latin typeface="Roboto Condensed"/>
              <a:ea typeface="Roboto Condensed"/>
              <a:cs typeface="Roboto Condensed"/>
              <a:sym typeface="Roboto Condensed"/>
            </a:endParaRPr>
          </a:p>
        </p:txBody>
      </p:sp>
      <p:cxnSp>
        <p:nvCxnSpPr>
          <p:cNvPr id="1307" name="Google Shape;1307;p53"/>
          <p:cNvCxnSpPr>
            <a:stCxn id="1308" idx="0"/>
          </p:cNvCxnSpPr>
          <p:nvPr/>
        </p:nvCxnSpPr>
        <p:spPr>
          <a:xfrm flipH="1" rot="10800000">
            <a:off x="4917254" y="4358477"/>
            <a:ext cx="54000" cy="477600"/>
          </a:xfrm>
          <a:prstGeom prst="straightConnector1">
            <a:avLst/>
          </a:prstGeom>
          <a:noFill/>
          <a:ln cap="flat" cmpd="sng" w="28575">
            <a:solidFill>
              <a:schemeClr val="dk2"/>
            </a:solidFill>
            <a:prstDash val="solid"/>
            <a:miter lim="800000"/>
            <a:headEnd len="sm" w="sm" type="none"/>
            <a:tailEnd len="sm" w="sm" type="none"/>
          </a:ln>
        </p:spPr>
      </p:cxnSp>
      <p:sp>
        <p:nvSpPr>
          <p:cNvPr id="1308" name="Google Shape;1308;p53"/>
          <p:cNvSpPr/>
          <p:nvPr/>
        </p:nvSpPr>
        <p:spPr>
          <a:xfrm>
            <a:off x="4185734" y="4836077"/>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IPDID</a:t>
            </a:r>
            <a:endParaRPr sz="1800" u="sng">
              <a:solidFill>
                <a:schemeClr val="dk1"/>
              </a:solidFill>
              <a:latin typeface="Roboto Condensed"/>
              <a:ea typeface="Roboto Condensed"/>
              <a:cs typeface="Roboto Condensed"/>
              <a:sym typeface="Roboto Condensed"/>
            </a:endParaRPr>
          </a:p>
        </p:txBody>
      </p:sp>
      <p:cxnSp>
        <p:nvCxnSpPr>
          <p:cNvPr id="1309" name="Google Shape;1309;p53"/>
          <p:cNvCxnSpPr>
            <a:stCxn id="1310" idx="0"/>
            <a:endCxn id="1306" idx="2"/>
          </p:cNvCxnSpPr>
          <p:nvPr/>
        </p:nvCxnSpPr>
        <p:spPr>
          <a:xfrm rot="10800000">
            <a:off x="6292069" y="4363564"/>
            <a:ext cx="1034700" cy="542400"/>
          </a:xfrm>
          <a:prstGeom prst="straightConnector1">
            <a:avLst/>
          </a:prstGeom>
          <a:noFill/>
          <a:ln cap="flat" cmpd="sng" w="28575">
            <a:solidFill>
              <a:schemeClr val="dk2"/>
            </a:solidFill>
            <a:prstDash val="solid"/>
            <a:miter lim="800000"/>
            <a:headEnd len="sm" w="sm" type="none"/>
            <a:tailEnd len="sm" w="sm" type="none"/>
          </a:ln>
        </p:spPr>
      </p:cxnSp>
      <p:sp>
        <p:nvSpPr>
          <p:cNvPr id="1310" name="Google Shape;1310;p53"/>
          <p:cNvSpPr/>
          <p:nvPr/>
        </p:nvSpPr>
        <p:spPr>
          <a:xfrm>
            <a:off x="6595249" y="490596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OPDID</a:t>
            </a:r>
            <a:endParaRPr sz="1800" u="sng">
              <a:solidFill>
                <a:schemeClr val="dk1"/>
              </a:solidFill>
              <a:latin typeface="Roboto Condensed"/>
              <a:ea typeface="Roboto Condensed"/>
              <a:cs typeface="Roboto Condensed"/>
              <a:sym typeface="Roboto Condensed"/>
            </a:endParaRPr>
          </a:p>
        </p:txBody>
      </p:sp>
      <p:cxnSp>
        <p:nvCxnSpPr>
          <p:cNvPr id="1311" name="Google Shape;1311;p53"/>
          <p:cNvCxnSpPr>
            <a:stCxn id="1312" idx="7"/>
          </p:cNvCxnSpPr>
          <p:nvPr/>
        </p:nvCxnSpPr>
        <p:spPr>
          <a:xfrm flipH="1" rot="10800000">
            <a:off x="3987185" y="4363695"/>
            <a:ext cx="1010700" cy="274800"/>
          </a:xfrm>
          <a:prstGeom prst="straightConnector1">
            <a:avLst/>
          </a:prstGeom>
          <a:noFill/>
          <a:ln cap="flat" cmpd="sng" w="28575">
            <a:solidFill>
              <a:schemeClr val="dk2"/>
            </a:solidFill>
            <a:prstDash val="solid"/>
            <a:miter lim="800000"/>
            <a:headEnd len="sm" w="sm" type="none"/>
            <a:tailEnd len="sm" w="sm" type="none"/>
          </a:ln>
        </p:spPr>
      </p:cxnSp>
      <p:sp>
        <p:nvSpPr>
          <p:cNvPr id="1312" name="Google Shape;1312;p53"/>
          <p:cNvSpPr/>
          <p:nvPr/>
        </p:nvSpPr>
        <p:spPr>
          <a:xfrm>
            <a:off x="2738402" y="4576561"/>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RoomNo</a:t>
            </a:r>
            <a:endParaRPr sz="1800">
              <a:solidFill>
                <a:schemeClr val="dk1"/>
              </a:solidFill>
              <a:latin typeface="Roboto Condensed"/>
              <a:ea typeface="Roboto Condensed"/>
              <a:cs typeface="Roboto Condensed"/>
              <a:sym typeface="Roboto Condensed"/>
            </a:endParaRPr>
          </a:p>
        </p:txBody>
      </p:sp>
      <p:cxnSp>
        <p:nvCxnSpPr>
          <p:cNvPr id="1313" name="Google Shape;1313;p53"/>
          <p:cNvCxnSpPr>
            <a:stCxn id="1306" idx="2"/>
            <a:endCxn id="1314" idx="0"/>
          </p:cNvCxnSpPr>
          <p:nvPr/>
        </p:nvCxnSpPr>
        <p:spPr>
          <a:xfrm flipH="1">
            <a:off x="6228415" y="4363602"/>
            <a:ext cx="63600" cy="996900"/>
          </a:xfrm>
          <a:prstGeom prst="straightConnector1">
            <a:avLst/>
          </a:prstGeom>
          <a:noFill/>
          <a:ln cap="flat" cmpd="sng" w="28575">
            <a:solidFill>
              <a:schemeClr val="dk2"/>
            </a:solidFill>
            <a:prstDash val="solid"/>
            <a:miter lim="800000"/>
            <a:headEnd len="sm" w="sm" type="none"/>
            <a:tailEnd len="sm" w="sm" type="none"/>
          </a:ln>
        </p:spPr>
      </p:cxnSp>
      <p:sp>
        <p:nvSpPr>
          <p:cNvPr id="1314" name="Google Shape;1314;p53"/>
          <p:cNvSpPr/>
          <p:nvPr/>
        </p:nvSpPr>
        <p:spPr>
          <a:xfrm>
            <a:off x="5634481" y="5360503"/>
            <a:ext cx="118800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Charge</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5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Reduce the E-R diagram </a:t>
            </a:r>
            <a:br>
              <a:rPr lang="en-US">
                <a:solidFill>
                  <a:srgbClr val="5C2321"/>
                </a:solidFill>
              </a:rPr>
            </a:br>
            <a:r>
              <a:rPr lang="en-US">
                <a:solidFill>
                  <a:srgbClr val="5C2321"/>
                </a:solidFill>
              </a:rPr>
              <a:t>to Database Schema</a:t>
            </a:r>
            <a:endParaRPr>
              <a:solidFill>
                <a:srgbClr val="5C2321"/>
              </a:solidFill>
            </a:endParaRPr>
          </a:p>
        </p:txBody>
      </p:sp>
      <p:sp>
        <p:nvSpPr>
          <p:cNvPr id="1320" name="Google Shape;1320;p5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- 11</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55"/>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Reduce the E-R diagram to database schema</a:t>
            </a:r>
            <a:endParaRPr/>
          </a:p>
        </p:txBody>
      </p:sp>
      <p:sp>
        <p:nvSpPr>
          <p:cNvPr id="1326" name="Google Shape;1326;p55"/>
          <p:cNvSpPr txBox="1"/>
          <p:nvPr>
            <p:ph idx="1" type="body"/>
          </p:nvPr>
        </p:nvSpPr>
        <p:spPr>
          <a:xfrm>
            <a:off x="131181" y="863444"/>
            <a:ext cx="7111390" cy="5590565"/>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An </a:t>
            </a:r>
            <a:r>
              <a:rPr b="1" lang="en-US">
                <a:solidFill>
                  <a:schemeClr val="accent6"/>
                </a:solidFill>
              </a:rPr>
              <a:t>entity</a:t>
            </a:r>
            <a:r>
              <a:rPr lang="en-US"/>
              <a:t> of an ER diagram is </a:t>
            </a:r>
            <a:r>
              <a:rPr b="1" lang="en-US">
                <a:solidFill>
                  <a:schemeClr val="accent6"/>
                </a:solidFill>
              </a:rPr>
              <a:t>turned into </a:t>
            </a:r>
            <a:r>
              <a:rPr lang="en-US"/>
              <a:t>a </a:t>
            </a:r>
            <a:r>
              <a:rPr b="1" lang="en-US">
                <a:solidFill>
                  <a:schemeClr val="accent6"/>
                </a:solidFill>
              </a:rPr>
              <a:t>table</a:t>
            </a:r>
            <a:r>
              <a:rPr lang="en-US"/>
              <a:t>.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Each </a:t>
            </a:r>
            <a:r>
              <a:rPr b="1" lang="en-US">
                <a:solidFill>
                  <a:schemeClr val="accent6"/>
                </a:solidFill>
              </a:rPr>
              <a:t>attribute</a:t>
            </a:r>
            <a:r>
              <a:rPr lang="en-US"/>
              <a:t> (except multi-valued attribute) </a:t>
            </a:r>
            <a:r>
              <a:rPr b="1" lang="en-US">
                <a:solidFill>
                  <a:schemeClr val="accent6"/>
                </a:solidFill>
              </a:rPr>
              <a:t>turns into </a:t>
            </a:r>
            <a:r>
              <a:rPr lang="en-US"/>
              <a:t>a </a:t>
            </a:r>
            <a:r>
              <a:rPr b="1" lang="en-US">
                <a:solidFill>
                  <a:schemeClr val="accent6"/>
                </a:solidFill>
              </a:rPr>
              <a:t>column</a:t>
            </a:r>
            <a:r>
              <a:rPr lang="en-US"/>
              <a:t> (attribute) in the table.</a:t>
            </a:r>
            <a:endParaRPr/>
          </a:p>
          <a:p>
            <a:pPr indent="-265113" lvl="0" marL="265113" rtl="0" algn="just">
              <a:lnSpc>
                <a:spcPct val="90000"/>
              </a:lnSpc>
              <a:spcBef>
                <a:spcPts val="1000"/>
              </a:spcBef>
              <a:spcAft>
                <a:spcPts val="0"/>
              </a:spcAft>
              <a:buClr>
                <a:schemeClr val="accent6"/>
              </a:buClr>
              <a:buSzPts val="2400"/>
              <a:buFont typeface="Noto Sans Symbols"/>
              <a:buChar char="🞂"/>
            </a:pPr>
            <a:r>
              <a:rPr b="1" lang="en-US">
                <a:solidFill>
                  <a:schemeClr val="accent6"/>
                </a:solidFill>
              </a:rPr>
              <a:t>Table name</a:t>
            </a:r>
            <a:r>
              <a:rPr lang="en-US"/>
              <a:t> can be same as </a:t>
            </a:r>
            <a:r>
              <a:rPr b="1" lang="en-US">
                <a:solidFill>
                  <a:schemeClr val="accent6"/>
                </a:solidFill>
              </a:rPr>
              <a:t>entity name</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b="1" lang="en-US">
                <a:solidFill>
                  <a:schemeClr val="accent6"/>
                </a:solidFill>
              </a:rPr>
              <a:t>Key attribute </a:t>
            </a:r>
            <a:r>
              <a:rPr lang="en-US"/>
              <a:t>of the entity is the </a:t>
            </a:r>
            <a:r>
              <a:rPr b="1" lang="en-US">
                <a:solidFill>
                  <a:schemeClr val="accent6"/>
                </a:solidFill>
              </a:rPr>
              <a:t>primary key </a:t>
            </a:r>
            <a:r>
              <a:rPr lang="en-US"/>
              <a:t>of the table which is usually underlined.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It is highly recommended that every table should start with its primary key attribute conventionally named as TablenameID.</a:t>
            </a:r>
            <a:endParaRPr/>
          </a:p>
        </p:txBody>
      </p:sp>
      <p:sp>
        <p:nvSpPr>
          <p:cNvPr id="1327" name="Google Shape;1327;p55"/>
          <p:cNvSpPr/>
          <p:nvPr/>
        </p:nvSpPr>
        <p:spPr>
          <a:xfrm>
            <a:off x="8992954" y="2562173"/>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a:t>
            </a:r>
            <a:endParaRPr sz="1800">
              <a:solidFill>
                <a:schemeClr val="dk1"/>
              </a:solidFill>
              <a:latin typeface="Roboto Condensed"/>
              <a:ea typeface="Roboto Condensed"/>
              <a:cs typeface="Roboto Condensed"/>
              <a:sym typeface="Roboto Condensed"/>
            </a:endParaRPr>
          </a:p>
        </p:txBody>
      </p:sp>
      <p:cxnSp>
        <p:nvCxnSpPr>
          <p:cNvPr id="1328" name="Google Shape;1328;p55"/>
          <p:cNvCxnSpPr>
            <a:stCxn id="1329" idx="4"/>
            <a:endCxn id="1327" idx="0"/>
          </p:cNvCxnSpPr>
          <p:nvPr/>
        </p:nvCxnSpPr>
        <p:spPr>
          <a:xfrm>
            <a:off x="8878651" y="2126201"/>
            <a:ext cx="963300" cy="435900"/>
          </a:xfrm>
          <a:prstGeom prst="straightConnector1">
            <a:avLst/>
          </a:prstGeom>
          <a:noFill/>
          <a:ln cap="flat" cmpd="sng" w="28575">
            <a:solidFill>
              <a:schemeClr val="dk2"/>
            </a:solidFill>
            <a:prstDash val="solid"/>
            <a:miter lim="800000"/>
            <a:headEnd len="sm" w="sm" type="none"/>
            <a:tailEnd len="sm" w="sm" type="none"/>
          </a:ln>
        </p:spPr>
      </p:cxnSp>
      <p:sp>
        <p:nvSpPr>
          <p:cNvPr id="1329" name="Google Shape;1329;p55"/>
          <p:cNvSpPr/>
          <p:nvPr/>
        </p:nvSpPr>
        <p:spPr>
          <a:xfrm>
            <a:off x="8147131" y="1703291"/>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PersonID</a:t>
            </a:r>
            <a:endParaRPr sz="1800" u="sng">
              <a:solidFill>
                <a:schemeClr val="dk1"/>
              </a:solidFill>
              <a:latin typeface="Roboto Condensed"/>
              <a:ea typeface="Roboto Condensed"/>
              <a:cs typeface="Roboto Condensed"/>
              <a:sym typeface="Roboto Condensed"/>
            </a:endParaRPr>
          </a:p>
        </p:txBody>
      </p:sp>
      <p:cxnSp>
        <p:nvCxnSpPr>
          <p:cNvPr id="1330" name="Google Shape;1330;p55"/>
          <p:cNvCxnSpPr>
            <a:stCxn id="1331" idx="4"/>
            <a:endCxn id="1327" idx="0"/>
          </p:cNvCxnSpPr>
          <p:nvPr/>
        </p:nvCxnSpPr>
        <p:spPr>
          <a:xfrm flipH="1">
            <a:off x="9842174" y="2103790"/>
            <a:ext cx="654600" cy="458400"/>
          </a:xfrm>
          <a:prstGeom prst="straightConnector1">
            <a:avLst/>
          </a:prstGeom>
          <a:noFill/>
          <a:ln cap="flat" cmpd="sng" w="28575">
            <a:solidFill>
              <a:schemeClr val="dk2"/>
            </a:solidFill>
            <a:prstDash val="solid"/>
            <a:miter lim="800000"/>
            <a:headEnd len="sm" w="sm" type="none"/>
            <a:tailEnd len="sm" w="sm" type="none"/>
          </a:ln>
        </p:spPr>
      </p:cxnSp>
      <p:sp>
        <p:nvSpPr>
          <p:cNvPr id="1331" name="Google Shape;1331;p55"/>
          <p:cNvSpPr/>
          <p:nvPr/>
        </p:nvSpPr>
        <p:spPr>
          <a:xfrm>
            <a:off x="9765254" y="1680880"/>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sz="1800">
              <a:solidFill>
                <a:schemeClr val="dk1"/>
              </a:solidFill>
              <a:latin typeface="Roboto Condensed"/>
              <a:ea typeface="Roboto Condensed"/>
              <a:cs typeface="Roboto Condensed"/>
              <a:sym typeface="Roboto Condensed"/>
            </a:endParaRPr>
          </a:p>
        </p:txBody>
      </p:sp>
      <p:sp>
        <p:nvSpPr>
          <p:cNvPr id="1332" name="Google Shape;1332;p55"/>
          <p:cNvSpPr/>
          <p:nvPr/>
        </p:nvSpPr>
        <p:spPr>
          <a:xfrm>
            <a:off x="7897305" y="3370210"/>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Address</a:t>
            </a:r>
            <a:endParaRPr sz="1800">
              <a:solidFill>
                <a:schemeClr val="dk1"/>
              </a:solidFill>
              <a:latin typeface="Roboto Condensed"/>
              <a:ea typeface="Roboto Condensed"/>
              <a:cs typeface="Roboto Condensed"/>
              <a:sym typeface="Roboto Condensed"/>
            </a:endParaRPr>
          </a:p>
        </p:txBody>
      </p:sp>
      <p:sp>
        <p:nvSpPr>
          <p:cNvPr id="1333" name="Google Shape;1333;p55"/>
          <p:cNvSpPr/>
          <p:nvPr/>
        </p:nvSpPr>
        <p:spPr>
          <a:xfrm>
            <a:off x="10169407" y="3370210"/>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City</a:t>
            </a:r>
            <a:endParaRPr sz="1800">
              <a:solidFill>
                <a:schemeClr val="dk1"/>
              </a:solidFill>
              <a:latin typeface="Roboto Condensed"/>
              <a:ea typeface="Roboto Condensed"/>
              <a:cs typeface="Roboto Condensed"/>
              <a:sym typeface="Roboto Condensed"/>
            </a:endParaRPr>
          </a:p>
        </p:txBody>
      </p:sp>
      <p:sp>
        <p:nvSpPr>
          <p:cNvPr id="1334" name="Google Shape;1334;p55"/>
          <p:cNvSpPr/>
          <p:nvPr/>
        </p:nvSpPr>
        <p:spPr>
          <a:xfrm>
            <a:off x="9076771" y="3992078"/>
            <a:ext cx="1545931"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PhoneNo</a:t>
            </a:r>
            <a:endParaRPr sz="1800">
              <a:solidFill>
                <a:schemeClr val="dk1"/>
              </a:solidFill>
              <a:latin typeface="Roboto Condensed"/>
              <a:ea typeface="Roboto Condensed"/>
              <a:cs typeface="Roboto Condensed"/>
              <a:sym typeface="Roboto Condensed"/>
            </a:endParaRPr>
          </a:p>
        </p:txBody>
      </p:sp>
      <p:sp>
        <p:nvSpPr>
          <p:cNvPr id="1335" name="Google Shape;1335;p55"/>
          <p:cNvSpPr/>
          <p:nvPr/>
        </p:nvSpPr>
        <p:spPr>
          <a:xfrm>
            <a:off x="8972163" y="3890680"/>
            <a:ext cx="1722731" cy="603858"/>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cxnSp>
        <p:nvCxnSpPr>
          <p:cNvPr id="1336" name="Google Shape;1336;p55"/>
          <p:cNvCxnSpPr>
            <a:endCxn id="1332" idx="0"/>
          </p:cNvCxnSpPr>
          <p:nvPr/>
        </p:nvCxnSpPr>
        <p:spPr>
          <a:xfrm flipH="1">
            <a:off x="8628825" y="3028810"/>
            <a:ext cx="1210500" cy="341400"/>
          </a:xfrm>
          <a:prstGeom prst="straightConnector1">
            <a:avLst/>
          </a:prstGeom>
          <a:noFill/>
          <a:ln cap="flat" cmpd="sng" w="28575">
            <a:solidFill>
              <a:schemeClr val="dk2"/>
            </a:solidFill>
            <a:prstDash val="solid"/>
            <a:miter lim="800000"/>
            <a:headEnd len="sm" w="sm" type="none"/>
            <a:tailEnd len="sm" w="sm" type="none"/>
          </a:ln>
        </p:spPr>
      </p:cxnSp>
      <p:cxnSp>
        <p:nvCxnSpPr>
          <p:cNvPr id="1337" name="Google Shape;1337;p55"/>
          <p:cNvCxnSpPr>
            <a:stCxn id="1327" idx="2"/>
            <a:endCxn id="1335" idx="0"/>
          </p:cNvCxnSpPr>
          <p:nvPr/>
        </p:nvCxnSpPr>
        <p:spPr>
          <a:xfrm flipH="1">
            <a:off x="9833640" y="3019373"/>
            <a:ext cx="8400" cy="871200"/>
          </a:xfrm>
          <a:prstGeom prst="straightConnector1">
            <a:avLst/>
          </a:prstGeom>
          <a:noFill/>
          <a:ln cap="flat" cmpd="sng" w="28575">
            <a:solidFill>
              <a:schemeClr val="dk2"/>
            </a:solidFill>
            <a:prstDash val="solid"/>
            <a:miter lim="800000"/>
            <a:headEnd len="sm" w="sm" type="none"/>
            <a:tailEnd len="sm" w="sm" type="none"/>
          </a:ln>
        </p:spPr>
      </p:cxnSp>
      <p:cxnSp>
        <p:nvCxnSpPr>
          <p:cNvPr id="1338" name="Google Shape;1338;p55"/>
          <p:cNvCxnSpPr>
            <a:endCxn id="1333" idx="0"/>
          </p:cNvCxnSpPr>
          <p:nvPr/>
        </p:nvCxnSpPr>
        <p:spPr>
          <a:xfrm>
            <a:off x="9847927" y="3028810"/>
            <a:ext cx="1053000" cy="341400"/>
          </a:xfrm>
          <a:prstGeom prst="straightConnector1">
            <a:avLst/>
          </a:prstGeom>
          <a:noFill/>
          <a:ln cap="flat" cmpd="sng" w="28575">
            <a:solidFill>
              <a:schemeClr val="dk2"/>
            </a:solidFill>
            <a:prstDash val="solid"/>
            <a:miter lim="800000"/>
            <a:headEnd len="sm" w="sm" type="none"/>
            <a:tailEnd len="sm" w="sm" type="none"/>
          </a:ln>
        </p:spPr>
      </p:cxnSp>
      <p:sp>
        <p:nvSpPr>
          <p:cNvPr id="1339" name="Google Shape;1339;p55"/>
          <p:cNvSpPr/>
          <p:nvPr/>
        </p:nvSpPr>
        <p:spPr>
          <a:xfrm>
            <a:off x="7700527" y="4959955"/>
            <a:ext cx="3931920" cy="640080"/>
          </a:xfrm>
          <a:prstGeom prst="roundRect">
            <a:avLst>
              <a:gd fmla="val 6250" name="adj"/>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 (</a:t>
            </a:r>
            <a:r>
              <a:rPr lang="en-US" sz="1800" u="sng">
                <a:solidFill>
                  <a:schemeClr val="dk1"/>
                </a:solidFill>
                <a:latin typeface="Roboto Condensed"/>
                <a:ea typeface="Roboto Condensed"/>
                <a:cs typeface="Roboto Condensed"/>
                <a:sym typeface="Roboto Condensed"/>
              </a:rPr>
              <a:t>PersonID</a:t>
            </a:r>
            <a:r>
              <a:rPr lang="en-US" sz="1800">
                <a:solidFill>
                  <a:schemeClr val="dk1"/>
                </a:solidFill>
                <a:latin typeface="Roboto Condensed"/>
                <a:ea typeface="Roboto Condensed"/>
                <a:cs typeface="Roboto Condensed"/>
                <a:sym typeface="Roboto Condensed"/>
              </a:rPr>
              <a:t>, Name, Address, City)</a:t>
            </a:r>
            <a:endParaRPr/>
          </a:p>
        </p:txBody>
      </p:sp>
      <p:sp>
        <p:nvSpPr>
          <p:cNvPr id="1340" name="Google Shape;1340;p55"/>
          <p:cNvSpPr/>
          <p:nvPr/>
        </p:nvSpPr>
        <p:spPr>
          <a:xfrm>
            <a:off x="131182" y="968010"/>
            <a:ext cx="7111390" cy="52322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Roboto Condensed"/>
                <a:ea typeface="Roboto Condensed"/>
                <a:cs typeface="Roboto Condensed"/>
                <a:sym typeface="Roboto Condensed"/>
              </a:rPr>
              <a:t>Step 1: Reduce </a:t>
            </a:r>
            <a:r>
              <a:rPr b="1" lang="en-US" sz="2800">
                <a:solidFill>
                  <a:schemeClr val="accent6"/>
                </a:solidFill>
                <a:latin typeface="Roboto Condensed"/>
                <a:ea typeface="Roboto Condensed"/>
                <a:cs typeface="Roboto Condensed"/>
                <a:sym typeface="Roboto Condensed"/>
              </a:rPr>
              <a:t>Entities</a:t>
            </a:r>
            <a:r>
              <a:rPr lang="en-US" sz="2800">
                <a:solidFill>
                  <a:schemeClr val="dk1"/>
                </a:solidFill>
                <a:latin typeface="Roboto Condensed"/>
                <a:ea typeface="Roboto Condensed"/>
                <a:cs typeface="Roboto Condensed"/>
                <a:sym typeface="Roboto Condensed"/>
              </a:rPr>
              <a:t> and </a:t>
            </a:r>
            <a:r>
              <a:rPr b="1" lang="en-US" sz="2800">
                <a:solidFill>
                  <a:schemeClr val="accent6"/>
                </a:solidFill>
                <a:latin typeface="Roboto Condensed"/>
                <a:ea typeface="Roboto Condensed"/>
                <a:cs typeface="Roboto Condensed"/>
                <a:sym typeface="Roboto Condensed"/>
              </a:rPr>
              <a:t>Simple Attributes</a:t>
            </a:r>
            <a:r>
              <a:rPr lang="en-US" sz="2800">
                <a:solidFill>
                  <a:schemeClr val="dk1"/>
                </a:solidFill>
                <a:latin typeface="Roboto Condensed"/>
                <a:ea typeface="Roboto Condensed"/>
                <a:cs typeface="Roboto Condensed"/>
                <a:sym typeface="Roboto Condensed"/>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500"/>
                                        <p:tgtEl>
                                          <p:spTgt spid="1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gtEl>
                                        <p:attrNameLst>
                                          <p:attrName>style.visibility</p:attrName>
                                        </p:attrNameLst>
                                      </p:cBhvr>
                                      <p:to>
                                        <p:strVal val="visible"/>
                                      </p:to>
                                    </p:set>
                                    <p:animEffect filter="fade" transition="in">
                                      <p:cBhvr>
                                        <p:cTn dur="500"/>
                                        <p:tgtEl>
                                          <p:spTgt spid="1327"/>
                                        </p:tgtEl>
                                      </p:cBhvr>
                                    </p:animEffect>
                                  </p:childTnLst>
                                </p:cTn>
                              </p:par>
                              <p:par>
                                <p:cTn fill="hold" nodeType="withEffect" presetClass="entr" presetID="10" presetSubtype="0">
                                  <p:stCondLst>
                                    <p:cond delay="0"/>
                                  </p:stCondLst>
                                  <p:childTnLst>
                                    <p:set>
                                      <p:cBhvr>
                                        <p:cTn dur="1" fill="hold">
                                          <p:stCondLst>
                                            <p:cond delay="0"/>
                                          </p:stCondLst>
                                        </p:cTn>
                                        <p:tgtEl>
                                          <p:spTgt spid="1328"/>
                                        </p:tgtEl>
                                        <p:attrNameLst>
                                          <p:attrName>style.visibility</p:attrName>
                                        </p:attrNameLst>
                                      </p:cBhvr>
                                      <p:to>
                                        <p:strVal val="visible"/>
                                      </p:to>
                                    </p:set>
                                    <p:animEffect filter="fade" transition="in">
                                      <p:cBhvr>
                                        <p:cTn dur="500"/>
                                        <p:tgtEl>
                                          <p:spTgt spid="1328"/>
                                        </p:tgtEl>
                                      </p:cBhvr>
                                    </p:animEffect>
                                  </p:childTnLst>
                                </p:cTn>
                              </p:par>
                              <p:par>
                                <p:cTn fill="hold" nodeType="withEffect" presetClass="entr" presetID="10" presetSubtype="0">
                                  <p:stCondLst>
                                    <p:cond delay="0"/>
                                  </p:stCondLst>
                                  <p:childTnLst>
                                    <p:set>
                                      <p:cBhvr>
                                        <p:cTn dur="1" fill="hold">
                                          <p:stCondLst>
                                            <p:cond delay="0"/>
                                          </p:stCondLst>
                                        </p:cTn>
                                        <p:tgtEl>
                                          <p:spTgt spid="1329"/>
                                        </p:tgtEl>
                                        <p:attrNameLst>
                                          <p:attrName>style.visibility</p:attrName>
                                        </p:attrNameLst>
                                      </p:cBhvr>
                                      <p:to>
                                        <p:strVal val="visible"/>
                                      </p:to>
                                    </p:set>
                                    <p:animEffect filter="fade" transition="in">
                                      <p:cBhvr>
                                        <p:cTn dur="500"/>
                                        <p:tgtEl>
                                          <p:spTgt spid="1329"/>
                                        </p:tgtEl>
                                      </p:cBhvr>
                                    </p:animEffect>
                                  </p:childTnLst>
                                </p:cTn>
                              </p:par>
                              <p:par>
                                <p:cTn fill="hold" nodeType="with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500"/>
                                        <p:tgtEl>
                                          <p:spTgt spid="1330"/>
                                        </p:tgtEl>
                                      </p:cBhvr>
                                    </p:animEffect>
                                  </p:childTnLst>
                                </p:cTn>
                              </p:par>
                              <p:par>
                                <p:cTn fill="hold" nodeType="withEffect" presetClass="entr" presetID="10" presetSubtype="0">
                                  <p:stCondLst>
                                    <p:cond delay="0"/>
                                  </p:stCondLst>
                                  <p:childTnLst>
                                    <p:set>
                                      <p:cBhvr>
                                        <p:cTn dur="1" fill="hold">
                                          <p:stCondLst>
                                            <p:cond delay="0"/>
                                          </p:stCondLst>
                                        </p:cTn>
                                        <p:tgtEl>
                                          <p:spTgt spid="1331"/>
                                        </p:tgtEl>
                                        <p:attrNameLst>
                                          <p:attrName>style.visibility</p:attrName>
                                        </p:attrNameLst>
                                      </p:cBhvr>
                                      <p:to>
                                        <p:strVal val="visible"/>
                                      </p:to>
                                    </p:set>
                                    <p:animEffect filter="fade" transition="in">
                                      <p:cBhvr>
                                        <p:cTn dur="500"/>
                                        <p:tgtEl>
                                          <p:spTgt spid="1331"/>
                                        </p:tgtEl>
                                      </p:cBhvr>
                                    </p:animEffect>
                                  </p:childTnLst>
                                </p:cTn>
                              </p:par>
                              <p:par>
                                <p:cTn fill="hold" nodeType="with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500"/>
                                        <p:tgtEl>
                                          <p:spTgt spid="1332"/>
                                        </p:tgtEl>
                                      </p:cBhvr>
                                    </p:animEffect>
                                  </p:childTnLst>
                                </p:cTn>
                              </p:par>
                              <p:par>
                                <p:cTn fill="hold" nodeType="with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500"/>
                                        <p:tgtEl>
                                          <p:spTgt spid="1333"/>
                                        </p:tgtEl>
                                      </p:cBhvr>
                                    </p:animEffect>
                                  </p:childTnLst>
                                </p:cTn>
                              </p:par>
                              <p:par>
                                <p:cTn fill="hold" nodeType="with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500"/>
                                        <p:tgtEl>
                                          <p:spTgt spid="1334"/>
                                        </p:tgtEl>
                                      </p:cBhvr>
                                    </p:animEffect>
                                  </p:childTnLst>
                                </p:cTn>
                              </p:par>
                              <p:par>
                                <p:cTn fill="hold" nodeType="withEffect" presetClass="entr" presetID="10" presetSubtype="0">
                                  <p:stCondLst>
                                    <p:cond delay="0"/>
                                  </p:stCondLst>
                                  <p:childTnLst>
                                    <p:set>
                                      <p:cBhvr>
                                        <p:cTn dur="1" fill="hold">
                                          <p:stCondLst>
                                            <p:cond delay="0"/>
                                          </p:stCondLst>
                                        </p:cTn>
                                        <p:tgtEl>
                                          <p:spTgt spid="1335"/>
                                        </p:tgtEl>
                                        <p:attrNameLst>
                                          <p:attrName>style.visibility</p:attrName>
                                        </p:attrNameLst>
                                      </p:cBhvr>
                                      <p:to>
                                        <p:strVal val="visible"/>
                                      </p:to>
                                    </p:set>
                                    <p:animEffect filter="fade" transition="in">
                                      <p:cBhvr>
                                        <p:cTn dur="500"/>
                                        <p:tgtEl>
                                          <p:spTgt spid="1335"/>
                                        </p:tgtEl>
                                      </p:cBhvr>
                                    </p:animEffect>
                                  </p:childTnLst>
                                </p:cTn>
                              </p:par>
                              <p:par>
                                <p:cTn fill="hold" nodeType="withEffect" presetClass="entr" presetID="10" presetSubtype="0">
                                  <p:stCondLst>
                                    <p:cond delay="0"/>
                                  </p:stCondLst>
                                  <p:childTnLst>
                                    <p:set>
                                      <p:cBhvr>
                                        <p:cTn dur="1" fill="hold">
                                          <p:stCondLst>
                                            <p:cond delay="0"/>
                                          </p:stCondLst>
                                        </p:cTn>
                                        <p:tgtEl>
                                          <p:spTgt spid="1336"/>
                                        </p:tgtEl>
                                        <p:attrNameLst>
                                          <p:attrName>style.visibility</p:attrName>
                                        </p:attrNameLst>
                                      </p:cBhvr>
                                      <p:to>
                                        <p:strVal val="visible"/>
                                      </p:to>
                                    </p:set>
                                    <p:animEffect filter="fade" transition="in">
                                      <p:cBhvr>
                                        <p:cTn dur="500"/>
                                        <p:tgtEl>
                                          <p:spTgt spid="1336"/>
                                        </p:tgtEl>
                                      </p:cBhvr>
                                    </p:animEffect>
                                  </p:childTnLst>
                                </p:cTn>
                              </p:par>
                              <p:par>
                                <p:cTn fill="hold" nodeType="withEffect" presetClass="entr" presetID="10" presetSubtype="0">
                                  <p:stCondLst>
                                    <p:cond delay="0"/>
                                  </p:stCondLst>
                                  <p:childTnLst>
                                    <p:set>
                                      <p:cBhvr>
                                        <p:cTn dur="1" fill="hold">
                                          <p:stCondLst>
                                            <p:cond delay="0"/>
                                          </p:stCondLst>
                                        </p:cTn>
                                        <p:tgtEl>
                                          <p:spTgt spid="1337"/>
                                        </p:tgtEl>
                                        <p:attrNameLst>
                                          <p:attrName>style.visibility</p:attrName>
                                        </p:attrNameLst>
                                      </p:cBhvr>
                                      <p:to>
                                        <p:strVal val="visible"/>
                                      </p:to>
                                    </p:set>
                                    <p:animEffect filter="fade" transition="in">
                                      <p:cBhvr>
                                        <p:cTn dur="500"/>
                                        <p:tgtEl>
                                          <p:spTgt spid="1337"/>
                                        </p:tgtEl>
                                      </p:cBhvr>
                                    </p:animEffect>
                                  </p:childTnLst>
                                </p:cTn>
                              </p:par>
                              <p:par>
                                <p:cTn fill="hold" nodeType="with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500"/>
                                        <p:tgtEl>
                                          <p:spTgt spid="1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9"/>
                                        </p:tgtEl>
                                        <p:attrNameLst>
                                          <p:attrName>style.visibility</p:attrName>
                                        </p:attrNameLst>
                                      </p:cBhvr>
                                      <p:to>
                                        <p:strVal val="visible"/>
                                      </p:to>
                                    </p:set>
                                    <p:animEffect filter="fade" transition="in">
                                      <p:cBhvr>
                                        <p:cTn dur="500"/>
                                        <p:tgtEl>
                                          <p:spTgt spid="1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5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Reduce the E-R diagram to database schema</a:t>
            </a:r>
            <a:endParaRPr/>
          </a:p>
        </p:txBody>
      </p:sp>
      <p:sp>
        <p:nvSpPr>
          <p:cNvPr id="1346" name="Google Shape;1346;p56"/>
          <p:cNvSpPr txBox="1"/>
          <p:nvPr>
            <p:ph idx="1" type="body"/>
          </p:nvPr>
        </p:nvSpPr>
        <p:spPr>
          <a:xfrm>
            <a:off x="131181" y="863444"/>
            <a:ext cx="7111390" cy="5590565"/>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b="1" lang="en-US">
                <a:solidFill>
                  <a:schemeClr val="accent6"/>
                </a:solidFill>
              </a:rPr>
              <a:t>Multi-value attribute </a:t>
            </a:r>
            <a:r>
              <a:rPr lang="en-US"/>
              <a:t>is turned into a </a:t>
            </a:r>
            <a:r>
              <a:rPr b="1" lang="en-US">
                <a:solidFill>
                  <a:schemeClr val="accent6"/>
                </a:solidFill>
              </a:rPr>
              <a:t>new table</a:t>
            </a:r>
            <a:r>
              <a:rPr lang="en-US"/>
              <a:t>. </a:t>
            </a:r>
            <a:endParaRPr/>
          </a:p>
          <a:p>
            <a:pPr indent="-265113" lvl="0" marL="265113" rtl="0" algn="just">
              <a:lnSpc>
                <a:spcPct val="90000"/>
              </a:lnSpc>
              <a:spcBef>
                <a:spcPts val="1000"/>
              </a:spcBef>
              <a:spcAft>
                <a:spcPts val="0"/>
              </a:spcAft>
              <a:buClr>
                <a:schemeClr val="accent6"/>
              </a:buClr>
              <a:buSzPts val="2400"/>
              <a:buFont typeface="Noto Sans Symbols"/>
              <a:buChar char="🞂"/>
            </a:pPr>
            <a:r>
              <a:rPr b="1" lang="en-US">
                <a:solidFill>
                  <a:schemeClr val="accent6"/>
                </a:solidFill>
              </a:rPr>
              <a:t>Add</a:t>
            </a:r>
            <a:r>
              <a:rPr lang="en-US"/>
              <a:t> the </a:t>
            </a:r>
            <a:r>
              <a:rPr b="1" lang="en-US">
                <a:solidFill>
                  <a:schemeClr val="accent6"/>
                </a:solidFill>
              </a:rPr>
              <a:t>primary key </a:t>
            </a:r>
            <a:r>
              <a:rPr lang="en-US"/>
              <a:t>column into </a:t>
            </a:r>
            <a:r>
              <a:rPr b="1" lang="en-US">
                <a:solidFill>
                  <a:schemeClr val="accent6"/>
                </a:solidFill>
              </a:rPr>
              <a:t>multi-value attribute’s table</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Add the </a:t>
            </a:r>
            <a:r>
              <a:rPr b="1" lang="en-US">
                <a:solidFill>
                  <a:schemeClr val="accent6"/>
                </a:solidFill>
              </a:rPr>
              <a:t>primary key</a:t>
            </a:r>
            <a:r>
              <a:rPr lang="en-US"/>
              <a:t> </a:t>
            </a:r>
            <a:r>
              <a:rPr b="1" lang="en-US">
                <a:solidFill>
                  <a:schemeClr val="accent6"/>
                </a:solidFill>
              </a:rPr>
              <a:t>column</a:t>
            </a:r>
            <a:r>
              <a:rPr lang="en-US"/>
              <a:t> of the </a:t>
            </a:r>
            <a:r>
              <a:rPr b="1" lang="en-US">
                <a:solidFill>
                  <a:schemeClr val="accent6"/>
                </a:solidFill>
              </a:rPr>
              <a:t>parent entity’s table </a:t>
            </a:r>
            <a:r>
              <a:rPr lang="en-US"/>
              <a:t>as a </a:t>
            </a:r>
            <a:r>
              <a:rPr b="1" lang="en-US">
                <a:solidFill>
                  <a:schemeClr val="accent6"/>
                </a:solidFill>
              </a:rPr>
              <a:t>foreign key </a:t>
            </a:r>
            <a:r>
              <a:rPr lang="en-US"/>
              <a:t>within the </a:t>
            </a:r>
            <a:r>
              <a:rPr b="1" lang="en-US">
                <a:solidFill>
                  <a:schemeClr val="accent6"/>
                </a:solidFill>
              </a:rPr>
              <a:t>new (multi-value attribute’s) table</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Then make a </a:t>
            </a:r>
            <a:r>
              <a:rPr b="1" lang="en-US">
                <a:solidFill>
                  <a:schemeClr val="accent6"/>
                </a:solidFill>
              </a:rPr>
              <a:t>1:N relationship </a:t>
            </a:r>
            <a:r>
              <a:rPr lang="en-US"/>
              <a:t>between the Person table and PhoneNo table.</a:t>
            </a:r>
            <a:endParaRPr/>
          </a:p>
        </p:txBody>
      </p:sp>
      <p:sp>
        <p:nvSpPr>
          <p:cNvPr id="1347" name="Google Shape;1347;p56"/>
          <p:cNvSpPr/>
          <p:nvPr/>
        </p:nvSpPr>
        <p:spPr>
          <a:xfrm>
            <a:off x="131182" y="968010"/>
            <a:ext cx="7111390" cy="52322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Roboto Condensed"/>
                <a:ea typeface="Roboto Condensed"/>
                <a:cs typeface="Roboto Condensed"/>
                <a:sym typeface="Roboto Condensed"/>
              </a:rPr>
              <a:t>Step 2: Reduce </a:t>
            </a:r>
            <a:r>
              <a:rPr b="1" lang="en-US" sz="2800">
                <a:solidFill>
                  <a:schemeClr val="accent6"/>
                </a:solidFill>
                <a:latin typeface="Roboto Condensed"/>
                <a:ea typeface="Roboto Condensed"/>
                <a:cs typeface="Roboto Condensed"/>
                <a:sym typeface="Roboto Condensed"/>
              </a:rPr>
              <a:t>Multi-valued Attributes</a:t>
            </a:r>
            <a:r>
              <a:rPr lang="en-US" sz="2800">
                <a:solidFill>
                  <a:schemeClr val="dk1"/>
                </a:solidFill>
                <a:latin typeface="Roboto Condensed"/>
                <a:ea typeface="Roboto Condensed"/>
                <a:cs typeface="Roboto Condensed"/>
                <a:sym typeface="Roboto Condensed"/>
              </a:rPr>
              <a:t>:</a:t>
            </a:r>
            <a:endParaRPr/>
          </a:p>
        </p:txBody>
      </p:sp>
      <p:sp>
        <p:nvSpPr>
          <p:cNvPr id="1348" name="Google Shape;1348;p56"/>
          <p:cNvSpPr/>
          <p:nvPr/>
        </p:nvSpPr>
        <p:spPr>
          <a:xfrm>
            <a:off x="9019844" y="1983953"/>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a:t>
            </a:r>
            <a:endParaRPr sz="1800">
              <a:solidFill>
                <a:schemeClr val="dk1"/>
              </a:solidFill>
              <a:latin typeface="Roboto Condensed"/>
              <a:ea typeface="Roboto Condensed"/>
              <a:cs typeface="Roboto Condensed"/>
              <a:sym typeface="Roboto Condensed"/>
            </a:endParaRPr>
          </a:p>
        </p:txBody>
      </p:sp>
      <p:cxnSp>
        <p:nvCxnSpPr>
          <p:cNvPr id="1349" name="Google Shape;1349;p56"/>
          <p:cNvCxnSpPr>
            <a:stCxn id="1350" idx="4"/>
            <a:endCxn id="1348" idx="0"/>
          </p:cNvCxnSpPr>
          <p:nvPr/>
        </p:nvCxnSpPr>
        <p:spPr>
          <a:xfrm>
            <a:off x="8866314" y="1525319"/>
            <a:ext cx="1002600" cy="458700"/>
          </a:xfrm>
          <a:prstGeom prst="straightConnector1">
            <a:avLst/>
          </a:prstGeom>
          <a:noFill/>
          <a:ln cap="flat" cmpd="sng" w="28575">
            <a:solidFill>
              <a:schemeClr val="dk2"/>
            </a:solidFill>
            <a:prstDash val="solid"/>
            <a:miter lim="800000"/>
            <a:headEnd len="sm" w="sm" type="none"/>
            <a:tailEnd len="sm" w="sm" type="none"/>
          </a:ln>
        </p:spPr>
      </p:cxnSp>
      <p:sp>
        <p:nvSpPr>
          <p:cNvPr id="1350" name="Google Shape;1350;p56"/>
          <p:cNvSpPr/>
          <p:nvPr/>
        </p:nvSpPr>
        <p:spPr>
          <a:xfrm>
            <a:off x="8134794" y="1102409"/>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PersonID</a:t>
            </a:r>
            <a:endParaRPr sz="1800" u="sng">
              <a:solidFill>
                <a:schemeClr val="dk1"/>
              </a:solidFill>
              <a:latin typeface="Roboto Condensed"/>
              <a:ea typeface="Roboto Condensed"/>
              <a:cs typeface="Roboto Condensed"/>
              <a:sym typeface="Roboto Condensed"/>
            </a:endParaRPr>
          </a:p>
        </p:txBody>
      </p:sp>
      <p:sp>
        <p:nvSpPr>
          <p:cNvPr id="1351" name="Google Shape;1351;p56"/>
          <p:cNvSpPr/>
          <p:nvPr/>
        </p:nvSpPr>
        <p:spPr>
          <a:xfrm>
            <a:off x="10102148" y="1103251"/>
            <a:ext cx="1545931"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PhoneNo</a:t>
            </a:r>
            <a:endParaRPr sz="1800">
              <a:solidFill>
                <a:schemeClr val="dk1"/>
              </a:solidFill>
              <a:latin typeface="Roboto Condensed"/>
              <a:ea typeface="Roboto Condensed"/>
              <a:cs typeface="Roboto Condensed"/>
              <a:sym typeface="Roboto Condensed"/>
            </a:endParaRPr>
          </a:p>
        </p:txBody>
      </p:sp>
      <p:sp>
        <p:nvSpPr>
          <p:cNvPr id="1352" name="Google Shape;1352;p56"/>
          <p:cNvSpPr/>
          <p:nvPr/>
        </p:nvSpPr>
        <p:spPr>
          <a:xfrm>
            <a:off x="10013748" y="1012777"/>
            <a:ext cx="1722731" cy="603858"/>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cxnSp>
        <p:nvCxnSpPr>
          <p:cNvPr id="1353" name="Google Shape;1353;p56"/>
          <p:cNvCxnSpPr>
            <a:stCxn id="1352" idx="4"/>
            <a:endCxn id="1348" idx="0"/>
          </p:cNvCxnSpPr>
          <p:nvPr/>
        </p:nvCxnSpPr>
        <p:spPr>
          <a:xfrm flipH="1">
            <a:off x="9868914" y="1616635"/>
            <a:ext cx="1006200" cy="367200"/>
          </a:xfrm>
          <a:prstGeom prst="straightConnector1">
            <a:avLst/>
          </a:prstGeom>
          <a:noFill/>
          <a:ln cap="flat" cmpd="sng" w="28575">
            <a:solidFill>
              <a:schemeClr val="dk2"/>
            </a:solidFill>
            <a:prstDash val="solid"/>
            <a:miter lim="800000"/>
            <a:headEnd len="sm" w="sm" type="none"/>
            <a:tailEnd len="sm" w="sm" type="none"/>
          </a:ln>
        </p:spPr>
      </p:cxnSp>
      <p:sp>
        <p:nvSpPr>
          <p:cNvPr id="1354" name="Google Shape;1354;p56"/>
          <p:cNvSpPr/>
          <p:nvPr/>
        </p:nvSpPr>
        <p:spPr>
          <a:xfrm>
            <a:off x="8923464" y="4386431"/>
            <a:ext cx="2103120"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Having</a:t>
            </a:r>
            <a:endParaRPr sz="1800">
              <a:solidFill>
                <a:schemeClr val="dk1"/>
              </a:solidFill>
              <a:latin typeface="Roboto Condensed"/>
              <a:ea typeface="Roboto Condensed"/>
              <a:cs typeface="Roboto Condensed"/>
              <a:sym typeface="Roboto Condensed"/>
            </a:endParaRPr>
          </a:p>
        </p:txBody>
      </p:sp>
      <p:sp>
        <p:nvSpPr>
          <p:cNvPr id="1355" name="Google Shape;1355;p56"/>
          <p:cNvSpPr/>
          <p:nvPr/>
        </p:nvSpPr>
        <p:spPr>
          <a:xfrm>
            <a:off x="9055084" y="5275346"/>
            <a:ext cx="1828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PhoneNo (T2)</a:t>
            </a:r>
            <a:endParaRPr sz="1800">
              <a:solidFill>
                <a:schemeClr val="dk1"/>
              </a:solidFill>
              <a:latin typeface="Roboto Condensed"/>
              <a:ea typeface="Roboto Condensed"/>
              <a:cs typeface="Roboto Condensed"/>
              <a:sym typeface="Roboto Condensed"/>
            </a:endParaRPr>
          </a:p>
        </p:txBody>
      </p:sp>
      <p:sp>
        <p:nvSpPr>
          <p:cNvPr id="1356" name="Google Shape;1356;p56"/>
          <p:cNvSpPr/>
          <p:nvPr/>
        </p:nvSpPr>
        <p:spPr>
          <a:xfrm>
            <a:off x="9057820" y="3497517"/>
            <a:ext cx="1828800"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 (T1)</a:t>
            </a:r>
            <a:endParaRPr sz="1800">
              <a:solidFill>
                <a:schemeClr val="dk1"/>
              </a:solidFill>
              <a:latin typeface="Roboto Condensed"/>
              <a:ea typeface="Roboto Condensed"/>
              <a:cs typeface="Roboto Condensed"/>
              <a:sym typeface="Roboto Condensed"/>
            </a:endParaRPr>
          </a:p>
        </p:txBody>
      </p:sp>
      <p:cxnSp>
        <p:nvCxnSpPr>
          <p:cNvPr id="1357" name="Google Shape;1357;p56"/>
          <p:cNvCxnSpPr>
            <a:stCxn id="1354" idx="2"/>
            <a:endCxn id="1355" idx="0"/>
          </p:cNvCxnSpPr>
          <p:nvPr/>
        </p:nvCxnSpPr>
        <p:spPr>
          <a:xfrm flipH="1">
            <a:off x="9969624" y="4843631"/>
            <a:ext cx="5400" cy="431700"/>
          </a:xfrm>
          <a:prstGeom prst="straightConnector1">
            <a:avLst/>
          </a:prstGeom>
          <a:noFill/>
          <a:ln cap="flat" cmpd="sng" w="28575">
            <a:solidFill>
              <a:schemeClr val="accent4"/>
            </a:solidFill>
            <a:prstDash val="solid"/>
            <a:miter lim="800000"/>
            <a:headEnd len="sm" w="sm" type="none"/>
            <a:tailEnd len="sm" w="sm" type="none"/>
          </a:ln>
        </p:spPr>
      </p:cxnSp>
      <p:cxnSp>
        <p:nvCxnSpPr>
          <p:cNvPr id="1358" name="Google Shape;1358;p56"/>
          <p:cNvCxnSpPr>
            <a:stCxn id="1354" idx="0"/>
            <a:endCxn id="1356" idx="2"/>
          </p:cNvCxnSpPr>
          <p:nvPr/>
        </p:nvCxnSpPr>
        <p:spPr>
          <a:xfrm rot="10800000">
            <a:off x="9972324" y="3954731"/>
            <a:ext cx="2700" cy="431700"/>
          </a:xfrm>
          <a:prstGeom prst="straightConnector1">
            <a:avLst/>
          </a:prstGeom>
          <a:noFill/>
          <a:ln cap="flat" cmpd="sng" w="28575">
            <a:solidFill>
              <a:schemeClr val="accent4"/>
            </a:solidFill>
            <a:prstDash val="solid"/>
            <a:miter lim="800000"/>
            <a:headEnd len="sm" w="sm" type="none"/>
            <a:tailEnd len="med" w="med" type="triangle"/>
          </a:ln>
        </p:spPr>
      </p:cxnSp>
      <p:sp>
        <p:nvSpPr>
          <p:cNvPr id="1359" name="Google Shape;1359;p56"/>
          <p:cNvSpPr/>
          <p:nvPr/>
        </p:nvSpPr>
        <p:spPr>
          <a:xfrm>
            <a:off x="7727124" y="2636552"/>
            <a:ext cx="4023360" cy="640080"/>
          </a:xfrm>
          <a:prstGeom prst="roundRect">
            <a:avLst>
              <a:gd fmla="val 6250" name="adj"/>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PhoneNo (</a:t>
            </a:r>
            <a:r>
              <a:rPr lang="en-US" sz="1800" u="sng">
                <a:solidFill>
                  <a:schemeClr val="dk1"/>
                </a:solidFill>
                <a:latin typeface="Roboto Condensed"/>
                <a:ea typeface="Roboto Condensed"/>
                <a:cs typeface="Roboto Condensed"/>
                <a:sym typeface="Roboto Condensed"/>
              </a:rPr>
              <a:t>PhoneID</a:t>
            </a:r>
            <a:r>
              <a:rPr lang="en-US" sz="1800">
                <a:solidFill>
                  <a:schemeClr val="dk1"/>
                </a:solidFill>
                <a:latin typeface="Roboto Condensed"/>
                <a:ea typeface="Roboto Condensed"/>
                <a:cs typeface="Roboto Condensed"/>
                <a:sym typeface="Roboto Condensed"/>
              </a:rPr>
              <a:t>, PersonID, PhoneNo)</a:t>
            </a:r>
            <a:endParaRPr/>
          </a:p>
        </p:txBody>
      </p:sp>
      <p:sp>
        <p:nvSpPr>
          <p:cNvPr id="1360" name="Google Shape;1360;p56"/>
          <p:cNvSpPr/>
          <p:nvPr/>
        </p:nvSpPr>
        <p:spPr>
          <a:xfrm>
            <a:off x="7490012" y="3576549"/>
            <a:ext cx="1336958" cy="538251"/>
          </a:xfrm>
          <a:prstGeom prst="wedgeRoundRectCallout">
            <a:avLst>
              <a:gd fmla="val 133270" name="adj1"/>
              <a:gd fmla="val -147459" name="adj2"/>
              <a:gd fmla="val 16667" name="adj3"/>
            </a:avLst>
          </a:prstGeom>
          <a:solidFill>
            <a:srgbClr val="F2F2F2"/>
          </a:solidFill>
          <a:ln cap="flat" cmpd="sng" w="9525">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Foreign Key</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7"/>
                                        </p:tgtEl>
                                        <p:attrNameLst>
                                          <p:attrName>style.visibility</p:attrName>
                                        </p:attrNameLst>
                                      </p:cBhvr>
                                      <p:to>
                                        <p:strVal val="visible"/>
                                      </p:to>
                                    </p:set>
                                    <p:animEffect filter="fade" transition="in">
                                      <p:cBhvr>
                                        <p:cTn dur="500"/>
                                        <p:tgtEl>
                                          <p:spTgt spid="1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500"/>
                                        <p:tgtEl>
                                          <p:spTgt spid="1348"/>
                                        </p:tgtEl>
                                      </p:cBhvr>
                                    </p:animEffect>
                                  </p:childTnLst>
                                </p:cTn>
                              </p:par>
                              <p:par>
                                <p:cTn fill="hold" nodeType="with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500"/>
                                        <p:tgtEl>
                                          <p:spTgt spid="1349"/>
                                        </p:tgtEl>
                                      </p:cBhvr>
                                    </p:animEffect>
                                  </p:childTnLst>
                                </p:cTn>
                              </p:par>
                              <p:par>
                                <p:cTn fill="hold" nodeType="with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500"/>
                                        <p:tgtEl>
                                          <p:spTgt spid="1350"/>
                                        </p:tgtEl>
                                      </p:cBhvr>
                                    </p:animEffect>
                                  </p:childTnLst>
                                </p:cTn>
                              </p:par>
                              <p:par>
                                <p:cTn fill="hold" nodeType="withEffect" presetClass="entr" presetID="10" presetSubtype="0">
                                  <p:stCondLst>
                                    <p:cond delay="0"/>
                                  </p:stCondLst>
                                  <p:childTnLst>
                                    <p:set>
                                      <p:cBhvr>
                                        <p:cTn dur="1" fill="hold">
                                          <p:stCondLst>
                                            <p:cond delay="0"/>
                                          </p:stCondLst>
                                        </p:cTn>
                                        <p:tgtEl>
                                          <p:spTgt spid="1351"/>
                                        </p:tgtEl>
                                        <p:attrNameLst>
                                          <p:attrName>style.visibility</p:attrName>
                                        </p:attrNameLst>
                                      </p:cBhvr>
                                      <p:to>
                                        <p:strVal val="visible"/>
                                      </p:to>
                                    </p:set>
                                    <p:animEffect filter="fade" transition="in">
                                      <p:cBhvr>
                                        <p:cTn dur="500"/>
                                        <p:tgtEl>
                                          <p:spTgt spid="1351"/>
                                        </p:tgtEl>
                                      </p:cBhvr>
                                    </p:animEffect>
                                  </p:childTnLst>
                                </p:cTn>
                              </p:par>
                              <p:par>
                                <p:cTn fill="hold" nodeType="with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500"/>
                                        <p:tgtEl>
                                          <p:spTgt spid="1352"/>
                                        </p:tgtEl>
                                      </p:cBhvr>
                                    </p:animEffect>
                                  </p:childTnLst>
                                </p:cTn>
                              </p:par>
                              <p:par>
                                <p:cTn fill="hold" nodeType="with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500"/>
                                        <p:tgtEl>
                                          <p:spTgt spid="1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9"/>
                                        </p:tgtEl>
                                        <p:attrNameLst>
                                          <p:attrName>style.visibility</p:attrName>
                                        </p:attrNameLst>
                                      </p:cBhvr>
                                      <p:to>
                                        <p:strVal val="visible"/>
                                      </p:to>
                                    </p:set>
                                    <p:animEffect filter="fade" transition="in">
                                      <p:cBhvr>
                                        <p:cTn dur="500"/>
                                        <p:tgtEl>
                                          <p:spTgt spid="1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0"/>
                                        </p:tgtEl>
                                        <p:attrNameLst>
                                          <p:attrName>style.visibility</p:attrName>
                                        </p:attrNameLst>
                                      </p:cBhvr>
                                      <p:to>
                                        <p:strVal val="visible"/>
                                      </p:to>
                                    </p:set>
                                    <p:animEffect filter="fade" transition="in">
                                      <p:cBhvr>
                                        <p:cTn dur="500"/>
                                        <p:tgtEl>
                                          <p:spTgt spid="1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5"/>
                                        </p:tgtEl>
                                        <p:attrNameLst>
                                          <p:attrName>style.visibility</p:attrName>
                                        </p:attrNameLst>
                                      </p:cBhvr>
                                      <p:to>
                                        <p:strVal val="visible"/>
                                      </p:to>
                                    </p:set>
                                    <p:animEffect filter="fade" transition="in">
                                      <p:cBhvr>
                                        <p:cTn dur="500"/>
                                        <p:tgtEl>
                                          <p:spTgt spid="1355"/>
                                        </p:tgtEl>
                                      </p:cBhvr>
                                    </p:animEffect>
                                  </p:childTnLst>
                                </p:cTn>
                              </p:par>
                              <p:par>
                                <p:cTn fill="hold" nodeType="withEffect" presetClass="entr" presetID="10" presetSubtype="0">
                                  <p:stCondLst>
                                    <p:cond delay="0"/>
                                  </p:stCondLst>
                                  <p:childTnLst>
                                    <p:set>
                                      <p:cBhvr>
                                        <p:cTn dur="1" fill="hold">
                                          <p:stCondLst>
                                            <p:cond delay="0"/>
                                          </p:stCondLst>
                                        </p:cTn>
                                        <p:tgtEl>
                                          <p:spTgt spid="1356"/>
                                        </p:tgtEl>
                                        <p:attrNameLst>
                                          <p:attrName>style.visibility</p:attrName>
                                        </p:attrNameLst>
                                      </p:cBhvr>
                                      <p:to>
                                        <p:strVal val="visible"/>
                                      </p:to>
                                    </p:set>
                                    <p:animEffect filter="fade" transition="in">
                                      <p:cBhvr>
                                        <p:cTn dur="500"/>
                                        <p:tgtEl>
                                          <p:spTgt spid="1356"/>
                                        </p:tgtEl>
                                      </p:cBhvr>
                                    </p:animEffect>
                                  </p:childTnLst>
                                </p:cTn>
                              </p:par>
                              <p:par>
                                <p:cTn fill="hold" nodeType="withEffect" presetClass="entr" presetID="10" presetSubtype="0">
                                  <p:stCondLst>
                                    <p:cond delay="0"/>
                                  </p:stCondLst>
                                  <p:childTnLst>
                                    <p:set>
                                      <p:cBhvr>
                                        <p:cTn dur="1" fill="hold">
                                          <p:stCondLst>
                                            <p:cond delay="0"/>
                                          </p:stCondLst>
                                        </p:cTn>
                                        <p:tgtEl>
                                          <p:spTgt spid="1354"/>
                                        </p:tgtEl>
                                        <p:attrNameLst>
                                          <p:attrName>style.visibility</p:attrName>
                                        </p:attrNameLst>
                                      </p:cBhvr>
                                      <p:to>
                                        <p:strVal val="visible"/>
                                      </p:to>
                                    </p:set>
                                    <p:animEffect filter="fade" transition="in">
                                      <p:cBhvr>
                                        <p:cTn dur="500"/>
                                        <p:tgtEl>
                                          <p:spTgt spid="1354"/>
                                        </p:tgtEl>
                                      </p:cBhvr>
                                    </p:animEffect>
                                  </p:childTnLst>
                                </p:cTn>
                              </p:par>
                              <p:par>
                                <p:cTn fill="hold" nodeType="withEffect" presetClass="entr" presetID="10" presetSubtype="0">
                                  <p:stCondLst>
                                    <p:cond delay="0"/>
                                  </p:stCondLst>
                                  <p:childTnLst>
                                    <p:set>
                                      <p:cBhvr>
                                        <p:cTn dur="1" fill="hold">
                                          <p:stCondLst>
                                            <p:cond delay="0"/>
                                          </p:stCondLst>
                                        </p:cTn>
                                        <p:tgtEl>
                                          <p:spTgt spid="1357"/>
                                        </p:tgtEl>
                                        <p:attrNameLst>
                                          <p:attrName>style.visibility</p:attrName>
                                        </p:attrNameLst>
                                      </p:cBhvr>
                                      <p:to>
                                        <p:strVal val="visible"/>
                                      </p:to>
                                    </p:set>
                                    <p:animEffect filter="fade" transition="in">
                                      <p:cBhvr>
                                        <p:cTn dur="500"/>
                                        <p:tgtEl>
                                          <p:spTgt spid="1357"/>
                                        </p:tgtEl>
                                      </p:cBhvr>
                                    </p:animEffect>
                                  </p:childTnLst>
                                </p:cTn>
                              </p:par>
                              <p:par>
                                <p:cTn fill="hold" nodeType="withEffect" presetClass="entr" presetID="10" presetSubtype="0">
                                  <p:stCondLst>
                                    <p:cond delay="0"/>
                                  </p:stCondLst>
                                  <p:childTnLst>
                                    <p:set>
                                      <p:cBhvr>
                                        <p:cTn dur="1" fill="hold">
                                          <p:stCondLst>
                                            <p:cond delay="0"/>
                                          </p:stCondLst>
                                        </p:cTn>
                                        <p:tgtEl>
                                          <p:spTgt spid="1358"/>
                                        </p:tgtEl>
                                        <p:attrNameLst>
                                          <p:attrName>style.visibility</p:attrName>
                                        </p:attrNameLst>
                                      </p:cBhvr>
                                      <p:to>
                                        <p:strVal val="visible"/>
                                      </p:to>
                                    </p:set>
                                    <p:animEffect filter="fade" transition="in">
                                      <p:cBhvr>
                                        <p:cTn dur="500"/>
                                        <p:tgtEl>
                                          <p:spTgt spid="1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57"/>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Reduce the E-R diagram to database schema</a:t>
            </a:r>
            <a:endParaRPr/>
          </a:p>
        </p:txBody>
      </p:sp>
      <p:sp>
        <p:nvSpPr>
          <p:cNvPr id="1366" name="Google Shape;1366;p57"/>
          <p:cNvSpPr txBox="1"/>
          <p:nvPr>
            <p:ph idx="1" type="body"/>
          </p:nvPr>
        </p:nvSpPr>
        <p:spPr>
          <a:xfrm>
            <a:off x="117733" y="863444"/>
            <a:ext cx="7114032" cy="5590565"/>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Convert </a:t>
            </a:r>
            <a:r>
              <a:rPr b="1" lang="en-US">
                <a:solidFill>
                  <a:schemeClr val="accent6"/>
                </a:solidFill>
              </a:rPr>
              <a:t>both entities </a:t>
            </a:r>
            <a:r>
              <a:rPr lang="en-US"/>
              <a:t>in to </a:t>
            </a:r>
            <a:r>
              <a:rPr b="1" lang="en-US">
                <a:solidFill>
                  <a:schemeClr val="accent6"/>
                </a:solidFill>
              </a:rPr>
              <a:t>table</a:t>
            </a:r>
            <a:r>
              <a:rPr lang="en-US"/>
              <a:t> with proper attribute.</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Place the </a:t>
            </a:r>
            <a:r>
              <a:rPr b="1" lang="en-US">
                <a:solidFill>
                  <a:schemeClr val="accent6"/>
                </a:solidFill>
              </a:rPr>
              <a:t>primary key </a:t>
            </a:r>
            <a:r>
              <a:rPr lang="en-US"/>
              <a:t>of any </a:t>
            </a:r>
            <a:r>
              <a:rPr b="1" lang="en-US">
                <a:solidFill>
                  <a:schemeClr val="accent6"/>
                </a:solidFill>
              </a:rPr>
              <a:t>one table </a:t>
            </a:r>
            <a:r>
              <a:rPr lang="en-US"/>
              <a:t>in to the </a:t>
            </a:r>
            <a:r>
              <a:rPr b="1" lang="en-US">
                <a:solidFill>
                  <a:schemeClr val="accent6"/>
                </a:solidFill>
              </a:rPr>
              <a:t>another table </a:t>
            </a:r>
            <a:r>
              <a:rPr lang="en-US"/>
              <a:t>as a </a:t>
            </a:r>
            <a:r>
              <a:rPr b="1" lang="en-US">
                <a:solidFill>
                  <a:schemeClr val="accent6"/>
                </a:solidFill>
              </a:rPr>
              <a:t>foreign key</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Place the primary key of the Wife table WifeID in the table Persons as Foreign key. </a:t>
            </a:r>
            <a:endParaRPr/>
          </a:p>
          <a:p>
            <a:pPr indent="0" lvl="0" marL="0" rtl="0" algn="just">
              <a:lnSpc>
                <a:spcPct val="90000"/>
              </a:lnSpc>
              <a:spcBef>
                <a:spcPts val="1000"/>
              </a:spcBef>
              <a:spcAft>
                <a:spcPts val="0"/>
              </a:spcAft>
              <a:buSzPts val="2400"/>
              <a:buNone/>
            </a:pPr>
            <a:r>
              <a:rPr lang="en-US"/>
              <a:t>			OR</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Place the primary key of the Person table PersonID in the table Wife as Foreign key.</a:t>
            </a:r>
            <a:endParaRPr/>
          </a:p>
        </p:txBody>
      </p:sp>
      <p:sp>
        <p:nvSpPr>
          <p:cNvPr id="1367" name="Google Shape;1367;p57"/>
          <p:cNvSpPr/>
          <p:nvPr/>
        </p:nvSpPr>
        <p:spPr>
          <a:xfrm>
            <a:off x="131182" y="968010"/>
            <a:ext cx="7111390" cy="52322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Roboto Condensed"/>
                <a:ea typeface="Roboto Condensed"/>
                <a:cs typeface="Roboto Condensed"/>
                <a:sym typeface="Roboto Condensed"/>
              </a:rPr>
              <a:t>Step 3: Reduce </a:t>
            </a:r>
            <a:r>
              <a:rPr b="1" lang="en-US" sz="2800">
                <a:solidFill>
                  <a:schemeClr val="accent6"/>
                </a:solidFill>
                <a:latin typeface="Roboto Condensed"/>
                <a:ea typeface="Roboto Condensed"/>
                <a:cs typeface="Roboto Condensed"/>
                <a:sym typeface="Roboto Condensed"/>
              </a:rPr>
              <a:t>1:1 Mapping Cardinality</a:t>
            </a:r>
            <a:r>
              <a:rPr lang="en-US" sz="2800">
                <a:solidFill>
                  <a:schemeClr val="dk1"/>
                </a:solidFill>
                <a:latin typeface="Roboto Condensed"/>
                <a:ea typeface="Roboto Condensed"/>
                <a:cs typeface="Roboto Condensed"/>
                <a:sym typeface="Roboto Condensed"/>
              </a:rPr>
              <a:t>:</a:t>
            </a:r>
            <a:endParaRPr sz="2800">
              <a:solidFill>
                <a:schemeClr val="dk1"/>
              </a:solidFill>
              <a:latin typeface="Roboto Condensed"/>
              <a:ea typeface="Roboto Condensed"/>
              <a:cs typeface="Roboto Condensed"/>
              <a:sym typeface="Roboto Condensed"/>
            </a:endParaRPr>
          </a:p>
        </p:txBody>
      </p:sp>
      <p:sp>
        <p:nvSpPr>
          <p:cNvPr id="1368" name="Google Shape;1368;p57"/>
          <p:cNvSpPr/>
          <p:nvPr/>
        </p:nvSpPr>
        <p:spPr>
          <a:xfrm>
            <a:off x="9181213" y="174498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Wife</a:t>
            </a:r>
            <a:endParaRPr sz="1800">
              <a:solidFill>
                <a:schemeClr val="dk1"/>
              </a:solidFill>
              <a:latin typeface="Roboto Condensed"/>
              <a:ea typeface="Roboto Condensed"/>
              <a:cs typeface="Roboto Condensed"/>
              <a:sym typeface="Roboto Condensed"/>
            </a:endParaRPr>
          </a:p>
        </p:txBody>
      </p:sp>
      <p:cxnSp>
        <p:nvCxnSpPr>
          <p:cNvPr id="1369" name="Google Shape;1369;p57"/>
          <p:cNvCxnSpPr>
            <a:stCxn id="1370" idx="4"/>
            <a:endCxn id="1368" idx="0"/>
          </p:cNvCxnSpPr>
          <p:nvPr/>
        </p:nvCxnSpPr>
        <p:spPr>
          <a:xfrm>
            <a:off x="9027683" y="1286354"/>
            <a:ext cx="1002600" cy="458700"/>
          </a:xfrm>
          <a:prstGeom prst="straightConnector1">
            <a:avLst/>
          </a:prstGeom>
          <a:noFill/>
          <a:ln cap="flat" cmpd="sng" w="28575">
            <a:solidFill>
              <a:schemeClr val="dk2"/>
            </a:solidFill>
            <a:prstDash val="solid"/>
            <a:miter lim="800000"/>
            <a:headEnd len="sm" w="sm" type="none"/>
            <a:tailEnd len="sm" w="sm" type="none"/>
          </a:ln>
        </p:spPr>
      </p:cxnSp>
      <p:sp>
        <p:nvSpPr>
          <p:cNvPr id="1370" name="Google Shape;1370;p57"/>
          <p:cNvSpPr/>
          <p:nvPr/>
        </p:nvSpPr>
        <p:spPr>
          <a:xfrm>
            <a:off x="8296163" y="86344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WifeID</a:t>
            </a:r>
            <a:endParaRPr sz="1800" u="sng">
              <a:solidFill>
                <a:schemeClr val="dk1"/>
              </a:solidFill>
              <a:latin typeface="Roboto Condensed"/>
              <a:ea typeface="Roboto Condensed"/>
              <a:cs typeface="Roboto Condensed"/>
              <a:sym typeface="Roboto Condensed"/>
            </a:endParaRPr>
          </a:p>
        </p:txBody>
      </p:sp>
      <p:sp>
        <p:nvSpPr>
          <p:cNvPr id="1371" name="Google Shape;1371;p57"/>
          <p:cNvSpPr/>
          <p:nvPr/>
        </p:nvSpPr>
        <p:spPr>
          <a:xfrm>
            <a:off x="10279725" y="875210"/>
            <a:ext cx="1545931"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WName</a:t>
            </a:r>
            <a:endParaRPr sz="1800">
              <a:solidFill>
                <a:schemeClr val="dk1"/>
              </a:solidFill>
              <a:latin typeface="Roboto Condensed"/>
              <a:ea typeface="Roboto Condensed"/>
              <a:cs typeface="Roboto Condensed"/>
              <a:sym typeface="Roboto Condensed"/>
            </a:endParaRPr>
          </a:p>
        </p:txBody>
      </p:sp>
      <p:cxnSp>
        <p:nvCxnSpPr>
          <p:cNvPr id="1372" name="Google Shape;1372;p57"/>
          <p:cNvCxnSpPr>
            <a:endCxn id="1368" idx="0"/>
          </p:cNvCxnSpPr>
          <p:nvPr/>
        </p:nvCxnSpPr>
        <p:spPr>
          <a:xfrm flipH="1">
            <a:off x="10030299" y="1297988"/>
            <a:ext cx="1059000" cy="447000"/>
          </a:xfrm>
          <a:prstGeom prst="straightConnector1">
            <a:avLst/>
          </a:prstGeom>
          <a:noFill/>
          <a:ln cap="flat" cmpd="sng" w="28575">
            <a:solidFill>
              <a:schemeClr val="dk2"/>
            </a:solidFill>
            <a:prstDash val="solid"/>
            <a:miter lim="800000"/>
            <a:headEnd len="sm" w="sm" type="none"/>
            <a:tailEnd len="sm" w="sm" type="none"/>
          </a:ln>
        </p:spPr>
      </p:cxnSp>
      <p:sp>
        <p:nvSpPr>
          <p:cNvPr id="1373" name="Google Shape;1373;p57"/>
          <p:cNvSpPr/>
          <p:nvPr/>
        </p:nvSpPr>
        <p:spPr>
          <a:xfrm>
            <a:off x="9181213" y="321414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a:t>
            </a:r>
            <a:endParaRPr sz="1800">
              <a:solidFill>
                <a:schemeClr val="dk1"/>
              </a:solidFill>
              <a:latin typeface="Roboto Condensed"/>
              <a:ea typeface="Roboto Condensed"/>
              <a:cs typeface="Roboto Condensed"/>
              <a:sym typeface="Roboto Condensed"/>
            </a:endParaRPr>
          </a:p>
        </p:txBody>
      </p:sp>
      <p:sp>
        <p:nvSpPr>
          <p:cNvPr id="1374" name="Google Shape;1374;p57"/>
          <p:cNvSpPr/>
          <p:nvPr/>
        </p:nvSpPr>
        <p:spPr>
          <a:xfrm>
            <a:off x="8085564" y="402218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PersonID</a:t>
            </a:r>
            <a:endParaRPr sz="1800" u="sng">
              <a:solidFill>
                <a:schemeClr val="dk1"/>
              </a:solidFill>
              <a:latin typeface="Roboto Condensed"/>
              <a:ea typeface="Roboto Condensed"/>
              <a:cs typeface="Roboto Condensed"/>
              <a:sym typeface="Roboto Condensed"/>
            </a:endParaRPr>
          </a:p>
        </p:txBody>
      </p:sp>
      <p:sp>
        <p:nvSpPr>
          <p:cNvPr id="1375" name="Google Shape;1375;p57"/>
          <p:cNvSpPr/>
          <p:nvPr/>
        </p:nvSpPr>
        <p:spPr>
          <a:xfrm>
            <a:off x="10357666" y="402218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PName</a:t>
            </a:r>
            <a:endParaRPr sz="1800">
              <a:solidFill>
                <a:schemeClr val="dk1"/>
              </a:solidFill>
              <a:latin typeface="Roboto Condensed"/>
              <a:ea typeface="Roboto Condensed"/>
              <a:cs typeface="Roboto Condensed"/>
              <a:sym typeface="Roboto Condensed"/>
            </a:endParaRPr>
          </a:p>
        </p:txBody>
      </p:sp>
      <p:cxnSp>
        <p:nvCxnSpPr>
          <p:cNvPr id="1376" name="Google Shape;1376;p57"/>
          <p:cNvCxnSpPr>
            <a:endCxn id="1374" idx="0"/>
          </p:cNvCxnSpPr>
          <p:nvPr/>
        </p:nvCxnSpPr>
        <p:spPr>
          <a:xfrm flipH="1">
            <a:off x="8817084" y="3680785"/>
            <a:ext cx="1210500" cy="341400"/>
          </a:xfrm>
          <a:prstGeom prst="straightConnector1">
            <a:avLst/>
          </a:prstGeom>
          <a:noFill/>
          <a:ln cap="flat" cmpd="sng" w="28575">
            <a:solidFill>
              <a:schemeClr val="dk2"/>
            </a:solidFill>
            <a:prstDash val="solid"/>
            <a:miter lim="800000"/>
            <a:headEnd len="sm" w="sm" type="none"/>
            <a:tailEnd len="sm" w="sm" type="none"/>
          </a:ln>
        </p:spPr>
      </p:cxnSp>
      <p:cxnSp>
        <p:nvCxnSpPr>
          <p:cNvPr id="1377" name="Google Shape;1377;p57"/>
          <p:cNvCxnSpPr>
            <a:endCxn id="1375" idx="0"/>
          </p:cNvCxnSpPr>
          <p:nvPr/>
        </p:nvCxnSpPr>
        <p:spPr>
          <a:xfrm>
            <a:off x="10036186" y="3680785"/>
            <a:ext cx="1053000" cy="341400"/>
          </a:xfrm>
          <a:prstGeom prst="straightConnector1">
            <a:avLst/>
          </a:prstGeom>
          <a:noFill/>
          <a:ln cap="flat" cmpd="sng" w="28575">
            <a:solidFill>
              <a:schemeClr val="dk2"/>
            </a:solidFill>
            <a:prstDash val="solid"/>
            <a:miter lim="800000"/>
            <a:headEnd len="sm" w="sm" type="none"/>
            <a:tailEnd len="sm" w="sm" type="none"/>
          </a:ln>
        </p:spPr>
      </p:cxnSp>
      <p:sp>
        <p:nvSpPr>
          <p:cNvPr id="1378" name="Google Shape;1378;p57"/>
          <p:cNvSpPr/>
          <p:nvPr/>
        </p:nvSpPr>
        <p:spPr>
          <a:xfrm>
            <a:off x="8982891" y="2479568"/>
            <a:ext cx="2103120"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Having</a:t>
            </a:r>
            <a:endParaRPr sz="1800">
              <a:solidFill>
                <a:schemeClr val="dk1"/>
              </a:solidFill>
              <a:latin typeface="Roboto Condensed"/>
              <a:ea typeface="Roboto Condensed"/>
              <a:cs typeface="Roboto Condensed"/>
              <a:sym typeface="Roboto Condensed"/>
            </a:endParaRPr>
          </a:p>
        </p:txBody>
      </p:sp>
      <p:cxnSp>
        <p:nvCxnSpPr>
          <p:cNvPr id="1379" name="Google Shape;1379;p57"/>
          <p:cNvCxnSpPr>
            <a:endCxn id="1368" idx="2"/>
          </p:cNvCxnSpPr>
          <p:nvPr/>
        </p:nvCxnSpPr>
        <p:spPr>
          <a:xfrm rot="10800000">
            <a:off x="10030299" y="2202188"/>
            <a:ext cx="5700" cy="267900"/>
          </a:xfrm>
          <a:prstGeom prst="straightConnector1">
            <a:avLst/>
          </a:prstGeom>
          <a:noFill/>
          <a:ln cap="flat" cmpd="sng" w="28575">
            <a:solidFill>
              <a:schemeClr val="accent4"/>
            </a:solidFill>
            <a:prstDash val="solid"/>
            <a:miter lim="800000"/>
            <a:headEnd len="sm" w="sm" type="none"/>
            <a:tailEnd len="med" w="med" type="triangle"/>
          </a:ln>
        </p:spPr>
      </p:cxnSp>
      <p:cxnSp>
        <p:nvCxnSpPr>
          <p:cNvPr id="1380" name="Google Shape;1380;p57"/>
          <p:cNvCxnSpPr>
            <a:stCxn id="1378" idx="2"/>
            <a:endCxn id="1373" idx="0"/>
          </p:cNvCxnSpPr>
          <p:nvPr/>
        </p:nvCxnSpPr>
        <p:spPr>
          <a:xfrm flipH="1">
            <a:off x="10030251" y="2936768"/>
            <a:ext cx="4200" cy="277500"/>
          </a:xfrm>
          <a:prstGeom prst="straightConnector1">
            <a:avLst/>
          </a:prstGeom>
          <a:noFill/>
          <a:ln cap="flat" cmpd="sng" w="28575">
            <a:solidFill>
              <a:schemeClr val="accent4"/>
            </a:solidFill>
            <a:prstDash val="solid"/>
            <a:miter lim="800000"/>
            <a:headEnd len="sm" w="sm" type="none"/>
            <a:tailEnd len="med" w="med" type="triangle"/>
          </a:ln>
        </p:spPr>
      </p:cxnSp>
      <p:sp>
        <p:nvSpPr>
          <p:cNvPr id="1381" name="Google Shape;1381;p57"/>
          <p:cNvSpPr/>
          <p:nvPr/>
        </p:nvSpPr>
        <p:spPr>
          <a:xfrm>
            <a:off x="7903838" y="4691031"/>
            <a:ext cx="4023360" cy="640080"/>
          </a:xfrm>
          <a:prstGeom prst="roundRect">
            <a:avLst>
              <a:gd fmla="val 6250" name="adj"/>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 (</a:t>
            </a:r>
            <a:r>
              <a:rPr lang="en-US" sz="1800" u="sng">
                <a:solidFill>
                  <a:schemeClr val="dk1"/>
                </a:solidFill>
                <a:latin typeface="Roboto Condensed"/>
                <a:ea typeface="Roboto Condensed"/>
                <a:cs typeface="Roboto Condensed"/>
                <a:sym typeface="Roboto Condensed"/>
              </a:rPr>
              <a:t>PersonID</a:t>
            </a:r>
            <a:r>
              <a:rPr lang="en-US" sz="1800">
                <a:solidFill>
                  <a:schemeClr val="dk1"/>
                </a:solidFill>
                <a:latin typeface="Roboto Condensed"/>
                <a:ea typeface="Roboto Condensed"/>
                <a:cs typeface="Roboto Condensed"/>
                <a:sym typeface="Roboto Condensed"/>
              </a:rPr>
              <a:t>, PName)</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Wife (</a:t>
            </a:r>
            <a:r>
              <a:rPr lang="en-US" sz="1800" u="sng">
                <a:solidFill>
                  <a:schemeClr val="dk1"/>
                </a:solidFill>
                <a:latin typeface="Roboto Condensed"/>
                <a:ea typeface="Roboto Condensed"/>
                <a:cs typeface="Roboto Condensed"/>
                <a:sym typeface="Roboto Condensed"/>
              </a:rPr>
              <a:t>WifeID</a:t>
            </a:r>
            <a:r>
              <a:rPr lang="en-US" sz="1800">
                <a:solidFill>
                  <a:schemeClr val="dk1"/>
                </a:solidFill>
                <a:latin typeface="Roboto Condensed"/>
                <a:ea typeface="Roboto Condensed"/>
                <a:cs typeface="Roboto Condensed"/>
                <a:sym typeface="Roboto Condensed"/>
              </a:rPr>
              <a:t>, Wname, PersonID)</a:t>
            </a:r>
            <a:endParaRPr/>
          </a:p>
        </p:txBody>
      </p:sp>
      <p:sp>
        <p:nvSpPr>
          <p:cNvPr id="1382" name="Google Shape;1382;p57"/>
          <p:cNvSpPr/>
          <p:nvPr/>
        </p:nvSpPr>
        <p:spPr>
          <a:xfrm>
            <a:off x="7907195" y="5496720"/>
            <a:ext cx="4023360" cy="640080"/>
          </a:xfrm>
          <a:prstGeom prst="roundRect">
            <a:avLst>
              <a:gd fmla="val 6250" name="adj"/>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Wife (</a:t>
            </a:r>
            <a:r>
              <a:rPr lang="en-US" sz="1800" u="sng">
                <a:solidFill>
                  <a:schemeClr val="dk1"/>
                </a:solidFill>
                <a:latin typeface="Roboto Condensed"/>
                <a:ea typeface="Roboto Condensed"/>
                <a:cs typeface="Roboto Condensed"/>
                <a:sym typeface="Roboto Condensed"/>
              </a:rPr>
              <a:t>WifeID</a:t>
            </a:r>
            <a:r>
              <a:rPr lang="en-US" sz="1800">
                <a:solidFill>
                  <a:schemeClr val="dk1"/>
                </a:solidFill>
                <a:latin typeface="Roboto Condensed"/>
                <a:ea typeface="Roboto Condensed"/>
                <a:cs typeface="Roboto Condensed"/>
                <a:sym typeface="Roboto Condensed"/>
              </a:rPr>
              <a:t>, Wname)</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 (</a:t>
            </a:r>
            <a:r>
              <a:rPr lang="en-US" sz="1800" u="sng">
                <a:solidFill>
                  <a:schemeClr val="dk1"/>
                </a:solidFill>
                <a:latin typeface="Roboto Condensed"/>
                <a:ea typeface="Roboto Condensed"/>
                <a:cs typeface="Roboto Condensed"/>
                <a:sym typeface="Roboto Condensed"/>
              </a:rPr>
              <a:t>PersonID</a:t>
            </a:r>
            <a:r>
              <a:rPr lang="en-US" sz="1800">
                <a:solidFill>
                  <a:schemeClr val="dk1"/>
                </a:solidFill>
                <a:latin typeface="Roboto Condensed"/>
                <a:ea typeface="Roboto Condensed"/>
                <a:cs typeface="Roboto Condensed"/>
                <a:sym typeface="Roboto Condensed"/>
              </a:rPr>
              <a:t>, Pname, WifeID)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7"/>
                                        </p:tgtEl>
                                        <p:attrNameLst>
                                          <p:attrName>style.visibility</p:attrName>
                                        </p:attrNameLst>
                                      </p:cBhvr>
                                      <p:to>
                                        <p:strVal val="visible"/>
                                      </p:to>
                                    </p:set>
                                    <p:animEffect filter="fade" transition="in">
                                      <p:cBhvr>
                                        <p:cTn dur="500"/>
                                        <p:tgtEl>
                                          <p:spTgt spid="1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8"/>
                                        </p:tgtEl>
                                        <p:attrNameLst>
                                          <p:attrName>style.visibility</p:attrName>
                                        </p:attrNameLst>
                                      </p:cBhvr>
                                      <p:to>
                                        <p:strVal val="visible"/>
                                      </p:to>
                                    </p:set>
                                    <p:animEffect filter="fade" transition="in">
                                      <p:cBhvr>
                                        <p:cTn dur="500"/>
                                        <p:tgtEl>
                                          <p:spTgt spid="1368"/>
                                        </p:tgtEl>
                                      </p:cBhvr>
                                    </p:animEffect>
                                  </p:childTnLst>
                                </p:cTn>
                              </p:par>
                              <p:par>
                                <p:cTn fill="hold" nodeType="withEffect" presetClass="entr" presetID="10" presetSubtype="0">
                                  <p:stCondLst>
                                    <p:cond delay="0"/>
                                  </p:stCondLst>
                                  <p:childTnLst>
                                    <p:set>
                                      <p:cBhvr>
                                        <p:cTn dur="1" fill="hold">
                                          <p:stCondLst>
                                            <p:cond delay="0"/>
                                          </p:stCondLst>
                                        </p:cTn>
                                        <p:tgtEl>
                                          <p:spTgt spid="1369"/>
                                        </p:tgtEl>
                                        <p:attrNameLst>
                                          <p:attrName>style.visibility</p:attrName>
                                        </p:attrNameLst>
                                      </p:cBhvr>
                                      <p:to>
                                        <p:strVal val="visible"/>
                                      </p:to>
                                    </p:set>
                                    <p:animEffect filter="fade" transition="in">
                                      <p:cBhvr>
                                        <p:cTn dur="500"/>
                                        <p:tgtEl>
                                          <p:spTgt spid="1369"/>
                                        </p:tgtEl>
                                      </p:cBhvr>
                                    </p:animEffect>
                                  </p:childTnLst>
                                </p:cTn>
                              </p:par>
                              <p:par>
                                <p:cTn fill="hold" nodeType="withEffect" presetClass="entr" presetID="10" presetSubtype="0">
                                  <p:stCondLst>
                                    <p:cond delay="0"/>
                                  </p:stCondLst>
                                  <p:childTnLst>
                                    <p:set>
                                      <p:cBhvr>
                                        <p:cTn dur="1" fill="hold">
                                          <p:stCondLst>
                                            <p:cond delay="0"/>
                                          </p:stCondLst>
                                        </p:cTn>
                                        <p:tgtEl>
                                          <p:spTgt spid="1370"/>
                                        </p:tgtEl>
                                        <p:attrNameLst>
                                          <p:attrName>style.visibility</p:attrName>
                                        </p:attrNameLst>
                                      </p:cBhvr>
                                      <p:to>
                                        <p:strVal val="visible"/>
                                      </p:to>
                                    </p:set>
                                    <p:animEffect filter="fade" transition="in">
                                      <p:cBhvr>
                                        <p:cTn dur="500"/>
                                        <p:tgtEl>
                                          <p:spTgt spid="1370"/>
                                        </p:tgtEl>
                                      </p:cBhvr>
                                    </p:animEffect>
                                  </p:childTnLst>
                                </p:cTn>
                              </p:par>
                              <p:par>
                                <p:cTn fill="hold" nodeType="withEffect" presetClass="entr" presetID="10" presetSubtype="0">
                                  <p:stCondLst>
                                    <p:cond delay="0"/>
                                  </p:stCondLst>
                                  <p:childTnLst>
                                    <p:set>
                                      <p:cBhvr>
                                        <p:cTn dur="1" fill="hold">
                                          <p:stCondLst>
                                            <p:cond delay="0"/>
                                          </p:stCondLst>
                                        </p:cTn>
                                        <p:tgtEl>
                                          <p:spTgt spid="1371"/>
                                        </p:tgtEl>
                                        <p:attrNameLst>
                                          <p:attrName>style.visibility</p:attrName>
                                        </p:attrNameLst>
                                      </p:cBhvr>
                                      <p:to>
                                        <p:strVal val="visible"/>
                                      </p:to>
                                    </p:set>
                                    <p:animEffect filter="fade" transition="in">
                                      <p:cBhvr>
                                        <p:cTn dur="500"/>
                                        <p:tgtEl>
                                          <p:spTgt spid="1371"/>
                                        </p:tgtEl>
                                      </p:cBhvr>
                                    </p:animEffect>
                                  </p:childTnLst>
                                </p:cTn>
                              </p:par>
                              <p:par>
                                <p:cTn fill="hold" nodeType="withEffect" presetClass="entr" presetID="10" presetSubtype="0">
                                  <p:stCondLst>
                                    <p:cond delay="0"/>
                                  </p:stCondLst>
                                  <p:childTnLst>
                                    <p:set>
                                      <p:cBhvr>
                                        <p:cTn dur="1" fill="hold">
                                          <p:stCondLst>
                                            <p:cond delay="0"/>
                                          </p:stCondLst>
                                        </p:cTn>
                                        <p:tgtEl>
                                          <p:spTgt spid="1372"/>
                                        </p:tgtEl>
                                        <p:attrNameLst>
                                          <p:attrName>style.visibility</p:attrName>
                                        </p:attrNameLst>
                                      </p:cBhvr>
                                      <p:to>
                                        <p:strVal val="visible"/>
                                      </p:to>
                                    </p:set>
                                    <p:animEffect filter="fade" transition="in">
                                      <p:cBhvr>
                                        <p:cTn dur="500"/>
                                        <p:tgtEl>
                                          <p:spTgt spid="1372"/>
                                        </p:tgtEl>
                                      </p:cBhvr>
                                    </p:animEffect>
                                  </p:childTnLst>
                                </p:cTn>
                              </p:par>
                              <p:par>
                                <p:cTn fill="hold" nodeType="withEffect" presetClass="entr" presetID="10" presetSubtype="0">
                                  <p:stCondLst>
                                    <p:cond delay="0"/>
                                  </p:stCondLst>
                                  <p:childTnLst>
                                    <p:set>
                                      <p:cBhvr>
                                        <p:cTn dur="1" fill="hold">
                                          <p:stCondLst>
                                            <p:cond delay="0"/>
                                          </p:stCondLst>
                                        </p:cTn>
                                        <p:tgtEl>
                                          <p:spTgt spid="1373"/>
                                        </p:tgtEl>
                                        <p:attrNameLst>
                                          <p:attrName>style.visibility</p:attrName>
                                        </p:attrNameLst>
                                      </p:cBhvr>
                                      <p:to>
                                        <p:strVal val="visible"/>
                                      </p:to>
                                    </p:set>
                                    <p:animEffect filter="fade" transition="in">
                                      <p:cBhvr>
                                        <p:cTn dur="500"/>
                                        <p:tgtEl>
                                          <p:spTgt spid="1373"/>
                                        </p:tgtEl>
                                      </p:cBhvr>
                                    </p:animEffect>
                                  </p:childTnLst>
                                </p:cTn>
                              </p:par>
                              <p:par>
                                <p:cTn fill="hold" nodeType="with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500"/>
                                        <p:tgtEl>
                                          <p:spTgt spid="1374"/>
                                        </p:tgtEl>
                                      </p:cBhvr>
                                    </p:animEffect>
                                  </p:childTnLst>
                                </p:cTn>
                              </p:par>
                              <p:par>
                                <p:cTn fill="hold" nodeType="withEffect" presetClass="entr" presetID="10" presetSubtype="0">
                                  <p:stCondLst>
                                    <p:cond delay="0"/>
                                  </p:stCondLst>
                                  <p:childTnLst>
                                    <p:set>
                                      <p:cBhvr>
                                        <p:cTn dur="1" fill="hold">
                                          <p:stCondLst>
                                            <p:cond delay="0"/>
                                          </p:stCondLst>
                                        </p:cTn>
                                        <p:tgtEl>
                                          <p:spTgt spid="1375"/>
                                        </p:tgtEl>
                                        <p:attrNameLst>
                                          <p:attrName>style.visibility</p:attrName>
                                        </p:attrNameLst>
                                      </p:cBhvr>
                                      <p:to>
                                        <p:strVal val="visible"/>
                                      </p:to>
                                    </p:set>
                                    <p:animEffect filter="fade" transition="in">
                                      <p:cBhvr>
                                        <p:cTn dur="500"/>
                                        <p:tgtEl>
                                          <p:spTgt spid="1375"/>
                                        </p:tgtEl>
                                      </p:cBhvr>
                                    </p:animEffect>
                                  </p:childTnLst>
                                </p:cTn>
                              </p:par>
                              <p:par>
                                <p:cTn fill="hold" nodeType="withEffect" presetClass="entr" presetID="10" presetSubtype="0">
                                  <p:stCondLst>
                                    <p:cond delay="0"/>
                                  </p:stCondLst>
                                  <p:childTnLst>
                                    <p:set>
                                      <p:cBhvr>
                                        <p:cTn dur="1" fill="hold">
                                          <p:stCondLst>
                                            <p:cond delay="0"/>
                                          </p:stCondLst>
                                        </p:cTn>
                                        <p:tgtEl>
                                          <p:spTgt spid="1376"/>
                                        </p:tgtEl>
                                        <p:attrNameLst>
                                          <p:attrName>style.visibility</p:attrName>
                                        </p:attrNameLst>
                                      </p:cBhvr>
                                      <p:to>
                                        <p:strVal val="visible"/>
                                      </p:to>
                                    </p:set>
                                    <p:animEffect filter="fade" transition="in">
                                      <p:cBhvr>
                                        <p:cTn dur="500"/>
                                        <p:tgtEl>
                                          <p:spTgt spid="1376"/>
                                        </p:tgtEl>
                                      </p:cBhvr>
                                    </p:animEffect>
                                  </p:childTnLst>
                                </p:cTn>
                              </p:par>
                              <p:par>
                                <p:cTn fill="hold" nodeType="withEffect" presetClass="entr" presetID="10" presetSubtype="0">
                                  <p:stCondLst>
                                    <p:cond delay="0"/>
                                  </p:stCondLst>
                                  <p:childTnLst>
                                    <p:set>
                                      <p:cBhvr>
                                        <p:cTn dur="1" fill="hold">
                                          <p:stCondLst>
                                            <p:cond delay="0"/>
                                          </p:stCondLst>
                                        </p:cTn>
                                        <p:tgtEl>
                                          <p:spTgt spid="1377"/>
                                        </p:tgtEl>
                                        <p:attrNameLst>
                                          <p:attrName>style.visibility</p:attrName>
                                        </p:attrNameLst>
                                      </p:cBhvr>
                                      <p:to>
                                        <p:strVal val="visible"/>
                                      </p:to>
                                    </p:set>
                                    <p:animEffect filter="fade" transition="in">
                                      <p:cBhvr>
                                        <p:cTn dur="500"/>
                                        <p:tgtEl>
                                          <p:spTgt spid="1377"/>
                                        </p:tgtEl>
                                      </p:cBhvr>
                                    </p:animEffect>
                                  </p:childTnLst>
                                </p:cTn>
                              </p:par>
                              <p:par>
                                <p:cTn fill="hold" nodeType="withEffect" presetClass="entr" presetID="10" presetSubtype="0">
                                  <p:stCondLst>
                                    <p:cond delay="0"/>
                                  </p:stCondLst>
                                  <p:childTnLst>
                                    <p:set>
                                      <p:cBhvr>
                                        <p:cTn dur="1" fill="hold">
                                          <p:stCondLst>
                                            <p:cond delay="0"/>
                                          </p:stCondLst>
                                        </p:cTn>
                                        <p:tgtEl>
                                          <p:spTgt spid="1378"/>
                                        </p:tgtEl>
                                        <p:attrNameLst>
                                          <p:attrName>style.visibility</p:attrName>
                                        </p:attrNameLst>
                                      </p:cBhvr>
                                      <p:to>
                                        <p:strVal val="visible"/>
                                      </p:to>
                                    </p:set>
                                    <p:animEffect filter="fade" transition="in">
                                      <p:cBhvr>
                                        <p:cTn dur="500"/>
                                        <p:tgtEl>
                                          <p:spTgt spid="1378"/>
                                        </p:tgtEl>
                                      </p:cBhvr>
                                    </p:animEffect>
                                  </p:childTnLst>
                                </p:cTn>
                              </p:par>
                              <p:par>
                                <p:cTn fill="hold" nodeType="withEffect" presetClass="entr" presetID="10" presetSubtype="0">
                                  <p:stCondLst>
                                    <p:cond delay="0"/>
                                  </p:stCondLst>
                                  <p:childTnLst>
                                    <p:set>
                                      <p:cBhvr>
                                        <p:cTn dur="1" fill="hold">
                                          <p:stCondLst>
                                            <p:cond delay="0"/>
                                          </p:stCondLst>
                                        </p:cTn>
                                        <p:tgtEl>
                                          <p:spTgt spid="1380"/>
                                        </p:tgtEl>
                                        <p:attrNameLst>
                                          <p:attrName>style.visibility</p:attrName>
                                        </p:attrNameLst>
                                      </p:cBhvr>
                                      <p:to>
                                        <p:strVal val="visible"/>
                                      </p:to>
                                    </p:set>
                                    <p:animEffect filter="fade" transition="in">
                                      <p:cBhvr>
                                        <p:cTn dur="500"/>
                                        <p:tgtEl>
                                          <p:spTgt spid="1380"/>
                                        </p:tgtEl>
                                      </p:cBhvr>
                                    </p:animEffect>
                                  </p:childTnLst>
                                </p:cTn>
                              </p:par>
                              <p:par>
                                <p:cTn fill="hold" nodeType="withEffect" presetClass="entr" presetID="10" presetSubtype="0">
                                  <p:stCondLst>
                                    <p:cond delay="0"/>
                                  </p:stCondLst>
                                  <p:childTnLst>
                                    <p:set>
                                      <p:cBhvr>
                                        <p:cTn dur="1" fill="hold">
                                          <p:stCondLst>
                                            <p:cond delay="0"/>
                                          </p:stCondLst>
                                        </p:cTn>
                                        <p:tgtEl>
                                          <p:spTgt spid="1379"/>
                                        </p:tgtEl>
                                        <p:attrNameLst>
                                          <p:attrName>style.visibility</p:attrName>
                                        </p:attrNameLst>
                                      </p:cBhvr>
                                      <p:to>
                                        <p:strVal val="visible"/>
                                      </p:to>
                                    </p:set>
                                    <p:animEffect filter="fade" transition="in">
                                      <p:cBhvr>
                                        <p:cTn dur="500"/>
                                        <p:tgtEl>
                                          <p:spTgt spid="1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1"/>
                                        </p:tgtEl>
                                        <p:attrNameLst>
                                          <p:attrName>style.visibility</p:attrName>
                                        </p:attrNameLst>
                                      </p:cBhvr>
                                      <p:to>
                                        <p:strVal val="visible"/>
                                      </p:to>
                                    </p:set>
                                    <p:animEffect filter="fade" transition="in">
                                      <p:cBhvr>
                                        <p:cTn dur="500"/>
                                        <p:tgtEl>
                                          <p:spTgt spid="1381"/>
                                        </p:tgtEl>
                                      </p:cBhvr>
                                    </p:animEffect>
                                  </p:childTnLst>
                                </p:cTn>
                              </p:par>
                              <p:par>
                                <p:cTn fill="hold" nodeType="withEffect" presetClass="entr" presetID="10" presetSubtype="0">
                                  <p:stCondLst>
                                    <p:cond delay="0"/>
                                  </p:stCondLst>
                                  <p:childTnLst>
                                    <p:set>
                                      <p:cBhvr>
                                        <p:cTn dur="1" fill="hold">
                                          <p:stCondLst>
                                            <p:cond delay="0"/>
                                          </p:stCondLst>
                                        </p:cTn>
                                        <p:tgtEl>
                                          <p:spTgt spid="1382"/>
                                        </p:tgtEl>
                                        <p:attrNameLst>
                                          <p:attrName>style.visibility</p:attrName>
                                        </p:attrNameLst>
                                      </p:cBhvr>
                                      <p:to>
                                        <p:strVal val="visible"/>
                                      </p:to>
                                    </p:set>
                                    <p:animEffect filter="fade" transition="in">
                                      <p:cBhvr>
                                        <p:cTn dur="500"/>
                                        <p:tgtEl>
                                          <p:spTgt spid="1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58"/>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Reduce the E-R diagram to database schema</a:t>
            </a:r>
            <a:endParaRPr/>
          </a:p>
        </p:txBody>
      </p:sp>
      <p:sp>
        <p:nvSpPr>
          <p:cNvPr id="1388" name="Google Shape;1388;p58"/>
          <p:cNvSpPr txBox="1"/>
          <p:nvPr>
            <p:ph idx="1" type="body"/>
          </p:nvPr>
        </p:nvSpPr>
        <p:spPr>
          <a:xfrm>
            <a:off x="117733" y="863444"/>
            <a:ext cx="7114032" cy="5590565"/>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Convert </a:t>
            </a:r>
            <a:r>
              <a:rPr b="1" lang="en-US">
                <a:solidFill>
                  <a:schemeClr val="accent6"/>
                </a:solidFill>
              </a:rPr>
              <a:t>both entities</a:t>
            </a:r>
            <a:r>
              <a:rPr lang="en-US"/>
              <a:t> in to </a:t>
            </a:r>
            <a:r>
              <a:rPr b="1" lang="en-US">
                <a:solidFill>
                  <a:schemeClr val="accent6"/>
                </a:solidFill>
              </a:rPr>
              <a:t>table</a:t>
            </a:r>
            <a:r>
              <a:rPr lang="en-US"/>
              <a:t> with proper attribute.</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Place the </a:t>
            </a:r>
            <a:r>
              <a:rPr b="1" lang="en-US">
                <a:solidFill>
                  <a:schemeClr val="accent6"/>
                </a:solidFill>
              </a:rPr>
              <a:t>primary key </a:t>
            </a:r>
            <a:r>
              <a:rPr lang="en-US"/>
              <a:t>of </a:t>
            </a:r>
            <a:r>
              <a:rPr b="1" lang="en-US">
                <a:solidFill>
                  <a:schemeClr val="accent6"/>
                </a:solidFill>
              </a:rPr>
              <a:t>table having 1 mapping </a:t>
            </a:r>
            <a:r>
              <a:rPr lang="en-US"/>
              <a:t>in to the another </a:t>
            </a:r>
            <a:r>
              <a:rPr b="1" lang="en-US">
                <a:solidFill>
                  <a:schemeClr val="accent6"/>
                </a:solidFill>
              </a:rPr>
              <a:t>table having many cardinality as a Foreign key</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Place the primary key of the Person table PersonID in the table House as Foreign key.</a:t>
            </a:r>
            <a:endParaRPr/>
          </a:p>
        </p:txBody>
      </p:sp>
      <p:sp>
        <p:nvSpPr>
          <p:cNvPr id="1389" name="Google Shape;1389;p58"/>
          <p:cNvSpPr/>
          <p:nvPr/>
        </p:nvSpPr>
        <p:spPr>
          <a:xfrm>
            <a:off x="131182" y="968010"/>
            <a:ext cx="7111390" cy="52322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Roboto Condensed"/>
                <a:ea typeface="Roboto Condensed"/>
                <a:cs typeface="Roboto Condensed"/>
                <a:sym typeface="Roboto Condensed"/>
              </a:rPr>
              <a:t>Step 4: Reduce </a:t>
            </a:r>
            <a:r>
              <a:rPr b="1" lang="en-US" sz="2800">
                <a:solidFill>
                  <a:schemeClr val="accent6"/>
                </a:solidFill>
                <a:latin typeface="Roboto Condensed"/>
                <a:ea typeface="Roboto Condensed"/>
                <a:cs typeface="Roboto Condensed"/>
                <a:sym typeface="Roboto Condensed"/>
              </a:rPr>
              <a:t>1:N Mapping Cardinality</a:t>
            </a:r>
            <a:r>
              <a:rPr lang="en-US" sz="2800">
                <a:solidFill>
                  <a:schemeClr val="dk1"/>
                </a:solidFill>
                <a:latin typeface="Roboto Condensed"/>
                <a:ea typeface="Roboto Condensed"/>
                <a:cs typeface="Roboto Condensed"/>
                <a:sym typeface="Roboto Condensed"/>
              </a:rPr>
              <a:t>:</a:t>
            </a:r>
            <a:endParaRPr sz="2800">
              <a:solidFill>
                <a:schemeClr val="dk1"/>
              </a:solidFill>
              <a:latin typeface="Roboto Condensed"/>
              <a:ea typeface="Roboto Condensed"/>
              <a:cs typeface="Roboto Condensed"/>
              <a:sym typeface="Roboto Condensed"/>
            </a:endParaRPr>
          </a:p>
        </p:txBody>
      </p:sp>
      <p:sp>
        <p:nvSpPr>
          <p:cNvPr id="1390" name="Google Shape;1390;p58"/>
          <p:cNvSpPr/>
          <p:nvPr/>
        </p:nvSpPr>
        <p:spPr>
          <a:xfrm>
            <a:off x="9181213" y="174498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House</a:t>
            </a:r>
            <a:endParaRPr sz="1800">
              <a:solidFill>
                <a:schemeClr val="dk1"/>
              </a:solidFill>
              <a:latin typeface="Roboto Condensed"/>
              <a:ea typeface="Roboto Condensed"/>
              <a:cs typeface="Roboto Condensed"/>
              <a:sym typeface="Roboto Condensed"/>
            </a:endParaRPr>
          </a:p>
        </p:txBody>
      </p:sp>
      <p:cxnSp>
        <p:nvCxnSpPr>
          <p:cNvPr id="1391" name="Google Shape;1391;p58"/>
          <p:cNvCxnSpPr>
            <a:stCxn id="1392" idx="4"/>
            <a:endCxn id="1390" idx="0"/>
          </p:cNvCxnSpPr>
          <p:nvPr/>
        </p:nvCxnSpPr>
        <p:spPr>
          <a:xfrm>
            <a:off x="9027683" y="1286354"/>
            <a:ext cx="1002600" cy="458700"/>
          </a:xfrm>
          <a:prstGeom prst="straightConnector1">
            <a:avLst/>
          </a:prstGeom>
          <a:noFill/>
          <a:ln cap="flat" cmpd="sng" w="28575">
            <a:solidFill>
              <a:schemeClr val="dk2"/>
            </a:solidFill>
            <a:prstDash val="solid"/>
            <a:miter lim="800000"/>
            <a:headEnd len="sm" w="sm" type="none"/>
            <a:tailEnd len="sm" w="sm" type="none"/>
          </a:ln>
        </p:spPr>
      </p:cxnSp>
      <p:sp>
        <p:nvSpPr>
          <p:cNvPr id="1392" name="Google Shape;1392;p58"/>
          <p:cNvSpPr/>
          <p:nvPr/>
        </p:nvSpPr>
        <p:spPr>
          <a:xfrm>
            <a:off x="8296163" y="86344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HouseID</a:t>
            </a:r>
            <a:endParaRPr sz="1800" u="sng">
              <a:solidFill>
                <a:schemeClr val="dk1"/>
              </a:solidFill>
              <a:latin typeface="Roboto Condensed"/>
              <a:ea typeface="Roboto Condensed"/>
              <a:cs typeface="Roboto Condensed"/>
              <a:sym typeface="Roboto Condensed"/>
            </a:endParaRPr>
          </a:p>
        </p:txBody>
      </p:sp>
      <p:sp>
        <p:nvSpPr>
          <p:cNvPr id="1393" name="Google Shape;1393;p58"/>
          <p:cNvSpPr/>
          <p:nvPr/>
        </p:nvSpPr>
        <p:spPr>
          <a:xfrm>
            <a:off x="10279725" y="875210"/>
            <a:ext cx="1545931"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HName</a:t>
            </a:r>
            <a:endParaRPr sz="1800">
              <a:solidFill>
                <a:schemeClr val="dk1"/>
              </a:solidFill>
              <a:latin typeface="Roboto Condensed"/>
              <a:ea typeface="Roboto Condensed"/>
              <a:cs typeface="Roboto Condensed"/>
              <a:sym typeface="Roboto Condensed"/>
            </a:endParaRPr>
          </a:p>
        </p:txBody>
      </p:sp>
      <p:cxnSp>
        <p:nvCxnSpPr>
          <p:cNvPr id="1394" name="Google Shape;1394;p58"/>
          <p:cNvCxnSpPr>
            <a:endCxn id="1390" idx="0"/>
          </p:cNvCxnSpPr>
          <p:nvPr/>
        </p:nvCxnSpPr>
        <p:spPr>
          <a:xfrm flipH="1">
            <a:off x="10030299" y="1297988"/>
            <a:ext cx="1059000" cy="447000"/>
          </a:xfrm>
          <a:prstGeom prst="straightConnector1">
            <a:avLst/>
          </a:prstGeom>
          <a:noFill/>
          <a:ln cap="flat" cmpd="sng" w="28575">
            <a:solidFill>
              <a:schemeClr val="dk2"/>
            </a:solidFill>
            <a:prstDash val="solid"/>
            <a:miter lim="800000"/>
            <a:headEnd len="sm" w="sm" type="none"/>
            <a:tailEnd len="sm" w="sm" type="none"/>
          </a:ln>
        </p:spPr>
      </p:cxnSp>
      <p:sp>
        <p:nvSpPr>
          <p:cNvPr id="1395" name="Google Shape;1395;p58"/>
          <p:cNvSpPr/>
          <p:nvPr/>
        </p:nvSpPr>
        <p:spPr>
          <a:xfrm>
            <a:off x="9181213" y="321414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a:t>
            </a:r>
            <a:endParaRPr sz="1800">
              <a:solidFill>
                <a:schemeClr val="dk1"/>
              </a:solidFill>
              <a:latin typeface="Roboto Condensed"/>
              <a:ea typeface="Roboto Condensed"/>
              <a:cs typeface="Roboto Condensed"/>
              <a:sym typeface="Roboto Condensed"/>
            </a:endParaRPr>
          </a:p>
        </p:txBody>
      </p:sp>
      <p:sp>
        <p:nvSpPr>
          <p:cNvPr id="1396" name="Google Shape;1396;p58"/>
          <p:cNvSpPr/>
          <p:nvPr/>
        </p:nvSpPr>
        <p:spPr>
          <a:xfrm>
            <a:off x="8085564" y="402218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PersonID</a:t>
            </a:r>
            <a:endParaRPr sz="1800" u="sng">
              <a:solidFill>
                <a:schemeClr val="dk1"/>
              </a:solidFill>
              <a:latin typeface="Roboto Condensed"/>
              <a:ea typeface="Roboto Condensed"/>
              <a:cs typeface="Roboto Condensed"/>
              <a:sym typeface="Roboto Condensed"/>
            </a:endParaRPr>
          </a:p>
        </p:txBody>
      </p:sp>
      <p:sp>
        <p:nvSpPr>
          <p:cNvPr id="1397" name="Google Shape;1397;p58"/>
          <p:cNvSpPr/>
          <p:nvPr/>
        </p:nvSpPr>
        <p:spPr>
          <a:xfrm>
            <a:off x="10357666" y="402218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PName</a:t>
            </a:r>
            <a:endParaRPr sz="1800">
              <a:solidFill>
                <a:schemeClr val="dk1"/>
              </a:solidFill>
              <a:latin typeface="Roboto Condensed"/>
              <a:ea typeface="Roboto Condensed"/>
              <a:cs typeface="Roboto Condensed"/>
              <a:sym typeface="Roboto Condensed"/>
            </a:endParaRPr>
          </a:p>
        </p:txBody>
      </p:sp>
      <p:cxnSp>
        <p:nvCxnSpPr>
          <p:cNvPr id="1398" name="Google Shape;1398;p58"/>
          <p:cNvCxnSpPr>
            <a:endCxn id="1396" idx="0"/>
          </p:cNvCxnSpPr>
          <p:nvPr/>
        </p:nvCxnSpPr>
        <p:spPr>
          <a:xfrm flipH="1">
            <a:off x="8817084" y="3680785"/>
            <a:ext cx="1210500" cy="341400"/>
          </a:xfrm>
          <a:prstGeom prst="straightConnector1">
            <a:avLst/>
          </a:prstGeom>
          <a:noFill/>
          <a:ln cap="flat" cmpd="sng" w="28575">
            <a:solidFill>
              <a:schemeClr val="dk2"/>
            </a:solidFill>
            <a:prstDash val="solid"/>
            <a:miter lim="800000"/>
            <a:headEnd len="sm" w="sm" type="none"/>
            <a:tailEnd len="sm" w="sm" type="none"/>
          </a:ln>
        </p:spPr>
      </p:cxnSp>
      <p:cxnSp>
        <p:nvCxnSpPr>
          <p:cNvPr id="1399" name="Google Shape;1399;p58"/>
          <p:cNvCxnSpPr>
            <a:endCxn id="1397" idx="0"/>
          </p:cNvCxnSpPr>
          <p:nvPr/>
        </p:nvCxnSpPr>
        <p:spPr>
          <a:xfrm>
            <a:off x="10036186" y="3680785"/>
            <a:ext cx="1053000" cy="341400"/>
          </a:xfrm>
          <a:prstGeom prst="straightConnector1">
            <a:avLst/>
          </a:prstGeom>
          <a:noFill/>
          <a:ln cap="flat" cmpd="sng" w="28575">
            <a:solidFill>
              <a:schemeClr val="dk2"/>
            </a:solidFill>
            <a:prstDash val="solid"/>
            <a:miter lim="800000"/>
            <a:headEnd len="sm" w="sm" type="none"/>
            <a:tailEnd len="sm" w="sm" type="none"/>
          </a:ln>
        </p:spPr>
      </p:cxnSp>
      <p:sp>
        <p:nvSpPr>
          <p:cNvPr id="1400" name="Google Shape;1400;p58"/>
          <p:cNvSpPr/>
          <p:nvPr/>
        </p:nvSpPr>
        <p:spPr>
          <a:xfrm>
            <a:off x="8982891" y="2479568"/>
            <a:ext cx="2103120"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Having</a:t>
            </a:r>
            <a:endParaRPr sz="1800">
              <a:solidFill>
                <a:schemeClr val="dk1"/>
              </a:solidFill>
              <a:latin typeface="Roboto Condensed"/>
              <a:ea typeface="Roboto Condensed"/>
              <a:cs typeface="Roboto Condensed"/>
              <a:sym typeface="Roboto Condensed"/>
            </a:endParaRPr>
          </a:p>
        </p:txBody>
      </p:sp>
      <p:cxnSp>
        <p:nvCxnSpPr>
          <p:cNvPr id="1401" name="Google Shape;1401;p58"/>
          <p:cNvCxnSpPr>
            <a:endCxn id="1390" idx="2"/>
          </p:cNvCxnSpPr>
          <p:nvPr/>
        </p:nvCxnSpPr>
        <p:spPr>
          <a:xfrm rot="10800000">
            <a:off x="10030299" y="2202188"/>
            <a:ext cx="5700" cy="267900"/>
          </a:xfrm>
          <a:prstGeom prst="straightConnector1">
            <a:avLst/>
          </a:prstGeom>
          <a:noFill/>
          <a:ln cap="flat" cmpd="sng" w="28575">
            <a:solidFill>
              <a:schemeClr val="accent4"/>
            </a:solidFill>
            <a:prstDash val="solid"/>
            <a:miter lim="800000"/>
            <a:headEnd len="sm" w="sm" type="none"/>
            <a:tailEnd len="sm" w="sm" type="none"/>
          </a:ln>
        </p:spPr>
      </p:cxnSp>
      <p:cxnSp>
        <p:nvCxnSpPr>
          <p:cNvPr id="1402" name="Google Shape;1402;p58"/>
          <p:cNvCxnSpPr>
            <a:stCxn id="1400" idx="2"/>
            <a:endCxn id="1395" idx="0"/>
          </p:cNvCxnSpPr>
          <p:nvPr/>
        </p:nvCxnSpPr>
        <p:spPr>
          <a:xfrm flipH="1">
            <a:off x="10030251" y="2936768"/>
            <a:ext cx="4200" cy="277500"/>
          </a:xfrm>
          <a:prstGeom prst="straightConnector1">
            <a:avLst/>
          </a:prstGeom>
          <a:noFill/>
          <a:ln cap="flat" cmpd="sng" w="28575">
            <a:solidFill>
              <a:schemeClr val="accent4"/>
            </a:solidFill>
            <a:prstDash val="solid"/>
            <a:miter lim="800000"/>
            <a:headEnd len="sm" w="sm" type="none"/>
            <a:tailEnd len="med" w="med" type="triangle"/>
          </a:ln>
        </p:spPr>
      </p:cxnSp>
      <p:sp>
        <p:nvSpPr>
          <p:cNvPr id="1403" name="Google Shape;1403;p58"/>
          <p:cNvSpPr/>
          <p:nvPr/>
        </p:nvSpPr>
        <p:spPr>
          <a:xfrm>
            <a:off x="7903838" y="4691031"/>
            <a:ext cx="4023360" cy="640080"/>
          </a:xfrm>
          <a:prstGeom prst="roundRect">
            <a:avLst>
              <a:gd fmla="val 6250" name="adj"/>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Person (</a:t>
            </a:r>
            <a:r>
              <a:rPr lang="en-US" sz="1800" u="sng">
                <a:solidFill>
                  <a:schemeClr val="dk1"/>
                </a:solidFill>
                <a:latin typeface="Roboto Condensed"/>
                <a:ea typeface="Roboto Condensed"/>
                <a:cs typeface="Roboto Condensed"/>
                <a:sym typeface="Roboto Condensed"/>
              </a:rPr>
              <a:t>PersonID</a:t>
            </a:r>
            <a:r>
              <a:rPr lang="en-US" sz="1800">
                <a:solidFill>
                  <a:schemeClr val="dk1"/>
                </a:solidFill>
                <a:latin typeface="Roboto Condensed"/>
                <a:ea typeface="Roboto Condensed"/>
                <a:cs typeface="Roboto Condensed"/>
                <a:sym typeface="Roboto Condensed"/>
              </a:rPr>
              <a:t>, PName)</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House (</a:t>
            </a:r>
            <a:r>
              <a:rPr lang="en-US" sz="1800" u="sng">
                <a:solidFill>
                  <a:schemeClr val="dk1"/>
                </a:solidFill>
                <a:latin typeface="Roboto Condensed"/>
                <a:ea typeface="Roboto Condensed"/>
                <a:cs typeface="Roboto Condensed"/>
                <a:sym typeface="Roboto Condensed"/>
              </a:rPr>
              <a:t>HouseID</a:t>
            </a:r>
            <a:r>
              <a:rPr lang="en-US" sz="1800">
                <a:solidFill>
                  <a:schemeClr val="dk1"/>
                </a:solidFill>
                <a:latin typeface="Roboto Condensed"/>
                <a:ea typeface="Roboto Condensed"/>
                <a:cs typeface="Roboto Condensed"/>
                <a:sym typeface="Roboto Condensed"/>
              </a:rPr>
              <a:t>, Hname, PersonID)</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9"/>
                                        </p:tgtEl>
                                        <p:attrNameLst>
                                          <p:attrName>style.visibility</p:attrName>
                                        </p:attrNameLst>
                                      </p:cBhvr>
                                      <p:to>
                                        <p:strVal val="visible"/>
                                      </p:to>
                                    </p:set>
                                    <p:animEffect filter="fade" transition="in">
                                      <p:cBhvr>
                                        <p:cTn dur="500"/>
                                        <p:tgtEl>
                                          <p:spTgt spid="1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500"/>
                                        <p:tgtEl>
                                          <p:spTgt spid="1390"/>
                                        </p:tgtEl>
                                      </p:cBhvr>
                                    </p:animEffect>
                                  </p:childTnLst>
                                </p:cTn>
                              </p:par>
                              <p:par>
                                <p:cTn fill="hold" nodeType="withEffect" presetClass="entr" presetID="10" presetSubtype="0">
                                  <p:stCondLst>
                                    <p:cond delay="0"/>
                                  </p:stCondLst>
                                  <p:childTnLst>
                                    <p:set>
                                      <p:cBhvr>
                                        <p:cTn dur="1" fill="hold">
                                          <p:stCondLst>
                                            <p:cond delay="0"/>
                                          </p:stCondLst>
                                        </p:cTn>
                                        <p:tgtEl>
                                          <p:spTgt spid="1391"/>
                                        </p:tgtEl>
                                        <p:attrNameLst>
                                          <p:attrName>style.visibility</p:attrName>
                                        </p:attrNameLst>
                                      </p:cBhvr>
                                      <p:to>
                                        <p:strVal val="visible"/>
                                      </p:to>
                                    </p:set>
                                    <p:animEffect filter="fade" transition="in">
                                      <p:cBhvr>
                                        <p:cTn dur="500"/>
                                        <p:tgtEl>
                                          <p:spTgt spid="1391"/>
                                        </p:tgtEl>
                                      </p:cBhvr>
                                    </p:animEffect>
                                  </p:childTnLst>
                                </p:cTn>
                              </p:par>
                              <p:par>
                                <p:cTn fill="hold" nodeType="with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500"/>
                                        <p:tgtEl>
                                          <p:spTgt spid="1392"/>
                                        </p:tgtEl>
                                      </p:cBhvr>
                                    </p:animEffect>
                                  </p:childTnLst>
                                </p:cTn>
                              </p:par>
                              <p:par>
                                <p:cTn fill="hold" nodeType="withEffect" presetClass="entr" presetID="10" presetSubtype="0">
                                  <p:stCondLst>
                                    <p:cond delay="0"/>
                                  </p:stCondLst>
                                  <p:childTnLst>
                                    <p:set>
                                      <p:cBhvr>
                                        <p:cTn dur="1" fill="hold">
                                          <p:stCondLst>
                                            <p:cond delay="0"/>
                                          </p:stCondLst>
                                        </p:cTn>
                                        <p:tgtEl>
                                          <p:spTgt spid="1393"/>
                                        </p:tgtEl>
                                        <p:attrNameLst>
                                          <p:attrName>style.visibility</p:attrName>
                                        </p:attrNameLst>
                                      </p:cBhvr>
                                      <p:to>
                                        <p:strVal val="visible"/>
                                      </p:to>
                                    </p:set>
                                    <p:animEffect filter="fade" transition="in">
                                      <p:cBhvr>
                                        <p:cTn dur="500"/>
                                        <p:tgtEl>
                                          <p:spTgt spid="1393"/>
                                        </p:tgtEl>
                                      </p:cBhvr>
                                    </p:animEffect>
                                  </p:childTnLst>
                                </p:cTn>
                              </p:par>
                              <p:par>
                                <p:cTn fill="hold" nodeType="withEffect" presetClass="entr" presetID="10" presetSubtype="0">
                                  <p:stCondLst>
                                    <p:cond delay="0"/>
                                  </p:stCondLst>
                                  <p:childTnLst>
                                    <p:set>
                                      <p:cBhvr>
                                        <p:cTn dur="1" fill="hold">
                                          <p:stCondLst>
                                            <p:cond delay="0"/>
                                          </p:stCondLst>
                                        </p:cTn>
                                        <p:tgtEl>
                                          <p:spTgt spid="1394"/>
                                        </p:tgtEl>
                                        <p:attrNameLst>
                                          <p:attrName>style.visibility</p:attrName>
                                        </p:attrNameLst>
                                      </p:cBhvr>
                                      <p:to>
                                        <p:strVal val="visible"/>
                                      </p:to>
                                    </p:set>
                                    <p:animEffect filter="fade" transition="in">
                                      <p:cBhvr>
                                        <p:cTn dur="500"/>
                                        <p:tgtEl>
                                          <p:spTgt spid="1394"/>
                                        </p:tgtEl>
                                      </p:cBhvr>
                                    </p:animEffect>
                                  </p:childTnLst>
                                </p:cTn>
                              </p:par>
                              <p:par>
                                <p:cTn fill="hold" nodeType="withEffect" presetClass="entr" presetID="10" presetSubtype="0">
                                  <p:stCondLst>
                                    <p:cond delay="0"/>
                                  </p:stCondLst>
                                  <p:childTnLst>
                                    <p:set>
                                      <p:cBhvr>
                                        <p:cTn dur="1" fill="hold">
                                          <p:stCondLst>
                                            <p:cond delay="0"/>
                                          </p:stCondLst>
                                        </p:cTn>
                                        <p:tgtEl>
                                          <p:spTgt spid="1395"/>
                                        </p:tgtEl>
                                        <p:attrNameLst>
                                          <p:attrName>style.visibility</p:attrName>
                                        </p:attrNameLst>
                                      </p:cBhvr>
                                      <p:to>
                                        <p:strVal val="visible"/>
                                      </p:to>
                                    </p:set>
                                    <p:animEffect filter="fade" transition="in">
                                      <p:cBhvr>
                                        <p:cTn dur="500"/>
                                        <p:tgtEl>
                                          <p:spTgt spid="1395"/>
                                        </p:tgtEl>
                                      </p:cBhvr>
                                    </p:animEffect>
                                  </p:childTnLst>
                                </p:cTn>
                              </p:par>
                              <p:par>
                                <p:cTn fill="hold" nodeType="withEffect" presetClass="entr" presetID="10" presetSubtype="0">
                                  <p:stCondLst>
                                    <p:cond delay="0"/>
                                  </p:stCondLst>
                                  <p:childTnLst>
                                    <p:set>
                                      <p:cBhvr>
                                        <p:cTn dur="1" fill="hold">
                                          <p:stCondLst>
                                            <p:cond delay="0"/>
                                          </p:stCondLst>
                                        </p:cTn>
                                        <p:tgtEl>
                                          <p:spTgt spid="1396"/>
                                        </p:tgtEl>
                                        <p:attrNameLst>
                                          <p:attrName>style.visibility</p:attrName>
                                        </p:attrNameLst>
                                      </p:cBhvr>
                                      <p:to>
                                        <p:strVal val="visible"/>
                                      </p:to>
                                    </p:set>
                                    <p:animEffect filter="fade" transition="in">
                                      <p:cBhvr>
                                        <p:cTn dur="500"/>
                                        <p:tgtEl>
                                          <p:spTgt spid="1396"/>
                                        </p:tgtEl>
                                      </p:cBhvr>
                                    </p:animEffect>
                                  </p:childTnLst>
                                </p:cTn>
                              </p:par>
                              <p:par>
                                <p:cTn fill="hold" nodeType="with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500"/>
                                        <p:tgtEl>
                                          <p:spTgt spid="1397"/>
                                        </p:tgtEl>
                                      </p:cBhvr>
                                    </p:animEffect>
                                  </p:childTnLst>
                                </p:cTn>
                              </p:par>
                              <p:par>
                                <p:cTn fill="hold" nodeType="with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500"/>
                                        <p:tgtEl>
                                          <p:spTgt spid="1398"/>
                                        </p:tgtEl>
                                      </p:cBhvr>
                                    </p:animEffect>
                                  </p:childTnLst>
                                </p:cTn>
                              </p:par>
                              <p:par>
                                <p:cTn fill="hold" nodeType="with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500"/>
                                        <p:tgtEl>
                                          <p:spTgt spid="1399"/>
                                        </p:tgtEl>
                                      </p:cBhvr>
                                    </p:animEffect>
                                  </p:childTnLst>
                                </p:cTn>
                              </p:par>
                              <p:par>
                                <p:cTn fill="hold" nodeType="with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par>
                                <p:cTn fill="hold" nodeType="with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500"/>
                                        <p:tgtEl>
                                          <p:spTgt spid="1402"/>
                                        </p:tgtEl>
                                      </p:cBhvr>
                                    </p:animEffect>
                                  </p:childTnLst>
                                </p:cTn>
                              </p:par>
                              <p:par>
                                <p:cTn fill="hold" nodeType="with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500"/>
                                        <p:tgtEl>
                                          <p:spTgt spid="1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3"/>
                                        </p:tgtEl>
                                        <p:attrNameLst>
                                          <p:attrName>style.visibility</p:attrName>
                                        </p:attrNameLst>
                                      </p:cBhvr>
                                      <p:to>
                                        <p:strVal val="visible"/>
                                      </p:to>
                                    </p:set>
                                    <p:animEffect filter="fade" transition="in">
                                      <p:cBhvr>
                                        <p:cTn dur="500"/>
                                        <p:tgtEl>
                                          <p:spTgt spid="1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59"/>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Reduce the E-R diagram to database schema</a:t>
            </a:r>
            <a:endParaRPr/>
          </a:p>
        </p:txBody>
      </p:sp>
      <p:sp>
        <p:nvSpPr>
          <p:cNvPr id="1409" name="Google Shape;1409;p59"/>
          <p:cNvSpPr txBox="1"/>
          <p:nvPr>
            <p:ph idx="1" type="body"/>
          </p:nvPr>
        </p:nvSpPr>
        <p:spPr>
          <a:xfrm>
            <a:off x="117733" y="863444"/>
            <a:ext cx="7114032" cy="5590565"/>
          </a:xfrm>
          <a:prstGeom prst="rect">
            <a:avLst/>
          </a:prstGeom>
          <a:noFill/>
          <a:ln>
            <a:noFill/>
          </a:ln>
        </p:spPr>
        <p:txBody>
          <a:bodyPr anchorCtr="0" anchor="t" bIns="45700" lIns="91425" spcFirstLastPara="1" rIns="91425" wrap="square" tIns="45700">
            <a:noAutofit/>
          </a:bodyPr>
          <a:lstStyle/>
          <a:p>
            <a:pPr indent="-112713" lvl="0" marL="265113" rtl="0" algn="just">
              <a:lnSpc>
                <a:spcPct val="90000"/>
              </a:lnSpc>
              <a:spcBef>
                <a:spcPts val="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Convert both </a:t>
            </a:r>
            <a:r>
              <a:rPr b="1" lang="en-US">
                <a:solidFill>
                  <a:schemeClr val="accent6"/>
                </a:solidFill>
              </a:rPr>
              <a:t>entities</a:t>
            </a:r>
            <a:r>
              <a:rPr lang="en-US"/>
              <a:t> in to </a:t>
            </a:r>
            <a:r>
              <a:rPr b="1" lang="en-US">
                <a:solidFill>
                  <a:schemeClr val="accent6"/>
                </a:solidFill>
              </a:rPr>
              <a:t>table</a:t>
            </a:r>
            <a:r>
              <a:rPr lang="en-US"/>
              <a:t> with proper attribute.</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Create a </a:t>
            </a:r>
            <a:r>
              <a:rPr b="1" lang="en-US">
                <a:solidFill>
                  <a:schemeClr val="accent6"/>
                </a:solidFill>
              </a:rPr>
              <a:t>separate table for relationship</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Place the </a:t>
            </a:r>
            <a:r>
              <a:rPr b="1" lang="en-US">
                <a:solidFill>
                  <a:schemeClr val="accent6"/>
                </a:solidFill>
              </a:rPr>
              <a:t>primary key of both entities table </a:t>
            </a:r>
            <a:r>
              <a:rPr lang="en-US"/>
              <a:t>into the </a:t>
            </a:r>
            <a:r>
              <a:rPr b="1" lang="en-US">
                <a:solidFill>
                  <a:schemeClr val="accent6"/>
                </a:solidFill>
              </a:rPr>
              <a:t>relationship’s table as foreign key</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Place the primary key of the Customer table CID and Account table Ano in the table Has_Acct as Foreign key.</a:t>
            </a:r>
            <a:endParaRPr/>
          </a:p>
        </p:txBody>
      </p:sp>
      <p:sp>
        <p:nvSpPr>
          <p:cNvPr id="1410" name="Google Shape;1410;p59"/>
          <p:cNvSpPr/>
          <p:nvPr/>
        </p:nvSpPr>
        <p:spPr>
          <a:xfrm>
            <a:off x="131182" y="968010"/>
            <a:ext cx="7111390" cy="52322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Roboto Condensed"/>
                <a:ea typeface="Roboto Condensed"/>
                <a:cs typeface="Roboto Condensed"/>
                <a:sym typeface="Roboto Condensed"/>
              </a:rPr>
              <a:t>Step 5: Reduce </a:t>
            </a:r>
            <a:r>
              <a:rPr b="1" lang="en-US" sz="2800">
                <a:solidFill>
                  <a:schemeClr val="accent6"/>
                </a:solidFill>
                <a:latin typeface="Roboto Condensed"/>
                <a:ea typeface="Roboto Condensed"/>
                <a:cs typeface="Roboto Condensed"/>
                <a:sym typeface="Roboto Condensed"/>
              </a:rPr>
              <a:t>N:N Mapping Cardinality</a:t>
            </a:r>
            <a:r>
              <a:rPr lang="en-US" sz="2800">
                <a:solidFill>
                  <a:schemeClr val="dk1"/>
                </a:solidFill>
                <a:latin typeface="Roboto Condensed"/>
                <a:ea typeface="Roboto Condensed"/>
                <a:cs typeface="Roboto Condensed"/>
                <a:sym typeface="Roboto Condensed"/>
              </a:rPr>
              <a:t>:</a:t>
            </a:r>
            <a:endParaRPr sz="2800">
              <a:solidFill>
                <a:schemeClr val="dk1"/>
              </a:solidFill>
              <a:latin typeface="Roboto Condensed"/>
              <a:ea typeface="Roboto Condensed"/>
              <a:cs typeface="Roboto Condensed"/>
              <a:sym typeface="Roboto Condensed"/>
            </a:endParaRPr>
          </a:p>
        </p:txBody>
      </p:sp>
      <p:sp>
        <p:nvSpPr>
          <p:cNvPr id="1411" name="Google Shape;1411;p59"/>
          <p:cNvSpPr/>
          <p:nvPr/>
        </p:nvSpPr>
        <p:spPr>
          <a:xfrm>
            <a:off x="9181213" y="174498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Account</a:t>
            </a:r>
            <a:endParaRPr sz="1800">
              <a:solidFill>
                <a:schemeClr val="dk1"/>
              </a:solidFill>
              <a:latin typeface="Roboto Condensed"/>
              <a:ea typeface="Roboto Condensed"/>
              <a:cs typeface="Roboto Condensed"/>
              <a:sym typeface="Roboto Condensed"/>
            </a:endParaRPr>
          </a:p>
        </p:txBody>
      </p:sp>
      <p:cxnSp>
        <p:nvCxnSpPr>
          <p:cNvPr id="1412" name="Google Shape;1412;p59"/>
          <p:cNvCxnSpPr>
            <a:stCxn id="1413" idx="4"/>
            <a:endCxn id="1411" idx="0"/>
          </p:cNvCxnSpPr>
          <p:nvPr/>
        </p:nvCxnSpPr>
        <p:spPr>
          <a:xfrm>
            <a:off x="9027683" y="1286354"/>
            <a:ext cx="1002600" cy="458700"/>
          </a:xfrm>
          <a:prstGeom prst="straightConnector1">
            <a:avLst/>
          </a:prstGeom>
          <a:noFill/>
          <a:ln cap="flat" cmpd="sng" w="28575">
            <a:solidFill>
              <a:schemeClr val="dk2"/>
            </a:solidFill>
            <a:prstDash val="solid"/>
            <a:miter lim="800000"/>
            <a:headEnd len="sm" w="sm" type="none"/>
            <a:tailEnd len="sm" w="sm" type="none"/>
          </a:ln>
        </p:spPr>
      </p:cxnSp>
      <p:sp>
        <p:nvSpPr>
          <p:cNvPr id="1413" name="Google Shape;1413;p59"/>
          <p:cNvSpPr/>
          <p:nvPr/>
        </p:nvSpPr>
        <p:spPr>
          <a:xfrm>
            <a:off x="8296163" y="863444"/>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ActNo</a:t>
            </a:r>
            <a:endParaRPr sz="1800" u="sng">
              <a:solidFill>
                <a:schemeClr val="dk1"/>
              </a:solidFill>
              <a:latin typeface="Roboto Condensed"/>
              <a:ea typeface="Roboto Condensed"/>
              <a:cs typeface="Roboto Condensed"/>
              <a:sym typeface="Roboto Condensed"/>
            </a:endParaRPr>
          </a:p>
        </p:txBody>
      </p:sp>
      <p:sp>
        <p:nvSpPr>
          <p:cNvPr id="1414" name="Google Shape;1414;p59"/>
          <p:cNvSpPr/>
          <p:nvPr/>
        </p:nvSpPr>
        <p:spPr>
          <a:xfrm>
            <a:off x="10279725" y="875210"/>
            <a:ext cx="1545931"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Balance</a:t>
            </a:r>
            <a:endParaRPr sz="1800">
              <a:solidFill>
                <a:schemeClr val="dk1"/>
              </a:solidFill>
              <a:latin typeface="Roboto Condensed"/>
              <a:ea typeface="Roboto Condensed"/>
              <a:cs typeface="Roboto Condensed"/>
              <a:sym typeface="Roboto Condensed"/>
            </a:endParaRPr>
          </a:p>
        </p:txBody>
      </p:sp>
      <p:cxnSp>
        <p:nvCxnSpPr>
          <p:cNvPr id="1415" name="Google Shape;1415;p59"/>
          <p:cNvCxnSpPr>
            <a:endCxn id="1411" idx="0"/>
          </p:cNvCxnSpPr>
          <p:nvPr/>
        </p:nvCxnSpPr>
        <p:spPr>
          <a:xfrm flipH="1">
            <a:off x="10030299" y="1297988"/>
            <a:ext cx="1059000" cy="447000"/>
          </a:xfrm>
          <a:prstGeom prst="straightConnector1">
            <a:avLst/>
          </a:prstGeom>
          <a:noFill/>
          <a:ln cap="flat" cmpd="sng" w="28575">
            <a:solidFill>
              <a:schemeClr val="dk2"/>
            </a:solidFill>
            <a:prstDash val="solid"/>
            <a:miter lim="800000"/>
            <a:headEnd len="sm" w="sm" type="none"/>
            <a:tailEnd len="sm" w="sm" type="none"/>
          </a:ln>
        </p:spPr>
      </p:cxnSp>
      <p:sp>
        <p:nvSpPr>
          <p:cNvPr id="1416" name="Google Shape;1416;p59"/>
          <p:cNvSpPr/>
          <p:nvPr/>
        </p:nvSpPr>
        <p:spPr>
          <a:xfrm>
            <a:off x="9181213" y="3214148"/>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sp>
        <p:nvSpPr>
          <p:cNvPr id="1417" name="Google Shape;1417;p59"/>
          <p:cNvSpPr/>
          <p:nvPr/>
        </p:nvSpPr>
        <p:spPr>
          <a:xfrm>
            <a:off x="8085564" y="402218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CID</a:t>
            </a:r>
            <a:endParaRPr sz="1800" u="sng">
              <a:solidFill>
                <a:schemeClr val="dk1"/>
              </a:solidFill>
              <a:latin typeface="Roboto Condensed"/>
              <a:ea typeface="Roboto Condensed"/>
              <a:cs typeface="Roboto Condensed"/>
              <a:sym typeface="Roboto Condensed"/>
            </a:endParaRPr>
          </a:p>
        </p:txBody>
      </p:sp>
      <p:sp>
        <p:nvSpPr>
          <p:cNvPr id="1418" name="Google Shape;1418;p59"/>
          <p:cNvSpPr/>
          <p:nvPr/>
        </p:nvSpPr>
        <p:spPr>
          <a:xfrm>
            <a:off x="10357666" y="4022185"/>
            <a:ext cx="1463040" cy="422910"/>
          </a:xfrm>
          <a:prstGeom prst="ellipse">
            <a:avLst/>
          </a:prstGeom>
          <a:noFill/>
          <a:ln cap="flat" cmpd="sng" w="285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CName</a:t>
            </a:r>
            <a:endParaRPr sz="1800">
              <a:solidFill>
                <a:schemeClr val="dk1"/>
              </a:solidFill>
              <a:latin typeface="Roboto Condensed"/>
              <a:ea typeface="Roboto Condensed"/>
              <a:cs typeface="Roboto Condensed"/>
              <a:sym typeface="Roboto Condensed"/>
            </a:endParaRPr>
          </a:p>
        </p:txBody>
      </p:sp>
      <p:cxnSp>
        <p:nvCxnSpPr>
          <p:cNvPr id="1419" name="Google Shape;1419;p59"/>
          <p:cNvCxnSpPr>
            <a:endCxn id="1417" idx="0"/>
          </p:cNvCxnSpPr>
          <p:nvPr/>
        </p:nvCxnSpPr>
        <p:spPr>
          <a:xfrm flipH="1">
            <a:off x="8817084" y="3680785"/>
            <a:ext cx="1210500" cy="341400"/>
          </a:xfrm>
          <a:prstGeom prst="straightConnector1">
            <a:avLst/>
          </a:prstGeom>
          <a:noFill/>
          <a:ln cap="flat" cmpd="sng" w="28575">
            <a:solidFill>
              <a:schemeClr val="dk2"/>
            </a:solidFill>
            <a:prstDash val="solid"/>
            <a:miter lim="800000"/>
            <a:headEnd len="sm" w="sm" type="none"/>
            <a:tailEnd len="sm" w="sm" type="none"/>
          </a:ln>
        </p:spPr>
      </p:cxnSp>
      <p:cxnSp>
        <p:nvCxnSpPr>
          <p:cNvPr id="1420" name="Google Shape;1420;p59"/>
          <p:cNvCxnSpPr>
            <a:endCxn id="1418" idx="0"/>
          </p:cNvCxnSpPr>
          <p:nvPr/>
        </p:nvCxnSpPr>
        <p:spPr>
          <a:xfrm>
            <a:off x="10036186" y="3680785"/>
            <a:ext cx="1053000" cy="341400"/>
          </a:xfrm>
          <a:prstGeom prst="straightConnector1">
            <a:avLst/>
          </a:prstGeom>
          <a:noFill/>
          <a:ln cap="flat" cmpd="sng" w="28575">
            <a:solidFill>
              <a:schemeClr val="dk2"/>
            </a:solidFill>
            <a:prstDash val="solid"/>
            <a:miter lim="800000"/>
            <a:headEnd len="sm" w="sm" type="none"/>
            <a:tailEnd len="sm" w="sm" type="none"/>
          </a:ln>
        </p:spPr>
      </p:cxnSp>
      <p:sp>
        <p:nvSpPr>
          <p:cNvPr id="1421" name="Google Shape;1421;p59"/>
          <p:cNvSpPr/>
          <p:nvPr/>
        </p:nvSpPr>
        <p:spPr>
          <a:xfrm>
            <a:off x="8982891" y="2479568"/>
            <a:ext cx="2103120" cy="45720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Has_Acct</a:t>
            </a:r>
            <a:endParaRPr sz="1800">
              <a:solidFill>
                <a:schemeClr val="dk1"/>
              </a:solidFill>
              <a:latin typeface="Roboto Condensed"/>
              <a:ea typeface="Roboto Condensed"/>
              <a:cs typeface="Roboto Condensed"/>
              <a:sym typeface="Roboto Condensed"/>
            </a:endParaRPr>
          </a:p>
        </p:txBody>
      </p:sp>
      <p:cxnSp>
        <p:nvCxnSpPr>
          <p:cNvPr id="1422" name="Google Shape;1422;p59"/>
          <p:cNvCxnSpPr>
            <a:endCxn id="1411" idx="2"/>
          </p:cNvCxnSpPr>
          <p:nvPr/>
        </p:nvCxnSpPr>
        <p:spPr>
          <a:xfrm rot="10800000">
            <a:off x="10030299" y="2202188"/>
            <a:ext cx="5700" cy="267900"/>
          </a:xfrm>
          <a:prstGeom prst="straightConnector1">
            <a:avLst/>
          </a:prstGeom>
          <a:noFill/>
          <a:ln cap="flat" cmpd="sng" w="28575">
            <a:solidFill>
              <a:schemeClr val="accent4"/>
            </a:solidFill>
            <a:prstDash val="solid"/>
            <a:miter lim="800000"/>
            <a:headEnd len="sm" w="sm" type="none"/>
            <a:tailEnd len="sm" w="sm" type="none"/>
          </a:ln>
        </p:spPr>
      </p:cxnSp>
      <p:cxnSp>
        <p:nvCxnSpPr>
          <p:cNvPr id="1423" name="Google Shape;1423;p59"/>
          <p:cNvCxnSpPr>
            <a:stCxn id="1421" idx="2"/>
            <a:endCxn id="1416" idx="0"/>
          </p:cNvCxnSpPr>
          <p:nvPr/>
        </p:nvCxnSpPr>
        <p:spPr>
          <a:xfrm flipH="1">
            <a:off x="10030251" y="2936768"/>
            <a:ext cx="4200" cy="277500"/>
          </a:xfrm>
          <a:prstGeom prst="straightConnector1">
            <a:avLst/>
          </a:prstGeom>
          <a:noFill/>
          <a:ln cap="flat" cmpd="sng" w="28575">
            <a:solidFill>
              <a:schemeClr val="accent4"/>
            </a:solidFill>
            <a:prstDash val="solid"/>
            <a:miter lim="800000"/>
            <a:headEnd len="sm" w="sm" type="none"/>
            <a:tailEnd len="sm" w="sm" type="none"/>
          </a:ln>
        </p:spPr>
      </p:cxnSp>
      <p:sp>
        <p:nvSpPr>
          <p:cNvPr id="1424" name="Google Shape;1424;p59"/>
          <p:cNvSpPr/>
          <p:nvPr/>
        </p:nvSpPr>
        <p:spPr>
          <a:xfrm>
            <a:off x="7903838" y="4691031"/>
            <a:ext cx="4023360" cy="914400"/>
          </a:xfrm>
          <a:prstGeom prst="roundRect">
            <a:avLst>
              <a:gd fmla="val 6250" name="adj"/>
            </a:avLst>
          </a:prstGeom>
          <a:solidFill>
            <a:srgbClr val="F0D9D8"/>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 (</a:t>
            </a:r>
            <a:r>
              <a:rPr lang="en-US" sz="1800" u="sng">
                <a:solidFill>
                  <a:schemeClr val="dk1"/>
                </a:solidFill>
                <a:latin typeface="Roboto Condensed"/>
                <a:ea typeface="Roboto Condensed"/>
                <a:cs typeface="Roboto Condensed"/>
                <a:sym typeface="Roboto Condensed"/>
              </a:rPr>
              <a:t>CID</a:t>
            </a:r>
            <a:r>
              <a:rPr lang="en-US" sz="1800">
                <a:solidFill>
                  <a:schemeClr val="dk1"/>
                </a:solidFill>
                <a:latin typeface="Roboto Condensed"/>
                <a:ea typeface="Roboto Condensed"/>
                <a:cs typeface="Roboto Condensed"/>
                <a:sym typeface="Roboto Condensed"/>
              </a:rPr>
              <a:t>, CName)</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Account (</a:t>
            </a:r>
            <a:r>
              <a:rPr lang="en-US" sz="1800" u="sng">
                <a:solidFill>
                  <a:schemeClr val="dk1"/>
                </a:solidFill>
                <a:latin typeface="Roboto Condensed"/>
                <a:ea typeface="Roboto Condensed"/>
                <a:cs typeface="Roboto Condensed"/>
                <a:sym typeface="Roboto Condensed"/>
              </a:rPr>
              <a:t>ActNo</a:t>
            </a:r>
            <a:r>
              <a:rPr lang="en-US" sz="1800">
                <a:solidFill>
                  <a:schemeClr val="dk1"/>
                </a:solidFill>
                <a:latin typeface="Roboto Condensed"/>
                <a:ea typeface="Roboto Condensed"/>
                <a:cs typeface="Roboto Condensed"/>
                <a:sym typeface="Roboto Condensed"/>
              </a:rPr>
              <a:t>, Balance)</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Has_Acct (</a:t>
            </a:r>
            <a:r>
              <a:rPr lang="en-US" sz="1800" u="sng">
                <a:solidFill>
                  <a:schemeClr val="dk1"/>
                </a:solidFill>
                <a:latin typeface="Roboto Condensed"/>
                <a:ea typeface="Roboto Condensed"/>
                <a:cs typeface="Roboto Condensed"/>
                <a:sym typeface="Roboto Condensed"/>
              </a:rPr>
              <a:t>HasAcctID</a:t>
            </a:r>
            <a:r>
              <a:rPr lang="en-US" sz="1800">
                <a:solidFill>
                  <a:schemeClr val="dk1"/>
                </a:solidFill>
                <a:latin typeface="Roboto Condensed"/>
                <a:ea typeface="Roboto Condensed"/>
                <a:cs typeface="Roboto Condensed"/>
                <a:sym typeface="Roboto Condensed"/>
              </a:rPr>
              <a:t>, CID, ActNo)</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0"/>
                                        </p:tgtEl>
                                        <p:attrNameLst>
                                          <p:attrName>style.visibility</p:attrName>
                                        </p:attrNameLst>
                                      </p:cBhvr>
                                      <p:to>
                                        <p:strVal val="visible"/>
                                      </p:to>
                                    </p:set>
                                    <p:animEffect filter="fade" transition="in">
                                      <p:cBhvr>
                                        <p:cTn dur="500"/>
                                        <p:tgtEl>
                                          <p:spTgt spid="1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500"/>
                                        <p:tgtEl>
                                          <p:spTgt spid="1411"/>
                                        </p:tgtEl>
                                      </p:cBhvr>
                                    </p:animEffect>
                                  </p:childTnLst>
                                </p:cTn>
                              </p:par>
                              <p:par>
                                <p:cTn fill="hold" nodeType="withEffect" presetClass="entr" presetID="10" presetSubtype="0">
                                  <p:stCondLst>
                                    <p:cond delay="0"/>
                                  </p:stCondLst>
                                  <p:childTnLst>
                                    <p:set>
                                      <p:cBhvr>
                                        <p:cTn dur="1" fill="hold">
                                          <p:stCondLst>
                                            <p:cond delay="0"/>
                                          </p:stCondLst>
                                        </p:cTn>
                                        <p:tgtEl>
                                          <p:spTgt spid="1412"/>
                                        </p:tgtEl>
                                        <p:attrNameLst>
                                          <p:attrName>style.visibility</p:attrName>
                                        </p:attrNameLst>
                                      </p:cBhvr>
                                      <p:to>
                                        <p:strVal val="visible"/>
                                      </p:to>
                                    </p:set>
                                    <p:animEffect filter="fade" transition="in">
                                      <p:cBhvr>
                                        <p:cTn dur="500"/>
                                        <p:tgtEl>
                                          <p:spTgt spid="1412"/>
                                        </p:tgtEl>
                                      </p:cBhvr>
                                    </p:animEffect>
                                  </p:childTnLst>
                                </p:cTn>
                              </p:par>
                              <p:par>
                                <p:cTn fill="hold" nodeType="withEffect" presetClass="entr" presetID="10" presetSubtype="0">
                                  <p:stCondLst>
                                    <p:cond delay="0"/>
                                  </p:stCondLst>
                                  <p:childTnLst>
                                    <p:set>
                                      <p:cBhvr>
                                        <p:cTn dur="1" fill="hold">
                                          <p:stCondLst>
                                            <p:cond delay="0"/>
                                          </p:stCondLst>
                                        </p:cTn>
                                        <p:tgtEl>
                                          <p:spTgt spid="1413"/>
                                        </p:tgtEl>
                                        <p:attrNameLst>
                                          <p:attrName>style.visibility</p:attrName>
                                        </p:attrNameLst>
                                      </p:cBhvr>
                                      <p:to>
                                        <p:strVal val="visible"/>
                                      </p:to>
                                    </p:set>
                                    <p:animEffect filter="fade" transition="in">
                                      <p:cBhvr>
                                        <p:cTn dur="500"/>
                                        <p:tgtEl>
                                          <p:spTgt spid="1413"/>
                                        </p:tgtEl>
                                      </p:cBhvr>
                                    </p:animEffect>
                                  </p:childTnLst>
                                </p:cTn>
                              </p:par>
                              <p:par>
                                <p:cTn fill="hold" nodeType="withEffect" presetClass="entr" presetID="10" presetSubtype="0">
                                  <p:stCondLst>
                                    <p:cond delay="0"/>
                                  </p:stCondLst>
                                  <p:childTnLst>
                                    <p:set>
                                      <p:cBhvr>
                                        <p:cTn dur="1" fill="hold">
                                          <p:stCondLst>
                                            <p:cond delay="0"/>
                                          </p:stCondLst>
                                        </p:cTn>
                                        <p:tgtEl>
                                          <p:spTgt spid="1414"/>
                                        </p:tgtEl>
                                        <p:attrNameLst>
                                          <p:attrName>style.visibility</p:attrName>
                                        </p:attrNameLst>
                                      </p:cBhvr>
                                      <p:to>
                                        <p:strVal val="visible"/>
                                      </p:to>
                                    </p:set>
                                    <p:animEffect filter="fade" transition="in">
                                      <p:cBhvr>
                                        <p:cTn dur="500"/>
                                        <p:tgtEl>
                                          <p:spTgt spid="1414"/>
                                        </p:tgtEl>
                                      </p:cBhvr>
                                    </p:animEffect>
                                  </p:childTnLst>
                                </p:cTn>
                              </p:par>
                              <p:par>
                                <p:cTn fill="hold" nodeType="withEffect" presetClass="entr" presetID="10" presetSubtype="0">
                                  <p:stCondLst>
                                    <p:cond delay="0"/>
                                  </p:stCondLst>
                                  <p:childTnLst>
                                    <p:set>
                                      <p:cBhvr>
                                        <p:cTn dur="1" fill="hold">
                                          <p:stCondLst>
                                            <p:cond delay="0"/>
                                          </p:stCondLst>
                                        </p:cTn>
                                        <p:tgtEl>
                                          <p:spTgt spid="1415"/>
                                        </p:tgtEl>
                                        <p:attrNameLst>
                                          <p:attrName>style.visibility</p:attrName>
                                        </p:attrNameLst>
                                      </p:cBhvr>
                                      <p:to>
                                        <p:strVal val="visible"/>
                                      </p:to>
                                    </p:set>
                                    <p:animEffect filter="fade" transition="in">
                                      <p:cBhvr>
                                        <p:cTn dur="500"/>
                                        <p:tgtEl>
                                          <p:spTgt spid="1415"/>
                                        </p:tgtEl>
                                      </p:cBhvr>
                                    </p:animEffect>
                                  </p:childTnLst>
                                </p:cTn>
                              </p:par>
                              <p:par>
                                <p:cTn fill="hold" nodeType="withEffect" presetClass="entr" presetID="10" presetSubtype="0">
                                  <p:stCondLst>
                                    <p:cond delay="0"/>
                                  </p:stCondLst>
                                  <p:childTnLst>
                                    <p:set>
                                      <p:cBhvr>
                                        <p:cTn dur="1" fill="hold">
                                          <p:stCondLst>
                                            <p:cond delay="0"/>
                                          </p:stCondLst>
                                        </p:cTn>
                                        <p:tgtEl>
                                          <p:spTgt spid="1416"/>
                                        </p:tgtEl>
                                        <p:attrNameLst>
                                          <p:attrName>style.visibility</p:attrName>
                                        </p:attrNameLst>
                                      </p:cBhvr>
                                      <p:to>
                                        <p:strVal val="visible"/>
                                      </p:to>
                                    </p:set>
                                    <p:animEffect filter="fade" transition="in">
                                      <p:cBhvr>
                                        <p:cTn dur="500"/>
                                        <p:tgtEl>
                                          <p:spTgt spid="1416"/>
                                        </p:tgtEl>
                                      </p:cBhvr>
                                    </p:animEffect>
                                  </p:childTnLst>
                                </p:cTn>
                              </p:par>
                              <p:par>
                                <p:cTn fill="hold" nodeType="withEffect" presetClass="entr" presetID="10" presetSubtype="0">
                                  <p:stCondLst>
                                    <p:cond delay="0"/>
                                  </p:stCondLst>
                                  <p:childTnLst>
                                    <p:set>
                                      <p:cBhvr>
                                        <p:cTn dur="1" fill="hold">
                                          <p:stCondLst>
                                            <p:cond delay="0"/>
                                          </p:stCondLst>
                                        </p:cTn>
                                        <p:tgtEl>
                                          <p:spTgt spid="1417"/>
                                        </p:tgtEl>
                                        <p:attrNameLst>
                                          <p:attrName>style.visibility</p:attrName>
                                        </p:attrNameLst>
                                      </p:cBhvr>
                                      <p:to>
                                        <p:strVal val="visible"/>
                                      </p:to>
                                    </p:set>
                                    <p:animEffect filter="fade" transition="in">
                                      <p:cBhvr>
                                        <p:cTn dur="500"/>
                                        <p:tgtEl>
                                          <p:spTgt spid="1417"/>
                                        </p:tgtEl>
                                      </p:cBhvr>
                                    </p:animEffect>
                                  </p:childTnLst>
                                </p:cTn>
                              </p:par>
                              <p:par>
                                <p:cTn fill="hold" nodeType="withEffect" presetClass="entr" presetID="10" presetSubtype="0">
                                  <p:stCondLst>
                                    <p:cond delay="0"/>
                                  </p:stCondLst>
                                  <p:childTnLst>
                                    <p:set>
                                      <p:cBhvr>
                                        <p:cTn dur="1" fill="hold">
                                          <p:stCondLst>
                                            <p:cond delay="0"/>
                                          </p:stCondLst>
                                        </p:cTn>
                                        <p:tgtEl>
                                          <p:spTgt spid="1418"/>
                                        </p:tgtEl>
                                        <p:attrNameLst>
                                          <p:attrName>style.visibility</p:attrName>
                                        </p:attrNameLst>
                                      </p:cBhvr>
                                      <p:to>
                                        <p:strVal val="visible"/>
                                      </p:to>
                                    </p:set>
                                    <p:animEffect filter="fade" transition="in">
                                      <p:cBhvr>
                                        <p:cTn dur="500"/>
                                        <p:tgtEl>
                                          <p:spTgt spid="1418"/>
                                        </p:tgtEl>
                                      </p:cBhvr>
                                    </p:animEffect>
                                  </p:childTnLst>
                                </p:cTn>
                              </p:par>
                              <p:par>
                                <p:cTn fill="hold" nodeType="withEffect" presetClass="entr" presetID="10" presetSubtype="0">
                                  <p:stCondLst>
                                    <p:cond delay="0"/>
                                  </p:stCondLst>
                                  <p:childTnLst>
                                    <p:set>
                                      <p:cBhvr>
                                        <p:cTn dur="1" fill="hold">
                                          <p:stCondLst>
                                            <p:cond delay="0"/>
                                          </p:stCondLst>
                                        </p:cTn>
                                        <p:tgtEl>
                                          <p:spTgt spid="1419"/>
                                        </p:tgtEl>
                                        <p:attrNameLst>
                                          <p:attrName>style.visibility</p:attrName>
                                        </p:attrNameLst>
                                      </p:cBhvr>
                                      <p:to>
                                        <p:strVal val="visible"/>
                                      </p:to>
                                    </p:set>
                                    <p:animEffect filter="fade" transition="in">
                                      <p:cBhvr>
                                        <p:cTn dur="500"/>
                                        <p:tgtEl>
                                          <p:spTgt spid="1419"/>
                                        </p:tgtEl>
                                      </p:cBhvr>
                                    </p:animEffect>
                                  </p:childTnLst>
                                </p:cTn>
                              </p:par>
                              <p:par>
                                <p:cTn fill="hold" nodeType="withEffect" presetClass="entr" presetID="10" presetSubtype="0">
                                  <p:stCondLst>
                                    <p:cond delay="0"/>
                                  </p:stCondLst>
                                  <p:childTnLst>
                                    <p:set>
                                      <p:cBhvr>
                                        <p:cTn dur="1" fill="hold">
                                          <p:stCondLst>
                                            <p:cond delay="0"/>
                                          </p:stCondLst>
                                        </p:cTn>
                                        <p:tgtEl>
                                          <p:spTgt spid="1420"/>
                                        </p:tgtEl>
                                        <p:attrNameLst>
                                          <p:attrName>style.visibility</p:attrName>
                                        </p:attrNameLst>
                                      </p:cBhvr>
                                      <p:to>
                                        <p:strVal val="visible"/>
                                      </p:to>
                                    </p:set>
                                    <p:animEffect filter="fade" transition="in">
                                      <p:cBhvr>
                                        <p:cTn dur="500"/>
                                        <p:tgtEl>
                                          <p:spTgt spid="1420"/>
                                        </p:tgtEl>
                                      </p:cBhvr>
                                    </p:animEffect>
                                  </p:childTnLst>
                                </p:cTn>
                              </p:par>
                              <p:par>
                                <p:cTn fill="hold" nodeType="withEffect" presetClass="entr" presetID="10" presetSubtype="0">
                                  <p:stCondLst>
                                    <p:cond delay="0"/>
                                  </p:stCondLst>
                                  <p:childTnLst>
                                    <p:set>
                                      <p:cBhvr>
                                        <p:cTn dur="1" fill="hold">
                                          <p:stCondLst>
                                            <p:cond delay="0"/>
                                          </p:stCondLst>
                                        </p:cTn>
                                        <p:tgtEl>
                                          <p:spTgt spid="1421"/>
                                        </p:tgtEl>
                                        <p:attrNameLst>
                                          <p:attrName>style.visibility</p:attrName>
                                        </p:attrNameLst>
                                      </p:cBhvr>
                                      <p:to>
                                        <p:strVal val="visible"/>
                                      </p:to>
                                    </p:set>
                                    <p:animEffect filter="fade" transition="in">
                                      <p:cBhvr>
                                        <p:cTn dur="500"/>
                                        <p:tgtEl>
                                          <p:spTgt spid="1421"/>
                                        </p:tgtEl>
                                      </p:cBhvr>
                                    </p:animEffect>
                                  </p:childTnLst>
                                </p:cTn>
                              </p:par>
                              <p:par>
                                <p:cTn fill="hold" nodeType="withEffect" presetClass="entr" presetID="10" presetSubtype="0">
                                  <p:stCondLst>
                                    <p:cond delay="0"/>
                                  </p:stCondLst>
                                  <p:childTnLst>
                                    <p:set>
                                      <p:cBhvr>
                                        <p:cTn dur="1" fill="hold">
                                          <p:stCondLst>
                                            <p:cond delay="0"/>
                                          </p:stCondLst>
                                        </p:cTn>
                                        <p:tgtEl>
                                          <p:spTgt spid="1423"/>
                                        </p:tgtEl>
                                        <p:attrNameLst>
                                          <p:attrName>style.visibility</p:attrName>
                                        </p:attrNameLst>
                                      </p:cBhvr>
                                      <p:to>
                                        <p:strVal val="visible"/>
                                      </p:to>
                                    </p:set>
                                    <p:animEffect filter="fade" transition="in">
                                      <p:cBhvr>
                                        <p:cTn dur="500"/>
                                        <p:tgtEl>
                                          <p:spTgt spid="1423"/>
                                        </p:tgtEl>
                                      </p:cBhvr>
                                    </p:animEffect>
                                  </p:childTnLst>
                                </p:cTn>
                              </p:par>
                              <p:par>
                                <p:cTn fill="hold" nodeType="withEffect" presetClass="entr" presetID="10" presetSubtype="0">
                                  <p:stCondLst>
                                    <p:cond delay="0"/>
                                  </p:stCondLst>
                                  <p:childTnLst>
                                    <p:set>
                                      <p:cBhvr>
                                        <p:cTn dur="1" fill="hold">
                                          <p:stCondLst>
                                            <p:cond delay="0"/>
                                          </p:stCondLst>
                                        </p:cTn>
                                        <p:tgtEl>
                                          <p:spTgt spid="1422"/>
                                        </p:tgtEl>
                                        <p:attrNameLst>
                                          <p:attrName>style.visibility</p:attrName>
                                        </p:attrNameLst>
                                      </p:cBhvr>
                                      <p:to>
                                        <p:strVal val="visible"/>
                                      </p:to>
                                    </p:set>
                                    <p:animEffect filter="fade" transition="in">
                                      <p:cBhvr>
                                        <p:cTn dur="500"/>
                                        <p:tgtEl>
                                          <p:spTgt spid="1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4"/>
                                        </p:tgtEl>
                                        <p:attrNameLst>
                                          <p:attrName>style.visibility</p:attrName>
                                        </p:attrNameLst>
                                      </p:cBhvr>
                                      <p:to>
                                        <p:strVal val="visible"/>
                                      </p:to>
                                    </p:set>
                                    <p:animEffect filter="fade" transition="in">
                                      <p:cBhvr>
                                        <p:cTn dur="500"/>
                                        <p:tgtEl>
                                          <p:spTgt spid="1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60"/>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Summery of Symbols used in E-R diagram</a:t>
            </a:r>
            <a:endParaRPr/>
          </a:p>
        </p:txBody>
      </p:sp>
      <p:sp>
        <p:nvSpPr>
          <p:cNvPr id="1430" name="Google Shape;1430;p60"/>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t/>
            </a:r>
            <a:endParaRPr/>
          </a:p>
        </p:txBody>
      </p:sp>
      <p:sp>
        <p:nvSpPr>
          <p:cNvPr id="1431" name="Google Shape;1431;p60"/>
          <p:cNvSpPr/>
          <p:nvPr/>
        </p:nvSpPr>
        <p:spPr>
          <a:xfrm>
            <a:off x="540445" y="1219200"/>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Customer</a:t>
            </a:r>
            <a:endParaRPr sz="1800">
              <a:solidFill>
                <a:schemeClr val="dk1"/>
              </a:solidFill>
              <a:latin typeface="Roboto Condensed"/>
              <a:ea typeface="Roboto Condensed"/>
              <a:cs typeface="Roboto Condensed"/>
              <a:sym typeface="Roboto Condensed"/>
            </a:endParaRPr>
          </a:p>
        </p:txBody>
      </p:sp>
      <p:sp>
        <p:nvSpPr>
          <p:cNvPr id="1432" name="Google Shape;1432;p60"/>
          <p:cNvSpPr txBox="1"/>
          <p:nvPr/>
        </p:nvSpPr>
        <p:spPr>
          <a:xfrm>
            <a:off x="894230" y="1676400"/>
            <a:ext cx="9906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Entity</a:t>
            </a:r>
            <a:endParaRPr sz="1800">
              <a:solidFill>
                <a:schemeClr val="dk1"/>
              </a:solidFill>
              <a:latin typeface="Roboto Condensed"/>
              <a:ea typeface="Roboto Condensed"/>
              <a:cs typeface="Roboto Condensed"/>
              <a:sym typeface="Roboto Condensed"/>
            </a:endParaRPr>
          </a:p>
        </p:txBody>
      </p:sp>
      <p:sp>
        <p:nvSpPr>
          <p:cNvPr id="1433" name="Google Shape;1433;p60"/>
          <p:cNvSpPr/>
          <p:nvPr/>
        </p:nvSpPr>
        <p:spPr>
          <a:xfrm>
            <a:off x="540445" y="2286000"/>
            <a:ext cx="1698171" cy="4572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EmpID</a:t>
            </a:r>
            <a:endParaRPr sz="1800">
              <a:solidFill>
                <a:schemeClr val="dk1"/>
              </a:solidFill>
              <a:latin typeface="Roboto Condensed"/>
              <a:ea typeface="Roboto Condensed"/>
              <a:cs typeface="Roboto Condensed"/>
              <a:sym typeface="Roboto Condensed"/>
            </a:endParaRPr>
          </a:p>
        </p:txBody>
      </p:sp>
      <p:sp>
        <p:nvSpPr>
          <p:cNvPr id="1434" name="Google Shape;1434;p60"/>
          <p:cNvSpPr txBox="1"/>
          <p:nvPr/>
        </p:nvSpPr>
        <p:spPr>
          <a:xfrm>
            <a:off x="741530" y="2743200"/>
            <a:ext cx="1296000" cy="57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Primary Key</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Attribute</a:t>
            </a:r>
            <a:endParaRPr sz="1800">
              <a:solidFill>
                <a:schemeClr val="dk1"/>
              </a:solidFill>
              <a:latin typeface="Roboto Condensed"/>
              <a:ea typeface="Roboto Condensed"/>
              <a:cs typeface="Roboto Condensed"/>
              <a:sym typeface="Roboto Condensed"/>
            </a:endParaRPr>
          </a:p>
        </p:txBody>
      </p:sp>
      <p:sp>
        <p:nvSpPr>
          <p:cNvPr id="1435" name="Google Shape;1435;p60"/>
          <p:cNvSpPr/>
          <p:nvPr/>
        </p:nvSpPr>
        <p:spPr>
          <a:xfrm>
            <a:off x="568886" y="3595301"/>
            <a:ext cx="1698171"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Payment</a:t>
            </a:r>
            <a:endParaRPr sz="1800">
              <a:solidFill>
                <a:schemeClr val="dk1"/>
              </a:solidFill>
              <a:latin typeface="Roboto Condensed"/>
              <a:ea typeface="Roboto Condensed"/>
              <a:cs typeface="Roboto Condensed"/>
              <a:sym typeface="Roboto Condensed"/>
            </a:endParaRPr>
          </a:p>
        </p:txBody>
      </p:sp>
      <p:sp>
        <p:nvSpPr>
          <p:cNvPr id="1436" name="Google Shape;1436;p60"/>
          <p:cNvSpPr txBox="1"/>
          <p:nvPr/>
        </p:nvSpPr>
        <p:spPr>
          <a:xfrm>
            <a:off x="733971" y="4119330"/>
            <a:ext cx="12960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Weak Entity</a:t>
            </a:r>
            <a:endParaRPr sz="1800">
              <a:solidFill>
                <a:schemeClr val="dk1"/>
              </a:solidFill>
              <a:latin typeface="Roboto Condensed"/>
              <a:ea typeface="Roboto Condensed"/>
              <a:cs typeface="Roboto Condensed"/>
              <a:sym typeface="Roboto Condensed"/>
            </a:endParaRPr>
          </a:p>
        </p:txBody>
      </p:sp>
      <p:sp>
        <p:nvSpPr>
          <p:cNvPr id="1437" name="Google Shape;1437;p60"/>
          <p:cNvSpPr txBox="1"/>
          <p:nvPr/>
        </p:nvSpPr>
        <p:spPr>
          <a:xfrm>
            <a:off x="741530" y="5513677"/>
            <a:ext cx="1368000" cy="64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Total</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Participation</a:t>
            </a:r>
            <a:endParaRPr sz="1800">
              <a:solidFill>
                <a:schemeClr val="dk1"/>
              </a:solidFill>
              <a:latin typeface="Roboto Condensed"/>
              <a:ea typeface="Roboto Condensed"/>
              <a:cs typeface="Roboto Condensed"/>
              <a:sym typeface="Roboto Condensed"/>
            </a:endParaRPr>
          </a:p>
        </p:txBody>
      </p:sp>
      <p:sp>
        <p:nvSpPr>
          <p:cNvPr id="1438" name="Google Shape;1438;p60"/>
          <p:cNvSpPr/>
          <p:nvPr/>
        </p:nvSpPr>
        <p:spPr>
          <a:xfrm>
            <a:off x="4390783" y="1219200"/>
            <a:ext cx="1698171" cy="4572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sp>
        <p:nvSpPr>
          <p:cNvPr id="1439" name="Google Shape;1439;p60"/>
          <p:cNvSpPr txBox="1"/>
          <p:nvPr/>
        </p:nvSpPr>
        <p:spPr>
          <a:xfrm>
            <a:off x="4573868" y="1676400"/>
            <a:ext cx="1332000" cy="37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Attribute</a:t>
            </a:r>
            <a:endParaRPr sz="1800">
              <a:solidFill>
                <a:schemeClr val="dk1"/>
              </a:solidFill>
              <a:latin typeface="Roboto Condensed"/>
              <a:ea typeface="Roboto Condensed"/>
              <a:cs typeface="Roboto Condensed"/>
              <a:sym typeface="Roboto Condensed"/>
            </a:endParaRPr>
          </a:p>
        </p:txBody>
      </p:sp>
      <p:sp>
        <p:nvSpPr>
          <p:cNvPr id="1440" name="Google Shape;1440;p60"/>
          <p:cNvSpPr/>
          <p:nvPr/>
        </p:nvSpPr>
        <p:spPr>
          <a:xfrm>
            <a:off x="4390783" y="2286000"/>
            <a:ext cx="1698171" cy="457200"/>
          </a:xfrm>
          <a:prstGeom prst="ellipse">
            <a:avLst/>
          </a:prstGeom>
          <a:noFill/>
          <a:ln cap="flat" cmpd="sng" w="28575">
            <a:solidFill>
              <a:srgbClr val="C0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Age</a:t>
            </a:r>
            <a:endParaRPr/>
          </a:p>
        </p:txBody>
      </p:sp>
      <p:sp>
        <p:nvSpPr>
          <p:cNvPr id="1441" name="Google Shape;1441;p60"/>
          <p:cNvSpPr txBox="1"/>
          <p:nvPr/>
        </p:nvSpPr>
        <p:spPr>
          <a:xfrm>
            <a:off x="4717868" y="2743200"/>
            <a:ext cx="1044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Derived</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Attribute</a:t>
            </a:r>
            <a:endParaRPr sz="1800">
              <a:solidFill>
                <a:schemeClr val="dk1"/>
              </a:solidFill>
              <a:latin typeface="Roboto Condensed"/>
              <a:ea typeface="Roboto Condensed"/>
              <a:cs typeface="Roboto Condensed"/>
              <a:sym typeface="Roboto Condensed"/>
            </a:endParaRPr>
          </a:p>
        </p:txBody>
      </p:sp>
      <p:sp>
        <p:nvSpPr>
          <p:cNvPr id="1442" name="Google Shape;1442;p60"/>
          <p:cNvSpPr/>
          <p:nvPr/>
        </p:nvSpPr>
        <p:spPr>
          <a:xfrm>
            <a:off x="4378820" y="3580468"/>
            <a:ext cx="1698171" cy="4572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PymtID</a:t>
            </a:r>
            <a:endParaRPr sz="1800" u="sng">
              <a:solidFill>
                <a:schemeClr val="dk1"/>
              </a:solidFill>
              <a:latin typeface="Roboto Condensed"/>
              <a:ea typeface="Roboto Condensed"/>
              <a:cs typeface="Roboto Condensed"/>
              <a:sym typeface="Roboto Condensed"/>
            </a:endParaRPr>
          </a:p>
        </p:txBody>
      </p:sp>
      <p:sp>
        <p:nvSpPr>
          <p:cNvPr id="1443" name="Google Shape;1443;p60"/>
          <p:cNvSpPr txBox="1"/>
          <p:nvPr/>
        </p:nvSpPr>
        <p:spPr>
          <a:xfrm>
            <a:off x="4435905" y="4036200"/>
            <a:ext cx="1584000" cy="612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Discriminating</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Attribute</a:t>
            </a:r>
            <a:endParaRPr sz="1800">
              <a:solidFill>
                <a:schemeClr val="dk1"/>
              </a:solidFill>
              <a:latin typeface="Roboto Condensed"/>
              <a:ea typeface="Roboto Condensed"/>
              <a:cs typeface="Roboto Condensed"/>
              <a:sym typeface="Roboto Condensed"/>
            </a:endParaRPr>
          </a:p>
        </p:txBody>
      </p:sp>
      <p:sp>
        <p:nvSpPr>
          <p:cNvPr id="1444" name="Google Shape;1444;p60"/>
          <p:cNvSpPr/>
          <p:nvPr/>
        </p:nvSpPr>
        <p:spPr>
          <a:xfrm>
            <a:off x="7736962" y="1219200"/>
            <a:ext cx="1698171" cy="457200"/>
          </a:xfrm>
          <a:prstGeom prst="diamond">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Hold</a:t>
            </a:r>
            <a:endParaRPr sz="1800">
              <a:solidFill>
                <a:schemeClr val="dk1"/>
              </a:solidFill>
              <a:latin typeface="Roboto Condensed"/>
              <a:ea typeface="Roboto Condensed"/>
              <a:cs typeface="Roboto Condensed"/>
              <a:sym typeface="Roboto Condensed"/>
            </a:endParaRPr>
          </a:p>
        </p:txBody>
      </p:sp>
      <p:sp>
        <p:nvSpPr>
          <p:cNvPr id="1445" name="Google Shape;1445;p60"/>
          <p:cNvSpPr txBox="1"/>
          <p:nvPr/>
        </p:nvSpPr>
        <p:spPr>
          <a:xfrm>
            <a:off x="7920047" y="1676400"/>
            <a:ext cx="1332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Relationship</a:t>
            </a:r>
            <a:endParaRPr sz="1800">
              <a:solidFill>
                <a:schemeClr val="dk1"/>
              </a:solidFill>
              <a:latin typeface="Roboto Condensed"/>
              <a:ea typeface="Roboto Condensed"/>
              <a:cs typeface="Roboto Condensed"/>
              <a:sym typeface="Roboto Condensed"/>
            </a:endParaRPr>
          </a:p>
        </p:txBody>
      </p:sp>
      <p:sp>
        <p:nvSpPr>
          <p:cNvPr id="1446" name="Google Shape;1446;p60"/>
          <p:cNvSpPr/>
          <p:nvPr/>
        </p:nvSpPr>
        <p:spPr>
          <a:xfrm>
            <a:off x="7736962" y="2270869"/>
            <a:ext cx="1698171" cy="4572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PhoneNo</a:t>
            </a:r>
            <a:endParaRPr sz="1800">
              <a:solidFill>
                <a:schemeClr val="dk1"/>
              </a:solidFill>
              <a:latin typeface="Roboto Condensed"/>
              <a:ea typeface="Roboto Condensed"/>
              <a:cs typeface="Roboto Condensed"/>
              <a:sym typeface="Roboto Condensed"/>
            </a:endParaRPr>
          </a:p>
        </p:txBody>
      </p:sp>
      <p:sp>
        <p:nvSpPr>
          <p:cNvPr id="1447" name="Google Shape;1447;p60"/>
          <p:cNvSpPr txBox="1"/>
          <p:nvPr/>
        </p:nvSpPr>
        <p:spPr>
          <a:xfrm>
            <a:off x="7902047" y="2813531"/>
            <a:ext cx="1368000" cy="57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Multi Valued Attribute</a:t>
            </a:r>
            <a:endParaRPr sz="1800">
              <a:solidFill>
                <a:schemeClr val="dk1"/>
              </a:solidFill>
              <a:latin typeface="Roboto Condensed"/>
              <a:ea typeface="Roboto Condensed"/>
              <a:cs typeface="Roboto Condensed"/>
              <a:sym typeface="Roboto Condensed"/>
            </a:endParaRPr>
          </a:p>
        </p:txBody>
      </p:sp>
      <p:sp>
        <p:nvSpPr>
          <p:cNvPr id="1448" name="Google Shape;1448;p60"/>
          <p:cNvSpPr/>
          <p:nvPr/>
        </p:nvSpPr>
        <p:spPr>
          <a:xfrm>
            <a:off x="7746727" y="3595856"/>
            <a:ext cx="1698171" cy="457200"/>
          </a:xfrm>
          <a:prstGeom prst="flowChartDecision">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Issue</a:t>
            </a:r>
            <a:endParaRPr sz="1800">
              <a:solidFill>
                <a:schemeClr val="dk1"/>
              </a:solidFill>
              <a:latin typeface="Roboto Condensed"/>
              <a:ea typeface="Roboto Condensed"/>
              <a:cs typeface="Roboto Condensed"/>
              <a:sym typeface="Roboto Condensed"/>
            </a:endParaRPr>
          </a:p>
        </p:txBody>
      </p:sp>
      <p:sp>
        <p:nvSpPr>
          <p:cNvPr id="1449" name="Google Shape;1449;p60"/>
          <p:cNvSpPr txBox="1"/>
          <p:nvPr/>
        </p:nvSpPr>
        <p:spPr>
          <a:xfrm>
            <a:off x="7929812" y="4063094"/>
            <a:ext cx="1332000" cy="612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Weak Entity</a:t>
            </a:r>
            <a:endParaRPr sz="1800">
              <a:solidFill>
                <a:schemeClr val="dk1"/>
              </a:solidFill>
              <a:latin typeface="Roboto Condensed"/>
              <a:ea typeface="Roboto Condensed"/>
              <a:cs typeface="Roboto Condensed"/>
              <a:sym typeface="Roboto Condensed"/>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Relationship</a:t>
            </a:r>
            <a:endParaRPr sz="1800">
              <a:solidFill>
                <a:schemeClr val="dk1"/>
              </a:solidFill>
              <a:latin typeface="Roboto Condensed"/>
              <a:ea typeface="Roboto Condensed"/>
              <a:cs typeface="Roboto Condensed"/>
              <a:sym typeface="Roboto Condensed"/>
            </a:endParaRPr>
          </a:p>
        </p:txBody>
      </p:sp>
      <p:sp>
        <p:nvSpPr>
          <p:cNvPr id="1450" name="Google Shape;1450;p60"/>
          <p:cNvSpPr/>
          <p:nvPr/>
        </p:nvSpPr>
        <p:spPr>
          <a:xfrm>
            <a:off x="7863937" y="5029200"/>
            <a:ext cx="1260000" cy="457200"/>
          </a:xfrm>
          <a:prstGeom prst="flowChartMerge">
            <a:avLst/>
          </a:prstGeom>
          <a:noFill/>
          <a:ln cap="flat" cmpd="sng" w="28575">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a:p>
        </p:txBody>
      </p:sp>
      <p:sp>
        <p:nvSpPr>
          <p:cNvPr id="1451" name="Google Shape;1451;p60"/>
          <p:cNvSpPr txBox="1"/>
          <p:nvPr/>
        </p:nvSpPr>
        <p:spPr>
          <a:xfrm>
            <a:off x="7692227" y="5562600"/>
            <a:ext cx="1584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Specialization/</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Generalization</a:t>
            </a:r>
            <a:endParaRPr sz="1800">
              <a:solidFill>
                <a:schemeClr val="dk1"/>
              </a:solidFill>
              <a:latin typeface="Roboto Condensed"/>
              <a:ea typeface="Roboto Condensed"/>
              <a:cs typeface="Roboto Condensed"/>
              <a:sym typeface="Roboto Condensed"/>
            </a:endParaRPr>
          </a:p>
        </p:txBody>
      </p:sp>
      <p:sp>
        <p:nvSpPr>
          <p:cNvPr id="1452" name="Google Shape;1452;p60"/>
          <p:cNvSpPr/>
          <p:nvPr/>
        </p:nvSpPr>
        <p:spPr>
          <a:xfrm>
            <a:off x="7650047" y="2175469"/>
            <a:ext cx="1872000" cy="64800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453" name="Google Shape;1453;p60"/>
          <p:cNvSpPr/>
          <p:nvPr/>
        </p:nvSpPr>
        <p:spPr>
          <a:xfrm>
            <a:off x="481971" y="3527330"/>
            <a:ext cx="1872000" cy="59314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Roboto Condensed"/>
              <a:ea typeface="Roboto Condensed"/>
              <a:cs typeface="Roboto Condensed"/>
              <a:sym typeface="Roboto Condensed"/>
            </a:endParaRPr>
          </a:p>
        </p:txBody>
      </p:sp>
      <p:sp>
        <p:nvSpPr>
          <p:cNvPr id="1454" name="Google Shape;1454;p60"/>
          <p:cNvSpPr/>
          <p:nvPr/>
        </p:nvSpPr>
        <p:spPr>
          <a:xfrm>
            <a:off x="7566212" y="3527330"/>
            <a:ext cx="2059200" cy="594252"/>
          </a:xfrm>
          <a:prstGeom prst="flowChartDecision">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u="sng">
              <a:solidFill>
                <a:schemeClr val="dk1"/>
              </a:solidFill>
              <a:latin typeface="Roboto Condensed"/>
              <a:ea typeface="Roboto Condensed"/>
              <a:cs typeface="Roboto Condensed"/>
              <a:sym typeface="Roboto Condensed"/>
            </a:endParaRPr>
          </a:p>
        </p:txBody>
      </p:sp>
      <p:sp>
        <p:nvSpPr>
          <p:cNvPr id="1455" name="Google Shape;1455;p60"/>
          <p:cNvSpPr/>
          <p:nvPr/>
        </p:nvSpPr>
        <p:spPr>
          <a:xfrm>
            <a:off x="1683444" y="5013278"/>
            <a:ext cx="1016909" cy="457200"/>
          </a:xfrm>
          <a:prstGeom prst="diamond">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a:t>
            </a:r>
            <a:endParaRPr sz="1800">
              <a:solidFill>
                <a:schemeClr val="dk1"/>
              </a:solidFill>
              <a:latin typeface="Roboto Condensed"/>
              <a:ea typeface="Roboto Condensed"/>
              <a:cs typeface="Roboto Condensed"/>
              <a:sym typeface="Roboto Condensed"/>
            </a:endParaRPr>
          </a:p>
        </p:txBody>
      </p:sp>
      <p:sp>
        <p:nvSpPr>
          <p:cNvPr id="1456" name="Google Shape;1456;p60"/>
          <p:cNvSpPr/>
          <p:nvPr/>
        </p:nvSpPr>
        <p:spPr>
          <a:xfrm>
            <a:off x="297674" y="5014403"/>
            <a:ext cx="876703"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cxnSp>
        <p:nvCxnSpPr>
          <p:cNvPr id="1457" name="Google Shape;1457;p60"/>
          <p:cNvCxnSpPr/>
          <p:nvPr/>
        </p:nvCxnSpPr>
        <p:spPr>
          <a:xfrm flipH="1">
            <a:off x="1174376" y="5172363"/>
            <a:ext cx="684000" cy="1125"/>
          </a:xfrm>
          <a:prstGeom prst="straightConnector1">
            <a:avLst/>
          </a:prstGeom>
          <a:noFill/>
          <a:ln cap="flat" cmpd="sng" w="28575">
            <a:solidFill>
              <a:srgbClr val="C00000"/>
            </a:solidFill>
            <a:prstDash val="solid"/>
            <a:miter lim="800000"/>
            <a:headEnd len="sm" w="sm" type="none"/>
            <a:tailEnd len="sm" w="sm" type="none"/>
          </a:ln>
        </p:spPr>
      </p:cxnSp>
      <p:cxnSp>
        <p:nvCxnSpPr>
          <p:cNvPr id="1458" name="Google Shape;1458;p60"/>
          <p:cNvCxnSpPr/>
          <p:nvPr/>
        </p:nvCxnSpPr>
        <p:spPr>
          <a:xfrm flipH="1">
            <a:off x="1174376" y="5323638"/>
            <a:ext cx="684000" cy="1125"/>
          </a:xfrm>
          <a:prstGeom prst="straightConnector1">
            <a:avLst/>
          </a:prstGeom>
          <a:noFill/>
          <a:ln cap="flat" cmpd="sng" w="28575">
            <a:solidFill>
              <a:srgbClr val="C00000"/>
            </a:solidFill>
            <a:prstDash val="solid"/>
            <a:miter lim="800000"/>
            <a:headEnd len="sm" w="sm" type="none"/>
            <a:tailEnd len="sm" w="sm" type="none"/>
          </a:ln>
        </p:spPr>
      </p:cxnSp>
      <p:sp>
        <p:nvSpPr>
          <p:cNvPr id="1459" name="Google Shape;1459;p60"/>
          <p:cNvSpPr txBox="1"/>
          <p:nvPr/>
        </p:nvSpPr>
        <p:spPr>
          <a:xfrm>
            <a:off x="4477971" y="5504885"/>
            <a:ext cx="1368000" cy="64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Role</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Indicator</a:t>
            </a:r>
            <a:endParaRPr sz="1800">
              <a:solidFill>
                <a:schemeClr val="dk1"/>
              </a:solidFill>
              <a:latin typeface="Roboto Condensed"/>
              <a:ea typeface="Roboto Condensed"/>
              <a:cs typeface="Roboto Condensed"/>
              <a:sym typeface="Roboto Condensed"/>
            </a:endParaRPr>
          </a:p>
        </p:txBody>
      </p:sp>
      <p:sp>
        <p:nvSpPr>
          <p:cNvPr id="1460" name="Google Shape;1460;p60"/>
          <p:cNvSpPr/>
          <p:nvPr/>
        </p:nvSpPr>
        <p:spPr>
          <a:xfrm>
            <a:off x="5419885" y="5004486"/>
            <a:ext cx="1016909" cy="457200"/>
          </a:xfrm>
          <a:prstGeom prst="diamond">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R</a:t>
            </a:r>
            <a:endParaRPr sz="1800">
              <a:solidFill>
                <a:schemeClr val="dk1"/>
              </a:solidFill>
              <a:latin typeface="Roboto Condensed"/>
              <a:ea typeface="Roboto Condensed"/>
              <a:cs typeface="Roboto Condensed"/>
              <a:sym typeface="Roboto Condensed"/>
            </a:endParaRPr>
          </a:p>
        </p:txBody>
      </p:sp>
      <p:sp>
        <p:nvSpPr>
          <p:cNvPr id="1461" name="Google Shape;1461;p60"/>
          <p:cNvSpPr/>
          <p:nvPr/>
        </p:nvSpPr>
        <p:spPr>
          <a:xfrm>
            <a:off x="4034115" y="5005611"/>
            <a:ext cx="876703" cy="457200"/>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cxnSp>
        <p:nvCxnSpPr>
          <p:cNvPr id="1462" name="Google Shape;1462;p60"/>
          <p:cNvCxnSpPr/>
          <p:nvPr/>
        </p:nvCxnSpPr>
        <p:spPr>
          <a:xfrm flipH="1">
            <a:off x="4904533" y="5229557"/>
            <a:ext cx="540000" cy="1125"/>
          </a:xfrm>
          <a:prstGeom prst="straightConnector1">
            <a:avLst/>
          </a:prstGeom>
          <a:noFill/>
          <a:ln cap="flat" cmpd="sng" w="28575">
            <a:solidFill>
              <a:srgbClr val="C00000"/>
            </a:solidFill>
            <a:prstDash val="solid"/>
            <a:miter lim="800000"/>
            <a:headEnd len="sm" w="sm" type="none"/>
            <a:tailEnd len="sm" w="sm" type="none"/>
          </a:ln>
        </p:spPr>
      </p:cxnSp>
      <p:sp>
        <p:nvSpPr>
          <p:cNvPr id="1463" name="Google Shape;1463;p60"/>
          <p:cNvSpPr txBox="1"/>
          <p:nvPr/>
        </p:nvSpPr>
        <p:spPr>
          <a:xfrm>
            <a:off x="4910115" y="4800600"/>
            <a:ext cx="648000" cy="360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Roboto Condensed"/>
                <a:ea typeface="Roboto Condensed"/>
                <a:cs typeface="Roboto Condensed"/>
                <a:sym typeface="Roboto Condensed"/>
              </a:rPr>
              <a:t>Role</a:t>
            </a:r>
            <a:endParaRPr/>
          </a:p>
          <a:p>
            <a:pPr indent="0" lvl="0" marL="0" marR="0" rtl="0" algn="ctr">
              <a:spcBef>
                <a:spcPts val="0"/>
              </a:spcBef>
              <a:spcAft>
                <a:spcPts val="0"/>
              </a:spcAft>
              <a:buNone/>
            </a:pPr>
            <a:r>
              <a:rPr lang="en-US" sz="1400">
                <a:solidFill>
                  <a:schemeClr val="dk1"/>
                </a:solidFill>
                <a:latin typeface="Roboto Condensed"/>
                <a:ea typeface="Roboto Condensed"/>
                <a:cs typeface="Roboto Condensed"/>
                <a:sym typeface="Roboto Condensed"/>
              </a:rPr>
              <a:t>Name</a:t>
            </a:r>
            <a:endParaRPr sz="1400">
              <a:solidFill>
                <a:schemeClr val="dk1"/>
              </a:solidFill>
              <a:latin typeface="Roboto Condensed"/>
              <a:ea typeface="Roboto Condensed"/>
              <a:cs typeface="Roboto Condensed"/>
              <a:sym typeface="Roboto Condensed"/>
            </a:endParaRPr>
          </a:p>
        </p:txBody>
      </p:sp>
      <p:cxnSp>
        <p:nvCxnSpPr>
          <p:cNvPr id="1464" name="Google Shape;1464;p60"/>
          <p:cNvCxnSpPr>
            <a:stCxn id="1450" idx="0"/>
          </p:cNvCxnSpPr>
          <p:nvPr/>
        </p:nvCxnSpPr>
        <p:spPr>
          <a:xfrm rot="10800000">
            <a:off x="8493937" y="4724400"/>
            <a:ext cx="0" cy="304800"/>
          </a:xfrm>
          <a:prstGeom prst="straightConnector1">
            <a:avLst/>
          </a:prstGeom>
          <a:noFill/>
          <a:ln cap="flat" cmpd="sng" w="28575">
            <a:solidFill>
              <a:srgbClr val="C00000"/>
            </a:solidFill>
            <a:prstDash val="solid"/>
            <a:miter lim="800000"/>
            <a:headEnd len="sm" w="sm" type="none"/>
            <a:tailEnd len="sm" w="sm" type="none"/>
          </a:ln>
        </p:spPr>
      </p:cxnSp>
      <p:cxnSp>
        <p:nvCxnSpPr>
          <p:cNvPr id="1465" name="Google Shape;1465;p60"/>
          <p:cNvCxnSpPr>
            <a:endCxn id="1450" idx="1"/>
          </p:cNvCxnSpPr>
          <p:nvPr/>
        </p:nvCxnSpPr>
        <p:spPr>
          <a:xfrm flipH="1" rot="10800000">
            <a:off x="7863937" y="5257800"/>
            <a:ext cx="315000" cy="255900"/>
          </a:xfrm>
          <a:prstGeom prst="straightConnector1">
            <a:avLst/>
          </a:prstGeom>
          <a:noFill/>
          <a:ln cap="flat" cmpd="sng" w="28575">
            <a:solidFill>
              <a:srgbClr val="C00000"/>
            </a:solidFill>
            <a:prstDash val="solid"/>
            <a:miter lim="800000"/>
            <a:headEnd len="sm" w="sm" type="none"/>
            <a:tailEnd len="sm" w="sm" type="none"/>
          </a:ln>
        </p:spPr>
      </p:cxnSp>
      <p:cxnSp>
        <p:nvCxnSpPr>
          <p:cNvPr id="1466" name="Google Shape;1466;p60"/>
          <p:cNvCxnSpPr>
            <a:endCxn id="1450" idx="3"/>
          </p:cNvCxnSpPr>
          <p:nvPr/>
        </p:nvCxnSpPr>
        <p:spPr>
          <a:xfrm rot="10800000">
            <a:off x="8808937" y="5257800"/>
            <a:ext cx="315000" cy="247200"/>
          </a:xfrm>
          <a:prstGeom prst="straightConnector1">
            <a:avLst/>
          </a:prstGeom>
          <a:noFill/>
          <a:ln cap="flat" cmpd="sng" w="28575">
            <a:solidFill>
              <a:srgbClr val="C00000"/>
            </a:solidFill>
            <a:prstDash val="solid"/>
            <a:miter lim="800000"/>
            <a:headEnd len="sm" w="sm" type="none"/>
            <a:tailEnd len="sm" w="sm"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61"/>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Summery of Symbols used in E-R diagram</a:t>
            </a:r>
            <a:endParaRPr/>
          </a:p>
        </p:txBody>
      </p:sp>
      <p:sp>
        <p:nvSpPr>
          <p:cNvPr id="1472" name="Google Shape;1472;p61"/>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t/>
            </a:r>
            <a:endParaRPr/>
          </a:p>
        </p:txBody>
      </p:sp>
      <p:sp>
        <p:nvSpPr>
          <p:cNvPr id="1473" name="Google Shape;1473;p61"/>
          <p:cNvSpPr txBox="1"/>
          <p:nvPr/>
        </p:nvSpPr>
        <p:spPr>
          <a:xfrm>
            <a:off x="1890268" y="2102779"/>
            <a:ext cx="1368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One to One</a:t>
            </a:r>
            <a:endParaRPr sz="1800">
              <a:solidFill>
                <a:schemeClr val="dk1"/>
              </a:solidFill>
              <a:latin typeface="Roboto Condensed"/>
              <a:ea typeface="Roboto Condensed"/>
              <a:cs typeface="Roboto Condensed"/>
              <a:sym typeface="Roboto Condensed"/>
            </a:endParaRPr>
          </a:p>
        </p:txBody>
      </p:sp>
      <p:sp>
        <p:nvSpPr>
          <p:cNvPr id="1474" name="Google Shape;1474;p61"/>
          <p:cNvSpPr/>
          <p:nvPr/>
        </p:nvSpPr>
        <p:spPr>
          <a:xfrm>
            <a:off x="2070182" y="1602380"/>
            <a:ext cx="1016909" cy="457200"/>
          </a:xfrm>
          <a:prstGeom prst="diamond">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a:t>
            </a:r>
            <a:endParaRPr sz="2000">
              <a:solidFill>
                <a:schemeClr val="dk1"/>
              </a:solidFill>
              <a:latin typeface="Roboto Condensed"/>
              <a:ea typeface="Roboto Condensed"/>
              <a:cs typeface="Roboto Condensed"/>
              <a:sym typeface="Roboto Condensed"/>
            </a:endParaRPr>
          </a:p>
        </p:txBody>
      </p:sp>
      <p:sp>
        <p:nvSpPr>
          <p:cNvPr id="1475" name="Google Shape;1475;p61"/>
          <p:cNvSpPr/>
          <p:nvPr/>
        </p:nvSpPr>
        <p:spPr>
          <a:xfrm>
            <a:off x="684412" y="1603505"/>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sp>
        <p:nvSpPr>
          <p:cNvPr id="1476" name="Google Shape;1476;p61"/>
          <p:cNvSpPr/>
          <p:nvPr/>
        </p:nvSpPr>
        <p:spPr>
          <a:xfrm>
            <a:off x="3617394" y="1600968"/>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cxnSp>
        <p:nvCxnSpPr>
          <p:cNvPr id="1477" name="Google Shape;1477;p61"/>
          <p:cNvCxnSpPr/>
          <p:nvPr/>
        </p:nvCxnSpPr>
        <p:spPr>
          <a:xfrm flipH="1">
            <a:off x="3057890" y="2876609"/>
            <a:ext cx="540000" cy="1125"/>
          </a:xfrm>
          <a:prstGeom prst="straightConnector1">
            <a:avLst/>
          </a:prstGeom>
          <a:noFill/>
          <a:ln cap="flat" cmpd="sng" w="28575">
            <a:solidFill>
              <a:schemeClr val="accent6"/>
            </a:solidFill>
            <a:prstDash val="solid"/>
            <a:miter lim="800000"/>
            <a:headEnd len="sm" w="sm" type="none"/>
            <a:tailEnd len="sm" w="sm" type="none"/>
          </a:ln>
        </p:spPr>
      </p:cxnSp>
      <p:cxnSp>
        <p:nvCxnSpPr>
          <p:cNvPr id="1478" name="Google Shape;1478;p61"/>
          <p:cNvCxnSpPr/>
          <p:nvPr/>
        </p:nvCxnSpPr>
        <p:spPr>
          <a:xfrm rot="10800000">
            <a:off x="1552185" y="1827993"/>
            <a:ext cx="540000" cy="0"/>
          </a:xfrm>
          <a:prstGeom prst="straightConnector1">
            <a:avLst/>
          </a:prstGeom>
          <a:noFill/>
          <a:ln cap="flat" cmpd="sng" w="28575">
            <a:solidFill>
              <a:schemeClr val="accent6"/>
            </a:solidFill>
            <a:prstDash val="solid"/>
            <a:miter lim="800000"/>
            <a:headEnd len="sm" w="sm" type="none"/>
            <a:tailEnd len="med" w="med" type="triangle"/>
          </a:ln>
        </p:spPr>
      </p:cxnSp>
      <p:cxnSp>
        <p:nvCxnSpPr>
          <p:cNvPr id="1479" name="Google Shape;1479;p61"/>
          <p:cNvCxnSpPr/>
          <p:nvPr/>
        </p:nvCxnSpPr>
        <p:spPr>
          <a:xfrm>
            <a:off x="3077394" y="1827993"/>
            <a:ext cx="540000" cy="0"/>
          </a:xfrm>
          <a:prstGeom prst="straightConnector1">
            <a:avLst/>
          </a:prstGeom>
          <a:noFill/>
          <a:ln cap="flat" cmpd="sng" w="28575">
            <a:solidFill>
              <a:schemeClr val="accent6"/>
            </a:solidFill>
            <a:prstDash val="solid"/>
            <a:miter lim="800000"/>
            <a:headEnd len="sm" w="sm" type="none"/>
            <a:tailEnd len="med" w="med" type="triangle"/>
          </a:ln>
        </p:spPr>
      </p:cxnSp>
      <p:sp>
        <p:nvSpPr>
          <p:cNvPr id="1480" name="Google Shape;1480;p61"/>
          <p:cNvSpPr txBox="1"/>
          <p:nvPr/>
        </p:nvSpPr>
        <p:spPr>
          <a:xfrm>
            <a:off x="1867856" y="3148377"/>
            <a:ext cx="1404000" cy="37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One to Many</a:t>
            </a:r>
            <a:endParaRPr sz="1800">
              <a:solidFill>
                <a:schemeClr val="dk1"/>
              </a:solidFill>
              <a:latin typeface="Roboto Condensed"/>
              <a:ea typeface="Roboto Condensed"/>
              <a:cs typeface="Roboto Condensed"/>
              <a:sym typeface="Roboto Condensed"/>
            </a:endParaRPr>
          </a:p>
        </p:txBody>
      </p:sp>
      <p:sp>
        <p:nvSpPr>
          <p:cNvPr id="1481" name="Google Shape;1481;p61"/>
          <p:cNvSpPr/>
          <p:nvPr/>
        </p:nvSpPr>
        <p:spPr>
          <a:xfrm>
            <a:off x="2047770" y="2647978"/>
            <a:ext cx="1016909" cy="457200"/>
          </a:xfrm>
          <a:prstGeom prst="diamond">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a:t>
            </a:r>
            <a:endParaRPr sz="2000">
              <a:solidFill>
                <a:schemeClr val="dk1"/>
              </a:solidFill>
              <a:latin typeface="Roboto Condensed"/>
              <a:ea typeface="Roboto Condensed"/>
              <a:cs typeface="Roboto Condensed"/>
              <a:sym typeface="Roboto Condensed"/>
            </a:endParaRPr>
          </a:p>
        </p:txBody>
      </p:sp>
      <p:sp>
        <p:nvSpPr>
          <p:cNvPr id="1482" name="Google Shape;1482;p61"/>
          <p:cNvSpPr/>
          <p:nvPr/>
        </p:nvSpPr>
        <p:spPr>
          <a:xfrm>
            <a:off x="662000" y="2649103"/>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sp>
        <p:nvSpPr>
          <p:cNvPr id="1483" name="Google Shape;1483;p61"/>
          <p:cNvSpPr/>
          <p:nvPr/>
        </p:nvSpPr>
        <p:spPr>
          <a:xfrm>
            <a:off x="3594982" y="2646566"/>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cxnSp>
        <p:nvCxnSpPr>
          <p:cNvPr id="1484" name="Google Shape;1484;p61"/>
          <p:cNvCxnSpPr/>
          <p:nvPr/>
        </p:nvCxnSpPr>
        <p:spPr>
          <a:xfrm rot="10800000">
            <a:off x="1529773" y="2873591"/>
            <a:ext cx="540000" cy="0"/>
          </a:xfrm>
          <a:prstGeom prst="straightConnector1">
            <a:avLst/>
          </a:prstGeom>
          <a:noFill/>
          <a:ln cap="flat" cmpd="sng" w="28575">
            <a:solidFill>
              <a:schemeClr val="accent6"/>
            </a:solidFill>
            <a:prstDash val="solid"/>
            <a:miter lim="800000"/>
            <a:headEnd len="sm" w="sm" type="none"/>
            <a:tailEnd len="med" w="med" type="triangle"/>
          </a:ln>
        </p:spPr>
      </p:cxnSp>
      <p:sp>
        <p:nvSpPr>
          <p:cNvPr id="1485" name="Google Shape;1485;p61"/>
          <p:cNvSpPr txBox="1"/>
          <p:nvPr/>
        </p:nvSpPr>
        <p:spPr>
          <a:xfrm>
            <a:off x="1860288" y="4142929"/>
            <a:ext cx="1404000" cy="37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Many to One</a:t>
            </a:r>
            <a:endParaRPr sz="1800">
              <a:solidFill>
                <a:schemeClr val="dk1"/>
              </a:solidFill>
              <a:latin typeface="Roboto Condensed"/>
              <a:ea typeface="Roboto Condensed"/>
              <a:cs typeface="Roboto Condensed"/>
              <a:sym typeface="Roboto Condensed"/>
            </a:endParaRPr>
          </a:p>
        </p:txBody>
      </p:sp>
      <p:sp>
        <p:nvSpPr>
          <p:cNvPr id="1486" name="Google Shape;1486;p61"/>
          <p:cNvSpPr/>
          <p:nvPr/>
        </p:nvSpPr>
        <p:spPr>
          <a:xfrm>
            <a:off x="2040202" y="3642530"/>
            <a:ext cx="1016909" cy="457200"/>
          </a:xfrm>
          <a:prstGeom prst="diamond">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a:t>
            </a:r>
            <a:endParaRPr sz="2000">
              <a:solidFill>
                <a:schemeClr val="dk1"/>
              </a:solidFill>
              <a:latin typeface="Roboto Condensed"/>
              <a:ea typeface="Roboto Condensed"/>
              <a:cs typeface="Roboto Condensed"/>
              <a:sym typeface="Roboto Condensed"/>
            </a:endParaRPr>
          </a:p>
        </p:txBody>
      </p:sp>
      <p:sp>
        <p:nvSpPr>
          <p:cNvPr id="1487" name="Google Shape;1487;p61"/>
          <p:cNvSpPr/>
          <p:nvPr/>
        </p:nvSpPr>
        <p:spPr>
          <a:xfrm>
            <a:off x="654432" y="3643655"/>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sp>
        <p:nvSpPr>
          <p:cNvPr id="1488" name="Google Shape;1488;p61"/>
          <p:cNvSpPr/>
          <p:nvPr/>
        </p:nvSpPr>
        <p:spPr>
          <a:xfrm>
            <a:off x="3587414" y="3641118"/>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cxnSp>
        <p:nvCxnSpPr>
          <p:cNvPr id="1489" name="Google Shape;1489;p61"/>
          <p:cNvCxnSpPr/>
          <p:nvPr/>
        </p:nvCxnSpPr>
        <p:spPr>
          <a:xfrm>
            <a:off x="3050432" y="3870748"/>
            <a:ext cx="540000" cy="0"/>
          </a:xfrm>
          <a:prstGeom prst="straightConnector1">
            <a:avLst/>
          </a:prstGeom>
          <a:noFill/>
          <a:ln cap="flat" cmpd="sng" w="28575">
            <a:solidFill>
              <a:schemeClr val="accent6"/>
            </a:solidFill>
            <a:prstDash val="solid"/>
            <a:miter lim="800000"/>
            <a:headEnd len="sm" w="sm" type="none"/>
            <a:tailEnd len="med" w="med" type="triangle"/>
          </a:ln>
        </p:spPr>
      </p:cxnSp>
      <p:cxnSp>
        <p:nvCxnSpPr>
          <p:cNvPr id="1490" name="Google Shape;1490;p61"/>
          <p:cNvCxnSpPr/>
          <p:nvPr/>
        </p:nvCxnSpPr>
        <p:spPr>
          <a:xfrm flipH="1">
            <a:off x="1527992" y="3871435"/>
            <a:ext cx="540000" cy="1125"/>
          </a:xfrm>
          <a:prstGeom prst="straightConnector1">
            <a:avLst/>
          </a:prstGeom>
          <a:noFill/>
          <a:ln cap="flat" cmpd="sng" w="28575">
            <a:solidFill>
              <a:schemeClr val="accent6"/>
            </a:solidFill>
            <a:prstDash val="solid"/>
            <a:miter lim="800000"/>
            <a:headEnd len="sm" w="sm" type="none"/>
            <a:tailEnd len="sm" w="sm" type="none"/>
          </a:ln>
        </p:spPr>
      </p:cxnSp>
      <p:sp>
        <p:nvSpPr>
          <p:cNvPr id="1491" name="Google Shape;1491;p61"/>
          <p:cNvSpPr txBox="1"/>
          <p:nvPr/>
        </p:nvSpPr>
        <p:spPr>
          <a:xfrm>
            <a:off x="1770663" y="5200764"/>
            <a:ext cx="1548000" cy="37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Many to Many</a:t>
            </a:r>
            <a:endParaRPr sz="1800">
              <a:solidFill>
                <a:schemeClr val="dk1"/>
              </a:solidFill>
              <a:latin typeface="Roboto Condensed"/>
              <a:ea typeface="Roboto Condensed"/>
              <a:cs typeface="Roboto Condensed"/>
              <a:sym typeface="Roboto Condensed"/>
            </a:endParaRPr>
          </a:p>
        </p:txBody>
      </p:sp>
      <p:sp>
        <p:nvSpPr>
          <p:cNvPr id="1492" name="Google Shape;1492;p61"/>
          <p:cNvSpPr/>
          <p:nvPr/>
        </p:nvSpPr>
        <p:spPr>
          <a:xfrm>
            <a:off x="2040517" y="4700365"/>
            <a:ext cx="1016909" cy="457200"/>
          </a:xfrm>
          <a:prstGeom prst="diamond">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Roboto Condensed"/>
                <a:ea typeface="Roboto Condensed"/>
                <a:cs typeface="Roboto Condensed"/>
                <a:sym typeface="Roboto Condensed"/>
              </a:rPr>
              <a:t>R</a:t>
            </a:r>
            <a:endParaRPr sz="2000">
              <a:solidFill>
                <a:schemeClr val="dk1"/>
              </a:solidFill>
              <a:latin typeface="Roboto Condensed"/>
              <a:ea typeface="Roboto Condensed"/>
              <a:cs typeface="Roboto Condensed"/>
              <a:sym typeface="Roboto Condensed"/>
            </a:endParaRPr>
          </a:p>
        </p:txBody>
      </p:sp>
      <p:sp>
        <p:nvSpPr>
          <p:cNvPr id="1493" name="Google Shape;1493;p61"/>
          <p:cNvSpPr/>
          <p:nvPr/>
        </p:nvSpPr>
        <p:spPr>
          <a:xfrm>
            <a:off x="654747" y="4701490"/>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sp>
        <p:nvSpPr>
          <p:cNvPr id="1494" name="Google Shape;1494;p61"/>
          <p:cNvSpPr/>
          <p:nvPr/>
        </p:nvSpPr>
        <p:spPr>
          <a:xfrm>
            <a:off x="3587729" y="4698953"/>
            <a:ext cx="876703" cy="457200"/>
          </a:xfrm>
          <a:prstGeom prst="rect">
            <a:avLst/>
          </a:prstGeom>
          <a:no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E</a:t>
            </a:r>
            <a:endParaRPr sz="1800">
              <a:solidFill>
                <a:schemeClr val="dk1"/>
              </a:solidFill>
              <a:latin typeface="Roboto Condensed"/>
              <a:ea typeface="Roboto Condensed"/>
              <a:cs typeface="Roboto Condensed"/>
              <a:sym typeface="Roboto Condensed"/>
            </a:endParaRPr>
          </a:p>
        </p:txBody>
      </p:sp>
      <p:cxnSp>
        <p:nvCxnSpPr>
          <p:cNvPr id="1495" name="Google Shape;1495;p61"/>
          <p:cNvCxnSpPr/>
          <p:nvPr/>
        </p:nvCxnSpPr>
        <p:spPr>
          <a:xfrm flipH="1">
            <a:off x="1518625" y="4929270"/>
            <a:ext cx="540000" cy="1125"/>
          </a:xfrm>
          <a:prstGeom prst="straightConnector1">
            <a:avLst/>
          </a:prstGeom>
          <a:noFill/>
          <a:ln cap="flat" cmpd="sng" w="28575">
            <a:solidFill>
              <a:schemeClr val="accent6"/>
            </a:solidFill>
            <a:prstDash val="solid"/>
            <a:miter lim="800000"/>
            <a:headEnd len="sm" w="sm" type="none"/>
            <a:tailEnd len="sm" w="sm" type="none"/>
          </a:ln>
        </p:spPr>
      </p:cxnSp>
      <p:cxnSp>
        <p:nvCxnSpPr>
          <p:cNvPr id="1496" name="Google Shape;1496;p61"/>
          <p:cNvCxnSpPr/>
          <p:nvPr/>
        </p:nvCxnSpPr>
        <p:spPr>
          <a:xfrm flipH="1">
            <a:off x="3038565" y="4926252"/>
            <a:ext cx="540000" cy="1125"/>
          </a:xfrm>
          <a:prstGeom prst="straightConnector1">
            <a:avLst/>
          </a:prstGeom>
          <a:noFill/>
          <a:ln cap="flat" cmpd="sng" w="28575">
            <a:solidFill>
              <a:schemeClr val="accent6"/>
            </a:solidFill>
            <a:prstDash val="solid"/>
            <a:miter lim="800000"/>
            <a:headEnd len="sm" w="sm" type="none"/>
            <a:tailEnd len="sm" w="sm" type="none"/>
          </a:ln>
        </p:spPr>
      </p:cxnSp>
      <p:sp>
        <p:nvSpPr>
          <p:cNvPr id="1497" name="Google Shape;1497;p61"/>
          <p:cNvSpPr/>
          <p:nvPr/>
        </p:nvSpPr>
        <p:spPr>
          <a:xfrm>
            <a:off x="6221047" y="1645579"/>
            <a:ext cx="1260000" cy="457200"/>
          </a:xfrm>
          <a:prstGeom prst="flowChartMerge">
            <a:avLst/>
          </a:prstGeom>
          <a:noFill/>
          <a:ln cap="flat" cmpd="sng" w="28575">
            <a:solidFill>
              <a:schemeClr val="accent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sp>
        <p:nvSpPr>
          <p:cNvPr id="1498" name="Google Shape;1498;p61"/>
          <p:cNvSpPr txBox="1"/>
          <p:nvPr/>
        </p:nvSpPr>
        <p:spPr>
          <a:xfrm>
            <a:off x="6077047" y="2102779"/>
            <a:ext cx="1548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Total</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Specialization/</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Generalization</a:t>
            </a:r>
            <a:endParaRPr sz="1800">
              <a:solidFill>
                <a:schemeClr val="dk1"/>
              </a:solidFill>
              <a:latin typeface="Roboto Condensed"/>
              <a:ea typeface="Roboto Condensed"/>
              <a:cs typeface="Roboto Condensed"/>
              <a:sym typeface="Roboto Condensed"/>
            </a:endParaRPr>
          </a:p>
        </p:txBody>
      </p:sp>
      <p:cxnSp>
        <p:nvCxnSpPr>
          <p:cNvPr id="1499" name="Google Shape;1499;p61"/>
          <p:cNvCxnSpPr>
            <a:stCxn id="1497" idx="0"/>
          </p:cNvCxnSpPr>
          <p:nvPr/>
        </p:nvCxnSpPr>
        <p:spPr>
          <a:xfrm rot="10800000">
            <a:off x="6851047" y="1340779"/>
            <a:ext cx="0" cy="304800"/>
          </a:xfrm>
          <a:prstGeom prst="straightConnector1">
            <a:avLst/>
          </a:prstGeom>
          <a:noFill/>
          <a:ln cap="flat" cmpd="sng" w="28575">
            <a:solidFill>
              <a:schemeClr val="accent6"/>
            </a:solidFill>
            <a:prstDash val="solid"/>
            <a:miter lim="800000"/>
            <a:headEnd len="sm" w="sm" type="none"/>
            <a:tailEnd len="sm" w="sm" type="none"/>
          </a:ln>
        </p:spPr>
      </p:cxnSp>
      <p:cxnSp>
        <p:nvCxnSpPr>
          <p:cNvPr id="1500" name="Google Shape;1500;p61"/>
          <p:cNvCxnSpPr>
            <a:endCxn id="1497" idx="1"/>
          </p:cNvCxnSpPr>
          <p:nvPr/>
        </p:nvCxnSpPr>
        <p:spPr>
          <a:xfrm flipH="1" rot="10800000">
            <a:off x="6221047" y="1874179"/>
            <a:ext cx="315000" cy="255900"/>
          </a:xfrm>
          <a:prstGeom prst="straightConnector1">
            <a:avLst/>
          </a:prstGeom>
          <a:noFill/>
          <a:ln cap="flat" cmpd="sng" w="28575">
            <a:solidFill>
              <a:schemeClr val="accent6"/>
            </a:solidFill>
            <a:prstDash val="solid"/>
            <a:miter lim="800000"/>
            <a:headEnd len="sm" w="sm" type="none"/>
            <a:tailEnd len="sm" w="sm" type="none"/>
          </a:ln>
        </p:spPr>
      </p:cxnSp>
      <p:cxnSp>
        <p:nvCxnSpPr>
          <p:cNvPr id="1501" name="Google Shape;1501;p61"/>
          <p:cNvCxnSpPr>
            <a:endCxn id="1497" idx="3"/>
          </p:cNvCxnSpPr>
          <p:nvPr/>
        </p:nvCxnSpPr>
        <p:spPr>
          <a:xfrm rot="10800000">
            <a:off x="7166047" y="1874179"/>
            <a:ext cx="315000" cy="247200"/>
          </a:xfrm>
          <a:prstGeom prst="straightConnector1">
            <a:avLst/>
          </a:prstGeom>
          <a:noFill/>
          <a:ln cap="flat" cmpd="sng" w="28575">
            <a:solidFill>
              <a:schemeClr val="accent6"/>
            </a:solidFill>
            <a:prstDash val="solid"/>
            <a:miter lim="800000"/>
            <a:headEnd len="sm" w="sm" type="none"/>
            <a:tailEnd len="sm" w="sm" type="none"/>
          </a:ln>
        </p:spPr>
      </p:cxnSp>
      <p:cxnSp>
        <p:nvCxnSpPr>
          <p:cNvPr id="1502" name="Google Shape;1502;p61"/>
          <p:cNvCxnSpPr/>
          <p:nvPr/>
        </p:nvCxnSpPr>
        <p:spPr>
          <a:xfrm rot="10800000">
            <a:off x="6915247" y="1340779"/>
            <a:ext cx="0" cy="304800"/>
          </a:xfrm>
          <a:prstGeom prst="straightConnector1">
            <a:avLst/>
          </a:prstGeom>
          <a:noFill/>
          <a:ln cap="flat" cmpd="sng" w="28575">
            <a:solidFill>
              <a:schemeClr val="accent6"/>
            </a:solidFill>
            <a:prstDash val="solid"/>
            <a:miter lim="800000"/>
            <a:headEnd len="sm" w="sm" type="none"/>
            <a:tailEnd len="sm" w="sm" type="none"/>
          </a:ln>
        </p:spPr>
      </p:cxnSp>
      <p:sp>
        <p:nvSpPr>
          <p:cNvPr id="1503" name="Google Shape;1503;p61"/>
          <p:cNvSpPr/>
          <p:nvPr/>
        </p:nvSpPr>
        <p:spPr>
          <a:xfrm>
            <a:off x="8936258" y="1714262"/>
            <a:ext cx="1260000" cy="457200"/>
          </a:xfrm>
          <a:prstGeom prst="flowChartMerge">
            <a:avLst/>
          </a:prstGeom>
          <a:noFill/>
          <a:ln cap="flat" cmpd="sng" w="28575">
            <a:solidFill>
              <a:schemeClr val="accent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sp>
        <p:nvSpPr>
          <p:cNvPr id="1504" name="Google Shape;1504;p61"/>
          <p:cNvSpPr txBox="1"/>
          <p:nvPr/>
        </p:nvSpPr>
        <p:spPr>
          <a:xfrm>
            <a:off x="8792258" y="2171462"/>
            <a:ext cx="1548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Disjoint</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Specialization/</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Generalization</a:t>
            </a:r>
            <a:endParaRPr sz="1800">
              <a:solidFill>
                <a:schemeClr val="dk1"/>
              </a:solidFill>
              <a:latin typeface="Roboto Condensed"/>
              <a:ea typeface="Roboto Condensed"/>
              <a:cs typeface="Roboto Condensed"/>
              <a:sym typeface="Roboto Condensed"/>
            </a:endParaRPr>
          </a:p>
        </p:txBody>
      </p:sp>
      <p:cxnSp>
        <p:nvCxnSpPr>
          <p:cNvPr id="1505" name="Google Shape;1505;p61"/>
          <p:cNvCxnSpPr>
            <a:stCxn id="1503" idx="0"/>
          </p:cNvCxnSpPr>
          <p:nvPr/>
        </p:nvCxnSpPr>
        <p:spPr>
          <a:xfrm rot="10800000">
            <a:off x="9566258" y="1409462"/>
            <a:ext cx="0" cy="304800"/>
          </a:xfrm>
          <a:prstGeom prst="straightConnector1">
            <a:avLst/>
          </a:prstGeom>
          <a:noFill/>
          <a:ln cap="flat" cmpd="sng" w="28575">
            <a:solidFill>
              <a:schemeClr val="accent6"/>
            </a:solidFill>
            <a:prstDash val="solid"/>
            <a:miter lim="800000"/>
            <a:headEnd len="sm" w="sm" type="none"/>
            <a:tailEnd len="sm" w="sm" type="none"/>
          </a:ln>
        </p:spPr>
      </p:cxnSp>
      <p:cxnSp>
        <p:nvCxnSpPr>
          <p:cNvPr id="1506" name="Google Shape;1506;p61"/>
          <p:cNvCxnSpPr>
            <a:endCxn id="1503" idx="1"/>
          </p:cNvCxnSpPr>
          <p:nvPr/>
        </p:nvCxnSpPr>
        <p:spPr>
          <a:xfrm flipH="1" rot="10800000">
            <a:off x="8936258" y="1942862"/>
            <a:ext cx="315000" cy="255900"/>
          </a:xfrm>
          <a:prstGeom prst="straightConnector1">
            <a:avLst/>
          </a:prstGeom>
          <a:noFill/>
          <a:ln cap="flat" cmpd="sng" w="28575">
            <a:solidFill>
              <a:schemeClr val="accent6"/>
            </a:solidFill>
            <a:prstDash val="solid"/>
            <a:miter lim="800000"/>
            <a:headEnd len="sm" w="sm" type="none"/>
            <a:tailEnd len="sm" w="sm" type="none"/>
          </a:ln>
        </p:spPr>
      </p:cxnSp>
      <p:cxnSp>
        <p:nvCxnSpPr>
          <p:cNvPr id="1507" name="Google Shape;1507;p61"/>
          <p:cNvCxnSpPr>
            <a:endCxn id="1503" idx="3"/>
          </p:cNvCxnSpPr>
          <p:nvPr/>
        </p:nvCxnSpPr>
        <p:spPr>
          <a:xfrm rot="10800000">
            <a:off x="9881258" y="1942862"/>
            <a:ext cx="315000" cy="247200"/>
          </a:xfrm>
          <a:prstGeom prst="straightConnector1">
            <a:avLst/>
          </a:prstGeom>
          <a:noFill/>
          <a:ln cap="flat" cmpd="sng" w="28575">
            <a:solidFill>
              <a:schemeClr val="accent6"/>
            </a:solidFill>
            <a:prstDash val="solid"/>
            <a:miter lim="800000"/>
            <a:headEnd len="sm" w="sm" type="none"/>
            <a:tailEnd len="sm" w="sm" type="none"/>
          </a:ln>
        </p:spPr>
      </p:cxnSp>
      <p:sp>
        <p:nvSpPr>
          <p:cNvPr id="1508" name="Google Shape;1508;p61"/>
          <p:cNvSpPr txBox="1"/>
          <p:nvPr/>
        </p:nvSpPr>
        <p:spPr>
          <a:xfrm>
            <a:off x="9580975" y="1374371"/>
            <a:ext cx="958200" cy="30777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Roboto Condensed"/>
                <a:ea typeface="Roboto Condensed"/>
                <a:cs typeface="Roboto Condensed"/>
                <a:sym typeface="Roboto Condensed"/>
              </a:rPr>
              <a:t>Disjoint</a:t>
            </a:r>
            <a:endParaRPr sz="1400">
              <a:solidFill>
                <a:schemeClr val="dk1"/>
              </a:solidFill>
              <a:latin typeface="Roboto Condensed"/>
              <a:ea typeface="Roboto Condensed"/>
              <a:cs typeface="Roboto Condensed"/>
              <a:sym typeface="Roboto Condensed"/>
            </a:endParaRPr>
          </a:p>
        </p:txBody>
      </p:sp>
      <p:sp>
        <p:nvSpPr>
          <p:cNvPr id="1509" name="Google Shape;1509;p61"/>
          <p:cNvSpPr/>
          <p:nvPr/>
        </p:nvSpPr>
        <p:spPr>
          <a:xfrm>
            <a:off x="9080258" y="4174210"/>
            <a:ext cx="1260000" cy="457200"/>
          </a:xfrm>
          <a:prstGeom prst="flowChartMerge">
            <a:avLst/>
          </a:prstGeom>
          <a:noFill/>
          <a:ln cap="flat" cmpd="sng" w="28575">
            <a:solidFill>
              <a:schemeClr val="accent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sp>
        <p:nvSpPr>
          <p:cNvPr id="1510" name="Google Shape;1510;p61"/>
          <p:cNvSpPr txBox="1"/>
          <p:nvPr/>
        </p:nvSpPr>
        <p:spPr>
          <a:xfrm>
            <a:off x="8936258" y="4640340"/>
            <a:ext cx="1548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Overlapping</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Specialization/</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Generalization</a:t>
            </a:r>
            <a:endParaRPr sz="1800">
              <a:solidFill>
                <a:schemeClr val="dk1"/>
              </a:solidFill>
              <a:latin typeface="Roboto Condensed"/>
              <a:ea typeface="Roboto Condensed"/>
              <a:cs typeface="Roboto Condensed"/>
              <a:sym typeface="Roboto Condensed"/>
            </a:endParaRPr>
          </a:p>
        </p:txBody>
      </p:sp>
      <p:cxnSp>
        <p:nvCxnSpPr>
          <p:cNvPr id="1511" name="Google Shape;1511;p61"/>
          <p:cNvCxnSpPr/>
          <p:nvPr/>
        </p:nvCxnSpPr>
        <p:spPr>
          <a:xfrm rot="10800000">
            <a:off x="9710258" y="3878340"/>
            <a:ext cx="0" cy="304800"/>
          </a:xfrm>
          <a:prstGeom prst="straightConnector1">
            <a:avLst/>
          </a:prstGeom>
          <a:noFill/>
          <a:ln cap="flat" cmpd="sng" w="28575">
            <a:solidFill>
              <a:schemeClr val="accent6"/>
            </a:solidFill>
            <a:prstDash val="solid"/>
            <a:miter lim="800000"/>
            <a:headEnd len="sm" w="sm" type="none"/>
            <a:tailEnd len="sm" w="sm" type="none"/>
          </a:ln>
        </p:spPr>
      </p:cxnSp>
      <p:cxnSp>
        <p:nvCxnSpPr>
          <p:cNvPr id="1512" name="Google Shape;1512;p61"/>
          <p:cNvCxnSpPr>
            <a:endCxn id="1509" idx="1"/>
          </p:cNvCxnSpPr>
          <p:nvPr/>
        </p:nvCxnSpPr>
        <p:spPr>
          <a:xfrm flipH="1" rot="10800000">
            <a:off x="9080258" y="4402810"/>
            <a:ext cx="315000" cy="255900"/>
          </a:xfrm>
          <a:prstGeom prst="straightConnector1">
            <a:avLst/>
          </a:prstGeom>
          <a:noFill/>
          <a:ln cap="flat" cmpd="sng" w="28575">
            <a:solidFill>
              <a:schemeClr val="accent6"/>
            </a:solidFill>
            <a:prstDash val="solid"/>
            <a:miter lim="800000"/>
            <a:headEnd len="sm" w="sm" type="none"/>
            <a:tailEnd len="sm" w="sm" type="none"/>
          </a:ln>
        </p:spPr>
      </p:cxnSp>
      <p:cxnSp>
        <p:nvCxnSpPr>
          <p:cNvPr id="1513" name="Google Shape;1513;p61"/>
          <p:cNvCxnSpPr>
            <a:endCxn id="1509" idx="3"/>
          </p:cNvCxnSpPr>
          <p:nvPr/>
        </p:nvCxnSpPr>
        <p:spPr>
          <a:xfrm rot="10800000">
            <a:off x="10025258" y="4402810"/>
            <a:ext cx="315000" cy="247200"/>
          </a:xfrm>
          <a:prstGeom prst="straightConnector1">
            <a:avLst/>
          </a:prstGeom>
          <a:noFill/>
          <a:ln cap="flat" cmpd="sng" w="28575">
            <a:solidFill>
              <a:schemeClr val="accent6"/>
            </a:solidFill>
            <a:prstDash val="solid"/>
            <a:miter lim="800000"/>
            <a:headEnd len="sm" w="sm" type="none"/>
            <a:tailEnd len="sm" w="sm" type="none"/>
          </a:ln>
        </p:spPr>
      </p:cxnSp>
      <p:sp>
        <p:nvSpPr>
          <p:cNvPr id="1514" name="Google Shape;1514;p61"/>
          <p:cNvSpPr txBox="1"/>
          <p:nvPr/>
        </p:nvSpPr>
        <p:spPr>
          <a:xfrm>
            <a:off x="9710258" y="3819645"/>
            <a:ext cx="1080000" cy="3096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Roboto Condensed"/>
                <a:ea typeface="Roboto Condensed"/>
                <a:cs typeface="Roboto Condensed"/>
                <a:sym typeface="Roboto Condensed"/>
              </a:rPr>
              <a:t>Overlapping</a:t>
            </a:r>
            <a:endParaRPr sz="1400">
              <a:solidFill>
                <a:schemeClr val="dk1"/>
              </a:solidFill>
              <a:latin typeface="Roboto Condensed"/>
              <a:ea typeface="Roboto Condensed"/>
              <a:cs typeface="Roboto Condensed"/>
              <a:sym typeface="Roboto Condensed"/>
            </a:endParaRPr>
          </a:p>
        </p:txBody>
      </p:sp>
      <p:sp>
        <p:nvSpPr>
          <p:cNvPr id="1515" name="Google Shape;1515;p61"/>
          <p:cNvSpPr/>
          <p:nvPr/>
        </p:nvSpPr>
        <p:spPr>
          <a:xfrm>
            <a:off x="6099696" y="4144694"/>
            <a:ext cx="1260000" cy="457200"/>
          </a:xfrm>
          <a:prstGeom prst="flowChartMerge">
            <a:avLst/>
          </a:prstGeom>
          <a:noFill/>
          <a:ln cap="flat" cmpd="sng" w="28575">
            <a:solidFill>
              <a:schemeClr val="accent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ISA</a:t>
            </a:r>
            <a:endParaRPr sz="1800">
              <a:solidFill>
                <a:schemeClr val="dk1"/>
              </a:solidFill>
              <a:latin typeface="Roboto Condensed"/>
              <a:ea typeface="Roboto Condensed"/>
              <a:cs typeface="Roboto Condensed"/>
              <a:sym typeface="Roboto Condensed"/>
            </a:endParaRPr>
          </a:p>
        </p:txBody>
      </p:sp>
      <p:sp>
        <p:nvSpPr>
          <p:cNvPr id="1516" name="Google Shape;1516;p61"/>
          <p:cNvSpPr txBox="1"/>
          <p:nvPr/>
        </p:nvSpPr>
        <p:spPr>
          <a:xfrm>
            <a:off x="5955696" y="4601894"/>
            <a:ext cx="1548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Partial</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Specialization/</a:t>
            </a:r>
            <a:endParaRPr/>
          </a:p>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Generalization</a:t>
            </a:r>
            <a:endParaRPr sz="1800">
              <a:solidFill>
                <a:schemeClr val="dk1"/>
              </a:solidFill>
              <a:latin typeface="Roboto Condensed"/>
              <a:ea typeface="Roboto Condensed"/>
              <a:cs typeface="Roboto Condensed"/>
              <a:sym typeface="Roboto Condensed"/>
            </a:endParaRPr>
          </a:p>
        </p:txBody>
      </p:sp>
      <p:cxnSp>
        <p:nvCxnSpPr>
          <p:cNvPr id="1517" name="Google Shape;1517;p61"/>
          <p:cNvCxnSpPr>
            <a:stCxn id="1515" idx="0"/>
          </p:cNvCxnSpPr>
          <p:nvPr/>
        </p:nvCxnSpPr>
        <p:spPr>
          <a:xfrm rot="10800000">
            <a:off x="6729696" y="3839894"/>
            <a:ext cx="0" cy="304800"/>
          </a:xfrm>
          <a:prstGeom prst="straightConnector1">
            <a:avLst/>
          </a:prstGeom>
          <a:noFill/>
          <a:ln cap="flat" cmpd="sng" w="28575">
            <a:solidFill>
              <a:schemeClr val="accent6"/>
            </a:solidFill>
            <a:prstDash val="solid"/>
            <a:miter lim="800000"/>
            <a:headEnd len="sm" w="sm" type="none"/>
            <a:tailEnd len="sm" w="sm" type="none"/>
          </a:ln>
        </p:spPr>
      </p:cxnSp>
      <p:cxnSp>
        <p:nvCxnSpPr>
          <p:cNvPr id="1518" name="Google Shape;1518;p61"/>
          <p:cNvCxnSpPr>
            <a:endCxn id="1515" idx="1"/>
          </p:cNvCxnSpPr>
          <p:nvPr/>
        </p:nvCxnSpPr>
        <p:spPr>
          <a:xfrm flipH="1" rot="10800000">
            <a:off x="6099696" y="4373294"/>
            <a:ext cx="315000" cy="255900"/>
          </a:xfrm>
          <a:prstGeom prst="straightConnector1">
            <a:avLst/>
          </a:prstGeom>
          <a:noFill/>
          <a:ln cap="flat" cmpd="sng" w="28575">
            <a:solidFill>
              <a:schemeClr val="accent6"/>
            </a:solidFill>
            <a:prstDash val="solid"/>
            <a:miter lim="800000"/>
            <a:headEnd len="sm" w="sm" type="none"/>
            <a:tailEnd len="sm" w="sm" type="none"/>
          </a:ln>
        </p:spPr>
      </p:cxnSp>
      <p:cxnSp>
        <p:nvCxnSpPr>
          <p:cNvPr id="1519" name="Google Shape;1519;p61"/>
          <p:cNvCxnSpPr>
            <a:endCxn id="1515" idx="3"/>
          </p:cNvCxnSpPr>
          <p:nvPr/>
        </p:nvCxnSpPr>
        <p:spPr>
          <a:xfrm rot="10800000">
            <a:off x="7044696" y="4373294"/>
            <a:ext cx="315000" cy="247200"/>
          </a:xfrm>
          <a:prstGeom prst="straightConnector1">
            <a:avLst/>
          </a:prstGeom>
          <a:noFill/>
          <a:ln cap="flat" cmpd="sng" w="28575">
            <a:solidFill>
              <a:schemeClr val="accent6"/>
            </a:solidFill>
            <a:prstDash val="solid"/>
            <a:miter lim="800000"/>
            <a:headEnd len="sm" w="sm" type="none"/>
            <a:tailEnd len="sm" w="sm" type="non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6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Data Models</a:t>
            </a:r>
            <a:endParaRPr>
              <a:solidFill>
                <a:srgbClr val="5C2321"/>
              </a:solidFill>
            </a:endParaRPr>
          </a:p>
        </p:txBody>
      </p:sp>
      <p:sp>
        <p:nvSpPr>
          <p:cNvPr id="1525" name="Google Shape;1525;p6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- 12</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63"/>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What is a Database Models?</a:t>
            </a:r>
            <a:endParaRPr/>
          </a:p>
        </p:txBody>
      </p:sp>
      <p:sp>
        <p:nvSpPr>
          <p:cNvPr id="1531" name="Google Shape;1531;p63"/>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A database model is a type of data model that </a:t>
            </a:r>
            <a:r>
              <a:rPr b="1" lang="en-US">
                <a:solidFill>
                  <a:schemeClr val="accent6"/>
                </a:solidFill>
              </a:rPr>
              <a:t>defines the logical structure of a database</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It determine </a:t>
            </a:r>
            <a:r>
              <a:rPr b="1" lang="en-US">
                <a:solidFill>
                  <a:schemeClr val="accent6"/>
                </a:solidFill>
              </a:rPr>
              <a:t>how data can be stored, accessed and updated </a:t>
            </a:r>
            <a:r>
              <a:rPr lang="en-US"/>
              <a:t>in a database management system.</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The most popular example of a database model is the relational model, which uses a table-based format.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1">
                                            <p:txEl>
                                              <p:pRg end="0" st="0"/>
                                            </p:txEl>
                                          </p:spTgt>
                                        </p:tgtEl>
                                        <p:attrNameLst>
                                          <p:attrName>style.visibility</p:attrName>
                                        </p:attrNameLst>
                                      </p:cBhvr>
                                      <p:to>
                                        <p:strVal val="visible"/>
                                      </p:to>
                                    </p:set>
                                    <p:animEffect filter="fade" transition="in">
                                      <p:cBhvr>
                                        <p:cTn dur="500"/>
                                        <p:tgtEl>
                                          <p:spTgt spid="15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1">
                                            <p:txEl>
                                              <p:pRg end="1" st="1"/>
                                            </p:txEl>
                                          </p:spTgt>
                                        </p:tgtEl>
                                        <p:attrNameLst>
                                          <p:attrName>style.visibility</p:attrName>
                                        </p:attrNameLst>
                                      </p:cBhvr>
                                      <p:to>
                                        <p:strVal val="visible"/>
                                      </p:to>
                                    </p:set>
                                    <p:animEffect filter="fade" transition="in">
                                      <p:cBhvr>
                                        <p:cTn dur="500"/>
                                        <p:tgtEl>
                                          <p:spTgt spid="15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1">
                                            <p:txEl>
                                              <p:pRg end="2" st="2"/>
                                            </p:txEl>
                                          </p:spTgt>
                                        </p:tgtEl>
                                        <p:attrNameLst>
                                          <p:attrName>style.visibility</p:attrName>
                                        </p:attrNameLst>
                                      </p:cBhvr>
                                      <p:to>
                                        <p:strVal val="visible"/>
                                      </p:to>
                                    </p:set>
                                    <p:animEffect filter="fade" transition="in">
                                      <p:cBhvr>
                                        <p:cTn dur="500"/>
                                        <p:tgtEl>
                                          <p:spTgt spid="153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64"/>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Type of Database Models</a:t>
            </a:r>
            <a:endParaRPr/>
          </a:p>
        </p:txBody>
      </p:sp>
      <p:grpSp>
        <p:nvGrpSpPr>
          <p:cNvPr id="1537" name="Google Shape;1537;p64"/>
          <p:cNvGrpSpPr/>
          <p:nvPr/>
        </p:nvGrpSpPr>
        <p:grpSpPr>
          <a:xfrm>
            <a:off x="-6190390" y="-103482"/>
            <a:ext cx="18171321" cy="7525339"/>
            <a:chOff x="-6322153" y="-967082"/>
            <a:chExt cx="18171321" cy="7525339"/>
          </a:xfrm>
        </p:grpSpPr>
        <p:sp>
          <p:nvSpPr>
            <p:cNvPr id="1538" name="Google Shape;1538;p64"/>
            <p:cNvSpPr/>
            <p:nvPr/>
          </p:nvSpPr>
          <p:spPr>
            <a:xfrm>
              <a:off x="-6322153" y="-967082"/>
              <a:ext cx="7525339" cy="7525339"/>
            </a:xfrm>
            <a:prstGeom prst="blockArc">
              <a:avLst>
                <a:gd fmla="val 18900000" name="adj1"/>
                <a:gd fmla="val 2700000" name="adj2"/>
                <a:gd fmla="val 287" name="adj3"/>
              </a:avLst>
            </a:prstGeom>
            <a:noFill/>
            <a:ln cap="flat" cmpd="sng" w="12700">
              <a:solidFill>
                <a:srgbClr val="91353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4"/>
            <p:cNvSpPr/>
            <p:nvPr/>
          </p:nvSpPr>
          <p:spPr>
            <a:xfrm>
              <a:off x="525658" y="349336"/>
              <a:ext cx="11323509" cy="699120"/>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64"/>
            <p:cNvSpPr txBox="1"/>
            <p:nvPr/>
          </p:nvSpPr>
          <p:spPr>
            <a:xfrm>
              <a:off x="525658" y="349336"/>
              <a:ext cx="11323509" cy="699120"/>
            </a:xfrm>
            <a:prstGeom prst="rect">
              <a:avLst/>
            </a:prstGeom>
            <a:noFill/>
            <a:ln>
              <a:noFill/>
            </a:ln>
          </p:spPr>
          <p:txBody>
            <a:bodyPr anchorCtr="0" anchor="ctr" bIns="93975" lIns="554925" spcFirstLastPara="1" rIns="93975" wrap="square" tIns="93975">
              <a:noAutofit/>
            </a:bodyPr>
            <a:lstStyle/>
            <a:p>
              <a:pPr indent="0" lvl="0" marL="0" marR="0" rtl="0" algn="l">
                <a:lnSpc>
                  <a:spcPct val="90000"/>
                </a:lnSpc>
                <a:spcBef>
                  <a:spcPts val="0"/>
                </a:spcBef>
                <a:spcAft>
                  <a:spcPts val="0"/>
                </a:spcAft>
                <a:buNone/>
              </a:pPr>
              <a:r>
                <a:rPr lang="en-US" sz="3700">
                  <a:solidFill>
                    <a:schemeClr val="lt1"/>
                  </a:solidFill>
                  <a:latin typeface="Roboto Condensed"/>
                  <a:ea typeface="Roboto Condensed"/>
                  <a:cs typeface="Roboto Condensed"/>
                  <a:sym typeface="Roboto Condensed"/>
                </a:rPr>
                <a:t>Hierarchical Model</a:t>
              </a:r>
              <a:endParaRPr sz="3700">
                <a:solidFill>
                  <a:schemeClr val="lt1"/>
                </a:solidFill>
                <a:latin typeface="Roboto Condensed"/>
                <a:ea typeface="Roboto Condensed"/>
                <a:cs typeface="Roboto Condensed"/>
                <a:sym typeface="Roboto Condensed"/>
              </a:endParaRPr>
            </a:p>
          </p:txBody>
        </p:sp>
        <p:sp>
          <p:nvSpPr>
            <p:cNvPr id="1541" name="Google Shape;1541;p64"/>
            <p:cNvSpPr/>
            <p:nvPr/>
          </p:nvSpPr>
          <p:spPr>
            <a:xfrm>
              <a:off x="88708" y="261946"/>
              <a:ext cx="873900" cy="873900"/>
            </a:xfrm>
            <a:prstGeom prst="ellipse">
              <a:avLst/>
            </a:prstGeom>
            <a:solidFill>
              <a:schemeClr val="lt1"/>
            </a:solidFill>
            <a:ln cap="flat" cmpd="sng" w="12700">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64"/>
            <p:cNvSpPr/>
            <p:nvPr/>
          </p:nvSpPr>
          <p:spPr>
            <a:xfrm>
              <a:off x="1026627" y="1397681"/>
              <a:ext cx="10822540" cy="699120"/>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64"/>
            <p:cNvSpPr txBox="1"/>
            <p:nvPr/>
          </p:nvSpPr>
          <p:spPr>
            <a:xfrm>
              <a:off x="1026627" y="1397681"/>
              <a:ext cx="10822540" cy="699120"/>
            </a:xfrm>
            <a:prstGeom prst="rect">
              <a:avLst/>
            </a:prstGeom>
            <a:noFill/>
            <a:ln>
              <a:noFill/>
            </a:ln>
          </p:spPr>
          <p:txBody>
            <a:bodyPr anchorCtr="0" anchor="ctr" bIns="93975" lIns="554925" spcFirstLastPara="1" rIns="93975" wrap="square" tIns="93975">
              <a:noAutofit/>
            </a:bodyPr>
            <a:lstStyle/>
            <a:p>
              <a:pPr indent="0" lvl="0" marL="0" marR="0" rtl="0" algn="l">
                <a:lnSpc>
                  <a:spcPct val="90000"/>
                </a:lnSpc>
                <a:spcBef>
                  <a:spcPts val="0"/>
                </a:spcBef>
                <a:spcAft>
                  <a:spcPts val="0"/>
                </a:spcAft>
                <a:buNone/>
              </a:pPr>
              <a:r>
                <a:rPr lang="en-US" sz="3700">
                  <a:solidFill>
                    <a:schemeClr val="lt1"/>
                  </a:solidFill>
                  <a:latin typeface="Roboto Condensed"/>
                  <a:ea typeface="Roboto Condensed"/>
                  <a:cs typeface="Roboto Condensed"/>
                  <a:sym typeface="Roboto Condensed"/>
                </a:rPr>
                <a:t>Network Model</a:t>
              </a:r>
              <a:endParaRPr sz="3700">
                <a:solidFill>
                  <a:schemeClr val="lt1"/>
                </a:solidFill>
                <a:latin typeface="Roboto Condensed"/>
                <a:ea typeface="Roboto Condensed"/>
                <a:cs typeface="Roboto Condensed"/>
                <a:sym typeface="Roboto Condensed"/>
              </a:endParaRPr>
            </a:p>
          </p:txBody>
        </p:sp>
        <p:sp>
          <p:nvSpPr>
            <p:cNvPr id="1544" name="Google Shape;1544;p64"/>
            <p:cNvSpPr/>
            <p:nvPr/>
          </p:nvSpPr>
          <p:spPr>
            <a:xfrm>
              <a:off x="589677" y="1310291"/>
              <a:ext cx="873900" cy="873900"/>
            </a:xfrm>
            <a:prstGeom prst="ellipse">
              <a:avLst/>
            </a:prstGeom>
            <a:solidFill>
              <a:schemeClr val="lt1"/>
            </a:solidFill>
            <a:ln cap="flat" cmpd="sng" w="12700">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64"/>
            <p:cNvSpPr/>
            <p:nvPr/>
          </p:nvSpPr>
          <p:spPr>
            <a:xfrm>
              <a:off x="1180385" y="2446027"/>
              <a:ext cx="10668783" cy="699120"/>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64"/>
            <p:cNvSpPr txBox="1"/>
            <p:nvPr/>
          </p:nvSpPr>
          <p:spPr>
            <a:xfrm>
              <a:off x="1180385" y="2446027"/>
              <a:ext cx="10668783" cy="699120"/>
            </a:xfrm>
            <a:prstGeom prst="rect">
              <a:avLst/>
            </a:prstGeom>
            <a:noFill/>
            <a:ln>
              <a:noFill/>
            </a:ln>
          </p:spPr>
          <p:txBody>
            <a:bodyPr anchorCtr="0" anchor="ctr" bIns="93975" lIns="554925" spcFirstLastPara="1" rIns="93975" wrap="square" tIns="93975">
              <a:noAutofit/>
            </a:bodyPr>
            <a:lstStyle/>
            <a:p>
              <a:pPr indent="0" lvl="0" marL="0" marR="0" rtl="0" algn="l">
                <a:lnSpc>
                  <a:spcPct val="90000"/>
                </a:lnSpc>
                <a:spcBef>
                  <a:spcPts val="0"/>
                </a:spcBef>
                <a:spcAft>
                  <a:spcPts val="0"/>
                </a:spcAft>
                <a:buNone/>
              </a:pPr>
              <a:r>
                <a:rPr lang="en-US" sz="3700">
                  <a:solidFill>
                    <a:schemeClr val="lt1"/>
                  </a:solidFill>
                  <a:latin typeface="Roboto Condensed"/>
                  <a:ea typeface="Roboto Condensed"/>
                  <a:cs typeface="Roboto Condensed"/>
                  <a:sym typeface="Roboto Condensed"/>
                </a:rPr>
                <a:t>Entity-relationship Model</a:t>
              </a:r>
              <a:endParaRPr sz="3700">
                <a:solidFill>
                  <a:schemeClr val="lt1"/>
                </a:solidFill>
                <a:latin typeface="Roboto Condensed"/>
                <a:ea typeface="Roboto Condensed"/>
                <a:cs typeface="Roboto Condensed"/>
                <a:sym typeface="Roboto Condensed"/>
              </a:endParaRPr>
            </a:p>
          </p:txBody>
        </p:sp>
        <p:sp>
          <p:nvSpPr>
            <p:cNvPr id="1547" name="Google Shape;1547;p64"/>
            <p:cNvSpPr/>
            <p:nvPr/>
          </p:nvSpPr>
          <p:spPr>
            <a:xfrm>
              <a:off x="743434" y="2358637"/>
              <a:ext cx="873900" cy="873900"/>
            </a:xfrm>
            <a:prstGeom prst="ellipse">
              <a:avLst/>
            </a:prstGeom>
            <a:solidFill>
              <a:schemeClr val="lt1"/>
            </a:solidFill>
            <a:ln cap="flat" cmpd="sng" w="12700">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64"/>
            <p:cNvSpPr/>
            <p:nvPr/>
          </p:nvSpPr>
          <p:spPr>
            <a:xfrm>
              <a:off x="1026627" y="3494372"/>
              <a:ext cx="10822540" cy="699120"/>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64"/>
            <p:cNvSpPr txBox="1"/>
            <p:nvPr/>
          </p:nvSpPr>
          <p:spPr>
            <a:xfrm>
              <a:off x="1026627" y="3494372"/>
              <a:ext cx="10822540" cy="699120"/>
            </a:xfrm>
            <a:prstGeom prst="rect">
              <a:avLst/>
            </a:prstGeom>
            <a:noFill/>
            <a:ln>
              <a:noFill/>
            </a:ln>
          </p:spPr>
          <p:txBody>
            <a:bodyPr anchorCtr="0" anchor="ctr" bIns="93975" lIns="554925" spcFirstLastPara="1" rIns="93975" wrap="square" tIns="93975">
              <a:noAutofit/>
            </a:bodyPr>
            <a:lstStyle/>
            <a:p>
              <a:pPr indent="0" lvl="0" marL="0" marR="0" rtl="0" algn="l">
                <a:lnSpc>
                  <a:spcPct val="90000"/>
                </a:lnSpc>
                <a:spcBef>
                  <a:spcPts val="0"/>
                </a:spcBef>
                <a:spcAft>
                  <a:spcPts val="0"/>
                </a:spcAft>
                <a:buNone/>
              </a:pPr>
              <a:r>
                <a:rPr lang="en-US" sz="3700">
                  <a:solidFill>
                    <a:schemeClr val="lt1"/>
                  </a:solidFill>
                  <a:latin typeface="Roboto Condensed"/>
                  <a:ea typeface="Roboto Condensed"/>
                  <a:cs typeface="Roboto Condensed"/>
                  <a:sym typeface="Roboto Condensed"/>
                </a:rPr>
                <a:t>Relational Model</a:t>
              </a:r>
              <a:endParaRPr sz="3700">
                <a:solidFill>
                  <a:schemeClr val="lt1"/>
                </a:solidFill>
                <a:latin typeface="Roboto Condensed"/>
                <a:ea typeface="Roboto Condensed"/>
                <a:cs typeface="Roboto Condensed"/>
                <a:sym typeface="Roboto Condensed"/>
              </a:endParaRPr>
            </a:p>
          </p:txBody>
        </p:sp>
        <p:sp>
          <p:nvSpPr>
            <p:cNvPr id="1550" name="Google Shape;1550;p64"/>
            <p:cNvSpPr/>
            <p:nvPr/>
          </p:nvSpPr>
          <p:spPr>
            <a:xfrm>
              <a:off x="589677" y="3406982"/>
              <a:ext cx="873900" cy="873900"/>
            </a:xfrm>
            <a:prstGeom prst="ellipse">
              <a:avLst/>
            </a:prstGeom>
            <a:solidFill>
              <a:schemeClr val="lt1"/>
            </a:solidFill>
            <a:ln cap="flat" cmpd="sng" w="12700">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64"/>
            <p:cNvSpPr/>
            <p:nvPr/>
          </p:nvSpPr>
          <p:spPr>
            <a:xfrm>
              <a:off x="525658" y="4542717"/>
              <a:ext cx="11323509" cy="699120"/>
            </a:xfrm>
            <a:prstGeom prst="rect">
              <a:avLst/>
            </a:prstGeom>
            <a:solidFill>
              <a:schemeClr val="accent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64"/>
            <p:cNvSpPr txBox="1"/>
            <p:nvPr/>
          </p:nvSpPr>
          <p:spPr>
            <a:xfrm>
              <a:off x="525658" y="4542717"/>
              <a:ext cx="11323509" cy="699120"/>
            </a:xfrm>
            <a:prstGeom prst="rect">
              <a:avLst/>
            </a:prstGeom>
            <a:noFill/>
            <a:ln>
              <a:noFill/>
            </a:ln>
          </p:spPr>
          <p:txBody>
            <a:bodyPr anchorCtr="0" anchor="ctr" bIns="93975" lIns="554925" spcFirstLastPara="1" rIns="93975" wrap="square" tIns="93975">
              <a:noAutofit/>
            </a:bodyPr>
            <a:lstStyle/>
            <a:p>
              <a:pPr indent="0" lvl="0" marL="0" marR="0" rtl="0" algn="l">
                <a:lnSpc>
                  <a:spcPct val="90000"/>
                </a:lnSpc>
                <a:spcBef>
                  <a:spcPts val="0"/>
                </a:spcBef>
                <a:spcAft>
                  <a:spcPts val="0"/>
                </a:spcAft>
                <a:buNone/>
              </a:pPr>
              <a:r>
                <a:rPr lang="en-US" sz="3700">
                  <a:solidFill>
                    <a:schemeClr val="lt1"/>
                  </a:solidFill>
                  <a:latin typeface="Roboto Condensed"/>
                  <a:ea typeface="Roboto Condensed"/>
                  <a:cs typeface="Roboto Condensed"/>
                  <a:sym typeface="Roboto Condensed"/>
                </a:rPr>
                <a:t>Object-oriented database Model</a:t>
              </a:r>
              <a:endParaRPr sz="3700">
                <a:solidFill>
                  <a:schemeClr val="lt1"/>
                </a:solidFill>
                <a:latin typeface="Roboto Condensed"/>
                <a:ea typeface="Roboto Condensed"/>
                <a:cs typeface="Roboto Condensed"/>
                <a:sym typeface="Roboto Condensed"/>
              </a:endParaRPr>
            </a:p>
          </p:txBody>
        </p:sp>
        <p:sp>
          <p:nvSpPr>
            <p:cNvPr id="1553" name="Google Shape;1553;p64"/>
            <p:cNvSpPr/>
            <p:nvPr/>
          </p:nvSpPr>
          <p:spPr>
            <a:xfrm>
              <a:off x="88708" y="4455327"/>
              <a:ext cx="873900" cy="873900"/>
            </a:xfrm>
            <a:prstGeom prst="ellipse">
              <a:avLst/>
            </a:prstGeom>
            <a:solidFill>
              <a:schemeClr val="lt1"/>
            </a:solidFill>
            <a:ln cap="flat" cmpd="sng" w="12700">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sp>
        <p:nvSpPr>
          <p:cNvPr id="1558" name="Google Shape;1558;p65"/>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Hierarchical Model</a:t>
            </a:r>
            <a:endParaRPr/>
          </a:p>
        </p:txBody>
      </p:sp>
      <p:sp>
        <p:nvSpPr>
          <p:cNvPr id="1559" name="Google Shape;1559;p65"/>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The hierarchical model organizes data into a </a:t>
            </a:r>
            <a:r>
              <a:rPr b="1" lang="en-US">
                <a:solidFill>
                  <a:schemeClr val="accent6"/>
                </a:solidFill>
              </a:rPr>
              <a:t>tree-like structure</a:t>
            </a:r>
            <a:r>
              <a:rPr lang="en-US"/>
              <a:t>, where </a:t>
            </a:r>
            <a:r>
              <a:rPr b="1" lang="en-US">
                <a:solidFill>
                  <a:schemeClr val="accent6"/>
                </a:solidFill>
              </a:rPr>
              <a:t>each record has a single parent or root</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The hierarchy </a:t>
            </a:r>
            <a:r>
              <a:rPr b="1" lang="en-US">
                <a:solidFill>
                  <a:schemeClr val="accent6"/>
                </a:solidFill>
              </a:rPr>
              <a:t>starts from the Root data</a:t>
            </a:r>
            <a:r>
              <a:rPr lang="en-US"/>
              <a:t>, and </a:t>
            </a:r>
            <a:r>
              <a:rPr b="1" lang="en-US">
                <a:solidFill>
                  <a:schemeClr val="accent6"/>
                </a:solidFill>
              </a:rPr>
              <a:t>expands like a tree</a:t>
            </a:r>
            <a:r>
              <a:rPr lang="en-US"/>
              <a:t>, </a:t>
            </a:r>
            <a:r>
              <a:rPr b="1" lang="en-US">
                <a:solidFill>
                  <a:schemeClr val="accent6"/>
                </a:solidFill>
              </a:rPr>
              <a:t>adding child nodes to the parent nodes</a:t>
            </a:r>
            <a:r>
              <a:rPr lang="en-US"/>
              <a:t>.</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In hierarchical model, data is organized into </a:t>
            </a:r>
            <a:r>
              <a:rPr b="1" lang="en-US">
                <a:solidFill>
                  <a:schemeClr val="accent6"/>
                </a:solidFill>
              </a:rPr>
              <a:t>tree-like structure </a:t>
            </a:r>
            <a:r>
              <a:rPr lang="en-US"/>
              <a:t>with </a:t>
            </a:r>
            <a:r>
              <a:rPr b="1" lang="en-US">
                <a:solidFill>
                  <a:schemeClr val="accent6"/>
                </a:solidFill>
              </a:rPr>
              <a:t>one-to-many relationship </a:t>
            </a:r>
            <a:r>
              <a:rPr lang="en-US"/>
              <a:t>between two different types of data, for example, </a:t>
            </a:r>
            <a:r>
              <a:rPr b="1" lang="en-US">
                <a:solidFill>
                  <a:schemeClr val="accent6"/>
                </a:solidFill>
              </a:rPr>
              <a:t>one department can have many professors and many students</a:t>
            </a:r>
            <a:r>
              <a:rPr lang="en-US"/>
              <a:t>.</a:t>
            </a:r>
            <a:endParaRPr/>
          </a:p>
        </p:txBody>
      </p:sp>
      <p:sp>
        <p:nvSpPr>
          <p:cNvPr id="1560" name="Google Shape;1560;p65"/>
          <p:cNvSpPr/>
          <p:nvPr/>
        </p:nvSpPr>
        <p:spPr>
          <a:xfrm>
            <a:off x="4769224" y="1479177"/>
            <a:ext cx="1828800" cy="5400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Department</a:t>
            </a:r>
            <a:endParaRPr/>
          </a:p>
        </p:txBody>
      </p:sp>
      <p:cxnSp>
        <p:nvCxnSpPr>
          <p:cNvPr id="1561" name="Google Shape;1561;p65"/>
          <p:cNvCxnSpPr>
            <a:stCxn id="1560" idx="2"/>
          </p:cNvCxnSpPr>
          <p:nvPr/>
        </p:nvCxnSpPr>
        <p:spPr>
          <a:xfrm>
            <a:off x="5683624" y="2019177"/>
            <a:ext cx="0" cy="374400"/>
          </a:xfrm>
          <a:prstGeom prst="straightConnector1">
            <a:avLst/>
          </a:prstGeom>
          <a:noFill/>
          <a:ln cap="flat" cmpd="sng" w="28575">
            <a:solidFill>
              <a:schemeClr val="accent6"/>
            </a:solidFill>
            <a:prstDash val="solid"/>
            <a:miter lim="800000"/>
            <a:headEnd len="sm" w="sm" type="none"/>
            <a:tailEnd len="sm" w="sm" type="none"/>
          </a:ln>
        </p:spPr>
      </p:cxnSp>
      <p:cxnSp>
        <p:nvCxnSpPr>
          <p:cNvPr id="1562" name="Google Shape;1562;p65"/>
          <p:cNvCxnSpPr/>
          <p:nvPr/>
        </p:nvCxnSpPr>
        <p:spPr>
          <a:xfrm>
            <a:off x="3422865" y="2393577"/>
            <a:ext cx="4517136" cy="0"/>
          </a:xfrm>
          <a:prstGeom prst="straightConnector1">
            <a:avLst/>
          </a:prstGeom>
          <a:noFill/>
          <a:ln cap="flat" cmpd="sng" w="28575">
            <a:solidFill>
              <a:schemeClr val="accent6"/>
            </a:solidFill>
            <a:prstDash val="solid"/>
            <a:miter lim="800000"/>
            <a:headEnd len="sm" w="sm" type="none"/>
            <a:tailEnd len="sm" w="sm" type="none"/>
          </a:ln>
        </p:spPr>
      </p:cxnSp>
      <p:cxnSp>
        <p:nvCxnSpPr>
          <p:cNvPr id="1563" name="Google Shape;1563;p65"/>
          <p:cNvCxnSpPr/>
          <p:nvPr/>
        </p:nvCxnSpPr>
        <p:spPr>
          <a:xfrm>
            <a:off x="3435724" y="2393577"/>
            <a:ext cx="0" cy="381000"/>
          </a:xfrm>
          <a:prstGeom prst="straightConnector1">
            <a:avLst/>
          </a:prstGeom>
          <a:noFill/>
          <a:ln cap="flat" cmpd="sng" w="28575">
            <a:solidFill>
              <a:schemeClr val="accent6"/>
            </a:solidFill>
            <a:prstDash val="solid"/>
            <a:miter lim="800000"/>
            <a:headEnd len="sm" w="sm" type="none"/>
            <a:tailEnd len="sm" w="sm" type="none"/>
          </a:ln>
        </p:spPr>
      </p:cxnSp>
      <p:sp>
        <p:nvSpPr>
          <p:cNvPr id="1564" name="Google Shape;1564;p65"/>
          <p:cNvSpPr/>
          <p:nvPr/>
        </p:nvSpPr>
        <p:spPr>
          <a:xfrm>
            <a:off x="2521324" y="2768227"/>
            <a:ext cx="1828800" cy="5400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Student</a:t>
            </a:r>
            <a:endParaRPr/>
          </a:p>
        </p:txBody>
      </p:sp>
      <p:sp>
        <p:nvSpPr>
          <p:cNvPr id="1565" name="Google Shape;1565;p65"/>
          <p:cNvSpPr/>
          <p:nvPr/>
        </p:nvSpPr>
        <p:spPr>
          <a:xfrm>
            <a:off x="7017124" y="2780219"/>
            <a:ext cx="1828800" cy="540000"/>
          </a:xfrm>
          <a:prstGeom prst="rect">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Professor</a:t>
            </a:r>
            <a:endParaRPr/>
          </a:p>
        </p:txBody>
      </p:sp>
      <p:cxnSp>
        <p:nvCxnSpPr>
          <p:cNvPr id="1566" name="Google Shape;1566;p65"/>
          <p:cNvCxnSpPr/>
          <p:nvPr/>
        </p:nvCxnSpPr>
        <p:spPr>
          <a:xfrm>
            <a:off x="7931524" y="2393577"/>
            <a:ext cx="0" cy="388728"/>
          </a:xfrm>
          <a:prstGeom prst="straightConnector1">
            <a:avLst/>
          </a:prstGeom>
          <a:noFill/>
          <a:ln cap="flat" cmpd="sng" w="28575">
            <a:solidFill>
              <a:schemeClr val="accent6"/>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xEl>
                                              <p:pRg end="0" st="0"/>
                                            </p:txEl>
                                          </p:spTgt>
                                        </p:tgtEl>
                                        <p:attrNameLst>
                                          <p:attrName>style.visibility</p:attrName>
                                        </p:attrNameLst>
                                      </p:cBhvr>
                                      <p:to>
                                        <p:strVal val="visible"/>
                                      </p:to>
                                    </p:set>
                                    <p:animEffect filter="fade" transition="in">
                                      <p:cBhvr>
                                        <p:cTn dur="500"/>
                                        <p:tgtEl>
                                          <p:spTgt spid="15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xEl>
                                              <p:pRg end="1" st="1"/>
                                            </p:txEl>
                                          </p:spTgt>
                                        </p:tgtEl>
                                        <p:attrNameLst>
                                          <p:attrName>style.visibility</p:attrName>
                                        </p:attrNameLst>
                                      </p:cBhvr>
                                      <p:to>
                                        <p:strVal val="visible"/>
                                      </p:to>
                                    </p:set>
                                    <p:animEffect filter="fade" transition="in">
                                      <p:cBhvr>
                                        <p:cTn dur="500"/>
                                        <p:tgtEl>
                                          <p:spTgt spid="15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xEl>
                                              <p:pRg end="2" st="2"/>
                                            </p:txEl>
                                          </p:spTgt>
                                        </p:tgtEl>
                                        <p:attrNameLst>
                                          <p:attrName>style.visibility</p:attrName>
                                        </p:attrNameLst>
                                      </p:cBhvr>
                                      <p:to>
                                        <p:strVal val="visible"/>
                                      </p:to>
                                    </p:set>
                                    <p:animEffect filter="fade" transition="in">
                                      <p:cBhvr>
                                        <p:cTn dur="500"/>
                                        <p:tgtEl>
                                          <p:spTgt spid="15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xEl>
                                              <p:pRg end="3" st="3"/>
                                            </p:txEl>
                                          </p:spTgt>
                                        </p:tgtEl>
                                        <p:attrNameLst>
                                          <p:attrName>style.visibility</p:attrName>
                                        </p:attrNameLst>
                                      </p:cBhvr>
                                      <p:to>
                                        <p:strVal val="visible"/>
                                      </p:to>
                                    </p:set>
                                    <p:animEffect filter="fade" transition="in">
                                      <p:cBhvr>
                                        <p:cTn dur="500"/>
                                        <p:tgtEl>
                                          <p:spTgt spid="15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xEl>
                                              <p:pRg end="4" st="4"/>
                                            </p:txEl>
                                          </p:spTgt>
                                        </p:tgtEl>
                                        <p:attrNameLst>
                                          <p:attrName>style.visibility</p:attrName>
                                        </p:attrNameLst>
                                      </p:cBhvr>
                                      <p:to>
                                        <p:strVal val="visible"/>
                                      </p:to>
                                    </p:set>
                                    <p:animEffect filter="fade" transition="in">
                                      <p:cBhvr>
                                        <p:cTn dur="500"/>
                                        <p:tgtEl>
                                          <p:spTgt spid="15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xEl>
                                              <p:pRg end="5" st="5"/>
                                            </p:txEl>
                                          </p:spTgt>
                                        </p:tgtEl>
                                        <p:attrNameLst>
                                          <p:attrName>style.visibility</p:attrName>
                                        </p:attrNameLst>
                                      </p:cBhvr>
                                      <p:to>
                                        <p:strVal val="visible"/>
                                      </p:to>
                                    </p:set>
                                    <p:animEffect filter="fade" transition="in">
                                      <p:cBhvr>
                                        <p:cTn dur="500"/>
                                        <p:tgtEl>
                                          <p:spTgt spid="15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xEl>
                                              <p:pRg end="6" st="6"/>
                                            </p:txEl>
                                          </p:spTgt>
                                        </p:tgtEl>
                                        <p:attrNameLst>
                                          <p:attrName>style.visibility</p:attrName>
                                        </p:attrNameLst>
                                      </p:cBhvr>
                                      <p:to>
                                        <p:strVal val="visible"/>
                                      </p:to>
                                    </p:set>
                                    <p:animEffect filter="fade" transition="in">
                                      <p:cBhvr>
                                        <p:cTn dur="500"/>
                                        <p:tgtEl>
                                          <p:spTgt spid="155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0"/>
                                        </p:tgtEl>
                                        <p:attrNameLst>
                                          <p:attrName>style.visibility</p:attrName>
                                        </p:attrNameLst>
                                      </p:cBhvr>
                                      <p:to>
                                        <p:strVal val="visible"/>
                                      </p:to>
                                    </p:set>
                                    <p:animEffect filter="fade" transition="in">
                                      <p:cBhvr>
                                        <p:cTn dur="500"/>
                                        <p:tgtEl>
                                          <p:spTgt spid="1560"/>
                                        </p:tgtEl>
                                      </p:cBhvr>
                                    </p:animEffect>
                                  </p:childTnLst>
                                </p:cTn>
                              </p:par>
                              <p:par>
                                <p:cTn fill="hold" nodeType="withEffect" presetClass="entr" presetID="10" presetSubtype="0">
                                  <p:stCondLst>
                                    <p:cond delay="0"/>
                                  </p:stCondLst>
                                  <p:childTnLst>
                                    <p:set>
                                      <p:cBhvr>
                                        <p:cTn dur="1" fill="hold">
                                          <p:stCondLst>
                                            <p:cond delay="0"/>
                                          </p:stCondLst>
                                        </p:cTn>
                                        <p:tgtEl>
                                          <p:spTgt spid="1562"/>
                                        </p:tgtEl>
                                        <p:attrNameLst>
                                          <p:attrName>style.visibility</p:attrName>
                                        </p:attrNameLst>
                                      </p:cBhvr>
                                      <p:to>
                                        <p:strVal val="visible"/>
                                      </p:to>
                                    </p:set>
                                    <p:animEffect filter="fade" transition="in">
                                      <p:cBhvr>
                                        <p:cTn dur="500"/>
                                        <p:tgtEl>
                                          <p:spTgt spid="1562"/>
                                        </p:tgtEl>
                                      </p:cBhvr>
                                    </p:animEffect>
                                  </p:childTnLst>
                                </p:cTn>
                              </p:par>
                              <p:par>
                                <p:cTn fill="hold" nodeType="withEffect" presetClass="entr" presetID="10" presetSubtype="0">
                                  <p:stCondLst>
                                    <p:cond delay="0"/>
                                  </p:stCondLst>
                                  <p:childTnLst>
                                    <p:set>
                                      <p:cBhvr>
                                        <p:cTn dur="1" fill="hold">
                                          <p:stCondLst>
                                            <p:cond delay="0"/>
                                          </p:stCondLst>
                                        </p:cTn>
                                        <p:tgtEl>
                                          <p:spTgt spid="1561"/>
                                        </p:tgtEl>
                                        <p:attrNameLst>
                                          <p:attrName>style.visibility</p:attrName>
                                        </p:attrNameLst>
                                      </p:cBhvr>
                                      <p:to>
                                        <p:strVal val="visible"/>
                                      </p:to>
                                    </p:set>
                                    <p:animEffect filter="fade" transition="in">
                                      <p:cBhvr>
                                        <p:cTn dur="500"/>
                                        <p:tgtEl>
                                          <p:spTgt spid="1561"/>
                                        </p:tgtEl>
                                      </p:cBhvr>
                                    </p:animEffect>
                                  </p:childTnLst>
                                </p:cTn>
                              </p:par>
                              <p:par>
                                <p:cTn fill="hold" nodeType="withEffect" presetClass="entr" presetID="10" presetSubtype="0">
                                  <p:stCondLst>
                                    <p:cond delay="0"/>
                                  </p:stCondLst>
                                  <p:childTnLst>
                                    <p:set>
                                      <p:cBhvr>
                                        <p:cTn dur="1" fill="hold">
                                          <p:stCondLst>
                                            <p:cond delay="0"/>
                                          </p:stCondLst>
                                        </p:cTn>
                                        <p:tgtEl>
                                          <p:spTgt spid="1563"/>
                                        </p:tgtEl>
                                        <p:attrNameLst>
                                          <p:attrName>style.visibility</p:attrName>
                                        </p:attrNameLst>
                                      </p:cBhvr>
                                      <p:to>
                                        <p:strVal val="visible"/>
                                      </p:to>
                                    </p:set>
                                    <p:animEffect filter="fade" transition="in">
                                      <p:cBhvr>
                                        <p:cTn dur="500"/>
                                        <p:tgtEl>
                                          <p:spTgt spid="1563"/>
                                        </p:tgtEl>
                                      </p:cBhvr>
                                    </p:animEffect>
                                  </p:childTnLst>
                                </p:cTn>
                              </p:par>
                              <p:par>
                                <p:cTn fill="hold" nodeType="withEffect" presetClass="entr" presetID="10" presetSubtype="0">
                                  <p:stCondLst>
                                    <p:cond delay="0"/>
                                  </p:stCondLst>
                                  <p:childTnLst>
                                    <p:set>
                                      <p:cBhvr>
                                        <p:cTn dur="1" fill="hold">
                                          <p:stCondLst>
                                            <p:cond delay="0"/>
                                          </p:stCondLst>
                                        </p:cTn>
                                        <p:tgtEl>
                                          <p:spTgt spid="1564"/>
                                        </p:tgtEl>
                                        <p:attrNameLst>
                                          <p:attrName>style.visibility</p:attrName>
                                        </p:attrNameLst>
                                      </p:cBhvr>
                                      <p:to>
                                        <p:strVal val="visible"/>
                                      </p:to>
                                    </p:set>
                                    <p:animEffect filter="fade" transition="in">
                                      <p:cBhvr>
                                        <p:cTn dur="500"/>
                                        <p:tgtEl>
                                          <p:spTgt spid="1564"/>
                                        </p:tgtEl>
                                      </p:cBhvr>
                                    </p:animEffect>
                                  </p:childTnLst>
                                </p:cTn>
                              </p:par>
                              <p:par>
                                <p:cTn fill="hold" nodeType="withEffect" presetClass="entr" presetID="10" presetSubtype="0">
                                  <p:stCondLst>
                                    <p:cond delay="0"/>
                                  </p:stCondLst>
                                  <p:childTnLst>
                                    <p:set>
                                      <p:cBhvr>
                                        <p:cTn dur="1" fill="hold">
                                          <p:stCondLst>
                                            <p:cond delay="0"/>
                                          </p:stCondLst>
                                        </p:cTn>
                                        <p:tgtEl>
                                          <p:spTgt spid="1565"/>
                                        </p:tgtEl>
                                        <p:attrNameLst>
                                          <p:attrName>style.visibility</p:attrName>
                                        </p:attrNameLst>
                                      </p:cBhvr>
                                      <p:to>
                                        <p:strVal val="visible"/>
                                      </p:to>
                                    </p:set>
                                    <p:animEffect filter="fade" transition="in">
                                      <p:cBhvr>
                                        <p:cTn dur="500"/>
                                        <p:tgtEl>
                                          <p:spTgt spid="1565"/>
                                        </p:tgtEl>
                                      </p:cBhvr>
                                    </p:animEffect>
                                  </p:childTnLst>
                                </p:cTn>
                              </p:par>
                              <p:par>
                                <p:cTn fill="hold" nodeType="withEffect" presetClass="entr" presetID="10" presetSubtype="0">
                                  <p:stCondLst>
                                    <p:cond delay="0"/>
                                  </p:stCondLst>
                                  <p:childTnLst>
                                    <p:set>
                                      <p:cBhvr>
                                        <p:cTn dur="1" fill="hold">
                                          <p:stCondLst>
                                            <p:cond delay="0"/>
                                          </p:stCondLst>
                                        </p:cTn>
                                        <p:tgtEl>
                                          <p:spTgt spid="1566"/>
                                        </p:tgtEl>
                                        <p:attrNameLst>
                                          <p:attrName>style.visibility</p:attrName>
                                        </p:attrNameLst>
                                      </p:cBhvr>
                                      <p:to>
                                        <p:strVal val="visible"/>
                                      </p:to>
                                    </p:set>
                                    <p:animEffect filter="fade" transition="in">
                                      <p:cBhvr>
                                        <p:cTn dur="500"/>
                                        <p:tgtEl>
                                          <p:spTgt spid="1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6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Network Model</a:t>
            </a:r>
            <a:endParaRPr/>
          </a:p>
        </p:txBody>
      </p:sp>
      <p:sp>
        <p:nvSpPr>
          <p:cNvPr id="1572" name="Google Shape;1572;p66"/>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This is an </a:t>
            </a:r>
            <a:r>
              <a:rPr b="1" lang="en-US">
                <a:solidFill>
                  <a:schemeClr val="accent6"/>
                </a:solidFill>
              </a:rPr>
              <a:t>extension of the hierarchical model</a:t>
            </a:r>
            <a:r>
              <a:rPr lang="en-US"/>
              <a:t>, allowing </a:t>
            </a:r>
            <a:r>
              <a:rPr b="1" lang="en-US">
                <a:solidFill>
                  <a:schemeClr val="accent6"/>
                </a:solidFill>
              </a:rPr>
              <a:t>many-to-many relationships </a:t>
            </a:r>
            <a:r>
              <a:rPr lang="en-US"/>
              <a:t>in a tree-like structure that </a:t>
            </a:r>
            <a:r>
              <a:rPr b="1" lang="en-US">
                <a:solidFill>
                  <a:schemeClr val="accent6"/>
                </a:solidFill>
              </a:rPr>
              <a:t>allows multiple parents</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
        <p:nvSpPr>
          <p:cNvPr id="1573" name="Google Shape;1573;p66"/>
          <p:cNvSpPr/>
          <p:nvPr/>
        </p:nvSpPr>
        <p:spPr>
          <a:xfrm>
            <a:off x="5341552" y="2180077"/>
            <a:ext cx="720000" cy="720000"/>
          </a:xfrm>
          <a:prstGeom prst="ellipse">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A</a:t>
            </a:r>
            <a:endParaRPr/>
          </a:p>
        </p:txBody>
      </p:sp>
      <p:sp>
        <p:nvSpPr>
          <p:cNvPr id="1574" name="Google Shape;1574;p66"/>
          <p:cNvSpPr/>
          <p:nvPr/>
        </p:nvSpPr>
        <p:spPr>
          <a:xfrm>
            <a:off x="4406152" y="3288877"/>
            <a:ext cx="720000" cy="720000"/>
          </a:xfrm>
          <a:prstGeom prst="ellipse">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B</a:t>
            </a:r>
            <a:endParaRPr/>
          </a:p>
        </p:txBody>
      </p:sp>
      <p:sp>
        <p:nvSpPr>
          <p:cNvPr id="1575" name="Google Shape;1575;p66"/>
          <p:cNvSpPr/>
          <p:nvPr/>
        </p:nvSpPr>
        <p:spPr>
          <a:xfrm>
            <a:off x="6311152" y="3305977"/>
            <a:ext cx="720000" cy="720000"/>
          </a:xfrm>
          <a:prstGeom prst="ellipse">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C</a:t>
            </a:r>
            <a:endParaRPr/>
          </a:p>
        </p:txBody>
      </p:sp>
      <p:cxnSp>
        <p:nvCxnSpPr>
          <p:cNvPr id="1576" name="Google Shape;1576;p66"/>
          <p:cNvCxnSpPr>
            <a:stCxn id="1573" idx="3"/>
            <a:endCxn id="1574" idx="7"/>
          </p:cNvCxnSpPr>
          <p:nvPr/>
        </p:nvCxnSpPr>
        <p:spPr>
          <a:xfrm flipH="1">
            <a:off x="5020694" y="2794635"/>
            <a:ext cx="426300" cy="599700"/>
          </a:xfrm>
          <a:prstGeom prst="straightConnector1">
            <a:avLst/>
          </a:prstGeom>
          <a:noFill/>
          <a:ln cap="flat" cmpd="sng" w="28575">
            <a:solidFill>
              <a:schemeClr val="accent6"/>
            </a:solidFill>
            <a:prstDash val="solid"/>
            <a:miter lim="800000"/>
            <a:headEnd len="sm" w="sm" type="none"/>
            <a:tailEnd len="sm" w="sm" type="none"/>
          </a:ln>
        </p:spPr>
      </p:cxnSp>
      <p:cxnSp>
        <p:nvCxnSpPr>
          <p:cNvPr id="1577" name="Google Shape;1577;p66"/>
          <p:cNvCxnSpPr>
            <a:stCxn id="1573" idx="5"/>
            <a:endCxn id="1575" idx="1"/>
          </p:cNvCxnSpPr>
          <p:nvPr/>
        </p:nvCxnSpPr>
        <p:spPr>
          <a:xfrm>
            <a:off x="5956110" y="2794635"/>
            <a:ext cx="460500" cy="616800"/>
          </a:xfrm>
          <a:prstGeom prst="straightConnector1">
            <a:avLst/>
          </a:prstGeom>
          <a:noFill/>
          <a:ln cap="flat" cmpd="sng" w="28575">
            <a:solidFill>
              <a:schemeClr val="accent6"/>
            </a:solidFill>
            <a:prstDash val="solid"/>
            <a:miter lim="800000"/>
            <a:headEnd len="sm" w="sm" type="none"/>
            <a:tailEnd len="sm" w="sm" type="none"/>
          </a:ln>
        </p:spPr>
      </p:cxnSp>
      <p:sp>
        <p:nvSpPr>
          <p:cNvPr id="1578" name="Google Shape;1578;p66"/>
          <p:cNvSpPr/>
          <p:nvPr/>
        </p:nvSpPr>
        <p:spPr>
          <a:xfrm>
            <a:off x="3491752" y="4398847"/>
            <a:ext cx="720000" cy="720000"/>
          </a:xfrm>
          <a:prstGeom prst="ellipse">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D</a:t>
            </a:r>
            <a:endParaRPr/>
          </a:p>
        </p:txBody>
      </p:sp>
      <p:sp>
        <p:nvSpPr>
          <p:cNvPr id="1579" name="Google Shape;1579;p66"/>
          <p:cNvSpPr/>
          <p:nvPr/>
        </p:nvSpPr>
        <p:spPr>
          <a:xfrm>
            <a:off x="5341552" y="4398847"/>
            <a:ext cx="720000" cy="720000"/>
          </a:xfrm>
          <a:prstGeom prst="ellipse">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E</a:t>
            </a:r>
            <a:endParaRPr/>
          </a:p>
        </p:txBody>
      </p:sp>
      <p:cxnSp>
        <p:nvCxnSpPr>
          <p:cNvPr id="1580" name="Google Shape;1580;p66"/>
          <p:cNvCxnSpPr>
            <a:endCxn id="1578" idx="7"/>
          </p:cNvCxnSpPr>
          <p:nvPr/>
        </p:nvCxnSpPr>
        <p:spPr>
          <a:xfrm flipH="1">
            <a:off x="4106310" y="3904589"/>
            <a:ext cx="405300" cy="599700"/>
          </a:xfrm>
          <a:prstGeom prst="straightConnector1">
            <a:avLst/>
          </a:prstGeom>
          <a:noFill/>
          <a:ln cap="flat" cmpd="sng" w="28575">
            <a:solidFill>
              <a:schemeClr val="accent6"/>
            </a:solidFill>
            <a:prstDash val="solid"/>
            <a:miter lim="800000"/>
            <a:headEnd len="sm" w="sm" type="none"/>
            <a:tailEnd len="sm" w="sm" type="none"/>
          </a:ln>
        </p:spPr>
      </p:cxnSp>
      <p:cxnSp>
        <p:nvCxnSpPr>
          <p:cNvPr id="1581" name="Google Shape;1581;p66"/>
          <p:cNvCxnSpPr>
            <a:stCxn id="1574" idx="5"/>
            <a:endCxn id="1579" idx="1"/>
          </p:cNvCxnSpPr>
          <p:nvPr/>
        </p:nvCxnSpPr>
        <p:spPr>
          <a:xfrm>
            <a:off x="5020710" y="3903435"/>
            <a:ext cx="426300" cy="600900"/>
          </a:xfrm>
          <a:prstGeom prst="straightConnector1">
            <a:avLst/>
          </a:prstGeom>
          <a:noFill/>
          <a:ln cap="flat" cmpd="sng" w="28575">
            <a:solidFill>
              <a:schemeClr val="accent6"/>
            </a:solidFill>
            <a:prstDash val="solid"/>
            <a:miter lim="800000"/>
            <a:headEnd len="sm" w="sm" type="none"/>
            <a:tailEnd len="sm" w="sm" type="none"/>
          </a:ln>
        </p:spPr>
      </p:cxnSp>
      <p:sp>
        <p:nvSpPr>
          <p:cNvPr id="1582" name="Google Shape;1582;p66"/>
          <p:cNvSpPr/>
          <p:nvPr/>
        </p:nvSpPr>
        <p:spPr>
          <a:xfrm>
            <a:off x="7243613" y="4398847"/>
            <a:ext cx="720000" cy="720000"/>
          </a:xfrm>
          <a:prstGeom prst="ellipse">
            <a:avLst/>
          </a:prstGeom>
          <a:gradFill>
            <a:gsLst>
              <a:gs pos="0">
                <a:srgbClr val="5C2321"/>
              </a:gs>
              <a:gs pos="10000">
                <a:srgbClr val="5C2321"/>
              </a:gs>
              <a:gs pos="100000">
                <a:schemeClr val="accent6"/>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Roboto Condensed"/>
                <a:ea typeface="Roboto Condensed"/>
                <a:cs typeface="Roboto Condensed"/>
                <a:sym typeface="Roboto Condensed"/>
              </a:rPr>
              <a:t>F</a:t>
            </a:r>
            <a:endParaRPr/>
          </a:p>
        </p:txBody>
      </p:sp>
      <p:cxnSp>
        <p:nvCxnSpPr>
          <p:cNvPr id="1583" name="Google Shape;1583;p66"/>
          <p:cNvCxnSpPr>
            <a:stCxn id="1575" idx="5"/>
            <a:endCxn id="1582" idx="1"/>
          </p:cNvCxnSpPr>
          <p:nvPr/>
        </p:nvCxnSpPr>
        <p:spPr>
          <a:xfrm>
            <a:off x="6925710" y="3920535"/>
            <a:ext cx="423300" cy="583800"/>
          </a:xfrm>
          <a:prstGeom prst="straightConnector1">
            <a:avLst/>
          </a:prstGeom>
          <a:noFill/>
          <a:ln cap="flat" cmpd="sng" w="28575">
            <a:solidFill>
              <a:schemeClr val="accent6"/>
            </a:solidFill>
            <a:prstDash val="solid"/>
            <a:miter lim="800000"/>
            <a:headEnd len="sm" w="sm" type="none"/>
            <a:tailEnd len="sm" w="sm" type="none"/>
          </a:ln>
        </p:spPr>
      </p:cxnSp>
      <p:cxnSp>
        <p:nvCxnSpPr>
          <p:cNvPr id="1584" name="Google Shape;1584;p66"/>
          <p:cNvCxnSpPr>
            <a:stCxn id="1575" idx="3"/>
            <a:endCxn id="1579" idx="7"/>
          </p:cNvCxnSpPr>
          <p:nvPr/>
        </p:nvCxnSpPr>
        <p:spPr>
          <a:xfrm flipH="1">
            <a:off x="5956094" y="3920535"/>
            <a:ext cx="460500" cy="583800"/>
          </a:xfrm>
          <a:prstGeom prst="straightConnector1">
            <a:avLst/>
          </a:prstGeom>
          <a:noFill/>
          <a:ln cap="flat" cmpd="sng" w="28575">
            <a:solidFill>
              <a:schemeClr val="accent6"/>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xEl>
                                              <p:pRg end="0" st="0"/>
                                            </p:txEl>
                                          </p:spTgt>
                                        </p:tgtEl>
                                        <p:attrNameLst>
                                          <p:attrName>style.visibility</p:attrName>
                                        </p:attrNameLst>
                                      </p:cBhvr>
                                      <p:to>
                                        <p:strVal val="visible"/>
                                      </p:to>
                                    </p:set>
                                    <p:animEffect filter="fade" transition="in">
                                      <p:cBhvr>
                                        <p:cTn dur="500"/>
                                        <p:tgtEl>
                                          <p:spTgt spid="15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xEl>
                                              <p:pRg end="1" st="1"/>
                                            </p:txEl>
                                          </p:spTgt>
                                        </p:tgtEl>
                                        <p:attrNameLst>
                                          <p:attrName>style.visibility</p:attrName>
                                        </p:attrNameLst>
                                      </p:cBhvr>
                                      <p:to>
                                        <p:strVal val="visible"/>
                                      </p:to>
                                    </p:set>
                                    <p:animEffect filter="fade" transition="in">
                                      <p:cBhvr>
                                        <p:cTn dur="500"/>
                                        <p:tgtEl>
                                          <p:spTgt spid="15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xEl>
                                              <p:pRg end="2" st="2"/>
                                            </p:txEl>
                                          </p:spTgt>
                                        </p:tgtEl>
                                        <p:attrNameLst>
                                          <p:attrName>style.visibility</p:attrName>
                                        </p:attrNameLst>
                                      </p:cBhvr>
                                      <p:to>
                                        <p:strVal val="visible"/>
                                      </p:to>
                                    </p:set>
                                    <p:animEffect filter="fade" transition="in">
                                      <p:cBhvr>
                                        <p:cTn dur="500"/>
                                        <p:tgtEl>
                                          <p:spTgt spid="15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xEl>
                                              <p:pRg end="3" st="3"/>
                                            </p:txEl>
                                          </p:spTgt>
                                        </p:tgtEl>
                                        <p:attrNameLst>
                                          <p:attrName>style.visibility</p:attrName>
                                        </p:attrNameLst>
                                      </p:cBhvr>
                                      <p:to>
                                        <p:strVal val="visible"/>
                                      </p:to>
                                    </p:set>
                                    <p:animEffect filter="fade" transition="in">
                                      <p:cBhvr>
                                        <p:cTn dur="500"/>
                                        <p:tgtEl>
                                          <p:spTgt spid="15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xEl>
                                              <p:pRg end="4" st="4"/>
                                            </p:txEl>
                                          </p:spTgt>
                                        </p:tgtEl>
                                        <p:attrNameLst>
                                          <p:attrName>style.visibility</p:attrName>
                                        </p:attrNameLst>
                                      </p:cBhvr>
                                      <p:to>
                                        <p:strVal val="visible"/>
                                      </p:to>
                                    </p:set>
                                    <p:animEffect filter="fade" transition="in">
                                      <p:cBhvr>
                                        <p:cTn dur="500"/>
                                        <p:tgtEl>
                                          <p:spTgt spid="15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3"/>
                                        </p:tgtEl>
                                        <p:attrNameLst>
                                          <p:attrName>style.visibility</p:attrName>
                                        </p:attrNameLst>
                                      </p:cBhvr>
                                      <p:to>
                                        <p:strVal val="visible"/>
                                      </p:to>
                                    </p:set>
                                    <p:animEffect filter="fade" transition="in">
                                      <p:cBhvr>
                                        <p:cTn dur="500"/>
                                        <p:tgtEl>
                                          <p:spTgt spid="1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gtEl>
                                        <p:attrNameLst>
                                          <p:attrName>style.visibility</p:attrName>
                                        </p:attrNameLst>
                                      </p:cBhvr>
                                      <p:to>
                                        <p:strVal val="visible"/>
                                      </p:to>
                                    </p:set>
                                    <p:animEffect filter="fade" transition="in">
                                      <p:cBhvr>
                                        <p:cTn dur="500"/>
                                        <p:tgtEl>
                                          <p:spTgt spid="1574"/>
                                        </p:tgtEl>
                                      </p:cBhvr>
                                    </p:animEffect>
                                  </p:childTnLst>
                                </p:cTn>
                              </p:par>
                              <p:par>
                                <p:cTn fill="hold" nodeType="withEffect" presetClass="entr" presetID="10" presetSubtype="0">
                                  <p:stCondLst>
                                    <p:cond delay="0"/>
                                  </p:stCondLst>
                                  <p:childTnLst>
                                    <p:set>
                                      <p:cBhvr>
                                        <p:cTn dur="1" fill="hold">
                                          <p:stCondLst>
                                            <p:cond delay="0"/>
                                          </p:stCondLst>
                                        </p:cTn>
                                        <p:tgtEl>
                                          <p:spTgt spid="1575"/>
                                        </p:tgtEl>
                                        <p:attrNameLst>
                                          <p:attrName>style.visibility</p:attrName>
                                        </p:attrNameLst>
                                      </p:cBhvr>
                                      <p:to>
                                        <p:strVal val="visible"/>
                                      </p:to>
                                    </p:set>
                                    <p:animEffect filter="fade" transition="in">
                                      <p:cBhvr>
                                        <p:cTn dur="500"/>
                                        <p:tgtEl>
                                          <p:spTgt spid="1575"/>
                                        </p:tgtEl>
                                      </p:cBhvr>
                                    </p:animEffect>
                                  </p:childTnLst>
                                </p:cTn>
                              </p:par>
                              <p:par>
                                <p:cTn fill="hold" nodeType="withEffect" presetClass="entr" presetID="10" presetSubtype="0">
                                  <p:stCondLst>
                                    <p:cond delay="0"/>
                                  </p:stCondLst>
                                  <p:childTnLst>
                                    <p:set>
                                      <p:cBhvr>
                                        <p:cTn dur="1" fill="hold">
                                          <p:stCondLst>
                                            <p:cond delay="0"/>
                                          </p:stCondLst>
                                        </p:cTn>
                                        <p:tgtEl>
                                          <p:spTgt spid="1576"/>
                                        </p:tgtEl>
                                        <p:attrNameLst>
                                          <p:attrName>style.visibility</p:attrName>
                                        </p:attrNameLst>
                                      </p:cBhvr>
                                      <p:to>
                                        <p:strVal val="visible"/>
                                      </p:to>
                                    </p:set>
                                    <p:animEffect filter="fade" transition="in">
                                      <p:cBhvr>
                                        <p:cTn dur="500"/>
                                        <p:tgtEl>
                                          <p:spTgt spid="1576"/>
                                        </p:tgtEl>
                                      </p:cBhvr>
                                    </p:animEffect>
                                  </p:childTnLst>
                                </p:cTn>
                              </p:par>
                              <p:par>
                                <p:cTn fill="hold" nodeType="withEffect" presetClass="entr" presetID="10" presetSubtype="0">
                                  <p:stCondLst>
                                    <p:cond delay="0"/>
                                  </p:stCondLst>
                                  <p:childTnLst>
                                    <p:set>
                                      <p:cBhvr>
                                        <p:cTn dur="1" fill="hold">
                                          <p:stCondLst>
                                            <p:cond delay="0"/>
                                          </p:stCondLst>
                                        </p:cTn>
                                        <p:tgtEl>
                                          <p:spTgt spid="1577"/>
                                        </p:tgtEl>
                                        <p:attrNameLst>
                                          <p:attrName>style.visibility</p:attrName>
                                        </p:attrNameLst>
                                      </p:cBhvr>
                                      <p:to>
                                        <p:strVal val="visible"/>
                                      </p:to>
                                    </p:set>
                                    <p:animEffect filter="fade" transition="in">
                                      <p:cBhvr>
                                        <p:cTn dur="500"/>
                                        <p:tgtEl>
                                          <p:spTgt spid="1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gtEl>
                                        <p:attrNameLst>
                                          <p:attrName>style.visibility</p:attrName>
                                        </p:attrNameLst>
                                      </p:cBhvr>
                                      <p:to>
                                        <p:strVal val="visible"/>
                                      </p:to>
                                    </p:set>
                                    <p:animEffect filter="fade" transition="in">
                                      <p:cBhvr>
                                        <p:cTn dur="500"/>
                                        <p:tgtEl>
                                          <p:spTgt spid="1578"/>
                                        </p:tgtEl>
                                      </p:cBhvr>
                                    </p:animEffect>
                                  </p:childTnLst>
                                </p:cTn>
                              </p:par>
                              <p:par>
                                <p:cTn fill="hold" nodeType="withEffect" presetClass="entr" presetID="10" presetSubtype="0">
                                  <p:stCondLst>
                                    <p:cond delay="0"/>
                                  </p:stCondLst>
                                  <p:childTnLst>
                                    <p:set>
                                      <p:cBhvr>
                                        <p:cTn dur="1" fill="hold">
                                          <p:stCondLst>
                                            <p:cond delay="0"/>
                                          </p:stCondLst>
                                        </p:cTn>
                                        <p:tgtEl>
                                          <p:spTgt spid="1579"/>
                                        </p:tgtEl>
                                        <p:attrNameLst>
                                          <p:attrName>style.visibility</p:attrName>
                                        </p:attrNameLst>
                                      </p:cBhvr>
                                      <p:to>
                                        <p:strVal val="visible"/>
                                      </p:to>
                                    </p:set>
                                    <p:animEffect filter="fade" transition="in">
                                      <p:cBhvr>
                                        <p:cTn dur="500"/>
                                        <p:tgtEl>
                                          <p:spTgt spid="1579"/>
                                        </p:tgtEl>
                                      </p:cBhvr>
                                    </p:animEffect>
                                  </p:childTnLst>
                                </p:cTn>
                              </p:par>
                              <p:par>
                                <p:cTn fill="hold" nodeType="with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500"/>
                                        <p:tgtEl>
                                          <p:spTgt spid="1580"/>
                                        </p:tgtEl>
                                      </p:cBhvr>
                                    </p:animEffect>
                                  </p:childTnLst>
                                </p:cTn>
                              </p:par>
                              <p:par>
                                <p:cTn fill="hold" nodeType="withEffect" presetClass="entr" presetID="10" presetSubtype="0">
                                  <p:stCondLst>
                                    <p:cond delay="0"/>
                                  </p:stCondLst>
                                  <p:childTnLst>
                                    <p:set>
                                      <p:cBhvr>
                                        <p:cTn dur="1" fill="hold">
                                          <p:stCondLst>
                                            <p:cond delay="0"/>
                                          </p:stCondLst>
                                        </p:cTn>
                                        <p:tgtEl>
                                          <p:spTgt spid="1581"/>
                                        </p:tgtEl>
                                        <p:attrNameLst>
                                          <p:attrName>style.visibility</p:attrName>
                                        </p:attrNameLst>
                                      </p:cBhvr>
                                      <p:to>
                                        <p:strVal val="visible"/>
                                      </p:to>
                                    </p:set>
                                    <p:animEffect filter="fade" transition="in">
                                      <p:cBhvr>
                                        <p:cTn dur="500"/>
                                        <p:tgtEl>
                                          <p:spTgt spid="1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2"/>
                                        </p:tgtEl>
                                        <p:attrNameLst>
                                          <p:attrName>style.visibility</p:attrName>
                                        </p:attrNameLst>
                                      </p:cBhvr>
                                      <p:to>
                                        <p:strVal val="visible"/>
                                      </p:to>
                                    </p:set>
                                    <p:animEffect filter="fade" transition="in">
                                      <p:cBhvr>
                                        <p:cTn dur="500"/>
                                        <p:tgtEl>
                                          <p:spTgt spid="1582"/>
                                        </p:tgtEl>
                                      </p:cBhvr>
                                    </p:animEffect>
                                  </p:childTnLst>
                                </p:cTn>
                              </p:par>
                              <p:par>
                                <p:cTn fill="hold" nodeType="withEffect" presetClass="entr" presetID="10" presetSubtype="0">
                                  <p:stCondLst>
                                    <p:cond delay="0"/>
                                  </p:stCondLst>
                                  <p:childTnLst>
                                    <p:set>
                                      <p:cBhvr>
                                        <p:cTn dur="1" fill="hold">
                                          <p:stCondLst>
                                            <p:cond delay="0"/>
                                          </p:stCondLst>
                                        </p:cTn>
                                        <p:tgtEl>
                                          <p:spTgt spid="1583"/>
                                        </p:tgtEl>
                                        <p:attrNameLst>
                                          <p:attrName>style.visibility</p:attrName>
                                        </p:attrNameLst>
                                      </p:cBhvr>
                                      <p:to>
                                        <p:strVal val="visible"/>
                                      </p:to>
                                    </p:set>
                                    <p:animEffect filter="fade" transition="in">
                                      <p:cBhvr>
                                        <p:cTn dur="500"/>
                                        <p:tgtEl>
                                          <p:spTgt spid="1583"/>
                                        </p:tgtEl>
                                      </p:cBhvr>
                                    </p:animEffect>
                                  </p:childTnLst>
                                </p:cTn>
                              </p:par>
                              <p:par>
                                <p:cTn fill="hold" nodeType="withEffect" presetClass="entr" presetID="10" presetSubtype="0">
                                  <p:stCondLst>
                                    <p:cond delay="0"/>
                                  </p:stCondLst>
                                  <p:childTnLst>
                                    <p:set>
                                      <p:cBhvr>
                                        <p:cTn dur="1" fill="hold">
                                          <p:stCondLst>
                                            <p:cond delay="0"/>
                                          </p:stCondLst>
                                        </p:cTn>
                                        <p:tgtEl>
                                          <p:spTgt spid="1584"/>
                                        </p:tgtEl>
                                        <p:attrNameLst>
                                          <p:attrName>style.visibility</p:attrName>
                                        </p:attrNameLst>
                                      </p:cBhvr>
                                      <p:to>
                                        <p:strVal val="visible"/>
                                      </p:to>
                                    </p:set>
                                    <p:animEffect filter="fade" transition="in">
                                      <p:cBhvr>
                                        <p:cTn dur="500"/>
                                        <p:tgtEl>
                                          <p:spTgt spid="15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8" name="Shape 1588"/>
        <p:cNvGrpSpPr/>
        <p:nvPr/>
      </p:nvGrpSpPr>
      <p:grpSpPr>
        <a:xfrm>
          <a:off x="0" y="0"/>
          <a:ext cx="0" cy="0"/>
          <a:chOff x="0" y="0"/>
          <a:chExt cx="0" cy="0"/>
        </a:xfrm>
      </p:grpSpPr>
      <p:sp>
        <p:nvSpPr>
          <p:cNvPr id="1589" name="Google Shape;1589;p67"/>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Entity-relationship Model</a:t>
            </a:r>
            <a:endParaRPr/>
          </a:p>
        </p:txBody>
      </p:sp>
      <p:sp>
        <p:nvSpPr>
          <p:cNvPr id="1590" name="Google Shape;1590;p67"/>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In this database model, </a:t>
            </a:r>
            <a:r>
              <a:rPr b="1" lang="en-US">
                <a:solidFill>
                  <a:schemeClr val="accent6"/>
                </a:solidFill>
              </a:rPr>
              <a:t>relationships are created by dividing object of interest into entity </a:t>
            </a:r>
            <a:r>
              <a:rPr lang="en-US"/>
              <a:t>and</a:t>
            </a:r>
            <a:r>
              <a:rPr b="1" lang="en-US">
                <a:solidFill>
                  <a:schemeClr val="accent6"/>
                </a:solidFill>
              </a:rPr>
              <a:t> its characteristics into attributes</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
        <p:nvSpPr>
          <p:cNvPr id="1591" name="Google Shape;1591;p67"/>
          <p:cNvSpPr/>
          <p:nvPr/>
        </p:nvSpPr>
        <p:spPr>
          <a:xfrm>
            <a:off x="2870106" y="3453609"/>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Student</a:t>
            </a:r>
            <a:endParaRPr sz="1800">
              <a:solidFill>
                <a:schemeClr val="dk1"/>
              </a:solidFill>
              <a:latin typeface="Roboto Condensed"/>
              <a:ea typeface="Roboto Condensed"/>
              <a:cs typeface="Roboto Condensed"/>
              <a:sym typeface="Roboto Condensed"/>
            </a:endParaRPr>
          </a:p>
        </p:txBody>
      </p:sp>
      <p:sp>
        <p:nvSpPr>
          <p:cNvPr id="1592" name="Google Shape;1592;p67"/>
          <p:cNvSpPr/>
          <p:nvPr/>
        </p:nvSpPr>
        <p:spPr>
          <a:xfrm>
            <a:off x="8050083" y="3449253"/>
            <a:ext cx="1698171" cy="744583"/>
          </a:xfrm>
          <a:prstGeom prst="rect">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Book</a:t>
            </a:r>
            <a:endParaRPr sz="1800">
              <a:solidFill>
                <a:schemeClr val="dk1"/>
              </a:solidFill>
              <a:latin typeface="Roboto Condensed"/>
              <a:ea typeface="Roboto Condensed"/>
              <a:cs typeface="Roboto Condensed"/>
              <a:sym typeface="Roboto Condensed"/>
            </a:endParaRPr>
          </a:p>
        </p:txBody>
      </p:sp>
      <p:sp>
        <p:nvSpPr>
          <p:cNvPr id="1593" name="Google Shape;1593;p67"/>
          <p:cNvSpPr/>
          <p:nvPr/>
        </p:nvSpPr>
        <p:spPr>
          <a:xfrm>
            <a:off x="5444032" y="3375229"/>
            <a:ext cx="1724298" cy="892630"/>
          </a:xfrm>
          <a:prstGeom prst="diamond">
            <a:avLst/>
          </a:prstGeom>
          <a:noFill/>
          <a:ln cap="flat" cmpd="sng" w="2857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Issue</a:t>
            </a:r>
            <a:endParaRPr sz="1800">
              <a:solidFill>
                <a:schemeClr val="dk1"/>
              </a:solidFill>
              <a:latin typeface="Roboto Condensed"/>
              <a:ea typeface="Roboto Condensed"/>
              <a:cs typeface="Roboto Condensed"/>
              <a:sym typeface="Roboto Condensed"/>
            </a:endParaRPr>
          </a:p>
        </p:txBody>
      </p:sp>
      <p:cxnSp>
        <p:nvCxnSpPr>
          <p:cNvPr id="1594" name="Google Shape;1594;p67"/>
          <p:cNvCxnSpPr>
            <a:stCxn id="1593" idx="3"/>
            <a:endCxn id="1592" idx="1"/>
          </p:cNvCxnSpPr>
          <p:nvPr/>
        </p:nvCxnSpPr>
        <p:spPr>
          <a:xfrm>
            <a:off x="7168330" y="3821544"/>
            <a:ext cx="881700" cy="0"/>
          </a:xfrm>
          <a:prstGeom prst="straightConnector1">
            <a:avLst/>
          </a:prstGeom>
          <a:noFill/>
          <a:ln cap="flat" cmpd="sng" w="28575">
            <a:solidFill>
              <a:schemeClr val="accent4"/>
            </a:solidFill>
            <a:prstDash val="solid"/>
            <a:miter lim="800000"/>
            <a:headEnd len="sm" w="sm" type="none"/>
            <a:tailEnd len="sm" w="sm" type="none"/>
          </a:ln>
        </p:spPr>
      </p:cxnSp>
      <p:cxnSp>
        <p:nvCxnSpPr>
          <p:cNvPr id="1595" name="Google Shape;1595;p67"/>
          <p:cNvCxnSpPr/>
          <p:nvPr/>
        </p:nvCxnSpPr>
        <p:spPr>
          <a:xfrm>
            <a:off x="4562279" y="3821544"/>
            <a:ext cx="881753" cy="1"/>
          </a:xfrm>
          <a:prstGeom prst="straightConnector1">
            <a:avLst/>
          </a:prstGeom>
          <a:noFill/>
          <a:ln cap="flat" cmpd="sng" w="28575">
            <a:solidFill>
              <a:schemeClr val="accent4"/>
            </a:solidFill>
            <a:prstDash val="solid"/>
            <a:miter lim="800000"/>
            <a:headEnd len="sm" w="sm" type="none"/>
            <a:tailEnd len="sm" w="sm" type="none"/>
          </a:ln>
        </p:spPr>
      </p:cxnSp>
      <p:cxnSp>
        <p:nvCxnSpPr>
          <p:cNvPr id="1596" name="Google Shape;1596;p67"/>
          <p:cNvCxnSpPr>
            <a:stCxn id="1597" idx="4"/>
            <a:endCxn id="1591" idx="0"/>
          </p:cNvCxnSpPr>
          <p:nvPr/>
        </p:nvCxnSpPr>
        <p:spPr>
          <a:xfrm>
            <a:off x="2755803" y="3017636"/>
            <a:ext cx="963300" cy="4359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1597" name="Google Shape;1597;p67"/>
          <p:cNvSpPr/>
          <p:nvPr/>
        </p:nvSpPr>
        <p:spPr>
          <a:xfrm>
            <a:off x="2024283" y="2594726"/>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RollNo</a:t>
            </a:r>
            <a:endParaRPr sz="1800" u="sng">
              <a:solidFill>
                <a:schemeClr val="dk1"/>
              </a:solidFill>
              <a:latin typeface="Roboto Condensed"/>
              <a:ea typeface="Roboto Condensed"/>
              <a:cs typeface="Roboto Condensed"/>
              <a:sym typeface="Roboto Condensed"/>
            </a:endParaRPr>
          </a:p>
        </p:txBody>
      </p:sp>
      <p:cxnSp>
        <p:nvCxnSpPr>
          <p:cNvPr id="1598" name="Google Shape;1598;p67"/>
          <p:cNvCxnSpPr>
            <a:stCxn id="1599" idx="4"/>
            <a:endCxn id="1591" idx="0"/>
          </p:cNvCxnSpPr>
          <p:nvPr/>
        </p:nvCxnSpPr>
        <p:spPr>
          <a:xfrm flipH="1">
            <a:off x="3719326" y="2995225"/>
            <a:ext cx="654600" cy="45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1599" name="Google Shape;1599;p67"/>
          <p:cNvSpPr/>
          <p:nvPr/>
        </p:nvSpPr>
        <p:spPr>
          <a:xfrm>
            <a:off x="3642406" y="2572315"/>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1600" name="Google Shape;1600;p67"/>
          <p:cNvCxnSpPr/>
          <p:nvPr/>
        </p:nvCxnSpPr>
        <p:spPr>
          <a:xfrm flipH="1">
            <a:off x="2888392" y="4193836"/>
            <a:ext cx="830800" cy="404874"/>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1601" name="Google Shape;1601;p67"/>
          <p:cNvSpPr/>
          <p:nvPr/>
        </p:nvSpPr>
        <p:spPr>
          <a:xfrm>
            <a:off x="2138586" y="4604420"/>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Branch</a:t>
            </a:r>
            <a:endParaRPr/>
          </a:p>
        </p:txBody>
      </p:sp>
      <p:sp>
        <p:nvSpPr>
          <p:cNvPr id="1602" name="Google Shape;1602;p67"/>
          <p:cNvSpPr/>
          <p:nvPr/>
        </p:nvSpPr>
        <p:spPr>
          <a:xfrm>
            <a:off x="3774937" y="4617241"/>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Sem</a:t>
            </a:r>
            <a:endParaRPr sz="1800">
              <a:solidFill>
                <a:schemeClr val="dk1"/>
              </a:solidFill>
              <a:latin typeface="Roboto Condensed"/>
              <a:ea typeface="Roboto Condensed"/>
              <a:cs typeface="Roboto Condensed"/>
              <a:sym typeface="Roboto Condensed"/>
            </a:endParaRPr>
          </a:p>
        </p:txBody>
      </p:sp>
      <p:cxnSp>
        <p:nvCxnSpPr>
          <p:cNvPr id="1603" name="Google Shape;1603;p67"/>
          <p:cNvCxnSpPr>
            <a:stCxn id="1591" idx="2"/>
            <a:endCxn id="1602" idx="0"/>
          </p:cNvCxnSpPr>
          <p:nvPr/>
        </p:nvCxnSpPr>
        <p:spPr>
          <a:xfrm>
            <a:off x="3719192" y="4198192"/>
            <a:ext cx="787200" cy="419100"/>
          </a:xfrm>
          <a:prstGeom prst="straightConnector1">
            <a:avLst/>
          </a:prstGeom>
          <a:solidFill>
            <a:schemeClr val="lt1"/>
          </a:solidFill>
          <a:ln cap="flat" cmpd="sng" w="12700">
            <a:solidFill>
              <a:schemeClr val="dk2"/>
            </a:solidFill>
            <a:prstDash val="solid"/>
            <a:miter lim="800000"/>
            <a:headEnd len="sm" w="sm" type="none"/>
            <a:tailEnd len="sm" w="sm" type="none"/>
          </a:ln>
        </p:spPr>
      </p:cxnSp>
      <p:cxnSp>
        <p:nvCxnSpPr>
          <p:cNvPr id="1604" name="Google Shape;1604;p67"/>
          <p:cNvCxnSpPr>
            <a:stCxn id="1605" idx="4"/>
          </p:cNvCxnSpPr>
          <p:nvPr/>
        </p:nvCxnSpPr>
        <p:spPr>
          <a:xfrm>
            <a:off x="7997568" y="3013623"/>
            <a:ext cx="963300" cy="4359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1605" name="Google Shape;1605;p67"/>
          <p:cNvSpPr/>
          <p:nvPr/>
        </p:nvSpPr>
        <p:spPr>
          <a:xfrm>
            <a:off x="7266048" y="2590713"/>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Roboto Condensed"/>
                <a:ea typeface="Roboto Condensed"/>
                <a:cs typeface="Roboto Condensed"/>
                <a:sym typeface="Roboto Condensed"/>
              </a:rPr>
              <a:t>BookNo</a:t>
            </a:r>
            <a:endParaRPr sz="1800" u="sng">
              <a:solidFill>
                <a:schemeClr val="dk1"/>
              </a:solidFill>
              <a:latin typeface="Roboto Condensed"/>
              <a:ea typeface="Roboto Condensed"/>
              <a:cs typeface="Roboto Condensed"/>
              <a:sym typeface="Roboto Condensed"/>
            </a:endParaRPr>
          </a:p>
        </p:txBody>
      </p:sp>
      <p:cxnSp>
        <p:nvCxnSpPr>
          <p:cNvPr id="1606" name="Google Shape;1606;p67"/>
          <p:cNvCxnSpPr>
            <a:stCxn id="1607" idx="4"/>
          </p:cNvCxnSpPr>
          <p:nvPr/>
        </p:nvCxnSpPr>
        <p:spPr>
          <a:xfrm flipH="1">
            <a:off x="8961091" y="2991212"/>
            <a:ext cx="654600" cy="4584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1607" name="Google Shape;1607;p67"/>
          <p:cNvSpPr/>
          <p:nvPr/>
        </p:nvSpPr>
        <p:spPr>
          <a:xfrm>
            <a:off x="8884171" y="2568302"/>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Name</a:t>
            </a:r>
            <a:endParaRPr/>
          </a:p>
        </p:txBody>
      </p:sp>
      <p:cxnSp>
        <p:nvCxnSpPr>
          <p:cNvPr id="1608" name="Google Shape;1608;p67"/>
          <p:cNvCxnSpPr/>
          <p:nvPr/>
        </p:nvCxnSpPr>
        <p:spPr>
          <a:xfrm flipH="1">
            <a:off x="8130157" y="4189823"/>
            <a:ext cx="830800" cy="404874"/>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1609" name="Google Shape;1609;p67"/>
          <p:cNvSpPr/>
          <p:nvPr/>
        </p:nvSpPr>
        <p:spPr>
          <a:xfrm>
            <a:off x="7380351" y="4600407"/>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Author</a:t>
            </a:r>
            <a:endParaRPr/>
          </a:p>
        </p:txBody>
      </p:sp>
      <p:sp>
        <p:nvSpPr>
          <p:cNvPr id="1610" name="Google Shape;1610;p67"/>
          <p:cNvSpPr/>
          <p:nvPr/>
        </p:nvSpPr>
        <p:spPr>
          <a:xfrm>
            <a:off x="9016702" y="4613228"/>
            <a:ext cx="1463040" cy="42291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Price</a:t>
            </a:r>
            <a:endParaRPr/>
          </a:p>
        </p:txBody>
      </p:sp>
      <p:cxnSp>
        <p:nvCxnSpPr>
          <p:cNvPr id="1611" name="Google Shape;1611;p67"/>
          <p:cNvCxnSpPr>
            <a:endCxn id="1610" idx="0"/>
          </p:cNvCxnSpPr>
          <p:nvPr/>
        </p:nvCxnSpPr>
        <p:spPr>
          <a:xfrm>
            <a:off x="8961022" y="4194128"/>
            <a:ext cx="787200" cy="419100"/>
          </a:xfrm>
          <a:prstGeom prst="straightConnector1">
            <a:avLst/>
          </a:prstGeom>
          <a:solidFill>
            <a:schemeClr val="lt1"/>
          </a:solidFill>
          <a:ln cap="flat" cmpd="sng" w="12700">
            <a:solidFill>
              <a:schemeClr val="dk2"/>
            </a:solidFill>
            <a:prstDash val="solid"/>
            <a:miter lim="800000"/>
            <a:headEnd len="sm" w="sm" type="none"/>
            <a:tailEnd len="sm" w="sm" type="none"/>
          </a:ln>
        </p:spPr>
      </p:cxnSp>
      <p:sp>
        <p:nvSpPr>
          <p:cNvPr id="1612" name="Google Shape;1612;p67"/>
          <p:cNvSpPr/>
          <p:nvPr/>
        </p:nvSpPr>
        <p:spPr>
          <a:xfrm>
            <a:off x="5611719" y="4551825"/>
            <a:ext cx="1412988"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Roboto Condensed"/>
                <a:ea typeface="Roboto Condensed"/>
                <a:cs typeface="Roboto Condensed"/>
                <a:sym typeface="Roboto Condensed"/>
              </a:rPr>
              <a:t>Entities</a:t>
            </a:r>
            <a:endParaRPr sz="1800">
              <a:solidFill>
                <a:schemeClr val="dk1"/>
              </a:solidFill>
              <a:latin typeface="Roboto Condensed"/>
              <a:ea typeface="Roboto Condensed"/>
              <a:cs typeface="Roboto Condensed"/>
              <a:sym typeface="Roboto Condensed"/>
            </a:endParaRPr>
          </a:p>
        </p:txBody>
      </p:sp>
      <p:cxnSp>
        <p:nvCxnSpPr>
          <p:cNvPr id="1613" name="Google Shape;1613;p67"/>
          <p:cNvCxnSpPr/>
          <p:nvPr/>
        </p:nvCxnSpPr>
        <p:spPr>
          <a:xfrm flipH="1" rot="10800000">
            <a:off x="6832689" y="4198195"/>
            <a:ext cx="1217394" cy="623439"/>
          </a:xfrm>
          <a:prstGeom prst="straightConnector1">
            <a:avLst/>
          </a:prstGeom>
          <a:noFill/>
          <a:ln cap="flat" cmpd="sng" w="28575">
            <a:solidFill>
              <a:srgbClr val="A5A5A5"/>
            </a:solidFill>
            <a:prstDash val="solid"/>
            <a:miter lim="800000"/>
            <a:headEnd len="sm" w="sm" type="none"/>
            <a:tailEnd len="med" w="med" type="triangle"/>
          </a:ln>
        </p:spPr>
      </p:cxnSp>
      <p:cxnSp>
        <p:nvCxnSpPr>
          <p:cNvPr id="1614" name="Google Shape;1614;p67"/>
          <p:cNvCxnSpPr/>
          <p:nvPr/>
        </p:nvCxnSpPr>
        <p:spPr>
          <a:xfrm rot="10800000">
            <a:off x="4571063" y="4193837"/>
            <a:ext cx="1220970" cy="579865"/>
          </a:xfrm>
          <a:prstGeom prst="straightConnector1">
            <a:avLst/>
          </a:prstGeom>
          <a:noFill/>
          <a:ln cap="flat" cmpd="sng" w="28575">
            <a:solidFill>
              <a:srgbClr val="A5A5A5"/>
            </a:solidFill>
            <a:prstDash val="solid"/>
            <a:miter lim="800000"/>
            <a:headEnd len="sm" w="sm" type="none"/>
            <a:tailEnd len="med" w="med" type="triangle"/>
          </a:ln>
        </p:spPr>
      </p:cxnSp>
      <p:sp>
        <p:nvSpPr>
          <p:cNvPr id="1615" name="Google Shape;1615;p67"/>
          <p:cNvSpPr/>
          <p:nvPr/>
        </p:nvSpPr>
        <p:spPr>
          <a:xfrm>
            <a:off x="5574661" y="2106705"/>
            <a:ext cx="146304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Roboto Condensed"/>
                <a:ea typeface="Roboto Condensed"/>
                <a:cs typeface="Roboto Condensed"/>
                <a:sym typeface="Roboto Condensed"/>
              </a:rPr>
              <a:t>Attributes</a:t>
            </a:r>
            <a:endParaRPr sz="1800">
              <a:solidFill>
                <a:schemeClr val="dk1"/>
              </a:solidFill>
              <a:latin typeface="Roboto Condensed"/>
              <a:ea typeface="Roboto Condensed"/>
              <a:cs typeface="Roboto Condensed"/>
              <a:sym typeface="Roboto Condensed"/>
            </a:endParaRPr>
          </a:p>
        </p:txBody>
      </p:sp>
      <p:cxnSp>
        <p:nvCxnSpPr>
          <p:cNvPr id="1616" name="Google Shape;1616;p67"/>
          <p:cNvCxnSpPr>
            <a:endCxn id="1605" idx="2"/>
          </p:cNvCxnSpPr>
          <p:nvPr/>
        </p:nvCxnSpPr>
        <p:spPr>
          <a:xfrm>
            <a:off x="6916848" y="2457168"/>
            <a:ext cx="349200" cy="345000"/>
          </a:xfrm>
          <a:prstGeom prst="straightConnector1">
            <a:avLst/>
          </a:prstGeom>
          <a:noFill/>
          <a:ln cap="flat" cmpd="sng" w="28575">
            <a:solidFill>
              <a:srgbClr val="A5A5A5"/>
            </a:solidFill>
            <a:prstDash val="solid"/>
            <a:miter lim="800000"/>
            <a:headEnd len="sm" w="sm" type="none"/>
            <a:tailEnd len="med" w="med" type="triangle"/>
          </a:ln>
        </p:spPr>
      </p:cxnSp>
      <p:cxnSp>
        <p:nvCxnSpPr>
          <p:cNvPr id="1617" name="Google Shape;1617;p67"/>
          <p:cNvCxnSpPr>
            <a:endCxn id="1599" idx="6"/>
          </p:cNvCxnSpPr>
          <p:nvPr/>
        </p:nvCxnSpPr>
        <p:spPr>
          <a:xfrm flipH="1">
            <a:off x="5105446" y="2458270"/>
            <a:ext cx="567600" cy="325500"/>
          </a:xfrm>
          <a:prstGeom prst="straightConnector1">
            <a:avLst/>
          </a:prstGeom>
          <a:noFill/>
          <a:ln cap="flat" cmpd="sng" w="28575">
            <a:solidFill>
              <a:srgbClr val="A5A5A5"/>
            </a:solidFill>
            <a:prstDash val="solid"/>
            <a:miter lim="800000"/>
            <a:headEnd len="sm" w="sm" type="none"/>
            <a:tailEnd len="med" w="med" type="triangle"/>
          </a:ln>
        </p:spPr>
      </p:cxnSp>
      <p:sp>
        <p:nvSpPr>
          <p:cNvPr id="1618" name="Google Shape;1618;p67"/>
          <p:cNvSpPr/>
          <p:nvPr/>
        </p:nvSpPr>
        <p:spPr>
          <a:xfrm>
            <a:off x="5383866" y="2644502"/>
            <a:ext cx="1828800" cy="4572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Roboto Condensed"/>
                <a:ea typeface="Roboto Condensed"/>
                <a:cs typeface="Roboto Condensed"/>
                <a:sym typeface="Roboto Condensed"/>
              </a:rPr>
              <a:t>Relationship</a:t>
            </a:r>
            <a:endParaRPr sz="1800">
              <a:solidFill>
                <a:schemeClr val="dk1"/>
              </a:solidFill>
              <a:latin typeface="Roboto Condensed"/>
              <a:ea typeface="Roboto Condensed"/>
              <a:cs typeface="Roboto Condensed"/>
              <a:sym typeface="Roboto Condensed"/>
            </a:endParaRPr>
          </a:p>
        </p:txBody>
      </p:sp>
      <p:cxnSp>
        <p:nvCxnSpPr>
          <p:cNvPr id="1619" name="Google Shape;1619;p67"/>
          <p:cNvCxnSpPr/>
          <p:nvPr/>
        </p:nvCxnSpPr>
        <p:spPr>
          <a:xfrm>
            <a:off x="6298266" y="3012801"/>
            <a:ext cx="7915" cy="365760"/>
          </a:xfrm>
          <a:prstGeom prst="straightConnector1">
            <a:avLst/>
          </a:prstGeom>
          <a:noFill/>
          <a:ln cap="flat" cmpd="sng" w="28575">
            <a:solidFill>
              <a:srgbClr val="A5A5A5"/>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0">
                                            <p:txEl>
                                              <p:pRg end="0" st="0"/>
                                            </p:txEl>
                                          </p:spTgt>
                                        </p:tgtEl>
                                        <p:attrNameLst>
                                          <p:attrName>style.visibility</p:attrName>
                                        </p:attrNameLst>
                                      </p:cBhvr>
                                      <p:to>
                                        <p:strVal val="visible"/>
                                      </p:to>
                                    </p:set>
                                    <p:animEffect filter="fade" transition="in">
                                      <p:cBhvr>
                                        <p:cTn dur="500"/>
                                        <p:tgtEl>
                                          <p:spTgt spid="15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0">
                                            <p:txEl>
                                              <p:pRg end="1" st="1"/>
                                            </p:txEl>
                                          </p:spTgt>
                                        </p:tgtEl>
                                        <p:attrNameLst>
                                          <p:attrName>style.visibility</p:attrName>
                                        </p:attrNameLst>
                                      </p:cBhvr>
                                      <p:to>
                                        <p:strVal val="visible"/>
                                      </p:to>
                                    </p:set>
                                    <p:animEffect filter="fade" transition="in">
                                      <p:cBhvr>
                                        <p:cTn dur="500"/>
                                        <p:tgtEl>
                                          <p:spTgt spid="15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0">
                                            <p:txEl>
                                              <p:pRg end="2" st="2"/>
                                            </p:txEl>
                                          </p:spTgt>
                                        </p:tgtEl>
                                        <p:attrNameLst>
                                          <p:attrName>style.visibility</p:attrName>
                                        </p:attrNameLst>
                                      </p:cBhvr>
                                      <p:to>
                                        <p:strVal val="visible"/>
                                      </p:to>
                                    </p:set>
                                    <p:animEffect filter="fade" transition="in">
                                      <p:cBhvr>
                                        <p:cTn dur="500"/>
                                        <p:tgtEl>
                                          <p:spTgt spid="15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0">
                                            <p:txEl>
                                              <p:pRg end="3" st="3"/>
                                            </p:txEl>
                                          </p:spTgt>
                                        </p:tgtEl>
                                        <p:attrNameLst>
                                          <p:attrName>style.visibility</p:attrName>
                                        </p:attrNameLst>
                                      </p:cBhvr>
                                      <p:to>
                                        <p:strVal val="visible"/>
                                      </p:to>
                                    </p:set>
                                    <p:animEffect filter="fade" transition="in">
                                      <p:cBhvr>
                                        <p:cTn dur="500"/>
                                        <p:tgtEl>
                                          <p:spTgt spid="15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0">
                                            <p:txEl>
                                              <p:pRg end="4" st="4"/>
                                            </p:txEl>
                                          </p:spTgt>
                                        </p:tgtEl>
                                        <p:attrNameLst>
                                          <p:attrName>style.visibility</p:attrName>
                                        </p:attrNameLst>
                                      </p:cBhvr>
                                      <p:to>
                                        <p:strVal val="visible"/>
                                      </p:to>
                                    </p:set>
                                    <p:animEffect filter="fade" transition="in">
                                      <p:cBhvr>
                                        <p:cTn dur="500"/>
                                        <p:tgtEl>
                                          <p:spTgt spid="15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1"/>
                                        </p:tgtEl>
                                        <p:attrNameLst>
                                          <p:attrName>style.visibility</p:attrName>
                                        </p:attrNameLst>
                                      </p:cBhvr>
                                      <p:to>
                                        <p:strVal val="visible"/>
                                      </p:to>
                                    </p:set>
                                    <p:animEffect filter="fade" transition="in">
                                      <p:cBhvr>
                                        <p:cTn dur="500"/>
                                        <p:tgtEl>
                                          <p:spTgt spid="1591"/>
                                        </p:tgtEl>
                                      </p:cBhvr>
                                    </p:animEffect>
                                  </p:childTnLst>
                                </p:cTn>
                              </p:par>
                              <p:par>
                                <p:cTn fill="hold" nodeType="withEffect" presetClass="entr" presetID="10" presetSubtype="0">
                                  <p:stCondLst>
                                    <p:cond delay="0"/>
                                  </p:stCondLst>
                                  <p:childTnLst>
                                    <p:set>
                                      <p:cBhvr>
                                        <p:cTn dur="1" fill="hold">
                                          <p:stCondLst>
                                            <p:cond delay="0"/>
                                          </p:stCondLst>
                                        </p:cTn>
                                        <p:tgtEl>
                                          <p:spTgt spid="1592"/>
                                        </p:tgtEl>
                                        <p:attrNameLst>
                                          <p:attrName>style.visibility</p:attrName>
                                        </p:attrNameLst>
                                      </p:cBhvr>
                                      <p:to>
                                        <p:strVal val="visible"/>
                                      </p:to>
                                    </p:set>
                                    <p:animEffect filter="fade" transition="in">
                                      <p:cBhvr>
                                        <p:cTn dur="500"/>
                                        <p:tgtEl>
                                          <p:spTgt spid="1592"/>
                                        </p:tgtEl>
                                      </p:cBhvr>
                                    </p:animEffect>
                                  </p:childTnLst>
                                </p:cTn>
                              </p:par>
                              <p:par>
                                <p:cTn fill="hold" nodeType="withEffect" presetClass="entr" presetID="10" presetSubtype="0">
                                  <p:stCondLst>
                                    <p:cond delay="0"/>
                                  </p:stCondLst>
                                  <p:childTnLst>
                                    <p:set>
                                      <p:cBhvr>
                                        <p:cTn dur="1" fill="hold">
                                          <p:stCondLst>
                                            <p:cond delay="0"/>
                                          </p:stCondLst>
                                        </p:cTn>
                                        <p:tgtEl>
                                          <p:spTgt spid="1591">
                                            <p:txEl>
                                              <p:pRg end="0" st="0"/>
                                            </p:txEl>
                                          </p:spTgt>
                                        </p:tgtEl>
                                        <p:attrNameLst>
                                          <p:attrName>style.visibility</p:attrName>
                                        </p:attrNameLst>
                                      </p:cBhvr>
                                      <p:to>
                                        <p:strVal val="visible"/>
                                      </p:to>
                                    </p:set>
                                    <p:animEffect filter="fade" transition="in">
                                      <p:cBhvr>
                                        <p:cTn dur="500"/>
                                        <p:tgtEl>
                                          <p:spTgt spid="159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92">
                                            <p:txEl>
                                              <p:pRg end="0" st="0"/>
                                            </p:txEl>
                                          </p:spTgt>
                                        </p:tgtEl>
                                        <p:attrNameLst>
                                          <p:attrName>style.visibility</p:attrName>
                                        </p:attrNameLst>
                                      </p:cBhvr>
                                      <p:to>
                                        <p:strVal val="visible"/>
                                      </p:to>
                                    </p:set>
                                    <p:animEffect filter="fade" transition="in">
                                      <p:cBhvr>
                                        <p:cTn dur="500"/>
                                        <p:tgtEl>
                                          <p:spTgt spid="159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2"/>
                                        </p:tgtEl>
                                        <p:attrNameLst>
                                          <p:attrName>style.visibility</p:attrName>
                                        </p:attrNameLst>
                                      </p:cBhvr>
                                      <p:to>
                                        <p:strVal val="visible"/>
                                      </p:to>
                                    </p:set>
                                    <p:animEffect filter="fade" transition="in">
                                      <p:cBhvr>
                                        <p:cTn dur="500"/>
                                        <p:tgtEl>
                                          <p:spTgt spid="1612"/>
                                        </p:tgtEl>
                                      </p:cBhvr>
                                    </p:animEffect>
                                  </p:childTnLst>
                                </p:cTn>
                              </p:par>
                              <p:par>
                                <p:cTn fill="hold" nodeType="with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500"/>
                                        <p:tgtEl>
                                          <p:spTgt spid="1614"/>
                                        </p:tgtEl>
                                      </p:cBhvr>
                                    </p:animEffect>
                                  </p:childTnLst>
                                </p:cTn>
                              </p:par>
                              <p:par>
                                <p:cTn fill="hold" nodeType="with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500"/>
                                        <p:tgtEl>
                                          <p:spTgt spid="1613"/>
                                        </p:tgtEl>
                                      </p:cBhvr>
                                    </p:animEffect>
                                  </p:childTnLst>
                                </p:cTn>
                              </p:par>
                              <p:par>
                                <p:cTn fill="hold" nodeType="withEffect" presetClass="entr" presetID="10" presetSubtype="0">
                                  <p:stCondLst>
                                    <p:cond delay="0"/>
                                  </p:stCondLst>
                                  <p:childTnLst>
                                    <p:set>
                                      <p:cBhvr>
                                        <p:cTn dur="1" fill="hold">
                                          <p:stCondLst>
                                            <p:cond delay="0"/>
                                          </p:stCondLst>
                                        </p:cTn>
                                        <p:tgtEl>
                                          <p:spTgt spid="1597"/>
                                        </p:tgtEl>
                                        <p:attrNameLst>
                                          <p:attrName>style.visibility</p:attrName>
                                        </p:attrNameLst>
                                      </p:cBhvr>
                                      <p:to>
                                        <p:strVal val="visible"/>
                                      </p:to>
                                    </p:set>
                                    <p:animEffect filter="fade" transition="in">
                                      <p:cBhvr>
                                        <p:cTn dur="500"/>
                                        <p:tgtEl>
                                          <p:spTgt spid="1597"/>
                                        </p:tgtEl>
                                      </p:cBhvr>
                                    </p:animEffect>
                                  </p:childTnLst>
                                </p:cTn>
                              </p:par>
                              <p:par>
                                <p:cTn fill="hold" nodeType="withEffect" presetClass="entr" presetID="10" presetSubtype="0">
                                  <p:stCondLst>
                                    <p:cond delay="0"/>
                                  </p:stCondLst>
                                  <p:childTnLst>
                                    <p:set>
                                      <p:cBhvr>
                                        <p:cTn dur="1" fill="hold">
                                          <p:stCondLst>
                                            <p:cond delay="0"/>
                                          </p:stCondLst>
                                        </p:cTn>
                                        <p:tgtEl>
                                          <p:spTgt spid="1596"/>
                                        </p:tgtEl>
                                        <p:attrNameLst>
                                          <p:attrName>style.visibility</p:attrName>
                                        </p:attrNameLst>
                                      </p:cBhvr>
                                      <p:to>
                                        <p:strVal val="visible"/>
                                      </p:to>
                                    </p:set>
                                    <p:animEffect filter="fade" transition="in">
                                      <p:cBhvr>
                                        <p:cTn dur="500"/>
                                        <p:tgtEl>
                                          <p:spTgt spid="1596"/>
                                        </p:tgtEl>
                                      </p:cBhvr>
                                    </p:animEffect>
                                  </p:childTnLst>
                                </p:cTn>
                              </p:par>
                              <p:par>
                                <p:cTn fill="hold" nodeType="withEffect" presetClass="entr" presetID="10" presetSubtype="0">
                                  <p:stCondLst>
                                    <p:cond delay="0"/>
                                  </p:stCondLst>
                                  <p:childTnLst>
                                    <p:set>
                                      <p:cBhvr>
                                        <p:cTn dur="1" fill="hold">
                                          <p:stCondLst>
                                            <p:cond delay="0"/>
                                          </p:stCondLst>
                                        </p:cTn>
                                        <p:tgtEl>
                                          <p:spTgt spid="1599"/>
                                        </p:tgtEl>
                                        <p:attrNameLst>
                                          <p:attrName>style.visibility</p:attrName>
                                        </p:attrNameLst>
                                      </p:cBhvr>
                                      <p:to>
                                        <p:strVal val="visible"/>
                                      </p:to>
                                    </p:set>
                                    <p:animEffect filter="fade" transition="in">
                                      <p:cBhvr>
                                        <p:cTn dur="500"/>
                                        <p:tgtEl>
                                          <p:spTgt spid="1599"/>
                                        </p:tgtEl>
                                      </p:cBhvr>
                                    </p:animEffect>
                                  </p:childTnLst>
                                </p:cTn>
                              </p:par>
                              <p:par>
                                <p:cTn fill="hold" nodeType="withEffect" presetClass="entr" presetID="10" presetSubtype="0">
                                  <p:stCondLst>
                                    <p:cond delay="0"/>
                                  </p:stCondLst>
                                  <p:childTnLst>
                                    <p:set>
                                      <p:cBhvr>
                                        <p:cTn dur="1" fill="hold">
                                          <p:stCondLst>
                                            <p:cond delay="0"/>
                                          </p:stCondLst>
                                        </p:cTn>
                                        <p:tgtEl>
                                          <p:spTgt spid="1598"/>
                                        </p:tgtEl>
                                        <p:attrNameLst>
                                          <p:attrName>style.visibility</p:attrName>
                                        </p:attrNameLst>
                                      </p:cBhvr>
                                      <p:to>
                                        <p:strVal val="visible"/>
                                      </p:to>
                                    </p:set>
                                    <p:animEffect filter="fade" transition="in">
                                      <p:cBhvr>
                                        <p:cTn dur="500"/>
                                        <p:tgtEl>
                                          <p:spTgt spid="1598"/>
                                        </p:tgtEl>
                                      </p:cBhvr>
                                    </p:animEffect>
                                  </p:childTnLst>
                                </p:cTn>
                              </p:par>
                              <p:par>
                                <p:cTn fill="hold" nodeType="withEffect" presetClass="entr" presetID="10" presetSubtype="0">
                                  <p:stCondLst>
                                    <p:cond delay="0"/>
                                  </p:stCondLst>
                                  <p:childTnLst>
                                    <p:set>
                                      <p:cBhvr>
                                        <p:cTn dur="1" fill="hold">
                                          <p:stCondLst>
                                            <p:cond delay="0"/>
                                          </p:stCondLst>
                                        </p:cTn>
                                        <p:tgtEl>
                                          <p:spTgt spid="1601"/>
                                        </p:tgtEl>
                                        <p:attrNameLst>
                                          <p:attrName>style.visibility</p:attrName>
                                        </p:attrNameLst>
                                      </p:cBhvr>
                                      <p:to>
                                        <p:strVal val="visible"/>
                                      </p:to>
                                    </p:set>
                                    <p:animEffect filter="fade" transition="in">
                                      <p:cBhvr>
                                        <p:cTn dur="500"/>
                                        <p:tgtEl>
                                          <p:spTgt spid="1601"/>
                                        </p:tgtEl>
                                      </p:cBhvr>
                                    </p:animEffect>
                                  </p:childTnLst>
                                </p:cTn>
                              </p:par>
                              <p:par>
                                <p:cTn fill="hold" nodeType="withEffect" presetClass="entr" presetID="10" presetSubtype="0">
                                  <p:stCondLst>
                                    <p:cond delay="0"/>
                                  </p:stCondLst>
                                  <p:childTnLst>
                                    <p:set>
                                      <p:cBhvr>
                                        <p:cTn dur="1" fill="hold">
                                          <p:stCondLst>
                                            <p:cond delay="0"/>
                                          </p:stCondLst>
                                        </p:cTn>
                                        <p:tgtEl>
                                          <p:spTgt spid="1600"/>
                                        </p:tgtEl>
                                        <p:attrNameLst>
                                          <p:attrName>style.visibility</p:attrName>
                                        </p:attrNameLst>
                                      </p:cBhvr>
                                      <p:to>
                                        <p:strVal val="visible"/>
                                      </p:to>
                                    </p:set>
                                    <p:animEffect filter="fade" transition="in">
                                      <p:cBhvr>
                                        <p:cTn dur="500"/>
                                        <p:tgtEl>
                                          <p:spTgt spid="1600"/>
                                        </p:tgtEl>
                                      </p:cBhvr>
                                    </p:animEffect>
                                  </p:childTnLst>
                                </p:cTn>
                              </p:par>
                              <p:par>
                                <p:cTn fill="hold" nodeType="withEffect" presetClass="entr" presetID="10" presetSubtype="0">
                                  <p:stCondLst>
                                    <p:cond delay="0"/>
                                  </p:stCondLst>
                                  <p:childTnLst>
                                    <p:set>
                                      <p:cBhvr>
                                        <p:cTn dur="1" fill="hold">
                                          <p:stCondLst>
                                            <p:cond delay="0"/>
                                          </p:stCondLst>
                                        </p:cTn>
                                        <p:tgtEl>
                                          <p:spTgt spid="1602"/>
                                        </p:tgtEl>
                                        <p:attrNameLst>
                                          <p:attrName>style.visibility</p:attrName>
                                        </p:attrNameLst>
                                      </p:cBhvr>
                                      <p:to>
                                        <p:strVal val="visible"/>
                                      </p:to>
                                    </p:set>
                                    <p:animEffect filter="fade" transition="in">
                                      <p:cBhvr>
                                        <p:cTn dur="500"/>
                                        <p:tgtEl>
                                          <p:spTgt spid="1602"/>
                                        </p:tgtEl>
                                      </p:cBhvr>
                                    </p:animEffect>
                                  </p:childTnLst>
                                </p:cTn>
                              </p:par>
                              <p:par>
                                <p:cTn fill="hold" nodeType="withEffect" presetClass="entr" presetID="10" presetSubtype="0">
                                  <p:stCondLst>
                                    <p:cond delay="0"/>
                                  </p:stCondLst>
                                  <p:childTnLst>
                                    <p:set>
                                      <p:cBhvr>
                                        <p:cTn dur="1" fill="hold">
                                          <p:stCondLst>
                                            <p:cond delay="0"/>
                                          </p:stCondLst>
                                        </p:cTn>
                                        <p:tgtEl>
                                          <p:spTgt spid="1603"/>
                                        </p:tgtEl>
                                        <p:attrNameLst>
                                          <p:attrName>style.visibility</p:attrName>
                                        </p:attrNameLst>
                                      </p:cBhvr>
                                      <p:to>
                                        <p:strVal val="visible"/>
                                      </p:to>
                                    </p:set>
                                    <p:animEffect filter="fade" transition="in">
                                      <p:cBhvr>
                                        <p:cTn dur="500"/>
                                        <p:tgtEl>
                                          <p:spTgt spid="1603"/>
                                        </p:tgtEl>
                                      </p:cBhvr>
                                    </p:animEffect>
                                  </p:childTnLst>
                                </p:cTn>
                              </p:par>
                              <p:par>
                                <p:cTn fill="hold" nodeType="withEffect" presetClass="entr" presetID="10" presetSubtype="0">
                                  <p:stCondLst>
                                    <p:cond delay="0"/>
                                  </p:stCondLst>
                                  <p:childTnLst>
                                    <p:set>
                                      <p:cBhvr>
                                        <p:cTn dur="1" fill="hold">
                                          <p:stCondLst>
                                            <p:cond delay="0"/>
                                          </p:stCondLst>
                                        </p:cTn>
                                        <p:tgtEl>
                                          <p:spTgt spid="1605"/>
                                        </p:tgtEl>
                                        <p:attrNameLst>
                                          <p:attrName>style.visibility</p:attrName>
                                        </p:attrNameLst>
                                      </p:cBhvr>
                                      <p:to>
                                        <p:strVal val="visible"/>
                                      </p:to>
                                    </p:set>
                                    <p:animEffect filter="fade" transition="in">
                                      <p:cBhvr>
                                        <p:cTn dur="500"/>
                                        <p:tgtEl>
                                          <p:spTgt spid="1605"/>
                                        </p:tgtEl>
                                      </p:cBhvr>
                                    </p:animEffect>
                                  </p:childTnLst>
                                </p:cTn>
                              </p:par>
                              <p:par>
                                <p:cTn fill="hold" nodeType="withEffect" presetClass="entr" presetID="10" presetSubtype="0">
                                  <p:stCondLst>
                                    <p:cond delay="0"/>
                                  </p:stCondLst>
                                  <p:childTnLst>
                                    <p:set>
                                      <p:cBhvr>
                                        <p:cTn dur="1" fill="hold">
                                          <p:stCondLst>
                                            <p:cond delay="0"/>
                                          </p:stCondLst>
                                        </p:cTn>
                                        <p:tgtEl>
                                          <p:spTgt spid="1604"/>
                                        </p:tgtEl>
                                        <p:attrNameLst>
                                          <p:attrName>style.visibility</p:attrName>
                                        </p:attrNameLst>
                                      </p:cBhvr>
                                      <p:to>
                                        <p:strVal val="visible"/>
                                      </p:to>
                                    </p:set>
                                    <p:animEffect filter="fade" transition="in">
                                      <p:cBhvr>
                                        <p:cTn dur="500"/>
                                        <p:tgtEl>
                                          <p:spTgt spid="1604"/>
                                        </p:tgtEl>
                                      </p:cBhvr>
                                    </p:animEffect>
                                  </p:childTnLst>
                                </p:cTn>
                              </p:par>
                              <p:par>
                                <p:cTn fill="hold" nodeType="withEffect" presetClass="entr" presetID="10" presetSubtype="0">
                                  <p:stCondLst>
                                    <p:cond delay="0"/>
                                  </p:stCondLst>
                                  <p:childTnLst>
                                    <p:set>
                                      <p:cBhvr>
                                        <p:cTn dur="1" fill="hold">
                                          <p:stCondLst>
                                            <p:cond delay="0"/>
                                          </p:stCondLst>
                                        </p:cTn>
                                        <p:tgtEl>
                                          <p:spTgt spid="1607"/>
                                        </p:tgtEl>
                                        <p:attrNameLst>
                                          <p:attrName>style.visibility</p:attrName>
                                        </p:attrNameLst>
                                      </p:cBhvr>
                                      <p:to>
                                        <p:strVal val="visible"/>
                                      </p:to>
                                    </p:set>
                                    <p:animEffect filter="fade" transition="in">
                                      <p:cBhvr>
                                        <p:cTn dur="500"/>
                                        <p:tgtEl>
                                          <p:spTgt spid="1607"/>
                                        </p:tgtEl>
                                      </p:cBhvr>
                                    </p:animEffect>
                                  </p:childTnLst>
                                </p:cTn>
                              </p:par>
                              <p:par>
                                <p:cTn fill="hold" nodeType="withEffect" presetClass="entr" presetID="10" presetSubtype="0">
                                  <p:stCondLst>
                                    <p:cond delay="0"/>
                                  </p:stCondLst>
                                  <p:childTnLst>
                                    <p:set>
                                      <p:cBhvr>
                                        <p:cTn dur="1" fill="hold">
                                          <p:stCondLst>
                                            <p:cond delay="0"/>
                                          </p:stCondLst>
                                        </p:cTn>
                                        <p:tgtEl>
                                          <p:spTgt spid="1606"/>
                                        </p:tgtEl>
                                        <p:attrNameLst>
                                          <p:attrName>style.visibility</p:attrName>
                                        </p:attrNameLst>
                                      </p:cBhvr>
                                      <p:to>
                                        <p:strVal val="visible"/>
                                      </p:to>
                                    </p:set>
                                    <p:animEffect filter="fade" transition="in">
                                      <p:cBhvr>
                                        <p:cTn dur="500"/>
                                        <p:tgtEl>
                                          <p:spTgt spid="1606"/>
                                        </p:tgtEl>
                                      </p:cBhvr>
                                    </p:animEffect>
                                  </p:childTnLst>
                                </p:cTn>
                              </p:par>
                              <p:par>
                                <p:cTn fill="hold" nodeType="withEffect" presetClass="entr" presetID="10" presetSubtype="0">
                                  <p:stCondLst>
                                    <p:cond delay="0"/>
                                  </p:stCondLst>
                                  <p:childTnLst>
                                    <p:set>
                                      <p:cBhvr>
                                        <p:cTn dur="1" fill="hold">
                                          <p:stCondLst>
                                            <p:cond delay="0"/>
                                          </p:stCondLst>
                                        </p:cTn>
                                        <p:tgtEl>
                                          <p:spTgt spid="1609"/>
                                        </p:tgtEl>
                                        <p:attrNameLst>
                                          <p:attrName>style.visibility</p:attrName>
                                        </p:attrNameLst>
                                      </p:cBhvr>
                                      <p:to>
                                        <p:strVal val="visible"/>
                                      </p:to>
                                    </p:set>
                                    <p:animEffect filter="fade" transition="in">
                                      <p:cBhvr>
                                        <p:cTn dur="500"/>
                                        <p:tgtEl>
                                          <p:spTgt spid="1609"/>
                                        </p:tgtEl>
                                      </p:cBhvr>
                                    </p:animEffect>
                                  </p:childTnLst>
                                </p:cTn>
                              </p:par>
                              <p:par>
                                <p:cTn fill="hold" nodeType="withEffect" presetClass="entr" presetID="10" presetSubtype="0">
                                  <p:stCondLst>
                                    <p:cond delay="0"/>
                                  </p:stCondLst>
                                  <p:childTnLst>
                                    <p:set>
                                      <p:cBhvr>
                                        <p:cTn dur="1" fill="hold">
                                          <p:stCondLst>
                                            <p:cond delay="0"/>
                                          </p:stCondLst>
                                        </p:cTn>
                                        <p:tgtEl>
                                          <p:spTgt spid="1608"/>
                                        </p:tgtEl>
                                        <p:attrNameLst>
                                          <p:attrName>style.visibility</p:attrName>
                                        </p:attrNameLst>
                                      </p:cBhvr>
                                      <p:to>
                                        <p:strVal val="visible"/>
                                      </p:to>
                                    </p:set>
                                    <p:animEffect filter="fade" transition="in">
                                      <p:cBhvr>
                                        <p:cTn dur="500"/>
                                        <p:tgtEl>
                                          <p:spTgt spid="1608"/>
                                        </p:tgtEl>
                                      </p:cBhvr>
                                    </p:animEffect>
                                  </p:childTnLst>
                                </p:cTn>
                              </p:par>
                              <p:par>
                                <p:cTn fill="hold" nodeType="withEffect" presetClass="entr" presetID="10" presetSubtype="0">
                                  <p:stCondLst>
                                    <p:cond delay="0"/>
                                  </p:stCondLst>
                                  <p:childTnLst>
                                    <p:set>
                                      <p:cBhvr>
                                        <p:cTn dur="1" fill="hold">
                                          <p:stCondLst>
                                            <p:cond delay="0"/>
                                          </p:stCondLst>
                                        </p:cTn>
                                        <p:tgtEl>
                                          <p:spTgt spid="1610"/>
                                        </p:tgtEl>
                                        <p:attrNameLst>
                                          <p:attrName>style.visibility</p:attrName>
                                        </p:attrNameLst>
                                      </p:cBhvr>
                                      <p:to>
                                        <p:strVal val="visible"/>
                                      </p:to>
                                    </p:set>
                                    <p:animEffect filter="fade" transition="in">
                                      <p:cBhvr>
                                        <p:cTn dur="500"/>
                                        <p:tgtEl>
                                          <p:spTgt spid="1610"/>
                                        </p:tgtEl>
                                      </p:cBhvr>
                                    </p:animEffect>
                                  </p:childTnLst>
                                </p:cTn>
                              </p:par>
                              <p:par>
                                <p:cTn fill="hold" nodeType="with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500"/>
                                        <p:tgtEl>
                                          <p:spTgt spid="1611"/>
                                        </p:tgtEl>
                                      </p:cBhvr>
                                    </p:animEffect>
                                  </p:childTnLst>
                                </p:cTn>
                              </p:par>
                              <p:par>
                                <p:cTn fill="hold" nodeType="with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par>
                                <p:cTn fill="hold" nodeType="with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500"/>
                                        <p:tgtEl>
                                          <p:spTgt spid="1615"/>
                                        </p:tgtEl>
                                      </p:cBhvr>
                                    </p:animEffect>
                                  </p:childTnLst>
                                </p:cTn>
                              </p:par>
                              <p:par>
                                <p:cTn fill="hold" nodeType="withEffect" presetClass="entr" presetID="10" presetSubtype="0">
                                  <p:stCondLst>
                                    <p:cond delay="0"/>
                                  </p:stCondLst>
                                  <p:childTnLst>
                                    <p:set>
                                      <p:cBhvr>
                                        <p:cTn dur="1" fill="hold">
                                          <p:stCondLst>
                                            <p:cond delay="0"/>
                                          </p:stCondLst>
                                        </p:cTn>
                                        <p:tgtEl>
                                          <p:spTgt spid="1616"/>
                                        </p:tgtEl>
                                        <p:attrNameLst>
                                          <p:attrName>style.visibility</p:attrName>
                                        </p:attrNameLst>
                                      </p:cBhvr>
                                      <p:to>
                                        <p:strVal val="visible"/>
                                      </p:to>
                                    </p:set>
                                    <p:animEffect filter="fade" transition="in">
                                      <p:cBhvr>
                                        <p:cTn dur="500"/>
                                        <p:tgtEl>
                                          <p:spTgt spid="1616"/>
                                        </p:tgtEl>
                                      </p:cBhvr>
                                    </p:animEffect>
                                  </p:childTnLst>
                                </p:cTn>
                              </p:par>
                              <p:par>
                                <p:cTn fill="hold" nodeType="withEffect" presetClass="entr" presetID="10" presetSubtype="0">
                                  <p:stCondLst>
                                    <p:cond delay="0"/>
                                  </p:stCondLst>
                                  <p:childTnLst>
                                    <p:set>
                                      <p:cBhvr>
                                        <p:cTn dur="1" fill="hold">
                                          <p:stCondLst>
                                            <p:cond delay="0"/>
                                          </p:stCondLst>
                                        </p:cTn>
                                        <p:tgtEl>
                                          <p:spTgt spid="1593"/>
                                        </p:tgtEl>
                                        <p:attrNameLst>
                                          <p:attrName>style.visibility</p:attrName>
                                        </p:attrNameLst>
                                      </p:cBhvr>
                                      <p:to>
                                        <p:strVal val="visible"/>
                                      </p:to>
                                    </p:set>
                                    <p:animEffect filter="fade" transition="in">
                                      <p:cBhvr>
                                        <p:cTn dur="500"/>
                                        <p:tgtEl>
                                          <p:spTgt spid="1593"/>
                                        </p:tgtEl>
                                      </p:cBhvr>
                                    </p:animEffect>
                                  </p:childTnLst>
                                </p:cTn>
                              </p:par>
                              <p:par>
                                <p:cTn fill="hold" nodeType="withEffect" presetClass="entr" presetID="10" presetSubtype="0">
                                  <p:stCondLst>
                                    <p:cond delay="0"/>
                                  </p:stCondLst>
                                  <p:childTnLst>
                                    <p:set>
                                      <p:cBhvr>
                                        <p:cTn dur="1" fill="hold">
                                          <p:stCondLst>
                                            <p:cond delay="0"/>
                                          </p:stCondLst>
                                        </p:cTn>
                                        <p:tgtEl>
                                          <p:spTgt spid="1593">
                                            <p:txEl>
                                              <p:pRg end="0" st="0"/>
                                            </p:txEl>
                                          </p:spTgt>
                                        </p:tgtEl>
                                        <p:attrNameLst>
                                          <p:attrName>style.visibility</p:attrName>
                                        </p:attrNameLst>
                                      </p:cBhvr>
                                      <p:to>
                                        <p:strVal val="visible"/>
                                      </p:to>
                                    </p:set>
                                    <p:animEffect filter="fade" transition="in">
                                      <p:cBhvr>
                                        <p:cTn dur="500"/>
                                        <p:tgtEl>
                                          <p:spTgt spid="159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95"/>
                                        </p:tgtEl>
                                        <p:attrNameLst>
                                          <p:attrName>style.visibility</p:attrName>
                                        </p:attrNameLst>
                                      </p:cBhvr>
                                      <p:to>
                                        <p:strVal val="visible"/>
                                      </p:to>
                                    </p:set>
                                    <p:animEffect filter="fade" transition="in">
                                      <p:cBhvr>
                                        <p:cTn dur="500"/>
                                        <p:tgtEl>
                                          <p:spTgt spid="1595"/>
                                        </p:tgtEl>
                                      </p:cBhvr>
                                    </p:animEffect>
                                  </p:childTnLst>
                                </p:cTn>
                              </p:par>
                              <p:par>
                                <p:cTn fill="hold" nodeType="withEffect" presetClass="entr" presetID="10" presetSubtype="0">
                                  <p:stCondLst>
                                    <p:cond delay="0"/>
                                  </p:stCondLst>
                                  <p:childTnLst>
                                    <p:set>
                                      <p:cBhvr>
                                        <p:cTn dur="1" fill="hold">
                                          <p:stCondLst>
                                            <p:cond delay="0"/>
                                          </p:stCondLst>
                                        </p:cTn>
                                        <p:tgtEl>
                                          <p:spTgt spid="1594"/>
                                        </p:tgtEl>
                                        <p:attrNameLst>
                                          <p:attrName>style.visibility</p:attrName>
                                        </p:attrNameLst>
                                      </p:cBhvr>
                                      <p:to>
                                        <p:strVal val="visible"/>
                                      </p:to>
                                    </p:set>
                                    <p:animEffect filter="fade" transition="in">
                                      <p:cBhvr>
                                        <p:cTn dur="500"/>
                                        <p:tgtEl>
                                          <p:spTgt spid="1594"/>
                                        </p:tgtEl>
                                      </p:cBhvr>
                                    </p:animEffect>
                                  </p:childTnLst>
                                </p:cTn>
                              </p:par>
                              <p:par>
                                <p:cTn fill="hold" nodeType="with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500"/>
                                        <p:tgtEl>
                                          <p:spTgt spid="1618"/>
                                        </p:tgtEl>
                                      </p:cBhvr>
                                    </p:animEffect>
                                  </p:childTnLst>
                                </p:cTn>
                              </p:par>
                              <p:par>
                                <p:cTn fill="hold" nodeType="with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500"/>
                                        <p:tgtEl>
                                          <p:spTgt spid="1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68"/>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Relational Model</a:t>
            </a:r>
            <a:endParaRPr/>
          </a:p>
        </p:txBody>
      </p:sp>
      <p:sp>
        <p:nvSpPr>
          <p:cNvPr id="1625" name="Google Shape;1625;p68"/>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In this model, </a:t>
            </a:r>
            <a:r>
              <a:rPr b="1" lang="en-US">
                <a:solidFill>
                  <a:schemeClr val="accent6"/>
                </a:solidFill>
              </a:rPr>
              <a:t>data is organized in two-dimensional tables </a:t>
            </a:r>
            <a:r>
              <a:rPr lang="en-US"/>
              <a:t>and the </a:t>
            </a:r>
            <a:r>
              <a:rPr b="1" lang="en-US">
                <a:solidFill>
                  <a:schemeClr val="accent6"/>
                </a:solidFill>
              </a:rPr>
              <a:t>relationship is maintained by storing a common attribute</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graphicFrame>
        <p:nvGraphicFramePr>
          <p:cNvPr id="1626" name="Google Shape;1626;p68"/>
          <p:cNvGraphicFramePr/>
          <p:nvPr/>
        </p:nvGraphicFramePr>
        <p:xfrm>
          <a:off x="1117657" y="1813199"/>
          <a:ext cx="3000000" cy="3000000"/>
        </p:xfrm>
        <a:graphic>
          <a:graphicData uri="http://schemas.openxmlformats.org/drawingml/2006/table">
            <a:tbl>
              <a:tblPr bandRow="1" firstRow="1">
                <a:noFill/>
                <a:tableStyleId>{2FE9E659-6503-4E8C-9AC6-ED4A2EF7120C}</a:tableStyleId>
              </a:tblPr>
              <a:tblGrid>
                <a:gridCol w="595625"/>
                <a:gridCol w="1565600"/>
                <a:gridCol w="595625"/>
              </a:tblGrid>
              <a:tr h="411475">
                <a:tc>
                  <a:txBody>
                    <a:bodyPr/>
                    <a:lstStyle/>
                    <a:p>
                      <a:pPr indent="0" lvl="0" marL="0" marR="0" rtl="0" algn="l">
                        <a:spcBef>
                          <a:spcPts val="0"/>
                        </a:spcBef>
                        <a:spcAft>
                          <a:spcPts val="0"/>
                        </a:spcAft>
                        <a:buNone/>
                      </a:pPr>
                      <a:r>
                        <a:rPr b="1" lang="en-US" sz="1800" u="sng">
                          <a:solidFill>
                            <a:schemeClr val="dk1"/>
                          </a:solidFill>
                        </a:rPr>
                        <a:t>Rno</a:t>
                      </a:r>
                      <a:endParaRPr b="1" sz="1800" u="sng">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Student_Name</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Age</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r h="411475">
                <a:tc>
                  <a:txBody>
                    <a:bodyPr/>
                    <a:lstStyle/>
                    <a:p>
                      <a:pPr indent="0" lvl="0" marL="0" marR="0" rtl="0" algn="l">
                        <a:spcBef>
                          <a:spcPts val="0"/>
                        </a:spcBef>
                        <a:spcAft>
                          <a:spcPts val="0"/>
                        </a:spcAft>
                        <a:buNone/>
                      </a:pPr>
                      <a:r>
                        <a:rPr lang="en-US" sz="1900"/>
                        <a:t>101</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Raj Patel</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20</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102</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Meet Shah</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21</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1627" name="Google Shape;1627;p68"/>
          <p:cNvGraphicFramePr/>
          <p:nvPr/>
        </p:nvGraphicFramePr>
        <p:xfrm>
          <a:off x="6527857" y="1813199"/>
          <a:ext cx="3000000" cy="3000000"/>
        </p:xfrm>
        <a:graphic>
          <a:graphicData uri="http://schemas.openxmlformats.org/drawingml/2006/table">
            <a:tbl>
              <a:tblPr bandRow="1" firstRow="1">
                <a:noFill/>
                <a:tableStyleId>{2FE9E659-6503-4E8C-9AC6-ED4A2EF7120C}</a:tableStyleId>
              </a:tblPr>
              <a:tblGrid>
                <a:gridCol w="775025"/>
                <a:gridCol w="1565600"/>
                <a:gridCol w="979800"/>
              </a:tblGrid>
              <a:tr h="411475">
                <a:tc>
                  <a:txBody>
                    <a:bodyPr/>
                    <a:lstStyle/>
                    <a:p>
                      <a:pPr indent="0" lvl="0" marL="0" marR="0" rtl="0" algn="l">
                        <a:spcBef>
                          <a:spcPts val="0"/>
                        </a:spcBef>
                        <a:spcAft>
                          <a:spcPts val="0"/>
                        </a:spcAft>
                        <a:buNone/>
                      </a:pPr>
                      <a:r>
                        <a:rPr b="1" lang="en-US" sz="1800" u="sng">
                          <a:solidFill>
                            <a:schemeClr val="dk1"/>
                          </a:solidFill>
                        </a:rPr>
                        <a:t>SubID</a:t>
                      </a:r>
                      <a:endParaRPr b="1" sz="1800" u="sng">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Subject_Name</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Teacher</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r h="411475">
                <a:tc>
                  <a:txBody>
                    <a:bodyPr/>
                    <a:lstStyle/>
                    <a:p>
                      <a:pPr indent="0" lvl="0" marL="0" marR="0" rtl="0" algn="l">
                        <a:spcBef>
                          <a:spcPts val="0"/>
                        </a:spcBef>
                        <a:spcAft>
                          <a:spcPts val="0"/>
                        </a:spcAft>
                        <a:buNone/>
                      </a:pPr>
                      <a:r>
                        <a:rPr lang="en-US" sz="1900"/>
                        <a:t>1</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DBMS</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Doshi</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2</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DS</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Vyash</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1628" name="Google Shape;1628;p68"/>
          <p:cNvGraphicFramePr/>
          <p:nvPr/>
        </p:nvGraphicFramePr>
        <p:xfrm>
          <a:off x="3668116" y="4025240"/>
          <a:ext cx="3000000" cy="3000000"/>
        </p:xfrm>
        <a:graphic>
          <a:graphicData uri="http://schemas.openxmlformats.org/drawingml/2006/table">
            <a:tbl>
              <a:tblPr bandRow="1" firstRow="1">
                <a:noFill/>
                <a:tableStyleId>{2FE9E659-6503-4E8C-9AC6-ED4A2EF7120C}</a:tableStyleId>
              </a:tblPr>
              <a:tblGrid>
                <a:gridCol w="765500"/>
                <a:gridCol w="628350"/>
                <a:gridCol w="775025"/>
                <a:gridCol w="794375"/>
              </a:tblGrid>
              <a:tr h="411475">
                <a:tc>
                  <a:txBody>
                    <a:bodyPr/>
                    <a:lstStyle/>
                    <a:p>
                      <a:pPr indent="0" lvl="0" marL="0" marR="0" rtl="0" algn="l">
                        <a:spcBef>
                          <a:spcPts val="0"/>
                        </a:spcBef>
                        <a:spcAft>
                          <a:spcPts val="0"/>
                        </a:spcAft>
                        <a:buNone/>
                      </a:pPr>
                      <a:r>
                        <a:rPr b="1" lang="en-US" sz="1800" u="sng">
                          <a:solidFill>
                            <a:schemeClr val="dk1"/>
                          </a:solidFill>
                        </a:rPr>
                        <a:t>ResID</a:t>
                      </a:r>
                      <a:endParaRPr b="1" sz="1800" u="sng">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b="1" lang="en-US" sz="1800">
                          <a:solidFill>
                            <a:schemeClr val="dk1"/>
                          </a:solidFill>
                        </a:rPr>
                        <a:t>Rno</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b="1" lang="en-US" sz="1800">
                          <a:solidFill>
                            <a:schemeClr val="dk1"/>
                          </a:solidFill>
                        </a:rPr>
                        <a:t>SubID</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Marks</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r h="411475">
                <a:tc>
                  <a:txBody>
                    <a:bodyPr/>
                    <a:lstStyle/>
                    <a:p>
                      <a:pPr indent="0" lvl="0" marL="0" marR="0" rtl="0" algn="l">
                        <a:spcBef>
                          <a:spcPts val="0"/>
                        </a:spcBef>
                        <a:spcAft>
                          <a:spcPts val="0"/>
                        </a:spcAft>
                        <a:buNone/>
                      </a:pPr>
                      <a:r>
                        <a:rPr lang="en-US" sz="1900"/>
                        <a:t>1</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t>101</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1</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80</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2</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t>101</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2</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85</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3</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t>102</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1</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75</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4</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t>102</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2</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80</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pSp>
        <p:nvGrpSpPr>
          <p:cNvPr id="1629" name="Google Shape;1629;p68"/>
          <p:cNvGrpSpPr/>
          <p:nvPr/>
        </p:nvGrpSpPr>
        <p:grpSpPr>
          <a:xfrm>
            <a:off x="1425773" y="3036583"/>
            <a:ext cx="3249341" cy="999336"/>
            <a:chOff x="901337" y="3084984"/>
            <a:chExt cx="2222863" cy="999336"/>
          </a:xfrm>
        </p:grpSpPr>
        <p:cxnSp>
          <p:nvCxnSpPr>
            <p:cNvPr id="1630" name="Google Shape;1630;p68"/>
            <p:cNvCxnSpPr/>
            <p:nvPr/>
          </p:nvCxnSpPr>
          <p:spPr>
            <a:xfrm>
              <a:off x="914400" y="3084984"/>
              <a:ext cx="0" cy="432000"/>
            </a:xfrm>
            <a:prstGeom prst="straightConnector1">
              <a:avLst/>
            </a:prstGeom>
            <a:noFill/>
            <a:ln cap="flat" cmpd="sng" w="38100">
              <a:solidFill>
                <a:schemeClr val="accent6"/>
              </a:solidFill>
              <a:prstDash val="solid"/>
              <a:miter lim="800000"/>
              <a:headEnd len="sm" w="sm" type="none"/>
              <a:tailEnd len="sm" w="sm" type="none"/>
            </a:ln>
          </p:spPr>
        </p:cxnSp>
        <p:cxnSp>
          <p:nvCxnSpPr>
            <p:cNvPr id="1631" name="Google Shape;1631;p68"/>
            <p:cNvCxnSpPr/>
            <p:nvPr/>
          </p:nvCxnSpPr>
          <p:spPr>
            <a:xfrm>
              <a:off x="901337" y="3505200"/>
              <a:ext cx="2209800" cy="0"/>
            </a:xfrm>
            <a:prstGeom prst="straightConnector1">
              <a:avLst/>
            </a:prstGeom>
            <a:noFill/>
            <a:ln cap="flat" cmpd="sng" w="38100">
              <a:solidFill>
                <a:schemeClr val="accent6"/>
              </a:solidFill>
              <a:prstDash val="solid"/>
              <a:miter lim="800000"/>
              <a:headEnd len="sm" w="sm" type="none"/>
              <a:tailEnd len="sm" w="sm" type="none"/>
            </a:ln>
          </p:spPr>
        </p:cxnSp>
        <p:cxnSp>
          <p:nvCxnSpPr>
            <p:cNvPr id="1632" name="Google Shape;1632;p68"/>
            <p:cNvCxnSpPr/>
            <p:nvPr/>
          </p:nvCxnSpPr>
          <p:spPr>
            <a:xfrm>
              <a:off x="3124200" y="3489720"/>
              <a:ext cx="0" cy="594600"/>
            </a:xfrm>
            <a:prstGeom prst="straightConnector1">
              <a:avLst/>
            </a:prstGeom>
            <a:noFill/>
            <a:ln cap="flat" cmpd="sng" w="38100">
              <a:solidFill>
                <a:schemeClr val="accent6"/>
              </a:solidFill>
              <a:prstDash val="solid"/>
              <a:miter lim="800000"/>
              <a:headEnd len="sm" w="sm" type="none"/>
              <a:tailEnd len="med" w="med" type="triangle"/>
            </a:ln>
          </p:spPr>
        </p:cxnSp>
      </p:grpSp>
      <p:grpSp>
        <p:nvGrpSpPr>
          <p:cNvPr id="1633" name="Google Shape;1633;p68"/>
          <p:cNvGrpSpPr/>
          <p:nvPr/>
        </p:nvGrpSpPr>
        <p:grpSpPr>
          <a:xfrm>
            <a:off x="5392271" y="3036583"/>
            <a:ext cx="1425370" cy="999336"/>
            <a:chOff x="4029864" y="3144157"/>
            <a:chExt cx="1080000" cy="954600"/>
          </a:xfrm>
        </p:grpSpPr>
        <p:cxnSp>
          <p:nvCxnSpPr>
            <p:cNvPr id="1634" name="Google Shape;1634;p68"/>
            <p:cNvCxnSpPr/>
            <p:nvPr/>
          </p:nvCxnSpPr>
          <p:spPr>
            <a:xfrm>
              <a:off x="5105400" y="3144157"/>
              <a:ext cx="0" cy="360000"/>
            </a:xfrm>
            <a:prstGeom prst="straightConnector1">
              <a:avLst/>
            </a:prstGeom>
            <a:noFill/>
            <a:ln cap="flat" cmpd="sng" w="38100">
              <a:solidFill>
                <a:schemeClr val="accent6"/>
              </a:solidFill>
              <a:prstDash val="solid"/>
              <a:miter lim="800000"/>
              <a:headEnd len="sm" w="sm" type="none"/>
              <a:tailEnd len="sm" w="sm" type="none"/>
            </a:ln>
          </p:spPr>
        </p:cxnSp>
        <p:cxnSp>
          <p:nvCxnSpPr>
            <p:cNvPr id="1635" name="Google Shape;1635;p68"/>
            <p:cNvCxnSpPr/>
            <p:nvPr/>
          </p:nvCxnSpPr>
          <p:spPr>
            <a:xfrm>
              <a:off x="4029864" y="3504157"/>
              <a:ext cx="1080000" cy="1043"/>
            </a:xfrm>
            <a:prstGeom prst="straightConnector1">
              <a:avLst/>
            </a:prstGeom>
            <a:noFill/>
            <a:ln cap="flat" cmpd="sng" w="38100">
              <a:solidFill>
                <a:schemeClr val="accent6"/>
              </a:solidFill>
              <a:prstDash val="solid"/>
              <a:miter lim="800000"/>
              <a:headEnd len="sm" w="sm" type="none"/>
              <a:tailEnd len="sm" w="sm" type="none"/>
            </a:ln>
          </p:spPr>
        </p:cxnSp>
        <p:cxnSp>
          <p:nvCxnSpPr>
            <p:cNvPr id="1636" name="Google Shape;1636;p68"/>
            <p:cNvCxnSpPr/>
            <p:nvPr/>
          </p:nvCxnSpPr>
          <p:spPr>
            <a:xfrm>
              <a:off x="4038600" y="3504157"/>
              <a:ext cx="0" cy="594600"/>
            </a:xfrm>
            <a:prstGeom prst="straightConnector1">
              <a:avLst/>
            </a:prstGeom>
            <a:noFill/>
            <a:ln cap="flat" cmpd="sng" w="38100">
              <a:solidFill>
                <a:schemeClr val="accent6"/>
              </a:solidFill>
              <a:prstDash val="solid"/>
              <a:miter lim="800000"/>
              <a:headEnd len="sm" w="sm" type="none"/>
              <a:tailEnd len="med" w="med" type="triangle"/>
            </a:ln>
          </p:spPr>
        </p:cxnSp>
      </p:grpSp>
      <p:sp>
        <p:nvSpPr>
          <p:cNvPr id="1637" name="Google Shape;1637;p68"/>
          <p:cNvSpPr/>
          <p:nvPr/>
        </p:nvSpPr>
        <p:spPr>
          <a:xfrm>
            <a:off x="5474791" y="3087859"/>
            <a:ext cx="1336958" cy="274320"/>
          </a:xfrm>
          <a:prstGeom prst="wedgeRoundRectCallout">
            <a:avLst>
              <a:gd fmla="val 16598" name="adj1"/>
              <a:gd fmla="val -30039" name="adj2"/>
              <a:gd fmla="val 16667" name="adj3"/>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Foreign Key</a:t>
            </a:r>
            <a:endParaRPr sz="1800">
              <a:solidFill>
                <a:schemeClr val="dk1"/>
              </a:solidFill>
              <a:latin typeface="Roboto Condensed"/>
              <a:ea typeface="Roboto Condensed"/>
              <a:cs typeface="Roboto Condensed"/>
              <a:sym typeface="Roboto Condensed"/>
            </a:endParaRPr>
          </a:p>
        </p:txBody>
      </p:sp>
      <p:sp>
        <p:nvSpPr>
          <p:cNvPr id="1638" name="Google Shape;1638;p68"/>
          <p:cNvSpPr/>
          <p:nvPr/>
        </p:nvSpPr>
        <p:spPr>
          <a:xfrm>
            <a:off x="1455630" y="3139134"/>
            <a:ext cx="1336958" cy="274320"/>
          </a:xfrm>
          <a:prstGeom prst="wedgeRoundRectCallout">
            <a:avLst>
              <a:gd fmla="val 16598" name="adj1"/>
              <a:gd fmla="val -30039" name="adj2"/>
              <a:gd fmla="val 16667" name="adj3"/>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Foreign Key</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xEl>
                                              <p:pRg end="0" st="0"/>
                                            </p:txEl>
                                          </p:spTgt>
                                        </p:tgtEl>
                                        <p:attrNameLst>
                                          <p:attrName>style.visibility</p:attrName>
                                        </p:attrNameLst>
                                      </p:cBhvr>
                                      <p:to>
                                        <p:strVal val="visible"/>
                                      </p:to>
                                    </p:set>
                                    <p:animEffect filter="fade" transition="in">
                                      <p:cBhvr>
                                        <p:cTn dur="500"/>
                                        <p:tgtEl>
                                          <p:spTgt spid="16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xEl>
                                              <p:pRg end="1" st="1"/>
                                            </p:txEl>
                                          </p:spTgt>
                                        </p:tgtEl>
                                        <p:attrNameLst>
                                          <p:attrName>style.visibility</p:attrName>
                                        </p:attrNameLst>
                                      </p:cBhvr>
                                      <p:to>
                                        <p:strVal val="visible"/>
                                      </p:to>
                                    </p:set>
                                    <p:animEffect filter="fade" transition="in">
                                      <p:cBhvr>
                                        <p:cTn dur="500"/>
                                        <p:tgtEl>
                                          <p:spTgt spid="16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xEl>
                                              <p:pRg end="2" st="2"/>
                                            </p:txEl>
                                          </p:spTgt>
                                        </p:tgtEl>
                                        <p:attrNameLst>
                                          <p:attrName>style.visibility</p:attrName>
                                        </p:attrNameLst>
                                      </p:cBhvr>
                                      <p:to>
                                        <p:strVal val="visible"/>
                                      </p:to>
                                    </p:set>
                                    <p:animEffect filter="fade" transition="in">
                                      <p:cBhvr>
                                        <p:cTn dur="500"/>
                                        <p:tgtEl>
                                          <p:spTgt spid="16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xEl>
                                              <p:pRg end="3" st="3"/>
                                            </p:txEl>
                                          </p:spTgt>
                                        </p:tgtEl>
                                        <p:attrNameLst>
                                          <p:attrName>style.visibility</p:attrName>
                                        </p:attrNameLst>
                                      </p:cBhvr>
                                      <p:to>
                                        <p:strVal val="visible"/>
                                      </p:to>
                                    </p:set>
                                    <p:animEffect filter="fade" transition="in">
                                      <p:cBhvr>
                                        <p:cTn dur="500"/>
                                        <p:tgtEl>
                                          <p:spTgt spid="16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5">
                                            <p:txEl>
                                              <p:pRg end="4" st="4"/>
                                            </p:txEl>
                                          </p:spTgt>
                                        </p:tgtEl>
                                        <p:attrNameLst>
                                          <p:attrName>style.visibility</p:attrName>
                                        </p:attrNameLst>
                                      </p:cBhvr>
                                      <p:to>
                                        <p:strVal val="visible"/>
                                      </p:to>
                                    </p:set>
                                    <p:animEffect filter="fade" transition="in">
                                      <p:cBhvr>
                                        <p:cTn dur="500"/>
                                        <p:tgtEl>
                                          <p:spTgt spid="16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500"/>
                                        <p:tgtEl>
                                          <p:spTgt spid="1626"/>
                                        </p:tgtEl>
                                      </p:cBhvr>
                                    </p:animEffect>
                                  </p:childTnLst>
                                </p:cTn>
                              </p:par>
                              <p:par>
                                <p:cTn fill="hold" nodeType="withEffect" presetClass="entr" presetID="10" presetSubtype="0">
                                  <p:stCondLst>
                                    <p:cond delay="0"/>
                                  </p:stCondLst>
                                  <p:childTnLst>
                                    <p:set>
                                      <p:cBhvr>
                                        <p:cTn dur="1" fill="hold">
                                          <p:stCondLst>
                                            <p:cond delay="0"/>
                                          </p:stCondLst>
                                        </p:cTn>
                                        <p:tgtEl>
                                          <p:spTgt spid="1627"/>
                                        </p:tgtEl>
                                        <p:attrNameLst>
                                          <p:attrName>style.visibility</p:attrName>
                                        </p:attrNameLst>
                                      </p:cBhvr>
                                      <p:to>
                                        <p:strVal val="visible"/>
                                      </p:to>
                                    </p:set>
                                    <p:animEffect filter="fade" transition="in">
                                      <p:cBhvr>
                                        <p:cTn dur="500"/>
                                        <p:tgtEl>
                                          <p:spTgt spid="1627"/>
                                        </p:tgtEl>
                                      </p:cBhvr>
                                    </p:animEffect>
                                  </p:childTnLst>
                                </p:cTn>
                              </p:par>
                              <p:par>
                                <p:cTn fill="hold" nodeType="withEffect" presetClass="entr" presetID="10" presetSubtype="0">
                                  <p:stCondLst>
                                    <p:cond delay="0"/>
                                  </p:stCondLst>
                                  <p:childTnLst>
                                    <p:set>
                                      <p:cBhvr>
                                        <p:cTn dur="1" fill="hold">
                                          <p:stCondLst>
                                            <p:cond delay="0"/>
                                          </p:stCondLst>
                                        </p:cTn>
                                        <p:tgtEl>
                                          <p:spTgt spid="1628"/>
                                        </p:tgtEl>
                                        <p:attrNameLst>
                                          <p:attrName>style.visibility</p:attrName>
                                        </p:attrNameLst>
                                      </p:cBhvr>
                                      <p:to>
                                        <p:strVal val="visible"/>
                                      </p:to>
                                    </p:set>
                                    <p:animEffect filter="fade" transition="in">
                                      <p:cBhvr>
                                        <p:cTn dur="500"/>
                                        <p:tgtEl>
                                          <p:spTgt spid="1628"/>
                                        </p:tgtEl>
                                      </p:cBhvr>
                                    </p:animEffect>
                                  </p:childTnLst>
                                </p:cTn>
                              </p:par>
                              <p:par>
                                <p:cTn fill="hold" nodeType="withEffect" presetClass="entr" presetID="10" presetSubtype="0">
                                  <p:stCondLst>
                                    <p:cond delay="0"/>
                                  </p:stCondLst>
                                  <p:childTnLst>
                                    <p:set>
                                      <p:cBhvr>
                                        <p:cTn dur="1" fill="hold">
                                          <p:stCondLst>
                                            <p:cond delay="0"/>
                                          </p:stCondLst>
                                        </p:cTn>
                                        <p:tgtEl>
                                          <p:spTgt spid="1629"/>
                                        </p:tgtEl>
                                        <p:attrNameLst>
                                          <p:attrName>style.visibility</p:attrName>
                                        </p:attrNameLst>
                                      </p:cBhvr>
                                      <p:to>
                                        <p:strVal val="visible"/>
                                      </p:to>
                                    </p:set>
                                    <p:animEffect filter="fade" transition="in">
                                      <p:cBhvr>
                                        <p:cTn dur="500"/>
                                        <p:tgtEl>
                                          <p:spTgt spid="1629"/>
                                        </p:tgtEl>
                                      </p:cBhvr>
                                    </p:animEffect>
                                  </p:childTnLst>
                                </p:cTn>
                              </p:par>
                              <p:par>
                                <p:cTn fill="hold" nodeType="withEffect" presetClass="entr" presetID="10" presetSubtype="0">
                                  <p:stCondLst>
                                    <p:cond delay="0"/>
                                  </p:stCondLst>
                                  <p:childTnLst>
                                    <p:set>
                                      <p:cBhvr>
                                        <p:cTn dur="1" fill="hold">
                                          <p:stCondLst>
                                            <p:cond delay="0"/>
                                          </p:stCondLst>
                                        </p:cTn>
                                        <p:tgtEl>
                                          <p:spTgt spid="1633"/>
                                        </p:tgtEl>
                                        <p:attrNameLst>
                                          <p:attrName>style.visibility</p:attrName>
                                        </p:attrNameLst>
                                      </p:cBhvr>
                                      <p:to>
                                        <p:strVal val="visible"/>
                                      </p:to>
                                    </p:set>
                                    <p:animEffect filter="fade" transition="in">
                                      <p:cBhvr>
                                        <p:cTn dur="500"/>
                                        <p:tgtEl>
                                          <p:spTgt spid="1633"/>
                                        </p:tgtEl>
                                      </p:cBhvr>
                                    </p:animEffect>
                                  </p:childTnLst>
                                </p:cTn>
                              </p:par>
                              <p:par>
                                <p:cTn fill="hold" nodeType="withEffect" presetClass="entr" presetID="10" presetSubtype="0">
                                  <p:stCondLst>
                                    <p:cond delay="0"/>
                                  </p:stCondLst>
                                  <p:childTnLst>
                                    <p:set>
                                      <p:cBhvr>
                                        <p:cTn dur="1" fill="hold">
                                          <p:stCondLst>
                                            <p:cond delay="0"/>
                                          </p:stCondLst>
                                        </p:cTn>
                                        <p:tgtEl>
                                          <p:spTgt spid="1637"/>
                                        </p:tgtEl>
                                        <p:attrNameLst>
                                          <p:attrName>style.visibility</p:attrName>
                                        </p:attrNameLst>
                                      </p:cBhvr>
                                      <p:to>
                                        <p:strVal val="visible"/>
                                      </p:to>
                                    </p:set>
                                    <p:animEffect filter="fade" transition="in">
                                      <p:cBhvr>
                                        <p:cTn dur="500"/>
                                        <p:tgtEl>
                                          <p:spTgt spid="1637"/>
                                        </p:tgtEl>
                                      </p:cBhvr>
                                    </p:animEffect>
                                  </p:childTnLst>
                                </p:cTn>
                              </p:par>
                              <p:par>
                                <p:cTn fill="hold" nodeType="withEffect" presetClass="entr" presetID="10" presetSubtype="0">
                                  <p:stCondLst>
                                    <p:cond delay="0"/>
                                  </p:stCondLst>
                                  <p:childTnLst>
                                    <p:set>
                                      <p:cBhvr>
                                        <p:cTn dur="1" fill="hold">
                                          <p:stCondLst>
                                            <p:cond delay="0"/>
                                          </p:stCondLst>
                                        </p:cTn>
                                        <p:tgtEl>
                                          <p:spTgt spid="1638"/>
                                        </p:tgtEl>
                                        <p:attrNameLst>
                                          <p:attrName>style.visibility</p:attrName>
                                        </p:attrNameLst>
                                      </p:cBhvr>
                                      <p:to>
                                        <p:strVal val="visible"/>
                                      </p:to>
                                    </p:set>
                                    <p:animEffect filter="fade" transition="in">
                                      <p:cBhvr>
                                        <p:cTn dur="500"/>
                                        <p:tgtEl>
                                          <p:spTgt spid="1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69"/>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Object-oriented database Model</a:t>
            </a:r>
            <a:endParaRPr/>
          </a:p>
        </p:txBody>
      </p:sp>
      <p:sp>
        <p:nvSpPr>
          <p:cNvPr id="1644" name="Google Shape;1644;p69"/>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This data model is another method of representing real world objects.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It considers </a:t>
            </a:r>
            <a:r>
              <a:rPr b="1" lang="en-US">
                <a:solidFill>
                  <a:schemeClr val="accent6"/>
                </a:solidFill>
              </a:rPr>
              <a:t>each object in the world as objects </a:t>
            </a:r>
            <a:r>
              <a:rPr lang="en-US"/>
              <a:t>and isolates it from each other.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It </a:t>
            </a:r>
            <a:r>
              <a:rPr b="1" lang="en-US">
                <a:solidFill>
                  <a:schemeClr val="accent6"/>
                </a:solidFill>
              </a:rPr>
              <a:t>groups its related functionalities together </a:t>
            </a:r>
            <a:r>
              <a:rPr lang="en-US"/>
              <a:t>and </a:t>
            </a:r>
            <a:r>
              <a:rPr b="1" lang="en-US">
                <a:solidFill>
                  <a:schemeClr val="accent6"/>
                </a:solidFill>
              </a:rPr>
              <a:t>allows inheriting its functionality </a:t>
            </a:r>
            <a:r>
              <a:rPr lang="en-US"/>
              <a:t>to other related sub-groups.</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7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5C2321"/>
              </a:buClr>
              <a:buSzPts val="6000"/>
              <a:buFont typeface="Roboto Condensed"/>
              <a:buNone/>
            </a:pPr>
            <a:r>
              <a:rPr lang="en-US">
                <a:solidFill>
                  <a:srgbClr val="5C2321"/>
                </a:solidFill>
              </a:rPr>
              <a:t>Integrity Constraints</a:t>
            </a:r>
            <a:endParaRPr/>
          </a:p>
        </p:txBody>
      </p:sp>
      <p:sp>
        <p:nvSpPr>
          <p:cNvPr id="1650" name="Google Shape;1650;p7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Section - 13</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sp>
        <p:nvSpPr>
          <p:cNvPr id="1655" name="Google Shape;1655;p71"/>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Integrity Constraints</a:t>
            </a:r>
            <a:endParaRPr/>
          </a:p>
        </p:txBody>
      </p:sp>
      <p:sp>
        <p:nvSpPr>
          <p:cNvPr id="1656" name="Google Shape;1656;p71"/>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Integrity constraints are a </a:t>
            </a:r>
            <a:r>
              <a:rPr b="1" lang="en-US">
                <a:solidFill>
                  <a:schemeClr val="accent6"/>
                </a:solidFill>
              </a:rPr>
              <a:t>set of rules</a:t>
            </a:r>
            <a:r>
              <a:rPr lang="en-US"/>
              <a:t>. It is used to </a:t>
            </a:r>
            <a:r>
              <a:rPr b="1" lang="en-US">
                <a:solidFill>
                  <a:schemeClr val="accent6"/>
                </a:solidFill>
              </a:rPr>
              <a:t>maintain the quality </a:t>
            </a:r>
            <a:r>
              <a:rPr lang="en-US"/>
              <a:t>of information.</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Integrity constraints ensure that the data insertion, updating, and other processes have to be performed in such a way that data integrity is not affected.</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Thus, integrity constraint is used to </a:t>
            </a:r>
            <a:r>
              <a:rPr b="1" lang="en-US">
                <a:solidFill>
                  <a:schemeClr val="accent6"/>
                </a:solidFill>
              </a:rPr>
              <a:t>guard against accidental damage </a:t>
            </a:r>
            <a:r>
              <a:rPr lang="en-US"/>
              <a:t>to the database.</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Various Integrity Constraints are:</a:t>
            </a:r>
            <a:endParaRPr/>
          </a:p>
          <a:p>
            <a:pPr indent="-352425" lvl="1" marL="809625" rtl="0" algn="just">
              <a:lnSpc>
                <a:spcPct val="90000"/>
              </a:lnSpc>
              <a:spcBef>
                <a:spcPts val="500"/>
              </a:spcBef>
              <a:spcAft>
                <a:spcPts val="0"/>
              </a:spcAft>
              <a:buSzPts val="2000"/>
              <a:buChar char="⮩"/>
            </a:pPr>
            <a:r>
              <a:rPr lang="en-US"/>
              <a:t>Check</a:t>
            </a:r>
            <a:endParaRPr/>
          </a:p>
          <a:p>
            <a:pPr indent="-352425" lvl="1" marL="809625" rtl="0" algn="just">
              <a:lnSpc>
                <a:spcPct val="90000"/>
              </a:lnSpc>
              <a:spcBef>
                <a:spcPts val="500"/>
              </a:spcBef>
              <a:spcAft>
                <a:spcPts val="0"/>
              </a:spcAft>
              <a:buSzPts val="2000"/>
              <a:buChar char="⮩"/>
            </a:pPr>
            <a:r>
              <a:rPr lang="en-US"/>
              <a:t>Not null</a:t>
            </a:r>
            <a:endParaRPr/>
          </a:p>
          <a:p>
            <a:pPr indent="-352425" lvl="1" marL="809625" rtl="0" algn="just">
              <a:lnSpc>
                <a:spcPct val="90000"/>
              </a:lnSpc>
              <a:spcBef>
                <a:spcPts val="500"/>
              </a:spcBef>
              <a:spcAft>
                <a:spcPts val="0"/>
              </a:spcAft>
              <a:buSzPts val="2000"/>
              <a:buChar char="⮩"/>
            </a:pPr>
            <a:r>
              <a:rPr lang="en-US"/>
              <a:t>Unique</a:t>
            </a:r>
            <a:endParaRPr/>
          </a:p>
          <a:p>
            <a:pPr indent="-352425" lvl="1" marL="809625" rtl="0" algn="just">
              <a:lnSpc>
                <a:spcPct val="90000"/>
              </a:lnSpc>
              <a:spcBef>
                <a:spcPts val="500"/>
              </a:spcBef>
              <a:spcAft>
                <a:spcPts val="0"/>
              </a:spcAft>
              <a:buSzPts val="2000"/>
              <a:buChar char="⮩"/>
            </a:pPr>
            <a:r>
              <a:rPr lang="en-US"/>
              <a:t>Primary key</a:t>
            </a:r>
            <a:endParaRPr/>
          </a:p>
          <a:p>
            <a:pPr indent="-352425" lvl="1" marL="809625" rtl="0" algn="just">
              <a:lnSpc>
                <a:spcPct val="90000"/>
              </a:lnSpc>
              <a:spcBef>
                <a:spcPts val="500"/>
              </a:spcBef>
              <a:spcAft>
                <a:spcPts val="0"/>
              </a:spcAft>
              <a:buSzPts val="2000"/>
              <a:buChar char="⮩"/>
            </a:pPr>
            <a:r>
              <a:rPr lang="en-US"/>
              <a:t>Foreign key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0" st="0"/>
                                            </p:txEl>
                                          </p:spTgt>
                                        </p:tgtEl>
                                        <p:attrNameLst>
                                          <p:attrName>style.visibility</p:attrName>
                                        </p:attrNameLst>
                                      </p:cBhvr>
                                      <p:to>
                                        <p:strVal val="visible"/>
                                      </p:to>
                                    </p:set>
                                    <p:animEffect filter="fade" transition="in">
                                      <p:cBhvr>
                                        <p:cTn dur="500"/>
                                        <p:tgtEl>
                                          <p:spTgt spid="16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1" st="1"/>
                                            </p:txEl>
                                          </p:spTgt>
                                        </p:tgtEl>
                                        <p:attrNameLst>
                                          <p:attrName>style.visibility</p:attrName>
                                        </p:attrNameLst>
                                      </p:cBhvr>
                                      <p:to>
                                        <p:strVal val="visible"/>
                                      </p:to>
                                    </p:set>
                                    <p:animEffect filter="fade" transition="in">
                                      <p:cBhvr>
                                        <p:cTn dur="500"/>
                                        <p:tgtEl>
                                          <p:spTgt spid="16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2" st="2"/>
                                            </p:txEl>
                                          </p:spTgt>
                                        </p:tgtEl>
                                        <p:attrNameLst>
                                          <p:attrName>style.visibility</p:attrName>
                                        </p:attrNameLst>
                                      </p:cBhvr>
                                      <p:to>
                                        <p:strVal val="visible"/>
                                      </p:to>
                                    </p:set>
                                    <p:animEffect filter="fade" transition="in">
                                      <p:cBhvr>
                                        <p:cTn dur="500"/>
                                        <p:tgtEl>
                                          <p:spTgt spid="16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3" st="3"/>
                                            </p:txEl>
                                          </p:spTgt>
                                        </p:tgtEl>
                                        <p:attrNameLst>
                                          <p:attrName>style.visibility</p:attrName>
                                        </p:attrNameLst>
                                      </p:cBhvr>
                                      <p:to>
                                        <p:strVal val="visible"/>
                                      </p:to>
                                    </p:set>
                                    <p:animEffect filter="fade" transition="in">
                                      <p:cBhvr>
                                        <p:cTn dur="500"/>
                                        <p:tgtEl>
                                          <p:spTgt spid="16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4" st="4"/>
                                            </p:txEl>
                                          </p:spTgt>
                                        </p:tgtEl>
                                        <p:attrNameLst>
                                          <p:attrName>style.visibility</p:attrName>
                                        </p:attrNameLst>
                                      </p:cBhvr>
                                      <p:to>
                                        <p:strVal val="visible"/>
                                      </p:to>
                                    </p:set>
                                    <p:animEffect filter="fade" transition="in">
                                      <p:cBhvr>
                                        <p:cTn dur="500"/>
                                        <p:tgtEl>
                                          <p:spTgt spid="16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5" st="5"/>
                                            </p:txEl>
                                          </p:spTgt>
                                        </p:tgtEl>
                                        <p:attrNameLst>
                                          <p:attrName>style.visibility</p:attrName>
                                        </p:attrNameLst>
                                      </p:cBhvr>
                                      <p:to>
                                        <p:strVal val="visible"/>
                                      </p:to>
                                    </p:set>
                                    <p:animEffect filter="fade" transition="in">
                                      <p:cBhvr>
                                        <p:cTn dur="500"/>
                                        <p:tgtEl>
                                          <p:spTgt spid="16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6" st="6"/>
                                            </p:txEl>
                                          </p:spTgt>
                                        </p:tgtEl>
                                        <p:attrNameLst>
                                          <p:attrName>style.visibility</p:attrName>
                                        </p:attrNameLst>
                                      </p:cBhvr>
                                      <p:to>
                                        <p:strVal val="visible"/>
                                      </p:to>
                                    </p:set>
                                    <p:animEffect filter="fade" transition="in">
                                      <p:cBhvr>
                                        <p:cTn dur="500"/>
                                        <p:tgtEl>
                                          <p:spTgt spid="16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7" st="7"/>
                                            </p:txEl>
                                          </p:spTgt>
                                        </p:tgtEl>
                                        <p:attrNameLst>
                                          <p:attrName>style.visibility</p:attrName>
                                        </p:attrNameLst>
                                      </p:cBhvr>
                                      <p:to>
                                        <p:strVal val="visible"/>
                                      </p:to>
                                    </p:set>
                                    <p:animEffect filter="fade" transition="in">
                                      <p:cBhvr>
                                        <p:cTn dur="500"/>
                                        <p:tgtEl>
                                          <p:spTgt spid="16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6">
                                            <p:txEl>
                                              <p:pRg end="8" st="8"/>
                                            </p:txEl>
                                          </p:spTgt>
                                        </p:tgtEl>
                                        <p:attrNameLst>
                                          <p:attrName>style.visibility</p:attrName>
                                        </p:attrNameLst>
                                      </p:cBhvr>
                                      <p:to>
                                        <p:strVal val="visible"/>
                                      </p:to>
                                    </p:set>
                                    <p:animEffect filter="fade" transition="in">
                                      <p:cBhvr>
                                        <p:cTn dur="500"/>
                                        <p:tgtEl>
                                          <p:spTgt spid="1656">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72"/>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Integrity Constraints</a:t>
            </a:r>
            <a:endParaRPr/>
          </a:p>
        </p:txBody>
      </p:sp>
      <p:sp>
        <p:nvSpPr>
          <p:cNvPr id="1662" name="Google Shape;1662;p72"/>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Check</a:t>
            </a:r>
            <a:endParaRPr/>
          </a:p>
          <a:p>
            <a:pPr indent="-352425" lvl="1" marL="809625" rtl="0" algn="just">
              <a:lnSpc>
                <a:spcPct val="90000"/>
              </a:lnSpc>
              <a:spcBef>
                <a:spcPts val="500"/>
              </a:spcBef>
              <a:spcAft>
                <a:spcPts val="0"/>
              </a:spcAft>
              <a:buSzPts val="2000"/>
              <a:buChar char="⮩"/>
            </a:pPr>
            <a:r>
              <a:rPr lang="en-US"/>
              <a:t>This constraint defines a business rule on a column. All the rows in that column must satisfy this rule. </a:t>
            </a:r>
            <a:endParaRPr/>
          </a:p>
          <a:p>
            <a:pPr indent="-352425" lvl="1" marL="809625" rtl="0" algn="just">
              <a:lnSpc>
                <a:spcPct val="90000"/>
              </a:lnSpc>
              <a:spcBef>
                <a:spcPts val="500"/>
              </a:spcBef>
              <a:spcAft>
                <a:spcPts val="0"/>
              </a:spcAft>
              <a:buSzPts val="2000"/>
              <a:buChar char="⮩"/>
            </a:pPr>
            <a:r>
              <a:rPr lang="en-US"/>
              <a:t>Limits the data values of variables to a </a:t>
            </a:r>
            <a:r>
              <a:rPr b="1" lang="en-US">
                <a:solidFill>
                  <a:schemeClr val="accent6"/>
                </a:solidFill>
              </a:rPr>
              <a:t>specific set, range, or list of values</a:t>
            </a:r>
            <a:r>
              <a:rPr lang="en-US"/>
              <a:t>. </a:t>
            </a:r>
            <a:endParaRPr/>
          </a:p>
          <a:p>
            <a:pPr indent="-352425" lvl="1" marL="809625" rtl="0" algn="just">
              <a:lnSpc>
                <a:spcPct val="90000"/>
              </a:lnSpc>
              <a:spcBef>
                <a:spcPts val="500"/>
              </a:spcBef>
              <a:spcAft>
                <a:spcPts val="0"/>
              </a:spcAft>
              <a:buSzPts val="2000"/>
              <a:buChar char="⮩"/>
            </a:pPr>
            <a:r>
              <a:rPr lang="en-US"/>
              <a:t>The constraint can be applied for a single column or a group of columns.</a:t>
            </a:r>
            <a:endParaRPr/>
          </a:p>
          <a:p>
            <a:pPr indent="-352425" lvl="1" marL="809625" rtl="0" algn="just">
              <a:lnSpc>
                <a:spcPct val="90000"/>
              </a:lnSpc>
              <a:spcBef>
                <a:spcPts val="500"/>
              </a:spcBef>
              <a:spcAft>
                <a:spcPts val="0"/>
              </a:spcAft>
              <a:buSzPts val="2000"/>
              <a:buChar char="⮩"/>
            </a:pPr>
            <a:r>
              <a:rPr lang="en-US"/>
              <a:t>E.g. value of SPI should be between 0 to 10. </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Not null</a:t>
            </a:r>
            <a:endParaRPr/>
          </a:p>
          <a:p>
            <a:pPr indent="-352425" lvl="1" marL="809625" rtl="0" algn="just">
              <a:lnSpc>
                <a:spcPct val="90000"/>
              </a:lnSpc>
              <a:spcBef>
                <a:spcPts val="500"/>
              </a:spcBef>
              <a:spcAft>
                <a:spcPts val="0"/>
              </a:spcAft>
              <a:buSzPts val="2000"/>
              <a:buChar char="⮩"/>
            </a:pPr>
            <a:r>
              <a:rPr lang="en-US"/>
              <a:t>This constraint ensures all rows in the table contain a definite value for the column which is specified as not null. Which means a </a:t>
            </a:r>
            <a:r>
              <a:rPr b="1" lang="en-US">
                <a:solidFill>
                  <a:schemeClr val="accent6"/>
                </a:solidFill>
              </a:rPr>
              <a:t>null value </a:t>
            </a:r>
            <a:r>
              <a:rPr lang="en-US"/>
              <a:t>is not allowed.</a:t>
            </a:r>
            <a:endParaRPr/>
          </a:p>
          <a:p>
            <a:pPr indent="-352425" lvl="1" marL="809625" rtl="0" algn="just">
              <a:lnSpc>
                <a:spcPct val="90000"/>
              </a:lnSpc>
              <a:spcBef>
                <a:spcPts val="500"/>
              </a:spcBef>
              <a:spcAft>
                <a:spcPts val="0"/>
              </a:spcAft>
              <a:buSzPts val="2000"/>
              <a:buChar char="⮩"/>
            </a:pPr>
            <a:r>
              <a:rPr lang="en-US"/>
              <a:t>E.g. name column should have some value.</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Unique</a:t>
            </a:r>
            <a:endParaRPr/>
          </a:p>
          <a:p>
            <a:pPr indent="-352425" lvl="1" marL="809625" rtl="0" algn="just">
              <a:lnSpc>
                <a:spcPct val="90000"/>
              </a:lnSpc>
              <a:spcBef>
                <a:spcPts val="500"/>
              </a:spcBef>
              <a:spcAft>
                <a:spcPts val="0"/>
              </a:spcAft>
              <a:buSzPts val="2000"/>
              <a:buChar char="⮩"/>
            </a:pPr>
            <a:r>
              <a:rPr lang="en-US"/>
              <a:t>This constraint ensures that a column or a group of columns in each row have a </a:t>
            </a:r>
            <a:r>
              <a:rPr b="1" lang="en-US">
                <a:solidFill>
                  <a:schemeClr val="accent6"/>
                </a:solidFill>
              </a:rPr>
              <a:t>distinct (unique) </a:t>
            </a:r>
            <a:r>
              <a:rPr lang="en-US"/>
              <a:t>value. </a:t>
            </a:r>
            <a:endParaRPr/>
          </a:p>
          <a:p>
            <a:pPr indent="-352425" lvl="1" marL="809625" rtl="0" algn="just">
              <a:lnSpc>
                <a:spcPct val="90000"/>
              </a:lnSpc>
              <a:spcBef>
                <a:spcPts val="500"/>
              </a:spcBef>
              <a:spcAft>
                <a:spcPts val="0"/>
              </a:spcAft>
              <a:buSzPts val="2000"/>
              <a:buChar char="⮩"/>
            </a:pPr>
            <a:r>
              <a:rPr lang="en-US"/>
              <a:t>A column(s) can have a null value but the values cannot be duplicated.</a:t>
            </a:r>
            <a:endParaRPr/>
          </a:p>
          <a:p>
            <a:pPr indent="-352425" lvl="1" marL="809625" rtl="0" algn="just">
              <a:lnSpc>
                <a:spcPct val="90000"/>
              </a:lnSpc>
              <a:spcBef>
                <a:spcPts val="500"/>
              </a:spcBef>
              <a:spcAft>
                <a:spcPts val="0"/>
              </a:spcAft>
              <a:buSzPts val="2000"/>
              <a:buChar char="⮩"/>
            </a:pPr>
            <a:r>
              <a:rPr lang="en-US"/>
              <a:t>E.g. enrollmentno column should have unique value.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0" st="0"/>
                                            </p:txEl>
                                          </p:spTgt>
                                        </p:tgtEl>
                                        <p:attrNameLst>
                                          <p:attrName>style.visibility</p:attrName>
                                        </p:attrNameLst>
                                      </p:cBhvr>
                                      <p:to>
                                        <p:strVal val="visible"/>
                                      </p:to>
                                    </p:set>
                                    <p:animEffect filter="fade" transition="in">
                                      <p:cBhvr>
                                        <p:cTn dur="500"/>
                                        <p:tgtEl>
                                          <p:spTgt spid="16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1" st="1"/>
                                            </p:txEl>
                                          </p:spTgt>
                                        </p:tgtEl>
                                        <p:attrNameLst>
                                          <p:attrName>style.visibility</p:attrName>
                                        </p:attrNameLst>
                                      </p:cBhvr>
                                      <p:to>
                                        <p:strVal val="visible"/>
                                      </p:to>
                                    </p:set>
                                    <p:animEffect filter="fade" transition="in">
                                      <p:cBhvr>
                                        <p:cTn dur="500"/>
                                        <p:tgtEl>
                                          <p:spTgt spid="16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2" st="2"/>
                                            </p:txEl>
                                          </p:spTgt>
                                        </p:tgtEl>
                                        <p:attrNameLst>
                                          <p:attrName>style.visibility</p:attrName>
                                        </p:attrNameLst>
                                      </p:cBhvr>
                                      <p:to>
                                        <p:strVal val="visible"/>
                                      </p:to>
                                    </p:set>
                                    <p:animEffect filter="fade" transition="in">
                                      <p:cBhvr>
                                        <p:cTn dur="500"/>
                                        <p:tgtEl>
                                          <p:spTgt spid="16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3" st="3"/>
                                            </p:txEl>
                                          </p:spTgt>
                                        </p:tgtEl>
                                        <p:attrNameLst>
                                          <p:attrName>style.visibility</p:attrName>
                                        </p:attrNameLst>
                                      </p:cBhvr>
                                      <p:to>
                                        <p:strVal val="visible"/>
                                      </p:to>
                                    </p:set>
                                    <p:animEffect filter="fade" transition="in">
                                      <p:cBhvr>
                                        <p:cTn dur="500"/>
                                        <p:tgtEl>
                                          <p:spTgt spid="16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4" st="4"/>
                                            </p:txEl>
                                          </p:spTgt>
                                        </p:tgtEl>
                                        <p:attrNameLst>
                                          <p:attrName>style.visibility</p:attrName>
                                        </p:attrNameLst>
                                      </p:cBhvr>
                                      <p:to>
                                        <p:strVal val="visible"/>
                                      </p:to>
                                    </p:set>
                                    <p:animEffect filter="fade" transition="in">
                                      <p:cBhvr>
                                        <p:cTn dur="500"/>
                                        <p:tgtEl>
                                          <p:spTgt spid="16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5" st="5"/>
                                            </p:txEl>
                                          </p:spTgt>
                                        </p:tgtEl>
                                        <p:attrNameLst>
                                          <p:attrName>style.visibility</p:attrName>
                                        </p:attrNameLst>
                                      </p:cBhvr>
                                      <p:to>
                                        <p:strVal val="visible"/>
                                      </p:to>
                                    </p:set>
                                    <p:animEffect filter="fade" transition="in">
                                      <p:cBhvr>
                                        <p:cTn dur="500"/>
                                        <p:tgtEl>
                                          <p:spTgt spid="16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6" st="6"/>
                                            </p:txEl>
                                          </p:spTgt>
                                        </p:tgtEl>
                                        <p:attrNameLst>
                                          <p:attrName>style.visibility</p:attrName>
                                        </p:attrNameLst>
                                      </p:cBhvr>
                                      <p:to>
                                        <p:strVal val="visible"/>
                                      </p:to>
                                    </p:set>
                                    <p:animEffect filter="fade" transition="in">
                                      <p:cBhvr>
                                        <p:cTn dur="500"/>
                                        <p:tgtEl>
                                          <p:spTgt spid="166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7" st="7"/>
                                            </p:txEl>
                                          </p:spTgt>
                                        </p:tgtEl>
                                        <p:attrNameLst>
                                          <p:attrName>style.visibility</p:attrName>
                                        </p:attrNameLst>
                                      </p:cBhvr>
                                      <p:to>
                                        <p:strVal val="visible"/>
                                      </p:to>
                                    </p:set>
                                    <p:animEffect filter="fade" transition="in">
                                      <p:cBhvr>
                                        <p:cTn dur="500"/>
                                        <p:tgtEl>
                                          <p:spTgt spid="166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8" st="8"/>
                                            </p:txEl>
                                          </p:spTgt>
                                        </p:tgtEl>
                                        <p:attrNameLst>
                                          <p:attrName>style.visibility</p:attrName>
                                        </p:attrNameLst>
                                      </p:cBhvr>
                                      <p:to>
                                        <p:strVal val="visible"/>
                                      </p:to>
                                    </p:set>
                                    <p:animEffect filter="fade" transition="in">
                                      <p:cBhvr>
                                        <p:cTn dur="500"/>
                                        <p:tgtEl>
                                          <p:spTgt spid="166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9" st="9"/>
                                            </p:txEl>
                                          </p:spTgt>
                                        </p:tgtEl>
                                        <p:attrNameLst>
                                          <p:attrName>style.visibility</p:attrName>
                                        </p:attrNameLst>
                                      </p:cBhvr>
                                      <p:to>
                                        <p:strVal val="visible"/>
                                      </p:to>
                                    </p:set>
                                    <p:animEffect filter="fade" transition="in">
                                      <p:cBhvr>
                                        <p:cTn dur="500"/>
                                        <p:tgtEl>
                                          <p:spTgt spid="166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10" st="10"/>
                                            </p:txEl>
                                          </p:spTgt>
                                        </p:tgtEl>
                                        <p:attrNameLst>
                                          <p:attrName>style.visibility</p:attrName>
                                        </p:attrNameLst>
                                      </p:cBhvr>
                                      <p:to>
                                        <p:strVal val="visible"/>
                                      </p:to>
                                    </p:set>
                                    <p:animEffect filter="fade" transition="in">
                                      <p:cBhvr>
                                        <p:cTn dur="500"/>
                                        <p:tgtEl>
                                          <p:spTgt spid="166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2">
                                            <p:txEl>
                                              <p:pRg end="11" st="11"/>
                                            </p:txEl>
                                          </p:spTgt>
                                        </p:tgtEl>
                                        <p:attrNameLst>
                                          <p:attrName>style.visibility</p:attrName>
                                        </p:attrNameLst>
                                      </p:cBhvr>
                                      <p:to>
                                        <p:strVal val="visible"/>
                                      </p:to>
                                    </p:set>
                                    <p:animEffect filter="fade" transition="in">
                                      <p:cBhvr>
                                        <p:cTn dur="500"/>
                                        <p:tgtEl>
                                          <p:spTgt spid="1662">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6" name="Shape 1666"/>
        <p:cNvGrpSpPr/>
        <p:nvPr/>
      </p:nvGrpSpPr>
      <p:grpSpPr>
        <a:xfrm>
          <a:off x="0" y="0"/>
          <a:ext cx="0" cy="0"/>
          <a:chOff x="0" y="0"/>
          <a:chExt cx="0" cy="0"/>
        </a:xfrm>
      </p:grpSpPr>
      <p:sp>
        <p:nvSpPr>
          <p:cNvPr id="1667" name="Google Shape;1667;p73"/>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Integrity Constraints</a:t>
            </a:r>
            <a:endParaRPr/>
          </a:p>
        </p:txBody>
      </p:sp>
      <p:sp>
        <p:nvSpPr>
          <p:cNvPr id="1668" name="Google Shape;1668;p73"/>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265113" lvl="0" marL="265113" rtl="0" algn="just">
              <a:lnSpc>
                <a:spcPct val="90000"/>
              </a:lnSpc>
              <a:spcBef>
                <a:spcPts val="0"/>
              </a:spcBef>
              <a:spcAft>
                <a:spcPts val="0"/>
              </a:spcAft>
              <a:buClr>
                <a:schemeClr val="accent6"/>
              </a:buClr>
              <a:buSzPts val="2400"/>
              <a:buFont typeface="Noto Sans Symbols"/>
              <a:buChar char="🞂"/>
            </a:pPr>
            <a:r>
              <a:rPr lang="en-US"/>
              <a:t>Primary key</a:t>
            </a:r>
            <a:endParaRPr/>
          </a:p>
          <a:p>
            <a:pPr indent="-352425" lvl="1" marL="809625" rtl="0" algn="just">
              <a:lnSpc>
                <a:spcPct val="90000"/>
              </a:lnSpc>
              <a:spcBef>
                <a:spcPts val="500"/>
              </a:spcBef>
              <a:spcAft>
                <a:spcPts val="0"/>
              </a:spcAft>
              <a:buSzPts val="2000"/>
              <a:buChar char="⮩"/>
            </a:pPr>
            <a:r>
              <a:rPr lang="en-US"/>
              <a:t>This constraint defines a column or combination of columns which uniquely identifies each row in the table.</a:t>
            </a:r>
            <a:endParaRPr/>
          </a:p>
          <a:p>
            <a:pPr indent="-352425" lvl="1" marL="809625" rtl="0" algn="just">
              <a:lnSpc>
                <a:spcPct val="90000"/>
              </a:lnSpc>
              <a:spcBef>
                <a:spcPts val="500"/>
              </a:spcBef>
              <a:spcAft>
                <a:spcPts val="0"/>
              </a:spcAft>
              <a:buSzPts val="2000"/>
              <a:buChar char="⮩"/>
            </a:pPr>
            <a:r>
              <a:rPr lang="en-US"/>
              <a:t>Primary key = </a:t>
            </a:r>
            <a:r>
              <a:rPr b="1" lang="en-US">
                <a:solidFill>
                  <a:schemeClr val="accent6"/>
                </a:solidFill>
              </a:rPr>
              <a:t>Unique key + Not null</a:t>
            </a:r>
            <a:endParaRPr/>
          </a:p>
          <a:p>
            <a:pPr indent="-352425" lvl="1" marL="809625" rtl="0" algn="just">
              <a:lnSpc>
                <a:spcPct val="90000"/>
              </a:lnSpc>
              <a:spcBef>
                <a:spcPts val="500"/>
              </a:spcBef>
              <a:spcAft>
                <a:spcPts val="0"/>
              </a:spcAft>
              <a:buSzPts val="2000"/>
              <a:buChar char="⮩"/>
            </a:pPr>
            <a:r>
              <a:rPr lang="en-US"/>
              <a:t>E.g. enrollmentno column should have unique value as well as can’t be null.</a:t>
            </a:r>
            <a:endParaRPr/>
          </a:p>
          <a:p>
            <a:pPr indent="-265113" lvl="0" marL="265113" rtl="0" algn="just">
              <a:lnSpc>
                <a:spcPct val="90000"/>
              </a:lnSpc>
              <a:spcBef>
                <a:spcPts val="1000"/>
              </a:spcBef>
              <a:spcAft>
                <a:spcPts val="0"/>
              </a:spcAft>
              <a:buClr>
                <a:schemeClr val="accent6"/>
              </a:buClr>
              <a:buSzPts val="2400"/>
              <a:buFont typeface="Noto Sans Symbols"/>
              <a:buChar char="🞂"/>
            </a:pPr>
            <a:r>
              <a:rPr lang="en-US"/>
              <a:t>Foreign key (referential integrity constraint) </a:t>
            </a:r>
            <a:endParaRPr/>
          </a:p>
          <a:p>
            <a:pPr indent="-352425" lvl="1" marL="809625" rtl="0" algn="just">
              <a:lnSpc>
                <a:spcPct val="90000"/>
              </a:lnSpc>
              <a:spcBef>
                <a:spcPts val="500"/>
              </a:spcBef>
              <a:spcAft>
                <a:spcPts val="0"/>
              </a:spcAft>
              <a:buSzPts val="2000"/>
              <a:buChar char="⮩"/>
            </a:pPr>
            <a:r>
              <a:rPr lang="en-US"/>
              <a:t>A referential integrity constraint (foreign key) is specified between two tables.</a:t>
            </a:r>
            <a:endParaRPr/>
          </a:p>
          <a:p>
            <a:pPr indent="-352425" lvl="1" marL="809625" rtl="0" algn="just">
              <a:lnSpc>
                <a:spcPct val="90000"/>
              </a:lnSpc>
              <a:spcBef>
                <a:spcPts val="500"/>
              </a:spcBef>
              <a:spcAft>
                <a:spcPts val="0"/>
              </a:spcAft>
              <a:buSzPts val="2000"/>
              <a:buChar char="⮩"/>
            </a:pPr>
            <a:r>
              <a:rPr lang="en-US"/>
              <a:t>In the referential integrity constraints, if a foreign key column in table 1 refers to the primary key column of table 2, then every value of the foreign key column in table 1 must be null or be available in primary key column of table 2.</a:t>
            </a:r>
            <a:endParaRPr/>
          </a:p>
        </p:txBody>
      </p:sp>
      <p:graphicFrame>
        <p:nvGraphicFramePr>
          <p:cNvPr id="1669" name="Google Shape;1669;p73"/>
          <p:cNvGraphicFramePr/>
          <p:nvPr/>
        </p:nvGraphicFramePr>
        <p:xfrm>
          <a:off x="1362157" y="4872266"/>
          <a:ext cx="3000000" cy="3000000"/>
        </p:xfrm>
        <a:graphic>
          <a:graphicData uri="http://schemas.openxmlformats.org/drawingml/2006/table">
            <a:tbl>
              <a:tblPr bandRow="1" firstRow="1">
                <a:noFill/>
                <a:tableStyleId>{2FE9E659-6503-4E8C-9AC6-ED4A2EF7120C}</a:tableStyleId>
              </a:tblPr>
              <a:tblGrid>
                <a:gridCol w="846450"/>
                <a:gridCol w="1275075"/>
                <a:gridCol w="979800"/>
              </a:tblGrid>
              <a:tr h="412850">
                <a:tc>
                  <a:txBody>
                    <a:bodyPr/>
                    <a:lstStyle/>
                    <a:p>
                      <a:pPr indent="0" lvl="0" marL="0" marR="0" rtl="0" algn="l">
                        <a:spcBef>
                          <a:spcPts val="0"/>
                        </a:spcBef>
                        <a:spcAft>
                          <a:spcPts val="0"/>
                        </a:spcAft>
                        <a:buNone/>
                      </a:pPr>
                      <a:r>
                        <a:rPr b="1" lang="en-US" sz="1800" u="sng">
                          <a:solidFill>
                            <a:schemeClr val="dk1"/>
                          </a:solidFill>
                        </a:rPr>
                        <a:t>DeptID</a:t>
                      </a:r>
                      <a:endParaRPr b="1" sz="1800" u="sng">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Dept_Name</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lang="en-US" sz="1800">
                          <a:solidFill>
                            <a:schemeClr val="dk1"/>
                          </a:solidFill>
                        </a:rPr>
                        <a:t>HOD</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r h="411475">
                <a:tc>
                  <a:txBody>
                    <a:bodyPr/>
                    <a:lstStyle/>
                    <a:p>
                      <a:pPr indent="0" lvl="0" marL="0" marR="0" rtl="0" algn="l">
                        <a:spcBef>
                          <a:spcPts val="0"/>
                        </a:spcBef>
                        <a:spcAft>
                          <a:spcPts val="0"/>
                        </a:spcAft>
                        <a:buNone/>
                      </a:pPr>
                      <a:r>
                        <a:rPr lang="en-US" sz="1900"/>
                        <a:t>1</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Computer</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Doshi</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2</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IT</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Vyash</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graphicFrame>
        <p:nvGraphicFramePr>
          <p:cNvPr id="1670" name="Google Shape;1670;p73"/>
          <p:cNvGraphicFramePr/>
          <p:nvPr/>
        </p:nvGraphicFramePr>
        <p:xfrm>
          <a:off x="6127106" y="4861587"/>
          <a:ext cx="3000000" cy="3000000"/>
        </p:xfrm>
        <a:graphic>
          <a:graphicData uri="http://schemas.openxmlformats.org/drawingml/2006/table">
            <a:tbl>
              <a:tblPr bandRow="1" firstRow="1">
                <a:noFill/>
                <a:tableStyleId>{2FE9E659-6503-4E8C-9AC6-ED4A2EF7120C}</a:tableStyleId>
              </a:tblPr>
              <a:tblGrid>
                <a:gridCol w="844875"/>
                <a:gridCol w="1565600"/>
                <a:gridCol w="846450"/>
              </a:tblGrid>
              <a:tr h="411475">
                <a:tc>
                  <a:txBody>
                    <a:bodyPr/>
                    <a:lstStyle/>
                    <a:p>
                      <a:pPr indent="0" lvl="0" marL="0" marR="0" rtl="0" algn="l">
                        <a:spcBef>
                          <a:spcPts val="0"/>
                        </a:spcBef>
                        <a:spcAft>
                          <a:spcPts val="0"/>
                        </a:spcAft>
                        <a:buNone/>
                      </a:pPr>
                      <a:r>
                        <a:rPr b="1" lang="en-US" sz="1800" u="sng">
                          <a:solidFill>
                            <a:schemeClr val="dk1"/>
                          </a:solidFill>
                        </a:rPr>
                        <a:t>RollNo</a:t>
                      </a:r>
                      <a:endParaRPr b="1" sz="1800" u="sng">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b="1" lang="en-US" sz="1800">
                          <a:solidFill>
                            <a:schemeClr val="dk1"/>
                          </a:solidFill>
                        </a:rPr>
                        <a:t>Student_Name</a:t>
                      </a:r>
                      <a:endParaRPr b="1" sz="1800">
                        <a:solidFill>
                          <a:schemeClr val="dk1"/>
                        </a:solidFill>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c>
                  <a:txBody>
                    <a:bodyPr/>
                    <a:lstStyle/>
                    <a:p>
                      <a:pPr indent="0" lvl="0" marL="0" marR="0" rtl="0" algn="l">
                        <a:spcBef>
                          <a:spcPts val="0"/>
                        </a:spcBef>
                        <a:spcAft>
                          <a:spcPts val="0"/>
                        </a:spcAft>
                        <a:buNone/>
                      </a:pPr>
                      <a:r>
                        <a:rPr b="1" lang="en-US" sz="1800">
                          <a:solidFill>
                            <a:schemeClr val="dk1"/>
                          </a:solidFill>
                        </a:rPr>
                        <a:t>DeptID</a:t>
                      </a:r>
                      <a:endParaRPr b="1" sz="18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E8E8E8"/>
                    </a:solidFill>
                  </a:tcPr>
                </a:tc>
              </a:tr>
              <a:tr h="411475">
                <a:tc>
                  <a:txBody>
                    <a:bodyPr/>
                    <a:lstStyle/>
                    <a:p>
                      <a:pPr indent="0" lvl="0" marL="0" marR="0" rtl="0" algn="l">
                        <a:spcBef>
                          <a:spcPts val="0"/>
                        </a:spcBef>
                        <a:spcAft>
                          <a:spcPts val="0"/>
                        </a:spcAft>
                        <a:buNone/>
                      </a:pPr>
                      <a:r>
                        <a:rPr lang="en-US" sz="1900"/>
                        <a:t>101</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t>Raj Patel</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1</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r h="411475">
                <a:tc>
                  <a:txBody>
                    <a:bodyPr/>
                    <a:lstStyle/>
                    <a:p>
                      <a:pPr indent="0" lvl="0" marL="0" marR="0" rtl="0" algn="l">
                        <a:spcBef>
                          <a:spcPts val="0"/>
                        </a:spcBef>
                        <a:spcAft>
                          <a:spcPts val="0"/>
                        </a:spcAft>
                        <a:buNone/>
                      </a:pPr>
                      <a:r>
                        <a:rPr lang="en-US" sz="1900"/>
                        <a:t>102</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t>Meet Shah</a:t>
                      </a:r>
                      <a:endParaRPr sz="1900"/>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1900">
                          <a:solidFill>
                            <a:schemeClr val="dk1"/>
                          </a:solidFill>
                          <a:latin typeface="Roboto Condensed"/>
                          <a:ea typeface="Roboto Condensed"/>
                          <a:cs typeface="Roboto Condensed"/>
                          <a:sym typeface="Roboto Condensed"/>
                        </a:rPr>
                        <a:t>2</a:t>
                      </a:r>
                      <a:endParaRPr sz="1900">
                        <a:solidFill>
                          <a:schemeClr val="dk1"/>
                        </a:solidFill>
                        <a:latin typeface="Roboto Condensed"/>
                        <a:ea typeface="Roboto Condensed"/>
                        <a:cs typeface="Roboto Condensed"/>
                        <a:sym typeface="Roboto Condensed"/>
                      </a:endParaRPr>
                    </a:p>
                  </a:txBody>
                  <a:tcPr marT="45725" marB="45725" marR="91450" marL="91450"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chemeClr val="lt1"/>
                    </a:solidFill>
                  </a:tcPr>
                </a:tc>
              </a:tr>
            </a:tbl>
          </a:graphicData>
        </a:graphic>
      </p:graphicFrame>
      <p:cxnSp>
        <p:nvCxnSpPr>
          <p:cNvPr id="1671" name="Google Shape;1671;p73"/>
          <p:cNvCxnSpPr/>
          <p:nvPr/>
        </p:nvCxnSpPr>
        <p:spPr>
          <a:xfrm>
            <a:off x="1722856" y="4205766"/>
            <a:ext cx="4984" cy="673265"/>
          </a:xfrm>
          <a:prstGeom prst="straightConnector1">
            <a:avLst/>
          </a:prstGeom>
          <a:noFill/>
          <a:ln cap="flat" cmpd="sng" w="38100">
            <a:solidFill>
              <a:schemeClr val="accent6"/>
            </a:solidFill>
            <a:prstDash val="solid"/>
            <a:miter lim="800000"/>
            <a:headEnd len="sm" w="sm" type="none"/>
            <a:tailEnd len="sm" w="sm" type="none"/>
          </a:ln>
        </p:spPr>
      </p:cxnSp>
      <p:cxnSp>
        <p:nvCxnSpPr>
          <p:cNvPr id="1672" name="Google Shape;1672;p73"/>
          <p:cNvCxnSpPr/>
          <p:nvPr/>
        </p:nvCxnSpPr>
        <p:spPr>
          <a:xfrm>
            <a:off x="1722856" y="4205766"/>
            <a:ext cx="7166876" cy="0"/>
          </a:xfrm>
          <a:prstGeom prst="straightConnector1">
            <a:avLst/>
          </a:prstGeom>
          <a:noFill/>
          <a:ln cap="flat" cmpd="sng" w="38100">
            <a:solidFill>
              <a:schemeClr val="accent6"/>
            </a:solidFill>
            <a:prstDash val="solid"/>
            <a:miter lim="800000"/>
            <a:headEnd len="sm" w="sm" type="none"/>
            <a:tailEnd len="sm" w="sm" type="none"/>
          </a:ln>
        </p:spPr>
      </p:cxnSp>
      <p:cxnSp>
        <p:nvCxnSpPr>
          <p:cNvPr id="1673" name="Google Shape;1673;p73"/>
          <p:cNvCxnSpPr/>
          <p:nvPr/>
        </p:nvCxnSpPr>
        <p:spPr>
          <a:xfrm>
            <a:off x="8889732" y="4205766"/>
            <a:ext cx="0" cy="622465"/>
          </a:xfrm>
          <a:prstGeom prst="straightConnector1">
            <a:avLst/>
          </a:prstGeom>
          <a:noFill/>
          <a:ln cap="flat" cmpd="sng" w="38100">
            <a:solidFill>
              <a:schemeClr val="accent6"/>
            </a:solidFill>
            <a:prstDash val="solid"/>
            <a:miter lim="800000"/>
            <a:headEnd len="sm" w="sm" type="none"/>
            <a:tailEnd len="med" w="med" type="triangle"/>
          </a:ln>
        </p:spPr>
      </p:cxnSp>
      <p:sp>
        <p:nvSpPr>
          <p:cNvPr id="1674" name="Google Shape;1674;p73"/>
          <p:cNvSpPr/>
          <p:nvPr/>
        </p:nvSpPr>
        <p:spPr>
          <a:xfrm>
            <a:off x="4544294" y="4304915"/>
            <a:ext cx="1524000" cy="360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Roboto Condensed"/>
                <a:ea typeface="Roboto Condensed"/>
                <a:cs typeface="Roboto Condensed"/>
                <a:sym typeface="Roboto Condensed"/>
              </a:rPr>
              <a:t>Foreign Key</a:t>
            </a:r>
            <a:endParaRPr sz="1800">
              <a:solidFill>
                <a:schemeClr val="dk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xEl>
                                              <p:pRg end="0" st="0"/>
                                            </p:txEl>
                                          </p:spTgt>
                                        </p:tgtEl>
                                        <p:attrNameLst>
                                          <p:attrName>style.visibility</p:attrName>
                                        </p:attrNameLst>
                                      </p:cBhvr>
                                      <p:to>
                                        <p:strVal val="visible"/>
                                      </p:to>
                                    </p:set>
                                    <p:animEffect filter="fade" transition="in">
                                      <p:cBhvr>
                                        <p:cTn dur="500"/>
                                        <p:tgtEl>
                                          <p:spTgt spid="16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xEl>
                                              <p:pRg end="1" st="1"/>
                                            </p:txEl>
                                          </p:spTgt>
                                        </p:tgtEl>
                                        <p:attrNameLst>
                                          <p:attrName>style.visibility</p:attrName>
                                        </p:attrNameLst>
                                      </p:cBhvr>
                                      <p:to>
                                        <p:strVal val="visible"/>
                                      </p:to>
                                    </p:set>
                                    <p:animEffect filter="fade" transition="in">
                                      <p:cBhvr>
                                        <p:cTn dur="500"/>
                                        <p:tgtEl>
                                          <p:spTgt spid="16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xEl>
                                              <p:pRg end="2" st="2"/>
                                            </p:txEl>
                                          </p:spTgt>
                                        </p:tgtEl>
                                        <p:attrNameLst>
                                          <p:attrName>style.visibility</p:attrName>
                                        </p:attrNameLst>
                                      </p:cBhvr>
                                      <p:to>
                                        <p:strVal val="visible"/>
                                      </p:to>
                                    </p:set>
                                    <p:animEffect filter="fade" transition="in">
                                      <p:cBhvr>
                                        <p:cTn dur="500"/>
                                        <p:tgtEl>
                                          <p:spTgt spid="16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xEl>
                                              <p:pRg end="3" st="3"/>
                                            </p:txEl>
                                          </p:spTgt>
                                        </p:tgtEl>
                                        <p:attrNameLst>
                                          <p:attrName>style.visibility</p:attrName>
                                        </p:attrNameLst>
                                      </p:cBhvr>
                                      <p:to>
                                        <p:strVal val="visible"/>
                                      </p:to>
                                    </p:set>
                                    <p:animEffect filter="fade" transition="in">
                                      <p:cBhvr>
                                        <p:cTn dur="500"/>
                                        <p:tgtEl>
                                          <p:spTgt spid="16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xEl>
                                              <p:pRg end="4" st="4"/>
                                            </p:txEl>
                                          </p:spTgt>
                                        </p:tgtEl>
                                        <p:attrNameLst>
                                          <p:attrName>style.visibility</p:attrName>
                                        </p:attrNameLst>
                                      </p:cBhvr>
                                      <p:to>
                                        <p:strVal val="visible"/>
                                      </p:to>
                                    </p:set>
                                    <p:animEffect filter="fade" transition="in">
                                      <p:cBhvr>
                                        <p:cTn dur="500"/>
                                        <p:tgtEl>
                                          <p:spTgt spid="16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xEl>
                                              <p:pRg end="5" st="5"/>
                                            </p:txEl>
                                          </p:spTgt>
                                        </p:tgtEl>
                                        <p:attrNameLst>
                                          <p:attrName>style.visibility</p:attrName>
                                        </p:attrNameLst>
                                      </p:cBhvr>
                                      <p:to>
                                        <p:strVal val="visible"/>
                                      </p:to>
                                    </p:set>
                                    <p:animEffect filter="fade" transition="in">
                                      <p:cBhvr>
                                        <p:cTn dur="500"/>
                                        <p:tgtEl>
                                          <p:spTgt spid="16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xEl>
                                              <p:pRg end="6" st="6"/>
                                            </p:txEl>
                                          </p:spTgt>
                                        </p:tgtEl>
                                        <p:attrNameLst>
                                          <p:attrName>style.visibility</p:attrName>
                                        </p:attrNameLst>
                                      </p:cBhvr>
                                      <p:to>
                                        <p:strVal val="visible"/>
                                      </p:to>
                                    </p:set>
                                    <p:animEffect filter="fade" transition="in">
                                      <p:cBhvr>
                                        <p:cTn dur="500"/>
                                        <p:tgtEl>
                                          <p:spTgt spid="166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9"/>
                                        </p:tgtEl>
                                        <p:attrNameLst>
                                          <p:attrName>style.visibility</p:attrName>
                                        </p:attrNameLst>
                                      </p:cBhvr>
                                      <p:to>
                                        <p:strVal val="visible"/>
                                      </p:to>
                                    </p:set>
                                    <p:animEffect filter="fade" transition="in">
                                      <p:cBhvr>
                                        <p:cTn dur="500"/>
                                        <p:tgtEl>
                                          <p:spTgt spid="1669"/>
                                        </p:tgtEl>
                                      </p:cBhvr>
                                    </p:animEffect>
                                  </p:childTnLst>
                                </p:cTn>
                              </p:par>
                              <p:par>
                                <p:cTn fill="hold" nodeType="withEffect" presetClass="entr" presetID="10" presetSubtype="0">
                                  <p:stCondLst>
                                    <p:cond delay="0"/>
                                  </p:stCondLst>
                                  <p:childTnLst>
                                    <p:set>
                                      <p:cBhvr>
                                        <p:cTn dur="1" fill="hold">
                                          <p:stCondLst>
                                            <p:cond delay="0"/>
                                          </p:stCondLst>
                                        </p:cTn>
                                        <p:tgtEl>
                                          <p:spTgt spid="1670"/>
                                        </p:tgtEl>
                                        <p:attrNameLst>
                                          <p:attrName>style.visibility</p:attrName>
                                        </p:attrNameLst>
                                      </p:cBhvr>
                                      <p:to>
                                        <p:strVal val="visible"/>
                                      </p:to>
                                    </p:set>
                                    <p:animEffect filter="fade" transition="in">
                                      <p:cBhvr>
                                        <p:cTn dur="500"/>
                                        <p:tgtEl>
                                          <p:spTgt spid="1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par>
                                <p:cTn fill="hold" nodeType="withEffect" presetClass="entr" presetID="10" presetSubtype="0">
                                  <p:stCondLst>
                                    <p:cond delay="0"/>
                                  </p:stCondLst>
                                  <p:childTnLst>
                                    <p:set>
                                      <p:cBhvr>
                                        <p:cTn dur="1" fill="hold">
                                          <p:stCondLst>
                                            <p:cond delay="0"/>
                                          </p:stCondLst>
                                        </p:cTn>
                                        <p:tgtEl>
                                          <p:spTgt spid="1672"/>
                                        </p:tgtEl>
                                        <p:attrNameLst>
                                          <p:attrName>style.visibility</p:attrName>
                                        </p:attrNameLst>
                                      </p:cBhvr>
                                      <p:to>
                                        <p:strVal val="visible"/>
                                      </p:to>
                                    </p:set>
                                    <p:animEffect filter="fade" transition="in">
                                      <p:cBhvr>
                                        <p:cTn dur="500"/>
                                        <p:tgtEl>
                                          <p:spTgt spid="1672"/>
                                        </p:tgtEl>
                                      </p:cBhvr>
                                    </p:animEffect>
                                  </p:childTnLst>
                                </p:cTn>
                              </p:par>
                              <p:par>
                                <p:cTn fill="hold" nodeType="withEffect" presetClass="entr" presetID="10" presetSubtype="0">
                                  <p:stCondLst>
                                    <p:cond delay="0"/>
                                  </p:stCondLst>
                                  <p:childTnLst>
                                    <p:set>
                                      <p:cBhvr>
                                        <p:cTn dur="1" fill="hold">
                                          <p:stCondLst>
                                            <p:cond delay="0"/>
                                          </p:stCondLst>
                                        </p:cTn>
                                        <p:tgtEl>
                                          <p:spTgt spid="1673"/>
                                        </p:tgtEl>
                                        <p:attrNameLst>
                                          <p:attrName>style.visibility</p:attrName>
                                        </p:attrNameLst>
                                      </p:cBhvr>
                                      <p:to>
                                        <p:strVal val="visible"/>
                                      </p:to>
                                    </p:set>
                                    <p:animEffect filter="fade" transition="in">
                                      <p:cBhvr>
                                        <p:cTn dur="500"/>
                                        <p:tgtEl>
                                          <p:spTgt spid="1673"/>
                                        </p:tgtEl>
                                      </p:cBhvr>
                                    </p:animEffect>
                                  </p:childTnLst>
                                </p:cTn>
                              </p:par>
                              <p:par>
                                <p:cTn fill="hold" nodeType="withEffect" presetClass="entr" presetID="10" presetSubtype="0">
                                  <p:stCondLst>
                                    <p:cond delay="0"/>
                                  </p:stCondLst>
                                  <p:childTnLst>
                                    <p:set>
                                      <p:cBhvr>
                                        <p:cTn dur="1" fill="hold">
                                          <p:stCondLst>
                                            <p:cond delay="0"/>
                                          </p:stCondLst>
                                        </p:cTn>
                                        <p:tgtEl>
                                          <p:spTgt spid="1674"/>
                                        </p:tgtEl>
                                        <p:attrNameLst>
                                          <p:attrName>style.visibility</p:attrName>
                                        </p:attrNameLst>
                                      </p:cBhvr>
                                      <p:to>
                                        <p:strVal val="visible"/>
                                      </p:to>
                                    </p:set>
                                    <p:animEffect filter="fade" transition="in">
                                      <p:cBhvr>
                                        <p:cTn dur="500"/>
                                        <p:tgtEl>
                                          <p:spTgt spid="1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sp>
        <p:nvSpPr>
          <p:cNvPr id="1679" name="Google Shape;1679;p74"/>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Questions asked in GTU</a:t>
            </a:r>
            <a:endParaRPr/>
          </a:p>
        </p:txBody>
      </p:sp>
      <p:sp>
        <p:nvSpPr>
          <p:cNvPr id="1680" name="Google Shape;1680;p74"/>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457200" lvl="0" marL="457200" rtl="0" algn="just">
              <a:lnSpc>
                <a:spcPct val="90000"/>
              </a:lnSpc>
              <a:spcBef>
                <a:spcPts val="0"/>
              </a:spcBef>
              <a:spcAft>
                <a:spcPts val="0"/>
              </a:spcAft>
              <a:buSzPts val="2400"/>
              <a:buFont typeface="Roboto Condensed"/>
              <a:buAutoNum type="arabicPeriod"/>
            </a:pPr>
            <a:r>
              <a:rPr lang="en-US"/>
              <a:t>Write a note on mapping cardinality in E-R diagram.</a:t>
            </a:r>
            <a:endParaRPr/>
          </a:p>
          <a:p>
            <a:pPr indent="-457200" lvl="0" marL="457200" rtl="0" algn="just">
              <a:lnSpc>
                <a:spcPct val="90000"/>
              </a:lnSpc>
              <a:spcBef>
                <a:spcPts val="1000"/>
              </a:spcBef>
              <a:spcAft>
                <a:spcPts val="0"/>
              </a:spcAft>
              <a:buSzPts val="2400"/>
              <a:buFont typeface="Roboto Condensed"/>
              <a:buAutoNum type="arabicPeriod"/>
            </a:pPr>
            <a:r>
              <a:rPr lang="en-US"/>
              <a:t>Explain the difference between a weak and a strong entity set.</a:t>
            </a:r>
            <a:endParaRPr/>
          </a:p>
          <a:p>
            <a:pPr indent="-457200" lvl="0" marL="457200" rtl="0" algn="just">
              <a:lnSpc>
                <a:spcPct val="90000"/>
              </a:lnSpc>
              <a:spcBef>
                <a:spcPts val="1000"/>
              </a:spcBef>
              <a:spcAft>
                <a:spcPts val="0"/>
              </a:spcAft>
              <a:buSzPts val="2400"/>
              <a:buFont typeface="Roboto Condensed"/>
              <a:buAutoNum type="arabicPeriod"/>
            </a:pPr>
            <a:r>
              <a:rPr lang="en-US"/>
              <a:t>Explain the difference between generalization and specialization. </a:t>
            </a:r>
            <a:r>
              <a:rPr b="1" lang="en-US">
                <a:solidFill>
                  <a:schemeClr val="accent6"/>
                </a:solidFill>
              </a:rPr>
              <a:t>OR</a:t>
            </a:r>
            <a:r>
              <a:rPr lang="en-US"/>
              <a:t> Explain specialization and generalization concept in E-R diagram with suitable example.</a:t>
            </a:r>
            <a:endParaRPr/>
          </a:p>
          <a:p>
            <a:pPr indent="-457200" lvl="0" marL="457200" rtl="0" algn="just">
              <a:lnSpc>
                <a:spcPct val="90000"/>
              </a:lnSpc>
              <a:spcBef>
                <a:spcPts val="1000"/>
              </a:spcBef>
              <a:spcAft>
                <a:spcPts val="0"/>
              </a:spcAft>
              <a:buSzPts val="2400"/>
              <a:buFont typeface="Roboto Condensed"/>
              <a:buAutoNum type="arabicPeriod"/>
            </a:pPr>
            <a:r>
              <a:rPr lang="en-US"/>
              <a:t>Write a note on constraints on specialization and generalization.</a:t>
            </a:r>
            <a:endParaRPr/>
          </a:p>
          <a:p>
            <a:pPr indent="-457200" lvl="0" marL="457200" rtl="0" algn="just">
              <a:lnSpc>
                <a:spcPct val="90000"/>
              </a:lnSpc>
              <a:spcBef>
                <a:spcPts val="1000"/>
              </a:spcBef>
              <a:spcAft>
                <a:spcPts val="0"/>
              </a:spcAft>
              <a:buSzPts val="2400"/>
              <a:buFont typeface="Roboto Condensed"/>
              <a:buAutoNum type="arabicPeriod"/>
            </a:pPr>
            <a:r>
              <a:rPr lang="en-US"/>
              <a:t>Explain aggregation in E-R diagram with example.</a:t>
            </a:r>
            <a:endParaRPr/>
          </a:p>
          <a:p>
            <a:pPr indent="-457200" lvl="0" marL="457200" rtl="0" algn="just">
              <a:lnSpc>
                <a:spcPct val="90000"/>
              </a:lnSpc>
              <a:spcBef>
                <a:spcPts val="1000"/>
              </a:spcBef>
              <a:spcAft>
                <a:spcPts val="0"/>
              </a:spcAft>
              <a:buSzPts val="2400"/>
              <a:buFont typeface="Roboto Condensed"/>
              <a:buAutoNum type="arabicPeriod"/>
            </a:pPr>
            <a:r>
              <a:rPr lang="en-US"/>
              <a:t>What do you mean by integrity constraints? Discuss various integrity constraints.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0" st="0"/>
                                            </p:txEl>
                                          </p:spTgt>
                                        </p:tgtEl>
                                        <p:attrNameLst>
                                          <p:attrName>style.visibility</p:attrName>
                                        </p:attrNameLst>
                                      </p:cBhvr>
                                      <p:to>
                                        <p:strVal val="visible"/>
                                      </p:to>
                                    </p:set>
                                    <p:animEffect filter="fade" transition="in">
                                      <p:cBhvr>
                                        <p:cTn dur="500"/>
                                        <p:tgtEl>
                                          <p:spTgt spid="16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1" st="1"/>
                                            </p:txEl>
                                          </p:spTgt>
                                        </p:tgtEl>
                                        <p:attrNameLst>
                                          <p:attrName>style.visibility</p:attrName>
                                        </p:attrNameLst>
                                      </p:cBhvr>
                                      <p:to>
                                        <p:strVal val="visible"/>
                                      </p:to>
                                    </p:set>
                                    <p:animEffect filter="fade" transition="in">
                                      <p:cBhvr>
                                        <p:cTn dur="500"/>
                                        <p:tgtEl>
                                          <p:spTgt spid="16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2" st="2"/>
                                            </p:txEl>
                                          </p:spTgt>
                                        </p:tgtEl>
                                        <p:attrNameLst>
                                          <p:attrName>style.visibility</p:attrName>
                                        </p:attrNameLst>
                                      </p:cBhvr>
                                      <p:to>
                                        <p:strVal val="visible"/>
                                      </p:to>
                                    </p:set>
                                    <p:animEffect filter="fade" transition="in">
                                      <p:cBhvr>
                                        <p:cTn dur="500"/>
                                        <p:tgtEl>
                                          <p:spTgt spid="16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3" st="3"/>
                                            </p:txEl>
                                          </p:spTgt>
                                        </p:tgtEl>
                                        <p:attrNameLst>
                                          <p:attrName>style.visibility</p:attrName>
                                        </p:attrNameLst>
                                      </p:cBhvr>
                                      <p:to>
                                        <p:strVal val="visible"/>
                                      </p:to>
                                    </p:set>
                                    <p:animEffect filter="fade" transition="in">
                                      <p:cBhvr>
                                        <p:cTn dur="500"/>
                                        <p:tgtEl>
                                          <p:spTgt spid="16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4" st="4"/>
                                            </p:txEl>
                                          </p:spTgt>
                                        </p:tgtEl>
                                        <p:attrNameLst>
                                          <p:attrName>style.visibility</p:attrName>
                                        </p:attrNameLst>
                                      </p:cBhvr>
                                      <p:to>
                                        <p:strVal val="visible"/>
                                      </p:to>
                                    </p:set>
                                    <p:animEffect filter="fade" transition="in">
                                      <p:cBhvr>
                                        <p:cTn dur="500"/>
                                        <p:tgtEl>
                                          <p:spTgt spid="16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0">
                                            <p:txEl>
                                              <p:pRg end="5" st="5"/>
                                            </p:txEl>
                                          </p:spTgt>
                                        </p:tgtEl>
                                        <p:attrNameLst>
                                          <p:attrName>style.visibility</p:attrName>
                                        </p:attrNameLst>
                                      </p:cBhvr>
                                      <p:to>
                                        <p:strVal val="visible"/>
                                      </p:to>
                                    </p:set>
                                    <p:animEffect filter="fade" transition="in">
                                      <p:cBhvr>
                                        <p:cTn dur="500"/>
                                        <p:tgtEl>
                                          <p:spTgt spid="168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75"/>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Questions asked in GTU </a:t>
            </a:r>
            <a:r>
              <a:rPr lang="en-US">
                <a:solidFill>
                  <a:schemeClr val="dk2"/>
                </a:solidFill>
              </a:rPr>
              <a:t>[E-R diagrams]</a:t>
            </a:r>
            <a:endParaRPr>
              <a:solidFill>
                <a:schemeClr val="dk2"/>
              </a:solidFill>
            </a:endParaRPr>
          </a:p>
        </p:txBody>
      </p:sp>
      <p:sp>
        <p:nvSpPr>
          <p:cNvPr id="1686" name="Google Shape;1686;p75"/>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457200" lvl="0" marL="457200" rtl="0" algn="just">
              <a:lnSpc>
                <a:spcPct val="90000"/>
              </a:lnSpc>
              <a:spcBef>
                <a:spcPts val="0"/>
              </a:spcBef>
              <a:spcAft>
                <a:spcPts val="0"/>
              </a:spcAft>
              <a:buSzPts val="2400"/>
              <a:buFont typeface="Roboto Condensed"/>
              <a:buAutoNum type="arabicPeriod" startAt="7"/>
            </a:pPr>
            <a:r>
              <a:rPr lang="en-US"/>
              <a:t>Draw E-R diagram for Bank Management System.</a:t>
            </a:r>
            <a:endParaRPr/>
          </a:p>
          <a:p>
            <a:pPr indent="-457200" lvl="0" marL="457200" rtl="0" algn="just">
              <a:lnSpc>
                <a:spcPct val="90000"/>
              </a:lnSpc>
              <a:spcBef>
                <a:spcPts val="1000"/>
              </a:spcBef>
              <a:spcAft>
                <a:spcPts val="0"/>
              </a:spcAft>
              <a:buSzPts val="2400"/>
              <a:buFont typeface="Roboto Condensed"/>
              <a:buAutoNum type="arabicPeriod" startAt="7"/>
            </a:pPr>
            <a:r>
              <a:rPr lang="en-US"/>
              <a:t>Define E-R diagram. Draw an E-R diagram for Library Management System. Assume relevant entities and attributes for the given system.</a:t>
            </a:r>
            <a:endParaRPr/>
          </a:p>
          <a:p>
            <a:pPr indent="-457200" lvl="0" marL="457200" rtl="0" algn="just">
              <a:lnSpc>
                <a:spcPct val="90000"/>
              </a:lnSpc>
              <a:spcBef>
                <a:spcPts val="1000"/>
              </a:spcBef>
              <a:spcAft>
                <a:spcPts val="0"/>
              </a:spcAft>
              <a:buSzPts val="2400"/>
              <a:buFont typeface="Roboto Condensed"/>
              <a:buAutoNum type="arabicPeriod" startAt="7"/>
            </a:pPr>
            <a:r>
              <a:rPr lang="en-US"/>
              <a:t>Construct an E-R diagram for a car-insurance company whose customers own one or more cars each. Each car has associated with it zero to any number of recorded accidents.</a:t>
            </a:r>
            <a:endParaRPr/>
          </a:p>
          <a:p>
            <a:pPr indent="-457200" lvl="0" marL="457200" rtl="0" algn="just">
              <a:lnSpc>
                <a:spcPct val="90000"/>
              </a:lnSpc>
              <a:spcBef>
                <a:spcPts val="1000"/>
              </a:spcBef>
              <a:spcAft>
                <a:spcPts val="0"/>
              </a:spcAft>
              <a:buSzPts val="2400"/>
              <a:buFont typeface="Roboto Condensed"/>
              <a:buAutoNum type="arabicPeriod" startAt="7"/>
            </a:pPr>
            <a:r>
              <a:rPr lang="en-US"/>
              <a:t>Design a generalization–specialization hierarchy for a motor-vehicle sales company. The company sells motorcycles, passenger cars, vans, and buses. Justify your placement of attributes at each level of the hierarchy. Explain why they should not be placed at a higher or lower level.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0" st="0"/>
                                            </p:txEl>
                                          </p:spTgt>
                                        </p:tgtEl>
                                        <p:attrNameLst>
                                          <p:attrName>style.visibility</p:attrName>
                                        </p:attrNameLst>
                                      </p:cBhvr>
                                      <p:to>
                                        <p:strVal val="visible"/>
                                      </p:to>
                                    </p:set>
                                    <p:animEffect filter="fade" transition="in">
                                      <p:cBhvr>
                                        <p:cTn dur="500"/>
                                        <p:tgtEl>
                                          <p:spTgt spid="16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1" st="1"/>
                                            </p:txEl>
                                          </p:spTgt>
                                        </p:tgtEl>
                                        <p:attrNameLst>
                                          <p:attrName>style.visibility</p:attrName>
                                        </p:attrNameLst>
                                      </p:cBhvr>
                                      <p:to>
                                        <p:strVal val="visible"/>
                                      </p:to>
                                    </p:set>
                                    <p:animEffect filter="fade" transition="in">
                                      <p:cBhvr>
                                        <p:cTn dur="500"/>
                                        <p:tgtEl>
                                          <p:spTgt spid="16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2" st="2"/>
                                            </p:txEl>
                                          </p:spTgt>
                                        </p:tgtEl>
                                        <p:attrNameLst>
                                          <p:attrName>style.visibility</p:attrName>
                                        </p:attrNameLst>
                                      </p:cBhvr>
                                      <p:to>
                                        <p:strVal val="visible"/>
                                      </p:to>
                                    </p:set>
                                    <p:animEffect filter="fade" transition="in">
                                      <p:cBhvr>
                                        <p:cTn dur="500"/>
                                        <p:tgtEl>
                                          <p:spTgt spid="16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6">
                                            <p:txEl>
                                              <p:pRg end="3" st="3"/>
                                            </p:txEl>
                                          </p:spTgt>
                                        </p:tgtEl>
                                        <p:attrNameLst>
                                          <p:attrName>style.visibility</p:attrName>
                                        </p:attrNameLst>
                                      </p:cBhvr>
                                      <p:to>
                                        <p:strVal val="visible"/>
                                      </p:to>
                                    </p:set>
                                    <p:animEffect filter="fade" transition="in">
                                      <p:cBhvr>
                                        <p:cTn dur="500"/>
                                        <p:tgtEl>
                                          <p:spTgt spid="168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p76"/>
          <p:cNvSpPr txBox="1"/>
          <p:nvPr>
            <p:ph type="title"/>
          </p:nvPr>
        </p:nvSpPr>
        <p:spPr>
          <a:xfrm>
            <a:off x="0" y="1"/>
            <a:ext cx="12192000" cy="711200"/>
          </a:xfrm>
          <a:prstGeom prst="rect">
            <a:avLst/>
          </a:prstGeom>
          <a:solidFill>
            <a:srgbClr val="C0C0C0">
              <a:alpha val="49803"/>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Questions asked in GTU </a:t>
            </a:r>
            <a:r>
              <a:rPr lang="en-US">
                <a:solidFill>
                  <a:schemeClr val="dk2"/>
                </a:solidFill>
              </a:rPr>
              <a:t>[E-R diagrams and Database]</a:t>
            </a:r>
            <a:endParaRPr/>
          </a:p>
        </p:txBody>
      </p:sp>
      <p:sp>
        <p:nvSpPr>
          <p:cNvPr id="1692" name="Google Shape;1692;p76"/>
          <p:cNvSpPr txBox="1"/>
          <p:nvPr>
            <p:ph idx="1" type="body"/>
          </p:nvPr>
        </p:nvSpPr>
        <p:spPr>
          <a:xfrm>
            <a:off x="131175" y="863449"/>
            <a:ext cx="11929500" cy="4707600"/>
          </a:xfrm>
          <a:prstGeom prst="rect">
            <a:avLst/>
          </a:prstGeom>
          <a:noFill/>
          <a:ln>
            <a:noFill/>
          </a:ln>
        </p:spPr>
        <p:txBody>
          <a:bodyPr anchorCtr="0" anchor="t" bIns="45700" lIns="91425" spcFirstLastPara="1" rIns="91425" wrap="square" tIns="45700">
            <a:noAutofit/>
          </a:bodyPr>
          <a:lstStyle/>
          <a:p>
            <a:pPr indent="-457200" lvl="0" marL="457200" rtl="0" algn="just">
              <a:lnSpc>
                <a:spcPct val="90000"/>
              </a:lnSpc>
              <a:spcBef>
                <a:spcPts val="0"/>
              </a:spcBef>
              <a:spcAft>
                <a:spcPts val="0"/>
              </a:spcAft>
              <a:buSzPts val="2400"/>
              <a:buFont typeface="Roboto Condensed"/>
              <a:buAutoNum type="arabicPeriod" startAt="11"/>
            </a:pPr>
            <a:r>
              <a:rPr lang="en-US"/>
              <a:t>Design a database for an airline. The database must keep track of customers and their reservations, flights and their status, seat assignments on individual flights, and the schedule and routing of future flights. Your design should include an E-R diagram, a set of relational schemas, and a list of constraints, including primary-key and foreign-key constraints.</a:t>
            </a:r>
            <a:endParaRPr/>
          </a:p>
          <a:p>
            <a:pPr indent="-457200" lvl="0" marL="457200" rtl="0" algn="just">
              <a:lnSpc>
                <a:spcPct val="90000"/>
              </a:lnSpc>
              <a:spcBef>
                <a:spcPts val="1000"/>
              </a:spcBef>
              <a:spcAft>
                <a:spcPts val="0"/>
              </a:spcAft>
              <a:buSzPts val="2400"/>
              <a:buFont typeface="Roboto Condensed"/>
              <a:buAutoNum type="arabicPeriod" startAt="11"/>
            </a:pPr>
            <a:r>
              <a:rPr lang="en-US"/>
              <a:t>Design a database for a hospital with a set of patients and a set of medical doctors. Associate with each patient a log of the various tests and examinations conducted. Your design should include an E-R diagram, a set of relational schemas, and a list of constraints, including primary-key and foreign-key constraints.</a:t>
            </a:r>
            <a:endParaRPr/>
          </a:p>
          <a:p>
            <a:pPr indent="-304800" lvl="0" marL="457200" rtl="0" algn="just">
              <a:lnSpc>
                <a:spcPct val="90000"/>
              </a:lnSpc>
              <a:spcBef>
                <a:spcPts val="1000"/>
              </a:spcBef>
              <a:spcAft>
                <a:spcPts val="0"/>
              </a:spcAft>
              <a:buSzPts val="2400"/>
              <a:buFont typeface="Roboto Condensed"/>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2">
                                            <p:txEl>
                                              <p:pRg end="0" st="0"/>
                                            </p:txEl>
                                          </p:spTgt>
                                        </p:tgtEl>
                                        <p:attrNameLst>
                                          <p:attrName>style.visibility</p:attrName>
                                        </p:attrNameLst>
                                      </p:cBhvr>
                                      <p:to>
                                        <p:strVal val="visible"/>
                                      </p:to>
                                    </p:set>
                                    <p:animEffect filter="fade" transition="in">
                                      <p:cBhvr>
                                        <p:cTn dur="500"/>
                                        <p:tgtEl>
                                          <p:spTgt spid="16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2">
                                            <p:txEl>
                                              <p:pRg end="1" st="1"/>
                                            </p:txEl>
                                          </p:spTgt>
                                        </p:tgtEl>
                                        <p:attrNameLst>
                                          <p:attrName>style.visibility</p:attrName>
                                        </p:attrNameLst>
                                      </p:cBhvr>
                                      <p:to>
                                        <p:strVal val="visible"/>
                                      </p:to>
                                    </p:set>
                                    <p:animEffect filter="fade" transition="in">
                                      <p:cBhvr>
                                        <p:cTn dur="500"/>
                                        <p:tgtEl>
                                          <p:spTgt spid="16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2">
                                            <p:txEl>
                                              <p:pRg end="2" st="2"/>
                                            </p:txEl>
                                          </p:spTgt>
                                        </p:tgtEl>
                                        <p:attrNameLst>
                                          <p:attrName>style.visibility</p:attrName>
                                        </p:attrNameLst>
                                      </p:cBhvr>
                                      <p:to>
                                        <p:strVal val="visible"/>
                                      </p:to>
                                    </p:set>
                                    <p:animEffect filter="fade" transition="in">
                                      <p:cBhvr>
                                        <p:cTn dur="500"/>
                                        <p:tgtEl>
                                          <p:spTgt spid="169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Jay">
      <a:dk1>
        <a:srgbClr val="212121"/>
      </a:dk1>
      <a:lt1>
        <a:srgbClr val="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2020-05-01T05:09:15Z</dcterms:created>
  <dc:creator>ADMIN</dc:creator>
</cp:coreProperties>
</file>