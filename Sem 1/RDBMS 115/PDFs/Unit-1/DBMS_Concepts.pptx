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12192000" cy="6858000"/>
  <p:notesSz cx="6858000" cy="9144000"/>
  <p:embeddedFontLst>
    <p:embeddedFont>
      <p:font typeface="Roboto Condensed" panose="02000000000000000000" pitchFamily="2" charset="0"/>
      <p:regular r:id="rId40"/>
      <p:bold r:id="rId41"/>
      <p:italic r:id="rId42"/>
      <p:boldItalic r:id="rId43"/>
    </p:embeddedFont>
    <p:embeddedFont>
      <p:font typeface="Roboto Condensed Light" panose="02000000000000000000" pitchFamily="2" charset="0"/>
      <p:regular r:id="rId44"/>
      <p:bold r:id="rId45"/>
      <p:italic r:id="rId46"/>
      <p:boldItalic r:id="rId4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1" roundtripDataSignature="AMtx7mgJra5JgnEZ5dKctYKFIxpHOk2QW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D71C580-254A-4B48-869B-2F15487CFC39}">
  <a:tblStyle styleId="{0D71C580-254A-4B48-869B-2F15487CFC39}" styleName="Table_0">
    <a:wholeTbl>
      <a:tcTxStyle b="off" i="off">
        <a:font>
          <a:latin typeface="Roboto Condensed"/>
          <a:ea typeface="Roboto Condensed"/>
          <a:cs typeface="Roboto Condensed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EEEEE"/>
          </a:solidFill>
        </a:fill>
      </a:tcStyle>
    </a:wholeTbl>
    <a:band1H>
      <a:tcTxStyle/>
      <a:tcStyle>
        <a:tcBdr/>
        <a:fill>
          <a:solidFill>
            <a:srgbClr val="DBDBDB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BDBDB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Roboto Condensed"/>
          <a:ea typeface="Roboto Condensed"/>
          <a:cs typeface="Roboto Condensed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Roboto Condensed"/>
          <a:ea typeface="Roboto Condensed"/>
          <a:cs typeface="Roboto Condensed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Roboto Condensed"/>
          <a:ea typeface="Roboto Condensed"/>
          <a:cs typeface="Roboto Condensed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Roboto Condensed"/>
          <a:ea typeface="Roboto Condensed"/>
          <a:cs typeface="Roboto Condensed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3.fntdata"/><Relationship Id="rId47" Type="http://schemas.openxmlformats.org/officeDocument/2006/relationships/font" Target="fonts/font8.fntdata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1.fntdata"/><Relationship Id="rId45" Type="http://schemas.openxmlformats.org/officeDocument/2006/relationships/font" Target="fonts/font6.fntdata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5.fntdata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4.fntdata"/><Relationship Id="rId56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customschemas.google.com/relationships/presentationmetadata" Target="meta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7.fntdata"/><Relationship Id="rId20" Type="http://schemas.openxmlformats.org/officeDocument/2006/relationships/slide" Target="slides/slide19.xml"/><Relationship Id="rId41" Type="http://schemas.openxmlformats.org/officeDocument/2006/relationships/font" Target="fonts/font2.fntdata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rshan Prajapati" userId="320ee792b5633a25" providerId="LiveId" clId="{E19EF6B7-B20C-4280-9413-EADDA70E5919}"/>
    <pc:docChg chg="modSld">
      <pc:chgData name="Darshan Prajapati" userId="320ee792b5633a25" providerId="LiveId" clId="{E19EF6B7-B20C-4280-9413-EADDA70E5919}" dt="2025-12-25T11:48:55.229" v="1" actId="1038"/>
      <pc:docMkLst>
        <pc:docMk/>
      </pc:docMkLst>
      <pc:sldChg chg="modSp mod">
        <pc:chgData name="Darshan Prajapati" userId="320ee792b5633a25" providerId="LiveId" clId="{E19EF6B7-B20C-4280-9413-EADDA70E5919}" dt="2025-12-25T11:48:55.229" v="1" actId="1038"/>
        <pc:sldMkLst>
          <pc:docMk/>
          <pc:sldMk cId="0" sldId="280"/>
        </pc:sldMkLst>
        <pc:spChg chg="mod">
          <ac:chgData name="Darshan Prajapati" userId="320ee792b5633a25" providerId="LiveId" clId="{E19EF6B7-B20C-4280-9413-EADDA70E5919}" dt="2025-12-25T11:48:55.229" v="1" actId="1038"/>
          <ac:spMkLst>
            <pc:docMk/>
            <pc:sldMk cId="0" sldId="280"/>
            <ac:spMk id="67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6" name="Google Shape;53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" name="Google Shape;54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2" name="Google Shape;56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6" name="Google Shape;576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9" name="Google Shape;58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4" name="Google Shape;604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10" name="Google Shape;610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9" name="Google Shape;639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5" name="Google Shape;645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5" name="Google Shape;675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1" name="Google Shape;681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3" name="Google Shape;713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9" name="Google Shape;719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5" name="Google Shape;725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1" name="Google Shape;731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7" name="Google Shape;737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3" name="Google Shape;743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9" name="Google Shape;749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5" name="Google Shape;755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5" name="Google Shape;835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1" name="Google Shape;841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12.png"/><Relationship Id="rId9" Type="http://schemas.openxmlformats.org/officeDocument/2006/relationships/image" Target="../media/image13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14.png"/><Relationship Id="rId4" Type="http://schemas.openxmlformats.org/officeDocument/2006/relationships/image" Target="../media/image6.png"/><Relationship Id="rId9" Type="http://schemas.openxmlformats.org/officeDocument/2006/relationships/image" Target="../media/image8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2.png"/><Relationship Id="rId9" Type="http://schemas.openxmlformats.org/officeDocument/2006/relationships/image" Target="../media/image8.png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2.png"/><Relationship Id="rId9" Type="http://schemas.openxmlformats.org/officeDocument/2006/relationships/image" Target="../media/image8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2.png"/><Relationship Id="rId9" Type="http://schemas.openxmlformats.org/officeDocument/2006/relationships/image" Target="../media/image8.png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2.png"/><Relationship Id="rId9" Type="http://schemas.openxmlformats.org/officeDocument/2006/relationships/image" Target="../media/image8.png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2.png"/><Relationship Id="rId9" Type="http://schemas.openxmlformats.org/officeDocument/2006/relationships/image" Target="../media/image8.png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2.png"/><Relationship Id="rId9" Type="http://schemas.openxmlformats.org/officeDocument/2006/relationships/image" Target="../media/image8.png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2.png"/><Relationship Id="rId9" Type="http://schemas.openxmlformats.org/officeDocument/2006/relationships/image" Target="../media/image8.png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2.png"/><Relationship Id="rId9" Type="http://schemas.openxmlformats.org/officeDocument/2006/relationships/image" Target="../media/image8.png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12.png"/><Relationship Id="rId9" Type="http://schemas.openxmlformats.org/officeDocument/2006/relationships/image" Target="../media/image16.jpg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2.png"/><Relationship Id="rId9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- Maroon">
  <p:cSld name="Title Slide - Maroon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40" descr="https://cdn5.vectorstock.com/i/1000x1000/21/59/dbms-database-management-system-computer-data-vector-8212159.jpg"/>
          <p:cNvPicPr preferRelativeResize="0"/>
          <p:nvPr/>
        </p:nvPicPr>
        <p:blipFill rotWithShape="1">
          <a:blip r:embed="rId2">
            <a:alphaModFix/>
          </a:blip>
          <a:srcRect l="6294" t="9689" r="5315" b="18089"/>
          <a:stretch/>
        </p:blipFill>
        <p:spPr>
          <a:xfrm>
            <a:off x="8407803" y="2089594"/>
            <a:ext cx="2880000" cy="2678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40"/>
          <p:cNvPicPr preferRelativeResize="0"/>
          <p:nvPr/>
        </p:nvPicPr>
        <p:blipFill rotWithShape="1">
          <a:blip r:embed="rId3">
            <a:alphaModFix/>
          </a:blip>
          <a:srcRect t="18750" b="24999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40"/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Darshan Institute of Engineering &amp; Technology, Rajkot</a:t>
            </a:r>
            <a:endParaRPr/>
          </a:p>
        </p:txBody>
      </p:sp>
      <p:sp>
        <p:nvSpPr>
          <p:cNvPr id="16" name="Google Shape;16;p40"/>
          <p:cNvSpPr/>
          <p:nvPr/>
        </p:nvSpPr>
        <p:spPr>
          <a:xfrm>
            <a:off x="2554514" y="1"/>
            <a:ext cx="5255702" cy="1335004"/>
          </a:xfrm>
          <a:custGeom>
            <a:avLst/>
            <a:gdLst/>
            <a:ahLst/>
            <a:cxnLst/>
            <a:rect l="l" t="t" r="r" b="b"/>
            <a:pathLst>
              <a:path w="2048" h="517" extrusionOk="0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5C2321"/>
              </a:gs>
              <a:gs pos="10000">
                <a:srgbClr val="5C2321"/>
              </a:gs>
              <a:gs pos="100000">
                <a:schemeClr val="accent6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7" name="Google Shape;17;p40"/>
          <p:cNvSpPr/>
          <p:nvPr/>
        </p:nvSpPr>
        <p:spPr>
          <a:xfrm>
            <a:off x="0" y="5905331"/>
            <a:ext cx="1901425" cy="952668"/>
          </a:xfrm>
          <a:custGeom>
            <a:avLst/>
            <a:gdLst/>
            <a:ahLst/>
            <a:cxnLst/>
            <a:rect l="l" t="t" r="r" b="b"/>
            <a:pathLst>
              <a:path w="2048" h="1024" extrusionOk="0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5C2321"/>
              </a:gs>
              <a:gs pos="10000">
                <a:srgbClr val="5C2321"/>
              </a:gs>
              <a:gs pos="100000">
                <a:schemeClr val="accent6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18" name="Google Shape;18;p4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808334" y="4602222"/>
            <a:ext cx="3383666" cy="225577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" name="Google Shape;19;p40"/>
          <p:cNvCxnSpPr/>
          <p:nvPr/>
        </p:nvCxnSpPr>
        <p:spPr>
          <a:xfrm>
            <a:off x="1926694" y="6124097"/>
            <a:ext cx="4356000" cy="0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0" name="Google Shape;20;p40"/>
          <p:cNvSpPr txBox="1"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6600"/>
              <a:buFont typeface="Roboto Condensed"/>
              <a:buNone/>
              <a:defRPr sz="6600" b="1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1" name="Google Shape;21;p4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98063" y="6232297"/>
            <a:ext cx="18288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4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998063" y="650532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40"/>
          <p:cNvSpPr txBox="1">
            <a:spLocks noGrp="1"/>
          </p:cNvSpPr>
          <p:nvPr>
            <p:ph type="body" idx="1"/>
          </p:nvPr>
        </p:nvSpPr>
        <p:spPr>
          <a:xfrm>
            <a:off x="2180943" y="6175935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0"/>
          <p:cNvSpPr txBox="1">
            <a:spLocks noGrp="1"/>
          </p:cNvSpPr>
          <p:nvPr>
            <p:ph type="body" idx="2"/>
          </p:nvPr>
        </p:nvSpPr>
        <p:spPr>
          <a:xfrm>
            <a:off x="2183874" y="646021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40"/>
          <p:cNvSpPr txBox="1">
            <a:spLocks noGrp="1"/>
          </p:cNvSpPr>
          <p:nvPr>
            <p:ph type="body" idx="3"/>
          </p:nvPr>
        </p:nvSpPr>
        <p:spPr>
          <a:xfrm>
            <a:off x="1837678" y="553776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40"/>
          <p:cNvSpPr txBox="1">
            <a:spLocks noGrp="1"/>
          </p:cNvSpPr>
          <p:nvPr>
            <p:ph type="body" idx="4"/>
          </p:nvPr>
        </p:nvSpPr>
        <p:spPr>
          <a:xfrm>
            <a:off x="1837677" y="5273332"/>
            <a:ext cx="5581039" cy="290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C2321"/>
              </a:buClr>
              <a:buSzPts val="1800"/>
              <a:buNone/>
              <a:defRPr sz="1800" b="1">
                <a:solidFill>
                  <a:srgbClr val="5C232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7" name="Google Shape;27;p4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295842" y="307556"/>
            <a:ext cx="3573889" cy="821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40"/>
          <p:cNvPicPr preferRelativeResize="0"/>
          <p:nvPr/>
        </p:nvPicPr>
        <p:blipFill rotWithShape="1">
          <a:blip r:embed="rId8">
            <a:alphaModFix/>
          </a:blip>
          <a:srcRect l="62022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0"/>
          <p:cNvSpPr txBox="1">
            <a:spLocks noGrp="1"/>
          </p:cNvSpPr>
          <p:nvPr>
            <p:ph type="body" idx="5"/>
          </p:nvPr>
        </p:nvSpPr>
        <p:spPr>
          <a:xfrm>
            <a:off x="2581756" y="20384"/>
            <a:ext cx="4646358" cy="734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30" name="Google Shape;30;p40" descr="User icon Royalty Free Vector Image - VectorStock"/>
          <p:cNvPicPr preferRelativeResize="0"/>
          <p:nvPr/>
        </p:nvPicPr>
        <p:blipFill rotWithShape="1">
          <a:blip r:embed="rId9">
            <a:alphaModFix/>
          </a:blip>
          <a:srcRect l="26030" t="21389" r="26030" b="34222"/>
          <a:stretch/>
        </p:blipFill>
        <p:spPr>
          <a:xfrm>
            <a:off x="353568" y="5211250"/>
            <a:ext cx="1353600" cy="1353600"/>
          </a:xfrm>
          <a:custGeom>
            <a:avLst/>
            <a:gdLst/>
            <a:ahLst/>
            <a:cxnLst/>
            <a:rect l="l" t="t" r="r" b="b"/>
            <a:pathLst>
              <a:path w="3044190" h="3044190" extrusionOk="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1" name="Google Shape;31;p40"/>
          <p:cNvSpPr>
            <a:spLocks noGrp="1"/>
          </p:cNvSpPr>
          <p:nvPr>
            <p:ph type="pic" idx="6"/>
          </p:nvPr>
        </p:nvSpPr>
        <p:spPr>
          <a:xfrm>
            <a:off x="353569" y="5211251"/>
            <a:ext cx="1353599" cy="1353599"/>
          </a:xfrm>
          <a:prstGeom prst="rect">
            <a:avLst/>
          </a:prstGeom>
          <a:noFill/>
          <a:ln w="9525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</p:sp>
      <p:pic>
        <p:nvPicPr>
          <p:cNvPr id="32" name="Google Shape;32;p40" descr="https://cdn5.vectorstock.com/i/1000x1000/21/59/dbms-database-management-system-computer-data-vector-8212159.jpg"/>
          <p:cNvPicPr preferRelativeResize="0"/>
          <p:nvPr/>
        </p:nvPicPr>
        <p:blipFill rotWithShape="1">
          <a:blip r:embed="rId2">
            <a:alphaModFix/>
          </a:blip>
          <a:srcRect l="6294" t="9689" r="5315" b="18089"/>
          <a:stretch/>
        </p:blipFill>
        <p:spPr>
          <a:xfrm>
            <a:off x="8453395" y="1794986"/>
            <a:ext cx="2880000" cy="26788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41"/>
          <p:cNvPicPr preferRelativeResize="0"/>
          <p:nvPr/>
        </p:nvPicPr>
        <p:blipFill rotWithShape="1">
          <a:blip r:embed="rId2">
            <a:alphaModFix/>
          </a:blip>
          <a:srcRect r="11581" b="21179"/>
          <a:stretch/>
        </p:blipFill>
        <p:spPr>
          <a:xfrm rot="-5400000">
            <a:off x="9807099" y="606901"/>
            <a:ext cx="2991808" cy="177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41"/>
          <p:cNvPicPr preferRelativeResize="0"/>
          <p:nvPr/>
        </p:nvPicPr>
        <p:blipFill rotWithShape="1">
          <a:blip r:embed="rId3">
            <a:alphaModFix/>
          </a:blip>
          <a:srcRect l="79646" t="18062" r="2730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4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D3064"/>
              </a:buClr>
              <a:buSzPts val="6000"/>
              <a:buFont typeface="Roboto Condensed"/>
              <a:buNone/>
              <a:defRPr sz="6000" b="1">
                <a:solidFill>
                  <a:srgbClr val="1D3064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4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A"/>
              </a:buClr>
              <a:buSzPts val="2000"/>
              <a:buNone/>
              <a:defRPr sz="2000">
                <a:solidFill>
                  <a:srgbClr val="8A8A8A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A"/>
              </a:buClr>
              <a:buSzPts val="1800"/>
              <a:buNone/>
              <a:defRPr sz="1800">
                <a:solidFill>
                  <a:srgbClr val="8A8A8A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A"/>
              </a:buClr>
              <a:buSzPts val="1600"/>
              <a:buNone/>
              <a:defRPr sz="1600">
                <a:solidFill>
                  <a:srgbClr val="8A8A8A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A"/>
              </a:buClr>
              <a:buSzPts val="1600"/>
              <a:buNone/>
              <a:defRPr sz="1600">
                <a:solidFill>
                  <a:srgbClr val="8A8A8A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A"/>
              </a:buClr>
              <a:buSzPts val="1600"/>
              <a:buNone/>
              <a:defRPr sz="1600">
                <a:solidFill>
                  <a:srgbClr val="8A8A8A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A"/>
              </a:buClr>
              <a:buSzPts val="1600"/>
              <a:buNone/>
              <a:defRPr sz="1600">
                <a:solidFill>
                  <a:srgbClr val="8A8A8A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A"/>
              </a:buClr>
              <a:buSzPts val="1600"/>
              <a:buNone/>
              <a:defRPr sz="1600">
                <a:solidFill>
                  <a:srgbClr val="8A8A8A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A"/>
              </a:buClr>
              <a:buSzPts val="1600"/>
              <a:buNone/>
              <a:defRPr sz="1600">
                <a:solidFill>
                  <a:srgbClr val="8A8A8A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41"/>
          <p:cNvSpPr/>
          <p:nvPr/>
        </p:nvSpPr>
        <p:spPr>
          <a:xfrm>
            <a:off x="0" y="5905331"/>
            <a:ext cx="1901425" cy="952668"/>
          </a:xfrm>
          <a:custGeom>
            <a:avLst/>
            <a:gdLst/>
            <a:ahLst/>
            <a:cxnLst/>
            <a:rect l="l" t="t" r="r" b="b"/>
            <a:pathLst>
              <a:path w="2048" h="1024" extrusionOk="0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5C2321"/>
              </a:gs>
              <a:gs pos="10000">
                <a:srgbClr val="5C2321"/>
              </a:gs>
              <a:gs pos="100000">
                <a:schemeClr val="accent6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- Logo on BR">
  <p:cSld name="Title and Content - Logo on BR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2"/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41" name="Google Shape;41;p42"/>
          <p:cNvPicPr preferRelativeResize="0"/>
          <p:nvPr/>
        </p:nvPicPr>
        <p:blipFill rotWithShape="1">
          <a:blip r:embed="rId2">
            <a:alphaModFix/>
          </a:blip>
          <a:srcRect t="86739" r="1768" b="3534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42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  <a:defRPr sz="3400" b="1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42"/>
          <p:cNvSpPr txBox="1">
            <a:spLocks noGrp="1"/>
          </p:cNvSpPr>
          <p:nvPr>
            <p:ph type="body" idx="1"/>
          </p:nvPr>
        </p:nvSpPr>
        <p:spPr>
          <a:xfrm>
            <a:off x="144389" y="863450"/>
            <a:ext cx="11929500" cy="57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  <a:defRPr sz="2400">
                <a:solidFill>
                  <a:schemeClr val="dk1"/>
                </a:solidFill>
              </a:defRPr>
            </a:lvl1pPr>
            <a:lvl2pPr marL="914400" lvl="1" indent="-355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⮩"/>
              <a:defRPr sz="2000">
                <a:solidFill>
                  <a:schemeClr val="dk1"/>
                </a:solidFill>
              </a:defRPr>
            </a:lvl2pPr>
            <a:lvl3pPr marL="1371600" lvl="2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Noto Sans Symbols"/>
              <a:buChar char="▪"/>
              <a:defRPr sz="1800">
                <a:solidFill>
                  <a:schemeClr val="dk1"/>
                </a:solidFill>
              </a:defRPr>
            </a:lvl3pPr>
            <a:lvl4pPr marL="1828800" lvl="3" indent="-3302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4pPr>
            <a:lvl5pPr marL="2286000" lvl="4" indent="-3302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44" name="Google Shape;44;p42"/>
          <p:cNvCxnSpPr/>
          <p:nvPr/>
        </p:nvCxnSpPr>
        <p:spPr>
          <a:xfrm>
            <a:off x="0" y="711201"/>
            <a:ext cx="12192000" cy="0"/>
          </a:xfrm>
          <a:prstGeom prst="straightConnector1">
            <a:avLst/>
          </a:prstGeom>
          <a:noFill/>
          <a:ln w="1270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5" name="Google Shape;45;p42"/>
          <p:cNvCxnSpPr/>
          <p:nvPr/>
        </p:nvCxnSpPr>
        <p:spPr>
          <a:xfrm>
            <a:off x="0" y="6606251"/>
            <a:ext cx="12192000" cy="0"/>
          </a:xfrm>
          <a:prstGeom prst="straightConnector1">
            <a:avLst/>
          </a:prstGeom>
          <a:noFill/>
          <a:ln w="12700" cap="flat" cmpd="sng">
            <a:solidFill>
              <a:srgbClr val="BFBFBF">
                <a:alpha val="6980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 - Maroon">
  <p:cSld name="1_Title Slide - Maroon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43"/>
          <p:cNvPicPr preferRelativeResize="0"/>
          <p:nvPr/>
        </p:nvPicPr>
        <p:blipFill rotWithShape="1">
          <a:blip r:embed="rId2">
            <a:alphaModFix/>
          </a:blip>
          <a:srcRect t="18750" b="24999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43"/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Darshan Institute of Engineering &amp; Technology, Rajkot</a:t>
            </a:r>
            <a:endParaRPr/>
          </a:p>
        </p:txBody>
      </p:sp>
      <p:sp>
        <p:nvSpPr>
          <p:cNvPr id="49" name="Google Shape;49;p43"/>
          <p:cNvSpPr/>
          <p:nvPr/>
        </p:nvSpPr>
        <p:spPr>
          <a:xfrm>
            <a:off x="2554514" y="1"/>
            <a:ext cx="5255702" cy="1335004"/>
          </a:xfrm>
          <a:custGeom>
            <a:avLst/>
            <a:gdLst/>
            <a:ahLst/>
            <a:cxnLst/>
            <a:rect l="l" t="t" r="r" b="b"/>
            <a:pathLst>
              <a:path w="2048" h="517" extrusionOk="0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5C2321"/>
              </a:gs>
              <a:gs pos="10000">
                <a:srgbClr val="5C2321"/>
              </a:gs>
              <a:gs pos="100000">
                <a:schemeClr val="accent6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0" name="Google Shape;50;p43"/>
          <p:cNvSpPr/>
          <p:nvPr/>
        </p:nvSpPr>
        <p:spPr>
          <a:xfrm>
            <a:off x="0" y="5905331"/>
            <a:ext cx="1901425" cy="952668"/>
          </a:xfrm>
          <a:custGeom>
            <a:avLst/>
            <a:gdLst/>
            <a:ahLst/>
            <a:cxnLst/>
            <a:rect l="l" t="t" r="r" b="b"/>
            <a:pathLst>
              <a:path w="2048" h="1024" extrusionOk="0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5C2321"/>
              </a:gs>
              <a:gs pos="10000">
                <a:srgbClr val="5C2321"/>
              </a:gs>
              <a:gs pos="100000">
                <a:schemeClr val="accent6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51" name="Google Shape;51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08334" y="4602222"/>
            <a:ext cx="3383666" cy="225577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2" name="Google Shape;52;p43"/>
          <p:cNvCxnSpPr/>
          <p:nvPr/>
        </p:nvCxnSpPr>
        <p:spPr>
          <a:xfrm>
            <a:off x="1926694" y="6124097"/>
            <a:ext cx="4356000" cy="0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53" name="Google Shape;53;p4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98063" y="6232297"/>
            <a:ext cx="18288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4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98063" y="650532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43"/>
          <p:cNvSpPr txBox="1">
            <a:spLocks noGrp="1"/>
          </p:cNvSpPr>
          <p:nvPr>
            <p:ph type="body" idx="1"/>
          </p:nvPr>
        </p:nvSpPr>
        <p:spPr>
          <a:xfrm>
            <a:off x="2180943" y="6175935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43"/>
          <p:cNvSpPr txBox="1">
            <a:spLocks noGrp="1"/>
          </p:cNvSpPr>
          <p:nvPr>
            <p:ph type="body" idx="2"/>
          </p:nvPr>
        </p:nvSpPr>
        <p:spPr>
          <a:xfrm>
            <a:off x="2183874" y="646021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43"/>
          <p:cNvSpPr txBox="1">
            <a:spLocks noGrp="1"/>
          </p:cNvSpPr>
          <p:nvPr>
            <p:ph type="body" idx="3"/>
          </p:nvPr>
        </p:nvSpPr>
        <p:spPr>
          <a:xfrm>
            <a:off x="1837678" y="553776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43"/>
          <p:cNvSpPr txBox="1">
            <a:spLocks noGrp="1"/>
          </p:cNvSpPr>
          <p:nvPr>
            <p:ph type="body" idx="4"/>
          </p:nvPr>
        </p:nvSpPr>
        <p:spPr>
          <a:xfrm>
            <a:off x="1837677" y="5273332"/>
            <a:ext cx="5581039" cy="290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C2321"/>
              </a:buClr>
              <a:buSzPts val="1800"/>
              <a:buNone/>
              <a:defRPr sz="1800" b="1">
                <a:solidFill>
                  <a:srgbClr val="5C232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59" name="Google Shape;59;p4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295842" y="307556"/>
            <a:ext cx="3573889" cy="821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43"/>
          <p:cNvPicPr preferRelativeResize="0"/>
          <p:nvPr/>
        </p:nvPicPr>
        <p:blipFill rotWithShape="1">
          <a:blip r:embed="rId7">
            <a:alphaModFix/>
          </a:blip>
          <a:srcRect l="62022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43"/>
          <p:cNvSpPr txBox="1">
            <a:spLocks noGrp="1"/>
          </p:cNvSpPr>
          <p:nvPr>
            <p:ph type="body" idx="5"/>
          </p:nvPr>
        </p:nvSpPr>
        <p:spPr>
          <a:xfrm>
            <a:off x="2581756" y="20384"/>
            <a:ext cx="4646358" cy="734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62" name="Google Shape;62;p43" descr="User icon Royalty Free Vector Image - VectorStock"/>
          <p:cNvPicPr preferRelativeResize="0"/>
          <p:nvPr/>
        </p:nvPicPr>
        <p:blipFill rotWithShape="1">
          <a:blip r:embed="rId8">
            <a:alphaModFix/>
          </a:blip>
          <a:srcRect l="26030" t="21389" r="26030" b="34222"/>
          <a:stretch/>
        </p:blipFill>
        <p:spPr>
          <a:xfrm>
            <a:off x="353568" y="5211250"/>
            <a:ext cx="1353600" cy="1353600"/>
          </a:xfrm>
          <a:custGeom>
            <a:avLst/>
            <a:gdLst/>
            <a:ahLst/>
            <a:cxnLst/>
            <a:rect l="l" t="t" r="r" b="b"/>
            <a:pathLst>
              <a:path w="3044190" h="3044190" extrusionOk="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63" name="Google Shape;63;p43"/>
          <p:cNvSpPr>
            <a:spLocks noGrp="1"/>
          </p:cNvSpPr>
          <p:nvPr>
            <p:ph type="pic" idx="6"/>
          </p:nvPr>
        </p:nvSpPr>
        <p:spPr>
          <a:xfrm>
            <a:off x="353569" y="5211251"/>
            <a:ext cx="1353599" cy="1353599"/>
          </a:xfrm>
          <a:prstGeom prst="rect">
            <a:avLst/>
          </a:prstGeom>
          <a:noFill/>
          <a:ln w="9525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43"/>
          <p:cNvSpPr/>
          <p:nvPr/>
        </p:nvSpPr>
        <p:spPr>
          <a:xfrm rot="5400000">
            <a:off x="4309292" y="1717040"/>
            <a:ext cx="3461658" cy="2984188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2F2F2"/>
          </a:solidFill>
          <a:ln w="57150" cap="flat" cmpd="sng">
            <a:solidFill>
              <a:schemeClr val="accent6"/>
            </a:solidFill>
            <a:prstDash val="lg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5" name="Google Shape;65;p43"/>
          <p:cNvSpPr txBox="1"/>
          <p:nvPr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Thank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You</a:t>
            </a:r>
            <a:endParaRPr sz="6000" b="1" i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6" name="Google Shape;66;p43"/>
          <p:cNvSpPr/>
          <p:nvPr/>
        </p:nvSpPr>
        <p:spPr>
          <a:xfrm>
            <a:off x="7678346" y="2221532"/>
            <a:ext cx="4513654" cy="1951692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86333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7" name="Google Shape;67;p43"/>
          <p:cNvSpPr/>
          <p:nvPr/>
        </p:nvSpPr>
        <p:spPr>
          <a:xfrm>
            <a:off x="0" y="2221532"/>
            <a:ext cx="4402106" cy="1951692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86333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- Default Color">
  <p:cSld name="Title Slide - Default Color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44"/>
          <p:cNvPicPr preferRelativeResize="0"/>
          <p:nvPr/>
        </p:nvPicPr>
        <p:blipFill rotWithShape="1">
          <a:blip r:embed="rId2">
            <a:alphaModFix/>
          </a:blip>
          <a:srcRect t="18750" b="24999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44"/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Darshan Institute of Engineering &amp; Technology, Rajkot</a:t>
            </a:r>
            <a:endParaRPr/>
          </a:p>
        </p:txBody>
      </p:sp>
      <p:sp>
        <p:nvSpPr>
          <p:cNvPr id="71" name="Google Shape;71;p44"/>
          <p:cNvSpPr/>
          <p:nvPr/>
        </p:nvSpPr>
        <p:spPr>
          <a:xfrm>
            <a:off x="2554514" y="1"/>
            <a:ext cx="5255702" cy="1335004"/>
          </a:xfrm>
          <a:custGeom>
            <a:avLst/>
            <a:gdLst/>
            <a:ahLst/>
            <a:cxnLst/>
            <a:rect l="l" t="t" r="r" b="b"/>
            <a:pathLst>
              <a:path w="2048" h="517" extrusionOk="0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dk2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72" name="Google Shape;72;p44"/>
          <p:cNvSpPr/>
          <p:nvPr/>
        </p:nvSpPr>
        <p:spPr>
          <a:xfrm>
            <a:off x="0" y="5905331"/>
            <a:ext cx="1901425" cy="952668"/>
          </a:xfrm>
          <a:custGeom>
            <a:avLst/>
            <a:gdLst/>
            <a:ahLst/>
            <a:cxnLst/>
            <a:rect l="l" t="t" r="r" b="b"/>
            <a:pathLst>
              <a:path w="2048" h="1024" extrusionOk="0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dk2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73" name="Google Shape;73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08334" y="4602222"/>
            <a:ext cx="3383666" cy="2255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4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40861" y="2096941"/>
            <a:ext cx="2813885" cy="21192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5" name="Google Shape;75;p44"/>
          <p:cNvCxnSpPr/>
          <p:nvPr/>
        </p:nvCxnSpPr>
        <p:spPr>
          <a:xfrm>
            <a:off x="1926694" y="6124097"/>
            <a:ext cx="4356000" cy="0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6" name="Google Shape;76;p44"/>
          <p:cNvSpPr txBox="1"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6600"/>
              <a:buFont typeface="Roboto Condensed"/>
              <a:buNone/>
              <a:defRPr sz="6600" b="1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7" name="Google Shape;77;p4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98063" y="6232297"/>
            <a:ext cx="18288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4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998063" y="650532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44"/>
          <p:cNvSpPr txBox="1">
            <a:spLocks noGrp="1"/>
          </p:cNvSpPr>
          <p:nvPr>
            <p:ph type="body" idx="1"/>
          </p:nvPr>
        </p:nvSpPr>
        <p:spPr>
          <a:xfrm>
            <a:off x="2180943" y="6175935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44"/>
          <p:cNvSpPr txBox="1">
            <a:spLocks noGrp="1"/>
          </p:cNvSpPr>
          <p:nvPr>
            <p:ph type="body" idx="2"/>
          </p:nvPr>
        </p:nvSpPr>
        <p:spPr>
          <a:xfrm>
            <a:off x="2183874" y="646021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44"/>
          <p:cNvSpPr txBox="1">
            <a:spLocks noGrp="1"/>
          </p:cNvSpPr>
          <p:nvPr>
            <p:ph type="body" idx="3"/>
          </p:nvPr>
        </p:nvSpPr>
        <p:spPr>
          <a:xfrm>
            <a:off x="1837678" y="553776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44"/>
          <p:cNvSpPr txBox="1">
            <a:spLocks noGrp="1"/>
          </p:cNvSpPr>
          <p:nvPr>
            <p:ph type="body" idx="4"/>
          </p:nvPr>
        </p:nvSpPr>
        <p:spPr>
          <a:xfrm>
            <a:off x="1837677" y="5273332"/>
            <a:ext cx="5581039" cy="290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D3064"/>
              </a:buClr>
              <a:buSzPts val="1800"/>
              <a:buNone/>
              <a:defRPr sz="1800" b="1">
                <a:solidFill>
                  <a:srgbClr val="1D3064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83" name="Google Shape;83;p4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295842" y="307556"/>
            <a:ext cx="3573889" cy="821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44"/>
          <p:cNvPicPr preferRelativeResize="0"/>
          <p:nvPr/>
        </p:nvPicPr>
        <p:blipFill rotWithShape="1">
          <a:blip r:embed="rId8">
            <a:alphaModFix/>
          </a:blip>
          <a:srcRect l="62022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44"/>
          <p:cNvSpPr txBox="1">
            <a:spLocks noGrp="1"/>
          </p:cNvSpPr>
          <p:nvPr>
            <p:ph type="body" idx="5"/>
          </p:nvPr>
        </p:nvSpPr>
        <p:spPr>
          <a:xfrm>
            <a:off x="2581756" y="20384"/>
            <a:ext cx="4646358" cy="734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86" name="Google Shape;86;p44"/>
          <p:cNvPicPr preferRelativeResize="0"/>
          <p:nvPr/>
        </p:nvPicPr>
        <p:blipFill rotWithShape="1">
          <a:blip r:embed="rId9">
            <a:alphaModFix/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44" descr="User icon Royalty Free Vector Image - VectorStock"/>
          <p:cNvPicPr preferRelativeResize="0"/>
          <p:nvPr/>
        </p:nvPicPr>
        <p:blipFill rotWithShape="1">
          <a:blip r:embed="rId10">
            <a:alphaModFix/>
          </a:blip>
          <a:srcRect l="26030" t="21389" r="26030" b="34222"/>
          <a:stretch/>
        </p:blipFill>
        <p:spPr>
          <a:xfrm>
            <a:off x="353568" y="5211250"/>
            <a:ext cx="1353600" cy="1353600"/>
          </a:xfrm>
          <a:custGeom>
            <a:avLst/>
            <a:gdLst/>
            <a:ahLst/>
            <a:cxnLst/>
            <a:rect l="l" t="t" r="r" b="b"/>
            <a:pathLst>
              <a:path w="3044190" h="3044190" extrusionOk="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88" name="Google Shape;88;p44"/>
          <p:cNvSpPr>
            <a:spLocks noGrp="1"/>
          </p:cNvSpPr>
          <p:nvPr>
            <p:ph type="pic" idx="6"/>
          </p:nvPr>
        </p:nvSpPr>
        <p:spPr>
          <a:xfrm>
            <a:off x="353569" y="5211251"/>
            <a:ext cx="1353599" cy="1353599"/>
          </a:xfrm>
          <a:prstGeom prst="rect">
            <a:avLst/>
          </a:prstGeom>
          <a:noFill/>
          <a:ln w="9525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- Logo on TR">
  <p:cSld name="Title and Content - Logo on T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5"/>
          <p:cNvSpPr/>
          <p:nvPr/>
        </p:nvSpPr>
        <p:spPr>
          <a:xfrm>
            <a:off x="0" y="6604000"/>
            <a:ext cx="12192000" cy="2541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91" name="Google Shape;91;p45"/>
          <p:cNvPicPr preferRelativeResize="0"/>
          <p:nvPr/>
        </p:nvPicPr>
        <p:blipFill rotWithShape="1">
          <a:blip r:embed="rId2">
            <a:alphaModFix/>
          </a:blip>
          <a:srcRect t="86739" r="1768" b="3534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45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  <a:defRPr sz="3400" b="1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45"/>
          <p:cNvSpPr txBox="1">
            <a:spLocks noGrp="1"/>
          </p:cNvSpPr>
          <p:nvPr>
            <p:ph type="body" idx="1"/>
          </p:nvPr>
        </p:nvSpPr>
        <p:spPr>
          <a:xfrm>
            <a:off x="131175" y="863450"/>
            <a:ext cx="11446800" cy="55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  <a:defRPr sz="2400">
                <a:solidFill>
                  <a:schemeClr val="dk1"/>
                </a:solidFill>
              </a:defRPr>
            </a:lvl1pPr>
            <a:lvl2pPr marL="914400" lvl="1" indent="-355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⮩"/>
              <a:defRPr sz="2000">
                <a:solidFill>
                  <a:schemeClr val="dk1"/>
                </a:solidFill>
              </a:defRPr>
            </a:lvl2pPr>
            <a:lvl3pPr marL="1371600" lvl="2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Noto Sans Symbols"/>
              <a:buChar char="▪"/>
              <a:defRPr sz="1800">
                <a:solidFill>
                  <a:schemeClr val="dk1"/>
                </a:solidFill>
              </a:defRPr>
            </a:lvl3pPr>
            <a:lvl4pPr marL="1828800" lvl="3" indent="-3302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4pPr>
            <a:lvl5pPr marL="2286000" lvl="4" indent="-3302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94" name="Google Shape;94;p45"/>
          <p:cNvCxnSpPr/>
          <p:nvPr/>
        </p:nvCxnSpPr>
        <p:spPr>
          <a:xfrm>
            <a:off x="0" y="711201"/>
            <a:ext cx="12192000" cy="0"/>
          </a:xfrm>
          <a:prstGeom prst="straightConnector1">
            <a:avLst/>
          </a:prstGeom>
          <a:noFill/>
          <a:ln w="1270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5" name="Google Shape;95;p45"/>
          <p:cNvCxnSpPr/>
          <p:nvPr/>
        </p:nvCxnSpPr>
        <p:spPr>
          <a:xfrm>
            <a:off x="131180" y="6604000"/>
            <a:ext cx="12192000" cy="0"/>
          </a:xfrm>
          <a:prstGeom prst="straightConnector1">
            <a:avLst/>
          </a:prstGeom>
          <a:noFill/>
          <a:ln w="12700" cap="flat" cmpd="sng">
            <a:solidFill>
              <a:srgbClr val="BFBFBF">
                <a:alpha val="6980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- Logo on BL">
  <p:cSld name="Title and Content - Logo on BL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6"/>
          <p:cNvSpPr/>
          <p:nvPr/>
        </p:nvSpPr>
        <p:spPr>
          <a:xfrm>
            <a:off x="0" y="6604000"/>
            <a:ext cx="12192000" cy="2541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98" name="Google Shape;98;p46"/>
          <p:cNvPicPr preferRelativeResize="0"/>
          <p:nvPr/>
        </p:nvPicPr>
        <p:blipFill rotWithShape="1">
          <a:blip r:embed="rId2">
            <a:alphaModFix/>
          </a:blip>
          <a:srcRect t="86739" r="1768" b="3534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46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  <a:defRPr sz="3400" b="1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46"/>
          <p:cNvSpPr txBox="1">
            <a:spLocks noGrp="1"/>
          </p:cNvSpPr>
          <p:nvPr>
            <p:ph type="body" idx="1"/>
          </p:nvPr>
        </p:nvSpPr>
        <p:spPr>
          <a:xfrm>
            <a:off x="131175" y="863449"/>
            <a:ext cx="11929500" cy="46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  <a:defRPr sz="2400">
                <a:solidFill>
                  <a:schemeClr val="dk1"/>
                </a:solidFill>
              </a:defRPr>
            </a:lvl1pPr>
            <a:lvl2pPr marL="914400" lvl="1" indent="-355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⮩"/>
              <a:defRPr sz="2000">
                <a:solidFill>
                  <a:schemeClr val="dk1"/>
                </a:solidFill>
              </a:defRPr>
            </a:lvl2pPr>
            <a:lvl3pPr marL="1371600" lvl="2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Noto Sans Symbols"/>
              <a:buChar char="▪"/>
              <a:defRPr sz="1800">
                <a:solidFill>
                  <a:schemeClr val="dk1"/>
                </a:solidFill>
              </a:defRPr>
            </a:lvl3pPr>
            <a:lvl4pPr marL="1828800" lvl="3" indent="-3302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4pPr>
            <a:lvl5pPr marL="2286000" lvl="4" indent="-3302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01" name="Google Shape;101;p46"/>
          <p:cNvCxnSpPr/>
          <p:nvPr/>
        </p:nvCxnSpPr>
        <p:spPr>
          <a:xfrm>
            <a:off x="0" y="711201"/>
            <a:ext cx="12192000" cy="0"/>
          </a:xfrm>
          <a:prstGeom prst="straightConnector1">
            <a:avLst/>
          </a:prstGeom>
          <a:noFill/>
          <a:ln w="1270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2" name="Google Shape;102;p46"/>
          <p:cNvCxnSpPr/>
          <p:nvPr/>
        </p:nvCxnSpPr>
        <p:spPr>
          <a:xfrm>
            <a:off x="0" y="6606251"/>
            <a:ext cx="12192000" cy="0"/>
          </a:xfrm>
          <a:prstGeom prst="straightConnector1">
            <a:avLst/>
          </a:prstGeom>
          <a:noFill/>
          <a:ln w="12700" cap="flat" cmpd="sng">
            <a:solidFill>
              <a:srgbClr val="BFBFBF">
                <a:alpha val="6980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ck - Logo on TR">
  <p:cSld name="Blanck - Logo on TR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7"/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105" name="Google Shape;105;p47"/>
          <p:cNvCxnSpPr/>
          <p:nvPr/>
        </p:nvCxnSpPr>
        <p:spPr>
          <a:xfrm>
            <a:off x="0" y="6606251"/>
            <a:ext cx="12192000" cy="0"/>
          </a:xfrm>
          <a:prstGeom prst="straightConnector1">
            <a:avLst/>
          </a:prstGeom>
          <a:noFill/>
          <a:ln w="12700" cap="flat" cmpd="sng">
            <a:solidFill>
              <a:srgbClr val="BFBFBF">
                <a:alpha val="6980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ck - Logo on BR">
  <p:cSld name="Blanck - Logo on BR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8"/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108" name="Google Shape;108;p48"/>
          <p:cNvCxnSpPr/>
          <p:nvPr/>
        </p:nvCxnSpPr>
        <p:spPr>
          <a:xfrm>
            <a:off x="0" y="6606251"/>
            <a:ext cx="12192000" cy="0"/>
          </a:xfrm>
          <a:prstGeom prst="straightConnector1">
            <a:avLst/>
          </a:prstGeom>
          <a:noFill/>
          <a:ln w="12700" cap="flat" cmpd="sng">
            <a:solidFill>
              <a:srgbClr val="BFBFBF">
                <a:alpha val="6980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ck - Logo on BL">
  <p:cSld name="Blanck - Logo on BL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9"/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111" name="Google Shape;111;p49"/>
          <p:cNvCxnSpPr/>
          <p:nvPr/>
        </p:nvCxnSpPr>
        <p:spPr>
          <a:xfrm>
            <a:off x="0" y="6606251"/>
            <a:ext cx="12192000" cy="0"/>
          </a:xfrm>
          <a:prstGeom prst="straightConnector1">
            <a:avLst/>
          </a:prstGeom>
          <a:noFill/>
          <a:ln w="12700" cap="flat" cmpd="sng">
            <a:solidFill>
              <a:srgbClr val="BFBFBF">
                <a:alpha val="6980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lete Blanck">
  <p:cSld name="Complete Blanck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 - Red">
  <p:cSld name="1_Title Slide - Red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51"/>
          <p:cNvPicPr preferRelativeResize="0"/>
          <p:nvPr/>
        </p:nvPicPr>
        <p:blipFill rotWithShape="1">
          <a:blip r:embed="rId2">
            <a:alphaModFix/>
          </a:blip>
          <a:srcRect t="18750" b="24999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51"/>
          <p:cNvSpPr/>
          <p:nvPr/>
        </p:nvSpPr>
        <p:spPr>
          <a:xfrm>
            <a:off x="2554514" y="1"/>
            <a:ext cx="5255702" cy="1335004"/>
          </a:xfrm>
          <a:custGeom>
            <a:avLst/>
            <a:gdLst/>
            <a:ahLst/>
            <a:cxnLst/>
            <a:rect l="l" t="t" r="r" b="b"/>
            <a:pathLst>
              <a:path w="2048" h="517" extrusionOk="0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B71B1C"/>
              </a:gs>
              <a:gs pos="10000">
                <a:srgbClr val="B71B1C"/>
              </a:gs>
              <a:gs pos="100000">
                <a:srgbClr val="ED524F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116" name="Google Shape;116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08334" y="4602222"/>
            <a:ext cx="3383666" cy="2255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5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95842" y="307556"/>
            <a:ext cx="3573889" cy="821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51"/>
          <p:cNvPicPr preferRelativeResize="0"/>
          <p:nvPr/>
        </p:nvPicPr>
        <p:blipFill rotWithShape="1">
          <a:blip r:embed="rId5">
            <a:alphaModFix/>
          </a:blip>
          <a:srcRect l="62022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51"/>
          <p:cNvSpPr txBox="1">
            <a:spLocks noGrp="1"/>
          </p:cNvSpPr>
          <p:nvPr>
            <p:ph type="body" idx="1"/>
          </p:nvPr>
        </p:nvSpPr>
        <p:spPr>
          <a:xfrm>
            <a:off x="2581756" y="20384"/>
            <a:ext cx="4646358" cy="734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0" name="Google Shape;120;p51"/>
          <p:cNvSpPr/>
          <p:nvPr/>
        </p:nvSpPr>
        <p:spPr>
          <a:xfrm rot="5400000">
            <a:off x="4309292" y="1717040"/>
            <a:ext cx="3461658" cy="2984188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2F2F2"/>
          </a:solidFill>
          <a:ln w="57150" cap="flat" cmpd="sng">
            <a:solidFill>
              <a:schemeClr val="accent6"/>
            </a:solidFill>
            <a:prstDash val="lg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21" name="Google Shape;121;p51"/>
          <p:cNvSpPr txBox="1"/>
          <p:nvPr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Thank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You</a:t>
            </a:r>
            <a:endParaRPr sz="6000" b="1" i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22" name="Google Shape;122;p51"/>
          <p:cNvSpPr/>
          <p:nvPr/>
        </p:nvSpPr>
        <p:spPr>
          <a:xfrm>
            <a:off x="7678346" y="2221532"/>
            <a:ext cx="4513654" cy="1951692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86333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23" name="Google Shape;123;p51"/>
          <p:cNvSpPr/>
          <p:nvPr/>
        </p:nvSpPr>
        <p:spPr>
          <a:xfrm>
            <a:off x="0" y="2221532"/>
            <a:ext cx="4402106" cy="1951692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86333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24" name="Google Shape;124;p51"/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Darshan Institute of Engineering &amp; Technology, Rajkot</a:t>
            </a:r>
            <a:endParaRPr/>
          </a:p>
        </p:txBody>
      </p:sp>
      <p:sp>
        <p:nvSpPr>
          <p:cNvPr id="125" name="Google Shape;125;p51"/>
          <p:cNvSpPr/>
          <p:nvPr/>
        </p:nvSpPr>
        <p:spPr>
          <a:xfrm>
            <a:off x="0" y="5905331"/>
            <a:ext cx="1901425" cy="952668"/>
          </a:xfrm>
          <a:custGeom>
            <a:avLst/>
            <a:gdLst/>
            <a:ahLst/>
            <a:cxnLst/>
            <a:rect l="l" t="t" r="r" b="b"/>
            <a:pathLst>
              <a:path w="2048" h="1024" extrusionOk="0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B71B1C"/>
              </a:gs>
              <a:gs pos="10000">
                <a:srgbClr val="B71B1C"/>
              </a:gs>
              <a:gs pos="100000">
                <a:srgbClr val="ED524F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126" name="Google Shape;126;p51"/>
          <p:cNvCxnSpPr/>
          <p:nvPr/>
        </p:nvCxnSpPr>
        <p:spPr>
          <a:xfrm>
            <a:off x="1926694" y="6124097"/>
            <a:ext cx="4356000" cy="0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27" name="Google Shape;127;p5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998063" y="6232297"/>
            <a:ext cx="18288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5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998063" y="650532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51"/>
          <p:cNvSpPr txBox="1">
            <a:spLocks noGrp="1"/>
          </p:cNvSpPr>
          <p:nvPr>
            <p:ph type="body" idx="2"/>
          </p:nvPr>
        </p:nvSpPr>
        <p:spPr>
          <a:xfrm>
            <a:off x="2180943" y="6175935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0" name="Google Shape;130;p51"/>
          <p:cNvSpPr txBox="1">
            <a:spLocks noGrp="1"/>
          </p:cNvSpPr>
          <p:nvPr>
            <p:ph type="body" idx="3"/>
          </p:nvPr>
        </p:nvSpPr>
        <p:spPr>
          <a:xfrm>
            <a:off x="2183874" y="646021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1" name="Google Shape;131;p51"/>
          <p:cNvSpPr txBox="1">
            <a:spLocks noGrp="1"/>
          </p:cNvSpPr>
          <p:nvPr>
            <p:ph type="body" idx="4"/>
          </p:nvPr>
        </p:nvSpPr>
        <p:spPr>
          <a:xfrm>
            <a:off x="1837678" y="553776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2" name="Google Shape;132;p51"/>
          <p:cNvSpPr txBox="1">
            <a:spLocks noGrp="1"/>
          </p:cNvSpPr>
          <p:nvPr>
            <p:ph type="body" idx="5"/>
          </p:nvPr>
        </p:nvSpPr>
        <p:spPr>
          <a:xfrm>
            <a:off x="1837677" y="5273332"/>
            <a:ext cx="5581039" cy="290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71B1C"/>
              </a:buClr>
              <a:buSzPts val="1800"/>
              <a:buNone/>
              <a:defRPr sz="1800" b="1">
                <a:solidFill>
                  <a:srgbClr val="B71B1C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33" name="Google Shape;133;p51"/>
          <p:cNvPicPr preferRelativeResize="0"/>
          <p:nvPr/>
        </p:nvPicPr>
        <p:blipFill rotWithShape="1">
          <a:blip r:embed="rId8">
            <a:alphaModFix/>
          </a:blip>
          <a:srcRect l="24746" t="7575" r="25760" b="18186"/>
          <a:stretch/>
        </p:blipFill>
        <p:spPr>
          <a:xfrm>
            <a:off x="356499" y="5214354"/>
            <a:ext cx="1354234" cy="1354234"/>
          </a:xfrm>
          <a:custGeom>
            <a:avLst/>
            <a:gdLst/>
            <a:ahLst/>
            <a:cxnLst/>
            <a:rect l="l" t="t" r="r" b="b"/>
            <a:pathLst>
              <a:path w="4572000" h="4572000" extrusionOk="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9525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34" name="Google Shape;134;p51" descr="User icon Royalty Free Vector Image - VectorStock"/>
          <p:cNvPicPr preferRelativeResize="0"/>
          <p:nvPr/>
        </p:nvPicPr>
        <p:blipFill rotWithShape="1">
          <a:blip r:embed="rId9">
            <a:alphaModFix/>
          </a:blip>
          <a:srcRect l="26030" t="21389" r="26030" b="34222"/>
          <a:stretch/>
        </p:blipFill>
        <p:spPr>
          <a:xfrm>
            <a:off x="353568" y="5211250"/>
            <a:ext cx="1353600" cy="1353600"/>
          </a:xfrm>
          <a:custGeom>
            <a:avLst/>
            <a:gdLst/>
            <a:ahLst/>
            <a:cxnLst/>
            <a:rect l="l" t="t" r="r" b="b"/>
            <a:pathLst>
              <a:path w="3044190" h="3044190" extrusionOk="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35" name="Google Shape;135;p51"/>
          <p:cNvSpPr>
            <a:spLocks noGrp="1"/>
          </p:cNvSpPr>
          <p:nvPr>
            <p:ph type="pic" idx="6"/>
          </p:nvPr>
        </p:nvSpPr>
        <p:spPr>
          <a:xfrm>
            <a:off x="353569" y="5211251"/>
            <a:ext cx="1353599" cy="1353599"/>
          </a:xfrm>
          <a:prstGeom prst="rect">
            <a:avLst/>
          </a:prstGeom>
          <a:noFill/>
          <a:ln w="9525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mplete Blanck">
  <p:cSld name="1_Complete Blanck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2"/>
          <p:cNvSpPr txBox="1"/>
          <p:nvPr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How to Crop Circular Photo?</a:t>
            </a:r>
            <a:endParaRPr/>
          </a:p>
        </p:txBody>
      </p:sp>
      <p:sp>
        <p:nvSpPr>
          <p:cNvPr id="138" name="Google Shape;138;p52"/>
          <p:cNvSpPr>
            <a:spLocks noGrp="1"/>
          </p:cNvSpPr>
          <p:nvPr>
            <p:ph type="pic" idx="2"/>
          </p:nvPr>
        </p:nvSpPr>
        <p:spPr>
          <a:xfrm>
            <a:off x="4013200" y="1808163"/>
            <a:ext cx="3890962" cy="3890962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- Teal">
  <p:cSld name="Title Slide - Teal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53"/>
          <p:cNvPicPr preferRelativeResize="0"/>
          <p:nvPr/>
        </p:nvPicPr>
        <p:blipFill rotWithShape="1">
          <a:blip r:embed="rId2">
            <a:alphaModFix/>
          </a:blip>
          <a:srcRect t="18750" b="24999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53"/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Darshan Institute of Engineering &amp; Technology, Rajkot</a:t>
            </a:r>
            <a:endParaRPr/>
          </a:p>
        </p:txBody>
      </p:sp>
      <p:sp>
        <p:nvSpPr>
          <p:cNvPr id="142" name="Google Shape;142;p53"/>
          <p:cNvSpPr/>
          <p:nvPr/>
        </p:nvSpPr>
        <p:spPr>
          <a:xfrm>
            <a:off x="2554514" y="1"/>
            <a:ext cx="5255702" cy="1335004"/>
          </a:xfrm>
          <a:custGeom>
            <a:avLst/>
            <a:gdLst/>
            <a:ahLst/>
            <a:cxnLst/>
            <a:rect l="l" t="t" r="r" b="b"/>
            <a:pathLst>
              <a:path w="2048" h="517" extrusionOk="0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0E4D3B"/>
              </a:gs>
              <a:gs pos="10000">
                <a:srgbClr val="0E4D3B"/>
              </a:gs>
              <a:gs pos="100000">
                <a:srgbClr val="009788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43" name="Google Shape;143;p53"/>
          <p:cNvSpPr/>
          <p:nvPr/>
        </p:nvSpPr>
        <p:spPr>
          <a:xfrm>
            <a:off x="0" y="5905331"/>
            <a:ext cx="1901425" cy="952668"/>
          </a:xfrm>
          <a:custGeom>
            <a:avLst/>
            <a:gdLst/>
            <a:ahLst/>
            <a:cxnLst/>
            <a:rect l="l" t="t" r="r" b="b"/>
            <a:pathLst>
              <a:path w="2048" h="1024" extrusionOk="0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0E4D3B"/>
              </a:gs>
              <a:gs pos="10000">
                <a:srgbClr val="0E4D3B"/>
              </a:gs>
              <a:gs pos="100000">
                <a:srgbClr val="009788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144" name="Google Shape;144;p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08334" y="4602222"/>
            <a:ext cx="3383666" cy="2255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5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40861" y="2096941"/>
            <a:ext cx="2813885" cy="21192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6" name="Google Shape;146;p53"/>
          <p:cNvCxnSpPr/>
          <p:nvPr/>
        </p:nvCxnSpPr>
        <p:spPr>
          <a:xfrm>
            <a:off x="1926694" y="6124097"/>
            <a:ext cx="4356000" cy="0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7" name="Google Shape;147;p53"/>
          <p:cNvSpPr txBox="1"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6600"/>
              <a:buFont typeface="Roboto Condensed"/>
              <a:buNone/>
              <a:defRPr sz="6600" b="1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48" name="Google Shape;148;p5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98063" y="6232297"/>
            <a:ext cx="18288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5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998063" y="650532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53"/>
          <p:cNvSpPr txBox="1">
            <a:spLocks noGrp="1"/>
          </p:cNvSpPr>
          <p:nvPr>
            <p:ph type="body" idx="1"/>
          </p:nvPr>
        </p:nvSpPr>
        <p:spPr>
          <a:xfrm>
            <a:off x="2180943" y="6175935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1" name="Google Shape;151;p53"/>
          <p:cNvSpPr txBox="1">
            <a:spLocks noGrp="1"/>
          </p:cNvSpPr>
          <p:nvPr>
            <p:ph type="body" idx="2"/>
          </p:nvPr>
        </p:nvSpPr>
        <p:spPr>
          <a:xfrm>
            <a:off x="2183874" y="646021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2" name="Google Shape;152;p53"/>
          <p:cNvSpPr txBox="1">
            <a:spLocks noGrp="1"/>
          </p:cNvSpPr>
          <p:nvPr>
            <p:ph type="body" idx="3"/>
          </p:nvPr>
        </p:nvSpPr>
        <p:spPr>
          <a:xfrm>
            <a:off x="1837678" y="553776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3" name="Google Shape;153;p53"/>
          <p:cNvSpPr txBox="1">
            <a:spLocks noGrp="1"/>
          </p:cNvSpPr>
          <p:nvPr>
            <p:ph type="body" idx="4"/>
          </p:nvPr>
        </p:nvSpPr>
        <p:spPr>
          <a:xfrm>
            <a:off x="1837677" y="5273332"/>
            <a:ext cx="5581039" cy="290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4D3B"/>
              </a:buClr>
              <a:buSzPts val="1800"/>
              <a:buNone/>
              <a:defRPr sz="1800" b="1">
                <a:solidFill>
                  <a:srgbClr val="0E4D3B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54" name="Google Shape;154;p5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295842" y="307556"/>
            <a:ext cx="3573889" cy="821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53"/>
          <p:cNvPicPr preferRelativeResize="0"/>
          <p:nvPr/>
        </p:nvPicPr>
        <p:blipFill rotWithShape="1">
          <a:blip r:embed="rId8">
            <a:alphaModFix/>
          </a:blip>
          <a:srcRect l="62022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53"/>
          <p:cNvSpPr txBox="1">
            <a:spLocks noGrp="1"/>
          </p:cNvSpPr>
          <p:nvPr>
            <p:ph type="body" idx="5"/>
          </p:nvPr>
        </p:nvSpPr>
        <p:spPr>
          <a:xfrm>
            <a:off x="2581756" y="20384"/>
            <a:ext cx="4646358" cy="734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57" name="Google Shape;157;p53" descr="User icon Royalty Free Vector Image - VectorStock"/>
          <p:cNvPicPr preferRelativeResize="0"/>
          <p:nvPr/>
        </p:nvPicPr>
        <p:blipFill rotWithShape="1">
          <a:blip r:embed="rId9">
            <a:alphaModFix/>
          </a:blip>
          <a:srcRect l="26030" t="21389" r="26030" b="34222"/>
          <a:stretch/>
        </p:blipFill>
        <p:spPr>
          <a:xfrm>
            <a:off x="353568" y="5211250"/>
            <a:ext cx="1353600" cy="1353600"/>
          </a:xfrm>
          <a:custGeom>
            <a:avLst/>
            <a:gdLst/>
            <a:ahLst/>
            <a:cxnLst/>
            <a:rect l="l" t="t" r="r" b="b"/>
            <a:pathLst>
              <a:path w="3044190" h="3044190" extrusionOk="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58" name="Google Shape;158;p53"/>
          <p:cNvSpPr>
            <a:spLocks noGrp="1"/>
          </p:cNvSpPr>
          <p:nvPr>
            <p:ph type="pic" idx="6"/>
          </p:nvPr>
        </p:nvSpPr>
        <p:spPr>
          <a:xfrm>
            <a:off x="353569" y="5211251"/>
            <a:ext cx="1353599" cy="1353599"/>
          </a:xfrm>
          <a:prstGeom prst="rect">
            <a:avLst/>
          </a:prstGeom>
          <a:noFill/>
          <a:ln w="9525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- Cyan">
  <p:cSld name="Title Slide - Cyan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54"/>
          <p:cNvPicPr preferRelativeResize="0"/>
          <p:nvPr/>
        </p:nvPicPr>
        <p:blipFill rotWithShape="1">
          <a:blip r:embed="rId2">
            <a:alphaModFix/>
          </a:blip>
          <a:srcRect t="18750" b="24999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54"/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Darshan Institute of Engineering &amp; Technology, Rajkot</a:t>
            </a:r>
            <a:endParaRPr/>
          </a:p>
        </p:txBody>
      </p:sp>
      <p:sp>
        <p:nvSpPr>
          <p:cNvPr id="162" name="Google Shape;162;p54"/>
          <p:cNvSpPr/>
          <p:nvPr/>
        </p:nvSpPr>
        <p:spPr>
          <a:xfrm>
            <a:off x="2554514" y="1"/>
            <a:ext cx="5255702" cy="1335004"/>
          </a:xfrm>
          <a:custGeom>
            <a:avLst/>
            <a:gdLst/>
            <a:ahLst/>
            <a:cxnLst/>
            <a:rect l="l" t="t" r="r" b="b"/>
            <a:pathLst>
              <a:path w="2048" h="517" extrusionOk="0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005D69"/>
              </a:gs>
              <a:gs pos="10000">
                <a:srgbClr val="005D69"/>
              </a:gs>
              <a:gs pos="100000">
                <a:schemeClr val="accent2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63" name="Google Shape;163;p54"/>
          <p:cNvSpPr/>
          <p:nvPr/>
        </p:nvSpPr>
        <p:spPr>
          <a:xfrm>
            <a:off x="0" y="5905331"/>
            <a:ext cx="1901425" cy="952668"/>
          </a:xfrm>
          <a:custGeom>
            <a:avLst/>
            <a:gdLst/>
            <a:ahLst/>
            <a:cxnLst/>
            <a:rect l="l" t="t" r="r" b="b"/>
            <a:pathLst>
              <a:path w="2048" h="1024" extrusionOk="0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005D69"/>
              </a:gs>
              <a:gs pos="10000">
                <a:srgbClr val="005D69"/>
              </a:gs>
              <a:gs pos="100000">
                <a:schemeClr val="accent2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164" name="Google Shape;164;p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08334" y="4602222"/>
            <a:ext cx="3383666" cy="2255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5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40861" y="2096941"/>
            <a:ext cx="2813885" cy="21192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6" name="Google Shape;166;p54"/>
          <p:cNvCxnSpPr/>
          <p:nvPr/>
        </p:nvCxnSpPr>
        <p:spPr>
          <a:xfrm>
            <a:off x="1926694" y="6124097"/>
            <a:ext cx="4356000" cy="0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7" name="Google Shape;167;p54"/>
          <p:cNvSpPr txBox="1"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6600"/>
              <a:buFont typeface="Roboto Condensed"/>
              <a:buNone/>
              <a:defRPr sz="6600" b="1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68" name="Google Shape;168;p5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98063" y="6232297"/>
            <a:ext cx="18288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5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998063" y="650532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54"/>
          <p:cNvSpPr txBox="1">
            <a:spLocks noGrp="1"/>
          </p:cNvSpPr>
          <p:nvPr>
            <p:ph type="body" idx="1"/>
          </p:nvPr>
        </p:nvSpPr>
        <p:spPr>
          <a:xfrm>
            <a:off x="2180943" y="6175935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1" name="Google Shape;171;p54"/>
          <p:cNvSpPr txBox="1">
            <a:spLocks noGrp="1"/>
          </p:cNvSpPr>
          <p:nvPr>
            <p:ph type="body" idx="2"/>
          </p:nvPr>
        </p:nvSpPr>
        <p:spPr>
          <a:xfrm>
            <a:off x="2183874" y="646021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2" name="Google Shape;172;p54"/>
          <p:cNvSpPr txBox="1">
            <a:spLocks noGrp="1"/>
          </p:cNvSpPr>
          <p:nvPr>
            <p:ph type="body" idx="3"/>
          </p:nvPr>
        </p:nvSpPr>
        <p:spPr>
          <a:xfrm>
            <a:off x="1837678" y="553776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3" name="Google Shape;173;p54"/>
          <p:cNvSpPr txBox="1">
            <a:spLocks noGrp="1"/>
          </p:cNvSpPr>
          <p:nvPr>
            <p:ph type="body" idx="4"/>
          </p:nvPr>
        </p:nvSpPr>
        <p:spPr>
          <a:xfrm>
            <a:off x="1837677" y="5273332"/>
            <a:ext cx="5581039" cy="290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D69"/>
              </a:buClr>
              <a:buSzPts val="1800"/>
              <a:buNone/>
              <a:defRPr sz="1800" b="1">
                <a:solidFill>
                  <a:srgbClr val="005D69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74" name="Google Shape;174;p5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295842" y="307556"/>
            <a:ext cx="3573889" cy="821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54"/>
          <p:cNvPicPr preferRelativeResize="0"/>
          <p:nvPr/>
        </p:nvPicPr>
        <p:blipFill rotWithShape="1">
          <a:blip r:embed="rId8">
            <a:alphaModFix/>
          </a:blip>
          <a:srcRect l="62022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54"/>
          <p:cNvSpPr txBox="1">
            <a:spLocks noGrp="1"/>
          </p:cNvSpPr>
          <p:nvPr>
            <p:ph type="body" idx="5"/>
          </p:nvPr>
        </p:nvSpPr>
        <p:spPr>
          <a:xfrm>
            <a:off x="2581756" y="20384"/>
            <a:ext cx="4646358" cy="734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77" name="Google Shape;177;p54" descr="User icon Royalty Free Vector Image - VectorStock"/>
          <p:cNvPicPr preferRelativeResize="0"/>
          <p:nvPr/>
        </p:nvPicPr>
        <p:blipFill rotWithShape="1">
          <a:blip r:embed="rId9">
            <a:alphaModFix/>
          </a:blip>
          <a:srcRect l="26030" t="21389" r="26030" b="34222"/>
          <a:stretch/>
        </p:blipFill>
        <p:spPr>
          <a:xfrm>
            <a:off x="353568" y="5211250"/>
            <a:ext cx="1353600" cy="1353600"/>
          </a:xfrm>
          <a:custGeom>
            <a:avLst/>
            <a:gdLst/>
            <a:ahLst/>
            <a:cxnLst/>
            <a:rect l="l" t="t" r="r" b="b"/>
            <a:pathLst>
              <a:path w="3044190" h="3044190" extrusionOk="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78" name="Google Shape;178;p54"/>
          <p:cNvSpPr>
            <a:spLocks noGrp="1"/>
          </p:cNvSpPr>
          <p:nvPr>
            <p:ph type="pic" idx="6"/>
          </p:nvPr>
        </p:nvSpPr>
        <p:spPr>
          <a:xfrm>
            <a:off x="353569" y="5211251"/>
            <a:ext cx="1353599" cy="1353599"/>
          </a:xfrm>
          <a:prstGeom prst="rect">
            <a:avLst/>
          </a:prstGeom>
          <a:noFill/>
          <a:ln w="9525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- Light Green">
  <p:cSld name="Title Slide - Light Green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55"/>
          <p:cNvPicPr preferRelativeResize="0"/>
          <p:nvPr/>
        </p:nvPicPr>
        <p:blipFill rotWithShape="1">
          <a:blip r:embed="rId2">
            <a:alphaModFix/>
          </a:blip>
          <a:srcRect t="18750" b="24999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55"/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Darshan Institute of Engineering &amp; Technology, Rajkot</a:t>
            </a:r>
            <a:endParaRPr/>
          </a:p>
        </p:txBody>
      </p:sp>
      <p:sp>
        <p:nvSpPr>
          <p:cNvPr id="182" name="Google Shape;182;p55"/>
          <p:cNvSpPr/>
          <p:nvPr/>
        </p:nvSpPr>
        <p:spPr>
          <a:xfrm>
            <a:off x="2554514" y="1"/>
            <a:ext cx="5255702" cy="1335004"/>
          </a:xfrm>
          <a:custGeom>
            <a:avLst/>
            <a:gdLst/>
            <a:ahLst/>
            <a:cxnLst/>
            <a:rect l="l" t="t" r="r" b="b"/>
            <a:pathLst>
              <a:path w="2048" h="517" extrusionOk="0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456220"/>
              </a:gs>
              <a:gs pos="10000">
                <a:srgbClr val="456220"/>
              </a:gs>
              <a:gs pos="100000">
                <a:schemeClr val="accent3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83" name="Google Shape;183;p55"/>
          <p:cNvSpPr/>
          <p:nvPr/>
        </p:nvSpPr>
        <p:spPr>
          <a:xfrm>
            <a:off x="0" y="5905331"/>
            <a:ext cx="1901425" cy="952668"/>
          </a:xfrm>
          <a:custGeom>
            <a:avLst/>
            <a:gdLst/>
            <a:ahLst/>
            <a:cxnLst/>
            <a:rect l="l" t="t" r="r" b="b"/>
            <a:pathLst>
              <a:path w="2048" h="1024" extrusionOk="0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456220"/>
              </a:gs>
              <a:gs pos="10000">
                <a:srgbClr val="456220"/>
              </a:gs>
              <a:gs pos="100000">
                <a:schemeClr val="accent3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184" name="Google Shape;184;p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08334" y="4602222"/>
            <a:ext cx="3383666" cy="2255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5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40861" y="2096941"/>
            <a:ext cx="2813885" cy="21192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6" name="Google Shape;186;p55"/>
          <p:cNvCxnSpPr/>
          <p:nvPr/>
        </p:nvCxnSpPr>
        <p:spPr>
          <a:xfrm>
            <a:off x="1926694" y="6124097"/>
            <a:ext cx="4356000" cy="0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87" name="Google Shape;187;p55"/>
          <p:cNvSpPr txBox="1"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6600"/>
              <a:buFont typeface="Roboto Condensed"/>
              <a:buNone/>
              <a:defRPr sz="6600" b="1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88" name="Google Shape;188;p5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98063" y="6232297"/>
            <a:ext cx="18288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5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998063" y="650532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55"/>
          <p:cNvSpPr txBox="1">
            <a:spLocks noGrp="1"/>
          </p:cNvSpPr>
          <p:nvPr>
            <p:ph type="body" idx="1"/>
          </p:nvPr>
        </p:nvSpPr>
        <p:spPr>
          <a:xfrm>
            <a:off x="2180943" y="6175935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1" name="Google Shape;191;p55"/>
          <p:cNvSpPr txBox="1">
            <a:spLocks noGrp="1"/>
          </p:cNvSpPr>
          <p:nvPr>
            <p:ph type="body" idx="2"/>
          </p:nvPr>
        </p:nvSpPr>
        <p:spPr>
          <a:xfrm>
            <a:off x="2183874" y="646021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2" name="Google Shape;192;p55"/>
          <p:cNvSpPr txBox="1">
            <a:spLocks noGrp="1"/>
          </p:cNvSpPr>
          <p:nvPr>
            <p:ph type="body" idx="3"/>
          </p:nvPr>
        </p:nvSpPr>
        <p:spPr>
          <a:xfrm>
            <a:off x="1837678" y="553776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3" name="Google Shape;193;p55"/>
          <p:cNvSpPr txBox="1">
            <a:spLocks noGrp="1"/>
          </p:cNvSpPr>
          <p:nvPr>
            <p:ph type="body" idx="4"/>
          </p:nvPr>
        </p:nvSpPr>
        <p:spPr>
          <a:xfrm>
            <a:off x="1837677" y="5273332"/>
            <a:ext cx="5581039" cy="290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56220"/>
              </a:buClr>
              <a:buSzPts val="1800"/>
              <a:buNone/>
              <a:defRPr sz="1800" b="1">
                <a:solidFill>
                  <a:srgbClr val="456220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94" name="Google Shape;194;p5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295842" y="307556"/>
            <a:ext cx="3573889" cy="821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55"/>
          <p:cNvPicPr preferRelativeResize="0"/>
          <p:nvPr/>
        </p:nvPicPr>
        <p:blipFill rotWithShape="1">
          <a:blip r:embed="rId8">
            <a:alphaModFix/>
          </a:blip>
          <a:srcRect l="62022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55"/>
          <p:cNvSpPr txBox="1">
            <a:spLocks noGrp="1"/>
          </p:cNvSpPr>
          <p:nvPr>
            <p:ph type="body" idx="5"/>
          </p:nvPr>
        </p:nvSpPr>
        <p:spPr>
          <a:xfrm>
            <a:off x="2581756" y="20384"/>
            <a:ext cx="4646358" cy="734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97" name="Google Shape;197;p55" descr="User icon Royalty Free Vector Image - VectorStock"/>
          <p:cNvPicPr preferRelativeResize="0"/>
          <p:nvPr/>
        </p:nvPicPr>
        <p:blipFill rotWithShape="1">
          <a:blip r:embed="rId9">
            <a:alphaModFix/>
          </a:blip>
          <a:srcRect l="26030" t="21389" r="26030" b="34222"/>
          <a:stretch/>
        </p:blipFill>
        <p:spPr>
          <a:xfrm>
            <a:off x="353568" y="5211250"/>
            <a:ext cx="1353600" cy="1353600"/>
          </a:xfrm>
          <a:custGeom>
            <a:avLst/>
            <a:gdLst/>
            <a:ahLst/>
            <a:cxnLst/>
            <a:rect l="l" t="t" r="r" b="b"/>
            <a:pathLst>
              <a:path w="3044190" h="3044190" extrusionOk="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98" name="Google Shape;198;p55"/>
          <p:cNvSpPr>
            <a:spLocks noGrp="1"/>
          </p:cNvSpPr>
          <p:nvPr>
            <p:ph type="pic" idx="6"/>
          </p:nvPr>
        </p:nvSpPr>
        <p:spPr>
          <a:xfrm>
            <a:off x="353569" y="5211251"/>
            <a:ext cx="1353599" cy="1353599"/>
          </a:xfrm>
          <a:prstGeom prst="rect">
            <a:avLst/>
          </a:prstGeom>
          <a:noFill/>
          <a:ln w="9525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- Amber">
  <p:cSld name="Title Slide - Amber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56"/>
          <p:cNvPicPr preferRelativeResize="0"/>
          <p:nvPr/>
        </p:nvPicPr>
        <p:blipFill rotWithShape="1">
          <a:blip r:embed="rId2">
            <a:alphaModFix/>
          </a:blip>
          <a:srcRect t="18750" b="24999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56"/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Darshan Institute of Engineering &amp; Technology, Rajkot</a:t>
            </a:r>
            <a:endParaRPr/>
          </a:p>
        </p:txBody>
      </p:sp>
      <p:sp>
        <p:nvSpPr>
          <p:cNvPr id="202" name="Google Shape;202;p56"/>
          <p:cNvSpPr/>
          <p:nvPr/>
        </p:nvSpPr>
        <p:spPr>
          <a:xfrm>
            <a:off x="2554514" y="1"/>
            <a:ext cx="5255702" cy="1335004"/>
          </a:xfrm>
          <a:custGeom>
            <a:avLst/>
            <a:gdLst/>
            <a:ahLst/>
            <a:cxnLst/>
            <a:rect l="l" t="t" r="r" b="b"/>
            <a:pathLst>
              <a:path w="2048" h="517" extrusionOk="0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7D4F07"/>
              </a:gs>
              <a:gs pos="10000">
                <a:srgbClr val="7D4F07"/>
              </a:gs>
              <a:gs pos="100000">
                <a:schemeClr val="accent5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03" name="Google Shape;203;p56"/>
          <p:cNvSpPr/>
          <p:nvPr/>
        </p:nvSpPr>
        <p:spPr>
          <a:xfrm>
            <a:off x="0" y="5905331"/>
            <a:ext cx="1901425" cy="952668"/>
          </a:xfrm>
          <a:custGeom>
            <a:avLst/>
            <a:gdLst/>
            <a:ahLst/>
            <a:cxnLst/>
            <a:rect l="l" t="t" r="r" b="b"/>
            <a:pathLst>
              <a:path w="2048" h="1024" extrusionOk="0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7D4F07"/>
              </a:gs>
              <a:gs pos="10000">
                <a:srgbClr val="7D4F07"/>
              </a:gs>
              <a:gs pos="100000">
                <a:schemeClr val="accent5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204" name="Google Shape;204;p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08334" y="4602222"/>
            <a:ext cx="3383666" cy="2255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5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40861" y="2096941"/>
            <a:ext cx="2813885" cy="21192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6" name="Google Shape;206;p56"/>
          <p:cNvCxnSpPr/>
          <p:nvPr/>
        </p:nvCxnSpPr>
        <p:spPr>
          <a:xfrm>
            <a:off x="1926694" y="6124097"/>
            <a:ext cx="4356000" cy="0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07" name="Google Shape;207;p56"/>
          <p:cNvSpPr txBox="1"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6600"/>
              <a:buFont typeface="Roboto Condensed"/>
              <a:buNone/>
              <a:defRPr sz="6600" b="1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08" name="Google Shape;208;p5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98063" y="6232297"/>
            <a:ext cx="18288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5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998063" y="650532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56"/>
          <p:cNvSpPr txBox="1">
            <a:spLocks noGrp="1"/>
          </p:cNvSpPr>
          <p:nvPr>
            <p:ph type="body" idx="1"/>
          </p:nvPr>
        </p:nvSpPr>
        <p:spPr>
          <a:xfrm>
            <a:off x="2180943" y="6175935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1" name="Google Shape;211;p56"/>
          <p:cNvSpPr txBox="1">
            <a:spLocks noGrp="1"/>
          </p:cNvSpPr>
          <p:nvPr>
            <p:ph type="body" idx="2"/>
          </p:nvPr>
        </p:nvSpPr>
        <p:spPr>
          <a:xfrm>
            <a:off x="2183874" y="646021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2" name="Google Shape;212;p56"/>
          <p:cNvSpPr txBox="1">
            <a:spLocks noGrp="1"/>
          </p:cNvSpPr>
          <p:nvPr>
            <p:ph type="body" idx="3"/>
          </p:nvPr>
        </p:nvSpPr>
        <p:spPr>
          <a:xfrm>
            <a:off x="1837678" y="553776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3" name="Google Shape;213;p56"/>
          <p:cNvSpPr txBox="1">
            <a:spLocks noGrp="1"/>
          </p:cNvSpPr>
          <p:nvPr>
            <p:ph type="body" idx="4"/>
          </p:nvPr>
        </p:nvSpPr>
        <p:spPr>
          <a:xfrm>
            <a:off x="1837677" y="5273332"/>
            <a:ext cx="5581039" cy="290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C770B"/>
              </a:buClr>
              <a:buSzPts val="1800"/>
              <a:buNone/>
              <a:defRPr sz="1800" b="1">
                <a:solidFill>
                  <a:srgbClr val="BC770B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14" name="Google Shape;214;p5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295842" y="307556"/>
            <a:ext cx="3573889" cy="821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56"/>
          <p:cNvPicPr preferRelativeResize="0"/>
          <p:nvPr/>
        </p:nvPicPr>
        <p:blipFill rotWithShape="1">
          <a:blip r:embed="rId8">
            <a:alphaModFix/>
          </a:blip>
          <a:srcRect l="62022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56"/>
          <p:cNvSpPr txBox="1">
            <a:spLocks noGrp="1"/>
          </p:cNvSpPr>
          <p:nvPr>
            <p:ph type="body" idx="5"/>
          </p:nvPr>
        </p:nvSpPr>
        <p:spPr>
          <a:xfrm>
            <a:off x="2581756" y="20384"/>
            <a:ext cx="4646358" cy="734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17" name="Google Shape;217;p56" descr="User icon Royalty Free Vector Image - VectorStock"/>
          <p:cNvPicPr preferRelativeResize="0"/>
          <p:nvPr/>
        </p:nvPicPr>
        <p:blipFill rotWithShape="1">
          <a:blip r:embed="rId9">
            <a:alphaModFix/>
          </a:blip>
          <a:srcRect l="26030" t="21389" r="26030" b="34222"/>
          <a:stretch/>
        </p:blipFill>
        <p:spPr>
          <a:xfrm>
            <a:off x="353568" y="5211250"/>
            <a:ext cx="1353600" cy="1353600"/>
          </a:xfrm>
          <a:custGeom>
            <a:avLst/>
            <a:gdLst/>
            <a:ahLst/>
            <a:cxnLst/>
            <a:rect l="l" t="t" r="r" b="b"/>
            <a:pathLst>
              <a:path w="3044190" h="3044190" extrusionOk="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18" name="Google Shape;218;p56"/>
          <p:cNvSpPr>
            <a:spLocks noGrp="1"/>
          </p:cNvSpPr>
          <p:nvPr>
            <p:ph type="pic" idx="6"/>
          </p:nvPr>
        </p:nvSpPr>
        <p:spPr>
          <a:xfrm>
            <a:off x="353569" y="5211251"/>
            <a:ext cx="1353599" cy="1353599"/>
          </a:xfrm>
          <a:prstGeom prst="rect">
            <a:avLst/>
          </a:prstGeom>
          <a:noFill/>
          <a:ln w="9525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- Blue Gray">
  <p:cSld name="Title Slide - Blue Gray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57"/>
          <p:cNvPicPr preferRelativeResize="0"/>
          <p:nvPr/>
        </p:nvPicPr>
        <p:blipFill rotWithShape="1">
          <a:blip r:embed="rId2">
            <a:alphaModFix/>
          </a:blip>
          <a:srcRect t="18750" b="24999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57"/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Darshan Institute of Engineering &amp; Technology, Rajkot</a:t>
            </a:r>
            <a:endParaRPr/>
          </a:p>
        </p:txBody>
      </p:sp>
      <p:sp>
        <p:nvSpPr>
          <p:cNvPr id="222" name="Google Shape;222;p57"/>
          <p:cNvSpPr/>
          <p:nvPr/>
        </p:nvSpPr>
        <p:spPr>
          <a:xfrm>
            <a:off x="2554514" y="1"/>
            <a:ext cx="5255702" cy="1335004"/>
          </a:xfrm>
          <a:custGeom>
            <a:avLst/>
            <a:gdLst/>
            <a:ahLst/>
            <a:cxnLst/>
            <a:rect l="l" t="t" r="r" b="b"/>
            <a:pathLst>
              <a:path w="2048" h="517" extrusionOk="0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273238"/>
              </a:gs>
              <a:gs pos="10000">
                <a:srgbClr val="273238"/>
              </a:gs>
              <a:gs pos="100000">
                <a:srgbClr val="607D8B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23" name="Google Shape;223;p57"/>
          <p:cNvSpPr/>
          <p:nvPr/>
        </p:nvSpPr>
        <p:spPr>
          <a:xfrm>
            <a:off x="0" y="5905331"/>
            <a:ext cx="1901425" cy="952668"/>
          </a:xfrm>
          <a:custGeom>
            <a:avLst/>
            <a:gdLst/>
            <a:ahLst/>
            <a:cxnLst/>
            <a:rect l="l" t="t" r="r" b="b"/>
            <a:pathLst>
              <a:path w="2048" h="1024" extrusionOk="0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273238"/>
              </a:gs>
              <a:gs pos="10000">
                <a:srgbClr val="273238"/>
              </a:gs>
              <a:gs pos="100000">
                <a:srgbClr val="607D8B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224" name="Google Shape;224;p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08334" y="4602222"/>
            <a:ext cx="3383666" cy="2255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5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40861" y="2096941"/>
            <a:ext cx="2813885" cy="21192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6" name="Google Shape;226;p57"/>
          <p:cNvCxnSpPr/>
          <p:nvPr/>
        </p:nvCxnSpPr>
        <p:spPr>
          <a:xfrm>
            <a:off x="1926694" y="6124097"/>
            <a:ext cx="4356000" cy="0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27" name="Google Shape;227;p57"/>
          <p:cNvSpPr txBox="1"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6600"/>
              <a:buFont typeface="Roboto Condensed"/>
              <a:buNone/>
              <a:defRPr sz="6600" b="1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28" name="Google Shape;228;p5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98063" y="6232297"/>
            <a:ext cx="18288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5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998063" y="650532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57"/>
          <p:cNvSpPr txBox="1">
            <a:spLocks noGrp="1"/>
          </p:cNvSpPr>
          <p:nvPr>
            <p:ph type="body" idx="1"/>
          </p:nvPr>
        </p:nvSpPr>
        <p:spPr>
          <a:xfrm>
            <a:off x="2180943" y="6175935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1" name="Google Shape;231;p57"/>
          <p:cNvSpPr txBox="1">
            <a:spLocks noGrp="1"/>
          </p:cNvSpPr>
          <p:nvPr>
            <p:ph type="body" idx="2"/>
          </p:nvPr>
        </p:nvSpPr>
        <p:spPr>
          <a:xfrm>
            <a:off x="2183874" y="646021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2" name="Google Shape;232;p57"/>
          <p:cNvSpPr txBox="1">
            <a:spLocks noGrp="1"/>
          </p:cNvSpPr>
          <p:nvPr>
            <p:ph type="body" idx="3"/>
          </p:nvPr>
        </p:nvSpPr>
        <p:spPr>
          <a:xfrm>
            <a:off x="1837678" y="553776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3" name="Google Shape;233;p57"/>
          <p:cNvSpPr txBox="1">
            <a:spLocks noGrp="1"/>
          </p:cNvSpPr>
          <p:nvPr>
            <p:ph type="body" idx="4"/>
          </p:nvPr>
        </p:nvSpPr>
        <p:spPr>
          <a:xfrm>
            <a:off x="1837677" y="5273332"/>
            <a:ext cx="5581039" cy="290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3238"/>
              </a:buClr>
              <a:buSzPts val="1800"/>
              <a:buNone/>
              <a:defRPr sz="1800" b="1">
                <a:solidFill>
                  <a:srgbClr val="273238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34" name="Google Shape;234;p5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295842" y="307556"/>
            <a:ext cx="3573889" cy="821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57"/>
          <p:cNvPicPr preferRelativeResize="0"/>
          <p:nvPr/>
        </p:nvPicPr>
        <p:blipFill rotWithShape="1">
          <a:blip r:embed="rId8">
            <a:alphaModFix/>
          </a:blip>
          <a:srcRect l="62022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57"/>
          <p:cNvSpPr txBox="1">
            <a:spLocks noGrp="1"/>
          </p:cNvSpPr>
          <p:nvPr>
            <p:ph type="body" idx="5"/>
          </p:nvPr>
        </p:nvSpPr>
        <p:spPr>
          <a:xfrm>
            <a:off x="2581756" y="20384"/>
            <a:ext cx="4646358" cy="734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37" name="Google Shape;237;p57" descr="User icon Royalty Free Vector Image - VectorStock"/>
          <p:cNvPicPr preferRelativeResize="0"/>
          <p:nvPr/>
        </p:nvPicPr>
        <p:blipFill rotWithShape="1">
          <a:blip r:embed="rId9">
            <a:alphaModFix/>
          </a:blip>
          <a:srcRect l="26030" t="21389" r="26030" b="34222"/>
          <a:stretch/>
        </p:blipFill>
        <p:spPr>
          <a:xfrm>
            <a:off x="353568" y="5211250"/>
            <a:ext cx="1353600" cy="1353600"/>
          </a:xfrm>
          <a:custGeom>
            <a:avLst/>
            <a:gdLst/>
            <a:ahLst/>
            <a:cxnLst/>
            <a:rect l="l" t="t" r="r" b="b"/>
            <a:pathLst>
              <a:path w="3044190" h="3044190" extrusionOk="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38" name="Google Shape;238;p57"/>
          <p:cNvSpPr>
            <a:spLocks noGrp="1"/>
          </p:cNvSpPr>
          <p:nvPr>
            <p:ph type="pic" idx="6"/>
          </p:nvPr>
        </p:nvSpPr>
        <p:spPr>
          <a:xfrm>
            <a:off x="353569" y="5211251"/>
            <a:ext cx="1353599" cy="1353599"/>
          </a:xfrm>
          <a:prstGeom prst="rect">
            <a:avLst/>
          </a:prstGeom>
          <a:noFill/>
          <a:ln w="9525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- Brown">
  <p:cSld name="Title Slide - Brown"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58"/>
          <p:cNvPicPr preferRelativeResize="0"/>
          <p:nvPr/>
        </p:nvPicPr>
        <p:blipFill rotWithShape="1">
          <a:blip r:embed="rId2">
            <a:alphaModFix/>
          </a:blip>
          <a:srcRect t="18750" b="24999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58"/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Darshan Institute of Engineering &amp; Technology, Rajkot</a:t>
            </a:r>
            <a:endParaRPr/>
          </a:p>
        </p:txBody>
      </p:sp>
      <p:sp>
        <p:nvSpPr>
          <p:cNvPr id="242" name="Google Shape;242;p58"/>
          <p:cNvSpPr/>
          <p:nvPr/>
        </p:nvSpPr>
        <p:spPr>
          <a:xfrm>
            <a:off x="2554514" y="1"/>
            <a:ext cx="5255702" cy="1335004"/>
          </a:xfrm>
          <a:custGeom>
            <a:avLst/>
            <a:gdLst/>
            <a:ahLst/>
            <a:cxnLst/>
            <a:rect l="l" t="t" r="r" b="b"/>
            <a:pathLst>
              <a:path w="2048" h="517" extrusionOk="0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3E2622"/>
              </a:gs>
              <a:gs pos="10000">
                <a:srgbClr val="3E2622"/>
              </a:gs>
              <a:gs pos="100000">
                <a:srgbClr val="795547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43" name="Google Shape;243;p58"/>
          <p:cNvSpPr/>
          <p:nvPr/>
        </p:nvSpPr>
        <p:spPr>
          <a:xfrm>
            <a:off x="0" y="5905331"/>
            <a:ext cx="1901425" cy="952668"/>
          </a:xfrm>
          <a:custGeom>
            <a:avLst/>
            <a:gdLst/>
            <a:ahLst/>
            <a:cxnLst/>
            <a:rect l="l" t="t" r="r" b="b"/>
            <a:pathLst>
              <a:path w="2048" h="1024" extrusionOk="0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3E2622"/>
              </a:gs>
              <a:gs pos="10000">
                <a:srgbClr val="3E2622"/>
              </a:gs>
              <a:gs pos="100000">
                <a:srgbClr val="795547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244" name="Google Shape;244;p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08334" y="4602222"/>
            <a:ext cx="3383666" cy="2255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5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40861" y="2096941"/>
            <a:ext cx="2813885" cy="21192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6" name="Google Shape;246;p58"/>
          <p:cNvCxnSpPr/>
          <p:nvPr/>
        </p:nvCxnSpPr>
        <p:spPr>
          <a:xfrm>
            <a:off x="1926694" y="6124097"/>
            <a:ext cx="4356000" cy="0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7" name="Google Shape;247;p58"/>
          <p:cNvSpPr txBox="1"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6600"/>
              <a:buFont typeface="Roboto Condensed"/>
              <a:buNone/>
              <a:defRPr sz="6600" b="1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48" name="Google Shape;248;p5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98063" y="6232297"/>
            <a:ext cx="18288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5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998063" y="650532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58"/>
          <p:cNvSpPr txBox="1">
            <a:spLocks noGrp="1"/>
          </p:cNvSpPr>
          <p:nvPr>
            <p:ph type="body" idx="1"/>
          </p:nvPr>
        </p:nvSpPr>
        <p:spPr>
          <a:xfrm>
            <a:off x="2180943" y="6175935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1" name="Google Shape;251;p58"/>
          <p:cNvSpPr txBox="1">
            <a:spLocks noGrp="1"/>
          </p:cNvSpPr>
          <p:nvPr>
            <p:ph type="body" idx="2"/>
          </p:nvPr>
        </p:nvSpPr>
        <p:spPr>
          <a:xfrm>
            <a:off x="2183874" y="646021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2" name="Google Shape;252;p58"/>
          <p:cNvSpPr txBox="1">
            <a:spLocks noGrp="1"/>
          </p:cNvSpPr>
          <p:nvPr>
            <p:ph type="body" idx="3"/>
          </p:nvPr>
        </p:nvSpPr>
        <p:spPr>
          <a:xfrm>
            <a:off x="1837678" y="553776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3" name="Google Shape;253;p58"/>
          <p:cNvSpPr txBox="1">
            <a:spLocks noGrp="1"/>
          </p:cNvSpPr>
          <p:nvPr>
            <p:ph type="body" idx="4"/>
          </p:nvPr>
        </p:nvSpPr>
        <p:spPr>
          <a:xfrm>
            <a:off x="1837677" y="5273332"/>
            <a:ext cx="5581039" cy="290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2622"/>
              </a:buClr>
              <a:buSzPts val="1800"/>
              <a:buNone/>
              <a:defRPr sz="1800" b="1">
                <a:solidFill>
                  <a:srgbClr val="3E262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54" name="Google Shape;254;p5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295842" y="307556"/>
            <a:ext cx="3573889" cy="821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58"/>
          <p:cNvPicPr preferRelativeResize="0"/>
          <p:nvPr/>
        </p:nvPicPr>
        <p:blipFill rotWithShape="1">
          <a:blip r:embed="rId8">
            <a:alphaModFix/>
          </a:blip>
          <a:srcRect l="62022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58"/>
          <p:cNvSpPr txBox="1">
            <a:spLocks noGrp="1"/>
          </p:cNvSpPr>
          <p:nvPr>
            <p:ph type="body" idx="5"/>
          </p:nvPr>
        </p:nvSpPr>
        <p:spPr>
          <a:xfrm>
            <a:off x="2581756" y="20384"/>
            <a:ext cx="4646358" cy="734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57" name="Google Shape;257;p58" descr="User icon Royalty Free Vector Image - VectorStock"/>
          <p:cNvPicPr preferRelativeResize="0"/>
          <p:nvPr/>
        </p:nvPicPr>
        <p:blipFill rotWithShape="1">
          <a:blip r:embed="rId9">
            <a:alphaModFix/>
          </a:blip>
          <a:srcRect l="26030" t="21389" r="26030" b="34222"/>
          <a:stretch/>
        </p:blipFill>
        <p:spPr>
          <a:xfrm>
            <a:off x="353568" y="5211250"/>
            <a:ext cx="1353600" cy="1353600"/>
          </a:xfrm>
          <a:custGeom>
            <a:avLst/>
            <a:gdLst/>
            <a:ahLst/>
            <a:cxnLst/>
            <a:rect l="l" t="t" r="r" b="b"/>
            <a:pathLst>
              <a:path w="3044190" h="3044190" extrusionOk="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58" name="Google Shape;258;p58"/>
          <p:cNvSpPr>
            <a:spLocks noGrp="1"/>
          </p:cNvSpPr>
          <p:nvPr>
            <p:ph type="pic" idx="6"/>
          </p:nvPr>
        </p:nvSpPr>
        <p:spPr>
          <a:xfrm>
            <a:off x="353569" y="5211251"/>
            <a:ext cx="1353599" cy="1353599"/>
          </a:xfrm>
          <a:prstGeom prst="rect">
            <a:avLst/>
          </a:prstGeom>
          <a:noFill/>
          <a:ln w="9525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- Deep Puple">
  <p:cSld name="Title Slide - Deep Puple"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p59"/>
          <p:cNvPicPr preferRelativeResize="0"/>
          <p:nvPr/>
        </p:nvPicPr>
        <p:blipFill rotWithShape="1">
          <a:blip r:embed="rId2">
            <a:alphaModFix/>
          </a:blip>
          <a:srcRect t="18750" b="24999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59"/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Darshan Institute of Engineering &amp; Technology, Rajkot</a:t>
            </a:r>
            <a:endParaRPr/>
          </a:p>
        </p:txBody>
      </p:sp>
      <p:sp>
        <p:nvSpPr>
          <p:cNvPr id="262" name="Google Shape;262;p59"/>
          <p:cNvSpPr/>
          <p:nvPr/>
        </p:nvSpPr>
        <p:spPr>
          <a:xfrm>
            <a:off x="2554514" y="1"/>
            <a:ext cx="5255702" cy="1335004"/>
          </a:xfrm>
          <a:custGeom>
            <a:avLst/>
            <a:gdLst/>
            <a:ahLst/>
            <a:cxnLst/>
            <a:rect l="l" t="t" r="r" b="b"/>
            <a:pathLst>
              <a:path w="2048" h="517" extrusionOk="0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301B92"/>
              </a:gs>
              <a:gs pos="10000">
                <a:srgbClr val="301B92"/>
              </a:gs>
              <a:gs pos="100000">
                <a:srgbClr val="673BB7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63" name="Google Shape;263;p59"/>
          <p:cNvSpPr/>
          <p:nvPr/>
        </p:nvSpPr>
        <p:spPr>
          <a:xfrm>
            <a:off x="0" y="5905331"/>
            <a:ext cx="1901425" cy="952668"/>
          </a:xfrm>
          <a:custGeom>
            <a:avLst/>
            <a:gdLst/>
            <a:ahLst/>
            <a:cxnLst/>
            <a:rect l="l" t="t" r="r" b="b"/>
            <a:pathLst>
              <a:path w="2048" h="1024" extrusionOk="0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301B92"/>
              </a:gs>
              <a:gs pos="10000">
                <a:srgbClr val="301B92"/>
              </a:gs>
              <a:gs pos="100000">
                <a:srgbClr val="673BB7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264" name="Google Shape;264;p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08334" y="4602222"/>
            <a:ext cx="3383666" cy="2255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5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40861" y="2096941"/>
            <a:ext cx="2813885" cy="21192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6" name="Google Shape;266;p59"/>
          <p:cNvCxnSpPr/>
          <p:nvPr/>
        </p:nvCxnSpPr>
        <p:spPr>
          <a:xfrm>
            <a:off x="1926694" y="6124097"/>
            <a:ext cx="4356000" cy="0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67" name="Google Shape;267;p59"/>
          <p:cNvSpPr txBox="1"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6600"/>
              <a:buFont typeface="Roboto Condensed"/>
              <a:buNone/>
              <a:defRPr sz="6600" b="1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68" name="Google Shape;268;p5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98063" y="6232297"/>
            <a:ext cx="18288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5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998063" y="650532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59"/>
          <p:cNvSpPr txBox="1">
            <a:spLocks noGrp="1"/>
          </p:cNvSpPr>
          <p:nvPr>
            <p:ph type="body" idx="1"/>
          </p:nvPr>
        </p:nvSpPr>
        <p:spPr>
          <a:xfrm>
            <a:off x="2180943" y="6175935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1" name="Google Shape;271;p59"/>
          <p:cNvSpPr txBox="1">
            <a:spLocks noGrp="1"/>
          </p:cNvSpPr>
          <p:nvPr>
            <p:ph type="body" idx="2"/>
          </p:nvPr>
        </p:nvSpPr>
        <p:spPr>
          <a:xfrm>
            <a:off x="2183874" y="646021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2" name="Google Shape;272;p59"/>
          <p:cNvSpPr txBox="1">
            <a:spLocks noGrp="1"/>
          </p:cNvSpPr>
          <p:nvPr>
            <p:ph type="body" idx="3"/>
          </p:nvPr>
        </p:nvSpPr>
        <p:spPr>
          <a:xfrm>
            <a:off x="1837678" y="553776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3" name="Google Shape;273;p59"/>
          <p:cNvSpPr txBox="1">
            <a:spLocks noGrp="1"/>
          </p:cNvSpPr>
          <p:nvPr>
            <p:ph type="body" idx="4"/>
          </p:nvPr>
        </p:nvSpPr>
        <p:spPr>
          <a:xfrm>
            <a:off x="1837677" y="5273332"/>
            <a:ext cx="5581039" cy="290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01B92"/>
              </a:buClr>
              <a:buSzPts val="1800"/>
              <a:buNone/>
              <a:defRPr sz="1800" b="1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74" name="Google Shape;274;p5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295842" y="307556"/>
            <a:ext cx="3573889" cy="821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59"/>
          <p:cNvPicPr preferRelativeResize="0"/>
          <p:nvPr/>
        </p:nvPicPr>
        <p:blipFill rotWithShape="1">
          <a:blip r:embed="rId8">
            <a:alphaModFix/>
          </a:blip>
          <a:srcRect l="62022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59"/>
          <p:cNvSpPr txBox="1">
            <a:spLocks noGrp="1"/>
          </p:cNvSpPr>
          <p:nvPr>
            <p:ph type="body" idx="5"/>
          </p:nvPr>
        </p:nvSpPr>
        <p:spPr>
          <a:xfrm>
            <a:off x="2581756" y="20384"/>
            <a:ext cx="4646358" cy="734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77" name="Google Shape;277;p59" descr="User icon Royalty Free Vector Image - VectorStock"/>
          <p:cNvPicPr preferRelativeResize="0"/>
          <p:nvPr/>
        </p:nvPicPr>
        <p:blipFill rotWithShape="1">
          <a:blip r:embed="rId9">
            <a:alphaModFix/>
          </a:blip>
          <a:srcRect l="26030" t="21389" r="26030" b="34222"/>
          <a:stretch/>
        </p:blipFill>
        <p:spPr>
          <a:xfrm>
            <a:off x="353568" y="5211250"/>
            <a:ext cx="1353600" cy="1353600"/>
          </a:xfrm>
          <a:custGeom>
            <a:avLst/>
            <a:gdLst/>
            <a:ahLst/>
            <a:cxnLst/>
            <a:rect l="l" t="t" r="r" b="b"/>
            <a:pathLst>
              <a:path w="3044190" h="3044190" extrusionOk="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78" name="Google Shape;278;p59"/>
          <p:cNvSpPr>
            <a:spLocks noGrp="1"/>
          </p:cNvSpPr>
          <p:nvPr>
            <p:ph type="pic" idx="6"/>
          </p:nvPr>
        </p:nvSpPr>
        <p:spPr>
          <a:xfrm>
            <a:off x="353569" y="5211251"/>
            <a:ext cx="1353599" cy="1353599"/>
          </a:xfrm>
          <a:prstGeom prst="rect">
            <a:avLst/>
          </a:prstGeom>
          <a:noFill/>
          <a:ln w="9525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- Blue">
  <p:cSld name="Title Slide - Blue"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Google Shape;280;p60"/>
          <p:cNvPicPr preferRelativeResize="0"/>
          <p:nvPr/>
        </p:nvPicPr>
        <p:blipFill rotWithShape="1">
          <a:blip r:embed="rId2">
            <a:alphaModFix/>
          </a:blip>
          <a:srcRect t="18750" b="24999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60"/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Darshan Institute of Engineering &amp; Technology, Rajkot</a:t>
            </a:r>
            <a:endParaRPr/>
          </a:p>
        </p:txBody>
      </p:sp>
      <p:sp>
        <p:nvSpPr>
          <p:cNvPr id="282" name="Google Shape;282;p60"/>
          <p:cNvSpPr/>
          <p:nvPr/>
        </p:nvSpPr>
        <p:spPr>
          <a:xfrm>
            <a:off x="2554514" y="1"/>
            <a:ext cx="5255702" cy="1335004"/>
          </a:xfrm>
          <a:custGeom>
            <a:avLst/>
            <a:gdLst/>
            <a:ahLst/>
            <a:cxnLst/>
            <a:rect l="l" t="t" r="r" b="b"/>
            <a:pathLst>
              <a:path w="2048" h="517" extrusionOk="0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0E47A1"/>
              </a:gs>
              <a:gs pos="10000">
                <a:srgbClr val="0E47A1"/>
              </a:gs>
              <a:gs pos="100000">
                <a:srgbClr val="03A9F5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83" name="Google Shape;283;p60"/>
          <p:cNvSpPr/>
          <p:nvPr/>
        </p:nvSpPr>
        <p:spPr>
          <a:xfrm>
            <a:off x="0" y="5905331"/>
            <a:ext cx="1901425" cy="952668"/>
          </a:xfrm>
          <a:custGeom>
            <a:avLst/>
            <a:gdLst/>
            <a:ahLst/>
            <a:cxnLst/>
            <a:rect l="l" t="t" r="r" b="b"/>
            <a:pathLst>
              <a:path w="2048" h="1024" extrusionOk="0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0E47A1"/>
              </a:gs>
              <a:gs pos="10000">
                <a:srgbClr val="0E47A1"/>
              </a:gs>
              <a:gs pos="100000">
                <a:srgbClr val="03A9F5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284" name="Google Shape;284;p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08334" y="4602222"/>
            <a:ext cx="3383666" cy="2255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6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40861" y="2096941"/>
            <a:ext cx="2813885" cy="21192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6" name="Google Shape;286;p60"/>
          <p:cNvCxnSpPr/>
          <p:nvPr/>
        </p:nvCxnSpPr>
        <p:spPr>
          <a:xfrm>
            <a:off x="1926694" y="6124097"/>
            <a:ext cx="4356000" cy="0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87" name="Google Shape;287;p60"/>
          <p:cNvSpPr txBox="1"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6600"/>
              <a:buFont typeface="Roboto Condensed"/>
              <a:buNone/>
              <a:defRPr sz="6600" b="1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88" name="Google Shape;288;p6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98063" y="6232297"/>
            <a:ext cx="18288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6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998063" y="650532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60"/>
          <p:cNvSpPr txBox="1">
            <a:spLocks noGrp="1"/>
          </p:cNvSpPr>
          <p:nvPr>
            <p:ph type="body" idx="1"/>
          </p:nvPr>
        </p:nvSpPr>
        <p:spPr>
          <a:xfrm>
            <a:off x="2180943" y="6175935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1" name="Google Shape;291;p60"/>
          <p:cNvSpPr txBox="1">
            <a:spLocks noGrp="1"/>
          </p:cNvSpPr>
          <p:nvPr>
            <p:ph type="body" idx="2"/>
          </p:nvPr>
        </p:nvSpPr>
        <p:spPr>
          <a:xfrm>
            <a:off x="2183874" y="646021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2" name="Google Shape;292;p60"/>
          <p:cNvSpPr txBox="1">
            <a:spLocks noGrp="1"/>
          </p:cNvSpPr>
          <p:nvPr>
            <p:ph type="body" idx="3"/>
          </p:nvPr>
        </p:nvSpPr>
        <p:spPr>
          <a:xfrm>
            <a:off x="1837678" y="553776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3" name="Google Shape;293;p60"/>
          <p:cNvSpPr txBox="1">
            <a:spLocks noGrp="1"/>
          </p:cNvSpPr>
          <p:nvPr>
            <p:ph type="body" idx="4"/>
          </p:nvPr>
        </p:nvSpPr>
        <p:spPr>
          <a:xfrm>
            <a:off x="1837677" y="5273332"/>
            <a:ext cx="5581039" cy="290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47A1"/>
              </a:buClr>
              <a:buSzPts val="1800"/>
              <a:buNone/>
              <a:defRPr sz="1800" b="1">
                <a:solidFill>
                  <a:srgbClr val="0E47A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94" name="Google Shape;294;p6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295842" y="307556"/>
            <a:ext cx="3573889" cy="821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60"/>
          <p:cNvPicPr preferRelativeResize="0"/>
          <p:nvPr/>
        </p:nvPicPr>
        <p:blipFill rotWithShape="1">
          <a:blip r:embed="rId8">
            <a:alphaModFix/>
          </a:blip>
          <a:srcRect l="62022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60"/>
          <p:cNvSpPr txBox="1">
            <a:spLocks noGrp="1"/>
          </p:cNvSpPr>
          <p:nvPr>
            <p:ph type="body" idx="5"/>
          </p:nvPr>
        </p:nvSpPr>
        <p:spPr>
          <a:xfrm>
            <a:off x="2581756" y="20384"/>
            <a:ext cx="4646358" cy="734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97" name="Google Shape;297;p60" descr="User icon Royalty Free Vector Image - VectorStock"/>
          <p:cNvPicPr preferRelativeResize="0"/>
          <p:nvPr/>
        </p:nvPicPr>
        <p:blipFill rotWithShape="1">
          <a:blip r:embed="rId9">
            <a:alphaModFix/>
          </a:blip>
          <a:srcRect l="26030" t="21389" r="26030" b="34222"/>
          <a:stretch/>
        </p:blipFill>
        <p:spPr>
          <a:xfrm>
            <a:off x="353568" y="5211250"/>
            <a:ext cx="1353600" cy="1353600"/>
          </a:xfrm>
          <a:custGeom>
            <a:avLst/>
            <a:gdLst/>
            <a:ahLst/>
            <a:cxnLst/>
            <a:rect l="l" t="t" r="r" b="b"/>
            <a:pathLst>
              <a:path w="3044190" h="3044190" extrusionOk="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98" name="Google Shape;298;p60"/>
          <p:cNvSpPr>
            <a:spLocks noGrp="1"/>
          </p:cNvSpPr>
          <p:nvPr>
            <p:ph type="pic" idx="6"/>
          </p:nvPr>
        </p:nvSpPr>
        <p:spPr>
          <a:xfrm>
            <a:off x="353569" y="5211251"/>
            <a:ext cx="1353599" cy="1353599"/>
          </a:xfrm>
          <a:prstGeom prst="rect">
            <a:avLst/>
          </a:prstGeom>
          <a:noFill/>
          <a:ln w="9525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- Red">
  <p:cSld name="Title Slide - Red"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61"/>
          <p:cNvPicPr preferRelativeResize="0"/>
          <p:nvPr/>
        </p:nvPicPr>
        <p:blipFill rotWithShape="1">
          <a:blip r:embed="rId2">
            <a:alphaModFix/>
          </a:blip>
          <a:srcRect t="18750" b="24999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61"/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Darshan Institute of Engineering &amp; Technology, Rajkot</a:t>
            </a:r>
            <a:endParaRPr/>
          </a:p>
        </p:txBody>
      </p:sp>
      <p:sp>
        <p:nvSpPr>
          <p:cNvPr id="302" name="Google Shape;302;p61"/>
          <p:cNvSpPr/>
          <p:nvPr/>
        </p:nvSpPr>
        <p:spPr>
          <a:xfrm>
            <a:off x="2554514" y="1"/>
            <a:ext cx="5255702" cy="1335004"/>
          </a:xfrm>
          <a:custGeom>
            <a:avLst/>
            <a:gdLst/>
            <a:ahLst/>
            <a:cxnLst/>
            <a:rect l="l" t="t" r="r" b="b"/>
            <a:pathLst>
              <a:path w="2048" h="517" extrusionOk="0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B71B1C"/>
              </a:gs>
              <a:gs pos="10000">
                <a:srgbClr val="B71B1C"/>
              </a:gs>
              <a:gs pos="100000">
                <a:srgbClr val="ED524F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03" name="Google Shape;303;p61"/>
          <p:cNvSpPr/>
          <p:nvPr/>
        </p:nvSpPr>
        <p:spPr>
          <a:xfrm>
            <a:off x="0" y="5905331"/>
            <a:ext cx="1901425" cy="952668"/>
          </a:xfrm>
          <a:custGeom>
            <a:avLst/>
            <a:gdLst/>
            <a:ahLst/>
            <a:cxnLst/>
            <a:rect l="l" t="t" r="r" b="b"/>
            <a:pathLst>
              <a:path w="2048" h="1024" extrusionOk="0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B71B1C"/>
              </a:gs>
              <a:gs pos="10000">
                <a:srgbClr val="B71B1C"/>
              </a:gs>
              <a:gs pos="100000">
                <a:srgbClr val="ED524F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304" name="Google Shape;304;p6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08334" y="4602222"/>
            <a:ext cx="3383666" cy="2255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6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40861" y="2096941"/>
            <a:ext cx="2813885" cy="21192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6" name="Google Shape;306;p61"/>
          <p:cNvCxnSpPr/>
          <p:nvPr/>
        </p:nvCxnSpPr>
        <p:spPr>
          <a:xfrm>
            <a:off x="1926694" y="6124097"/>
            <a:ext cx="4356000" cy="0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07" name="Google Shape;307;p61"/>
          <p:cNvSpPr txBox="1"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6600"/>
              <a:buFont typeface="Roboto Condensed"/>
              <a:buNone/>
              <a:defRPr sz="6600" b="1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08" name="Google Shape;308;p6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98063" y="6232297"/>
            <a:ext cx="18288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6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998063" y="650532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61"/>
          <p:cNvSpPr txBox="1">
            <a:spLocks noGrp="1"/>
          </p:cNvSpPr>
          <p:nvPr>
            <p:ph type="body" idx="1"/>
          </p:nvPr>
        </p:nvSpPr>
        <p:spPr>
          <a:xfrm>
            <a:off x="2180943" y="6175935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1" name="Google Shape;311;p61"/>
          <p:cNvSpPr txBox="1">
            <a:spLocks noGrp="1"/>
          </p:cNvSpPr>
          <p:nvPr>
            <p:ph type="body" idx="2"/>
          </p:nvPr>
        </p:nvSpPr>
        <p:spPr>
          <a:xfrm>
            <a:off x="2183874" y="646021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2" name="Google Shape;312;p61"/>
          <p:cNvSpPr txBox="1">
            <a:spLocks noGrp="1"/>
          </p:cNvSpPr>
          <p:nvPr>
            <p:ph type="body" idx="3"/>
          </p:nvPr>
        </p:nvSpPr>
        <p:spPr>
          <a:xfrm>
            <a:off x="1837678" y="553776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3" name="Google Shape;313;p61"/>
          <p:cNvSpPr txBox="1">
            <a:spLocks noGrp="1"/>
          </p:cNvSpPr>
          <p:nvPr>
            <p:ph type="body" idx="4"/>
          </p:nvPr>
        </p:nvSpPr>
        <p:spPr>
          <a:xfrm>
            <a:off x="1837677" y="5273332"/>
            <a:ext cx="5581039" cy="290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71B1C"/>
              </a:buClr>
              <a:buSzPts val="1800"/>
              <a:buNone/>
              <a:defRPr sz="1800" b="1">
                <a:solidFill>
                  <a:srgbClr val="B71B1C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314" name="Google Shape;314;p6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295842" y="307556"/>
            <a:ext cx="3573889" cy="821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61"/>
          <p:cNvPicPr preferRelativeResize="0"/>
          <p:nvPr/>
        </p:nvPicPr>
        <p:blipFill rotWithShape="1">
          <a:blip r:embed="rId8">
            <a:alphaModFix/>
          </a:blip>
          <a:srcRect l="62022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61"/>
          <p:cNvSpPr txBox="1">
            <a:spLocks noGrp="1"/>
          </p:cNvSpPr>
          <p:nvPr>
            <p:ph type="body" idx="5"/>
          </p:nvPr>
        </p:nvSpPr>
        <p:spPr>
          <a:xfrm>
            <a:off x="2581756" y="20384"/>
            <a:ext cx="4646358" cy="734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317" name="Google Shape;317;p61"/>
          <p:cNvPicPr preferRelativeResize="0"/>
          <p:nvPr/>
        </p:nvPicPr>
        <p:blipFill rotWithShape="1">
          <a:blip r:embed="rId9">
            <a:alphaModFix/>
          </a:blip>
          <a:srcRect l="24746" t="7575" r="25760" b="18186"/>
          <a:stretch/>
        </p:blipFill>
        <p:spPr>
          <a:xfrm>
            <a:off x="356499" y="5214354"/>
            <a:ext cx="1354234" cy="1354234"/>
          </a:xfrm>
          <a:custGeom>
            <a:avLst/>
            <a:gdLst/>
            <a:ahLst/>
            <a:cxnLst/>
            <a:rect l="l" t="t" r="r" b="b"/>
            <a:pathLst>
              <a:path w="4572000" h="4572000" extrusionOk="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9525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18" name="Google Shape;318;p61" descr="User icon Royalty Free Vector Image - VectorStock"/>
          <p:cNvPicPr preferRelativeResize="0"/>
          <p:nvPr/>
        </p:nvPicPr>
        <p:blipFill rotWithShape="1">
          <a:blip r:embed="rId10">
            <a:alphaModFix/>
          </a:blip>
          <a:srcRect l="26030" t="21389" r="26030" b="34222"/>
          <a:stretch/>
        </p:blipFill>
        <p:spPr>
          <a:xfrm>
            <a:off x="353568" y="5211250"/>
            <a:ext cx="1353600" cy="1353600"/>
          </a:xfrm>
          <a:custGeom>
            <a:avLst/>
            <a:gdLst/>
            <a:ahLst/>
            <a:cxnLst/>
            <a:rect l="l" t="t" r="r" b="b"/>
            <a:pathLst>
              <a:path w="3044190" h="3044190" extrusionOk="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19" name="Google Shape;319;p61"/>
          <p:cNvSpPr>
            <a:spLocks noGrp="1"/>
          </p:cNvSpPr>
          <p:nvPr>
            <p:ph type="pic" idx="6"/>
          </p:nvPr>
        </p:nvSpPr>
        <p:spPr>
          <a:xfrm>
            <a:off x="353569" y="5211251"/>
            <a:ext cx="1353599" cy="1353599"/>
          </a:xfrm>
          <a:prstGeom prst="rect">
            <a:avLst/>
          </a:prstGeom>
          <a:noFill/>
          <a:ln w="9525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- Pink">
  <p:cSld name="Title Slide - Pink"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1" name="Google Shape;321;p62"/>
          <p:cNvPicPr preferRelativeResize="0"/>
          <p:nvPr/>
        </p:nvPicPr>
        <p:blipFill rotWithShape="1">
          <a:blip r:embed="rId2">
            <a:alphaModFix/>
          </a:blip>
          <a:srcRect t="18750" b="24999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62"/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Darshan Institute of Engineering &amp; Technology, Rajkot</a:t>
            </a:r>
            <a:endParaRPr/>
          </a:p>
        </p:txBody>
      </p:sp>
      <p:sp>
        <p:nvSpPr>
          <p:cNvPr id="323" name="Google Shape;323;p62"/>
          <p:cNvSpPr/>
          <p:nvPr/>
        </p:nvSpPr>
        <p:spPr>
          <a:xfrm>
            <a:off x="2554514" y="1"/>
            <a:ext cx="5255702" cy="1335004"/>
          </a:xfrm>
          <a:custGeom>
            <a:avLst/>
            <a:gdLst/>
            <a:ahLst/>
            <a:cxnLst/>
            <a:rect l="l" t="t" r="r" b="b"/>
            <a:pathLst>
              <a:path w="2048" h="517" extrusionOk="0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890E4F"/>
              </a:gs>
              <a:gs pos="10000">
                <a:srgbClr val="890E4F"/>
              </a:gs>
              <a:gs pos="100000">
                <a:srgbClr val="D81A60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24" name="Google Shape;324;p62"/>
          <p:cNvSpPr/>
          <p:nvPr/>
        </p:nvSpPr>
        <p:spPr>
          <a:xfrm>
            <a:off x="0" y="5905331"/>
            <a:ext cx="1901425" cy="952668"/>
          </a:xfrm>
          <a:custGeom>
            <a:avLst/>
            <a:gdLst/>
            <a:ahLst/>
            <a:cxnLst/>
            <a:rect l="l" t="t" r="r" b="b"/>
            <a:pathLst>
              <a:path w="2048" h="1024" extrusionOk="0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890E4F"/>
              </a:gs>
              <a:gs pos="10000">
                <a:srgbClr val="890E4F"/>
              </a:gs>
              <a:gs pos="100000">
                <a:srgbClr val="D81A60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325" name="Google Shape;325;p6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08334" y="4602222"/>
            <a:ext cx="3383666" cy="2255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6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40861" y="2096941"/>
            <a:ext cx="2813885" cy="21192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7" name="Google Shape;327;p62"/>
          <p:cNvCxnSpPr/>
          <p:nvPr/>
        </p:nvCxnSpPr>
        <p:spPr>
          <a:xfrm>
            <a:off x="1926694" y="6124097"/>
            <a:ext cx="4356000" cy="0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28" name="Google Shape;328;p62"/>
          <p:cNvSpPr txBox="1"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6600"/>
              <a:buFont typeface="Roboto Condensed"/>
              <a:buNone/>
              <a:defRPr sz="6600" b="1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29" name="Google Shape;329;p6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98063" y="6232297"/>
            <a:ext cx="18288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6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998063" y="650532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62"/>
          <p:cNvSpPr txBox="1">
            <a:spLocks noGrp="1"/>
          </p:cNvSpPr>
          <p:nvPr>
            <p:ph type="body" idx="1"/>
          </p:nvPr>
        </p:nvSpPr>
        <p:spPr>
          <a:xfrm>
            <a:off x="2180943" y="6175935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2" name="Google Shape;332;p62"/>
          <p:cNvSpPr txBox="1">
            <a:spLocks noGrp="1"/>
          </p:cNvSpPr>
          <p:nvPr>
            <p:ph type="body" idx="2"/>
          </p:nvPr>
        </p:nvSpPr>
        <p:spPr>
          <a:xfrm>
            <a:off x="2183874" y="646021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3" name="Google Shape;333;p62"/>
          <p:cNvSpPr txBox="1">
            <a:spLocks noGrp="1"/>
          </p:cNvSpPr>
          <p:nvPr>
            <p:ph type="body" idx="3"/>
          </p:nvPr>
        </p:nvSpPr>
        <p:spPr>
          <a:xfrm>
            <a:off x="1837678" y="553776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4" name="Google Shape;334;p62"/>
          <p:cNvSpPr txBox="1">
            <a:spLocks noGrp="1"/>
          </p:cNvSpPr>
          <p:nvPr>
            <p:ph type="body" idx="4"/>
          </p:nvPr>
        </p:nvSpPr>
        <p:spPr>
          <a:xfrm>
            <a:off x="1837677" y="5273332"/>
            <a:ext cx="5581039" cy="290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90E4F"/>
              </a:buClr>
              <a:buSzPts val="1800"/>
              <a:buNone/>
              <a:defRPr sz="1800" b="1">
                <a:solidFill>
                  <a:srgbClr val="890E4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335" name="Google Shape;335;p6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295842" y="307556"/>
            <a:ext cx="3573889" cy="821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62"/>
          <p:cNvPicPr preferRelativeResize="0"/>
          <p:nvPr/>
        </p:nvPicPr>
        <p:blipFill rotWithShape="1">
          <a:blip r:embed="rId8">
            <a:alphaModFix/>
          </a:blip>
          <a:srcRect l="62022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62"/>
          <p:cNvSpPr txBox="1">
            <a:spLocks noGrp="1"/>
          </p:cNvSpPr>
          <p:nvPr>
            <p:ph type="body" idx="5"/>
          </p:nvPr>
        </p:nvSpPr>
        <p:spPr>
          <a:xfrm>
            <a:off x="2581756" y="20384"/>
            <a:ext cx="4646358" cy="734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338" name="Google Shape;338;p62" descr="User icon Royalty Free Vector Image - VectorStock"/>
          <p:cNvPicPr preferRelativeResize="0"/>
          <p:nvPr/>
        </p:nvPicPr>
        <p:blipFill rotWithShape="1">
          <a:blip r:embed="rId9">
            <a:alphaModFix/>
          </a:blip>
          <a:srcRect l="26030" t="21389" r="26030" b="34222"/>
          <a:stretch/>
        </p:blipFill>
        <p:spPr>
          <a:xfrm>
            <a:off x="353568" y="5211250"/>
            <a:ext cx="1353600" cy="1353600"/>
          </a:xfrm>
          <a:custGeom>
            <a:avLst/>
            <a:gdLst/>
            <a:ahLst/>
            <a:cxnLst/>
            <a:rect l="l" t="t" r="r" b="b"/>
            <a:pathLst>
              <a:path w="3044190" h="3044190" extrusionOk="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39" name="Google Shape;339;p62"/>
          <p:cNvSpPr>
            <a:spLocks noGrp="1"/>
          </p:cNvSpPr>
          <p:nvPr>
            <p:ph type="pic" idx="6"/>
          </p:nvPr>
        </p:nvSpPr>
        <p:spPr>
          <a:xfrm>
            <a:off x="353569" y="5211251"/>
            <a:ext cx="1353599" cy="1353599"/>
          </a:xfrm>
          <a:prstGeom prst="rect">
            <a:avLst/>
          </a:prstGeom>
          <a:noFill/>
          <a:ln w="9525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boto Condensed"/>
              <a:buNone/>
              <a:defRPr sz="44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3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4" name="Google Shape;344;p2"/>
          <p:cNvCxnSpPr>
            <a:endCxn id="345" idx="0"/>
          </p:cNvCxnSpPr>
          <p:nvPr/>
        </p:nvCxnSpPr>
        <p:spPr>
          <a:xfrm>
            <a:off x="1191446" y="106"/>
            <a:ext cx="0" cy="682800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46" name="Google Shape;346;p2"/>
          <p:cNvCxnSpPr/>
          <p:nvPr/>
        </p:nvCxnSpPr>
        <p:spPr>
          <a:xfrm>
            <a:off x="1191446" y="5063613"/>
            <a:ext cx="0" cy="1794387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45" name="Google Shape;345;p2"/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solidFill>
            <a:schemeClr val="accent3"/>
          </a:solidFill>
          <a:ln w="12700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✓</a:t>
            </a:r>
            <a:endParaRPr sz="2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47" name="Google Shape;347;p2"/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Looping</a:t>
            </a:r>
            <a:endParaRPr/>
          </a:p>
        </p:txBody>
      </p:sp>
      <p:cxnSp>
        <p:nvCxnSpPr>
          <p:cNvPr id="348" name="Google Shape;348;p2"/>
          <p:cNvCxnSpPr/>
          <p:nvPr/>
        </p:nvCxnSpPr>
        <p:spPr>
          <a:xfrm>
            <a:off x="1191446" y="1157468"/>
            <a:ext cx="0" cy="3979075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49" name="Google Shape;349;p2"/>
          <p:cNvSpPr txBox="1"/>
          <p:nvPr/>
        </p:nvSpPr>
        <p:spPr>
          <a:xfrm>
            <a:off x="1458962" y="731706"/>
            <a:ext cx="6126480" cy="3383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Outline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7F7F7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Introduction of DBMS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7F7F7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Applications of DBMS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7F7F7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Advantages of DBMS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7F7F7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Three levels ANSI SPARC database system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7F7F7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Data Abstraction in DBMS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7F7F7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Mappings and data independence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7F7F7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Database users and DBA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7F7F7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Database system architecture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4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4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3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3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1"/>
                            </p:stCondLst>
                            <p:childTnLst>
                              <p:par>
                                <p:cTn id="4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501"/>
                            </p:stCondLst>
                            <p:childTnLst>
                              <p:par>
                                <p:cTn id="5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C2321"/>
              </a:buClr>
              <a:buSzPts val="6000"/>
              <a:buFont typeface="Roboto Condensed"/>
              <a:buNone/>
            </a:pPr>
            <a:r>
              <a:rPr lang="en-US">
                <a:solidFill>
                  <a:srgbClr val="5C2321"/>
                </a:solidFill>
              </a:rPr>
              <a:t>Introduction to DBMS </a:t>
            </a:r>
            <a:endParaRPr>
              <a:solidFill>
                <a:srgbClr val="5C2321"/>
              </a:solidFill>
            </a:endParaRPr>
          </a:p>
        </p:txBody>
      </p:sp>
      <p:sp>
        <p:nvSpPr>
          <p:cNvPr id="355" name="Google Shape;355;p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Section - 1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What is Database Management System (DBMS)?</a:t>
            </a:r>
            <a:endParaRPr/>
          </a:p>
        </p:txBody>
      </p:sp>
      <p:sp>
        <p:nvSpPr>
          <p:cNvPr id="361" name="Google Shape;361;p4"/>
          <p:cNvSpPr txBox="1">
            <a:spLocks noGrp="1"/>
          </p:cNvSpPr>
          <p:nvPr>
            <p:ph type="body" idx="1"/>
          </p:nvPr>
        </p:nvSpPr>
        <p:spPr>
          <a:xfrm>
            <a:off x="144389" y="863450"/>
            <a:ext cx="11929500" cy="57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65113" lvl="0" indent="-265113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Data - </a:t>
            </a:r>
            <a:r>
              <a:rPr lang="en-US" b="1">
                <a:solidFill>
                  <a:schemeClr val="accent6"/>
                </a:solidFill>
              </a:rPr>
              <a:t>Fact</a:t>
            </a:r>
            <a:r>
              <a:rPr lang="en-US"/>
              <a:t> that can be recorded or stored</a:t>
            </a:r>
            <a:endParaRPr/>
          </a:p>
          <a:p>
            <a:pPr marL="809625" lvl="1" indent="-352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e.g. Person Name, Age, Gender and Weight etc.</a:t>
            </a:r>
            <a:endParaRPr/>
          </a:p>
          <a:p>
            <a:pPr marL="265113" lvl="0" indent="-2651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Database - Collection of </a:t>
            </a:r>
            <a:r>
              <a:rPr lang="en-US" b="1">
                <a:solidFill>
                  <a:schemeClr val="accent6"/>
                </a:solidFill>
              </a:rPr>
              <a:t>logically related data</a:t>
            </a:r>
            <a:endParaRPr/>
          </a:p>
          <a:p>
            <a:pPr marL="809625" lvl="1" indent="-352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e.g. Books Database in Library, Student Database in University etc.</a:t>
            </a:r>
            <a:endParaRPr/>
          </a:p>
          <a:p>
            <a:pPr marL="265113" lvl="0" indent="-2651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Management - Manipulation, Searching and Security of data</a:t>
            </a:r>
            <a:endParaRPr/>
          </a:p>
          <a:p>
            <a:pPr marL="809625" lvl="1" indent="-352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e.g. Viewing result in GTU website, Searching exam papers in GTU website etc.</a:t>
            </a:r>
            <a:endParaRPr/>
          </a:p>
          <a:p>
            <a:pPr marL="265113" lvl="0" indent="-2651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System - </a:t>
            </a:r>
            <a:r>
              <a:rPr lang="en-US" b="1">
                <a:solidFill>
                  <a:schemeClr val="accent6"/>
                </a:solidFill>
              </a:rPr>
              <a:t>Programs</a:t>
            </a:r>
            <a:r>
              <a:rPr lang="en-US"/>
              <a:t> or </a:t>
            </a:r>
            <a:r>
              <a:rPr lang="en-US" b="1">
                <a:solidFill>
                  <a:schemeClr val="accent6"/>
                </a:solidFill>
              </a:rPr>
              <a:t>tools</a:t>
            </a:r>
            <a:r>
              <a:rPr lang="en-US"/>
              <a:t> used to manage database</a:t>
            </a:r>
            <a:endParaRPr/>
          </a:p>
          <a:p>
            <a:pPr marL="809625" lvl="1" indent="-352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e.g. SQL Server Studio Express, Oracle etc.</a:t>
            </a:r>
            <a:endParaRPr/>
          </a:p>
          <a:p>
            <a:pPr marL="265113" lvl="0" indent="-2651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DBMS - A Database Management System is a software for creating and managing databases. </a:t>
            </a:r>
            <a:endParaRPr/>
          </a:p>
          <a:p>
            <a:pPr marL="265113" lvl="0" indent="-2651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Database Management System (DBMS) is a </a:t>
            </a:r>
            <a:r>
              <a:rPr lang="en-US" b="1">
                <a:solidFill>
                  <a:schemeClr val="accent6"/>
                </a:solidFill>
              </a:rPr>
              <a:t>software designed to define, manipulate, retrieve and manage data in a database</a:t>
            </a:r>
            <a:r>
              <a:rPr lang="en-US"/>
              <a:t>.</a:t>
            </a:r>
            <a:endParaRPr/>
          </a:p>
          <a:p>
            <a:pPr marL="809625" lvl="1" indent="-352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e.g. MS SQL Server, Oracle, My SQL, SQLite, MongoDB etc.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6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6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6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6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C2321"/>
              </a:buClr>
              <a:buSzPts val="6000"/>
              <a:buFont typeface="Roboto Condensed"/>
              <a:buNone/>
            </a:pPr>
            <a:r>
              <a:rPr lang="en-US">
                <a:solidFill>
                  <a:srgbClr val="5C2321"/>
                </a:solidFill>
              </a:rPr>
              <a:t>Applications of DBMS </a:t>
            </a:r>
            <a:endParaRPr>
              <a:solidFill>
                <a:srgbClr val="5C2321"/>
              </a:solidFill>
            </a:endParaRPr>
          </a:p>
        </p:txBody>
      </p:sp>
      <p:sp>
        <p:nvSpPr>
          <p:cNvPr id="367" name="Google Shape;367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Section - 2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6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Applications of DBMS</a:t>
            </a:r>
            <a:endParaRPr/>
          </a:p>
        </p:txBody>
      </p:sp>
      <p:sp>
        <p:nvSpPr>
          <p:cNvPr id="373" name="Google Shape;373;p6"/>
          <p:cNvSpPr txBox="1">
            <a:spLocks noGrp="1"/>
          </p:cNvSpPr>
          <p:nvPr>
            <p:ph type="body" idx="1"/>
          </p:nvPr>
        </p:nvSpPr>
        <p:spPr>
          <a:xfrm>
            <a:off x="144389" y="863450"/>
            <a:ext cx="11929500" cy="57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65113" lvl="0" indent="-265113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DBMS is a computerized record-keeping system.</a:t>
            </a:r>
            <a:endParaRPr/>
          </a:p>
          <a:p>
            <a:pPr marL="265113" lvl="0" indent="-2651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DBMS is required where ever data need to be stored.</a:t>
            </a:r>
            <a:endParaRPr/>
          </a:p>
          <a:p>
            <a:pPr marL="809625" lvl="1" indent="-352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E-Commerce (</a:t>
            </a:r>
            <a:r>
              <a:rPr lang="en-US" b="1">
                <a:solidFill>
                  <a:schemeClr val="dk2"/>
                </a:solidFill>
              </a:rPr>
              <a:t>Flikart, Amazon, Shopclues, eBay</a:t>
            </a:r>
            <a:r>
              <a:rPr lang="en-US"/>
              <a:t> etc...)</a:t>
            </a:r>
            <a:endParaRPr/>
          </a:p>
          <a:p>
            <a:pPr marL="809625" lvl="1" indent="-352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Online Television Streaming (</a:t>
            </a:r>
            <a:r>
              <a:rPr lang="en-US" b="1">
                <a:solidFill>
                  <a:schemeClr val="dk2"/>
                </a:solidFill>
              </a:rPr>
              <a:t>Hotstar, Amazon Prime </a:t>
            </a:r>
            <a:r>
              <a:rPr lang="en-US"/>
              <a:t>etc...)</a:t>
            </a:r>
            <a:endParaRPr/>
          </a:p>
          <a:p>
            <a:pPr marL="809625" lvl="1" indent="-352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Social Media (</a:t>
            </a:r>
            <a:r>
              <a:rPr lang="en-US" b="1">
                <a:solidFill>
                  <a:schemeClr val="dk2"/>
                </a:solidFill>
              </a:rPr>
              <a:t>WhatsApp, Facebook, Twitter, LinkedIn </a:t>
            </a:r>
            <a:r>
              <a:rPr lang="en-US"/>
              <a:t>etc...)</a:t>
            </a:r>
            <a:endParaRPr/>
          </a:p>
          <a:p>
            <a:pPr marL="809625" lvl="1" indent="-352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Banking &amp; Insurance</a:t>
            </a:r>
            <a:endParaRPr/>
          </a:p>
          <a:p>
            <a:pPr marL="809625" lvl="1" indent="-352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Airline &amp; Railway</a:t>
            </a:r>
            <a:endParaRPr/>
          </a:p>
          <a:p>
            <a:pPr marL="809625" lvl="1" indent="-352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Universities and Colleges/Schools</a:t>
            </a:r>
            <a:endParaRPr/>
          </a:p>
          <a:p>
            <a:pPr marL="809625" lvl="1" indent="-352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Library Management System</a:t>
            </a:r>
            <a:endParaRPr/>
          </a:p>
          <a:p>
            <a:pPr marL="809625" lvl="1" indent="-352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Human Resource Department</a:t>
            </a:r>
            <a:endParaRPr/>
          </a:p>
          <a:p>
            <a:pPr marL="809625" lvl="1" indent="-352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Hospitals and Medical Stores	</a:t>
            </a:r>
            <a:endParaRPr/>
          </a:p>
          <a:p>
            <a:pPr marL="809625" lvl="1" indent="-352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Government Organizations</a:t>
            </a:r>
            <a:endParaRPr/>
          </a:p>
          <a:p>
            <a:pPr marL="265113" lvl="0" indent="-1127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endParaRPr/>
          </a:p>
        </p:txBody>
      </p:sp>
      <p:cxnSp>
        <p:nvCxnSpPr>
          <p:cNvPr id="374" name="Google Shape;374;p6"/>
          <p:cNvCxnSpPr/>
          <p:nvPr/>
        </p:nvCxnSpPr>
        <p:spPr>
          <a:xfrm>
            <a:off x="688878" y="5893494"/>
            <a:ext cx="7132320" cy="7823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graphicFrame>
        <p:nvGraphicFramePr>
          <p:cNvPr id="375" name="Google Shape;375;p6"/>
          <p:cNvGraphicFramePr/>
          <p:nvPr/>
        </p:nvGraphicFramePr>
        <p:xfrm>
          <a:off x="688878" y="5505509"/>
          <a:ext cx="1100450" cy="396250"/>
        </p:xfrm>
        <a:graphic>
          <a:graphicData uri="http://schemas.openxmlformats.org/drawingml/2006/table">
            <a:tbl>
              <a:tblPr firstRow="1" bandRow="1">
                <a:noFill/>
                <a:tableStyleId>{0D71C580-254A-4B48-869B-2F15487CFC39}</a:tableStyleId>
              </a:tblPr>
              <a:tblGrid>
                <a:gridCol w="1100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solidFill>
                            <a:schemeClr val="lt1"/>
                          </a:solidFill>
                        </a:rPr>
                        <a:t>Exercise</a:t>
                      </a:r>
                      <a:endParaRPr sz="2000" b="1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76" name="Google Shape;376;p6"/>
          <p:cNvGraphicFramePr/>
          <p:nvPr/>
        </p:nvGraphicFramePr>
        <p:xfrm>
          <a:off x="1787807" y="5496621"/>
          <a:ext cx="6224900" cy="396250"/>
        </p:xfrm>
        <a:graphic>
          <a:graphicData uri="http://schemas.openxmlformats.org/drawingml/2006/table">
            <a:tbl>
              <a:tblPr firstRow="1" bandRow="1">
                <a:noFill/>
                <a:tableStyleId>{0D71C580-254A-4B48-869B-2F15487CFC39}</a:tableStyleId>
              </a:tblPr>
              <a:tblGrid>
                <a:gridCol w="622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u="none" strike="noStrike" cap="none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Write down any five applications of DBMS other than above.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7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7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7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7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7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7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7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C2321"/>
              </a:buClr>
              <a:buSzPts val="6000"/>
              <a:buFont typeface="Roboto Condensed"/>
              <a:buNone/>
            </a:pPr>
            <a:r>
              <a:rPr lang="en-US">
                <a:solidFill>
                  <a:srgbClr val="5C2321"/>
                </a:solidFill>
              </a:rPr>
              <a:t>Advantages of DBMS </a:t>
            </a:r>
            <a:endParaRPr>
              <a:solidFill>
                <a:srgbClr val="5C2321"/>
              </a:solidFill>
            </a:endParaRPr>
          </a:p>
        </p:txBody>
      </p:sp>
      <p:sp>
        <p:nvSpPr>
          <p:cNvPr id="382" name="Google Shape;382;p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Section - 3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8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Reduce data redundancy (duplication)</a:t>
            </a:r>
            <a:endParaRPr/>
          </a:p>
        </p:txBody>
      </p:sp>
      <p:sp>
        <p:nvSpPr>
          <p:cNvPr id="388" name="Google Shape;388;p8"/>
          <p:cNvSpPr txBox="1">
            <a:spLocks noGrp="1"/>
          </p:cNvSpPr>
          <p:nvPr>
            <p:ph type="body" idx="1"/>
          </p:nvPr>
        </p:nvSpPr>
        <p:spPr>
          <a:xfrm>
            <a:off x="144389" y="863450"/>
            <a:ext cx="11929500" cy="57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/>
          </a:p>
        </p:txBody>
      </p:sp>
      <p:sp>
        <p:nvSpPr>
          <p:cNvPr id="389" name="Google Shape;389;p8"/>
          <p:cNvSpPr/>
          <p:nvPr/>
        </p:nvSpPr>
        <p:spPr>
          <a:xfrm>
            <a:off x="7493731" y="1430135"/>
            <a:ext cx="1800000" cy="4320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5C2321"/>
              </a:gs>
              <a:gs pos="10000">
                <a:srgbClr val="5C2321"/>
              </a:gs>
              <a:gs pos="100000">
                <a:schemeClr val="accent6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Civil</a:t>
            </a:r>
            <a:endParaRPr/>
          </a:p>
        </p:txBody>
      </p:sp>
      <p:sp>
        <p:nvSpPr>
          <p:cNvPr id="390" name="Google Shape;390;p8"/>
          <p:cNvSpPr/>
          <p:nvPr/>
        </p:nvSpPr>
        <p:spPr>
          <a:xfrm>
            <a:off x="2254981" y="5535584"/>
            <a:ext cx="1800000" cy="4320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5C2321"/>
              </a:gs>
              <a:gs pos="10000">
                <a:srgbClr val="5C2321"/>
              </a:gs>
              <a:gs pos="100000">
                <a:schemeClr val="accent6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Electrical</a:t>
            </a:r>
            <a:endParaRPr/>
          </a:p>
        </p:txBody>
      </p:sp>
      <p:sp>
        <p:nvSpPr>
          <p:cNvPr id="391" name="Google Shape;391;p8"/>
          <p:cNvSpPr/>
          <p:nvPr/>
        </p:nvSpPr>
        <p:spPr>
          <a:xfrm>
            <a:off x="7493731" y="5535584"/>
            <a:ext cx="1800000" cy="432000"/>
          </a:xfrm>
          <a:prstGeom prst="roundRect">
            <a:avLst>
              <a:gd name="adj" fmla="val 11813"/>
            </a:avLst>
          </a:prstGeom>
          <a:gradFill>
            <a:gsLst>
              <a:gs pos="0">
                <a:srgbClr val="5C2321"/>
              </a:gs>
              <a:gs pos="10000">
                <a:srgbClr val="5C2321"/>
              </a:gs>
              <a:gs pos="100000">
                <a:schemeClr val="accent6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Mechanical</a:t>
            </a:r>
            <a:endParaRPr/>
          </a:p>
        </p:txBody>
      </p:sp>
      <p:sp>
        <p:nvSpPr>
          <p:cNvPr id="392" name="Google Shape;392;p8"/>
          <p:cNvSpPr/>
          <p:nvPr/>
        </p:nvSpPr>
        <p:spPr>
          <a:xfrm>
            <a:off x="6879502" y="3247246"/>
            <a:ext cx="3028458" cy="822960"/>
          </a:xfrm>
          <a:prstGeom prst="roundRect">
            <a:avLst>
              <a:gd name="adj" fmla="val 6865"/>
            </a:avLst>
          </a:prstGeom>
          <a:solidFill>
            <a:srgbClr val="F0D9D8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Same data is stored at 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four different places.</a:t>
            </a:r>
            <a:endParaRPr/>
          </a:p>
        </p:txBody>
      </p:sp>
      <p:sp>
        <p:nvSpPr>
          <p:cNvPr id="393" name="Google Shape;393;p8"/>
          <p:cNvSpPr/>
          <p:nvPr/>
        </p:nvSpPr>
        <p:spPr>
          <a:xfrm>
            <a:off x="1279935" y="3002643"/>
            <a:ext cx="3750093" cy="1384948"/>
          </a:xfrm>
          <a:prstGeom prst="roundRect">
            <a:avLst>
              <a:gd name="adj" fmla="val 5501"/>
            </a:avLst>
          </a:prstGeom>
          <a:solidFill>
            <a:srgbClr val="F0D9D8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Database management system can remove such data redundancy by storing data centrally.</a:t>
            </a:r>
            <a:endParaRPr/>
          </a:p>
        </p:txBody>
      </p:sp>
      <p:pic>
        <p:nvPicPr>
          <p:cNvPr id="394" name="Google Shape;394;p8" descr="Image result for teacher icon"/>
          <p:cNvPicPr preferRelativeResize="0"/>
          <p:nvPr/>
        </p:nvPicPr>
        <p:blipFill rotWithShape="1">
          <a:blip r:embed="rId3">
            <a:alphaModFix/>
          </a:blip>
          <a:srcRect l="6852" r="6430"/>
          <a:stretch/>
        </p:blipFill>
        <p:spPr>
          <a:xfrm>
            <a:off x="5265336" y="2998900"/>
            <a:ext cx="1378858" cy="1392434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8"/>
          <p:cNvSpPr/>
          <p:nvPr/>
        </p:nvSpPr>
        <p:spPr>
          <a:xfrm>
            <a:off x="2254981" y="1430135"/>
            <a:ext cx="1800000" cy="4320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5C2321"/>
              </a:gs>
              <a:gs pos="10000">
                <a:srgbClr val="5C2321"/>
              </a:gs>
              <a:gs pos="100000">
                <a:schemeClr val="accent6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Computer</a:t>
            </a:r>
            <a:endParaRPr/>
          </a:p>
        </p:txBody>
      </p:sp>
      <p:graphicFrame>
        <p:nvGraphicFramePr>
          <p:cNvPr id="396" name="Google Shape;396;p8"/>
          <p:cNvGraphicFramePr/>
          <p:nvPr/>
        </p:nvGraphicFramePr>
        <p:xfrm>
          <a:off x="889777" y="2032462"/>
          <a:ext cx="4530425" cy="411475"/>
        </p:xfrm>
        <a:graphic>
          <a:graphicData uri="http://schemas.openxmlformats.org/drawingml/2006/table">
            <a:tbl>
              <a:tblPr firstRow="1" bandRow="1">
                <a:noFill/>
                <a:tableStyleId>{0D71C580-254A-4B48-869B-2F15487CFC39}</a:tableStyleId>
              </a:tblPr>
              <a:tblGrid>
                <a:gridCol w="169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dk1"/>
                          </a:solidFill>
                        </a:rPr>
                        <a:t>Emp_Name</a:t>
                      </a:r>
                      <a:endParaRPr sz="18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Address</a:t>
                      </a:r>
                      <a:endParaRPr sz="1800" b="1" u="none" strike="noStrike" cap="none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Mobile</a:t>
                      </a:r>
                      <a:endParaRPr sz="1800" b="1" u="none" strike="noStrike" cap="none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Subject</a:t>
                      </a:r>
                      <a:endParaRPr sz="1800" b="1" u="none" strike="noStrike" cap="none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97" name="Google Shape;397;p8"/>
          <p:cNvGraphicFramePr/>
          <p:nvPr/>
        </p:nvGraphicFramePr>
        <p:xfrm>
          <a:off x="889777" y="2442901"/>
          <a:ext cx="4530425" cy="411475"/>
        </p:xfrm>
        <a:graphic>
          <a:graphicData uri="http://schemas.openxmlformats.org/drawingml/2006/table">
            <a:tbl>
              <a:tblPr firstRow="1" bandRow="1">
                <a:noFill/>
                <a:tableStyleId>{0D71C580-254A-4B48-869B-2F15487CFC39}</a:tableStyleId>
              </a:tblPr>
              <a:tblGrid>
                <a:gridCol w="169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 u="none" strike="noStrike" cap="none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Prof. Ajay Shah</a:t>
                      </a:r>
                      <a:endParaRPr sz="1900" b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Rajkot</a:t>
                      </a:r>
                      <a:endParaRPr sz="1900" b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1234</a:t>
                      </a:r>
                      <a:endParaRPr sz="1900" b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PPS</a:t>
                      </a:r>
                      <a:endParaRPr sz="1900" b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98" name="Google Shape;398;p8"/>
          <p:cNvGraphicFramePr/>
          <p:nvPr/>
        </p:nvGraphicFramePr>
        <p:xfrm>
          <a:off x="6128527" y="2032462"/>
          <a:ext cx="4530425" cy="411475"/>
        </p:xfrm>
        <a:graphic>
          <a:graphicData uri="http://schemas.openxmlformats.org/drawingml/2006/table">
            <a:tbl>
              <a:tblPr firstRow="1" bandRow="1">
                <a:noFill/>
                <a:tableStyleId>{0D71C580-254A-4B48-869B-2F15487CFC39}</a:tableStyleId>
              </a:tblPr>
              <a:tblGrid>
                <a:gridCol w="169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</a:rPr>
                        <a:t>Emp_Name</a:t>
                      </a:r>
                      <a:endParaRPr sz="1800" b="1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Address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Mobile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Subject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99" name="Google Shape;399;p8"/>
          <p:cNvGraphicFramePr/>
          <p:nvPr/>
        </p:nvGraphicFramePr>
        <p:xfrm>
          <a:off x="6128527" y="2442901"/>
          <a:ext cx="4530425" cy="411475"/>
        </p:xfrm>
        <a:graphic>
          <a:graphicData uri="http://schemas.openxmlformats.org/drawingml/2006/table">
            <a:tbl>
              <a:tblPr firstRow="1" bandRow="1">
                <a:noFill/>
                <a:tableStyleId>{0D71C580-254A-4B48-869B-2F15487CFC39}</a:tableStyleId>
              </a:tblPr>
              <a:tblGrid>
                <a:gridCol w="169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Prof. Ajay Shah</a:t>
                      </a:r>
                      <a:endParaRPr sz="1900" b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Rajkot</a:t>
                      </a:r>
                      <a:endParaRPr sz="1900" b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1234</a:t>
                      </a:r>
                      <a:endParaRPr sz="1900" b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PPS</a:t>
                      </a:r>
                      <a:endParaRPr sz="1900" b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00" name="Google Shape;400;p8"/>
          <p:cNvGraphicFramePr/>
          <p:nvPr/>
        </p:nvGraphicFramePr>
        <p:xfrm>
          <a:off x="889777" y="4565205"/>
          <a:ext cx="4530425" cy="411475"/>
        </p:xfrm>
        <a:graphic>
          <a:graphicData uri="http://schemas.openxmlformats.org/drawingml/2006/table">
            <a:tbl>
              <a:tblPr firstRow="1" bandRow="1">
                <a:noFill/>
                <a:tableStyleId>{0D71C580-254A-4B48-869B-2F15487CFC39}</a:tableStyleId>
              </a:tblPr>
              <a:tblGrid>
                <a:gridCol w="169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</a:rPr>
                        <a:t>Emp_Name</a:t>
                      </a:r>
                      <a:endParaRPr sz="1800" b="1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Address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Mobile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Subject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01" name="Google Shape;401;p8"/>
          <p:cNvGraphicFramePr/>
          <p:nvPr/>
        </p:nvGraphicFramePr>
        <p:xfrm>
          <a:off x="889777" y="4975644"/>
          <a:ext cx="4530425" cy="411475"/>
        </p:xfrm>
        <a:graphic>
          <a:graphicData uri="http://schemas.openxmlformats.org/drawingml/2006/table">
            <a:tbl>
              <a:tblPr firstRow="1" bandRow="1">
                <a:noFill/>
                <a:tableStyleId>{0D71C580-254A-4B48-869B-2F15487CFC39}</a:tableStyleId>
              </a:tblPr>
              <a:tblGrid>
                <a:gridCol w="169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Prof. Ajay Shah</a:t>
                      </a:r>
                      <a:endParaRPr sz="1900" b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Rajkot</a:t>
                      </a:r>
                      <a:endParaRPr sz="1900" b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1234</a:t>
                      </a:r>
                      <a:endParaRPr sz="1900" b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PPS</a:t>
                      </a:r>
                      <a:endParaRPr sz="1900" b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02" name="Google Shape;402;p8"/>
          <p:cNvGraphicFramePr/>
          <p:nvPr/>
        </p:nvGraphicFramePr>
        <p:xfrm>
          <a:off x="6128527" y="4565205"/>
          <a:ext cx="4530425" cy="411475"/>
        </p:xfrm>
        <a:graphic>
          <a:graphicData uri="http://schemas.openxmlformats.org/drawingml/2006/table">
            <a:tbl>
              <a:tblPr firstRow="1" bandRow="1">
                <a:noFill/>
                <a:tableStyleId>{0D71C580-254A-4B48-869B-2F15487CFC39}</a:tableStyleId>
              </a:tblPr>
              <a:tblGrid>
                <a:gridCol w="169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</a:rPr>
                        <a:t>Emp_Name</a:t>
                      </a:r>
                      <a:endParaRPr sz="1800" b="1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Address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Mobile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Subject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03" name="Google Shape;403;p8"/>
          <p:cNvGraphicFramePr/>
          <p:nvPr/>
        </p:nvGraphicFramePr>
        <p:xfrm>
          <a:off x="6128527" y="4975644"/>
          <a:ext cx="4530425" cy="411475"/>
        </p:xfrm>
        <a:graphic>
          <a:graphicData uri="http://schemas.openxmlformats.org/drawingml/2006/table">
            <a:tbl>
              <a:tblPr firstRow="1" bandRow="1">
                <a:noFill/>
                <a:tableStyleId>{0D71C580-254A-4B48-869B-2F15487CFC39}</a:tableStyleId>
              </a:tblPr>
              <a:tblGrid>
                <a:gridCol w="169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Prof. Ajay Shah</a:t>
                      </a:r>
                      <a:endParaRPr sz="1900" b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Rajkot</a:t>
                      </a:r>
                      <a:endParaRPr sz="1900" b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1234</a:t>
                      </a:r>
                      <a:endParaRPr sz="1900" b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PPS</a:t>
                      </a:r>
                      <a:endParaRPr sz="1900" b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9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Remove data inconsistency</a:t>
            </a:r>
            <a:endParaRPr/>
          </a:p>
        </p:txBody>
      </p:sp>
      <p:sp>
        <p:nvSpPr>
          <p:cNvPr id="409" name="Google Shape;409;p9"/>
          <p:cNvSpPr txBox="1">
            <a:spLocks noGrp="1"/>
          </p:cNvSpPr>
          <p:nvPr>
            <p:ph type="body" idx="1"/>
          </p:nvPr>
        </p:nvSpPr>
        <p:spPr>
          <a:xfrm>
            <a:off x="144389" y="863450"/>
            <a:ext cx="11929500" cy="5740500"/>
          </a:xfrm>
          <a:prstGeom prst="rect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/>
          </a:p>
        </p:txBody>
      </p:sp>
      <p:sp>
        <p:nvSpPr>
          <p:cNvPr id="410" name="Google Shape;410;p9"/>
          <p:cNvSpPr/>
          <p:nvPr/>
        </p:nvSpPr>
        <p:spPr>
          <a:xfrm>
            <a:off x="7493731" y="1430135"/>
            <a:ext cx="1800000" cy="4320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5C2321"/>
              </a:gs>
              <a:gs pos="10000">
                <a:srgbClr val="5C2321"/>
              </a:gs>
              <a:gs pos="100000">
                <a:schemeClr val="accent6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Civil</a:t>
            </a:r>
            <a:endParaRPr/>
          </a:p>
        </p:txBody>
      </p:sp>
      <p:sp>
        <p:nvSpPr>
          <p:cNvPr id="411" name="Google Shape;411;p9"/>
          <p:cNvSpPr/>
          <p:nvPr/>
        </p:nvSpPr>
        <p:spPr>
          <a:xfrm>
            <a:off x="2254981" y="5535583"/>
            <a:ext cx="1800000" cy="4320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5C2321"/>
              </a:gs>
              <a:gs pos="10000">
                <a:srgbClr val="5C2321"/>
              </a:gs>
              <a:gs pos="100000">
                <a:schemeClr val="accent6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Electrical</a:t>
            </a:r>
            <a:endParaRPr/>
          </a:p>
        </p:txBody>
      </p:sp>
      <p:sp>
        <p:nvSpPr>
          <p:cNvPr id="412" name="Google Shape;412;p9"/>
          <p:cNvSpPr/>
          <p:nvPr/>
        </p:nvSpPr>
        <p:spPr>
          <a:xfrm>
            <a:off x="7493731" y="5535583"/>
            <a:ext cx="1800000" cy="432000"/>
          </a:xfrm>
          <a:prstGeom prst="roundRect">
            <a:avLst>
              <a:gd name="adj" fmla="val 11813"/>
            </a:avLst>
          </a:prstGeom>
          <a:gradFill>
            <a:gsLst>
              <a:gs pos="0">
                <a:srgbClr val="5C2321"/>
              </a:gs>
              <a:gs pos="10000">
                <a:srgbClr val="5C2321"/>
              </a:gs>
              <a:gs pos="100000">
                <a:schemeClr val="accent6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Mechanical</a:t>
            </a:r>
            <a:endParaRPr/>
          </a:p>
        </p:txBody>
      </p:sp>
      <p:pic>
        <p:nvPicPr>
          <p:cNvPr id="413" name="Google Shape;413;p9" descr="Image result for teacher icon"/>
          <p:cNvPicPr preferRelativeResize="0"/>
          <p:nvPr/>
        </p:nvPicPr>
        <p:blipFill rotWithShape="1">
          <a:blip r:embed="rId3">
            <a:alphaModFix/>
          </a:blip>
          <a:srcRect l="6852" r="6430"/>
          <a:stretch/>
        </p:blipFill>
        <p:spPr>
          <a:xfrm>
            <a:off x="5265336" y="2998900"/>
            <a:ext cx="1378858" cy="1392434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9"/>
          <p:cNvSpPr/>
          <p:nvPr/>
        </p:nvSpPr>
        <p:spPr>
          <a:xfrm>
            <a:off x="2254981" y="1430135"/>
            <a:ext cx="1800000" cy="4320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5C2321"/>
              </a:gs>
              <a:gs pos="10000">
                <a:srgbClr val="5C2321"/>
              </a:gs>
              <a:gs pos="100000">
                <a:schemeClr val="accent6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Computer</a:t>
            </a:r>
            <a:endParaRPr/>
          </a:p>
        </p:txBody>
      </p:sp>
      <p:graphicFrame>
        <p:nvGraphicFramePr>
          <p:cNvPr id="415" name="Google Shape;415;p9"/>
          <p:cNvGraphicFramePr/>
          <p:nvPr/>
        </p:nvGraphicFramePr>
        <p:xfrm>
          <a:off x="889777" y="2032462"/>
          <a:ext cx="4530425" cy="411475"/>
        </p:xfrm>
        <a:graphic>
          <a:graphicData uri="http://schemas.openxmlformats.org/drawingml/2006/table">
            <a:tbl>
              <a:tblPr firstRow="1" bandRow="1">
                <a:noFill/>
                <a:tableStyleId>{0D71C580-254A-4B48-869B-2F15487CFC39}</a:tableStyleId>
              </a:tblPr>
              <a:tblGrid>
                <a:gridCol w="169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</a:rPr>
                        <a:t>Emp_Name</a:t>
                      </a:r>
                      <a:endParaRPr sz="1800" b="1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Address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Mobile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Subject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16" name="Google Shape;416;p9"/>
          <p:cNvGraphicFramePr/>
          <p:nvPr/>
        </p:nvGraphicFramePr>
        <p:xfrm>
          <a:off x="889777" y="2442901"/>
          <a:ext cx="4530425" cy="411475"/>
        </p:xfrm>
        <a:graphic>
          <a:graphicData uri="http://schemas.openxmlformats.org/drawingml/2006/table">
            <a:tbl>
              <a:tblPr firstRow="1" bandRow="1">
                <a:noFill/>
                <a:tableStyleId>{0D71C580-254A-4B48-869B-2F15487CFC39}</a:tableStyleId>
              </a:tblPr>
              <a:tblGrid>
                <a:gridCol w="169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Prof. Ajay Shah</a:t>
                      </a:r>
                      <a:endParaRPr sz="1900" b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Rajkot</a:t>
                      </a:r>
                      <a:endParaRPr sz="1900" b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1234</a:t>
                      </a:r>
                      <a:endParaRPr sz="1900" b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PPS</a:t>
                      </a:r>
                      <a:endParaRPr sz="1900" b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17" name="Google Shape;417;p9"/>
          <p:cNvGraphicFramePr/>
          <p:nvPr/>
        </p:nvGraphicFramePr>
        <p:xfrm>
          <a:off x="6128527" y="2032462"/>
          <a:ext cx="4530425" cy="411475"/>
        </p:xfrm>
        <a:graphic>
          <a:graphicData uri="http://schemas.openxmlformats.org/drawingml/2006/table">
            <a:tbl>
              <a:tblPr firstRow="1" bandRow="1">
                <a:noFill/>
                <a:tableStyleId>{0D71C580-254A-4B48-869B-2F15487CFC39}</a:tableStyleId>
              </a:tblPr>
              <a:tblGrid>
                <a:gridCol w="169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</a:rPr>
                        <a:t>Emp_Name</a:t>
                      </a:r>
                      <a:endParaRPr sz="1800" b="1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Address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Mobile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Subject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18" name="Google Shape;418;p9"/>
          <p:cNvGraphicFramePr/>
          <p:nvPr/>
        </p:nvGraphicFramePr>
        <p:xfrm>
          <a:off x="6128527" y="2442901"/>
          <a:ext cx="4530425" cy="411475"/>
        </p:xfrm>
        <a:graphic>
          <a:graphicData uri="http://schemas.openxmlformats.org/drawingml/2006/table">
            <a:tbl>
              <a:tblPr firstRow="1" bandRow="1">
                <a:noFill/>
                <a:tableStyleId>{0D71C580-254A-4B48-869B-2F15487CFC39}</a:tableStyleId>
              </a:tblPr>
              <a:tblGrid>
                <a:gridCol w="169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Prof. Ajay Shah</a:t>
                      </a:r>
                      <a:endParaRPr sz="1900" b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Rajkot</a:t>
                      </a:r>
                      <a:endParaRPr sz="1900" b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1234</a:t>
                      </a:r>
                      <a:endParaRPr sz="1900" b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PPS</a:t>
                      </a:r>
                      <a:endParaRPr sz="1900" b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19" name="Google Shape;419;p9"/>
          <p:cNvGraphicFramePr/>
          <p:nvPr/>
        </p:nvGraphicFramePr>
        <p:xfrm>
          <a:off x="889777" y="4565205"/>
          <a:ext cx="4530425" cy="411475"/>
        </p:xfrm>
        <a:graphic>
          <a:graphicData uri="http://schemas.openxmlformats.org/drawingml/2006/table">
            <a:tbl>
              <a:tblPr firstRow="1" bandRow="1">
                <a:noFill/>
                <a:tableStyleId>{0D71C580-254A-4B48-869B-2F15487CFC39}</a:tableStyleId>
              </a:tblPr>
              <a:tblGrid>
                <a:gridCol w="169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</a:rPr>
                        <a:t>Emp_Name</a:t>
                      </a:r>
                      <a:endParaRPr sz="1800" b="1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Address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Mobile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Subject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20" name="Google Shape;420;p9"/>
          <p:cNvGraphicFramePr/>
          <p:nvPr/>
        </p:nvGraphicFramePr>
        <p:xfrm>
          <a:off x="889777" y="4975644"/>
          <a:ext cx="4530425" cy="411475"/>
        </p:xfrm>
        <a:graphic>
          <a:graphicData uri="http://schemas.openxmlformats.org/drawingml/2006/table">
            <a:tbl>
              <a:tblPr firstRow="1" bandRow="1">
                <a:noFill/>
                <a:tableStyleId>{0D71C580-254A-4B48-869B-2F15487CFC39}</a:tableStyleId>
              </a:tblPr>
              <a:tblGrid>
                <a:gridCol w="169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Prof. Ajay Shah</a:t>
                      </a:r>
                      <a:endParaRPr sz="1900" b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Rajkot</a:t>
                      </a:r>
                      <a:endParaRPr sz="1900" b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1234</a:t>
                      </a:r>
                      <a:endParaRPr sz="1900" b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PPS</a:t>
                      </a:r>
                      <a:endParaRPr sz="1900" b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21" name="Google Shape;421;p9"/>
          <p:cNvGraphicFramePr/>
          <p:nvPr/>
        </p:nvGraphicFramePr>
        <p:xfrm>
          <a:off x="6128527" y="4565205"/>
          <a:ext cx="4530425" cy="411475"/>
        </p:xfrm>
        <a:graphic>
          <a:graphicData uri="http://schemas.openxmlformats.org/drawingml/2006/table">
            <a:tbl>
              <a:tblPr firstRow="1" bandRow="1">
                <a:noFill/>
                <a:tableStyleId>{0D71C580-254A-4B48-869B-2F15487CFC39}</a:tableStyleId>
              </a:tblPr>
              <a:tblGrid>
                <a:gridCol w="169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</a:rPr>
                        <a:t>Emp_Name</a:t>
                      </a:r>
                      <a:endParaRPr sz="1800" b="1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Address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Mobile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Subject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22" name="Google Shape;422;p9"/>
          <p:cNvGraphicFramePr/>
          <p:nvPr/>
        </p:nvGraphicFramePr>
        <p:xfrm>
          <a:off x="6128527" y="4975644"/>
          <a:ext cx="4530425" cy="411475"/>
        </p:xfrm>
        <a:graphic>
          <a:graphicData uri="http://schemas.openxmlformats.org/drawingml/2006/table">
            <a:tbl>
              <a:tblPr firstRow="1" bandRow="1">
                <a:noFill/>
                <a:tableStyleId>{0D71C580-254A-4B48-869B-2F15487CFC39}</a:tableStyleId>
              </a:tblPr>
              <a:tblGrid>
                <a:gridCol w="169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Prof. Ajay Shah</a:t>
                      </a:r>
                      <a:endParaRPr sz="1900" b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Rajkot</a:t>
                      </a:r>
                      <a:endParaRPr sz="1900" b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1234</a:t>
                      </a:r>
                      <a:endParaRPr sz="1900" b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PPS</a:t>
                      </a:r>
                      <a:endParaRPr sz="1900" b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23" name="Google Shape;423;p9"/>
          <p:cNvSpPr/>
          <p:nvPr/>
        </p:nvSpPr>
        <p:spPr>
          <a:xfrm>
            <a:off x="7152349" y="2998900"/>
            <a:ext cx="3028458" cy="732071"/>
          </a:xfrm>
          <a:prstGeom prst="roundRect">
            <a:avLst>
              <a:gd name="adj" fmla="val 6865"/>
            </a:avLst>
          </a:prstGeom>
          <a:solidFill>
            <a:schemeClr val="lt1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Same data having 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different state (values)</a:t>
            </a:r>
            <a:endParaRPr sz="1800" b="0" i="0" u="none" strike="noStrike" cap="none">
              <a:solidFill>
                <a:schemeClr val="accent6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24" name="Google Shape;424;p9"/>
          <p:cNvSpPr/>
          <p:nvPr/>
        </p:nvSpPr>
        <p:spPr>
          <a:xfrm>
            <a:off x="1589351" y="3006385"/>
            <a:ext cx="3131261" cy="1384948"/>
          </a:xfrm>
          <a:prstGeom prst="roundRect">
            <a:avLst>
              <a:gd name="adj" fmla="val 2976"/>
            </a:avLst>
          </a:prstGeom>
          <a:solidFill>
            <a:schemeClr val="lt1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Database management system can keep data in consistent state.</a:t>
            </a:r>
            <a:endParaRPr sz="1800" b="0" i="0" u="none" strike="noStrike" cap="none">
              <a:solidFill>
                <a:schemeClr val="accent6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25" name="Google Shape;425;p9"/>
          <p:cNvSpPr/>
          <p:nvPr/>
        </p:nvSpPr>
        <p:spPr>
          <a:xfrm>
            <a:off x="7152349" y="3842162"/>
            <a:ext cx="2977097" cy="633692"/>
          </a:xfrm>
          <a:prstGeom prst="wedgeRoundRectCallout">
            <a:avLst>
              <a:gd name="adj1" fmla="val -75092"/>
              <a:gd name="adj2" fmla="val -64469"/>
              <a:gd name="adj3" fmla="val 16667"/>
            </a:avLst>
          </a:prstGeom>
          <a:solidFill>
            <a:srgbClr val="F0D9D8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Mobile no is changed</a:t>
            </a:r>
            <a:endParaRPr sz="1800" b="0" i="0" u="none" strike="noStrike" cap="none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26" name="Google Shape;426;p9"/>
          <p:cNvSpPr/>
          <p:nvPr/>
        </p:nvSpPr>
        <p:spPr>
          <a:xfrm>
            <a:off x="3574524" y="2428826"/>
            <a:ext cx="913655" cy="425316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6789</a:t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27" name="Google Shape;427;p9"/>
          <p:cNvSpPr/>
          <p:nvPr/>
        </p:nvSpPr>
        <p:spPr>
          <a:xfrm>
            <a:off x="3574524" y="4973236"/>
            <a:ext cx="913655" cy="425316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6789</a:t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28" name="Google Shape;428;p9"/>
          <p:cNvSpPr/>
          <p:nvPr/>
        </p:nvSpPr>
        <p:spPr>
          <a:xfrm>
            <a:off x="8822242" y="2429137"/>
            <a:ext cx="914400" cy="429768"/>
          </a:xfrm>
          <a:prstGeom prst="roundRect">
            <a:avLst>
              <a:gd name="adj" fmla="val 7787"/>
            </a:avLst>
          </a:prstGeom>
          <a:noFill/>
          <a:ln w="28575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29" name="Google Shape;429;p9"/>
          <p:cNvSpPr/>
          <p:nvPr/>
        </p:nvSpPr>
        <p:spPr>
          <a:xfrm>
            <a:off x="8822242" y="4968784"/>
            <a:ext cx="914400" cy="429768"/>
          </a:xfrm>
          <a:prstGeom prst="roundRect">
            <a:avLst>
              <a:gd name="adj" fmla="val 7787"/>
            </a:avLst>
          </a:prstGeom>
          <a:noFill/>
          <a:ln w="28575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0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Data isolation</a:t>
            </a:r>
            <a:endParaRPr/>
          </a:p>
        </p:txBody>
      </p:sp>
      <p:sp>
        <p:nvSpPr>
          <p:cNvPr id="435" name="Google Shape;435;p10"/>
          <p:cNvSpPr txBox="1">
            <a:spLocks noGrp="1"/>
          </p:cNvSpPr>
          <p:nvPr>
            <p:ph type="body" idx="1"/>
          </p:nvPr>
        </p:nvSpPr>
        <p:spPr>
          <a:xfrm>
            <a:off x="144389" y="863450"/>
            <a:ext cx="11929500" cy="57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65113" lvl="0" indent="-265113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Data are </a:t>
            </a:r>
            <a:r>
              <a:rPr lang="en-US" b="1">
                <a:solidFill>
                  <a:schemeClr val="accent6"/>
                </a:solidFill>
              </a:rPr>
              <a:t>scattered</a:t>
            </a:r>
            <a:r>
              <a:rPr lang="en-US"/>
              <a:t> in various files.</a:t>
            </a:r>
            <a:endParaRPr/>
          </a:p>
          <a:p>
            <a:pPr marL="265113" lvl="0" indent="-2651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Files may be in </a:t>
            </a:r>
            <a:r>
              <a:rPr lang="en-US" b="1">
                <a:solidFill>
                  <a:schemeClr val="accent6"/>
                </a:solidFill>
              </a:rPr>
              <a:t>different formats</a:t>
            </a:r>
            <a:r>
              <a:rPr lang="en-US"/>
              <a:t>.</a:t>
            </a:r>
            <a:endParaRPr/>
          </a:p>
          <a:p>
            <a:pPr marL="265113" lvl="0" indent="-2651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 b="1">
                <a:solidFill>
                  <a:schemeClr val="accent6"/>
                </a:solidFill>
              </a:rPr>
              <a:t>Difficult to retrieve </a:t>
            </a:r>
            <a:r>
              <a:rPr lang="en-US"/>
              <a:t>the appropriate data.</a:t>
            </a:r>
            <a:endParaRPr/>
          </a:p>
        </p:txBody>
      </p:sp>
      <p:graphicFrame>
        <p:nvGraphicFramePr>
          <p:cNvPr id="436" name="Google Shape;436;p10"/>
          <p:cNvGraphicFramePr/>
          <p:nvPr/>
        </p:nvGraphicFramePr>
        <p:xfrm>
          <a:off x="6962728" y="1510161"/>
          <a:ext cx="4530425" cy="411475"/>
        </p:xfrm>
        <a:graphic>
          <a:graphicData uri="http://schemas.openxmlformats.org/drawingml/2006/table">
            <a:tbl>
              <a:tblPr firstRow="1" bandRow="1">
                <a:noFill/>
                <a:tableStyleId>{0D71C580-254A-4B48-869B-2F15487CFC39}</a:tableStyleId>
              </a:tblPr>
              <a:tblGrid>
                <a:gridCol w="169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</a:rPr>
                        <a:t>Emp_Name</a:t>
                      </a:r>
                      <a:endParaRPr sz="1800" b="1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Address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Mobile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Subject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37" name="Google Shape;437;p10"/>
          <p:cNvGraphicFramePr/>
          <p:nvPr/>
        </p:nvGraphicFramePr>
        <p:xfrm>
          <a:off x="6962728" y="1920600"/>
          <a:ext cx="4530425" cy="411475"/>
        </p:xfrm>
        <a:graphic>
          <a:graphicData uri="http://schemas.openxmlformats.org/drawingml/2006/table">
            <a:tbl>
              <a:tblPr firstRow="1" bandRow="1">
                <a:noFill/>
                <a:tableStyleId>{0D71C580-254A-4B48-869B-2F15487CFC39}</a:tableStyleId>
              </a:tblPr>
              <a:tblGrid>
                <a:gridCol w="169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Prof. Ajay Shah</a:t>
                      </a:r>
                      <a:endParaRPr sz="1900" b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Rajkot</a:t>
                      </a:r>
                      <a:endParaRPr sz="1900" b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1234</a:t>
                      </a:r>
                      <a:endParaRPr sz="1900" b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PPS</a:t>
                      </a:r>
                      <a:endParaRPr sz="1900" b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38" name="Google Shape;438;p10"/>
          <p:cNvGraphicFramePr/>
          <p:nvPr/>
        </p:nvGraphicFramePr>
        <p:xfrm>
          <a:off x="6962728" y="3072180"/>
          <a:ext cx="4530425" cy="411475"/>
        </p:xfrm>
        <a:graphic>
          <a:graphicData uri="http://schemas.openxmlformats.org/drawingml/2006/table">
            <a:tbl>
              <a:tblPr firstRow="1" bandRow="1">
                <a:noFill/>
                <a:tableStyleId>{0D71C580-254A-4B48-869B-2F15487CFC39}</a:tableStyleId>
              </a:tblPr>
              <a:tblGrid>
                <a:gridCol w="169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</a:rPr>
                        <a:t>Emp_Name</a:t>
                      </a:r>
                      <a:endParaRPr sz="1800" b="1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Post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Salary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Load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39" name="Google Shape;439;p10"/>
          <p:cNvGraphicFramePr/>
          <p:nvPr/>
        </p:nvGraphicFramePr>
        <p:xfrm>
          <a:off x="6962728" y="3482619"/>
          <a:ext cx="4530425" cy="411475"/>
        </p:xfrm>
        <a:graphic>
          <a:graphicData uri="http://schemas.openxmlformats.org/drawingml/2006/table">
            <a:tbl>
              <a:tblPr firstRow="1" bandRow="1">
                <a:noFill/>
                <a:tableStyleId>{0D71C580-254A-4B48-869B-2F15487CFC39}</a:tableStyleId>
              </a:tblPr>
              <a:tblGrid>
                <a:gridCol w="169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Prof. Ajay Shah</a:t>
                      </a:r>
                      <a:endParaRPr sz="1900" b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Lecturer</a:t>
                      </a:r>
                      <a:endParaRPr sz="1900" b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50,000</a:t>
                      </a:r>
                      <a:endParaRPr sz="1900" b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15</a:t>
                      </a:r>
                      <a:endParaRPr sz="1900" b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40" name="Google Shape;440;p10"/>
          <p:cNvGraphicFramePr/>
          <p:nvPr/>
        </p:nvGraphicFramePr>
        <p:xfrm>
          <a:off x="6962728" y="4623475"/>
          <a:ext cx="4873300" cy="411475"/>
        </p:xfrm>
        <a:graphic>
          <a:graphicData uri="http://schemas.openxmlformats.org/drawingml/2006/table">
            <a:tbl>
              <a:tblPr firstRow="1" bandRow="1">
                <a:noFill/>
                <a:tableStyleId>{0D71C580-254A-4B48-869B-2F15487CFC39}</a:tableStyleId>
              </a:tblPr>
              <a:tblGrid>
                <a:gridCol w="169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8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1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4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</a:rPr>
                        <a:t>Emp_Name</a:t>
                      </a:r>
                      <a:endParaRPr sz="1800" b="1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Teaching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Knowledge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Rating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41" name="Google Shape;441;p10"/>
          <p:cNvGraphicFramePr/>
          <p:nvPr/>
        </p:nvGraphicFramePr>
        <p:xfrm>
          <a:off x="6962728" y="5033914"/>
          <a:ext cx="4871150" cy="411475"/>
        </p:xfrm>
        <a:graphic>
          <a:graphicData uri="http://schemas.openxmlformats.org/drawingml/2006/table">
            <a:tbl>
              <a:tblPr firstRow="1" bandRow="1">
                <a:noFill/>
                <a:tableStyleId>{0D71C580-254A-4B48-869B-2F15487CFC39}</a:tableStyleId>
              </a:tblPr>
              <a:tblGrid>
                <a:gridCol w="169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7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Prof. Ajay Shah</a:t>
                      </a:r>
                      <a:endParaRPr sz="1900" b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Good</a:t>
                      </a:r>
                      <a:endParaRPr sz="1900" b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Excellent</a:t>
                      </a:r>
                      <a:endParaRPr sz="1900" b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9</a:t>
                      </a:r>
                      <a:endParaRPr sz="1900" b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42" name="Google Shape;442;p10"/>
          <p:cNvGraphicFramePr/>
          <p:nvPr/>
        </p:nvGraphicFramePr>
        <p:xfrm>
          <a:off x="6960913" y="2706138"/>
          <a:ext cx="822950" cy="365770"/>
        </p:xfrm>
        <a:graphic>
          <a:graphicData uri="http://schemas.openxmlformats.org/drawingml/2006/table">
            <a:tbl>
              <a:tblPr firstRow="1" bandRow="1">
                <a:noFill/>
                <a:tableStyleId>{0D71C580-254A-4B48-869B-2F15487CFC39}</a:tableStyleId>
              </a:tblPr>
              <a:tblGrid>
                <a:gridCol w="82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</a:rPr>
                        <a:t>File - 2</a:t>
                      </a:r>
                      <a:endParaRPr sz="1800" b="1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43" name="Google Shape;443;p10"/>
          <p:cNvGraphicFramePr/>
          <p:nvPr/>
        </p:nvGraphicFramePr>
        <p:xfrm>
          <a:off x="6960913" y="4255846"/>
          <a:ext cx="822950" cy="365770"/>
        </p:xfrm>
        <a:graphic>
          <a:graphicData uri="http://schemas.openxmlformats.org/drawingml/2006/table">
            <a:tbl>
              <a:tblPr firstRow="1" bandRow="1">
                <a:noFill/>
                <a:tableStyleId>{0D71C580-254A-4B48-869B-2F15487CFC39}</a:tableStyleId>
              </a:tblPr>
              <a:tblGrid>
                <a:gridCol w="82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</a:rPr>
                        <a:t>File - 3</a:t>
                      </a:r>
                      <a:endParaRPr sz="1800" b="1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44" name="Google Shape;444;p10"/>
          <p:cNvGraphicFramePr/>
          <p:nvPr/>
        </p:nvGraphicFramePr>
        <p:xfrm>
          <a:off x="6963944" y="1145357"/>
          <a:ext cx="822950" cy="365770"/>
        </p:xfrm>
        <a:graphic>
          <a:graphicData uri="http://schemas.openxmlformats.org/drawingml/2006/table">
            <a:tbl>
              <a:tblPr firstRow="1" bandRow="1">
                <a:noFill/>
                <a:tableStyleId>{0D71C580-254A-4B48-869B-2F15487CFC39}</a:tableStyleId>
              </a:tblPr>
              <a:tblGrid>
                <a:gridCol w="82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</a:rPr>
                        <a:t>File - 1</a:t>
                      </a:r>
                      <a:endParaRPr sz="1800" b="1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45" name="Google Shape;445;p10"/>
          <p:cNvSpPr/>
          <p:nvPr/>
        </p:nvSpPr>
        <p:spPr>
          <a:xfrm>
            <a:off x="254010" y="2660407"/>
            <a:ext cx="6217920" cy="633692"/>
          </a:xfrm>
          <a:prstGeom prst="wedgeRoundRectCallout">
            <a:avLst>
              <a:gd name="adj1" fmla="val -46835"/>
              <a:gd name="adj2" fmla="val 1908"/>
              <a:gd name="adj3" fmla="val 16667"/>
            </a:avLst>
          </a:prstGeom>
          <a:gradFill>
            <a:gsLst>
              <a:gs pos="0">
                <a:srgbClr val="5C2321"/>
              </a:gs>
              <a:gs pos="10000">
                <a:srgbClr val="5C2321"/>
              </a:gs>
              <a:gs pos="100000">
                <a:schemeClr val="accent6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DBMS allow us to access (retrieve) appropriate data easily.</a:t>
            </a:r>
            <a:endParaRPr sz="20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46" name="Google Shape;446;p10"/>
          <p:cNvSpPr/>
          <p:nvPr/>
        </p:nvSpPr>
        <p:spPr>
          <a:xfrm>
            <a:off x="254010" y="3656122"/>
            <a:ext cx="6217920" cy="1434940"/>
          </a:xfrm>
          <a:prstGeom prst="wedgeRoundRectCallout">
            <a:avLst>
              <a:gd name="adj1" fmla="val -46835"/>
              <a:gd name="adj2" fmla="val 1908"/>
              <a:gd name="adj3" fmla="val 16667"/>
            </a:avLst>
          </a:prstGeom>
          <a:gradFill>
            <a:gsLst>
              <a:gs pos="0">
                <a:srgbClr val="5C2321"/>
              </a:gs>
              <a:gs pos="10000">
                <a:srgbClr val="5C2321"/>
              </a:gs>
              <a:gs pos="100000">
                <a:schemeClr val="accent6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Data isolation is a property that determines when and how changes made by one operation become visible to other concurrent users and systems. </a:t>
            </a:r>
            <a:endParaRPr sz="20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This issue occurs in a concurrency situation.</a:t>
            </a:r>
            <a:endParaRPr sz="20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11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Guaranteed atomicity</a:t>
            </a:r>
            <a:endParaRPr/>
          </a:p>
        </p:txBody>
      </p:sp>
      <p:sp>
        <p:nvSpPr>
          <p:cNvPr id="452" name="Google Shape;452;p11"/>
          <p:cNvSpPr txBox="1">
            <a:spLocks noGrp="1"/>
          </p:cNvSpPr>
          <p:nvPr>
            <p:ph type="body" idx="1"/>
          </p:nvPr>
        </p:nvSpPr>
        <p:spPr>
          <a:xfrm>
            <a:off x="144389" y="863450"/>
            <a:ext cx="11929500" cy="57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65113" lvl="0" indent="-265113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Atomicity: Either transaction </a:t>
            </a:r>
            <a:r>
              <a:rPr lang="en-US" b="1">
                <a:solidFill>
                  <a:schemeClr val="accent6"/>
                </a:solidFill>
              </a:rPr>
              <a:t>execute</a:t>
            </a:r>
            <a:r>
              <a:rPr lang="en-US"/>
              <a:t> </a:t>
            </a:r>
            <a:r>
              <a:rPr lang="en-US" b="1">
                <a:solidFill>
                  <a:schemeClr val="accent6"/>
                </a:solidFill>
              </a:rPr>
              <a:t>0% or 100%</a:t>
            </a:r>
            <a:r>
              <a:rPr lang="en-US"/>
              <a:t>.</a:t>
            </a:r>
            <a:endParaRPr/>
          </a:p>
        </p:txBody>
      </p:sp>
      <p:sp>
        <p:nvSpPr>
          <p:cNvPr id="453" name="Google Shape;453;p11"/>
          <p:cNvSpPr txBox="1"/>
          <p:nvPr/>
        </p:nvSpPr>
        <p:spPr>
          <a:xfrm>
            <a:off x="803081" y="3828764"/>
            <a:ext cx="127635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Person A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Account A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Bal : 2000</a:t>
            </a:r>
            <a:endParaRPr sz="20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54" name="Google Shape;454;p11"/>
          <p:cNvSpPr txBox="1"/>
          <p:nvPr/>
        </p:nvSpPr>
        <p:spPr>
          <a:xfrm>
            <a:off x="5851331" y="3828764"/>
            <a:ext cx="123825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Person B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Account B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Bal : 1000</a:t>
            </a:r>
            <a:endParaRPr sz="20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55" name="Google Shape;455;p11"/>
          <p:cNvSpPr/>
          <p:nvPr/>
        </p:nvSpPr>
        <p:spPr>
          <a:xfrm>
            <a:off x="2746181" y="3828764"/>
            <a:ext cx="2438400" cy="8763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0D9D8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Transfer 500</a:t>
            </a:r>
            <a:endParaRPr/>
          </a:p>
        </p:txBody>
      </p:sp>
      <p:sp>
        <p:nvSpPr>
          <p:cNvPr id="456" name="Google Shape;456;p11"/>
          <p:cNvSpPr txBox="1"/>
          <p:nvPr/>
        </p:nvSpPr>
        <p:spPr>
          <a:xfrm>
            <a:off x="1960368" y="4781264"/>
            <a:ext cx="4010025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Step 1 : Debit 500 from Account A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Step 2 : Credit 500 into Account B</a:t>
            </a:r>
            <a:endParaRPr/>
          </a:p>
        </p:txBody>
      </p:sp>
      <p:sp>
        <p:nvSpPr>
          <p:cNvPr id="457" name="Google Shape;457;p11"/>
          <p:cNvSpPr/>
          <p:nvPr/>
        </p:nvSpPr>
        <p:spPr>
          <a:xfrm>
            <a:off x="2746181" y="2190464"/>
            <a:ext cx="2438400" cy="1066800"/>
          </a:xfrm>
          <a:prstGeom prst="roundRect">
            <a:avLst>
              <a:gd name="adj" fmla="val 11970"/>
            </a:avLst>
          </a:prstGeom>
          <a:gradFill>
            <a:gsLst>
              <a:gs pos="0">
                <a:srgbClr val="5C2321"/>
              </a:gs>
              <a:gs pos="10000">
                <a:srgbClr val="5C2321"/>
              </a:gs>
              <a:gs pos="100000">
                <a:schemeClr val="accent6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Sum of both account before transfer is 3000</a:t>
            </a:r>
            <a:endParaRPr/>
          </a:p>
        </p:txBody>
      </p:sp>
      <p:sp>
        <p:nvSpPr>
          <p:cNvPr id="458" name="Google Shape;458;p11"/>
          <p:cNvSpPr/>
          <p:nvPr/>
        </p:nvSpPr>
        <p:spPr>
          <a:xfrm>
            <a:off x="2665217" y="5584400"/>
            <a:ext cx="2600326" cy="687289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5C2321"/>
              </a:gs>
              <a:gs pos="10000">
                <a:srgbClr val="5C2321"/>
              </a:gs>
              <a:gs pos="100000">
                <a:schemeClr val="accent6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Sum of both account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after transfer is 3000</a:t>
            </a:r>
            <a:endParaRPr/>
          </a:p>
        </p:txBody>
      </p:sp>
      <p:cxnSp>
        <p:nvCxnSpPr>
          <p:cNvPr id="459" name="Google Shape;459;p11"/>
          <p:cNvCxnSpPr/>
          <p:nvPr/>
        </p:nvCxnSpPr>
        <p:spPr>
          <a:xfrm>
            <a:off x="1688906" y="5124166"/>
            <a:ext cx="4572000" cy="0"/>
          </a:xfrm>
          <a:prstGeom prst="straightConnector1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60" name="Google Shape;460;p11"/>
          <p:cNvSpPr/>
          <p:nvPr/>
        </p:nvSpPr>
        <p:spPr>
          <a:xfrm>
            <a:off x="6613328" y="5295617"/>
            <a:ext cx="1971677" cy="1009647"/>
          </a:xfrm>
          <a:prstGeom prst="wedgeRoundRectCallout">
            <a:avLst>
              <a:gd name="adj1" fmla="val -88224"/>
              <a:gd name="adj2" fmla="val -67469"/>
              <a:gd name="adj3" fmla="val 16667"/>
            </a:avLst>
          </a:prstGeom>
          <a:gradFill>
            <a:gsLst>
              <a:gs pos="0">
                <a:srgbClr val="5C2321"/>
              </a:gs>
              <a:gs pos="10000">
                <a:srgbClr val="5C2321"/>
              </a:gs>
              <a:gs pos="100000">
                <a:schemeClr val="accent6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Sum of both account is 2500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so inconsistent</a:t>
            </a:r>
            <a:endParaRPr/>
          </a:p>
        </p:txBody>
      </p:sp>
      <p:sp>
        <p:nvSpPr>
          <p:cNvPr id="461" name="Google Shape;461;p11"/>
          <p:cNvSpPr/>
          <p:nvPr/>
        </p:nvSpPr>
        <p:spPr>
          <a:xfrm>
            <a:off x="585198" y="5332749"/>
            <a:ext cx="1464467" cy="595295"/>
          </a:xfrm>
          <a:prstGeom prst="wedgeRoundRectCallout">
            <a:avLst>
              <a:gd name="adj1" fmla="val 45202"/>
              <a:gd name="adj2" fmla="val -82104"/>
              <a:gd name="adj3" fmla="val 16667"/>
            </a:avLst>
          </a:prstGeom>
          <a:solidFill>
            <a:schemeClr val="accent6"/>
          </a:solidFill>
          <a:ln w="12700" cap="flat" cmpd="sng">
            <a:solidFill>
              <a:srgbClr val="86333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Transaction is failed</a:t>
            </a:r>
            <a:endParaRPr/>
          </a:p>
        </p:txBody>
      </p:sp>
      <p:pic>
        <p:nvPicPr>
          <p:cNvPr id="462" name="Google Shape;462;p11" descr="Related image"/>
          <p:cNvPicPr preferRelativeResize="0"/>
          <p:nvPr/>
        </p:nvPicPr>
        <p:blipFill rotWithShape="1">
          <a:blip r:embed="rId3">
            <a:alphaModFix/>
          </a:blip>
          <a:srcRect l="27688" t="2449" r="27510"/>
          <a:stretch/>
        </p:blipFill>
        <p:spPr>
          <a:xfrm>
            <a:off x="541256" y="1515808"/>
            <a:ext cx="1800000" cy="2205357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11" descr="Image result"/>
          <p:cNvPicPr preferRelativeResize="0"/>
          <p:nvPr/>
        </p:nvPicPr>
        <p:blipFill rotWithShape="1">
          <a:blip r:embed="rId4">
            <a:alphaModFix/>
          </a:blip>
          <a:srcRect l="15117" t="6774" r="15456" b="6842"/>
          <a:stretch/>
        </p:blipFill>
        <p:spPr>
          <a:xfrm>
            <a:off x="5583642" y="1533984"/>
            <a:ext cx="1773627" cy="220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12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Allow to implement integrity constraints</a:t>
            </a:r>
            <a:endParaRPr/>
          </a:p>
        </p:txBody>
      </p:sp>
      <p:sp>
        <p:nvSpPr>
          <p:cNvPr id="469" name="Google Shape;469;p12"/>
          <p:cNvSpPr txBox="1">
            <a:spLocks noGrp="1"/>
          </p:cNvSpPr>
          <p:nvPr>
            <p:ph type="body" idx="1"/>
          </p:nvPr>
        </p:nvSpPr>
        <p:spPr>
          <a:xfrm>
            <a:off x="144389" y="863450"/>
            <a:ext cx="11929500" cy="57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/>
          </a:p>
        </p:txBody>
      </p:sp>
      <p:graphicFrame>
        <p:nvGraphicFramePr>
          <p:cNvPr id="470" name="Google Shape;470;p12"/>
          <p:cNvGraphicFramePr/>
          <p:nvPr/>
        </p:nvGraphicFramePr>
        <p:xfrm>
          <a:off x="625686" y="1255811"/>
          <a:ext cx="5041600" cy="822950"/>
        </p:xfrm>
        <a:graphic>
          <a:graphicData uri="http://schemas.openxmlformats.org/drawingml/2006/table">
            <a:tbl>
              <a:tblPr firstRow="1" bandRow="1">
                <a:noFill/>
                <a:tableStyleId>{0D71C580-254A-4B48-869B-2F15487CFC39}</a:tableStyleId>
              </a:tblPr>
              <a:tblGrid>
                <a:gridCol w="169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9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</a:rPr>
                        <a:t>Emp_Name</a:t>
                      </a:r>
                      <a:endParaRPr sz="1800" b="1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Address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Mobile_No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Subject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Prof. Ajay Shah</a:t>
                      </a:r>
                      <a:endParaRPr sz="19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Rajkot</a:t>
                      </a:r>
                      <a:endParaRPr sz="19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9876543210</a:t>
                      </a:r>
                      <a:endParaRPr sz="19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PPS</a:t>
                      </a:r>
                      <a:endParaRPr sz="19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71" name="Google Shape;471;p12"/>
          <p:cNvGraphicFramePr/>
          <p:nvPr/>
        </p:nvGraphicFramePr>
        <p:xfrm>
          <a:off x="625686" y="3111497"/>
          <a:ext cx="5041600" cy="822950"/>
        </p:xfrm>
        <a:graphic>
          <a:graphicData uri="http://schemas.openxmlformats.org/drawingml/2006/table">
            <a:tbl>
              <a:tblPr firstRow="1" bandRow="1">
                <a:noFill/>
                <a:tableStyleId>{0D71C580-254A-4B48-869B-2F15487CFC39}</a:tableStyleId>
              </a:tblPr>
              <a:tblGrid>
                <a:gridCol w="169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9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</a:rPr>
                        <a:t>Student_Name</a:t>
                      </a:r>
                      <a:endParaRPr sz="1800" b="1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Branch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Backlog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SPI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Nirav Patel</a:t>
                      </a:r>
                      <a:endParaRPr sz="19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Rajkot</a:t>
                      </a:r>
                      <a:endParaRPr sz="19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0</a:t>
                      </a:r>
                      <a:endParaRPr sz="19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8.5</a:t>
                      </a:r>
                      <a:endParaRPr sz="19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72" name="Google Shape;472;p12"/>
          <p:cNvSpPr/>
          <p:nvPr/>
        </p:nvSpPr>
        <p:spPr>
          <a:xfrm>
            <a:off x="3146407" y="2210445"/>
            <a:ext cx="3017520" cy="468000"/>
          </a:xfrm>
          <a:prstGeom prst="wedgeRoundRectCallout">
            <a:avLst>
              <a:gd name="adj1" fmla="val -22194"/>
              <a:gd name="adj2" fmla="val -89872"/>
              <a:gd name="adj3" fmla="val 16667"/>
            </a:avLst>
          </a:prstGeom>
          <a:solidFill>
            <a:srgbClr val="F0D9D8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Should contain exact 10 digits</a:t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73" name="Google Shape;473;p12"/>
          <p:cNvSpPr/>
          <p:nvPr/>
        </p:nvSpPr>
        <p:spPr>
          <a:xfrm>
            <a:off x="4271274" y="4116930"/>
            <a:ext cx="2651760" cy="468000"/>
          </a:xfrm>
          <a:prstGeom prst="wedgeRoundRectCallout">
            <a:avLst>
              <a:gd name="adj1" fmla="val -23686"/>
              <a:gd name="adj2" fmla="val -99481"/>
              <a:gd name="adj3" fmla="val 16667"/>
            </a:avLst>
          </a:prstGeom>
          <a:solidFill>
            <a:srgbClr val="F0D9D8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Should be between 0 to 10</a:t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74" name="Google Shape;474;p12"/>
          <p:cNvSpPr/>
          <p:nvPr/>
        </p:nvSpPr>
        <p:spPr>
          <a:xfrm>
            <a:off x="266700" y="5009267"/>
            <a:ext cx="7040880" cy="640080"/>
          </a:xfrm>
          <a:prstGeom prst="wedgeRoundRectCallout">
            <a:avLst>
              <a:gd name="adj1" fmla="val -49350"/>
              <a:gd name="adj2" fmla="val 4128"/>
              <a:gd name="adj3" fmla="val 16667"/>
            </a:avLst>
          </a:prstGeom>
          <a:gradFill>
            <a:gsLst>
              <a:gs pos="0">
                <a:srgbClr val="5C2321"/>
              </a:gs>
              <a:gs pos="10000">
                <a:srgbClr val="5C2321"/>
              </a:gs>
              <a:gs pos="100000">
                <a:schemeClr val="accent6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DBMS allows us to implement such business rules in our database.</a:t>
            </a:r>
            <a:r>
              <a:rPr lang="en-US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  <a:endParaRPr sz="20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3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Sharing of data among multiple users</a:t>
            </a:r>
            <a:endParaRPr/>
          </a:p>
        </p:txBody>
      </p:sp>
      <p:sp>
        <p:nvSpPr>
          <p:cNvPr id="480" name="Google Shape;480;p13"/>
          <p:cNvSpPr txBox="1">
            <a:spLocks noGrp="1"/>
          </p:cNvSpPr>
          <p:nvPr>
            <p:ph type="body" idx="1"/>
          </p:nvPr>
        </p:nvSpPr>
        <p:spPr>
          <a:xfrm>
            <a:off x="144389" y="863450"/>
            <a:ext cx="11929500" cy="57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/>
          </a:p>
        </p:txBody>
      </p:sp>
      <p:sp>
        <p:nvSpPr>
          <p:cNvPr id="481" name="Google Shape;481;p13"/>
          <p:cNvSpPr/>
          <p:nvPr/>
        </p:nvSpPr>
        <p:spPr>
          <a:xfrm>
            <a:off x="7493731" y="1430135"/>
            <a:ext cx="1800000" cy="4320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5C2321"/>
              </a:gs>
              <a:gs pos="10000">
                <a:srgbClr val="5C2321"/>
              </a:gs>
              <a:gs pos="100000">
                <a:schemeClr val="accent6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Civil</a:t>
            </a:r>
            <a:endParaRPr/>
          </a:p>
        </p:txBody>
      </p:sp>
      <p:sp>
        <p:nvSpPr>
          <p:cNvPr id="482" name="Google Shape;482;p13"/>
          <p:cNvSpPr/>
          <p:nvPr/>
        </p:nvSpPr>
        <p:spPr>
          <a:xfrm>
            <a:off x="2254981" y="5535583"/>
            <a:ext cx="1800000" cy="4320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5C2321"/>
              </a:gs>
              <a:gs pos="10000">
                <a:srgbClr val="5C2321"/>
              </a:gs>
              <a:gs pos="100000">
                <a:schemeClr val="accent6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Electrical</a:t>
            </a:r>
            <a:endParaRPr/>
          </a:p>
        </p:txBody>
      </p:sp>
      <p:sp>
        <p:nvSpPr>
          <p:cNvPr id="483" name="Google Shape;483;p13"/>
          <p:cNvSpPr/>
          <p:nvPr/>
        </p:nvSpPr>
        <p:spPr>
          <a:xfrm>
            <a:off x="7493731" y="5535583"/>
            <a:ext cx="1800000" cy="432000"/>
          </a:xfrm>
          <a:prstGeom prst="roundRect">
            <a:avLst>
              <a:gd name="adj" fmla="val 11813"/>
            </a:avLst>
          </a:prstGeom>
          <a:gradFill>
            <a:gsLst>
              <a:gs pos="0">
                <a:srgbClr val="5C2321"/>
              </a:gs>
              <a:gs pos="10000">
                <a:srgbClr val="5C2321"/>
              </a:gs>
              <a:gs pos="100000">
                <a:schemeClr val="accent6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Mechanical</a:t>
            </a:r>
            <a:endParaRPr/>
          </a:p>
        </p:txBody>
      </p:sp>
      <p:sp>
        <p:nvSpPr>
          <p:cNvPr id="484" name="Google Shape;484;p13"/>
          <p:cNvSpPr/>
          <p:nvPr/>
        </p:nvSpPr>
        <p:spPr>
          <a:xfrm>
            <a:off x="2254981" y="1430135"/>
            <a:ext cx="1800000" cy="4320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5C2321"/>
              </a:gs>
              <a:gs pos="10000">
                <a:srgbClr val="5C2321"/>
              </a:gs>
              <a:gs pos="100000">
                <a:schemeClr val="accent6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Computer</a:t>
            </a:r>
            <a:endParaRPr/>
          </a:p>
        </p:txBody>
      </p:sp>
      <p:graphicFrame>
        <p:nvGraphicFramePr>
          <p:cNvPr id="485" name="Google Shape;485;p13"/>
          <p:cNvGraphicFramePr/>
          <p:nvPr/>
        </p:nvGraphicFramePr>
        <p:xfrm>
          <a:off x="889777" y="2032462"/>
          <a:ext cx="4530425" cy="411475"/>
        </p:xfrm>
        <a:graphic>
          <a:graphicData uri="http://schemas.openxmlformats.org/drawingml/2006/table">
            <a:tbl>
              <a:tblPr firstRow="1" bandRow="1">
                <a:noFill/>
                <a:tableStyleId>{0D71C580-254A-4B48-869B-2F15487CFC39}</a:tableStyleId>
              </a:tblPr>
              <a:tblGrid>
                <a:gridCol w="169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</a:rPr>
                        <a:t>Emp_Name</a:t>
                      </a:r>
                      <a:endParaRPr sz="1800" b="1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Address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Mobile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Subject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86" name="Google Shape;486;p13"/>
          <p:cNvGraphicFramePr/>
          <p:nvPr/>
        </p:nvGraphicFramePr>
        <p:xfrm>
          <a:off x="889777" y="2442901"/>
          <a:ext cx="4530425" cy="411475"/>
        </p:xfrm>
        <a:graphic>
          <a:graphicData uri="http://schemas.openxmlformats.org/drawingml/2006/table">
            <a:tbl>
              <a:tblPr firstRow="1" bandRow="1">
                <a:noFill/>
                <a:tableStyleId>{0D71C580-254A-4B48-869B-2F15487CFC39}</a:tableStyleId>
              </a:tblPr>
              <a:tblGrid>
                <a:gridCol w="169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Prof. Ajay Shah</a:t>
                      </a:r>
                      <a:endParaRPr sz="1900" b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Rajkot</a:t>
                      </a:r>
                      <a:endParaRPr sz="1900" b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1234</a:t>
                      </a:r>
                      <a:endParaRPr sz="1900" b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PPS</a:t>
                      </a:r>
                      <a:endParaRPr sz="1900" b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87" name="Google Shape;487;p13"/>
          <p:cNvGraphicFramePr/>
          <p:nvPr/>
        </p:nvGraphicFramePr>
        <p:xfrm>
          <a:off x="6128527" y="2032462"/>
          <a:ext cx="4530425" cy="411475"/>
        </p:xfrm>
        <a:graphic>
          <a:graphicData uri="http://schemas.openxmlformats.org/drawingml/2006/table">
            <a:tbl>
              <a:tblPr firstRow="1" bandRow="1">
                <a:noFill/>
                <a:tableStyleId>{0D71C580-254A-4B48-869B-2F15487CFC39}</a:tableStyleId>
              </a:tblPr>
              <a:tblGrid>
                <a:gridCol w="169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</a:rPr>
                        <a:t>Emp_Name</a:t>
                      </a:r>
                      <a:endParaRPr sz="1800" b="1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Address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Mobile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Subject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88" name="Google Shape;488;p13"/>
          <p:cNvGraphicFramePr/>
          <p:nvPr/>
        </p:nvGraphicFramePr>
        <p:xfrm>
          <a:off x="6128527" y="2442901"/>
          <a:ext cx="4530425" cy="411475"/>
        </p:xfrm>
        <a:graphic>
          <a:graphicData uri="http://schemas.openxmlformats.org/drawingml/2006/table">
            <a:tbl>
              <a:tblPr firstRow="1" bandRow="1">
                <a:noFill/>
                <a:tableStyleId>{0D71C580-254A-4B48-869B-2F15487CFC39}</a:tableStyleId>
              </a:tblPr>
              <a:tblGrid>
                <a:gridCol w="169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Prof. Ajay Shah</a:t>
                      </a:r>
                      <a:endParaRPr sz="1900" b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Rajkot</a:t>
                      </a:r>
                      <a:endParaRPr sz="1900" b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1234</a:t>
                      </a:r>
                      <a:endParaRPr sz="1900" b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PPS</a:t>
                      </a:r>
                      <a:endParaRPr sz="1900" b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89" name="Google Shape;489;p13"/>
          <p:cNvGraphicFramePr/>
          <p:nvPr/>
        </p:nvGraphicFramePr>
        <p:xfrm>
          <a:off x="889777" y="4565205"/>
          <a:ext cx="4530425" cy="411475"/>
        </p:xfrm>
        <a:graphic>
          <a:graphicData uri="http://schemas.openxmlformats.org/drawingml/2006/table">
            <a:tbl>
              <a:tblPr firstRow="1" bandRow="1">
                <a:noFill/>
                <a:tableStyleId>{0D71C580-254A-4B48-869B-2F15487CFC39}</a:tableStyleId>
              </a:tblPr>
              <a:tblGrid>
                <a:gridCol w="169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</a:rPr>
                        <a:t>Emp_Name</a:t>
                      </a:r>
                      <a:endParaRPr sz="1800" b="1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Address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Mobile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Subject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90" name="Google Shape;490;p13"/>
          <p:cNvGraphicFramePr/>
          <p:nvPr/>
        </p:nvGraphicFramePr>
        <p:xfrm>
          <a:off x="889777" y="4975644"/>
          <a:ext cx="4530425" cy="411475"/>
        </p:xfrm>
        <a:graphic>
          <a:graphicData uri="http://schemas.openxmlformats.org/drawingml/2006/table">
            <a:tbl>
              <a:tblPr firstRow="1" bandRow="1">
                <a:noFill/>
                <a:tableStyleId>{0D71C580-254A-4B48-869B-2F15487CFC39}</a:tableStyleId>
              </a:tblPr>
              <a:tblGrid>
                <a:gridCol w="169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Prof. Ajay Shah</a:t>
                      </a:r>
                      <a:endParaRPr sz="1900" b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Rajkot</a:t>
                      </a:r>
                      <a:endParaRPr sz="1900" b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1234</a:t>
                      </a:r>
                      <a:endParaRPr sz="1900" b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PPS</a:t>
                      </a:r>
                      <a:endParaRPr sz="1900" b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91" name="Google Shape;491;p13"/>
          <p:cNvGraphicFramePr/>
          <p:nvPr/>
        </p:nvGraphicFramePr>
        <p:xfrm>
          <a:off x="6128527" y="4565205"/>
          <a:ext cx="4530425" cy="411475"/>
        </p:xfrm>
        <a:graphic>
          <a:graphicData uri="http://schemas.openxmlformats.org/drawingml/2006/table">
            <a:tbl>
              <a:tblPr firstRow="1" bandRow="1">
                <a:noFill/>
                <a:tableStyleId>{0D71C580-254A-4B48-869B-2F15487CFC39}</a:tableStyleId>
              </a:tblPr>
              <a:tblGrid>
                <a:gridCol w="169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</a:rPr>
                        <a:t>Emp_Name</a:t>
                      </a:r>
                      <a:endParaRPr sz="1800" b="1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Address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Mobile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Subject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92" name="Google Shape;492;p13"/>
          <p:cNvGraphicFramePr/>
          <p:nvPr/>
        </p:nvGraphicFramePr>
        <p:xfrm>
          <a:off x="6128527" y="4975644"/>
          <a:ext cx="4530425" cy="411475"/>
        </p:xfrm>
        <a:graphic>
          <a:graphicData uri="http://schemas.openxmlformats.org/drawingml/2006/table">
            <a:tbl>
              <a:tblPr firstRow="1" bandRow="1">
                <a:noFill/>
                <a:tableStyleId>{0D71C580-254A-4B48-869B-2F15487CFC39}</a:tableStyleId>
              </a:tblPr>
              <a:tblGrid>
                <a:gridCol w="169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Prof. Ajay Shah</a:t>
                      </a:r>
                      <a:endParaRPr sz="1900" b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Rajkot</a:t>
                      </a:r>
                      <a:endParaRPr sz="1900" b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1234</a:t>
                      </a:r>
                      <a:endParaRPr sz="1900" b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PPS</a:t>
                      </a:r>
                      <a:endParaRPr sz="1900" b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65371" y="1379673"/>
            <a:ext cx="555241" cy="555241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" name="Google Shape;494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28100" y="1375931"/>
            <a:ext cx="555241" cy="555241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65371" y="5473962"/>
            <a:ext cx="555241" cy="555241"/>
          </a:xfrm>
          <a:prstGeom prst="rect">
            <a:avLst/>
          </a:prstGeom>
          <a:noFill/>
          <a:ln>
            <a:noFill/>
          </a:ln>
        </p:spPr>
      </p:pic>
      <p:pic>
        <p:nvPicPr>
          <p:cNvPr id="496" name="Google Shape;496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28099" y="5473962"/>
            <a:ext cx="555241" cy="555241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13"/>
          <p:cNvSpPr/>
          <p:nvPr/>
        </p:nvSpPr>
        <p:spPr>
          <a:xfrm>
            <a:off x="6473491" y="3195938"/>
            <a:ext cx="3840480" cy="1005840"/>
          </a:xfrm>
          <a:prstGeom prst="roundRect">
            <a:avLst>
              <a:gd name="adj" fmla="val 2976"/>
            </a:avLst>
          </a:prstGeom>
          <a:solidFill>
            <a:srgbClr val="F0D9D8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Database management system allows more than one user to access same data simultaneously.</a:t>
            </a:r>
            <a:endParaRPr sz="1800" b="0" i="0" u="none" strike="noStrike" cap="none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498" name="Google Shape;498;p13"/>
          <p:cNvCxnSpPr/>
          <p:nvPr/>
        </p:nvCxnSpPr>
        <p:spPr>
          <a:xfrm flipH="1">
            <a:off x="3155085" y="1944632"/>
            <a:ext cx="1293000" cy="2620500"/>
          </a:xfrm>
          <a:prstGeom prst="straightConnector1">
            <a:avLst/>
          </a:prstGeom>
          <a:noFill/>
          <a:ln w="38100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99" name="Google Shape;499;p13"/>
          <p:cNvCxnSpPr/>
          <p:nvPr/>
        </p:nvCxnSpPr>
        <p:spPr>
          <a:xfrm>
            <a:off x="4725705" y="1725422"/>
            <a:ext cx="1395695" cy="306578"/>
          </a:xfrm>
          <a:prstGeom prst="straightConnector1">
            <a:avLst/>
          </a:prstGeom>
          <a:noFill/>
          <a:ln w="38100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00" name="Google Shape;500;p13"/>
          <p:cNvSpPr/>
          <p:nvPr/>
        </p:nvSpPr>
        <p:spPr>
          <a:xfrm>
            <a:off x="5314964" y="1371788"/>
            <a:ext cx="822325" cy="1118347"/>
          </a:xfrm>
          <a:prstGeom prst="mathMultiply">
            <a:avLst>
              <a:gd name="adj1" fmla="val 23520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01" name="Google Shape;501;p13"/>
          <p:cNvSpPr/>
          <p:nvPr/>
        </p:nvSpPr>
        <p:spPr>
          <a:xfrm>
            <a:off x="3193819" y="3139685"/>
            <a:ext cx="822325" cy="1118347"/>
          </a:xfrm>
          <a:prstGeom prst="mathMultiply">
            <a:avLst>
              <a:gd name="adj1" fmla="val 23520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02" name="Google Shape;502;p13"/>
          <p:cNvSpPr/>
          <p:nvPr/>
        </p:nvSpPr>
        <p:spPr>
          <a:xfrm>
            <a:off x="4016144" y="3254918"/>
            <a:ext cx="1709983" cy="432000"/>
          </a:xfrm>
          <a:prstGeom prst="wedgeRoundRectCallout">
            <a:avLst>
              <a:gd name="adj1" fmla="val -53781"/>
              <a:gd name="adj2" fmla="val -112720"/>
              <a:gd name="adj3" fmla="val 16667"/>
            </a:avLst>
          </a:prstGeom>
          <a:solidFill>
            <a:srgbClr val="F0D9D8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Want to access</a:t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03" name="Google Shape;503;p13"/>
          <p:cNvSpPr/>
          <p:nvPr/>
        </p:nvSpPr>
        <p:spPr>
          <a:xfrm>
            <a:off x="5199979" y="1059818"/>
            <a:ext cx="1709983" cy="432000"/>
          </a:xfrm>
          <a:prstGeom prst="wedgeRoundRectCallout">
            <a:avLst>
              <a:gd name="adj1" fmla="val -71057"/>
              <a:gd name="adj2" fmla="val 108716"/>
              <a:gd name="adj3" fmla="val 16667"/>
            </a:avLst>
          </a:prstGeom>
          <a:solidFill>
            <a:srgbClr val="F0D9D8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Want to access</a:t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14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Restricting unauthorized access to data</a:t>
            </a:r>
            <a:endParaRPr/>
          </a:p>
        </p:txBody>
      </p:sp>
      <p:sp>
        <p:nvSpPr>
          <p:cNvPr id="509" name="Google Shape;509;p14"/>
          <p:cNvSpPr txBox="1">
            <a:spLocks noGrp="1"/>
          </p:cNvSpPr>
          <p:nvPr>
            <p:ph type="body" idx="1"/>
          </p:nvPr>
        </p:nvSpPr>
        <p:spPr>
          <a:xfrm>
            <a:off x="144389" y="863450"/>
            <a:ext cx="11929500" cy="57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/>
          </a:p>
        </p:txBody>
      </p:sp>
      <p:graphicFrame>
        <p:nvGraphicFramePr>
          <p:cNvPr id="510" name="Google Shape;510;p14"/>
          <p:cNvGraphicFramePr/>
          <p:nvPr/>
        </p:nvGraphicFramePr>
        <p:xfrm>
          <a:off x="963723" y="1510161"/>
          <a:ext cx="4530425" cy="411475"/>
        </p:xfrm>
        <a:graphic>
          <a:graphicData uri="http://schemas.openxmlformats.org/drawingml/2006/table">
            <a:tbl>
              <a:tblPr firstRow="1" bandRow="1">
                <a:noFill/>
                <a:tableStyleId>{0D71C580-254A-4B48-869B-2F15487CFC39}</a:tableStyleId>
              </a:tblPr>
              <a:tblGrid>
                <a:gridCol w="169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</a:rPr>
                        <a:t>Emp_Name</a:t>
                      </a:r>
                      <a:endParaRPr sz="1800" b="1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Address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Mobile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Subject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1" name="Google Shape;511;p14"/>
          <p:cNvGraphicFramePr/>
          <p:nvPr/>
        </p:nvGraphicFramePr>
        <p:xfrm>
          <a:off x="963723" y="1920600"/>
          <a:ext cx="4530425" cy="411475"/>
        </p:xfrm>
        <a:graphic>
          <a:graphicData uri="http://schemas.openxmlformats.org/drawingml/2006/table">
            <a:tbl>
              <a:tblPr firstRow="1" bandRow="1">
                <a:noFill/>
                <a:tableStyleId>{0D71C580-254A-4B48-869B-2F15487CFC39}</a:tableStyleId>
              </a:tblPr>
              <a:tblGrid>
                <a:gridCol w="169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Prof. Ajay Shah</a:t>
                      </a:r>
                      <a:endParaRPr sz="1900" b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Rajkot</a:t>
                      </a:r>
                      <a:endParaRPr sz="1900" b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1234</a:t>
                      </a:r>
                      <a:endParaRPr sz="1900" b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PPS</a:t>
                      </a:r>
                      <a:endParaRPr sz="1900" b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2" name="Google Shape;512;p14"/>
          <p:cNvGraphicFramePr/>
          <p:nvPr/>
        </p:nvGraphicFramePr>
        <p:xfrm>
          <a:off x="963723" y="3072180"/>
          <a:ext cx="4530425" cy="411475"/>
        </p:xfrm>
        <a:graphic>
          <a:graphicData uri="http://schemas.openxmlformats.org/drawingml/2006/table">
            <a:tbl>
              <a:tblPr firstRow="1" bandRow="1">
                <a:noFill/>
                <a:tableStyleId>{0D71C580-254A-4B48-869B-2F15487CFC39}</a:tableStyleId>
              </a:tblPr>
              <a:tblGrid>
                <a:gridCol w="169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</a:rPr>
                        <a:t>Emp_Name</a:t>
                      </a:r>
                      <a:endParaRPr sz="1800" b="1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Post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Salary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Load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3" name="Google Shape;513;p14"/>
          <p:cNvGraphicFramePr/>
          <p:nvPr/>
        </p:nvGraphicFramePr>
        <p:xfrm>
          <a:off x="963723" y="3482619"/>
          <a:ext cx="4530425" cy="411475"/>
        </p:xfrm>
        <a:graphic>
          <a:graphicData uri="http://schemas.openxmlformats.org/drawingml/2006/table">
            <a:tbl>
              <a:tblPr firstRow="1" bandRow="1">
                <a:noFill/>
                <a:tableStyleId>{0D71C580-254A-4B48-869B-2F15487CFC39}</a:tableStyleId>
              </a:tblPr>
              <a:tblGrid>
                <a:gridCol w="169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Prof. Ajay Shah</a:t>
                      </a:r>
                      <a:endParaRPr sz="1900" b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Lecturer</a:t>
                      </a:r>
                      <a:endParaRPr sz="1900" b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50,000</a:t>
                      </a:r>
                      <a:endParaRPr sz="1900" b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15</a:t>
                      </a:r>
                      <a:endParaRPr sz="1900" b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4" name="Google Shape;514;p14"/>
          <p:cNvGraphicFramePr/>
          <p:nvPr/>
        </p:nvGraphicFramePr>
        <p:xfrm>
          <a:off x="963723" y="4623475"/>
          <a:ext cx="4873300" cy="411475"/>
        </p:xfrm>
        <a:graphic>
          <a:graphicData uri="http://schemas.openxmlformats.org/drawingml/2006/table">
            <a:tbl>
              <a:tblPr firstRow="1" bandRow="1">
                <a:noFill/>
                <a:tableStyleId>{0D71C580-254A-4B48-869B-2F15487CFC39}</a:tableStyleId>
              </a:tblPr>
              <a:tblGrid>
                <a:gridCol w="169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8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1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4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</a:rPr>
                        <a:t>Emp_Name</a:t>
                      </a:r>
                      <a:endParaRPr sz="1800" b="1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Teaching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Knowledge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Rating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5" name="Google Shape;515;p14"/>
          <p:cNvGraphicFramePr/>
          <p:nvPr/>
        </p:nvGraphicFramePr>
        <p:xfrm>
          <a:off x="963723" y="5033914"/>
          <a:ext cx="4871150" cy="411475"/>
        </p:xfrm>
        <a:graphic>
          <a:graphicData uri="http://schemas.openxmlformats.org/drawingml/2006/table">
            <a:tbl>
              <a:tblPr firstRow="1" bandRow="1">
                <a:noFill/>
                <a:tableStyleId>{0D71C580-254A-4B48-869B-2F15487CFC39}</a:tableStyleId>
              </a:tblPr>
              <a:tblGrid>
                <a:gridCol w="169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7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Prof. Ajay Shah</a:t>
                      </a:r>
                      <a:endParaRPr sz="1900" b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Good</a:t>
                      </a:r>
                      <a:endParaRPr sz="1900" b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Excellent</a:t>
                      </a:r>
                      <a:endParaRPr sz="1900" b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9</a:t>
                      </a:r>
                      <a:endParaRPr sz="1900" b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6" name="Google Shape;516;p14"/>
          <p:cNvGraphicFramePr/>
          <p:nvPr/>
        </p:nvGraphicFramePr>
        <p:xfrm>
          <a:off x="961908" y="2706138"/>
          <a:ext cx="822950" cy="365770"/>
        </p:xfrm>
        <a:graphic>
          <a:graphicData uri="http://schemas.openxmlformats.org/drawingml/2006/table">
            <a:tbl>
              <a:tblPr firstRow="1" bandRow="1">
                <a:noFill/>
                <a:tableStyleId>{0D71C580-254A-4B48-869B-2F15487CFC39}</a:tableStyleId>
              </a:tblPr>
              <a:tblGrid>
                <a:gridCol w="82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</a:rPr>
                        <a:t>File - 2</a:t>
                      </a:r>
                      <a:endParaRPr sz="1800" b="1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7" name="Google Shape;517;p14"/>
          <p:cNvGraphicFramePr/>
          <p:nvPr/>
        </p:nvGraphicFramePr>
        <p:xfrm>
          <a:off x="961908" y="4255846"/>
          <a:ext cx="822950" cy="365770"/>
        </p:xfrm>
        <a:graphic>
          <a:graphicData uri="http://schemas.openxmlformats.org/drawingml/2006/table">
            <a:tbl>
              <a:tblPr firstRow="1" bandRow="1">
                <a:noFill/>
                <a:tableStyleId>{0D71C580-254A-4B48-869B-2F15487CFC39}</a:tableStyleId>
              </a:tblPr>
              <a:tblGrid>
                <a:gridCol w="82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</a:rPr>
                        <a:t>File - 3</a:t>
                      </a:r>
                      <a:endParaRPr sz="1800" b="1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8" name="Google Shape;518;p14"/>
          <p:cNvGraphicFramePr/>
          <p:nvPr/>
        </p:nvGraphicFramePr>
        <p:xfrm>
          <a:off x="964939" y="1145357"/>
          <a:ext cx="822950" cy="365770"/>
        </p:xfrm>
        <a:graphic>
          <a:graphicData uri="http://schemas.openxmlformats.org/drawingml/2006/table">
            <a:tbl>
              <a:tblPr firstRow="1" bandRow="1">
                <a:noFill/>
                <a:tableStyleId>{0D71C580-254A-4B48-869B-2F15487CFC39}</a:tableStyleId>
              </a:tblPr>
              <a:tblGrid>
                <a:gridCol w="82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</a:rPr>
                        <a:t>File - 1</a:t>
                      </a:r>
                      <a:endParaRPr sz="1800" b="1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19" name="Google Shape;519;p14"/>
          <p:cNvSpPr/>
          <p:nvPr/>
        </p:nvSpPr>
        <p:spPr>
          <a:xfrm>
            <a:off x="786272" y="5776440"/>
            <a:ext cx="5303520" cy="633692"/>
          </a:xfrm>
          <a:prstGeom prst="wedgeRoundRectCallout">
            <a:avLst>
              <a:gd name="adj1" fmla="val -46835"/>
              <a:gd name="adj2" fmla="val 1908"/>
              <a:gd name="adj3" fmla="val 16667"/>
            </a:avLst>
          </a:prstGeom>
          <a:gradFill>
            <a:gsLst>
              <a:gs pos="0">
                <a:srgbClr val="5C2321"/>
              </a:gs>
              <a:gs pos="10000">
                <a:srgbClr val="5C2321"/>
              </a:gs>
              <a:gs pos="100000">
                <a:schemeClr val="accent6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DBMS prevents unauthorized user to access data.</a:t>
            </a:r>
            <a:endParaRPr/>
          </a:p>
        </p:txBody>
      </p:sp>
      <p:sp>
        <p:nvSpPr>
          <p:cNvPr id="520" name="Google Shape;520;p14"/>
          <p:cNvSpPr/>
          <p:nvPr/>
        </p:nvSpPr>
        <p:spPr>
          <a:xfrm>
            <a:off x="581891" y="1041488"/>
            <a:ext cx="5611091" cy="4653063"/>
          </a:xfrm>
          <a:prstGeom prst="roundRect">
            <a:avLst>
              <a:gd name="adj" fmla="val 3354"/>
            </a:avLst>
          </a:prstGeom>
          <a:noFill/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21" name="Google Shape;521;p14"/>
          <p:cNvSpPr/>
          <p:nvPr/>
        </p:nvSpPr>
        <p:spPr>
          <a:xfrm>
            <a:off x="734292" y="1136486"/>
            <a:ext cx="5292436" cy="2880360"/>
          </a:xfrm>
          <a:prstGeom prst="roundRect">
            <a:avLst>
              <a:gd name="adj" fmla="val 3354"/>
            </a:avLst>
          </a:prstGeom>
          <a:noFill/>
          <a:ln w="2857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22" name="Google Shape;522;p14"/>
          <p:cNvSpPr/>
          <p:nvPr/>
        </p:nvSpPr>
        <p:spPr>
          <a:xfrm>
            <a:off x="734292" y="4260606"/>
            <a:ext cx="5292436" cy="1281704"/>
          </a:xfrm>
          <a:prstGeom prst="roundRect">
            <a:avLst>
              <a:gd name="adj" fmla="val 3354"/>
            </a:avLst>
          </a:prstGeom>
          <a:noFill/>
          <a:ln w="28575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523" name="Google Shape;523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19496" y="2512328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14"/>
          <p:cNvSpPr txBox="1"/>
          <p:nvPr/>
        </p:nvSpPr>
        <p:spPr>
          <a:xfrm>
            <a:off x="7965598" y="2533226"/>
            <a:ext cx="1016094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Faculty of other college  </a:t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25" name="Google Shape;525;p14"/>
          <p:cNvSpPr/>
          <p:nvPr/>
        </p:nvSpPr>
        <p:spPr>
          <a:xfrm>
            <a:off x="6208190" y="2817128"/>
            <a:ext cx="762000" cy="3048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6969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26" name="Google Shape;526;p14"/>
          <p:cNvSpPr txBox="1"/>
          <p:nvPr/>
        </p:nvSpPr>
        <p:spPr>
          <a:xfrm>
            <a:off x="6181296" y="2260444"/>
            <a:ext cx="10287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Wants to access</a:t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527" name="Google Shape;527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19496" y="3923397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14"/>
          <p:cNvSpPr txBox="1"/>
          <p:nvPr/>
        </p:nvSpPr>
        <p:spPr>
          <a:xfrm>
            <a:off x="7971536" y="4057431"/>
            <a:ext cx="100421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Darshan Faculty</a:t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29" name="Google Shape;529;p14"/>
          <p:cNvSpPr/>
          <p:nvPr/>
        </p:nvSpPr>
        <p:spPr>
          <a:xfrm>
            <a:off x="6208190" y="4228197"/>
            <a:ext cx="762000" cy="3048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6969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30" name="Google Shape;530;p14"/>
          <p:cNvSpPr txBox="1"/>
          <p:nvPr/>
        </p:nvSpPr>
        <p:spPr>
          <a:xfrm>
            <a:off x="6181296" y="3671513"/>
            <a:ext cx="10287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Wants to access</a:t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531" name="Google Shape;531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79252" y="2260444"/>
            <a:ext cx="894898" cy="829605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Google Shape;532;p14"/>
          <p:cNvSpPr/>
          <p:nvPr/>
        </p:nvSpPr>
        <p:spPr>
          <a:xfrm>
            <a:off x="5253709" y="4093151"/>
            <a:ext cx="822325" cy="1118347"/>
          </a:xfrm>
          <a:prstGeom prst="mathMultiply">
            <a:avLst>
              <a:gd name="adj1" fmla="val 23520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33" name="Google Shape;533;p14"/>
          <p:cNvSpPr/>
          <p:nvPr/>
        </p:nvSpPr>
        <p:spPr>
          <a:xfrm>
            <a:off x="6280227" y="2396363"/>
            <a:ext cx="822325" cy="1118347"/>
          </a:xfrm>
          <a:prstGeom prst="mathMultiply">
            <a:avLst>
              <a:gd name="adj1" fmla="val 23520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15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Providing backup and recovery services</a:t>
            </a:r>
            <a:endParaRPr/>
          </a:p>
        </p:txBody>
      </p:sp>
      <p:sp>
        <p:nvSpPr>
          <p:cNvPr id="539" name="Google Shape;539;p15"/>
          <p:cNvSpPr txBox="1">
            <a:spLocks noGrp="1"/>
          </p:cNvSpPr>
          <p:nvPr>
            <p:ph type="body" idx="1"/>
          </p:nvPr>
        </p:nvSpPr>
        <p:spPr>
          <a:xfrm>
            <a:off x="144389" y="863450"/>
            <a:ext cx="11929500" cy="57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65113" lvl="0" indent="-112713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endParaRPr/>
          </a:p>
        </p:txBody>
      </p:sp>
      <p:pic>
        <p:nvPicPr>
          <p:cNvPr id="540" name="Google Shape;540;p15" descr="Image result for backup and recovery"/>
          <p:cNvPicPr preferRelativeResize="0"/>
          <p:nvPr/>
        </p:nvPicPr>
        <p:blipFill rotWithShape="1">
          <a:blip r:embed="rId3">
            <a:alphaModFix/>
          </a:blip>
          <a:srcRect l="5623" t="5000" r="10000" b="5000"/>
          <a:stretch/>
        </p:blipFill>
        <p:spPr>
          <a:xfrm>
            <a:off x="1902298" y="1371600"/>
            <a:ext cx="6366112" cy="3819666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15"/>
          <p:cNvSpPr/>
          <p:nvPr/>
        </p:nvSpPr>
        <p:spPr>
          <a:xfrm>
            <a:off x="1336314" y="5505791"/>
            <a:ext cx="7498080" cy="633692"/>
          </a:xfrm>
          <a:prstGeom prst="wedgeRoundRectCallout">
            <a:avLst>
              <a:gd name="adj1" fmla="val -46835"/>
              <a:gd name="adj2" fmla="val 1908"/>
              <a:gd name="adj3" fmla="val 16667"/>
            </a:avLst>
          </a:prstGeom>
          <a:gradFill>
            <a:gsLst>
              <a:gs pos="0">
                <a:srgbClr val="5C2321"/>
              </a:gs>
              <a:gs pos="10000">
                <a:srgbClr val="5C2321"/>
              </a:gs>
              <a:gs pos="100000">
                <a:schemeClr val="accent6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Provides facilities to backup and restore the database in case of failure.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16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Advantages of DBMS (Summary)</a:t>
            </a:r>
            <a:endParaRPr/>
          </a:p>
        </p:txBody>
      </p:sp>
      <p:sp>
        <p:nvSpPr>
          <p:cNvPr id="547" name="Google Shape;547;p16"/>
          <p:cNvSpPr txBox="1">
            <a:spLocks noGrp="1"/>
          </p:cNvSpPr>
          <p:nvPr>
            <p:ph type="body" idx="1"/>
          </p:nvPr>
        </p:nvSpPr>
        <p:spPr>
          <a:xfrm>
            <a:off x="144389" y="863450"/>
            <a:ext cx="11929500" cy="57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65113" lvl="0" indent="-265113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Reduce data redundancy (duplication)</a:t>
            </a:r>
            <a:endParaRPr/>
          </a:p>
          <a:p>
            <a:pPr marL="809625" lvl="1" indent="-352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 b="1">
                <a:solidFill>
                  <a:schemeClr val="accent6"/>
                </a:solidFill>
              </a:rPr>
              <a:t>Avoids unnecessary duplication</a:t>
            </a:r>
            <a:r>
              <a:rPr lang="en-US"/>
              <a:t> of data by storing data centrally.</a:t>
            </a:r>
            <a:endParaRPr/>
          </a:p>
          <a:p>
            <a:pPr marL="265113" lvl="0" indent="-2651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Remove data inconsistency</a:t>
            </a:r>
            <a:endParaRPr/>
          </a:p>
          <a:p>
            <a:pPr marL="809625" lvl="1" indent="-352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By </a:t>
            </a:r>
            <a:r>
              <a:rPr lang="en-US" b="1">
                <a:solidFill>
                  <a:schemeClr val="accent6"/>
                </a:solidFill>
              </a:rPr>
              <a:t>eliminating redundancy</a:t>
            </a:r>
            <a:r>
              <a:rPr lang="en-US"/>
              <a:t>, data </a:t>
            </a:r>
            <a:r>
              <a:rPr lang="en-US" b="1">
                <a:solidFill>
                  <a:schemeClr val="accent6"/>
                </a:solidFill>
              </a:rPr>
              <a:t>inconsistency can be removed</a:t>
            </a:r>
            <a:r>
              <a:rPr lang="en-US"/>
              <a:t>.</a:t>
            </a:r>
            <a:endParaRPr/>
          </a:p>
          <a:p>
            <a:pPr marL="265113" lvl="0" indent="-2651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Data isolation</a:t>
            </a:r>
            <a:endParaRPr/>
          </a:p>
          <a:p>
            <a:pPr marL="809625" lvl="1" indent="-352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A user can </a:t>
            </a:r>
            <a:r>
              <a:rPr lang="en-US" b="1">
                <a:solidFill>
                  <a:schemeClr val="accent6"/>
                </a:solidFill>
              </a:rPr>
              <a:t>easily retrieve proper data </a:t>
            </a:r>
            <a:r>
              <a:rPr lang="en-US"/>
              <a:t>as per his/her requirement.</a:t>
            </a:r>
            <a:endParaRPr/>
          </a:p>
          <a:p>
            <a:pPr marL="265113" lvl="0" indent="-2651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Guaranteed atomicity</a:t>
            </a:r>
            <a:endParaRPr/>
          </a:p>
          <a:p>
            <a:pPr marL="809625" lvl="1" indent="-352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Either transaction </a:t>
            </a:r>
            <a:r>
              <a:rPr lang="en-US" b="1">
                <a:solidFill>
                  <a:schemeClr val="accent6"/>
                </a:solidFill>
              </a:rPr>
              <a:t>executes 0% or 100%.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17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Advantages of DBMS (Summary)</a:t>
            </a:r>
            <a:endParaRPr/>
          </a:p>
        </p:txBody>
      </p:sp>
      <p:sp>
        <p:nvSpPr>
          <p:cNvPr id="553" name="Google Shape;553;p17"/>
          <p:cNvSpPr txBox="1">
            <a:spLocks noGrp="1"/>
          </p:cNvSpPr>
          <p:nvPr>
            <p:ph type="body" idx="1"/>
          </p:nvPr>
        </p:nvSpPr>
        <p:spPr>
          <a:xfrm>
            <a:off x="144389" y="863450"/>
            <a:ext cx="11929500" cy="57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65113" lvl="0" indent="-265113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Allow implementing integrity constraints</a:t>
            </a:r>
            <a:endParaRPr/>
          </a:p>
          <a:p>
            <a:pPr marL="809625" lvl="1" indent="-352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 b="1">
                <a:solidFill>
                  <a:schemeClr val="accent6"/>
                </a:solidFill>
              </a:rPr>
              <a:t>Business rules can be implemented </a:t>
            </a:r>
            <a:r>
              <a:rPr lang="en-US"/>
              <a:t>such as do not allow to store amount less than Rs. 0 in balance. </a:t>
            </a:r>
            <a:endParaRPr/>
          </a:p>
          <a:p>
            <a:pPr marL="265113" lvl="0" indent="-2651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Sharing of data among multiple users</a:t>
            </a:r>
            <a:endParaRPr/>
          </a:p>
          <a:p>
            <a:pPr marL="809625" lvl="1" indent="-352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 b="1">
                <a:solidFill>
                  <a:schemeClr val="accent6"/>
                </a:solidFill>
              </a:rPr>
              <a:t>More than one users can access </a:t>
            </a:r>
            <a:r>
              <a:rPr lang="en-US"/>
              <a:t>same data at the same time.</a:t>
            </a:r>
            <a:endParaRPr/>
          </a:p>
          <a:p>
            <a:pPr marL="265113" lvl="0" indent="-2651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Restricting unauthorized access to data</a:t>
            </a:r>
            <a:endParaRPr/>
          </a:p>
          <a:p>
            <a:pPr marL="809625" lvl="1" indent="-352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A user can </a:t>
            </a:r>
            <a:r>
              <a:rPr lang="en-US" b="1">
                <a:solidFill>
                  <a:schemeClr val="accent6"/>
                </a:solidFill>
              </a:rPr>
              <a:t>only access data which is authorized </a:t>
            </a:r>
            <a:r>
              <a:rPr lang="en-US"/>
              <a:t>to him/her.</a:t>
            </a:r>
            <a:endParaRPr/>
          </a:p>
          <a:p>
            <a:pPr marL="265113" lvl="0" indent="-2651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Providing backup and recovery services</a:t>
            </a:r>
            <a:endParaRPr/>
          </a:p>
          <a:p>
            <a:pPr marL="809625" lvl="1" indent="-352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Can </a:t>
            </a:r>
            <a:r>
              <a:rPr lang="en-US" b="1">
                <a:solidFill>
                  <a:schemeClr val="accent6"/>
                </a:solidFill>
              </a:rPr>
              <a:t>take a regular auto or manual backup </a:t>
            </a:r>
            <a:r>
              <a:rPr lang="en-US"/>
              <a:t>and </a:t>
            </a:r>
            <a:r>
              <a:rPr lang="en-US" b="1">
                <a:solidFill>
                  <a:schemeClr val="accent6"/>
                </a:solidFill>
              </a:rPr>
              <a:t>use it to restore </a:t>
            </a:r>
            <a:r>
              <a:rPr lang="en-US"/>
              <a:t>the database if it corrupts.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5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1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C2321"/>
              </a:buClr>
              <a:buSzPts val="6000"/>
              <a:buFont typeface="Roboto Condensed"/>
              <a:buNone/>
            </a:pPr>
            <a:r>
              <a:rPr lang="en-US">
                <a:solidFill>
                  <a:srgbClr val="5C2321"/>
                </a:solidFill>
              </a:rPr>
              <a:t>Basic Terms</a:t>
            </a:r>
            <a:endParaRPr>
              <a:solidFill>
                <a:srgbClr val="5C2321"/>
              </a:solidFill>
            </a:endParaRPr>
          </a:p>
        </p:txBody>
      </p:sp>
      <p:sp>
        <p:nvSpPr>
          <p:cNvPr id="559" name="Google Shape;559;p1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Section - 4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19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Basic terms</a:t>
            </a:r>
            <a:endParaRPr/>
          </a:p>
        </p:txBody>
      </p:sp>
      <p:sp>
        <p:nvSpPr>
          <p:cNvPr id="565" name="Google Shape;565;p19"/>
          <p:cNvSpPr txBox="1">
            <a:spLocks noGrp="1"/>
          </p:cNvSpPr>
          <p:nvPr>
            <p:ph type="body" idx="1"/>
          </p:nvPr>
        </p:nvSpPr>
        <p:spPr>
          <a:xfrm>
            <a:off x="144389" y="863450"/>
            <a:ext cx="11929500" cy="57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65113" lvl="0" indent="-265113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Data</a:t>
            </a:r>
            <a:endParaRPr/>
          </a:p>
          <a:p>
            <a:pPr marL="809625" lvl="1" indent="-352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Data is </a:t>
            </a:r>
            <a:r>
              <a:rPr lang="en-US" b="1">
                <a:solidFill>
                  <a:schemeClr val="accent6"/>
                </a:solidFill>
              </a:rPr>
              <a:t>raw, unorganized facts </a:t>
            </a:r>
            <a:r>
              <a:rPr lang="en-US"/>
              <a:t>that need to be processed.</a:t>
            </a:r>
            <a:endParaRPr/>
          </a:p>
          <a:p>
            <a:pPr marL="809625" lvl="1" indent="-352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Example: Marks of students</a:t>
            </a:r>
            <a:endParaRPr/>
          </a:p>
          <a:p>
            <a:pPr marL="809625" lvl="1" indent="-352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Student_1 = 50/100, Student_2 = 25/100. </a:t>
            </a:r>
            <a:endParaRPr/>
          </a:p>
          <a:p>
            <a:pPr marL="265113" lvl="0" indent="-2651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Information</a:t>
            </a:r>
            <a:endParaRPr/>
          </a:p>
          <a:p>
            <a:pPr marL="809625" lvl="1" indent="-352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When data is </a:t>
            </a:r>
            <a:r>
              <a:rPr lang="en-US" b="1">
                <a:solidFill>
                  <a:schemeClr val="accent6"/>
                </a:solidFill>
              </a:rPr>
              <a:t>processed, organized, structured </a:t>
            </a:r>
            <a:r>
              <a:rPr lang="en-US"/>
              <a:t>or presented in a given context so as to make it useful, it is called information.</a:t>
            </a:r>
            <a:endParaRPr/>
          </a:p>
          <a:p>
            <a:pPr marL="809625" lvl="1" indent="-352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Example: Result of students (Pass or Fail)</a:t>
            </a:r>
            <a:endParaRPr/>
          </a:p>
          <a:p>
            <a:pPr marL="809625" lvl="1" indent="-352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Student_1 = Pass, Student_2 = Fail.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6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6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20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Basic terms (cont…)</a:t>
            </a:r>
            <a:endParaRPr/>
          </a:p>
        </p:txBody>
      </p:sp>
      <p:sp>
        <p:nvSpPr>
          <p:cNvPr id="571" name="Google Shape;571;p20"/>
          <p:cNvSpPr txBox="1">
            <a:spLocks noGrp="1"/>
          </p:cNvSpPr>
          <p:nvPr>
            <p:ph type="body" idx="1"/>
          </p:nvPr>
        </p:nvSpPr>
        <p:spPr>
          <a:xfrm>
            <a:off x="144389" y="863450"/>
            <a:ext cx="11929500" cy="57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65113" lvl="0" indent="-265113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Metadata</a:t>
            </a:r>
            <a:endParaRPr/>
          </a:p>
          <a:p>
            <a:pPr marL="809625" lvl="1" indent="-352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Metadata is </a:t>
            </a:r>
            <a:r>
              <a:rPr lang="en-US" b="1">
                <a:solidFill>
                  <a:schemeClr val="accent6"/>
                </a:solidFill>
              </a:rPr>
              <a:t>data about data</a:t>
            </a:r>
            <a:r>
              <a:rPr lang="en-US"/>
              <a:t>. </a:t>
            </a:r>
            <a:endParaRPr/>
          </a:p>
          <a:p>
            <a:pPr marL="809625" lvl="1" indent="-352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Data such as table name, column name, data type, authorized user and user access privileges for any table is called metadata for that table.</a:t>
            </a:r>
            <a:endParaRPr/>
          </a:p>
          <a:p>
            <a:pPr marL="265113" lvl="0" indent="-1127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endParaRPr/>
          </a:p>
          <a:p>
            <a:pPr marL="265113" lvl="0" indent="-1127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endParaRPr/>
          </a:p>
          <a:p>
            <a:pPr marL="265113" lvl="0" indent="-1127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endParaRPr/>
          </a:p>
          <a:p>
            <a:pPr marL="809625" lvl="1" indent="-225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809625" lvl="1" indent="-352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Metadata of above table is: </a:t>
            </a:r>
            <a:endParaRPr/>
          </a:p>
          <a:p>
            <a:pPr marL="1143000" lvl="2" indent="-2286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Table name such as </a:t>
            </a:r>
            <a:r>
              <a:rPr lang="en-US">
                <a:solidFill>
                  <a:schemeClr val="dk2"/>
                </a:solidFill>
              </a:rPr>
              <a:t>Faculty</a:t>
            </a:r>
            <a:endParaRPr/>
          </a:p>
          <a:p>
            <a:pPr marL="1143000" lvl="2" indent="-2286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Column name such as </a:t>
            </a:r>
            <a:r>
              <a:rPr lang="en-US">
                <a:solidFill>
                  <a:schemeClr val="dk2"/>
                </a:solidFill>
              </a:rPr>
              <a:t>Emp_Name, Address, Mobile_No, Subject</a:t>
            </a:r>
            <a:endParaRPr/>
          </a:p>
          <a:p>
            <a:pPr marL="1143000" lvl="2" indent="-2286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Datatype  such as </a:t>
            </a:r>
            <a:r>
              <a:rPr lang="en-US">
                <a:solidFill>
                  <a:schemeClr val="dk2"/>
                </a:solidFill>
              </a:rPr>
              <a:t>Varchar, Decimal</a:t>
            </a:r>
            <a:endParaRPr/>
          </a:p>
          <a:p>
            <a:pPr marL="1143000" lvl="2" indent="-2286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Access privileges such </a:t>
            </a:r>
            <a:r>
              <a:rPr lang="en-US">
                <a:solidFill>
                  <a:schemeClr val="dk2"/>
                </a:solidFill>
              </a:rPr>
              <a:t>as Read, Write (Update)</a:t>
            </a:r>
            <a:endParaRPr>
              <a:solidFill>
                <a:schemeClr val="dk2"/>
              </a:solidFill>
            </a:endParaRPr>
          </a:p>
        </p:txBody>
      </p:sp>
      <p:graphicFrame>
        <p:nvGraphicFramePr>
          <p:cNvPr id="572" name="Google Shape;572;p20"/>
          <p:cNvGraphicFramePr/>
          <p:nvPr/>
        </p:nvGraphicFramePr>
        <p:xfrm>
          <a:off x="1089710" y="2811663"/>
          <a:ext cx="5041600" cy="822950"/>
        </p:xfrm>
        <a:graphic>
          <a:graphicData uri="http://schemas.openxmlformats.org/drawingml/2006/table">
            <a:tbl>
              <a:tblPr firstRow="1" bandRow="1">
                <a:noFill/>
                <a:tableStyleId>{0D71C580-254A-4B48-869B-2F15487CFC39}</a:tableStyleId>
              </a:tblPr>
              <a:tblGrid>
                <a:gridCol w="169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9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</a:rPr>
                        <a:t>Emp_Name</a:t>
                      </a:r>
                      <a:endParaRPr sz="1800" b="1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Address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Mobile_No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Subject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Prof. Ajay Shah</a:t>
                      </a:r>
                      <a:endParaRPr sz="19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Rajkot</a:t>
                      </a:r>
                      <a:endParaRPr sz="19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9876543210</a:t>
                      </a:r>
                      <a:endParaRPr sz="19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PPS</a:t>
                      </a:r>
                      <a:endParaRPr sz="19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73" name="Google Shape;573;p20"/>
          <p:cNvGraphicFramePr/>
          <p:nvPr/>
        </p:nvGraphicFramePr>
        <p:xfrm>
          <a:off x="1088109" y="2440948"/>
          <a:ext cx="914400" cy="365770"/>
        </p:xfrm>
        <a:graphic>
          <a:graphicData uri="http://schemas.openxmlformats.org/drawingml/2006/table">
            <a:tbl>
              <a:tblPr firstRow="1" bandRow="1">
                <a:noFill/>
                <a:tableStyleId>{0D71C580-254A-4B48-869B-2F15487CFC39}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</a:rPr>
                        <a:t>Faculty</a:t>
                      </a:r>
                      <a:endParaRPr sz="1800" b="1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21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Basic terms (cont…)</a:t>
            </a:r>
            <a:endParaRPr/>
          </a:p>
        </p:txBody>
      </p:sp>
      <p:sp>
        <p:nvSpPr>
          <p:cNvPr id="579" name="Google Shape;579;p21"/>
          <p:cNvSpPr txBox="1">
            <a:spLocks noGrp="1"/>
          </p:cNvSpPr>
          <p:nvPr>
            <p:ph type="body" idx="1"/>
          </p:nvPr>
        </p:nvSpPr>
        <p:spPr>
          <a:xfrm>
            <a:off x="144389" y="863450"/>
            <a:ext cx="11929500" cy="57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65113" lvl="0" indent="-265113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Data dictionary</a:t>
            </a:r>
            <a:endParaRPr/>
          </a:p>
          <a:p>
            <a:pPr marL="809625" lvl="1" indent="-352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A data dictionary is an information repository which </a:t>
            </a:r>
            <a:r>
              <a:rPr lang="en-US" b="1">
                <a:solidFill>
                  <a:schemeClr val="accent6"/>
                </a:solidFill>
              </a:rPr>
              <a:t>contains metadata</a:t>
            </a:r>
            <a:r>
              <a:rPr lang="en-US"/>
              <a:t>. </a:t>
            </a:r>
            <a:endParaRPr/>
          </a:p>
          <a:p>
            <a:pPr marL="265113" lvl="0" indent="-1127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endParaRPr/>
          </a:p>
          <a:p>
            <a:pPr marL="265113" lvl="0" indent="-1127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endParaRPr/>
          </a:p>
          <a:p>
            <a:pPr marL="265113" lvl="0" indent="-1127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endParaRPr/>
          </a:p>
          <a:p>
            <a:pPr marL="265113" lvl="0" indent="-2651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Data warehouse</a:t>
            </a:r>
            <a:endParaRPr/>
          </a:p>
          <a:p>
            <a:pPr marL="809625" lvl="1" indent="-352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A data warehouse is an information repository which </a:t>
            </a:r>
            <a:r>
              <a:rPr lang="en-US" b="1">
                <a:solidFill>
                  <a:schemeClr val="accent6"/>
                </a:solidFill>
              </a:rPr>
              <a:t>stores data</a:t>
            </a:r>
            <a:r>
              <a:rPr lang="en-US"/>
              <a:t>. </a:t>
            </a:r>
            <a:endParaRPr/>
          </a:p>
          <a:p>
            <a:pPr marL="1143000" lvl="2" indent="-1143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endParaRPr>
              <a:solidFill>
                <a:schemeClr val="dk2"/>
              </a:solidFill>
            </a:endParaRPr>
          </a:p>
        </p:txBody>
      </p:sp>
      <p:graphicFrame>
        <p:nvGraphicFramePr>
          <p:cNvPr id="580" name="Google Shape;580;p21"/>
          <p:cNvGraphicFramePr/>
          <p:nvPr/>
        </p:nvGraphicFramePr>
        <p:xfrm>
          <a:off x="1089710" y="4281411"/>
          <a:ext cx="5041600" cy="1234425"/>
        </p:xfrm>
        <a:graphic>
          <a:graphicData uri="http://schemas.openxmlformats.org/drawingml/2006/table">
            <a:tbl>
              <a:tblPr firstRow="1" bandRow="1">
                <a:noFill/>
                <a:tableStyleId>{0D71C580-254A-4B48-869B-2F15487CFC39}</a:tableStyleId>
              </a:tblPr>
              <a:tblGrid>
                <a:gridCol w="169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9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</a:rPr>
                        <a:t>Emp_Name</a:t>
                      </a:r>
                      <a:endParaRPr sz="1800" b="1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Address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Mobile_No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Subject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Prof. Ajay Shah</a:t>
                      </a:r>
                      <a:endParaRPr sz="19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Rajkot</a:t>
                      </a:r>
                      <a:endParaRPr sz="19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9876543210</a:t>
                      </a:r>
                      <a:endParaRPr sz="19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PPS</a:t>
                      </a:r>
                      <a:endParaRPr sz="19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Prof. Ajay Patel</a:t>
                      </a:r>
                      <a:endParaRPr sz="19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Surat</a:t>
                      </a:r>
                      <a:endParaRPr sz="19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0123456789</a:t>
                      </a:r>
                      <a:endParaRPr sz="19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DBMS</a:t>
                      </a:r>
                      <a:endParaRPr sz="19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81" name="Google Shape;581;p21"/>
          <p:cNvGraphicFramePr/>
          <p:nvPr/>
        </p:nvGraphicFramePr>
        <p:xfrm>
          <a:off x="1088109" y="3910696"/>
          <a:ext cx="914400" cy="365770"/>
        </p:xfrm>
        <a:graphic>
          <a:graphicData uri="http://schemas.openxmlformats.org/drawingml/2006/table">
            <a:tbl>
              <a:tblPr firstRow="1" bandRow="1">
                <a:noFill/>
                <a:tableStyleId>{0D71C580-254A-4B48-869B-2F15487CFC39}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</a:rPr>
                        <a:t>Faculty</a:t>
                      </a:r>
                      <a:endParaRPr sz="1800" b="1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82" name="Google Shape;582;p21"/>
          <p:cNvSpPr/>
          <p:nvPr/>
        </p:nvSpPr>
        <p:spPr>
          <a:xfrm>
            <a:off x="1096273" y="1709532"/>
            <a:ext cx="6583680" cy="1188720"/>
          </a:xfrm>
          <a:prstGeom prst="roundRect">
            <a:avLst>
              <a:gd name="adj" fmla="val 8184"/>
            </a:avLst>
          </a:prstGeom>
          <a:solidFill>
            <a:srgbClr val="F0D9D8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Table Name – </a:t>
            </a:r>
            <a:r>
              <a:rPr lang="en-US" sz="1800" b="0" i="0" u="none" strike="noStrike" cap="none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Faculty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Column Name – </a:t>
            </a:r>
            <a:r>
              <a:rPr lang="en-US" sz="1800" b="0" i="0" u="none" strike="noStrike" cap="none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EmpName, Address, Mob, Subject, Salary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Datatype – </a:t>
            </a:r>
            <a:r>
              <a:rPr lang="en-US" sz="1800" b="0" i="0" u="none" strike="noStrike" cap="none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Varchar, Decimal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Access Privileges – </a:t>
            </a:r>
            <a:r>
              <a:rPr lang="en-US" sz="1800" b="0" i="0" u="none" strike="noStrike" cap="none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Read, Write (Update)</a:t>
            </a:r>
            <a:endParaRPr/>
          </a:p>
        </p:txBody>
      </p:sp>
      <p:sp>
        <p:nvSpPr>
          <p:cNvPr id="583" name="Google Shape;583;p21"/>
          <p:cNvSpPr/>
          <p:nvPr/>
        </p:nvSpPr>
        <p:spPr>
          <a:xfrm>
            <a:off x="1096272" y="4694889"/>
            <a:ext cx="5037827" cy="807202"/>
          </a:xfrm>
          <a:prstGeom prst="roundRect">
            <a:avLst>
              <a:gd name="adj" fmla="val 7787"/>
            </a:avLst>
          </a:prstGeom>
          <a:noFill/>
          <a:ln w="28575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584" name="Google Shape;584;p21"/>
          <p:cNvCxnSpPr/>
          <p:nvPr/>
        </p:nvCxnSpPr>
        <p:spPr>
          <a:xfrm>
            <a:off x="688878" y="6364139"/>
            <a:ext cx="8686800" cy="7823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graphicFrame>
        <p:nvGraphicFramePr>
          <p:cNvPr id="585" name="Google Shape;585;p21"/>
          <p:cNvGraphicFramePr/>
          <p:nvPr/>
        </p:nvGraphicFramePr>
        <p:xfrm>
          <a:off x="688878" y="5976154"/>
          <a:ext cx="1100450" cy="396250"/>
        </p:xfrm>
        <a:graphic>
          <a:graphicData uri="http://schemas.openxmlformats.org/drawingml/2006/table">
            <a:tbl>
              <a:tblPr firstRow="1" bandRow="1">
                <a:noFill/>
                <a:tableStyleId>{0D71C580-254A-4B48-869B-2F15487CFC39}</a:tableStyleId>
              </a:tblPr>
              <a:tblGrid>
                <a:gridCol w="1100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>
                          <a:solidFill>
                            <a:schemeClr val="lt1"/>
                          </a:solidFill>
                        </a:rPr>
                        <a:t>Exercise</a:t>
                      </a:r>
                      <a:endParaRPr sz="2000" b="1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86" name="Google Shape;586;p21"/>
          <p:cNvGraphicFramePr/>
          <p:nvPr/>
        </p:nvGraphicFramePr>
        <p:xfrm>
          <a:off x="1787807" y="5967266"/>
          <a:ext cx="7731450" cy="396250"/>
        </p:xfrm>
        <a:graphic>
          <a:graphicData uri="http://schemas.openxmlformats.org/drawingml/2006/table">
            <a:tbl>
              <a:tblPr firstRow="1" bandRow="1">
                <a:noFill/>
                <a:tableStyleId>{0D71C580-254A-4B48-869B-2F15487CFC39}</a:tableStyleId>
              </a:tblPr>
              <a:tblGrid>
                <a:gridCol w="7731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Why data dictionary and data warehouse are stored in the different places?</a:t>
                      </a:r>
                      <a:endParaRPr sz="2000" b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22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Basic terms (cont…)</a:t>
            </a:r>
            <a:endParaRPr/>
          </a:p>
        </p:txBody>
      </p:sp>
      <p:sp>
        <p:nvSpPr>
          <p:cNvPr id="592" name="Google Shape;592;p22"/>
          <p:cNvSpPr txBox="1">
            <a:spLocks noGrp="1"/>
          </p:cNvSpPr>
          <p:nvPr>
            <p:ph type="body" idx="1"/>
          </p:nvPr>
        </p:nvSpPr>
        <p:spPr>
          <a:xfrm>
            <a:off x="178805" y="863444"/>
            <a:ext cx="11929641" cy="559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65113" lvl="0" indent="-265113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Field</a:t>
            </a:r>
            <a:endParaRPr/>
          </a:p>
          <a:p>
            <a:pPr marL="809625" lvl="1" indent="-352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A field is a </a:t>
            </a:r>
            <a:r>
              <a:rPr lang="en-US" b="1">
                <a:solidFill>
                  <a:schemeClr val="accent6"/>
                </a:solidFill>
              </a:rPr>
              <a:t>character or group of characters </a:t>
            </a:r>
            <a:r>
              <a:rPr lang="en-US"/>
              <a:t>that have a specific meaning.</a:t>
            </a:r>
            <a:endParaRPr/>
          </a:p>
          <a:p>
            <a:pPr marL="809625" lvl="1" indent="-352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E.g, the value of Emp_Name, Address, Mobile_No etc are all fields of Faculty table.</a:t>
            </a:r>
            <a:endParaRPr/>
          </a:p>
          <a:p>
            <a:pPr marL="265113" lvl="0" indent="-1127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endParaRPr/>
          </a:p>
          <a:p>
            <a:pPr marL="265113" lvl="0" indent="-1127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endParaRPr/>
          </a:p>
          <a:p>
            <a:pPr marL="265113" lvl="0" indent="-1127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endParaRPr/>
          </a:p>
          <a:p>
            <a:pPr marL="265113" lvl="0" indent="-1127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endParaRPr/>
          </a:p>
          <a:p>
            <a:pPr marL="265113" lvl="0" indent="-2651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Record / Tuple</a:t>
            </a:r>
            <a:endParaRPr/>
          </a:p>
          <a:p>
            <a:pPr marL="809625" lvl="1" indent="-352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A record is a </a:t>
            </a:r>
            <a:r>
              <a:rPr lang="en-US" b="1">
                <a:solidFill>
                  <a:schemeClr val="accent6"/>
                </a:solidFill>
              </a:rPr>
              <a:t>collection of logically related fields</a:t>
            </a:r>
            <a:r>
              <a:rPr lang="en-US"/>
              <a:t>.</a:t>
            </a:r>
            <a:endParaRPr/>
          </a:p>
          <a:p>
            <a:pPr marL="809625" lvl="1" indent="-352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E.g, the collection of fields (Emp_Name, Address, Mobile_No, Subject) forms a record for the Faculty.</a:t>
            </a:r>
            <a:endParaRPr/>
          </a:p>
        </p:txBody>
      </p:sp>
      <p:graphicFrame>
        <p:nvGraphicFramePr>
          <p:cNvPr id="593" name="Google Shape;593;p22"/>
          <p:cNvGraphicFramePr/>
          <p:nvPr/>
        </p:nvGraphicFramePr>
        <p:xfrm>
          <a:off x="1117657" y="2429520"/>
          <a:ext cx="5041600" cy="1234425"/>
        </p:xfrm>
        <a:graphic>
          <a:graphicData uri="http://schemas.openxmlformats.org/drawingml/2006/table">
            <a:tbl>
              <a:tblPr firstRow="1" bandRow="1">
                <a:noFill/>
                <a:tableStyleId>{0D71C580-254A-4B48-869B-2F15487CFC39}</a:tableStyleId>
              </a:tblPr>
              <a:tblGrid>
                <a:gridCol w="169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9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</a:rPr>
                        <a:t>Emp_Name</a:t>
                      </a:r>
                      <a:endParaRPr sz="1800" b="1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Address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Mobile_No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Subject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Prof. Ajay Shah</a:t>
                      </a:r>
                      <a:endParaRPr sz="19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Rajkot</a:t>
                      </a:r>
                      <a:endParaRPr sz="19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9876543210</a:t>
                      </a:r>
                      <a:endParaRPr sz="19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PPS</a:t>
                      </a:r>
                      <a:endParaRPr sz="19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Prof. Ajay Patel</a:t>
                      </a:r>
                      <a:endParaRPr sz="19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Surat</a:t>
                      </a:r>
                      <a:endParaRPr sz="19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0123456789</a:t>
                      </a:r>
                      <a:endParaRPr sz="19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DBMS</a:t>
                      </a:r>
                      <a:endParaRPr sz="19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94" name="Google Shape;594;p22"/>
          <p:cNvGraphicFramePr/>
          <p:nvPr/>
        </p:nvGraphicFramePr>
        <p:xfrm>
          <a:off x="1116684" y="2058805"/>
          <a:ext cx="914400" cy="365770"/>
        </p:xfrm>
        <a:graphic>
          <a:graphicData uri="http://schemas.openxmlformats.org/drawingml/2006/table">
            <a:tbl>
              <a:tblPr firstRow="1" bandRow="1">
                <a:noFill/>
                <a:tableStyleId>{0D71C580-254A-4B48-869B-2F15487CFC39}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</a:rPr>
                        <a:t>Faculty</a:t>
                      </a:r>
                      <a:endParaRPr sz="1800" b="1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95" name="Google Shape;595;p22"/>
          <p:cNvGraphicFramePr/>
          <p:nvPr/>
        </p:nvGraphicFramePr>
        <p:xfrm>
          <a:off x="1117657" y="5137851"/>
          <a:ext cx="5041600" cy="411475"/>
        </p:xfrm>
        <a:graphic>
          <a:graphicData uri="http://schemas.openxmlformats.org/drawingml/2006/table">
            <a:tbl>
              <a:tblPr firstRow="1" bandRow="1">
                <a:noFill/>
                <a:tableStyleId>{0D71C580-254A-4B48-869B-2F15487CFC39}</a:tableStyleId>
              </a:tblPr>
              <a:tblGrid>
                <a:gridCol w="169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9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Prof. Ajay Shah</a:t>
                      </a:r>
                      <a:endParaRPr sz="1900" b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Rajkot</a:t>
                      </a:r>
                      <a:endParaRPr sz="1900" b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9876543210</a:t>
                      </a:r>
                      <a:endParaRPr sz="1900" b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PPS</a:t>
                      </a:r>
                      <a:endParaRPr sz="1900" b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96" name="Google Shape;596;p22"/>
          <p:cNvGraphicFramePr/>
          <p:nvPr/>
        </p:nvGraphicFramePr>
        <p:xfrm>
          <a:off x="1117657" y="5549012"/>
          <a:ext cx="5041600" cy="411475"/>
        </p:xfrm>
        <a:graphic>
          <a:graphicData uri="http://schemas.openxmlformats.org/drawingml/2006/table">
            <a:tbl>
              <a:tblPr firstRow="1" bandRow="1">
                <a:noFill/>
                <a:tableStyleId>{0D71C580-254A-4B48-869B-2F15487CFC39}</a:tableStyleId>
              </a:tblPr>
              <a:tblGrid>
                <a:gridCol w="169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9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Prof. Ajay Patel</a:t>
                      </a:r>
                      <a:endParaRPr sz="1900" b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Surat</a:t>
                      </a:r>
                      <a:endParaRPr sz="1900" b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0123456789</a:t>
                      </a:r>
                      <a:endParaRPr sz="1900" b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DBMS</a:t>
                      </a:r>
                      <a:endParaRPr sz="1900" b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97" name="Google Shape;597;p22"/>
          <p:cNvGraphicFramePr/>
          <p:nvPr/>
        </p:nvGraphicFramePr>
        <p:xfrm>
          <a:off x="6731235" y="3105184"/>
          <a:ext cx="1663775" cy="370850"/>
        </p:xfrm>
        <a:graphic>
          <a:graphicData uri="http://schemas.openxmlformats.org/drawingml/2006/table">
            <a:tbl>
              <a:tblPr firstRow="1" bandRow="1">
                <a:noFill/>
                <a:tableStyleId>{0D71C580-254A-4B48-869B-2F15487CFC39}</a:tableStyleId>
              </a:tblPr>
              <a:tblGrid>
                <a:gridCol w="1663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Prof. Ajay Shah</a:t>
                      </a:r>
                      <a:endParaRPr sz="1800" b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98" name="Google Shape;598;p22"/>
          <p:cNvGraphicFramePr/>
          <p:nvPr/>
        </p:nvGraphicFramePr>
        <p:xfrm>
          <a:off x="8507446" y="3105184"/>
          <a:ext cx="1340875" cy="370850"/>
        </p:xfrm>
        <a:graphic>
          <a:graphicData uri="http://schemas.openxmlformats.org/drawingml/2006/table">
            <a:tbl>
              <a:tblPr firstRow="1" bandRow="1">
                <a:noFill/>
                <a:tableStyleId>{0D71C580-254A-4B48-869B-2F15487CFC39}</a:tableStyleId>
              </a:tblPr>
              <a:tblGrid>
                <a:gridCol w="1340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Rajkot</a:t>
                      </a:r>
                      <a:endParaRPr sz="1800" b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99" name="Google Shape;599;p22"/>
          <p:cNvSpPr/>
          <p:nvPr/>
        </p:nvSpPr>
        <p:spPr>
          <a:xfrm>
            <a:off x="8558649" y="2468828"/>
            <a:ext cx="1238480" cy="515938"/>
          </a:xfrm>
          <a:prstGeom prst="wedgeRoundRectCallout">
            <a:avLst>
              <a:gd name="adj1" fmla="val -49350"/>
              <a:gd name="adj2" fmla="val 4128"/>
              <a:gd name="adj3" fmla="val 16667"/>
            </a:avLst>
          </a:prstGeom>
          <a:solidFill>
            <a:srgbClr val="F0D9D8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Fields</a:t>
            </a:r>
            <a:endParaRPr/>
          </a:p>
        </p:txBody>
      </p:sp>
      <p:sp>
        <p:nvSpPr>
          <p:cNvPr id="600" name="Google Shape;600;p22"/>
          <p:cNvSpPr/>
          <p:nvPr/>
        </p:nvSpPr>
        <p:spPr>
          <a:xfrm>
            <a:off x="6404033" y="5294853"/>
            <a:ext cx="1612324" cy="547909"/>
          </a:xfrm>
          <a:prstGeom prst="wedgeRoundRectCallout">
            <a:avLst>
              <a:gd name="adj1" fmla="val -49350"/>
              <a:gd name="adj2" fmla="val 19073"/>
              <a:gd name="adj3" fmla="val 16667"/>
            </a:avLst>
          </a:prstGeom>
          <a:solidFill>
            <a:srgbClr val="F0D9D8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Record / Tuple</a:t>
            </a:r>
            <a:endParaRPr/>
          </a:p>
        </p:txBody>
      </p:sp>
      <p:graphicFrame>
        <p:nvGraphicFramePr>
          <p:cNvPr id="601" name="Google Shape;601;p22"/>
          <p:cNvGraphicFramePr/>
          <p:nvPr/>
        </p:nvGraphicFramePr>
        <p:xfrm>
          <a:off x="9960775" y="3105184"/>
          <a:ext cx="1340875" cy="370850"/>
        </p:xfrm>
        <a:graphic>
          <a:graphicData uri="http://schemas.openxmlformats.org/drawingml/2006/table">
            <a:tbl>
              <a:tblPr firstRow="1" bandRow="1">
                <a:noFill/>
                <a:tableStyleId>{0D71C580-254A-4B48-869B-2F15487CFC39}</a:tableStyleId>
              </a:tblPr>
              <a:tblGrid>
                <a:gridCol w="1340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9876543210</a:t>
                      </a:r>
                      <a:endParaRPr sz="1800" b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9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9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9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2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C2321"/>
              </a:buClr>
              <a:buSzPts val="6000"/>
              <a:buFont typeface="Roboto Condensed"/>
              <a:buNone/>
            </a:pPr>
            <a:r>
              <a:rPr lang="en-US">
                <a:solidFill>
                  <a:srgbClr val="5C2321"/>
                </a:solidFill>
              </a:rPr>
              <a:t>3 Levels ANSI SPARC </a:t>
            </a:r>
            <a:br>
              <a:rPr lang="en-US">
                <a:solidFill>
                  <a:srgbClr val="5C2321"/>
                </a:solidFill>
              </a:rPr>
            </a:br>
            <a:r>
              <a:rPr lang="en-US">
                <a:solidFill>
                  <a:srgbClr val="5C2321"/>
                </a:solidFill>
              </a:rPr>
              <a:t>Database System</a:t>
            </a:r>
            <a:endParaRPr/>
          </a:p>
        </p:txBody>
      </p:sp>
      <p:sp>
        <p:nvSpPr>
          <p:cNvPr id="607" name="Google Shape;607;p2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Section - 5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24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3 Levels ANSI SPARC Database System</a:t>
            </a:r>
            <a:endParaRPr/>
          </a:p>
        </p:txBody>
      </p:sp>
      <p:sp>
        <p:nvSpPr>
          <p:cNvPr id="613" name="Google Shape;613;p24"/>
          <p:cNvSpPr txBox="1">
            <a:spLocks noGrp="1"/>
          </p:cNvSpPr>
          <p:nvPr>
            <p:ph type="body" idx="1"/>
          </p:nvPr>
        </p:nvSpPr>
        <p:spPr>
          <a:xfrm>
            <a:off x="144389" y="863450"/>
            <a:ext cx="11929500" cy="57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65113" lvl="0" indent="-112713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endParaRPr/>
          </a:p>
        </p:txBody>
      </p:sp>
      <p:sp>
        <p:nvSpPr>
          <p:cNvPr id="614" name="Google Shape;614;p24"/>
          <p:cNvSpPr txBox="1"/>
          <p:nvPr/>
        </p:nvSpPr>
        <p:spPr>
          <a:xfrm>
            <a:off x="9115926" y="1920389"/>
            <a:ext cx="100584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View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Level</a:t>
            </a:r>
            <a:endParaRPr sz="18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15" name="Google Shape;615;p24"/>
          <p:cNvSpPr txBox="1"/>
          <p:nvPr/>
        </p:nvSpPr>
        <p:spPr>
          <a:xfrm>
            <a:off x="9115926" y="3220135"/>
            <a:ext cx="100584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Logical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Level</a:t>
            </a:r>
            <a:endParaRPr sz="18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16" name="Google Shape;616;p24"/>
          <p:cNvSpPr txBox="1"/>
          <p:nvPr/>
        </p:nvSpPr>
        <p:spPr>
          <a:xfrm>
            <a:off x="9115926" y="4546684"/>
            <a:ext cx="100584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Physical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Level</a:t>
            </a:r>
            <a:endParaRPr sz="18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17" name="Google Shape;617;p24"/>
          <p:cNvSpPr/>
          <p:nvPr/>
        </p:nvSpPr>
        <p:spPr>
          <a:xfrm>
            <a:off x="4028950" y="1938754"/>
            <a:ext cx="1097280" cy="609600"/>
          </a:xfrm>
          <a:prstGeom prst="rect">
            <a:avLst/>
          </a:prstGeom>
          <a:solidFill>
            <a:srgbClr val="F0D9D8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View 1</a:t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18" name="Google Shape;618;p24"/>
          <p:cNvSpPr/>
          <p:nvPr/>
        </p:nvSpPr>
        <p:spPr>
          <a:xfrm>
            <a:off x="5857750" y="1938754"/>
            <a:ext cx="1097280" cy="609600"/>
          </a:xfrm>
          <a:prstGeom prst="rect">
            <a:avLst/>
          </a:prstGeom>
          <a:solidFill>
            <a:srgbClr val="F0D9D8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View 2</a:t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19" name="Google Shape;619;p24"/>
          <p:cNvSpPr/>
          <p:nvPr/>
        </p:nvSpPr>
        <p:spPr>
          <a:xfrm>
            <a:off x="7686550" y="1938754"/>
            <a:ext cx="1097280" cy="609600"/>
          </a:xfrm>
          <a:prstGeom prst="rect">
            <a:avLst/>
          </a:prstGeom>
          <a:solidFill>
            <a:srgbClr val="F0D9D8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View 3</a:t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20" name="Google Shape;620;p24"/>
          <p:cNvSpPr/>
          <p:nvPr/>
        </p:nvSpPr>
        <p:spPr>
          <a:xfrm>
            <a:off x="5686926" y="3146539"/>
            <a:ext cx="1447800" cy="609600"/>
          </a:xfrm>
          <a:prstGeom prst="rect">
            <a:avLst/>
          </a:prstGeom>
          <a:solidFill>
            <a:srgbClr val="F0D9D8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Conceptual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Level</a:t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21" name="Google Shape;621;p24"/>
          <p:cNvSpPr/>
          <p:nvPr/>
        </p:nvSpPr>
        <p:spPr>
          <a:xfrm>
            <a:off x="5686926" y="4565049"/>
            <a:ext cx="1447800" cy="609600"/>
          </a:xfrm>
          <a:prstGeom prst="rect">
            <a:avLst/>
          </a:prstGeom>
          <a:solidFill>
            <a:srgbClr val="F0D9D8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Internal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Level</a:t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22" name="Google Shape;622;p24"/>
          <p:cNvSpPr/>
          <p:nvPr/>
        </p:nvSpPr>
        <p:spPr>
          <a:xfrm>
            <a:off x="5686926" y="5715000"/>
            <a:ext cx="1447800" cy="609600"/>
          </a:xfrm>
          <a:prstGeom prst="flowChartMagneticDisk">
            <a:avLst/>
          </a:prstGeom>
          <a:solidFill>
            <a:srgbClr val="F0D9D8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Database</a:t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623" name="Google Shape;623;p24"/>
          <p:cNvCxnSpPr>
            <a:stCxn id="617" idx="2"/>
          </p:cNvCxnSpPr>
          <p:nvPr/>
        </p:nvCxnSpPr>
        <p:spPr>
          <a:xfrm>
            <a:off x="4577590" y="2548354"/>
            <a:ext cx="1109400" cy="69000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24" name="Google Shape;624;p24"/>
          <p:cNvCxnSpPr>
            <a:stCxn id="618" idx="2"/>
            <a:endCxn id="620" idx="0"/>
          </p:cNvCxnSpPr>
          <p:nvPr/>
        </p:nvCxnSpPr>
        <p:spPr>
          <a:xfrm>
            <a:off x="6406390" y="2548354"/>
            <a:ext cx="4500" cy="59820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25" name="Google Shape;625;p24"/>
          <p:cNvCxnSpPr>
            <a:stCxn id="619" idx="2"/>
          </p:cNvCxnSpPr>
          <p:nvPr/>
        </p:nvCxnSpPr>
        <p:spPr>
          <a:xfrm flipH="1">
            <a:off x="7134790" y="2548354"/>
            <a:ext cx="1100400" cy="69000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26" name="Google Shape;626;p24"/>
          <p:cNvCxnSpPr>
            <a:stCxn id="620" idx="2"/>
            <a:endCxn id="621" idx="0"/>
          </p:cNvCxnSpPr>
          <p:nvPr/>
        </p:nvCxnSpPr>
        <p:spPr>
          <a:xfrm>
            <a:off x="6410826" y="3756139"/>
            <a:ext cx="0" cy="80880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27" name="Google Shape;627;p24"/>
          <p:cNvCxnSpPr>
            <a:stCxn id="621" idx="2"/>
            <a:endCxn id="622" idx="1"/>
          </p:cNvCxnSpPr>
          <p:nvPr/>
        </p:nvCxnSpPr>
        <p:spPr>
          <a:xfrm>
            <a:off x="6410826" y="5174649"/>
            <a:ext cx="0" cy="54030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28" name="Google Shape;628;p24"/>
          <p:cNvSpPr txBox="1"/>
          <p:nvPr/>
        </p:nvSpPr>
        <p:spPr>
          <a:xfrm>
            <a:off x="4120390" y="1524000"/>
            <a:ext cx="9144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User 1</a:t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29" name="Google Shape;629;p24"/>
          <p:cNvSpPr txBox="1"/>
          <p:nvPr/>
        </p:nvSpPr>
        <p:spPr>
          <a:xfrm>
            <a:off x="5949190" y="1535668"/>
            <a:ext cx="9144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User 2</a:t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30" name="Google Shape;630;p24"/>
          <p:cNvSpPr txBox="1"/>
          <p:nvPr/>
        </p:nvSpPr>
        <p:spPr>
          <a:xfrm>
            <a:off x="7777990" y="1524000"/>
            <a:ext cx="9144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User 3</a:t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31" name="Google Shape;631;p24"/>
          <p:cNvSpPr/>
          <p:nvPr/>
        </p:nvSpPr>
        <p:spPr>
          <a:xfrm>
            <a:off x="1686426" y="4546684"/>
            <a:ext cx="28194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How</a:t>
            </a:r>
            <a:r>
              <a:rPr lang="en-US" sz="18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data are actually stored on storage devices?</a:t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32" name="Google Shape;632;p24"/>
          <p:cNvSpPr/>
          <p:nvPr/>
        </p:nvSpPr>
        <p:spPr>
          <a:xfrm>
            <a:off x="1686426" y="3128174"/>
            <a:ext cx="28194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What</a:t>
            </a:r>
            <a:r>
              <a:rPr lang="en-US" sz="18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data are stored and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What</a:t>
            </a:r>
            <a:r>
              <a:rPr lang="en-US" sz="1800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relationships exist? </a:t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33" name="Google Shape;633;p24"/>
          <p:cNvSpPr/>
          <p:nvPr/>
        </p:nvSpPr>
        <p:spPr>
          <a:xfrm>
            <a:off x="1686426" y="1920389"/>
            <a:ext cx="21717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How</a:t>
            </a:r>
            <a:r>
              <a:rPr lang="en-US" sz="18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data are viewed by each users?</a:t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634" name="Google Shape;634;p24" descr="Image resul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11583" y="991877"/>
            <a:ext cx="532015" cy="53201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5" name="Google Shape;635;p24" descr="Image resul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40383" y="991877"/>
            <a:ext cx="532015" cy="53201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6" name="Google Shape;636;p24" descr="Image resul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69183" y="991877"/>
            <a:ext cx="532015" cy="532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25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3 Levels ANSI SPARC Database System</a:t>
            </a:r>
            <a:endParaRPr/>
          </a:p>
        </p:txBody>
      </p:sp>
      <p:sp>
        <p:nvSpPr>
          <p:cNvPr id="642" name="Google Shape;642;p25"/>
          <p:cNvSpPr txBox="1">
            <a:spLocks noGrp="1"/>
          </p:cNvSpPr>
          <p:nvPr>
            <p:ph type="body" idx="1"/>
          </p:nvPr>
        </p:nvSpPr>
        <p:spPr>
          <a:xfrm>
            <a:off x="178805" y="863444"/>
            <a:ext cx="11929641" cy="559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65113" lvl="0" indent="-265113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Internal level (Physical level) </a:t>
            </a:r>
            <a:endParaRPr/>
          </a:p>
          <a:p>
            <a:pPr marL="809625" lvl="1" indent="-352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It describes </a:t>
            </a:r>
            <a:r>
              <a:rPr lang="en-US" b="1">
                <a:solidFill>
                  <a:schemeClr val="accent6"/>
                </a:solidFill>
              </a:rPr>
              <a:t>how a data is stored </a:t>
            </a:r>
            <a:r>
              <a:rPr lang="en-US"/>
              <a:t>on the storage device.</a:t>
            </a:r>
            <a:endParaRPr/>
          </a:p>
          <a:p>
            <a:pPr marL="809625" lvl="1" indent="-352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Deals with physical storage of data.</a:t>
            </a:r>
            <a:endParaRPr/>
          </a:p>
          <a:p>
            <a:pPr marL="1143000" lvl="2" indent="-2286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Structure of records on disk - files, pages, blocks and indexes and ordering of records</a:t>
            </a:r>
            <a:endParaRPr/>
          </a:p>
          <a:p>
            <a:pPr marL="809625" lvl="1" indent="-352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Internal view is described by the internal schema.</a:t>
            </a:r>
            <a:endParaRPr/>
          </a:p>
          <a:p>
            <a:pPr marL="265113" lvl="0" indent="-2651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Conceptual level (Logical level) </a:t>
            </a:r>
            <a:endParaRPr/>
          </a:p>
          <a:p>
            <a:pPr marL="809625" lvl="1" indent="-352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 b="1">
                <a:solidFill>
                  <a:schemeClr val="accent6"/>
                </a:solidFill>
              </a:rPr>
              <a:t>What data are stored and what relationships exist </a:t>
            </a:r>
            <a:r>
              <a:rPr lang="en-US"/>
              <a:t>among those data? </a:t>
            </a:r>
            <a:endParaRPr/>
          </a:p>
          <a:p>
            <a:pPr marL="809625" lvl="1" indent="-352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It hides low level complexities of physical storage.</a:t>
            </a:r>
            <a:endParaRPr/>
          </a:p>
          <a:p>
            <a:pPr marL="809625" lvl="1" indent="-352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For Example, STUDENT database may contain STUDENT and COURSE tables which will be visible to users but users are unaware about their storage.</a:t>
            </a:r>
            <a:endParaRPr/>
          </a:p>
          <a:p>
            <a:pPr marL="809625" lvl="1" indent="-352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Database administrator works at this level to determine what data to keep in the database.</a:t>
            </a:r>
            <a:endParaRPr/>
          </a:p>
          <a:p>
            <a:pPr marL="265113" lvl="0" indent="-2651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External level (View level) </a:t>
            </a:r>
            <a:endParaRPr/>
          </a:p>
          <a:p>
            <a:pPr marL="809625" lvl="1" indent="-352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It describes only part of the entire database that an end user concern or </a:t>
            </a:r>
            <a:r>
              <a:rPr lang="en-US" b="1">
                <a:solidFill>
                  <a:schemeClr val="accent6"/>
                </a:solidFill>
              </a:rPr>
              <a:t>how data are viewed </a:t>
            </a:r>
            <a:r>
              <a:rPr lang="en-US"/>
              <a:t>by each user.</a:t>
            </a:r>
            <a:endParaRPr/>
          </a:p>
          <a:p>
            <a:pPr marL="809625" lvl="1" indent="-352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Different user needs different views of the database, so there can be many views in a view level abstraction of the database. Used by end users and application programmers.</a:t>
            </a:r>
            <a:endParaRPr/>
          </a:p>
          <a:p>
            <a:pPr marL="809625" lvl="1" indent="-352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End users need to access only part of the database rather than the entire database.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4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4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4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4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4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26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3 Levels ANSI SPARC Database System: Example</a:t>
            </a:r>
            <a:endParaRPr/>
          </a:p>
        </p:txBody>
      </p:sp>
      <p:sp>
        <p:nvSpPr>
          <p:cNvPr id="648" name="Google Shape;648;p26"/>
          <p:cNvSpPr txBox="1">
            <a:spLocks noGrp="1"/>
          </p:cNvSpPr>
          <p:nvPr>
            <p:ph type="body" idx="1"/>
          </p:nvPr>
        </p:nvSpPr>
        <p:spPr>
          <a:xfrm>
            <a:off x="144389" y="863450"/>
            <a:ext cx="11929500" cy="57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65113" lvl="0" indent="-112713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endParaRPr dirty="0"/>
          </a:p>
        </p:txBody>
      </p:sp>
      <p:sp>
        <p:nvSpPr>
          <p:cNvPr id="649" name="Google Shape;649;p26"/>
          <p:cNvSpPr txBox="1"/>
          <p:nvPr/>
        </p:nvSpPr>
        <p:spPr>
          <a:xfrm>
            <a:off x="10992850" y="1920389"/>
            <a:ext cx="100584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View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Level</a:t>
            </a:r>
            <a:endParaRPr sz="18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50" name="Google Shape;650;p26"/>
          <p:cNvSpPr txBox="1"/>
          <p:nvPr/>
        </p:nvSpPr>
        <p:spPr>
          <a:xfrm>
            <a:off x="10992850" y="3220135"/>
            <a:ext cx="100584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Logical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Level</a:t>
            </a:r>
            <a:endParaRPr sz="18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51" name="Google Shape;651;p26"/>
          <p:cNvSpPr txBox="1"/>
          <p:nvPr/>
        </p:nvSpPr>
        <p:spPr>
          <a:xfrm>
            <a:off x="10992850" y="4546684"/>
            <a:ext cx="100584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Physical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Level</a:t>
            </a:r>
            <a:endParaRPr sz="18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52" name="Google Shape;652;p26"/>
          <p:cNvSpPr/>
          <p:nvPr/>
        </p:nvSpPr>
        <p:spPr>
          <a:xfrm>
            <a:off x="6114420" y="1938754"/>
            <a:ext cx="1097280" cy="609600"/>
          </a:xfrm>
          <a:prstGeom prst="rect">
            <a:avLst/>
          </a:prstGeom>
          <a:solidFill>
            <a:srgbClr val="F0D9D8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View 1</a:t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53" name="Google Shape;653;p26"/>
          <p:cNvSpPr/>
          <p:nvPr/>
        </p:nvSpPr>
        <p:spPr>
          <a:xfrm>
            <a:off x="7943220" y="1938754"/>
            <a:ext cx="1097280" cy="609600"/>
          </a:xfrm>
          <a:prstGeom prst="rect">
            <a:avLst/>
          </a:prstGeom>
          <a:solidFill>
            <a:srgbClr val="F0D9D8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View 2</a:t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54" name="Google Shape;654;p26"/>
          <p:cNvSpPr/>
          <p:nvPr/>
        </p:nvSpPr>
        <p:spPr>
          <a:xfrm>
            <a:off x="9772020" y="1938754"/>
            <a:ext cx="1097280" cy="609600"/>
          </a:xfrm>
          <a:prstGeom prst="rect">
            <a:avLst/>
          </a:prstGeom>
          <a:solidFill>
            <a:srgbClr val="F0D9D8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View 3</a:t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55" name="Google Shape;655;p26"/>
          <p:cNvSpPr/>
          <p:nvPr/>
        </p:nvSpPr>
        <p:spPr>
          <a:xfrm>
            <a:off x="7772396" y="3146539"/>
            <a:ext cx="1447800" cy="609600"/>
          </a:xfrm>
          <a:prstGeom prst="rect">
            <a:avLst/>
          </a:prstGeom>
          <a:solidFill>
            <a:srgbClr val="F0D9D8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Conceptual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Level</a:t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56" name="Google Shape;656;p26"/>
          <p:cNvSpPr/>
          <p:nvPr/>
        </p:nvSpPr>
        <p:spPr>
          <a:xfrm>
            <a:off x="7772396" y="4565049"/>
            <a:ext cx="1447800" cy="609600"/>
          </a:xfrm>
          <a:prstGeom prst="rect">
            <a:avLst/>
          </a:prstGeom>
          <a:solidFill>
            <a:srgbClr val="F0D9D8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Internal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Level</a:t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57" name="Google Shape;657;p26"/>
          <p:cNvSpPr/>
          <p:nvPr/>
        </p:nvSpPr>
        <p:spPr>
          <a:xfrm>
            <a:off x="7772396" y="5715000"/>
            <a:ext cx="1447800" cy="609600"/>
          </a:xfrm>
          <a:prstGeom prst="flowChartMagneticDisk">
            <a:avLst/>
          </a:prstGeom>
          <a:solidFill>
            <a:srgbClr val="F0D9D8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Database</a:t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658" name="Google Shape;658;p26"/>
          <p:cNvCxnSpPr>
            <a:stCxn id="652" idx="2"/>
          </p:cNvCxnSpPr>
          <p:nvPr/>
        </p:nvCxnSpPr>
        <p:spPr>
          <a:xfrm>
            <a:off x="6663060" y="2548354"/>
            <a:ext cx="1109400" cy="69000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59" name="Google Shape;659;p26"/>
          <p:cNvCxnSpPr>
            <a:stCxn id="653" idx="2"/>
            <a:endCxn id="655" idx="0"/>
          </p:cNvCxnSpPr>
          <p:nvPr/>
        </p:nvCxnSpPr>
        <p:spPr>
          <a:xfrm>
            <a:off x="8491860" y="2548354"/>
            <a:ext cx="4500" cy="59820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60" name="Google Shape;660;p26"/>
          <p:cNvCxnSpPr>
            <a:stCxn id="654" idx="2"/>
          </p:cNvCxnSpPr>
          <p:nvPr/>
        </p:nvCxnSpPr>
        <p:spPr>
          <a:xfrm flipH="1">
            <a:off x="9220260" y="2548354"/>
            <a:ext cx="1100400" cy="69000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61" name="Google Shape;661;p26"/>
          <p:cNvCxnSpPr>
            <a:stCxn id="655" idx="2"/>
            <a:endCxn id="656" idx="0"/>
          </p:cNvCxnSpPr>
          <p:nvPr/>
        </p:nvCxnSpPr>
        <p:spPr>
          <a:xfrm>
            <a:off x="8496296" y="3756139"/>
            <a:ext cx="0" cy="80880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62" name="Google Shape;662;p26"/>
          <p:cNvCxnSpPr>
            <a:stCxn id="656" idx="2"/>
            <a:endCxn id="657" idx="1"/>
          </p:cNvCxnSpPr>
          <p:nvPr/>
        </p:nvCxnSpPr>
        <p:spPr>
          <a:xfrm>
            <a:off x="8496296" y="5174649"/>
            <a:ext cx="0" cy="54030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63" name="Google Shape;663;p26"/>
          <p:cNvSpPr txBox="1"/>
          <p:nvPr/>
        </p:nvSpPr>
        <p:spPr>
          <a:xfrm>
            <a:off x="6205860" y="1524000"/>
            <a:ext cx="9144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User 1</a:t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64" name="Google Shape;664;p26"/>
          <p:cNvSpPr txBox="1"/>
          <p:nvPr/>
        </p:nvSpPr>
        <p:spPr>
          <a:xfrm>
            <a:off x="8034660" y="1535668"/>
            <a:ext cx="9144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User 2</a:t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65" name="Google Shape;665;p26"/>
          <p:cNvSpPr txBox="1"/>
          <p:nvPr/>
        </p:nvSpPr>
        <p:spPr>
          <a:xfrm>
            <a:off x="9863460" y="1524000"/>
            <a:ext cx="9144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User 3</a:t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666" name="Google Shape;666;p26" descr="Image resul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97053" y="991877"/>
            <a:ext cx="532015" cy="53201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7" name="Google Shape;667;p26" descr="Image resul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25853" y="991877"/>
            <a:ext cx="532015" cy="53201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8" name="Google Shape;668;p26" descr="Image resul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54653" y="991877"/>
            <a:ext cx="532015" cy="532015"/>
          </a:xfrm>
          <a:prstGeom prst="rect">
            <a:avLst/>
          </a:prstGeom>
          <a:noFill/>
          <a:ln>
            <a:noFill/>
          </a:ln>
        </p:spPr>
      </p:pic>
      <p:sp>
        <p:nvSpPr>
          <p:cNvPr id="669" name="Google Shape;669;p26"/>
          <p:cNvSpPr/>
          <p:nvPr/>
        </p:nvSpPr>
        <p:spPr>
          <a:xfrm>
            <a:off x="213631" y="4359071"/>
            <a:ext cx="5577840" cy="1021556"/>
          </a:xfrm>
          <a:prstGeom prst="wedgeRoundRectCallout">
            <a:avLst>
              <a:gd name="adj1" fmla="val 85532"/>
              <a:gd name="adj2" fmla="val -2149"/>
              <a:gd name="adj3" fmla="val 16667"/>
            </a:avLst>
          </a:prstGeom>
          <a:solidFill>
            <a:schemeClr val="lt1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Records can be described as blocks of storage (bytes, gigabytes, terabytes etc.) in memory. </a:t>
            </a:r>
            <a:endParaRPr sz="1800">
              <a:solidFill>
                <a:schemeClr val="accent6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These details are often hidden from the programmers.</a:t>
            </a:r>
            <a:endParaRPr/>
          </a:p>
        </p:txBody>
      </p:sp>
      <p:sp>
        <p:nvSpPr>
          <p:cNvPr id="670" name="Google Shape;670;p26"/>
          <p:cNvSpPr/>
          <p:nvPr/>
        </p:nvSpPr>
        <p:spPr>
          <a:xfrm>
            <a:off x="213631" y="2708806"/>
            <a:ext cx="5577840" cy="1328023"/>
          </a:xfrm>
          <a:prstGeom prst="wedgeRoundRectCallout">
            <a:avLst>
              <a:gd name="adj1" fmla="val 85472"/>
              <a:gd name="adj2" fmla="val -804"/>
              <a:gd name="adj3" fmla="val 16667"/>
            </a:avLst>
          </a:prstGeom>
          <a:solidFill>
            <a:schemeClr val="lt1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Records can be described as fields and attributes along with their data types, their relationship among each other can be logically implemented.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Programmers generally work at this level.</a:t>
            </a:r>
            <a:endParaRPr/>
          </a:p>
        </p:txBody>
      </p:sp>
      <p:sp>
        <p:nvSpPr>
          <p:cNvPr id="671" name="Google Shape;671;p26"/>
          <p:cNvSpPr/>
          <p:nvPr/>
        </p:nvSpPr>
        <p:spPr>
          <a:xfrm>
            <a:off x="233403" y="1886009"/>
            <a:ext cx="5577840" cy="715089"/>
          </a:xfrm>
          <a:prstGeom prst="wedgeRoundRectCallout">
            <a:avLst>
              <a:gd name="adj1" fmla="val 55845"/>
              <a:gd name="adj2" fmla="val -1796"/>
              <a:gd name="adj3" fmla="val 16667"/>
            </a:avLst>
          </a:prstGeom>
          <a:solidFill>
            <a:schemeClr val="lt1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User just interact with system with the help of GUI.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Users are not aware of how and what the data is stored.</a:t>
            </a:r>
            <a:endParaRPr/>
          </a:p>
        </p:txBody>
      </p:sp>
      <p:sp>
        <p:nvSpPr>
          <p:cNvPr id="672" name="Google Shape;672;p26"/>
          <p:cNvSpPr/>
          <p:nvPr/>
        </p:nvSpPr>
        <p:spPr>
          <a:xfrm>
            <a:off x="190500" y="1095454"/>
            <a:ext cx="5029200" cy="369332"/>
          </a:xfrm>
          <a:prstGeom prst="rect">
            <a:avLst/>
          </a:prstGeom>
          <a:solidFill>
            <a:srgbClr val="F0D9D8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We are storing student information in a student table.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27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Data Abstraction in DBMS </a:t>
            </a:r>
            <a:endParaRPr/>
          </a:p>
        </p:txBody>
      </p:sp>
      <p:sp>
        <p:nvSpPr>
          <p:cNvPr id="678" name="Google Shape;678;p27"/>
          <p:cNvSpPr txBox="1">
            <a:spLocks noGrp="1"/>
          </p:cNvSpPr>
          <p:nvPr>
            <p:ph type="body" idx="1"/>
          </p:nvPr>
        </p:nvSpPr>
        <p:spPr>
          <a:xfrm>
            <a:off x="178805" y="863444"/>
            <a:ext cx="11929641" cy="559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65113" lvl="0" indent="-265113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Database systems are made-up of complex data structures. </a:t>
            </a:r>
            <a:endParaRPr/>
          </a:p>
          <a:p>
            <a:pPr marL="265113" lvl="0" indent="-2651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To ease the user interaction with database, the developers hide internal irrelevant details from users. </a:t>
            </a:r>
            <a:endParaRPr/>
          </a:p>
          <a:p>
            <a:pPr marL="265113" lvl="0" indent="-2651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This </a:t>
            </a:r>
            <a:r>
              <a:rPr lang="en-US" b="1">
                <a:solidFill>
                  <a:schemeClr val="accent6"/>
                </a:solidFill>
              </a:rPr>
              <a:t>process of hiding irrelevant details </a:t>
            </a:r>
            <a:r>
              <a:rPr lang="en-US"/>
              <a:t>from user is called data abstraction.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28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Mapping and Data Independence</a:t>
            </a:r>
            <a:endParaRPr/>
          </a:p>
        </p:txBody>
      </p:sp>
      <p:sp>
        <p:nvSpPr>
          <p:cNvPr id="684" name="Google Shape;684;p28"/>
          <p:cNvSpPr txBox="1">
            <a:spLocks noGrp="1"/>
          </p:cNvSpPr>
          <p:nvPr>
            <p:ph type="body" idx="1"/>
          </p:nvPr>
        </p:nvSpPr>
        <p:spPr>
          <a:xfrm>
            <a:off x="144389" y="863450"/>
            <a:ext cx="11929500" cy="57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65113" lvl="0" indent="-112713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endParaRPr/>
          </a:p>
        </p:txBody>
      </p:sp>
      <p:sp>
        <p:nvSpPr>
          <p:cNvPr id="685" name="Google Shape;685;p28"/>
          <p:cNvSpPr txBox="1"/>
          <p:nvPr/>
        </p:nvSpPr>
        <p:spPr>
          <a:xfrm>
            <a:off x="10992850" y="1920389"/>
            <a:ext cx="100584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View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Level</a:t>
            </a:r>
            <a:endParaRPr sz="18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86" name="Google Shape;686;p28"/>
          <p:cNvSpPr txBox="1"/>
          <p:nvPr/>
        </p:nvSpPr>
        <p:spPr>
          <a:xfrm>
            <a:off x="10992850" y="3220135"/>
            <a:ext cx="100584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Logical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Level</a:t>
            </a:r>
            <a:endParaRPr sz="18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87" name="Google Shape;687;p28"/>
          <p:cNvSpPr txBox="1"/>
          <p:nvPr/>
        </p:nvSpPr>
        <p:spPr>
          <a:xfrm>
            <a:off x="10992850" y="4546684"/>
            <a:ext cx="100584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Physical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Level</a:t>
            </a:r>
            <a:endParaRPr sz="18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88" name="Google Shape;688;p28"/>
          <p:cNvSpPr/>
          <p:nvPr/>
        </p:nvSpPr>
        <p:spPr>
          <a:xfrm>
            <a:off x="6114420" y="1938754"/>
            <a:ext cx="1097280" cy="609600"/>
          </a:xfrm>
          <a:prstGeom prst="rect">
            <a:avLst/>
          </a:prstGeom>
          <a:solidFill>
            <a:srgbClr val="F0D9D8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View 1</a:t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89" name="Google Shape;689;p28"/>
          <p:cNvSpPr/>
          <p:nvPr/>
        </p:nvSpPr>
        <p:spPr>
          <a:xfrm>
            <a:off x="7943220" y="1938754"/>
            <a:ext cx="1097280" cy="609600"/>
          </a:xfrm>
          <a:prstGeom prst="rect">
            <a:avLst/>
          </a:prstGeom>
          <a:solidFill>
            <a:srgbClr val="F0D9D8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View 2</a:t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90" name="Google Shape;690;p28"/>
          <p:cNvSpPr/>
          <p:nvPr/>
        </p:nvSpPr>
        <p:spPr>
          <a:xfrm>
            <a:off x="9772020" y="1938754"/>
            <a:ext cx="1097280" cy="609600"/>
          </a:xfrm>
          <a:prstGeom prst="rect">
            <a:avLst/>
          </a:prstGeom>
          <a:solidFill>
            <a:srgbClr val="F0D9D8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View 3</a:t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91" name="Google Shape;691;p28"/>
          <p:cNvSpPr/>
          <p:nvPr/>
        </p:nvSpPr>
        <p:spPr>
          <a:xfrm>
            <a:off x="7772396" y="3261098"/>
            <a:ext cx="1447800" cy="609600"/>
          </a:xfrm>
          <a:prstGeom prst="rect">
            <a:avLst/>
          </a:prstGeom>
          <a:solidFill>
            <a:srgbClr val="F0D9D8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Conceptual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Level</a:t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92" name="Google Shape;692;p28"/>
          <p:cNvSpPr/>
          <p:nvPr/>
        </p:nvSpPr>
        <p:spPr>
          <a:xfrm>
            <a:off x="7772396" y="4553017"/>
            <a:ext cx="1447800" cy="609600"/>
          </a:xfrm>
          <a:prstGeom prst="rect">
            <a:avLst/>
          </a:prstGeom>
          <a:solidFill>
            <a:srgbClr val="F0D9D8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Internal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Level</a:t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93" name="Google Shape;693;p28"/>
          <p:cNvSpPr/>
          <p:nvPr/>
        </p:nvSpPr>
        <p:spPr>
          <a:xfrm>
            <a:off x="7772396" y="5715000"/>
            <a:ext cx="1447800" cy="609600"/>
          </a:xfrm>
          <a:prstGeom prst="flowChartMagneticDisk">
            <a:avLst/>
          </a:prstGeom>
          <a:solidFill>
            <a:srgbClr val="F0D9D8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Database</a:t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694" name="Google Shape;694;p28"/>
          <p:cNvCxnSpPr>
            <a:stCxn id="688" idx="2"/>
          </p:cNvCxnSpPr>
          <p:nvPr/>
        </p:nvCxnSpPr>
        <p:spPr>
          <a:xfrm>
            <a:off x="6663060" y="2548354"/>
            <a:ext cx="1109400" cy="71280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95" name="Google Shape;695;p28"/>
          <p:cNvCxnSpPr>
            <a:stCxn id="689" idx="2"/>
            <a:endCxn id="691" idx="0"/>
          </p:cNvCxnSpPr>
          <p:nvPr/>
        </p:nvCxnSpPr>
        <p:spPr>
          <a:xfrm>
            <a:off x="8491860" y="2548354"/>
            <a:ext cx="4500" cy="71280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96" name="Google Shape;696;p28"/>
          <p:cNvCxnSpPr>
            <a:stCxn id="690" idx="2"/>
          </p:cNvCxnSpPr>
          <p:nvPr/>
        </p:nvCxnSpPr>
        <p:spPr>
          <a:xfrm flipH="1">
            <a:off x="9231060" y="2548354"/>
            <a:ext cx="1089600" cy="71280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97" name="Google Shape;697;p28"/>
          <p:cNvCxnSpPr>
            <a:stCxn id="691" idx="2"/>
            <a:endCxn id="692" idx="0"/>
          </p:cNvCxnSpPr>
          <p:nvPr/>
        </p:nvCxnSpPr>
        <p:spPr>
          <a:xfrm>
            <a:off x="8496296" y="3870698"/>
            <a:ext cx="0" cy="68220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98" name="Google Shape;698;p28"/>
          <p:cNvCxnSpPr>
            <a:stCxn id="692" idx="2"/>
            <a:endCxn id="693" idx="1"/>
          </p:cNvCxnSpPr>
          <p:nvPr/>
        </p:nvCxnSpPr>
        <p:spPr>
          <a:xfrm>
            <a:off x="8496296" y="5162617"/>
            <a:ext cx="0" cy="55230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99" name="Google Shape;699;p28"/>
          <p:cNvSpPr txBox="1"/>
          <p:nvPr/>
        </p:nvSpPr>
        <p:spPr>
          <a:xfrm>
            <a:off x="6205860" y="1524000"/>
            <a:ext cx="9144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User 1</a:t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700" name="Google Shape;700;p28"/>
          <p:cNvSpPr txBox="1"/>
          <p:nvPr/>
        </p:nvSpPr>
        <p:spPr>
          <a:xfrm>
            <a:off x="8034660" y="1535668"/>
            <a:ext cx="9144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User 2</a:t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701" name="Google Shape;701;p28"/>
          <p:cNvSpPr txBox="1"/>
          <p:nvPr/>
        </p:nvSpPr>
        <p:spPr>
          <a:xfrm>
            <a:off x="9863460" y="1524000"/>
            <a:ext cx="9144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User 3</a:t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702" name="Google Shape;702;p28" descr="Image resul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25853" y="991877"/>
            <a:ext cx="532015" cy="532015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28"/>
          <p:cNvSpPr/>
          <p:nvPr/>
        </p:nvSpPr>
        <p:spPr>
          <a:xfrm>
            <a:off x="9040500" y="1001074"/>
            <a:ext cx="2664742" cy="432000"/>
          </a:xfrm>
          <a:prstGeom prst="wedgeRoundRectCallout">
            <a:avLst>
              <a:gd name="adj1" fmla="val -63161"/>
              <a:gd name="adj2" fmla="val 27020"/>
              <a:gd name="adj3" fmla="val 16667"/>
            </a:avLst>
          </a:prstGeom>
          <a:solidFill>
            <a:schemeClr val="lt1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Want to access some data</a:t>
            </a:r>
            <a:endParaRPr sz="1800">
              <a:solidFill>
                <a:schemeClr val="accent6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704" name="Google Shape;704;p28"/>
          <p:cNvSpPr/>
          <p:nvPr/>
        </p:nvSpPr>
        <p:spPr>
          <a:xfrm>
            <a:off x="8011857" y="2553411"/>
            <a:ext cx="304800" cy="687277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0D9D8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5" name="Google Shape;705;p28"/>
          <p:cNvSpPr txBox="1"/>
          <p:nvPr/>
        </p:nvSpPr>
        <p:spPr>
          <a:xfrm rot="-5400000">
            <a:off x="7858712" y="2782739"/>
            <a:ext cx="611077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Request</a:t>
            </a:r>
            <a:endParaRPr sz="10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706" name="Google Shape;706;p28"/>
          <p:cNvSpPr/>
          <p:nvPr/>
        </p:nvSpPr>
        <p:spPr>
          <a:xfrm rot="10800000" flipH="1">
            <a:off x="8757538" y="5147806"/>
            <a:ext cx="304800" cy="686123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0D9D8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7" name="Google Shape;707;p28"/>
          <p:cNvSpPr txBox="1"/>
          <p:nvPr/>
        </p:nvSpPr>
        <p:spPr>
          <a:xfrm rot="5400000" flipH="1">
            <a:off x="8604964" y="5452762"/>
            <a:ext cx="609923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Result</a:t>
            </a:r>
            <a:endParaRPr sz="10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708" name="Google Shape;708;p28"/>
          <p:cNvSpPr/>
          <p:nvPr/>
        </p:nvSpPr>
        <p:spPr>
          <a:xfrm>
            <a:off x="7935600" y="2548354"/>
            <a:ext cx="1295400" cy="3420000"/>
          </a:xfrm>
          <a:prstGeom prst="curvedUpArrow">
            <a:avLst>
              <a:gd name="adj1" fmla="val 11300"/>
              <a:gd name="adj2" fmla="val 29392"/>
              <a:gd name="adj3" fmla="val 25000"/>
            </a:avLst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709" name="Google Shape;709;p28"/>
          <p:cNvSpPr/>
          <p:nvPr/>
        </p:nvSpPr>
        <p:spPr>
          <a:xfrm>
            <a:off x="288160" y="2700597"/>
            <a:ext cx="6217920" cy="1200886"/>
          </a:xfrm>
          <a:prstGeom prst="wedgeRoundRectCallout">
            <a:avLst>
              <a:gd name="adj1" fmla="val -46835"/>
              <a:gd name="adj2" fmla="val 1908"/>
              <a:gd name="adj3" fmla="val 16667"/>
            </a:avLst>
          </a:prstGeom>
          <a:gradFill>
            <a:gsLst>
              <a:gs pos="0">
                <a:srgbClr val="5C2321"/>
              </a:gs>
              <a:gs pos="10000">
                <a:srgbClr val="5C2321"/>
              </a:gs>
              <a:gs pos="100000">
                <a:schemeClr val="accent6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Process of transforming requests and results between the three levels is called mapping.</a:t>
            </a:r>
            <a:endParaRPr/>
          </a:p>
        </p:txBody>
      </p:sp>
      <p:sp>
        <p:nvSpPr>
          <p:cNvPr id="710" name="Google Shape;710;p28"/>
          <p:cNvSpPr/>
          <p:nvPr/>
        </p:nvSpPr>
        <p:spPr>
          <a:xfrm>
            <a:off x="288160" y="4104336"/>
            <a:ext cx="6217920" cy="1200886"/>
          </a:xfrm>
          <a:prstGeom prst="wedgeRoundRectCallout">
            <a:avLst>
              <a:gd name="adj1" fmla="val -46835"/>
              <a:gd name="adj2" fmla="val 1908"/>
              <a:gd name="adj3" fmla="val 16667"/>
            </a:avLst>
          </a:prstGeom>
          <a:gradFill>
            <a:gsLst>
              <a:gs pos="0">
                <a:srgbClr val="5C2321"/>
              </a:gs>
              <a:gs pos="10000">
                <a:srgbClr val="5C2321"/>
              </a:gs>
              <a:gs pos="100000">
                <a:schemeClr val="accent6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Ability to modify a schema definition in one level without affecting a schema definition in the next higher level.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7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7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29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Types of Data Independence</a:t>
            </a:r>
            <a:endParaRPr/>
          </a:p>
        </p:txBody>
      </p:sp>
      <p:sp>
        <p:nvSpPr>
          <p:cNvPr id="716" name="Google Shape;716;p29"/>
          <p:cNvSpPr txBox="1">
            <a:spLocks noGrp="1"/>
          </p:cNvSpPr>
          <p:nvPr>
            <p:ph type="body" idx="1"/>
          </p:nvPr>
        </p:nvSpPr>
        <p:spPr>
          <a:xfrm>
            <a:off x="178805" y="863444"/>
            <a:ext cx="11929641" cy="559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65113" lvl="0" indent="-265113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Physical Data Independence</a:t>
            </a:r>
            <a:endParaRPr/>
          </a:p>
          <a:p>
            <a:pPr marL="809625" lvl="1" indent="-352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Physical Data Independence is the ability to modify the physical schema without requiring any change in logical (conceptual) schema and application programs.</a:t>
            </a:r>
            <a:endParaRPr/>
          </a:p>
          <a:p>
            <a:pPr marL="809625" lvl="1" indent="-352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Modifications at the internal levels are occasionally necessary to improve performance.</a:t>
            </a:r>
            <a:endParaRPr/>
          </a:p>
          <a:p>
            <a:pPr marL="809625" lvl="1" indent="-352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Possible modifications at internal levels are changes in file structures, compression techniques, hashing algorithms, storage devices, etc.</a:t>
            </a:r>
            <a:endParaRPr/>
          </a:p>
          <a:p>
            <a:pPr marL="265113" lvl="0" indent="-2651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Logical Data Independence</a:t>
            </a:r>
            <a:endParaRPr/>
          </a:p>
          <a:p>
            <a:pPr marL="809625" lvl="1" indent="-352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Logical data independence is the ability to modify the conceptual schema without requiring any change in application programs.</a:t>
            </a:r>
            <a:endParaRPr/>
          </a:p>
          <a:p>
            <a:pPr marL="809625" lvl="1" indent="-352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Modification at the logical levels is necessary whenever the logical structure of the database is changed.</a:t>
            </a:r>
            <a:endParaRPr/>
          </a:p>
          <a:p>
            <a:pPr marL="809625" lvl="1" indent="-352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Application programs are heavily dependent on logical structures of the data they access. So any change in logical structure also requires programs to change.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3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C2321"/>
              </a:buClr>
              <a:buSzPts val="6000"/>
              <a:buFont typeface="Roboto Condensed"/>
              <a:buNone/>
            </a:pPr>
            <a:r>
              <a:rPr lang="en-US">
                <a:solidFill>
                  <a:srgbClr val="5C2321"/>
                </a:solidFill>
              </a:rPr>
              <a:t>Types of Database Users</a:t>
            </a:r>
            <a:endParaRPr>
              <a:solidFill>
                <a:srgbClr val="5C2321"/>
              </a:solidFill>
            </a:endParaRPr>
          </a:p>
        </p:txBody>
      </p:sp>
      <p:sp>
        <p:nvSpPr>
          <p:cNvPr id="722" name="Google Shape;722;p3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Section - 6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31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Types of Database Users</a:t>
            </a:r>
            <a:endParaRPr/>
          </a:p>
        </p:txBody>
      </p:sp>
      <p:sp>
        <p:nvSpPr>
          <p:cNvPr id="728" name="Google Shape;728;p31"/>
          <p:cNvSpPr txBox="1">
            <a:spLocks noGrp="1"/>
          </p:cNvSpPr>
          <p:nvPr>
            <p:ph type="body" idx="1"/>
          </p:nvPr>
        </p:nvSpPr>
        <p:spPr>
          <a:xfrm>
            <a:off x="178805" y="863444"/>
            <a:ext cx="11929641" cy="559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65113" lvl="0" indent="-265113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Naive Users (End Users)</a:t>
            </a:r>
            <a:endParaRPr/>
          </a:p>
          <a:p>
            <a:pPr marL="809625" lvl="1" indent="-352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 b="1">
                <a:solidFill>
                  <a:schemeClr val="accent6"/>
                </a:solidFill>
              </a:rPr>
              <a:t>Unsophisticated users </a:t>
            </a:r>
            <a:r>
              <a:rPr lang="en-US"/>
              <a:t>who have zero knowledge of database system</a:t>
            </a:r>
            <a:endParaRPr/>
          </a:p>
          <a:p>
            <a:pPr marL="809625" lvl="1" indent="-352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End user interacts to database via sophisticated software or tools</a:t>
            </a:r>
            <a:endParaRPr/>
          </a:p>
          <a:p>
            <a:pPr marL="809625" lvl="1" indent="-352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e.g. Clerk in bank</a:t>
            </a:r>
            <a:endParaRPr/>
          </a:p>
          <a:p>
            <a:pPr marL="265113" lvl="0" indent="-2651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Application Programmers</a:t>
            </a:r>
            <a:endParaRPr/>
          </a:p>
          <a:p>
            <a:pPr marL="809625" lvl="1" indent="-352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 b="1">
                <a:solidFill>
                  <a:schemeClr val="accent6"/>
                </a:solidFill>
              </a:rPr>
              <a:t>Programmers</a:t>
            </a:r>
            <a:r>
              <a:rPr lang="en-US"/>
              <a:t> who write software using tools such as Java, .Net, PHP etc…</a:t>
            </a:r>
            <a:endParaRPr/>
          </a:p>
          <a:p>
            <a:pPr marL="809625" lvl="1" indent="-352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e.g. Software developers</a:t>
            </a:r>
            <a:endParaRPr/>
          </a:p>
          <a:p>
            <a:pPr marL="265113" lvl="0" indent="-2651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Sophisticated Users</a:t>
            </a:r>
            <a:endParaRPr/>
          </a:p>
          <a:p>
            <a:pPr marL="809625" lvl="1" indent="-352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 b="1">
                <a:solidFill>
                  <a:schemeClr val="accent6"/>
                </a:solidFill>
              </a:rPr>
              <a:t>Interact with database system </a:t>
            </a:r>
            <a:r>
              <a:rPr lang="en-US"/>
              <a:t>without using an application program</a:t>
            </a:r>
            <a:endParaRPr/>
          </a:p>
          <a:p>
            <a:pPr marL="809625" lvl="1" indent="-352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Use query tools like SQL</a:t>
            </a:r>
            <a:endParaRPr/>
          </a:p>
          <a:p>
            <a:pPr marL="809625" lvl="1" indent="-352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e.g. Analyst </a:t>
            </a:r>
            <a:endParaRPr/>
          </a:p>
          <a:p>
            <a:pPr marL="265113" lvl="0" indent="-2651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Specialized Users (DBA)</a:t>
            </a:r>
            <a:endParaRPr/>
          </a:p>
          <a:p>
            <a:pPr marL="809625" lvl="1" indent="-352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User </a:t>
            </a:r>
            <a:r>
              <a:rPr lang="en-US" b="1">
                <a:solidFill>
                  <a:schemeClr val="accent6"/>
                </a:solidFill>
              </a:rPr>
              <a:t>write specialized </a:t>
            </a:r>
            <a:r>
              <a:rPr lang="en-US"/>
              <a:t>database applications program</a:t>
            </a:r>
            <a:endParaRPr/>
          </a:p>
          <a:p>
            <a:pPr marL="809625" lvl="1" indent="-352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Use administration tools</a:t>
            </a:r>
            <a:endParaRPr/>
          </a:p>
          <a:p>
            <a:pPr marL="809625" lvl="1" indent="-352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e.g. Database Administrator</a:t>
            </a:r>
            <a:endParaRPr/>
          </a:p>
          <a:p>
            <a:pPr marL="809625" lvl="1" indent="-225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2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2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2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2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72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72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72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3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C2321"/>
              </a:buClr>
              <a:buSzPts val="6000"/>
              <a:buFont typeface="Roboto Condensed"/>
              <a:buNone/>
            </a:pPr>
            <a:r>
              <a:rPr lang="en-US">
                <a:solidFill>
                  <a:srgbClr val="5C2321"/>
                </a:solidFill>
              </a:rPr>
              <a:t>Role of DBA</a:t>
            </a:r>
            <a:br>
              <a:rPr lang="en-US">
                <a:solidFill>
                  <a:srgbClr val="5C2321"/>
                </a:solidFill>
              </a:rPr>
            </a:br>
            <a:r>
              <a:rPr lang="en-US">
                <a:solidFill>
                  <a:srgbClr val="5C2321"/>
                </a:solidFill>
              </a:rPr>
              <a:t>(Database Administrator)</a:t>
            </a:r>
            <a:endParaRPr>
              <a:solidFill>
                <a:srgbClr val="5C2321"/>
              </a:solidFill>
            </a:endParaRPr>
          </a:p>
        </p:txBody>
      </p:sp>
      <p:sp>
        <p:nvSpPr>
          <p:cNvPr id="734" name="Google Shape;734;p3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Section - 7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33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Role of DBA</a:t>
            </a:r>
            <a:endParaRPr/>
          </a:p>
        </p:txBody>
      </p:sp>
      <p:sp>
        <p:nvSpPr>
          <p:cNvPr id="740" name="Google Shape;740;p33"/>
          <p:cNvSpPr txBox="1">
            <a:spLocks noGrp="1"/>
          </p:cNvSpPr>
          <p:nvPr>
            <p:ph type="body" idx="1"/>
          </p:nvPr>
        </p:nvSpPr>
        <p:spPr>
          <a:xfrm>
            <a:off x="178805" y="863444"/>
            <a:ext cx="11929641" cy="559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65113" lvl="0" indent="-265113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Schema Definition</a:t>
            </a:r>
            <a:endParaRPr/>
          </a:p>
          <a:p>
            <a:pPr marL="809625" lvl="1" indent="-352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DBA </a:t>
            </a:r>
            <a:r>
              <a:rPr lang="en-US" b="1">
                <a:solidFill>
                  <a:schemeClr val="accent6"/>
                </a:solidFill>
              </a:rPr>
              <a:t>defines the logical schema </a:t>
            </a:r>
            <a:r>
              <a:rPr lang="en-US"/>
              <a:t>of the database. </a:t>
            </a:r>
            <a:endParaRPr/>
          </a:p>
          <a:p>
            <a:pPr marL="265113" lvl="0" indent="-2651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Storage Structure and Access Method Definition</a:t>
            </a:r>
            <a:endParaRPr/>
          </a:p>
          <a:p>
            <a:pPr marL="809625" lvl="1" indent="-352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DBA </a:t>
            </a:r>
            <a:r>
              <a:rPr lang="en-US" b="1">
                <a:solidFill>
                  <a:schemeClr val="accent6"/>
                </a:solidFill>
              </a:rPr>
              <a:t>decides how the data is to be represented </a:t>
            </a:r>
            <a:r>
              <a:rPr lang="en-US"/>
              <a:t>in the database &amp; how to access it.</a:t>
            </a:r>
            <a:endParaRPr/>
          </a:p>
          <a:p>
            <a:pPr marL="265113" lvl="0" indent="-2651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Defining Security and Integrity Constraints</a:t>
            </a:r>
            <a:endParaRPr/>
          </a:p>
          <a:p>
            <a:pPr marL="809625" lvl="1" indent="-352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DBA </a:t>
            </a:r>
            <a:r>
              <a:rPr lang="en-US" b="1">
                <a:solidFill>
                  <a:schemeClr val="accent6"/>
                </a:solidFill>
              </a:rPr>
              <a:t>decides on various security and integrity constraints</a:t>
            </a:r>
            <a:r>
              <a:rPr lang="en-US"/>
              <a:t>.</a:t>
            </a:r>
            <a:endParaRPr/>
          </a:p>
          <a:p>
            <a:pPr marL="265113" lvl="0" indent="-2651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Granting of Authorization for Data Access</a:t>
            </a:r>
            <a:endParaRPr/>
          </a:p>
          <a:p>
            <a:pPr marL="809625" lvl="1" indent="-352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DBA </a:t>
            </a:r>
            <a:r>
              <a:rPr lang="en-US" b="1">
                <a:solidFill>
                  <a:schemeClr val="accent6"/>
                </a:solidFill>
              </a:rPr>
              <a:t>determines which user needs access to which part </a:t>
            </a:r>
            <a:r>
              <a:rPr lang="en-US"/>
              <a:t>of the database.</a:t>
            </a:r>
            <a:endParaRPr/>
          </a:p>
          <a:p>
            <a:pPr marL="265113" lvl="0" indent="-2651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Liaison with Users</a:t>
            </a:r>
            <a:endParaRPr/>
          </a:p>
          <a:p>
            <a:pPr marL="809625" lvl="1" indent="-352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DBA </a:t>
            </a:r>
            <a:r>
              <a:rPr lang="en-US" b="1">
                <a:solidFill>
                  <a:schemeClr val="accent6"/>
                </a:solidFill>
              </a:rPr>
              <a:t>provide necessary data </a:t>
            </a:r>
            <a:r>
              <a:rPr lang="en-US"/>
              <a:t>to the user.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4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4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34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Role of DBA</a:t>
            </a:r>
            <a:endParaRPr/>
          </a:p>
        </p:txBody>
      </p:sp>
      <p:sp>
        <p:nvSpPr>
          <p:cNvPr id="746" name="Google Shape;746;p34"/>
          <p:cNvSpPr txBox="1">
            <a:spLocks noGrp="1"/>
          </p:cNvSpPr>
          <p:nvPr>
            <p:ph type="body" idx="1"/>
          </p:nvPr>
        </p:nvSpPr>
        <p:spPr>
          <a:xfrm>
            <a:off x="178805" y="863444"/>
            <a:ext cx="11929641" cy="559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65113" lvl="0" indent="-265113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Assisting Application Programmer</a:t>
            </a:r>
            <a:endParaRPr/>
          </a:p>
          <a:p>
            <a:pPr marL="809625" lvl="1" indent="-352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DBA </a:t>
            </a:r>
            <a:r>
              <a:rPr lang="en-US" b="1">
                <a:solidFill>
                  <a:schemeClr val="accent6"/>
                </a:solidFill>
              </a:rPr>
              <a:t>provides assistance to application programmers </a:t>
            </a:r>
            <a:r>
              <a:rPr lang="en-US"/>
              <a:t>to develop application programs.</a:t>
            </a:r>
            <a:endParaRPr/>
          </a:p>
          <a:p>
            <a:pPr marL="265113" lvl="0" indent="-2651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Monitoring Performance</a:t>
            </a:r>
            <a:endParaRPr/>
          </a:p>
          <a:p>
            <a:pPr marL="809625" lvl="1" indent="-352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DBA </a:t>
            </a:r>
            <a:r>
              <a:rPr lang="en-US" b="1">
                <a:solidFill>
                  <a:schemeClr val="accent6"/>
                </a:solidFill>
              </a:rPr>
              <a:t>ensures that better performance is maintained </a:t>
            </a:r>
            <a:r>
              <a:rPr lang="en-US"/>
              <a:t>by making a change in the physical or logical schema if required.</a:t>
            </a:r>
            <a:endParaRPr/>
          </a:p>
          <a:p>
            <a:pPr marL="265113" lvl="0" indent="-2651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Backup and Recovery</a:t>
            </a:r>
            <a:endParaRPr/>
          </a:p>
          <a:p>
            <a:pPr marL="809625" lvl="1" indent="-352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DBA </a:t>
            </a:r>
            <a:r>
              <a:rPr lang="en-US" b="1">
                <a:solidFill>
                  <a:schemeClr val="accent6"/>
                </a:solidFill>
              </a:rPr>
              <a:t>backing up the database </a:t>
            </a:r>
            <a:r>
              <a:rPr lang="en-US"/>
              <a:t>on some storage devices such as DVD, CD or magnetic tape or remote servers and  </a:t>
            </a:r>
            <a:r>
              <a:rPr lang="en-US" b="1">
                <a:solidFill>
                  <a:schemeClr val="accent6"/>
                </a:solidFill>
              </a:rPr>
              <a:t>recover the system in case of failures</a:t>
            </a:r>
            <a:r>
              <a:rPr lang="en-US"/>
              <a:t>, such as flood or virus attack from this backup.</a:t>
            </a:r>
            <a:endParaRPr/>
          </a:p>
          <a:p>
            <a:pPr marL="809625" lvl="1" indent="-225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809625" lvl="1" indent="-225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3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C2321"/>
              </a:buClr>
              <a:buSzPts val="6000"/>
              <a:buFont typeface="Roboto Condensed"/>
              <a:buNone/>
            </a:pPr>
            <a:r>
              <a:rPr lang="en-US">
                <a:solidFill>
                  <a:srgbClr val="5C2321"/>
                </a:solidFill>
              </a:rPr>
              <a:t>Database System Architecture</a:t>
            </a:r>
            <a:endParaRPr>
              <a:solidFill>
                <a:srgbClr val="5C2321"/>
              </a:solidFill>
            </a:endParaRPr>
          </a:p>
        </p:txBody>
      </p:sp>
      <p:sp>
        <p:nvSpPr>
          <p:cNvPr id="752" name="Google Shape;752;p3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Section - 8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36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Database System Architecture</a:t>
            </a:r>
            <a:endParaRPr/>
          </a:p>
        </p:txBody>
      </p:sp>
      <p:sp>
        <p:nvSpPr>
          <p:cNvPr id="758" name="Google Shape;758;p36"/>
          <p:cNvSpPr txBox="1">
            <a:spLocks noGrp="1"/>
          </p:cNvSpPr>
          <p:nvPr>
            <p:ph type="body" idx="1"/>
          </p:nvPr>
        </p:nvSpPr>
        <p:spPr>
          <a:xfrm>
            <a:off x="144389" y="863450"/>
            <a:ext cx="11929500" cy="57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65113" lvl="0" indent="-112713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endParaRPr/>
          </a:p>
        </p:txBody>
      </p:sp>
      <p:sp>
        <p:nvSpPr>
          <p:cNvPr id="759" name="Google Shape;759;p36"/>
          <p:cNvSpPr txBox="1"/>
          <p:nvPr/>
        </p:nvSpPr>
        <p:spPr>
          <a:xfrm>
            <a:off x="4960561" y="1485765"/>
            <a:ext cx="54864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uses</a:t>
            </a:r>
            <a:endParaRPr sz="12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760" name="Google Shape;760;p36"/>
          <p:cNvSpPr txBox="1"/>
          <p:nvPr/>
        </p:nvSpPr>
        <p:spPr>
          <a:xfrm>
            <a:off x="3329498" y="1485765"/>
            <a:ext cx="54864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write</a:t>
            </a:r>
            <a:endParaRPr sz="12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761" name="Google Shape;761;p36"/>
          <p:cNvSpPr txBox="1"/>
          <p:nvPr/>
        </p:nvSpPr>
        <p:spPr>
          <a:xfrm>
            <a:off x="1824325" y="1485765"/>
            <a:ext cx="54864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uses</a:t>
            </a:r>
            <a:endParaRPr sz="12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762" name="Google Shape;762;p36"/>
          <p:cNvSpPr txBox="1"/>
          <p:nvPr/>
        </p:nvSpPr>
        <p:spPr>
          <a:xfrm>
            <a:off x="6565353" y="1485765"/>
            <a:ext cx="54864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uses</a:t>
            </a:r>
            <a:endParaRPr sz="12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763" name="Google Shape;763;p36"/>
          <p:cNvSpPr/>
          <p:nvPr/>
        </p:nvSpPr>
        <p:spPr>
          <a:xfrm>
            <a:off x="1533793" y="4112355"/>
            <a:ext cx="6120000" cy="967756"/>
          </a:xfrm>
          <a:prstGeom prst="roundRect">
            <a:avLst>
              <a:gd name="adj" fmla="val 0"/>
            </a:avLst>
          </a:prstGeom>
          <a:solidFill>
            <a:srgbClr val="E6F2D9"/>
          </a:solidFill>
          <a:ln w="12700" cap="flat" cmpd="sng">
            <a:solidFill>
              <a:srgbClr val="696969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764" name="Google Shape;764;p36"/>
          <p:cNvSpPr/>
          <p:nvPr/>
        </p:nvSpPr>
        <p:spPr>
          <a:xfrm>
            <a:off x="1536864" y="2606083"/>
            <a:ext cx="6120000" cy="1442917"/>
          </a:xfrm>
          <a:prstGeom prst="roundRect">
            <a:avLst>
              <a:gd name="adj" fmla="val 0"/>
            </a:avLst>
          </a:prstGeom>
          <a:solidFill>
            <a:srgbClr val="FCEAD0"/>
          </a:solidFill>
          <a:ln w="12700" cap="flat" cmpd="sng">
            <a:solidFill>
              <a:srgbClr val="696969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765" name="Google Shape;765;p36"/>
          <p:cNvSpPr/>
          <p:nvPr/>
        </p:nvSpPr>
        <p:spPr>
          <a:xfrm>
            <a:off x="1764262" y="1038810"/>
            <a:ext cx="1069045" cy="478494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Naive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user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36"/>
          <p:cNvSpPr/>
          <p:nvPr/>
        </p:nvSpPr>
        <p:spPr>
          <a:xfrm>
            <a:off x="3120138" y="1038810"/>
            <a:ext cx="1313293" cy="479515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Application programmer</a:t>
            </a:r>
            <a:endParaRPr/>
          </a:p>
        </p:txBody>
      </p:sp>
      <p:sp>
        <p:nvSpPr>
          <p:cNvPr id="767" name="Google Shape;767;p36"/>
          <p:cNvSpPr/>
          <p:nvPr/>
        </p:nvSpPr>
        <p:spPr>
          <a:xfrm>
            <a:off x="4717116" y="1038810"/>
            <a:ext cx="1353809" cy="479515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Sophisticated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user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36"/>
          <p:cNvSpPr/>
          <p:nvPr/>
        </p:nvSpPr>
        <p:spPr>
          <a:xfrm>
            <a:off x="6360902" y="1038810"/>
            <a:ext cx="1373845" cy="479515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Database administrator</a:t>
            </a:r>
            <a:endParaRPr/>
          </a:p>
        </p:txBody>
      </p:sp>
      <p:sp>
        <p:nvSpPr>
          <p:cNvPr id="769" name="Google Shape;769;p36"/>
          <p:cNvSpPr/>
          <p:nvPr/>
        </p:nvSpPr>
        <p:spPr>
          <a:xfrm>
            <a:off x="1570734" y="1756873"/>
            <a:ext cx="1463040" cy="637074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Application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interfaces</a:t>
            </a:r>
            <a:endParaRPr/>
          </a:p>
        </p:txBody>
      </p:sp>
      <p:sp>
        <p:nvSpPr>
          <p:cNvPr id="770" name="Google Shape;770;p36"/>
          <p:cNvSpPr/>
          <p:nvPr/>
        </p:nvSpPr>
        <p:spPr>
          <a:xfrm>
            <a:off x="3049304" y="1756873"/>
            <a:ext cx="1463040" cy="6372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Application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program</a:t>
            </a:r>
            <a:endParaRPr/>
          </a:p>
        </p:txBody>
      </p:sp>
      <p:sp>
        <p:nvSpPr>
          <p:cNvPr id="771" name="Google Shape;771;p36"/>
          <p:cNvSpPr/>
          <p:nvPr/>
        </p:nvSpPr>
        <p:spPr>
          <a:xfrm>
            <a:off x="4671395" y="1756873"/>
            <a:ext cx="1463040" cy="636129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Query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tool</a:t>
            </a:r>
            <a:endParaRPr/>
          </a:p>
        </p:txBody>
      </p:sp>
      <p:sp>
        <p:nvSpPr>
          <p:cNvPr id="772" name="Google Shape;772;p36"/>
          <p:cNvSpPr/>
          <p:nvPr/>
        </p:nvSpPr>
        <p:spPr>
          <a:xfrm>
            <a:off x="6170402" y="1756873"/>
            <a:ext cx="1754845" cy="6372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Administration tool</a:t>
            </a:r>
            <a:endParaRPr/>
          </a:p>
        </p:txBody>
      </p:sp>
      <p:sp>
        <p:nvSpPr>
          <p:cNvPr id="773" name="Google Shape;773;p36"/>
          <p:cNvSpPr/>
          <p:nvPr/>
        </p:nvSpPr>
        <p:spPr>
          <a:xfrm>
            <a:off x="3363629" y="2667000"/>
            <a:ext cx="1006996" cy="457200"/>
          </a:xfrm>
          <a:prstGeom prst="rect">
            <a:avLst/>
          </a:prstGeom>
          <a:solidFill>
            <a:srgbClr val="575757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Compiler and linker</a:t>
            </a:r>
            <a:endParaRPr/>
          </a:p>
        </p:txBody>
      </p:sp>
      <p:sp>
        <p:nvSpPr>
          <p:cNvPr id="774" name="Google Shape;774;p36"/>
          <p:cNvSpPr/>
          <p:nvPr/>
        </p:nvSpPr>
        <p:spPr>
          <a:xfrm>
            <a:off x="4884200" y="2667000"/>
            <a:ext cx="1006996" cy="457200"/>
          </a:xfrm>
          <a:prstGeom prst="rect">
            <a:avLst/>
          </a:prstGeom>
          <a:solidFill>
            <a:srgbClr val="575757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DML queries</a:t>
            </a:r>
            <a:endParaRPr/>
          </a:p>
        </p:txBody>
      </p:sp>
      <p:sp>
        <p:nvSpPr>
          <p:cNvPr id="775" name="Google Shape;775;p36"/>
          <p:cNvSpPr/>
          <p:nvPr/>
        </p:nvSpPr>
        <p:spPr>
          <a:xfrm>
            <a:off x="6544326" y="2667000"/>
            <a:ext cx="1006996" cy="457200"/>
          </a:xfrm>
          <a:prstGeom prst="rect">
            <a:avLst/>
          </a:prstGeom>
          <a:solidFill>
            <a:srgbClr val="575757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DDL interpreter</a:t>
            </a:r>
            <a:endParaRPr/>
          </a:p>
        </p:txBody>
      </p:sp>
      <p:sp>
        <p:nvSpPr>
          <p:cNvPr id="776" name="Google Shape;776;p36"/>
          <p:cNvSpPr/>
          <p:nvPr/>
        </p:nvSpPr>
        <p:spPr>
          <a:xfrm>
            <a:off x="1656000" y="3093720"/>
            <a:ext cx="1285569" cy="640080"/>
          </a:xfrm>
          <a:prstGeom prst="rect">
            <a:avLst/>
          </a:prstGeom>
          <a:solidFill>
            <a:srgbClr val="575757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Application program object code</a:t>
            </a:r>
            <a:endParaRPr/>
          </a:p>
        </p:txBody>
      </p:sp>
      <p:sp>
        <p:nvSpPr>
          <p:cNvPr id="777" name="Google Shape;777;p36"/>
          <p:cNvSpPr/>
          <p:nvPr/>
        </p:nvSpPr>
        <p:spPr>
          <a:xfrm>
            <a:off x="4727922" y="3264689"/>
            <a:ext cx="1335418" cy="457200"/>
          </a:xfrm>
          <a:prstGeom prst="rect">
            <a:avLst/>
          </a:prstGeom>
          <a:solidFill>
            <a:srgbClr val="575757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DML compiler and organizer</a:t>
            </a:r>
            <a:endParaRPr/>
          </a:p>
        </p:txBody>
      </p:sp>
      <p:sp>
        <p:nvSpPr>
          <p:cNvPr id="778" name="Google Shape;778;p36"/>
          <p:cNvSpPr/>
          <p:nvPr/>
        </p:nvSpPr>
        <p:spPr>
          <a:xfrm>
            <a:off x="3123314" y="3578783"/>
            <a:ext cx="1444752" cy="457200"/>
          </a:xfrm>
          <a:prstGeom prst="rect">
            <a:avLst/>
          </a:prstGeom>
          <a:solidFill>
            <a:srgbClr val="575757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Query evaluation engine</a:t>
            </a:r>
            <a:endParaRPr/>
          </a:p>
        </p:txBody>
      </p:sp>
      <p:sp>
        <p:nvSpPr>
          <p:cNvPr id="779" name="Google Shape;779;p36"/>
          <p:cNvSpPr/>
          <p:nvPr/>
        </p:nvSpPr>
        <p:spPr>
          <a:xfrm>
            <a:off x="1918937" y="4267199"/>
            <a:ext cx="1132658" cy="455196"/>
          </a:xfrm>
          <a:prstGeom prst="rect">
            <a:avLst/>
          </a:prstGeom>
          <a:solidFill>
            <a:srgbClr val="575757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Buffer manager</a:t>
            </a:r>
            <a:endParaRPr/>
          </a:p>
        </p:txBody>
      </p:sp>
      <p:sp>
        <p:nvSpPr>
          <p:cNvPr id="780" name="Google Shape;780;p36"/>
          <p:cNvSpPr/>
          <p:nvPr/>
        </p:nvSpPr>
        <p:spPr>
          <a:xfrm>
            <a:off x="3284063" y="4267199"/>
            <a:ext cx="930082" cy="457200"/>
          </a:xfrm>
          <a:prstGeom prst="rect">
            <a:avLst/>
          </a:prstGeom>
          <a:solidFill>
            <a:srgbClr val="575757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File manager</a:t>
            </a:r>
            <a:endParaRPr/>
          </a:p>
        </p:txBody>
      </p:sp>
      <p:sp>
        <p:nvSpPr>
          <p:cNvPr id="781" name="Google Shape;781;p36"/>
          <p:cNvSpPr/>
          <p:nvPr/>
        </p:nvSpPr>
        <p:spPr>
          <a:xfrm>
            <a:off x="4446613" y="4267199"/>
            <a:ext cx="1499502" cy="457200"/>
          </a:xfrm>
          <a:prstGeom prst="rect">
            <a:avLst/>
          </a:prstGeom>
          <a:solidFill>
            <a:srgbClr val="575757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Authorization and integrity manager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36"/>
          <p:cNvSpPr/>
          <p:nvPr/>
        </p:nvSpPr>
        <p:spPr>
          <a:xfrm>
            <a:off x="6178584" y="4267199"/>
            <a:ext cx="1097280" cy="457200"/>
          </a:xfrm>
          <a:prstGeom prst="rect">
            <a:avLst/>
          </a:prstGeom>
          <a:solidFill>
            <a:srgbClr val="575757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Transaction manager</a:t>
            </a:r>
            <a:endParaRPr/>
          </a:p>
        </p:txBody>
      </p:sp>
      <p:sp>
        <p:nvSpPr>
          <p:cNvPr id="783" name="Google Shape;783;p36"/>
          <p:cNvSpPr/>
          <p:nvPr/>
        </p:nvSpPr>
        <p:spPr>
          <a:xfrm>
            <a:off x="2581039" y="5137903"/>
            <a:ext cx="3017520" cy="1110497"/>
          </a:xfrm>
          <a:prstGeom prst="can">
            <a:avLst>
              <a:gd name="adj" fmla="val 20167"/>
            </a:avLst>
          </a:prstGeom>
          <a:solidFill>
            <a:srgbClr val="C3F7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784" name="Google Shape;784;p36"/>
          <p:cNvSpPr/>
          <p:nvPr/>
        </p:nvSpPr>
        <p:spPr>
          <a:xfrm>
            <a:off x="4151664" y="5486399"/>
            <a:ext cx="1371600" cy="288000"/>
          </a:xfrm>
          <a:prstGeom prst="rect">
            <a:avLst/>
          </a:prstGeom>
          <a:solidFill>
            <a:srgbClr val="575757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 dictionary</a:t>
            </a:r>
            <a:endParaRPr/>
          </a:p>
        </p:txBody>
      </p:sp>
      <p:sp>
        <p:nvSpPr>
          <p:cNvPr id="785" name="Google Shape;785;p36"/>
          <p:cNvSpPr/>
          <p:nvPr/>
        </p:nvSpPr>
        <p:spPr>
          <a:xfrm>
            <a:off x="4197384" y="5845840"/>
            <a:ext cx="1280160" cy="288000"/>
          </a:xfrm>
          <a:prstGeom prst="rect">
            <a:avLst/>
          </a:prstGeom>
          <a:solidFill>
            <a:srgbClr val="575757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Statistical data </a:t>
            </a:r>
            <a:endParaRPr/>
          </a:p>
        </p:txBody>
      </p:sp>
      <p:sp>
        <p:nvSpPr>
          <p:cNvPr id="786" name="Google Shape;786;p36"/>
          <p:cNvSpPr/>
          <p:nvPr/>
        </p:nvSpPr>
        <p:spPr>
          <a:xfrm>
            <a:off x="3210051" y="5497886"/>
            <a:ext cx="731520" cy="288000"/>
          </a:xfrm>
          <a:prstGeom prst="rect">
            <a:avLst/>
          </a:prstGeom>
          <a:solidFill>
            <a:srgbClr val="575757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Indices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36"/>
          <p:cNvSpPr/>
          <p:nvPr/>
        </p:nvSpPr>
        <p:spPr>
          <a:xfrm>
            <a:off x="2659437" y="5808000"/>
            <a:ext cx="577827" cy="288000"/>
          </a:xfrm>
          <a:prstGeom prst="rect">
            <a:avLst/>
          </a:prstGeom>
          <a:solidFill>
            <a:srgbClr val="575757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88" name="Google Shape;788;p36"/>
          <p:cNvCxnSpPr/>
          <p:nvPr/>
        </p:nvCxnSpPr>
        <p:spPr>
          <a:xfrm flipH="1">
            <a:off x="2297426" y="1517304"/>
            <a:ext cx="2717" cy="239569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89" name="Google Shape;789;p36"/>
          <p:cNvCxnSpPr/>
          <p:nvPr/>
        </p:nvCxnSpPr>
        <p:spPr>
          <a:xfrm>
            <a:off x="7046142" y="1517304"/>
            <a:ext cx="1683" cy="238548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90" name="Google Shape;790;p36"/>
          <p:cNvCxnSpPr/>
          <p:nvPr/>
        </p:nvCxnSpPr>
        <p:spPr>
          <a:xfrm flipH="1">
            <a:off x="5395808" y="1517304"/>
            <a:ext cx="2717" cy="2520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91" name="Google Shape;791;p36"/>
          <p:cNvCxnSpPr/>
          <p:nvPr/>
        </p:nvCxnSpPr>
        <p:spPr>
          <a:xfrm>
            <a:off x="3776784" y="1517304"/>
            <a:ext cx="0" cy="254364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92" name="Google Shape;792;p36"/>
          <p:cNvCxnSpPr/>
          <p:nvPr/>
        </p:nvCxnSpPr>
        <p:spPr>
          <a:xfrm>
            <a:off x="2298784" y="2392680"/>
            <a:ext cx="1" cy="694944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93" name="Google Shape;793;p36"/>
          <p:cNvCxnSpPr/>
          <p:nvPr/>
        </p:nvCxnSpPr>
        <p:spPr>
          <a:xfrm>
            <a:off x="3785911" y="2390633"/>
            <a:ext cx="1" cy="27432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94" name="Google Shape;794;p36"/>
          <p:cNvCxnSpPr/>
          <p:nvPr/>
        </p:nvCxnSpPr>
        <p:spPr>
          <a:xfrm flipH="1">
            <a:off x="5391606" y="2388286"/>
            <a:ext cx="4829" cy="27432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95" name="Google Shape;795;p36"/>
          <p:cNvCxnSpPr/>
          <p:nvPr/>
        </p:nvCxnSpPr>
        <p:spPr>
          <a:xfrm>
            <a:off x="7047824" y="2392679"/>
            <a:ext cx="1" cy="27432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96" name="Google Shape;796;p36"/>
          <p:cNvCxnSpPr>
            <a:stCxn id="772" idx="4"/>
            <a:endCxn id="774" idx="0"/>
          </p:cNvCxnSpPr>
          <p:nvPr/>
        </p:nvCxnSpPr>
        <p:spPr>
          <a:xfrm flipH="1">
            <a:off x="5387624" y="2394073"/>
            <a:ext cx="1660200" cy="2730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97" name="Google Shape;797;p36"/>
          <p:cNvCxnSpPr/>
          <p:nvPr/>
        </p:nvCxnSpPr>
        <p:spPr>
          <a:xfrm>
            <a:off x="4370625" y="2895600"/>
            <a:ext cx="513575" cy="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98" name="Google Shape;798;p36"/>
          <p:cNvCxnSpPr>
            <a:stCxn id="773" idx="1"/>
          </p:cNvCxnSpPr>
          <p:nvPr/>
        </p:nvCxnSpPr>
        <p:spPr>
          <a:xfrm flipH="1">
            <a:off x="2583329" y="2895600"/>
            <a:ext cx="780300" cy="201600"/>
          </a:xfrm>
          <a:prstGeom prst="bentConnector3">
            <a:avLst>
              <a:gd name="adj1" fmla="val 100306"/>
            </a:avLst>
          </a:prstGeom>
          <a:noFill/>
          <a:ln w="19050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99" name="Google Shape;799;p36"/>
          <p:cNvCxnSpPr/>
          <p:nvPr/>
        </p:nvCxnSpPr>
        <p:spPr>
          <a:xfrm rot="10800000" flipH="1">
            <a:off x="2941569" y="3411562"/>
            <a:ext cx="853656" cy="1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00" name="Google Shape;800;p36"/>
          <p:cNvCxnSpPr/>
          <p:nvPr/>
        </p:nvCxnSpPr>
        <p:spPr>
          <a:xfrm rot="10800000" flipH="1">
            <a:off x="3795225" y="2960524"/>
            <a:ext cx="1079563" cy="453193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801" name="Google Shape;801;p36"/>
          <p:cNvCxnSpPr/>
          <p:nvPr/>
        </p:nvCxnSpPr>
        <p:spPr>
          <a:xfrm>
            <a:off x="5391639" y="3119477"/>
            <a:ext cx="5931" cy="157123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802" name="Google Shape;802;p36"/>
          <p:cNvCxnSpPr>
            <a:stCxn id="776" idx="2"/>
            <a:endCxn id="778" idx="1"/>
          </p:cNvCxnSpPr>
          <p:nvPr/>
        </p:nvCxnSpPr>
        <p:spPr>
          <a:xfrm rot="-5400000" flipH="1">
            <a:off x="2674235" y="3358350"/>
            <a:ext cx="73500" cy="824400"/>
          </a:xfrm>
          <a:prstGeom prst="bentConnector2">
            <a:avLst/>
          </a:prstGeom>
          <a:noFill/>
          <a:ln w="19050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803" name="Google Shape;803;p36"/>
          <p:cNvCxnSpPr>
            <a:stCxn id="777" idx="2"/>
            <a:endCxn id="778" idx="3"/>
          </p:cNvCxnSpPr>
          <p:nvPr/>
        </p:nvCxnSpPr>
        <p:spPr>
          <a:xfrm rot="5400000">
            <a:off x="4939031" y="3350789"/>
            <a:ext cx="85500" cy="827700"/>
          </a:xfrm>
          <a:prstGeom prst="bentConnector2">
            <a:avLst/>
          </a:prstGeom>
          <a:noFill/>
          <a:ln w="19050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04" name="Google Shape;804;p36"/>
          <p:cNvSpPr txBox="1"/>
          <p:nvPr/>
        </p:nvSpPr>
        <p:spPr>
          <a:xfrm>
            <a:off x="6045332" y="3702786"/>
            <a:ext cx="16200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Query processor</a:t>
            </a:r>
            <a:endParaRPr sz="16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805" name="Google Shape;805;p36"/>
          <p:cNvSpPr txBox="1"/>
          <p:nvPr/>
        </p:nvSpPr>
        <p:spPr>
          <a:xfrm>
            <a:off x="6025671" y="4724400"/>
            <a:ext cx="16200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Storage manager</a:t>
            </a:r>
            <a:endParaRPr sz="16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806" name="Google Shape;806;p36"/>
          <p:cNvSpPr txBox="1"/>
          <p:nvPr/>
        </p:nvSpPr>
        <p:spPr>
          <a:xfrm>
            <a:off x="6017474" y="5562600"/>
            <a:ext cx="16200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Disk storage</a:t>
            </a:r>
            <a:endParaRPr sz="16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807" name="Google Shape;807;p36"/>
          <p:cNvCxnSpPr>
            <a:stCxn id="778" idx="2"/>
            <a:endCxn id="779" idx="0"/>
          </p:cNvCxnSpPr>
          <p:nvPr/>
        </p:nvCxnSpPr>
        <p:spPr>
          <a:xfrm flipH="1">
            <a:off x="2485190" y="4035983"/>
            <a:ext cx="1360500" cy="2313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08" name="Google Shape;808;p36"/>
          <p:cNvCxnSpPr>
            <a:stCxn id="778" idx="2"/>
            <a:endCxn id="780" idx="0"/>
          </p:cNvCxnSpPr>
          <p:nvPr/>
        </p:nvCxnSpPr>
        <p:spPr>
          <a:xfrm flipH="1">
            <a:off x="3749090" y="4035983"/>
            <a:ext cx="96600" cy="2313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09" name="Google Shape;809;p36"/>
          <p:cNvCxnSpPr>
            <a:stCxn id="778" idx="2"/>
            <a:endCxn id="781" idx="0"/>
          </p:cNvCxnSpPr>
          <p:nvPr/>
        </p:nvCxnSpPr>
        <p:spPr>
          <a:xfrm>
            <a:off x="3845690" y="4035983"/>
            <a:ext cx="1350600" cy="2313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10" name="Google Shape;810;p36"/>
          <p:cNvCxnSpPr>
            <a:stCxn id="778" idx="2"/>
            <a:endCxn id="782" idx="0"/>
          </p:cNvCxnSpPr>
          <p:nvPr/>
        </p:nvCxnSpPr>
        <p:spPr>
          <a:xfrm>
            <a:off x="3845690" y="4035983"/>
            <a:ext cx="2881500" cy="2313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11" name="Google Shape;811;p36"/>
          <p:cNvCxnSpPr>
            <a:stCxn id="779" idx="2"/>
            <a:endCxn id="787" idx="0"/>
          </p:cNvCxnSpPr>
          <p:nvPr/>
        </p:nvCxnSpPr>
        <p:spPr>
          <a:xfrm>
            <a:off x="2485266" y="4722395"/>
            <a:ext cx="463200" cy="10857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12" name="Google Shape;812;p36"/>
          <p:cNvCxnSpPr>
            <a:stCxn id="779" idx="2"/>
            <a:endCxn id="786" idx="0"/>
          </p:cNvCxnSpPr>
          <p:nvPr/>
        </p:nvCxnSpPr>
        <p:spPr>
          <a:xfrm>
            <a:off x="2485266" y="4722395"/>
            <a:ext cx="1090500" cy="7755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13" name="Google Shape;813;p36"/>
          <p:cNvCxnSpPr>
            <a:stCxn id="780" idx="2"/>
            <a:endCxn id="786" idx="0"/>
          </p:cNvCxnSpPr>
          <p:nvPr/>
        </p:nvCxnSpPr>
        <p:spPr>
          <a:xfrm flipH="1">
            <a:off x="3575704" y="4724399"/>
            <a:ext cx="173400" cy="7734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14" name="Google Shape;814;p36"/>
          <p:cNvCxnSpPr>
            <a:stCxn id="780" idx="2"/>
            <a:endCxn id="787" idx="0"/>
          </p:cNvCxnSpPr>
          <p:nvPr/>
        </p:nvCxnSpPr>
        <p:spPr>
          <a:xfrm flipH="1">
            <a:off x="2948404" y="4724399"/>
            <a:ext cx="800700" cy="10836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15" name="Google Shape;815;p36"/>
          <p:cNvCxnSpPr>
            <a:stCxn id="781" idx="2"/>
            <a:endCxn id="784" idx="0"/>
          </p:cNvCxnSpPr>
          <p:nvPr/>
        </p:nvCxnSpPr>
        <p:spPr>
          <a:xfrm flipH="1">
            <a:off x="4837564" y="4724399"/>
            <a:ext cx="358800" cy="7620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16" name="Google Shape;816;p36"/>
          <p:cNvCxnSpPr>
            <a:stCxn id="777" idx="2"/>
            <a:endCxn id="784" idx="0"/>
          </p:cNvCxnSpPr>
          <p:nvPr/>
        </p:nvCxnSpPr>
        <p:spPr>
          <a:xfrm flipH="1">
            <a:off x="4837331" y="3721889"/>
            <a:ext cx="558300" cy="17646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17" name="Google Shape;817;p36"/>
          <p:cNvCxnSpPr/>
          <p:nvPr/>
        </p:nvCxnSpPr>
        <p:spPr>
          <a:xfrm flipH="1">
            <a:off x="4072764" y="4953000"/>
            <a:ext cx="8883" cy="99991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18" name="Google Shape;818;p36"/>
          <p:cNvCxnSpPr>
            <a:endCxn id="785" idx="1"/>
          </p:cNvCxnSpPr>
          <p:nvPr/>
        </p:nvCxnSpPr>
        <p:spPr>
          <a:xfrm>
            <a:off x="4072884" y="5952940"/>
            <a:ext cx="124500" cy="369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19" name="Google Shape;819;p36"/>
          <p:cNvCxnSpPr/>
          <p:nvPr/>
        </p:nvCxnSpPr>
        <p:spPr>
          <a:xfrm rot="10800000" flipH="1">
            <a:off x="4081647" y="4953000"/>
            <a:ext cx="914400" cy="596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20" name="Google Shape;820;p36"/>
          <p:cNvSpPr/>
          <p:nvPr/>
        </p:nvSpPr>
        <p:spPr>
          <a:xfrm>
            <a:off x="7733064" y="2819400"/>
            <a:ext cx="1485900" cy="933549"/>
          </a:xfrm>
          <a:prstGeom prst="wedgeRoundRectCallout">
            <a:avLst>
              <a:gd name="adj1" fmla="val -62859"/>
              <a:gd name="adj2" fmla="val 62598"/>
              <a:gd name="adj3" fmla="val 16667"/>
            </a:avLst>
          </a:prstGeom>
          <a:solidFill>
            <a:srgbClr val="E8E8E8"/>
          </a:solidFill>
          <a:ln w="12700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Deals with execution of DDL and DML statements</a:t>
            </a:r>
            <a:endParaRPr sz="14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821" name="Google Shape;821;p36"/>
          <p:cNvSpPr/>
          <p:nvPr/>
        </p:nvSpPr>
        <p:spPr>
          <a:xfrm>
            <a:off x="7504464" y="5072798"/>
            <a:ext cx="1808351" cy="1251801"/>
          </a:xfrm>
          <a:prstGeom prst="wedgeRoundRectCallout">
            <a:avLst>
              <a:gd name="adj1" fmla="val -57836"/>
              <a:gd name="adj2" fmla="val -58339"/>
              <a:gd name="adj3" fmla="val 16667"/>
            </a:avLst>
          </a:prstGeom>
          <a:solidFill>
            <a:srgbClr val="E8E8E8"/>
          </a:solidFill>
          <a:ln w="12700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Provides interface between low-level data stored and application program or queries</a:t>
            </a:r>
            <a:endParaRPr sz="14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822" name="Google Shape;822;p36"/>
          <p:cNvSpPr/>
          <p:nvPr/>
        </p:nvSpPr>
        <p:spPr>
          <a:xfrm>
            <a:off x="7739527" y="2575431"/>
            <a:ext cx="1573288" cy="1111211"/>
          </a:xfrm>
          <a:prstGeom prst="wedgeRoundRectCallout">
            <a:avLst>
              <a:gd name="adj1" fmla="val -75967"/>
              <a:gd name="adj2" fmla="val -21302"/>
              <a:gd name="adj3" fmla="val 16667"/>
            </a:avLst>
          </a:prstGeom>
          <a:solidFill>
            <a:srgbClr val="E8E8E8"/>
          </a:solidFill>
          <a:ln w="12700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Interprets DDL statements into a set of tables containing metadata</a:t>
            </a:r>
            <a:endParaRPr sz="14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823" name="Google Shape;823;p36"/>
          <p:cNvSpPr/>
          <p:nvPr/>
        </p:nvSpPr>
        <p:spPr>
          <a:xfrm>
            <a:off x="7670352" y="2437406"/>
            <a:ext cx="1671927" cy="1645920"/>
          </a:xfrm>
          <a:prstGeom prst="wedgeRoundRectCallout">
            <a:avLst>
              <a:gd name="adj1" fmla="val -153676"/>
              <a:gd name="adj2" fmla="val 17324"/>
              <a:gd name="adj3" fmla="val 16667"/>
            </a:avLst>
          </a:prstGeom>
          <a:solidFill>
            <a:srgbClr val="E8E8E8"/>
          </a:solidFill>
          <a:ln w="12700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Translates DML statements into low level instructions that the query evaluation engine understands</a:t>
            </a:r>
            <a:endParaRPr sz="14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824" name="Google Shape;824;p36"/>
          <p:cNvSpPr/>
          <p:nvPr/>
        </p:nvSpPr>
        <p:spPr>
          <a:xfrm>
            <a:off x="7656864" y="2761334"/>
            <a:ext cx="1671927" cy="1124866"/>
          </a:xfrm>
          <a:prstGeom prst="wedgeRoundRectCallout">
            <a:avLst>
              <a:gd name="adj1" fmla="val -241708"/>
              <a:gd name="adj2" fmla="val 46975"/>
              <a:gd name="adj3" fmla="val 16667"/>
            </a:avLst>
          </a:prstGeom>
          <a:solidFill>
            <a:srgbClr val="E8E8E8"/>
          </a:solidFill>
          <a:ln w="12700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Executes low level instructions generated by DML compiler.</a:t>
            </a:r>
            <a:endParaRPr sz="14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825" name="Google Shape;825;p36"/>
          <p:cNvSpPr/>
          <p:nvPr/>
        </p:nvSpPr>
        <p:spPr>
          <a:xfrm>
            <a:off x="7543004" y="5062712"/>
            <a:ext cx="1808351" cy="799624"/>
          </a:xfrm>
          <a:prstGeom prst="wedgeRoundRectCallout">
            <a:avLst>
              <a:gd name="adj1" fmla="val -73147"/>
              <a:gd name="adj2" fmla="val -110050"/>
              <a:gd name="adj3" fmla="val 16667"/>
            </a:avLst>
          </a:prstGeom>
          <a:solidFill>
            <a:srgbClr val="E8E8E8"/>
          </a:solidFill>
          <a:ln w="12700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Preserves atomicity and controls concurrency</a:t>
            </a:r>
            <a:endParaRPr sz="14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826" name="Google Shape;826;p36"/>
          <p:cNvSpPr/>
          <p:nvPr/>
        </p:nvSpPr>
        <p:spPr>
          <a:xfrm>
            <a:off x="7465924" y="5201650"/>
            <a:ext cx="1808351" cy="971282"/>
          </a:xfrm>
          <a:prstGeom prst="wedgeRoundRectCallout">
            <a:avLst>
              <a:gd name="adj1" fmla="val -140128"/>
              <a:gd name="adj2" fmla="val -119954"/>
              <a:gd name="adj3" fmla="val 16667"/>
            </a:avLst>
          </a:prstGeom>
          <a:solidFill>
            <a:srgbClr val="E8E8E8"/>
          </a:solidFill>
          <a:ln w="12700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Checks the authority of users to access data and integrity constraints</a:t>
            </a:r>
            <a:endParaRPr sz="14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827" name="Google Shape;827;p36"/>
          <p:cNvSpPr/>
          <p:nvPr/>
        </p:nvSpPr>
        <p:spPr>
          <a:xfrm>
            <a:off x="485453" y="4722395"/>
            <a:ext cx="1808351" cy="971282"/>
          </a:xfrm>
          <a:prstGeom prst="wedgeRoundRectCallout">
            <a:avLst>
              <a:gd name="adj1" fmla="val 116367"/>
              <a:gd name="adj2" fmla="val -75228"/>
              <a:gd name="adj3" fmla="val 16667"/>
            </a:avLst>
          </a:prstGeom>
          <a:solidFill>
            <a:srgbClr val="E8E8E8"/>
          </a:solidFill>
          <a:ln w="12700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Manages allocation of space on disk storage</a:t>
            </a:r>
            <a:endParaRPr sz="14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828" name="Google Shape;828;p36"/>
          <p:cNvSpPr/>
          <p:nvPr/>
        </p:nvSpPr>
        <p:spPr>
          <a:xfrm>
            <a:off x="443642" y="4862733"/>
            <a:ext cx="1881685" cy="971282"/>
          </a:xfrm>
          <a:prstGeom prst="wedgeRoundRectCallout">
            <a:avLst>
              <a:gd name="adj1" fmla="val 44887"/>
              <a:gd name="adj2" fmla="val -88719"/>
              <a:gd name="adj3" fmla="val 16667"/>
            </a:avLst>
          </a:prstGeom>
          <a:solidFill>
            <a:srgbClr val="E8E8E8"/>
          </a:solidFill>
          <a:ln w="12700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Fetches data from disk storage to memory for being used</a:t>
            </a:r>
            <a:endParaRPr sz="14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829" name="Google Shape;829;p36"/>
          <p:cNvSpPr/>
          <p:nvPr/>
        </p:nvSpPr>
        <p:spPr>
          <a:xfrm>
            <a:off x="5554157" y="5915811"/>
            <a:ext cx="1808351" cy="289110"/>
          </a:xfrm>
          <a:prstGeom prst="wedgeRoundRectCallout">
            <a:avLst>
              <a:gd name="adj1" fmla="val -58702"/>
              <a:gd name="adj2" fmla="val -138903"/>
              <a:gd name="adj3" fmla="val 16667"/>
            </a:avLst>
          </a:prstGeom>
          <a:solidFill>
            <a:srgbClr val="E8E8E8"/>
          </a:solidFill>
          <a:ln w="12700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To store metadata</a:t>
            </a:r>
            <a:endParaRPr sz="14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830" name="Google Shape;830;p36"/>
          <p:cNvSpPr/>
          <p:nvPr/>
        </p:nvSpPr>
        <p:spPr>
          <a:xfrm>
            <a:off x="445159" y="5600765"/>
            <a:ext cx="1881685" cy="503521"/>
          </a:xfrm>
          <a:prstGeom prst="wedgeRoundRectCallout">
            <a:avLst>
              <a:gd name="adj1" fmla="val 98580"/>
              <a:gd name="adj2" fmla="val -41907"/>
              <a:gd name="adj3" fmla="val 16667"/>
            </a:avLst>
          </a:prstGeom>
          <a:solidFill>
            <a:srgbClr val="E8E8E8"/>
          </a:solidFill>
          <a:ln w="12700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To provide faster access to data items</a:t>
            </a:r>
            <a:endParaRPr sz="14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831" name="Google Shape;831;p36"/>
          <p:cNvSpPr/>
          <p:nvPr/>
        </p:nvSpPr>
        <p:spPr>
          <a:xfrm>
            <a:off x="445450" y="5828302"/>
            <a:ext cx="1881685" cy="503521"/>
          </a:xfrm>
          <a:prstGeom prst="wedgeRoundRectCallout">
            <a:avLst>
              <a:gd name="adj1" fmla="val 72921"/>
              <a:gd name="adj2" fmla="val -21046"/>
              <a:gd name="adj3" fmla="val 16667"/>
            </a:avLst>
          </a:prstGeom>
          <a:solidFill>
            <a:srgbClr val="E8E8E8"/>
          </a:solidFill>
          <a:ln w="12700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To store user data</a:t>
            </a:r>
            <a:endParaRPr sz="14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832" name="Google Shape;832;p36"/>
          <p:cNvSpPr/>
          <p:nvPr/>
        </p:nvSpPr>
        <p:spPr>
          <a:xfrm>
            <a:off x="5568750" y="5862336"/>
            <a:ext cx="2240514" cy="516949"/>
          </a:xfrm>
          <a:prstGeom prst="wedgeRoundRectCallout">
            <a:avLst>
              <a:gd name="adj1" fmla="val -57639"/>
              <a:gd name="adj2" fmla="val -23588"/>
              <a:gd name="adj3" fmla="val 16667"/>
            </a:avLst>
          </a:prstGeom>
          <a:solidFill>
            <a:srgbClr val="E8E8E8"/>
          </a:solidFill>
          <a:ln w="12700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To store statistical information about the data</a:t>
            </a:r>
            <a:endParaRPr sz="14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8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500"/>
                                        <p:tgtEl>
                                          <p:spTgt spid="8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6" dur="500"/>
                                        <p:tgtEl>
                                          <p:spTgt spid="8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7" dur="500"/>
                                        <p:tgtEl>
                                          <p:spTgt spid="8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5" dur="500"/>
                                        <p:tgtEl>
                                          <p:spTgt spid="8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500"/>
                                        <p:tgtEl>
                                          <p:spTgt spid="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500"/>
                                        <p:tgtEl>
                                          <p:spTgt spid="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3" dur="500"/>
                                        <p:tgtEl>
                                          <p:spTgt spid="8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500"/>
                                        <p:tgtEl>
                                          <p:spTgt spid="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500"/>
                                        <p:tgtEl>
                                          <p:spTgt spid="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500"/>
                                        <p:tgtEl>
                                          <p:spTgt spid="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indefinite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1" dur="500"/>
                                        <p:tgtEl>
                                          <p:spTgt spid="8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500"/>
                                        <p:tgtEl>
                                          <p:spTgt spid="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0" dur="500"/>
                                        <p:tgtEl>
                                          <p:spTgt spid="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500"/>
                                        <p:tgtEl>
                                          <p:spTgt spid="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>
                      <p:stCondLst>
                        <p:cond delay="indefinite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9" dur="500"/>
                                        <p:tgtEl>
                                          <p:spTgt spid="8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indefinite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5" dur="500"/>
                                        <p:tgtEl>
                                          <p:spTgt spid="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8" dur="500"/>
                                        <p:tgtEl>
                                          <p:spTgt spid="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" fill="hold">
                      <p:stCondLst>
                        <p:cond delay="indefinite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3" dur="500"/>
                                        <p:tgtEl>
                                          <p:spTgt spid="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4" fill="hold">
                      <p:stCondLst>
                        <p:cond delay="indefinite"/>
                      </p:stCondLst>
                      <p:childTnLst>
                        <p:par>
                          <p:cTn id="275" fill="hold">
                            <p:stCondLst>
                              <p:cond delay="0"/>
                            </p:stCondLst>
                            <p:childTnLst>
                              <p:par>
                                <p:cTn id="27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7" dur="500"/>
                                        <p:tgtEl>
                                          <p:spTgt spid="8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>
                      <p:stCondLst>
                        <p:cond delay="indefinite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3" dur="500"/>
                                        <p:tgtEl>
                                          <p:spTgt spid="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6" dur="500"/>
                                        <p:tgtEl>
                                          <p:spTgt spid="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7" fill="hold">
                      <p:stCondLst>
                        <p:cond delay="indefinite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1" dur="500"/>
                                        <p:tgtEl>
                                          <p:spTgt spid="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4" dur="500"/>
                                        <p:tgtEl>
                                          <p:spTgt spid="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7" dur="500"/>
                                        <p:tgtEl>
                                          <p:spTgt spid="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8" fill="hold">
                      <p:stCondLst>
                        <p:cond delay="indefinite"/>
                      </p:stCondLst>
                      <p:childTnLst>
                        <p:par>
                          <p:cTn id="299" fill="hold">
                            <p:stCondLst>
                              <p:cond delay="0"/>
                            </p:stCondLst>
                            <p:childTnLst>
                              <p:par>
                                <p:cTn id="30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2" dur="500"/>
                                        <p:tgtEl>
                                          <p:spTgt spid="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" fill="hold">
                      <p:stCondLst>
                        <p:cond delay="indefinite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6" dur="500"/>
                                        <p:tgtEl>
                                          <p:spTgt spid="8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8" fill="hold">
                      <p:stCondLst>
                        <p:cond delay="indefinite"/>
                      </p:stCondLst>
                      <p:childTnLst>
                        <p:par>
                          <p:cTn id="309" fill="hold">
                            <p:stCondLst>
                              <p:cond delay="0"/>
                            </p:stCondLst>
                            <p:childTnLst>
                              <p:par>
                                <p:cTn id="3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2" dur="500"/>
                                        <p:tgtEl>
                                          <p:spTgt spid="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5" dur="500"/>
                                        <p:tgtEl>
                                          <p:spTgt spid="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8" dur="500"/>
                                        <p:tgtEl>
                                          <p:spTgt spid="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9" fill="hold">
                      <p:stCondLst>
                        <p:cond delay="indefinite"/>
                      </p:stCondLst>
                      <p:childTnLst>
                        <p:par>
                          <p:cTn id="320" fill="hold">
                            <p:stCondLst>
                              <p:cond delay="0"/>
                            </p:stCondLst>
                            <p:childTnLst>
                              <p:par>
                                <p:cTn id="3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3" dur="500"/>
                                        <p:tgtEl>
                                          <p:spTgt spid="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4" fill="hold">
                      <p:stCondLst>
                        <p:cond delay="indefinite"/>
                      </p:stCondLst>
                      <p:childTnLst>
                        <p:par>
                          <p:cTn id="325" fill="hold">
                            <p:stCondLst>
                              <p:cond delay="0"/>
                            </p:stCondLst>
                            <p:childTnLst>
                              <p:par>
                                <p:cTn id="32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7" dur="500"/>
                                        <p:tgtEl>
                                          <p:spTgt spid="8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9" fill="hold">
                      <p:stCondLst>
                        <p:cond delay="indefinite"/>
                      </p:stCondLst>
                      <p:childTnLst>
                        <p:par>
                          <p:cTn id="330" fill="hold">
                            <p:stCondLst>
                              <p:cond delay="0"/>
                            </p:stCondLst>
                            <p:childTnLst>
                              <p:par>
                                <p:cTn id="3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3" dur="500"/>
                                        <p:tgtEl>
                                          <p:spTgt spid="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6" dur="500"/>
                                        <p:tgtEl>
                                          <p:spTgt spid="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9" dur="500"/>
                                        <p:tgtEl>
                                          <p:spTgt spid="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0" fill="hold">
                      <p:stCondLst>
                        <p:cond delay="indefinite"/>
                      </p:stCondLst>
                      <p:childTnLst>
                        <p:par>
                          <p:cTn id="341" fill="hold">
                            <p:stCondLst>
                              <p:cond delay="0"/>
                            </p:stCondLst>
                            <p:childTnLst>
                              <p:par>
                                <p:cTn id="3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4" dur="500"/>
                                        <p:tgtEl>
                                          <p:spTgt spid="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5" fill="hold">
                      <p:stCondLst>
                        <p:cond delay="indefinite"/>
                      </p:stCondLst>
                      <p:childTnLst>
                        <p:par>
                          <p:cTn id="346" fill="hold">
                            <p:stCondLst>
                              <p:cond delay="0"/>
                            </p:stCondLst>
                            <p:childTnLst>
                              <p:par>
                                <p:cTn id="34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8" dur="500"/>
                                        <p:tgtEl>
                                          <p:spTgt spid="8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0" fill="hold">
                      <p:stCondLst>
                        <p:cond delay="indefinite"/>
                      </p:stCondLst>
                      <p:childTnLst>
                        <p:par>
                          <p:cTn id="351" fill="hold">
                            <p:stCondLst>
                              <p:cond delay="0"/>
                            </p:stCondLst>
                            <p:childTnLst>
                              <p:par>
                                <p:cTn id="3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4" dur="500"/>
                                        <p:tgtEl>
                                          <p:spTgt spid="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7" dur="500"/>
                                        <p:tgtEl>
                                          <p:spTgt spid="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0" dur="500"/>
                                        <p:tgtEl>
                                          <p:spTgt spid="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3" dur="500"/>
                                        <p:tgtEl>
                                          <p:spTgt spid="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4" fill="hold">
                      <p:stCondLst>
                        <p:cond delay="indefinite"/>
                      </p:stCondLst>
                      <p:childTnLst>
                        <p:par>
                          <p:cTn id="365" fill="hold">
                            <p:stCondLst>
                              <p:cond delay="0"/>
                            </p:stCondLst>
                            <p:childTnLst>
                              <p:par>
                                <p:cTn id="3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8" dur="500"/>
                                        <p:tgtEl>
                                          <p:spTgt spid="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9" fill="hold">
                      <p:stCondLst>
                        <p:cond delay="indefinite"/>
                      </p:stCondLst>
                      <p:childTnLst>
                        <p:par>
                          <p:cTn id="370" fill="hold">
                            <p:stCondLst>
                              <p:cond delay="0"/>
                            </p:stCondLst>
                            <p:childTnLst>
                              <p:par>
                                <p:cTn id="37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2" dur="500"/>
                                        <p:tgtEl>
                                          <p:spTgt spid="8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37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Questions asked in GTU</a:t>
            </a:r>
            <a:endParaRPr/>
          </a:p>
        </p:txBody>
      </p:sp>
      <p:sp>
        <p:nvSpPr>
          <p:cNvPr id="838" name="Google Shape;838;p37"/>
          <p:cNvSpPr txBox="1">
            <a:spLocks noGrp="1"/>
          </p:cNvSpPr>
          <p:nvPr>
            <p:ph type="body" idx="1"/>
          </p:nvPr>
        </p:nvSpPr>
        <p:spPr>
          <a:xfrm>
            <a:off x="178805" y="863444"/>
            <a:ext cx="11929641" cy="559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Condensed"/>
              <a:buAutoNum type="arabicPeriod"/>
            </a:pPr>
            <a:r>
              <a:rPr lang="en-US"/>
              <a:t>List and explain the advantages of DBMS over file based system. </a:t>
            </a:r>
            <a:r>
              <a:rPr lang="en-US" b="1">
                <a:solidFill>
                  <a:schemeClr val="accent6"/>
                </a:solidFill>
              </a:rPr>
              <a:t>OR</a:t>
            </a:r>
            <a:r>
              <a:rPr lang="en-US"/>
              <a:t> Explain disadvantages of files based system.</a:t>
            </a:r>
            <a:endParaRPr/>
          </a:p>
          <a:p>
            <a:pPr marL="457200" lvl="0" indent="-4572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 Condensed"/>
              <a:buAutoNum type="arabicPeriod"/>
            </a:pPr>
            <a:r>
              <a:rPr lang="en-US"/>
              <a:t>Draw and explain 3 level architecture of DBMS.</a:t>
            </a:r>
            <a:endParaRPr/>
          </a:p>
          <a:p>
            <a:pPr marL="457200" lvl="0" indent="-4572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 Condensed"/>
              <a:buAutoNum type="arabicPeriod"/>
            </a:pPr>
            <a:r>
              <a:rPr lang="en-US"/>
              <a:t>List and explain different categories/types of database users.</a:t>
            </a:r>
            <a:endParaRPr/>
          </a:p>
          <a:p>
            <a:pPr marL="457200" lvl="0" indent="-4572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 Condensed"/>
              <a:buAutoNum type="arabicPeriod"/>
            </a:pPr>
            <a:r>
              <a:rPr lang="en-US"/>
              <a:t>List and explain different tasks/roles/functions/duties of DBA (Database Administrator).</a:t>
            </a:r>
            <a:endParaRPr/>
          </a:p>
          <a:p>
            <a:pPr marL="457200" lvl="0" indent="-4572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 Condensed"/>
              <a:buAutoNum type="arabicPeriod"/>
            </a:pPr>
            <a:r>
              <a:rPr lang="en-US"/>
              <a:t>Explain DBMS architecture with block diagram. </a:t>
            </a:r>
            <a:r>
              <a:rPr lang="en-US" b="1">
                <a:solidFill>
                  <a:schemeClr val="accent6"/>
                </a:solidFill>
              </a:rPr>
              <a:t>OR</a:t>
            </a:r>
            <a:r>
              <a:rPr lang="en-US"/>
              <a:t> Explain Database System architecture with block diagram.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38"/>
          <p:cNvSpPr txBox="1">
            <a:spLocks noGrp="1"/>
          </p:cNvSpPr>
          <p:nvPr>
            <p:ph type="body" idx="5"/>
          </p:nvPr>
        </p:nvSpPr>
        <p:spPr>
          <a:xfrm>
            <a:off x="2581756" y="20384"/>
            <a:ext cx="4646358" cy="734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b="1"/>
              <a:t>Database Management Systems </a:t>
            </a:r>
            <a:r>
              <a:rPr lang="en-US"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(DBMS)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/>
              <a:t>GTU # 3130703</a:t>
            </a:r>
            <a:endParaRPr/>
          </a:p>
        </p:txBody>
      </p:sp>
      <p:sp>
        <p:nvSpPr>
          <p:cNvPr id="844" name="Google Shape;844;p38"/>
          <p:cNvSpPr txBox="1">
            <a:spLocks noGrp="1"/>
          </p:cNvSpPr>
          <p:nvPr>
            <p:ph type="body" idx="1"/>
          </p:nvPr>
        </p:nvSpPr>
        <p:spPr>
          <a:xfrm>
            <a:off x="2180943" y="6175935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/>
              <a:t>firoz.sherasiya@darshan.ac.in</a:t>
            </a:r>
            <a:endParaRPr/>
          </a:p>
        </p:txBody>
      </p:sp>
      <p:sp>
        <p:nvSpPr>
          <p:cNvPr id="845" name="Google Shape;845;p38"/>
          <p:cNvSpPr txBox="1">
            <a:spLocks noGrp="1"/>
          </p:cNvSpPr>
          <p:nvPr>
            <p:ph type="body" idx="2"/>
          </p:nvPr>
        </p:nvSpPr>
        <p:spPr>
          <a:xfrm>
            <a:off x="2183874" y="646021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/>
              <a:t>9879879861</a:t>
            </a:r>
            <a:endParaRPr/>
          </a:p>
        </p:txBody>
      </p:sp>
      <p:sp>
        <p:nvSpPr>
          <p:cNvPr id="846" name="Google Shape;846;p38"/>
          <p:cNvSpPr txBox="1">
            <a:spLocks noGrp="1"/>
          </p:cNvSpPr>
          <p:nvPr>
            <p:ph type="body" idx="3"/>
          </p:nvPr>
        </p:nvSpPr>
        <p:spPr>
          <a:xfrm>
            <a:off x="1837678" y="553776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/>
              <a:t>Computer Engineering Department</a:t>
            </a:r>
            <a:endParaRPr/>
          </a:p>
        </p:txBody>
      </p:sp>
      <p:sp>
        <p:nvSpPr>
          <p:cNvPr id="847" name="Google Shape;847;p38"/>
          <p:cNvSpPr txBox="1">
            <a:spLocks noGrp="1"/>
          </p:cNvSpPr>
          <p:nvPr>
            <p:ph type="body" idx="4"/>
          </p:nvPr>
        </p:nvSpPr>
        <p:spPr>
          <a:xfrm>
            <a:off x="1837677" y="5273332"/>
            <a:ext cx="5581039" cy="290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C2321"/>
              </a:buClr>
              <a:buSzPts val="1800"/>
              <a:buNone/>
            </a:pPr>
            <a:r>
              <a:rPr lang="en-US"/>
              <a:t>Prof. Firoz A Sherasiya</a:t>
            </a:r>
            <a:endParaRPr/>
          </a:p>
        </p:txBody>
      </p:sp>
      <p:pic>
        <p:nvPicPr>
          <p:cNvPr id="848" name="Google Shape;848;p38"/>
          <p:cNvPicPr preferRelativeResize="0">
            <a:picLocks noGrp="1"/>
          </p:cNvPicPr>
          <p:nvPr>
            <p:ph type="pic" idx="6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353569" y="5211251"/>
            <a:ext cx="1353599" cy="1353599"/>
          </a:xfrm>
          <a:prstGeom prst="rect">
            <a:avLst/>
          </a:prstGeom>
          <a:noFill/>
          <a:ln w="9525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rgbClr val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2640</Words>
  <Application>Microsoft Office PowerPoint</Application>
  <PresentationFormat>Widescreen</PresentationFormat>
  <Paragraphs>588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Arial</vt:lpstr>
      <vt:lpstr>Roboto Condensed Light</vt:lpstr>
      <vt:lpstr>Roboto Condensed</vt:lpstr>
      <vt:lpstr>Noto Sans Symbols</vt:lpstr>
      <vt:lpstr>Calibri</vt:lpstr>
      <vt:lpstr>Office Theme</vt:lpstr>
      <vt:lpstr>PowerPoint Presentation</vt:lpstr>
      <vt:lpstr>Introduction to DBMS </vt:lpstr>
      <vt:lpstr>What is Database Management System (DBMS)?</vt:lpstr>
      <vt:lpstr>Applications of DBMS </vt:lpstr>
      <vt:lpstr>Applications of DBMS</vt:lpstr>
      <vt:lpstr>Advantages of DBMS </vt:lpstr>
      <vt:lpstr>Reduce data redundancy (duplication)</vt:lpstr>
      <vt:lpstr>Remove data inconsistency</vt:lpstr>
      <vt:lpstr>Data isolation</vt:lpstr>
      <vt:lpstr>Guaranteed atomicity</vt:lpstr>
      <vt:lpstr>Allow to implement integrity constraints</vt:lpstr>
      <vt:lpstr>Sharing of data among multiple users</vt:lpstr>
      <vt:lpstr>Restricting unauthorized access to data</vt:lpstr>
      <vt:lpstr>Providing backup and recovery services</vt:lpstr>
      <vt:lpstr>Advantages of DBMS (Summary)</vt:lpstr>
      <vt:lpstr>Advantages of DBMS (Summary)</vt:lpstr>
      <vt:lpstr>Basic Terms</vt:lpstr>
      <vt:lpstr>Basic terms</vt:lpstr>
      <vt:lpstr>Basic terms (cont…)</vt:lpstr>
      <vt:lpstr>Basic terms (cont…)</vt:lpstr>
      <vt:lpstr>Basic terms (cont…)</vt:lpstr>
      <vt:lpstr>3 Levels ANSI SPARC  Database System</vt:lpstr>
      <vt:lpstr>3 Levels ANSI SPARC Database System</vt:lpstr>
      <vt:lpstr>3 Levels ANSI SPARC Database System</vt:lpstr>
      <vt:lpstr>3 Levels ANSI SPARC Database System: Example</vt:lpstr>
      <vt:lpstr>Data Abstraction in DBMS </vt:lpstr>
      <vt:lpstr>Mapping and Data Independence</vt:lpstr>
      <vt:lpstr>Types of Data Independence</vt:lpstr>
      <vt:lpstr>Types of Database Users</vt:lpstr>
      <vt:lpstr>Types of Database Users</vt:lpstr>
      <vt:lpstr>Role of DBA (Database Administrator)</vt:lpstr>
      <vt:lpstr>Role of DBA</vt:lpstr>
      <vt:lpstr>Role of DBA</vt:lpstr>
      <vt:lpstr>Database System Architecture</vt:lpstr>
      <vt:lpstr>Database System Architecture</vt:lpstr>
      <vt:lpstr>Questions asked in GTU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</dc:creator>
  <cp:lastModifiedBy>Darshan Prajapati</cp:lastModifiedBy>
  <cp:revision>1</cp:revision>
  <dcterms:created xsi:type="dcterms:W3CDTF">2020-05-01T05:09:15Z</dcterms:created>
  <dcterms:modified xsi:type="dcterms:W3CDTF">2025-12-25T11:49:06Z</dcterms:modified>
</cp:coreProperties>
</file>