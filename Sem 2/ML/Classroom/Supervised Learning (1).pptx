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74" r:id="rId8"/>
    <p:sldId id="261" r:id="rId9"/>
    <p:sldId id="263" r:id="rId10"/>
    <p:sldId id="264" r:id="rId11"/>
    <p:sldId id="275" r:id="rId12"/>
    <p:sldId id="265" r:id="rId13"/>
    <p:sldId id="266" r:id="rId14"/>
    <p:sldId id="267" r:id="rId15"/>
    <p:sldId id="276" r:id="rId16"/>
    <p:sldId id="268" r:id="rId17"/>
    <p:sldId id="269" r:id="rId18"/>
    <p:sldId id="277" r:id="rId19"/>
    <p:sldId id="270" r:id="rId20"/>
    <p:sldId id="271" r:id="rId21"/>
    <p:sldId id="272" r:id="rId22"/>
    <p:sldId id="278" r:id="rId23"/>
    <p:sldId id="273" r:id="rId24"/>
    <p:sldId id="279" r:id="rId25"/>
    <p:sldId id="281" r:id="rId26"/>
    <p:sldId id="282" r:id="rId27"/>
    <p:sldId id="280" r:id="rId28"/>
    <p:sldId id="283" r:id="rId29"/>
    <p:sldId id="284" r:id="rId30"/>
    <p:sldId id="285" r:id="rId31"/>
    <p:sldId id="287" r:id="rId32"/>
    <p:sldId id="286" r:id="rId33"/>
    <p:sldId id="288" r:id="rId3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48" autoAdjust="0"/>
    <p:restoredTop sz="94660"/>
  </p:normalViewPr>
  <p:slideViewPr>
    <p:cSldViewPr snapToGrid="0">
      <p:cViewPr varScale="1">
        <p:scale>
          <a:sx n="65" d="100"/>
          <a:sy n="65" d="100"/>
        </p:scale>
        <p:origin x="71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7D5DF-517C-4C68-8F9F-016A9C424C96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CB289-BFB2-4B5A-AA1B-19D154921393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25923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7D5DF-517C-4C68-8F9F-016A9C424C96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CB289-BFB2-4B5A-AA1B-19D1549213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79866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7D5DF-517C-4C68-8F9F-016A9C424C96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CB289-BFB2-4B5A-AA1B-19D154921393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89517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7D5DF-517C-4C68-8F9F-016A9C424C96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CB289-BFB2-4B5A-AA1B-19D1549213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48631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7D5DF-517C-4C68-8F9F-016A9C424C96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CB289-BFB2-4B5A-AA1B-19D1549213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58427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7D5DF-517C-4C68-8F9F-016A9C424C96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CB289-BFB2-4B5A-AA1B-19D1549213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21535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7D5DF-517C-4C68-8F9F-016A9C424C96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CB289-BFB2-4B5A-AA1B-19D1549213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41612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9B67D5DF-517C-4C68-8F9F-016A9C424C96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13CB289-BFB2-4B5A-AA1B-19D1549213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72550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7D5DF-517C-4C68-8F9F-016A9C424C96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CB289-BFB2-4B5A-AA1B-19D1549213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3464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7D5DF-517C-4C68-8F9F-016A9C424C96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CB289-BFB2-4B5A-AA1B-19D1549213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3743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7D5DF-517C-4C68-8F9F-016A9C424C96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CB289-BFB2-4B5A-AA1B-19D1549213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53052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9B67D5DF-517C-4C68-8F9F-016A9C424C96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E13CB289-BFB2-4B5A-AA1B-19D154921393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61052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sv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A41A1-299B-00EC-C89D-E3B413A5EB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Supervised Learning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30F8EB-4A87-AE77-65C0-5EEFFB0598A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Introduction, Theory,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34749424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2EE14-4F58-3C24-0E1C-5563197D88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Learning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83A387C-AA12-42A9-095E-E15F648DDB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2942" y="152401"/>
            <a:ext cx="8469034" cy="6055360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002F414-FECD-47EB-6BB5-8642F5B07B0D}"/>
              </a:ext>
            </a:extLst>
          </p:cNvPr>
          <p:cNvSpPr txBox="1"/>
          <p:nvPr/>
        </p:nvSpPr>
        <p:spPr>
          <a:xfrm>
            <a:off x="9347200" y="6427371"/>
            <a:ext cx="284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i="1" dirty="0"/>
              <a:t>Credit : Data Science Dojo</a:t>
            </a:r>
          </a:p>
        </p:txBody>
      </p:sp>
    </p:spTree>
    <p:extLst>
      <p:ext uri="{BB962C8B-B14F-4D97-AF65-F5344CB8AC3E}">
        <p14:creationId xmlns:p14="http://schemas.microsoft.com/office/powerpoint/2010/main" val="8507552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51D141-3B96-34E4-2736-BF00992A67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Classification problems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3D45B4-004B-3517-BF8D-6FDBC7E71D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433146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IN" dirty="0"/>
              <a:t> </a:t>
            </a:r>
            <a:r>
              <a:rPr lang="en-US" dirty="0"/>
              <a:t>A classification problem is a type of supervised learning where the goal is to assign each input into one of several categories or classes.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</a:t>
            </a:r>
            <a:r>
              <a:rPr lang="en-US" b="1" dirty="0"/>
              <a:t>Binary Classification:</a:t>
            </a:r>
            <a:r>
              <a:rPr lang="en-US" dirty="0"/>
              <a:t> Only two classes.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 Example: Spam Email (Yes/No), Loan Default (Default/No Default).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</a:t>
            </a:r>
            <a:r>
              <a:rPr lang="en-US" b="1" dirty="0"/>
              <a:t>Multiclass Classification:</a:t>
            </a:r>
            <a:r>
              <a:rPr lang="en-US" dirty="0"/>
              <a:t> More than two classes.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 Example: Handwritten digit recognition (digits 0–9).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</a:t>
            </a:r>
            <a:r>
              <a:rPr lang="en-US" b="1" dirty="0"/>
              <a:t>Multilabel Classification:</a:t>
            </a:r>
            <a:r>
              <a:rPr lang="en-US" dirty="0"/>
              <a:t> Each input can belong to multiple classes at once.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 Example: A news article classified as “Sports” and “Politics” at the same time.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</a:t>
            </a:r>
            <a:r>
              <a:rPr lang="en-US" b="1" dirty="0"/>
              <a:t>How Classification Works: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 We train a model using labeled data (features + class labels).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 The model learns patterns and decision boundaries.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 For new input, the model predicts which class it belongs to.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950683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2B3FB-54FE-C4B2-9828-D0F51ECA6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Decision Boundaries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D7B1C8-502F-83FC-C63A-A27CB7FABA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IN" dirty="0"/>
              <a:t> </a:t>
            </a:r>
            <a:r>
              <a:rPr lang="en-US" dirty="0"/>
              <a:t>When we train a classifier, the algorithm learns how to separate data points of different classes.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The decision boundary is the line, curve, or surface that divides the input space into regions corresponding to different classes.</a:t>
            </a:r>
          </a:p>
          <a:p>
            <a:pPr marL="0" indent="0">
              <a:buNone/>
            </a:pPr>
            <a:r>
              <a:rPr lang="en-US" b="1" dirty="0"/>
              <a:t>1. Linear Decision Boundary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A straight line in 2D, or a hyperplane in higher dimensions.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Works well if data is linearly separable (can be divided by a straight line).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Example: Logistic Regression, Linear SVM.</a:t>
            </a:r>
          </a:p>
          <a:p>
            <a:pPr marL="0" indent="0">
              <a:buNone/>
            </a:pPr>
            <a:r>
              <a:rPr lang="en-US" b="1" dirty="0"/>
              <a:t>2. Non-linear Decision Boundary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More flexible; can be curved or irregular.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Needed when classes cannot be separated with a straight line.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Example: Decision Trees, Kernel SVM, Neural Networks.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4BAAF57-F368-C5C9-993E-5C389316A4E7}"/>
              </a:ext>
            </a:extLst>
          </p:cNvPr>
          <p:cNvSpPr txBox="1"/>
          <p:nvPr/>
        </p:nvSpPr>
        <p:spPr>
          <a:xfrm>
            <a:off x="8402320" y="3643313"/>
            <a:ext cx="3393440" cy="147732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Simple boundaries = better interpretability, but may underfit.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Complex boundaries = capture more detail, but risk overfitting.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724313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67B24A-1F2A-137D-45C4-F1E8F66F48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Decision Boundaries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5A1F965-EA1F-FA3E-D67D-CE18596C2A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075"/>
          <a:stretch>
            <a:fillRect/>
          </a:stretch>
        </p:blipFill>
        <p:spPr>
          <a:xfrm>
            <a:off x="904351" y="1861760"/>
            <a:ext cx="10383298" cy="4234239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4B73837-8C2C-FF22-B254-217B313D03FF}"/>
              </a:ext>
            </a:extLst>
          </p:cNvPr>
          <p:cNvSpPr txBox="1"/>
          <p:nvPr/>
        </p:nvSpPr>
        <p:spPr>
          <a:xfrm>
            <a:off x="9895840" y="6407051"/>
            <a:ext cx="2204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i="1" dirty="0">
                <a:solidFill>
                  <a:schemeClr val="bg1"/>
                </a:solidFill>
              </a:rPr>
              <a:t>Credit : vitalflux.com</a:t>
            </a:r>
          </a:p>
        </p:txBody>
      </p:sp>
    </p:spTree>
    <p:extLst>
      <p:ext uri="{BB962C8B-B14F-4D97-AF65-F5344CB8AC3E}">
        <p14:creationId xmlns:p14="http://schemas.microsoft.com/office/powerpoint/2010/main" val="32806661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CA87F-2250-6F60-75AC-5CCC68FFAC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3129280"/>
            <a:ext cx="10058400" cy="731520"/>
          </a:xfrm>
        </p:spPr>
        <p:txBody>
          <a:bodyPr/>
          <a:lstStyle/>
          <a:p>
            <a:pPr algn="ctr"/>
            <a:r>
              <a:rPr lang="en-IN" dirty="0"/>
              <a:t>Classification algorithms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4F60565-80A9-8440-8E84-3335A007C11A}"/>
              </a:ext>
            </a:extLst>
          </p:cNvPr>
          <p:cNvSpPr/>
          <p:nvPr/>
        </p:nvSpPr>
        <p:spPr>
          <a:xfrm>
            <a:off x="1066800" y="1645920"/>
            <a:ext cx="10170160" cy="254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83853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69F9D7-0A08-35B3-C380-087DBD6C45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22209A-CBB0-D9C7-C74E-425F89A487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3129280"/>
            <a:ext cx="10058400" cy="731520"/>
          </a:xfrm>
        </p:spPr>
        <p:txBody>
          <a:bodyPr/>
          <a:lstStyle/>
          <a:p>
            <a:pPr algn="ctr"/>
            <a:r>
              <a:rPr lang="en-IN" dirty="0"/>
              <a:t>K – Nearest Neighbour (KNN)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FF4203D-9E63-636E-50FB-363DC2E4C915}"/>
              </a:ext>
            </a:extLst>
          </p:cNvPr>
          <p:cNvSpPr/>
          <p:nvPr/>
        </p:nvSpPr>
        <p:spPr>
          <a:xfrm>
            <a:off x="1066800" y="1645920"/>
            <a:ext cx="10170160" cy="254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78639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CBFF86-E6FC-B1E4-ACE9-0A49DF450C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K-Nearest Neighbour (KNN)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E37477-53AC-1488-DFA4-18CAA68DD8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6817360" cy="4023360"/>
          </a:xfrm>
        </p:spPr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IN" dirty="0"/>
              <a:t> It is an Instance-based learning.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dirty="0"/>
              <a:t> </a:t>
            </a:r>
            <a:r>
              <a:rPr lang="en-US" dirty="0"/>
              <a:t>How it Works: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 Store all the training data.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 For a new point to classify:</a:t>
            </a:r>
          </a:p>
          <a:p>
            <a:pPr marL="749808" lvl="1" indent="-457200">
              <a:buFont typeface="+mj-lt"/>
              <a:buAutoNum type="arabicPeriod"/>
            </a:pPr>
            <a:r>
              <a:rPr lang="en-US" dirty="0"/>
              <a:t>Calculate the distance (e.g., Euclidean) from the new point to all training points.</a:t>
            </a:r>
          </a:p>
          <a:p>
            <a:pPr marL="749808" lvl="1" indent="-457200">
              <a:buFont typeface="+mj-lt"/>
              <a:buAutoNum type="arabicPeriod"/>
            </a:pPr>
            <a:r>
              <a:rPr lang="en-US" dirty="0"/>
              <a:t>Pick the k closest points (neighbors).</a:t>
            </a:r>
          </a:p>
          <a:p>
            <a:pPr marL="749808" lvl="1" indent="-457200">
              <a:buFont typeface="+mj-lt"/>
              <a:buAutoNum type="arabicPeriod"/>
            </a:pPr>
            <a:r>
              <a:rPr lang="en-US" dirty="0"/>
              <a:t>Assign the class based on a majority vote among those neighbors.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7CCDF6-933C-6791-0813-E647B0D812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53467" y="1974532"/>
            <a:ext cx="4145684" cy="331882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6B32791-EFD8-B93C-5872-667F90331051}"/>
              </a:ext>
            </a:extLst>
          </p:cNvPr>
          <p:cNvSpPr txBox="1"/>
          <p:nvPr/>
        </p:nvSpPr>
        <p:spPr>
          <a:xfrm>
            <a:off x="9164320" y="6407051"/>
            <a:ext cx="2936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i="1" dirty="0">
                <a:solidFill>
                  <a:schemeClr val="bg1"/>
                </a:solidFill>
              </a:rPr>
              <a:t>Credit : analyticsvidhya.com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146C06C-1FEA-EA31-C6FB-463A3F21AD66}"/>
              </a:ext>
            </a:extLst>
          </p:cNvPr>
          <p:cNvSpPr txBox="1"/>
          <p:nvPr/>
        </p:nvSpPr>
        <p:spPr>
          <a:xfrm>
            <a:off x="2011680" y="5736934"/>
            <a:ext cx="7721600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b="1" i="1" dirty="0">
                <a:solidFill>
                  <a:srgbClr val="FF0000"/>
                </a:solidFill>
              </a:rPr>
              <a:t>Q. What other type of distances one can use ? What advantage can it provide ?</a:t>
            </a:r>
          </a:p>
        </p:txBody>
      </p:sp>
    </p:spTree>
    <p:extLst>
      <p:ext uri="{BB962C8B-B14F-4D97-AF65-F5344CB8AC3E}">
        <p14:creationId xmlns:p14="http://schemas.microsoft.com/office/powerpoint/2010/main" val="41362426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A9D07-B400-C3C1-8833-E42DDE77FA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How to choose best ‘k’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832504-B803-6F09-E9F7-D46C233404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4886960" cy="4023360"/>
          </a:xfrm>
        </p:spPr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IN" dirty="0"/>
              <a:t> </a:t>
            </a:r>
            <a:r>
              <a:rPr lang="en-US" b="1" dirty="0"/>
              <a:t>Small k (e.g., 1):</a:t>
            </a:r>
            <a:r>
              <a:rPr lang="en-US" dirty="0"/>
              <a:t> Very flexible but can overfit (too sensitive to noise).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</a:t>
            </a:r>
            <a:r>
              <a:rPr lang="en-US" b="1" dirty="0"/>
              <a:t>Large k:</a:t>
            </a:r>
            <a:r>
              <a:rPr lang="en-US" dirty="0"/>
              <a:t> More stable but can underfit (smooths too much).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</a:t>
            </a:r>
            <a:r>
              <a:rPr lang="en-US" b="1" dirty="0"/>
              <a:t>Common approach:</a:t>
            </a:r>
            <a:r>
              <a:rPr lang="en-US" dirty="0"/>
              <a:t> Use cross-validation to find the best k.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F9218F9-D6D4-F10C-E40F-15E424E3D9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7290" y="1778002"/>
            <a:ext cx="5915940" cy="4531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95812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849579-6FF1-EAF4-6D8A-41FD547086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KNN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E56B9E-F662-4FFA-6F7D-F767258C11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433146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IN" dirty="0"/>
              <a:t> </a:t>
            </a:r>
            <a:r>
              <a:rPr lang="en-US" dirty="0"/>
              <a:t>Pros of KNN: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 Simple to understand and implement.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 No explicit training phase (lazy learner).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 Works well for small datasets.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Cons of KNN: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 Computationally expensive for large datasets (must compute distance to all points).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 Performance drops in high-dimensional spaces (curse of dimensionality).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 Sensitive to irrelevant or noisy features.</a:t>
            </a:r>
            <a:endParaRPr lang="en-IN" dirty="0"/>
          </a:p>
          <a:p>
            <a:pPr>
              <a:buFont typeface="Wingdings" panose="05000000000000000000" pitchFamily="2" charset="2"/>
              <a:buChar char="q"/>
            </a:pPr>
            <a:r>
              <a:rPr lang="en-IN" dirty="0"/>
              <a:t> </a:t>
            </a:r>
            <a:r>
              <a:rPr lang="en-US" dirty="0"/>
              <a:t>Applications of KNN: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Handwriting recognition (digits 0–9).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Recommendation systems (find similar users/items).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Medical diagnosis (find similar patient cases).</a:t>
            </a:r>
          </a:p>
        </p:txBody>
      </p:sp>
    </p:spTree>
    <p:extLst>
      <p:ext uri="{BB962C8B-B14F-4D97-AF65-F5344CB8AC3E}">
        <p14:creationId xmlns:p14="http://schemas.microsoft.com/office/powerpoint/2010/main" val="39941822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443F56-61D3-6997-8330-A6F1EF7945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24FB04-3052-3D90-3E14-660BB31F8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3129280"/>
            <a:ext cx="10058400" cy="731520"/>
          </a:xfrm>
        </p:spPr>
        <p:txBody>
          <a:bodyPr/>
          <a:lstStyle/>
          <a:p>
            <a:pPr algn="ctr"/>
            <a:r>
              <a:rPr lang="en-IN" dirty="0"/>
              <a:t>Linear Classifiers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F46BDBD-4DD9-3BB5-E2AF-B2C37885433F}"/>
              </a:ext>
            </a:extLst>
          </p:cNvPr>
          <p:cNvSpPr/>
          <p:nvPr/>
        </p:nvSpPr>
        <p:spPr>
          <a:xfrm>
            <a:off x="1066800" y="1645920"/>
            <a:ext cx="10170160" cy="254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98955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8F7A6-C444-21A0-044A-E797FF52F6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Linear Classifiers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6CE0597-2845-F6C5-E67D-B09A52D2AD9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buFont typeface="Wingdings" panose="05000000000000000000" pitchFamily="2" charset="2"/>
                  <a:buChar char="q"/>
                </a:pPr>
                <a:r>
                  <a:rPr lang="en-IN" dirty="0"/>
                  <a:t> </a:t>
                </a:r>
                <a:r>
                  <a:rPr lang="en-US" dirty="0"/>
                  <a:t>A linear classifier makes predictions based on a linear combination of input features.</a:t>
                </a:r>
              </a:p>
              <a:p>
                <a:pPr>
                  <a:buFont typeface="Wingdings" panose="05000000000000000000" pitchFamily="2" charset="2"/>
                  <a:buChar char="q"/>
                </a:pPr>
                <a:r>
                  <a:rPr lang="en-US" dirty="0"/>
                  <a:t> It tries to separate different classes with a straight line (in 2D) or a hyperplane (in higher dimensions).</a:t>
                </a:r>
              </a:p>
              <a:p>
                <a:pPr>
                  <a:buFont typeface="Wingdings" panose="05000000000000000000" pitchFamily="2" charset="2"/>
                  <a:buChar char="q"/>
                </a:pPr>
                <a:r>
                  <a:rPr lang="en-US" dirty="0"/>
                  <a:t> How It Works: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en-US" dirty="0"/>
                  <a:t> Suppose input features are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, …,</m:t>
                    </m:r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dirty="0"/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en-US" dirty="0"/>
                  <a:t> A linear classifier computes:</a:t>
                </a:r>
              </a:p>
              <a:p>
                <a:pPr marL="292608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+…+</m:t>
                      </m:r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b</m:t>
                      </m:r>
                    </m:oMath>
                  </m:oMathPara>
                </a14:m>
                <a:endParaRPr lang="en-US" dirty="0"/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en-US" dirty="0"/>
                  <a:t> If 𝑦 &gt; 0 : classify as Class 1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en-US" dirty="0"/>
                  <a:t> If 𝑦 ≤ 0 : classify as Class 2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en-US" dirty="0"/>
                  <a:t> This forms a linear decision boundary.</a:t>
                </a:r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6CE0597-2845-F6C5-E67D-B09A52D2AD9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55" t="-1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838360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D7D23-3325-1EEA-85F6-469160F7E7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Linear classifiers - 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1A589C-7335-FE3B-E247-6575644685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3170911" cy="4023360"/>
          </a:xfrm>
        </p:spPr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IN" dirty="0"/>
              <a:t> </a:t>
            </a:r>
            <a:r>
              <a:rPr lang="en-US" b="1" dirty="0"/>
              <a:t>Logistic Regression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 Uses a sigmoid function to output probabilities.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</a:t>
            </a:r>
            <a:r>
              <a:rPr lang="en-US" b="1" dirty="0"/>
              <a:t>Perceptron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 Simplest neural network unit.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 Learns weights by adjusting based on misclassifications.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D3B68BF-3D7B-1424-90C0-04AE7B5253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8191" y="1829063"/>
            <a:ext cx="7923809" cy="421587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8EA17CA-1C45-AF8A-6CD8-17E5BA005487}"/>
              </a:ext>
            </a:extLst>
          </p:cNvPr>
          <p:cNvSpPr txBox="1"/>
          <p:nvPr/>
        </p:nvSpPr>
        <p:spPr>
          <a:xfrm>
            <a:off x="6736080" y="2153920"/>
            <a:ext cx="3556000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b="1" dirty="0"/>
              <a:t>The perceptron model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37BD7E-2EA2-50DC-2F3F-8068028792F4}"/>
              </a:ext>
            </a:extLst>
          </p:cNvPr>
          <p:cNvSpPr txBox="1"/>
          <p:nvPr/>
        </p:nvSpPr>
        <p:spPr>
          <a:xfrm>
            <a:off x="955040" y="4922781"/>
            <a:ext cx="3170911" cy="6463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b="1" i="1" dirty="0">
                <a:solidFill>
                  <a:srgbClr val="FF0000"/>
                </a:solidFill>
              </a:rPr>
              <a:t>H.W. : What are other types of activation functions ?</a:t>
            </a:r>
          </a:p>
        </p:txBody>
      </p:sp>
    </p:spTree>
    <p:extLst>
      <p:ext uri="{BB962C8B-B14F-4D97-AF65-F5344CB8AC3E}">
        <p14:creationId xmlns:p14="http://schemas.microsoft.com/office/powerpoint/2010/main" val="33991808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CB63D8-308B-1E69-6AA4-12102ABFB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Perceptron in action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2EAAEBF-59E0-B523-57DF-C247E38FD5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7655" y="1846263"/>
            <a:ext cx="7202906" cy="4408336"/>
          </a:xfrm>
        </p:spPr>
      </p:pic>
    </p:spTree>
    <p:extLst>
      <p:ext uri="{BB962C8B-B14F-4D97-AF65-F5344CB8AC3E}">
        <p14:creationId xmlns:p14="http://schemas.microsoft.com/office/powerpoint/2010/main" val="39230387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02BB07-C822-EABC-AA92-009826775E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BE962F-9FCD-FCFD-BA5F-4D6C19BB05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3129280"/>
            <a:ext cx="10058400" cy="731520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/>
              <a:t>A slight detour…</a:t>
            </a:r>
            <a:br>
              <a:rPr lang="en-IN" dirty="0"/>
            </a:br>
            <a:br>
              <a:rPr lang="en-IN" dirty="0"/>
            </a:br>
            <a:r>
              <a:rPr lang="en-IN" dirty="0"/>
              <a:t>Bayes’ Rule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29BF203-6393-4B45-6526-21A38880D35E}"/>
              </a:ext>
            </a:extLst>
          </p:cNvPr>
          <p:cNvSpPr/>
          <p:nvPr/>
        </p:nvSpPr>
        <p:spPr>
          <a:xfrm>
            <a:off x="1066800" y="1645920"/>
            <a:ext cx="10170160" cy="254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42971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EE763-3F39-366B-9991-7FDF24E8C5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Looking back at Bayes’ Rule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75B5D8B-FE3F-01BF-6AD1-5E9177C4DC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2681" y="1737360"/>
            <a:ext cx="6112718" cy="440213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F2017E7-657E-FCF5-FCCB-88FAC79B4336}"/>
              </a:ext>
            </a:extLst>
          </p:cNvPr>
          <p:cNvSpPr txBox="1"/>
          <p:nvPr/>
        </p:nvSpPr>
        <p:spPr>
          <a:xfrm>
            <a:off x="8075399" y="2824480"/>
            <a:ext cx="363908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00B050"/>
                </a:solidFill>
              </a:rPr>
              <a:t>How can we use Bayes’ Rule for classification tasks ?</a:t>
            </a:r>
          </a:p>
        </p:txBody>
      </p:sp>
    </p:spTree>
    <p:extLst>
      <p:ext uri="{BB962C8B-B14F-4D97-AF65-F5344CB8AC3E}">
        <p14:creationId xmlns:p14="http://schemas.microsoft.com/office/powerpoint/2010/main" val="27033150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4A9E77-EE6F-C943-BA18-A44B842CE7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Updating beliefs with Bayes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A2A4EC1-EBDF-B099-1428-88A5605E00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4328" y="1953519"/>
            <a:ext cx="9262576" cy="3823652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8CD89FA-5FD0-A54C-15F9-FDE18E04CD90}"/>
              </a:ext>
            </a:extLst>
          </p:cNvPr>
          <p:cNvSpPr txBox="1"/>
          <p:nvPr/>
        </p:nvSpPr>
        <p:spPr>
          <a:xfrm>
            <a:off x="4876800" y="6483697"/>
            <a:ext cx="73863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i="1" dirty="0">
                <a:solidFill>
                  <a:schemeClr val="bg1"/>
                </a:solidFill>
              </a:rPr>
              <a:t>Source - </a:t>
            </a:r>
            <a:r>
              <a:rPr lang="en-US" sz="1200" b="1" i="1" dirty="0">
                <a:solidFill>
                  <a:schemeClr val="bg1"/>
                </a:solidFill>
              </a:rPr>
              <a:t>Stone, James. (2013). Bayes' Rule: A Tutorial Introduction to Bayesian Analysis. 10.13140/2.1.1371.6801. </a:t>
            </a:r>
            <a:endParaRPr lang="en-IN" sz="1200" b="1" i="1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206C888-4597-743B-F7D4-D069195A17DE}"/>
                  </a:ext>
                </a:extLst>
              </p:cNvPr>
              <p:cNvSpPr txBox="1"/>
              <p:nvPr/>
            </p:nvSpPr>
            <p:spPr>
              <a:xfrm>
                <a:off x="4805680" y="5454005"/>
                <a:ext cx="3596640" cy="646331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IN" dirty="0"/>
                  <a:t> represents the parameters of our hypothesis (model)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206C888-4597-743B-F7D4-D069195A17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5680" y="5454005"/>
                <a:ext cx="3596640" cy="646331"/>
              </a:xfrm>
              <a:prstGeom prst="rect">
                <a:avLst/>
              </a:prstGeom>
              <a:blipFill>
                <a:blip r:embed="rId3"/>
                <a:stretch>
                  <a:fillRect l="-843" t="-4587" b="-1192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BD8A0D00-CC17-C9BA-6665-AE3F97619B9C}"/>
              </a:ext>
            </a:extLst>
          </p:cNvPr>
          <p:cNvSpPr txBox="1"/>
          <p:nvPr/>
        </p:nvSpPr>
        <p:spPr>
          <a:xfrm>
            <a:off x="8229600" y="1953519"/>
            <a:ext cx="3596640" cy="147732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rgbClr val="00B050"/>
                </a:solidFill>
              </a:rPr>
              <a:t>This seemingly simple concept is at the heart of many statistical techniques such as : Bayesian curve fitting, parameter estimation problems etc.</a:t>
            </a:r>
          </a:p>
        </p:txBody>
      </p:sp>
    </p:spTree>
    <p:extLst>
      <p:ext uri="{BB962C8B-B14F-4D97-AF65-F5344CB8AC3E}">
        <p14:creationId xmlns:p14="http://schemas.microsoft.com/office/powerpoint/2010/main" val="21857047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D36D39-597A-4CE5-8EDA-D2D20C4EAE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578C7-F16D-9B03-91D7-6547C95EFA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3129280"/>
            <a:ext cx="10058400" cy="731520"/>
          </a:xfrm>
        </p:spPr>
        <p:txBody>
          <a:bodyPr/>
          <a:lstStyle/>
          <a:p>
            <a:pPr algn="ctr"/>
            <a:r>
              <a:rPr lang="en-IN" dirty="0"/>
              <a:t>Naïve Bayes Classifier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95B22A1-4AE2-8E7F-0E26-4D4DECD156A6}"/>
              </a:ext>
            </a:extLst>
          </p:cNvPr>
          <p:cNvSpPr/>
          <p:nvPr/>
        </p:nvSpPr>
        <p:spPr>
          <a:xfrm>
            <a:off x="1066800" y="1645920"/>
            <a:ext cx="10170160" cy="254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1888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0360AA-2452-D452-ADB2-50B1555DA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Naïve Bayes Classifier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EB24361-7A6E-6ACD-A67A-9A1FBF6FAC1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>
                  <a:buFont typeface="Wingdings" panose="05000000000000000000" pitchFamily="2" charset="2"/>
                  <a:buChar char="q"/>
                </a:pPr>
                <a:r>
                  <a:rPr lang="en-IN" dirty="0"/>
                  <a:t> </a:t>
                </a:r>
                <a:r>
                  <a:rPr lang="en-US" dirty="0"/>
                  <a:t>It predicts the class of an input using Bayes’ Theorem.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</m:d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IN" dirty="0"/>
              </a:p>
              <a:p>
                <a:pPr>
                  <a:buFont typeface="Wingdings" panose="05000000000000000000" pitchFamily="2" charset="2"/>
                  <a:buChar char="q"/>
                </a:pPr>
                <a:r>
                  <a:rPr lang="en-IN" dirty="0"/>
                  <a:t> Where, 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IN" dirty="0"/>
                  <a:t>: Probability of class 𝐶 given features 𝑋 (posterior).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en-IN" dirty="0"/>
                  <a:t>𝑃(𝑋∣𝐶) : Probability of features given class (likelihood).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en-IN" dirty="0"/>
                  <a:t>𝑃(𝐶) : Prior probability of the class.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en-IN" dirty="0"/>
                  <a:t>𝑃(𝑋) : Evidence (normalizing factor).</a:t>
                </a:r>
              </a:p>
              <a:p>
                <a:pPr>
                  <a:buFont typeface="Wingdings" panose="05000000000000000000" pitchFamily="2" charset="2"/>
                  <a:buChar char="q"/>
                </a:pPr>
                <a:r>
                  <a:rPr lang="en-IN" dirty="0"/>
                  <a:t> </a:t>
                </a:r>
                <a:r>
                  <a:rPr lang="en-IN" b="1" dirty="0"/>
                  <a:t>The “Naïve” assumption :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en-US" b="1" i="1" dirty="0">
                    <a:solidFill>
                      <a:srgbClr val="00B050"/>
                    </a:solidFill>
                  </a:rPr>
                  <a:t>Assumes all features are independent given the class.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en-US" b="1" dirty="0"/>
                  <a:t>Example:</a:t>
                </a:r>
                <a:r>
                  <a:rPr lang="en-US" dirty="0"/>
                  <a:t> In spam detection, words like “free” and “money” are treated as independent, even though they are often related.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en-US" b="1" i="1" dirty="0">
                    <a:solidFill>
                      <a:srgbClr val="FF0000"/>
                    </a:solidFill>
                  </a:rPr>
                  <a:t>This assumption is rarely true in reality, but it makes the math simple and still works surprisingly well.</a:t>
                </a:r>
                <a:endParaRPr lang="en-IN" b="1" i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EB24361-7A6E-6ACD-A67A-9A1FBF6FAC1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33" t="-1970" r="-145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991649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0FB710-7455-9B2F-069C-C4A2B619FF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8B18560-0336-AC41-908E-594E9C02E2C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75275824"/>
              </p:ext>
            </p:extLst>
          </p:nvPr>
        </p:nvGraphicFramePr>
        <p:xfrm>
          <a:off x="1096963" y="1846263"/>
          <a:ext cx="100584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>
                  <a:extLst>
                    <a:ext uri="{9D8B030D-6E8A-4147-A177-3AD203B41FA5}">
                      <a16:colId xmlns:a16="http://schemas.microsoft.com/office/drawing/2014/main" val="1788442692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1529161887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3434663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6740719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Email 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Contains “Free”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Contains “Win”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Class (Spam/Not Spam)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04691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"Win a free iPhone"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Spam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76038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"Meeting at office"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Not Spam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64332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"Win money now"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Spam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13091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"Free lunch offer"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Spam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74780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"Project discussion"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Not Spam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106849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2CB87F31-23B1-7A8B-B416-56C95ED9253F}"/>
              </a:ext>
            </a:extLst>
          </p:cNvPr>
          <p:cNvSpPr txBox="1"/>
          <p:nvPr/>
        </p:nvSpPr>
        <p:spPr>
          <a:xfrm>
            <a:off x="1178560" y="4409440"/>
            <a:ext cx="2743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Calculate Priors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Total emails = 5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Spam = 3, Not Spam = 2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DA26B80-2142-CE68-6AD5-4E7E5C7F3C48}"/>
              </a:ext>
            </a:extLst>
          </p:cNvPr>
          <p:cNvSpPr txBox="1"/>
          <p:nvPr/>
        </p:nvSpPr>
        <p:spPr>
          <a:xfrm>
            <a:off x="5598160" y="4040823"/>
            <a:ext cx="562864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Calculate Likelihoods</a:t>
            </a:r>
          </a:p>
          <a:p>
            <a:r>
              <a:rPr lang="en-US" dirty="0"/>
              <a:t>(How often a word appears in Spam vs Not Spam emails)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Contains "Free":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dirty="0"/>
              <a:t>In Spam = 2/3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dirty="0"/>
              <a:t>In Not Spam = 0/2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Contains "Win":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dirty="0"/>
              <a:t>In Spam = 2/3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dirty="0"/>
              <a:t>In Not Spam = 0/2</a:t>
            </a:r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EDB3025-EC05-5397-374E-6731CA98E4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017" y="5332770"/>
            <a:ext cx="4634103" cy="713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28758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54481-8E12-6EC8-C36B-236DFD258D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 - continued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0CE3C94-598C-EF63-DC54-FB613E1C17A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buFont typeface="Wingdings" panose="05000000000000000000" pitchFamily="2" charset="2"/>
                  <a:buChar char="q"/>
                </a:pPr>
                <a:r>
                  <a:rPr lang="en-IN" dirty="0"/>
                  <a:t> </a:t>
                </a:r>
                <a:r>
                  <a:rPr lang="en-US" b="1" dirty="0"/>
                  <a:t>Classify New Email : </a:t>
                </a:r>
                <a:r>
                  <a:rPr lang="en-US" dirty="0"/>
                  <a:t>Suppose a new email arrives as follows</a:t>
                </a:r>
              </a:p>
              <a:p>
                <a:pPr>
                  <a:buFont typeface="Wingdings" panose="05000000000000000000" pitchFamily="2" charset="2"/>
                  <a:buChar char="q"/>
                </a:pPr>
                <a:r>
                  <a:rPr lang="en-US" dirty="0"/>
                  <a:t> New Email: "Free Win offer" (contains Free=Yes, Win=Yes)</a:t>
                </a:r>
              </a:p>
              <a:p>
                <a:pPr>
                  <a:buFont typeface="Wingdings" panose="05000000000000000000" pitchFamily="2" charset="2"/>
                  <a:buChar char="q"/>
                </a:pPr>
                <a:r>
                  <a:rPr lang="en-US" dirty="0"/>
                  <a:t> For Spam :</a:t>
                </a:r>
              </a:p>
              <a:p>
                <a:pPr>
                  <a:buFont typeface="Wingdings" panose="05000000000000000000" pitchFamily="2" charset="2"/>
                  <a:buChar char="q"/>
                </a:pPr>
                <a:endParaRPr lang="en-US" dirty="0"/>
              </a:p>
              <a:p>
                <a:pPr>
                  <a:buFont typeface="Wingdings" panose="05000000000000000000" pitchFamily="2" charset="2"/>
                  <a:buChar char="q"/>
                </a:pPr>
                <a:endParaRPr lang="en-US" dirty="0"/>
              </a:p>
              <a:p>
                <a:pPr>
                  <a:buFont typeface="Wingdings" panose="05000000000000000000" pitchFamily="2" charset="2"/>
                  <a:buChar char="q"/>
                </a:pPr>
                <a:r>
                  <a:rPr lang="en-US" dirty="0"/>
                  <a:t> For Not Spam :</a:t>
                </a:r>
              </a:p>
              <a:p>
                <a:pPr>
                  <a:buFont typeface="Wingdings" panose="05000000000000000000" pitchFamily="2" charset="2"/>
                  <a:buChar char="q"/>
                </a:pPr>
                <a:endParaRPr lang="en-US" dirty="0"/>
              </a:p>
              <a:p>
                <a:pPr>
                  <a:buFont typeface="Wingdings" panose="05000000000000000000" pitchFamily="2" charset="2"/>
                  <a:buChar char="q"/>
                </a:pPr>
                <a:endParaRPr lang="en-US" dirty="0"/>
              </a:p>
              <a:p>
                <a:pPr>
                  <a:buFont typeface="Wingdings" panose="05000000000000000000" pitchFamily="2" charset="2"/>
                  <a:buChar char="q"/>
                </a:pPr>
                <a:r>
                  <a:rPr lang="en-US" dirty="0"/>
                  <a:t> </a:t>
                </a:r>
                <a:r>
                  <a:rPr lang="en-US" b="1" i="1" dirty="0">
                    <a:solidFill>
                      <a:srgbClr val="FF0000"/>
                    </a:solidFill>
                  </a:rPr>
                  <a:t>Since </a:t>
                </a:r>
                <a14:m>
                  <m:oMath xmlns:m="http://schemas.openxmlformats.org/officeDocument/2006/math">
                    <m:r>
                      <a:rPr lang="en-IN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IN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𝑺𝒑𝒂𝒎</m:t>
                        </m:r>
                      </m:e>
                      <m:e>
                        <m:r>
                          <a:rPr lang="en-IN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𝑬𝒎𝒂𝒊𝒍</m:t>
                        </m:r>
                      </m:e>
                    </m:d>
                    <m:r>
                      <a:rPr lang="en-IN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IN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𝑵𝒐𝒕</m:t>
                    </m:r>
                    <m:r>
                      <a:rPr lang="en-IN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𝑺𝒑𝒂𝒎</m:t>
                    </m:r>
                    <m:r>
                      <a:rPr lang="en-IN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𝑬𝒎𝒂𝒊𝒍</m:t>
                    </m:r>
                    <m:r>
                      <a:rPr lang="en-IN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b="1" i="1" dirty="0">
                    <a:solidFill>
                      <a:srgbClr val="FF0000"/>
                    </a:solidFill>
                  </a:rPr>
                  <a:t>, the new email is classified as Spam.</a:t>
                </a:r>
                <a:r>
                  <a:rPr lang="en-US" dirty="0"/>
                  <a:t>  </a:t>
                </a:r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0CE3C94-598C-EF63-DC54-FB613E1C17A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55" t="-1667" b="-1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007A3601-D543-759F-3C06-AD2A44D851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0390" y="2799991"/>
            <a:ext cx="6411220" cy="105742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656C2EC-85C7-01D7-EA49-55054235979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9983" y="4157288"/>
            <a:ext cx="7878274" cy="819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83287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F2F611-9284-5736-8166-62274D63BE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DAC9E-84E1-99F9-00A8-F1C4B53D7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3129280"/>
            <a:ext cx="10058400" cy="731520"/>
          </a:xfrm>
        </p:spPr>
        <p:txBody>
          <a:bodyPr/>
          <a:lstStyle/>
          <a:p>
            <a:pPr algn="ctr"/>
            <a:r>
              <a:rPr lang="en-IN" dirty="0"/>
              <a:t>Support Vector Machine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801F174-1A35-E883-C815-194898C62B82}"/>
              </a:ext>
            </a:extLst>
          </p:cNvPr>
          <p:cNvSpPr/>
          <p:nvPr/>
        </p:nvSpPr>
        <p:spPr>
          <a:xfrm>
            <a:off x="1066800" y="1645920"/>
            <a:ext cx="10170160" cy="254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32068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AB47BC-C79F-A1C8-8E7A-E0CE644177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Support Vector Machine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3CABC0-E906-23DB-EA60-4CC138F6B7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5344160" cy="4023360"/>
          </a:xfrm>
        </p:spPr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IN" dirty="0"/>
              <a:t> </a:t>
            </a:r>
            <a:r>
              <a:rPr lang="en-US" dirty="0"/>
              <a:t>Support Vector Machines (SVMs) are a type of supervised machine learning algorithm used for classification and regression tasks.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They are widely used in various fields, including pattern recognition, image analysis, and natural language processing.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SVMs work by </a:t>
            </a:r>
            <a:r>
              <a:rPr lang="en-US" b="1" dirty="0"/>
              <a:t>finding the optimal hyperplane that separates data points into different classes.</a:t>
            </a:r>
            <a:endParaRPr lang="en-IN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C232F7-C18B-D448-2985-25CBEC0902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175"/>
          <a:stretch>
            <a:fillRect/>
          </a:stretch>
        </p:blipFill>
        <p:spPr>
          <a:xfrm>
            <a:off x="6360159" y="2212446"/>
            <a:ext cx="5353825" cy="328993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C870BB4-95C6-5370-3995-6D83A2CBA354}"/>
              </a:ext>
            </a:extLst>
          </p:cNvPr>
          <p:cNvSpPr txBox="1"/>
          <p:nvPr/>
        </p:nvSpPr>
        <p:spPr>
          <a:xfrm>
            <a:off x="1087615" y="4638761"/>
            <a:ext cx="5353825" cy="120032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b="1" dirty="0"/>
              <a:t>Recall that the classification is done by separating instances in different classes/labels in feature space.</a:t>
            </a:r>
          </a:p>
          <a:p>
            <a:pPr algn="ctr"/>
            <a:r>
              <a:rPr lang="en-IN" b="1" dirty="0"/>
              <a:t> </a:t>
            </a:r>
            <a:br>
              <a:rPr lang="en-IN" b="1" dirty="0"/>
            </a:br>
            <a:r>
              <a:rPr lang="en-IN" b="1" dirty="0">
                <a:solidFill>
                  <a:srgbClr val="00B050"/>
                </a:solidFill>
              </a:rPr>
              <a:t>“</a:t>
            </a:r>
            <a:r>
              <a:rPr lang="en-IN" b="1" i="1" dirty="0">
                <a:solidFill>
                  <a:srgbClr val="00B050"/>
                </a:solidFill>
              </a:rPr>
              <a:t>The feature space is the main playground here.”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EA8AC3-699E-8308-1E5B-51FDC9EDA456}"/>
              </a:ext>
            </a:extLst>
          </p:cNvPr>
          <p:cNvSpPr txBox="1"/>
          <p:nvPr/>
        </p:nvSpPr>
        <p:spPr>
          <a:xfrm>
            <a:off x="5334000" y="5971462"/>
            <a:ext cx="655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i="1" dirty="0"/>
              <a:t>Before moving further let us clarify basic terminologies involved</a:t>
            </a:r>
          </a:p>
        </p:txBody>
      </p:sp>
      <p:pic>
        <p:nvPicPr>
          <p:cNvPr id="10" name="Graphic 9" descr="Back with solid fill">
            <a:extLst>
              <a:ext uri="{FF2B5EF4-FFF2-40B4-BE49-F238E27FC236}">
                <a16:creationId xmlns:a16="http://schemas.microsoft.com/office/drawing/2014/main" id="{CA244258-1055-1E18-3556-800EA209E0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713984" y="5839090"/>
            <a:ext cx="4572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240819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671392-0F40-2EBD-89F6-05087B77B6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Hyperplane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7BD702-68DC-5ED2-5DE8-8D1FBD1090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5933440" cy="402336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IN" dirty="0"/>
              <a:t> </a:t>
            </a:r>
            <a:r>
              <a:rPr lang="en-US" b="1" dirty="0"/>
              <a:t>Definition :</a:t>
            </a:r>
            <a:r>
              <a:rPr lang="en-US" dirty="0"/>
              <a:t> A hyperplane separates data points into different classes in high-dimensional space.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</a:t>
            </a:r>
            <a:r>
              <a:rPr lang="en-US" b="1" dirty="0"/>
              <a:t>Examples 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 2D → Line separating classes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 3D → Plane separating classes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 N-D → (N-1)-dimensional surface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</a:t>
            </a:r>
            <a:r>
              <a:rPr lang="en-US" b="1" dirty="0"/>
              <a:t>Usage 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Predicts class of new data by checking which side of the hyperplane it lies on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One side → Class A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Other side → Class B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6DB493-9B1E-3529-034B-9961E04146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1" t="5419" r="60367" b="8223"/>
          <a:stretch>
            <a:fillRect/>
          </a:stretch>
        </p:blipFill>
        <p:spPr>
          <a:xfrm>
            <a:off x="6990081" y="1845734"/>
            <a:ext cx="2397759" cy="233196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E52875C-41A6-C870-9150-748420EF9A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432" t="5380" r="3322" b="3661"/>
          <a:stretch>
            <a:fillRect/>
          </a:stretch>
        </p:blipFill>
        <p:spPr>
          <a:xfrm>
            <a:off x="9257511" y="4007873"/>
            <a:ext cx="2741450" cy="2331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934363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05C90-6CC9-98EC-6EAA-01F2605275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Margins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1206DC-2174-0654-A5FF-A93588D526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3"/>
            <a:ext cx="4998720" cy="3444501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IN" dirty="0"/>
              <a:t> </a:t>
            </a:r>
            <a:r>
              <a:rPr lang="en-US" b="1" dirty="0"/>
              <a:t>Definition :</a:t>
            </a:r>
            <a:r>
              <a:rPr lang="en-US" dirty="0"/>
              <a:t> Distance between the decision boundary (hyperplane) and the closest data points from each class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</a:t>
            </a:r>
            <a:r>
              <a:rPr lang="en-US" b="1" dirty="0">
                <a:solidFill>
                  <a:srgbClr val="00B050"/>
                </a:solidFill>
              </a:rPr>
              <a:t>Goal of SVMs =&gt; Maximize margin while minimizing classification errors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</a:t>
            </a:r>
            <a:r>
              <a:rPr lang="en-US" b="1" dirty="0"/>
              <a:t>Significance :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 Larger margin → Higher confidence in classification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 Margin = Measure of how well-separated the classes are in feature space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7D2E077-DAF7-F10E-7473-C82150C2C252}"/>
              </a:ext>
            </a:extLst>
          </p:cNvPr>
          <p:cNvSpPr txBox="1"/>
          <p:nvPr/>
        </p:nvSpPr>
        <p:spPr>
          <a:xfrm>
            <a:off x="802640" y="5401995"/>
            <a:ext cx="5374640" cy="6463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b="1" i="1" dirty="0">
                <a:solidFill>
                  <a:srgbClr val="00B050"/>
                </a:solidFill>
              </a:rPr>
              <a:t>SVMs find the hyperplane that maximizes the margin.</a:t>
            </a:r>
          </a:p>
          <a:p>
            <a:pPr marL="0" indent="0" algn="ctr">
              <a:buNone/>
            </a:pPr>
            <a:r>
              <a:rPr lang="en-US" b="1" i="1" dirty="0">
                <a:solidFill>
                  <a:srgbClr val="00B050"/>
                </a:solidFill>
              </a:rPr>
              <a:t>Hence called maximum-margin classifiers</a:t>
            </a:r>
            <a:endParaRPr lang="en-IN" b="1" i="1" dirty="0">
              <a:solidFill>
                <a:srgbClr val="00B05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F93EB6E-A878-7DBD-6628-35D6E2DDAE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4079" y="2028875"/>
            <a:ext cx="5906893" cy="3261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86953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93BD29-B323-3453-2BB0-7718801215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Support Vectors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79FFD4-8A53-8204-F9C4-85DB7751EF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5852160" cy="4023360"/>
          </a:xfrm>
        </p:spPr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IN" dirty="0"/>
              <a:t> </a:t>
            </a:r>
            <a:r>
              <a:rPr lang="en-US" b="1" dirty="0"/>
              <a:t>Definition :</a:t>
            </a:r>
            <a:r>
              <a:rPr lang="en-US" dirty="0"/>
              <a:t> Data points that lie closest to the decision boundary (hyperplane)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</a:t>
            </a:r>
            <a:r>
              <a:rPr lang="en-US" b="1" dirty="0"/>
              <a:t>Importance 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 Determine the position and orientation of the hyperplane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 Directly impact classification accuracy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</a:t>
            </a:r>
            <a:r>
              <a:rPr lang="en-US" b="1" dirty="0"/>
              <a:t>Role in SVMs 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 SVMs are named after support vectors because they “support” the decision boundary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 Used to calculate the margin (distance between hyperplane &amp; closest data points)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6844E9-E87D-BB42-7F51-2302BB7B25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9440" y="2018454"/>
            <a:ext cx="4815104" cy="3677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213641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20CB8-65BD-065E-9CE7-82B2C9CF14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Mathematics of SVM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71C5A02-4E33-E84E-1706-3A463D7774F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7280" y="1845734"/>
                <a:ext cx="10058400" cy="4023360"/>
              </a:xfrm>
            </p:spPr>
            <p:txBody>
              <a:bodyPr>
                <a:normAutofit/>
              </a:bodyPr>
              <a:lstStyle/>
              <a:p>
                <a:pPr>
                  <a:buFont typeface="Wingdings" panose="05000000000000000000" pitchFamily="2" charset="2"/>
                  <a:buChar char="q"/>
                </a:pPr>
                <a:r>
                  <a:rPr lang="en-IN" dirty="0"/>
                  <a:t> </a:t>
                </a:r>
                <a:r>
                  <a:rPr lang="en-US" dirty="0"/>
                  <a:t>Consider a </a:t>
                </a:r>
                <a:r>
                  <a:rPr lang="en-US" b="1" dirty="0"/>
                  <a:t>binary classification problem with two classes, labeled as +1 and -1</a:t>
                </a:r>
                <a:r>
                  <a:rPr lang="en-US" dirty="0"/>
                  <a:t>. We have a training dataset consisting of input </a:t>
                </a:r>
                <a:r>
                  <a:rPr lang="en-US" b="1" dirty="0"/>
                  <a:t>feature vectors X</a:t>
                </a:r>
                <a:r>
                  <a:rPr lang="en-US" dirty="0"/>
                  <a:t> and their corresponding class </a:t>
                </a:r>
                <a:r>
                  <a:rPr lang="en-US" b="1" dirty="0"/>
                  <a:t>labels Y</a:t>
                </a:r>
                <a:r>
                  <a:rPr lang="en-US" dirty="0"/>
                  <a:t>.</a:t>
                </a:r>
                <a:endParaRPr lang="en-IN" dirty="0"/>
              </a:p>
              <a:p>
                <a:pPr>
                  <a:buFont typeface="Wingdings" panose="05000000000000000000" pitchFamily="2" charset="2"/>
                  <a:buChar char="q"/>
                </a:pPr>
                <a:r>
                  <a:rPr lang="en-IN" dirty="0"/>
                  <a:t> Mathematically, the hyperplane can be described by the following equation :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I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nary>
                    <m:r>
                      <a:rPr lang="en-IN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IN" dirty="0"/>
                  <a:t> </a:t>
                </a:r>
                <a:r>
                  <a:rPr lang="en-IN" b="1" i="1" u="sng" dirty="0"/>
                  <a:t>or</a:t>
                </a:r>
                <a:r>
                  <a:rPr lang="en-IN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IN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IN" dirty="0"/>
              </a:p>
              <a:p>
                <a:pPr marL="292608" lvl="1" indent="0">
                  <a:buNone/>
                </a:pPr>
                <a:r>
                  <a:rPr lang="en-IN" dirty="0"/>
                  <a:t> where,</a:t>
                </a:r>
              </a:p>
              <a:p>
                <a:pPr marL="292608" lvl="1" indent="0">
                  <a:buNone/>
                </a:pPr>
                <a:r>
                  <a:rPr lang="en-IN" dirty="0"/>
                  <a:t>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IN" dirty="0"/>
                  <a:t> is the weight vector perpendicular to the hyperplane and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IN" dirty="0"/>
                  <a:t> is the bias term.</a:t>
                </a:r>
              </a:p>
              <a:p>
                <a:pPr>
                  <a:buFont typeface="Wingdings" panose="05000000000000000000" pitchFamily="2" charset="2"/>
                  <a:buChar char="q"/>
                </a:pPr>
                <a:r>
                  <a:rPr lang="en-IN" dirty="0"/>
                  <a:t> </a:t>
                </a:r>
                <a:r>
                  <a:rPr lang="en-US" dirty="0"/>
                  <a:t>The distance between a data point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and the decision boundary can be calculated as: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p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num>
                        <m:den>
                          <m:d>
                            <m:dPr>
                              <m:begChr m:val="‖"/>
                              <m:endChr m:val="‖"/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dirty="0"/>
              </a:p>
              <a:p>
                <a:pPr>
                  <a:buFont typeface="Wingdings" panose="05000000000000000000" pitchFamily="2" charset="2"/>
                  <a:buChar char="q"/>
                </a:pPr>
                <a:r>
                  <a:rPr lang="en-US" dirty="0"/>
                  <a:t> There are two main types of SVM : Linear and Non-linear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71C5A02-4E33-E84E-1706-3A463D7774F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80" y="1845734"/>
                <a:ext cx="10058400" cy="4023360"/>
              </a:xfrm>
              <a:blipFill>
                <a:blip r:embed="rId2"/>
                <a:stretch>
                  <a:fillRect l="-1455" t="-1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1868064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573174-4950-E5F8-FCF2-80BFF8595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Linear SVM – Hard Margin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9806C1-C2F0-7F13-381C-D25A496C0CD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7279" y="1845733"/>
                <a:ext cx="6306301" cy="4725663"/>
              </a:xfrm>
            </p:spPr>
            <p:txBody>
              <a:bodyPr>
                <a:noAutofit/>
              </a:bodyPr>
              <a:lstStyle/>
              <a:p>
                <a:pPr>
                  <a:buFont typeface="Wingdings" panose="05000000000000000000" pitchFamily="2" charset="2"/>
                  <a:buChar char="q"/>
                </a:pPr>
                <a:r>
                  <a:rPr lang="en-IN" sz="1900" dirty="0"/>
                  <a:t> </a:t>
                </a:r>
                <a:r>
                  <a:rPr lang="en-IN" sz="1900" b="1" dirty="0"/>
                  <a:t>If training data is linearly separable:</a:t>
                </a:r>
                <a:r>
                  <a:rPr lang="en-IN" sz="1900" dirty="0"/>
                  <a:t> Two parallel hyperplanes can separate the classes and the </a:t>
                </a:r>
                <a:r>
                  <a:rPr lang="en-IN" sz="1900" b="1" i="1" dirty="0">
                    <a:solidFill>
                      <a:srgbClr val="00B050"/>
                    </a:solidFill>
                  </a:rPr>
                  <a:t>Maximum-Margin Hyperplane lies halfway between the two hyperplanes</a:t>
                </a:r>
                <a:r>
                  <a:rPr lang="en-IN" sz="1900" dirty="0"/>
                  <a:t>.</a:t>
                </a:r>
              </a:p>
              <a:p>
                <a:pPr>
                  <a:buFont typeface="Wingdings" panose="05000000000000000000" pitchFamily="2" charset="2"/>
                  <a:buChar char="q"/>
                </a:pPr>
                <a:r>
                  <a:rPr lang="en-IN" sz="1900" dirty="0"/>
                  <a:t> This ensures the largest possible margin between classes.</a:t>
                </a:r>
              </a:p>
              <a:p>
                <a:pPr>
                  <a:buFont typeface="Wingdings" panose="05000000000000000000" pitchFamily="2" charset="2"/>
                  <a:buChar char="q"/>
                </a:pPr>
                <a:r>
                  <a:rPr lang="en-IN" sz="1900" dirty="0"/>
                  <a:t> For normalized/standardized data, Hyperplanes described by equations: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IN" sz="19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19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IN" sz="19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IN" sz="19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19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19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IN" sz="1900" dirty="0"/>
                  <a:t>    </a:t>
                </a:r>
                <a:r>
                  <a:rPr lang="en-US" sz="1900" dirty="0"/>
                  <a:t>(anything on or above this boundary is of one class, with label 1)</a:t>
                </a:r>
                <a:r>
                  <a:rPr lang="en-IN" sz="1900" dirty="0"/>
                  <a:t> </a:t>
                </a:r>
                <a:endParaRPr lang="en-IN" sz="1900" b="0" i="1" dirty="0">
                  <a:latin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IN" sz="19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19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IN" sz="19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IN" sz="19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19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1900" b="0" i="1" smtClean="0">
                        <a:latin typeface="Cambria Math" panose="02040503050406030204" pitchFamily="18" charset="0"/>
                      </a:rPr>
                      <m:t>=−1</m:t>
                    </m:r>
                  </m:oMath>
                </a14:m>
                <a:r>
                  <a:rPr lang="en-IN" sz="1900" dirty="0"/>
                  <a:t> </a:t>
                </a:r>
                <a:r>
                  <a:rPr lang="en-US" sz="1900" dirty="0"/>
                  <a:t>(anything on or below this boundary is of other class, with label -1)</a:t>
                </a:r>
                <a:endParaRPr lang="en-IN" sz="1900" dirty="0"/>
              </a:p>
              <a:p>
                <a:pPr>
                  <a:buFont typeface="Wingdings" panose="05000000000000000000" pitchFamily="2" charset="2"/>
                  <a:buChar char="q"/>
                </a:pPr>
                <a:r>
                  <a:rPr lang="en-IN" sz="1900" dirty="0"/>
                  <a:t> Geometrically the distance between these two planes is 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19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19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d>
                          <m:dPr>
                            <m:begChr m:val="‖"/>
                            <m:endChr m:val="‖"/>
                            <m:ctrlPr>
                              <a:rPr lang="en-IN" sz="19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19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d>
                      </m:den>
                    </m:f>
                  </m:oMath>
                </a14:m>
                <a:endParaRPr lang="en-IN" sz="19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9806C1-C2F0-7F13-381C-D25A496C0C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79" y="1845733"/>
                <a:ext cx="6306301" cy="4725663"/>
              </a:xfrm>
              <a:blipFill>
                <a:blip r:embed="rId2"/>
                <a:stretch>
                  <a:fillRect l="-2128" t="-1290" r="-174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BF0047B4-7423-FE77-5398-CC1356ED35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3581" y="1838960"/>
            <a:ext cx="4703534" cy="313944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95ADACE-8035-171E-7A2E-3158A7C0338F}"/>
                  </a:ext>
                </a:extLst>
              </p:cNvPr>
              <p:cNvSpPr txBox="1"/>
              <p:nvPr/>
            </p:nvSpPr>
            <p:spPr>
              <a:xfrm>
                <a:off x="8067040" y="5123908"/>
                <a:ext cx="3667760" cy="1073692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IN" b="1" i="1" dirty="0">
                    <a:solidFill>
                      <a:srgbClr val="00B050"/>
                    </a:solidFill>
                  </a:rPr>
                  <a:t>For good classification =&gt; </a:t>
                </a:r>
                <a:r>
                  <a:rPr lang="en-US" b="1" i="1" dirty="0">
                    <a:solidFill>
                      <a:srgbClr val="00B050"/>
                    </a:solidFill>
                  </a:rPr>
                  <a:t>Maximize the distance between the planes we want to minimize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num>
                      <m:den>
                        <m:d>
                          <m:dPr>
                            <m:begChr m:val="‖"/>
                            <m:endChr m:val="‖"/>
                            <m:ctrlPr>
                              <a:rPr lang="en-US" b="1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b="1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𝒘</m:t>
                            </m:r>
                          </m:e>
                        </m:d>
                      </m:den>
                    </m:f>
                  </m:oMath>
                </a14:m>
                <a:endParaRPr lang="en-IN" b="1" i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95ADACE-8035-171E-7A2E-3158A7C033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7040" y="5123908"/>
                <a:ext cx="3667760" cy="1073692"/>
              </a:xfrm>
              <a:prstGeom prst="rect">
                <a:avLst/>
              </a:prstGeom>
              <a:blipFill>
                <a:blip r:embed="rId4"/>
                <a:stretch>
                  <a:fillRect l="-165" t="-2793" r="-132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0918276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496C06-B65F-E1DD-2B84-71E088EA7B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Linear SVM – Hard Margin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7BA6FBE-A77E-500F-C35A-CF5CE612EF2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7280" y="1845734"/>
                <a:ext cx="10058400" cy="3061546"/>
              </a:xfrm>
            </p:spPr>
            <p:txBody>
              <a:bodyPr/>
              <a:lstStyle/>
              <a:p>
                <a:pPr>
                  <a:buFont typeface="Wingdings" panose="05000000000000000000" pitchFamily="2" charset="2"/>
                  <a:buChar char="q"/>
                </a:pPr>
                <a:r>
                  <a:rPr lang="en-IN" dirty="0"/>
                  <a:t> </a:t>
                </a:r>
                <a:r>
                  <a:rPr lang="en-US" dirty="0"/>
                  <a:t>We also have to prevent data points from falling into the margin, we add the following constraint: for each </a:t>
                </a:r>
                <a14:m>
                  <m:oMath xmlns:m="http://schemas.openxmlformats.org/officeDocument/2006/math">
                    <m:r>
                      <a:rPr lang="en-IN" b="1" i="1" smtClean="0">
                        <a:latin typeface="Cambria Math" panose="02040503050406030204" pitchFamily="18" charset="0"/>
                      </a:rPr>
                      <m:t>𝒊</m:t>
                    </m:r>
                  </m:oMath>
                </a14:m>
                <a:r>
                  <a:rPr lang="en-US" dirty="0"/>
                  <a:t> either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 ≥1 </m:t>
                    </m:r>
                  </m:oMath>
                </a14:m>
                <a:r>
                  <a:rPr lang="en-IN" dirty="0"/>
                  <a:t>,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=1</m:t>
                    </m:r>
                    <m:r>
                      <a:rPr lang="en-IN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dirty="0"/>
                  <a:t>           </a:t>
                </a:r>
                <a:r>
                  <a:rPr lang="en-IN" b="1" i="1" u="sng" dirty="0"/>
                  <a:t>or</a:t>
                </a:r>
                <a:r>
                  <a:rPr lang="en-IN" dirty="0"/>
                  <a:t>   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IN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IN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 ≤−1 </m:t>
                    </m:r>
                  </m:oMath>
                </a14:m>
                <a:r>
                  <a:rPr lang="en-IN" dirty="0"/>
                  <a:t>,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IN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1</m:t>
                    </m:r>
                    <m:r>
                      <a:rPr lang="en-IN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IN" dirty="0"/>
              </a:p>
              <a:p>
                <a:pPr>
                  <a:buFont typeface="Wingdings" panose="05000000000000000000" pitchFamily="2" charset="2"/>
                  <a:buChar char="q"/>
                </a:pPr>
                <a:r>
                  <a:rPr lang="en-IN" dirty="0"/>
                  <a:t> </a:t>
                </a:r>
                <a:r>
                  <a:rPr lang="en-US" dirty="0"/>
                  <a:t>These constraints state that each data point must lie on the correct side of the margin.</a:t>
                </a:r>
              </a:p>
              <a:p>
                <a:pPr>
                  <a:buFont typeface="Wingdings" panose="05000000000000000000" pitchFamily="2" charset="2"/>
                  <a:buChar char="q"/>
                </a:pPr>
                <a:r>
                  <a:rPr lang="en-US" dirty="0"/>
                  <a:t> This can be rewritten as :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I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≥1 </m:t>
                    </m:r>
                  </m:oMath>
                </a14:m>
                <a:r>
                  <a:rPr lang="en-IN" dirty="0"/>
                  <a:t>               ; for all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I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I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I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</m:oMath>
                </a14:m>
                <a:endParaRPr lang="en-IN" dirty="0"/>
              </a:p>
              <a:p>
                <a:pPr>
                  <a:buFont typeface="Wingdings" panose="05000000000000000000" pitchFamily="2" charset="2"/>
                  <a:buChar char="q"/>
                </a:pPr>
                <a:r>
                  <a:rPr lang="en-IN" dirty="0"/>
                  <a:t> Combining these to get the optimization problem :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7BA6FBE-A77E-500F-C35A-CF5CE612EF2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80" y="1845734"/>
                <a:ext cx="10058400" cy="3061546"/>
              </a:xfrm>
              <a:blipFill>
                <a:blip r:embed="rId2"/>
                <a:stretch>
                  <a:fillRect l="-1455" t="-219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D3D1922-939B-B9B7-AF52-301CA2E15616}"/>
                  </a:ext>
                </a:extLst>
              </p:cNvPr>
              <p:cNvSpPr txBox="1"/>
              <p:nvPr/>
            </p:nvSpPr>
            <p:spPr>
              <a:xfrm>
                <a:off x="10088880" y="2397760"/>
                <a:ext cx="2011680" cy="369332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IN" dirty="0"/>
                  <a:t>Recall,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∈{−1,1}</m:t>
                    </m:r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D3D1922-939B-B9B7-AF52-301CA2E156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88880" y="2397760"/>
                <a:ext cx="2011680" cy="369332"/>
              </a:xfrm>
              <a:prstGeom prst="rect">
                <a:avLst/>
              </a:prstGeom>
              <a:blipFill>
                <a:blip r:embed="rId3"/>
                <a:stretch>
                  <a:fillRect l="-2102" t="-6250" b="-2031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47D6590-BE1A-51DD-C79E-0A63F083DAB9}"/>
                  </a:ext>
                </a:extLst>
              </p:cNvPr>
              <p:cNvSpPr txBox="1"/>
              <p:nvPr/>
            </p:nvSpPr>
            <p:spPr>
              <a:xfrm>
                <a:off x="1173478" y="5077545"/>
                <a:ext cx="2580640" cy="980268"/>
              </a:xfrm>
              <a:prstGeom prst="rect">
                <a:avLst/>
              </a:prstGeom>
            </p:spPr>
            <p:style>
              <a:lnRef idx="0">
                <a:schemeClr val="accent5"/>
              </a:lnRef>
              <a:fillRef idx="3">
                <a:schemeClr val="accent5"/>
              </a:fillRef>
              <a:effectRef idx="3">
                <a:schemeClr val="accent5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2400" b="1" i="1" dirty="0">
                    <a:solidFill>
                      <a:srgbClr val="0070C0"/>
                    </a:solidFill>
                  </a:rPr>
                  <a:t>Minimize</a:t>
                </a:r>
                <a:endParaRPr lang="en-IN" b="1" i="1" dirty="0">
                  <a:solidFill>
                    <a:srgbClr val="0070C0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IN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</m:d>
                        </m:e>
                        <m:sup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47D6590-BE1A-51DD-C79E-0A63F083DA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3478" y="5077545"/>
                <a:ext cx="2580640" cy="98026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942D40A-D710-75E2-12B5-08658CAE38A3}"/>
                  </a:ext>
                </a:extLst>
              </p:cNvPr>
              <p:cNvSpPr txBox="1"/>
              <p:nvPr/>
            </p:nvSpPr>
            <p:spPr>
              <a:xfrm>
                <a:off x="4831082" y="5365188"/>
                <a:ext cx="4826000" cy="404983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IN" b="1" i="1" dirty="0">
                    <a:solidFill>
                      <a:srgbClr val="FF0000"/>
                    </a:solidFill>
                  </a:rPr>
                  <a:t>subject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en-I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d>
                      <m:dPr>
                        <m:ctrlPr>
                          <a:rPr lang="en-I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IN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𝒘</m:t>
                            </m:r>
                          </m:e>
                          <m:sup>
                            <m:r>
                              <a:rPr lang="en-IN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𝑻</m:t>
                            </m:r>
                          </m:sup>
                        </m:sSup>
                        <m:sSub>
                          <m:sSubPr>
                            <m:ctrlPr>
                              <a:rPr lang="en-IN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IN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  <m:r>
                          <a:rPr lang="en-I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</m:d>
                    <m:r>
                      <a:rPr lang="en-IN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IN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</m:t>
                    </m:r>
                    <m:r>
                      <a:rPr lang="en-IN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b="1" i="1" dirty="0">
                    <a:solidFill>
                      <a:srgbClr val="FF0000"/>
                    </a:solidFill>
                  </a:rPr>
                  <a:t>; for all </a:t>
                </a:r>
                <a14:m>
                  <m:oMath xmlns:m="http://schemas.openxmlformats.org/officeDocument/2006/math">
                    <m:r>
                      <a:rPr lang="en-IN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IN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IN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𝒊</m:t>
                    </m:r>
                    <m:r>
                      <a:rPr lang="en-IN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IN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𝑵</m:t>
                    </m:r>
                  </m:oMath>
                </a14:m>
                <a:endParaRPr lang="en-IN" b="1" i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942D40A-D710-75E2-12B5-08658CAE38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31082" y="5365188"/>
                <a:ext cx="4826000" cy="404983"/>
              </a:xfrm>
              <a:prstGeom prst="rect">
                <a:avLst/>
              </a:prstGeom>
              <a:blipFill>
                <a:blip r:embed="rId5"/>
                <a:stretch>
                  <a:fillRect l="-1008" b="-1571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Arrow: Right 7">
            <a:extLst>
              <a:ext uri="{FF2B5EF4-FFF2-40B4-BE49-F238E27FC236}">
                <a16:creationId xmlns:a16="http://schemas.microsoft.com/office/drawing/2014/main" id="{76EA4783-F564-2141-8723-0A5BA8B92985}"/>
              </a:ext>
            </a:extLst>
          </p:cNvPr>
          <p:cNvSpPr/>
          <p:nvPr/>
        </p:nvSpPr>
        <p:spPr>
          <a:xfrm>
            <a:off x="3921760" y="5445760"/>
            <a:ext cx="792480" cy="24384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ight Brace 8">
            <a:extLst>
              <a:ext uri="{FF2B5EF4-FFF2-40B4-BE49-F238E27FC236}">
                <a16:creationId xmlns:a16="http://schemas.microsoft.com/office/drawing/2014/main" id="{CA31BEB1-E660-0680-F97C-5DAD1B1414F6}"/>
              </a:ext>
            </a:extLst>
          </p:cNvPr>
          <p:cNvSpPr/>
          <p:nvPr/>
        </p:nvSpPr>
        <p:spPr>
          <a:xfrm>
            <a:off x="9657082" y="5077545"/>
            <a:ext cx="675638" cy="1181015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CF0E4CD-2B80-6602-5F66-B60AE966389C}"/>
              </a:ext>
            </a:extLst>
          </p:cNvPr>
          <p:cNvSpPr txBox="1"/>
          <p:nvPr/>
        </p:nvSpPr>
        <p:spPr>
          <a:xfrm>
            <a:off x="10449561" y="5160220"/>
            <a:ext cx="1290318" cy="101566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2000" b="1" i="1" dirty="0">
                <a:solidFill>
                  <a:srgbClr val="00B050"/>
                </a:solidFill>
              </a:rPr>
              <a:t>This is how SVM “learns”</a:t>
            </a:r>
          </a:p>
        </p:txBody>
      </p:sp>
    </p:spTree>
    <p:extLst>
      <p:ext uri="{BB962C8B-B14F-4D97-AF65-F5344CB8AC3E}">
        <p14:creationId xmlns:p14="http://schemas.microsoft.com/office/powerpoint/2010/main" val="186459217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6F1F61-930A-B473-0B1D-15162FAD2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Linear SVM – Soft Margin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EB55702-F4A1-1B01-8886-E38A932695E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7280" y="1845734"/>
                <a:ext cx="10058400" cy="2370666"/>
              </a:xfrm>
            </p:spPr>
            <p:txBody>
              <a:bodyPr/>
              <a:lstStyle/>
              <a:p>
                <a:pPr>
                  <a:buFont typeface="Wingdings" panose="05000000000000000000" pitchFamily="2" charset="2"/>
                  <a:buChar char="q"/>
                </a:pPr>
                <a:r>
                  <a:rPr lang="en-IN" dirty="0"/>
                  <a:t> </a:t>
                </a:r>
                <a:r>
                  <a:rPr lang="en-US" dirty="0"/>
                  <a:t>In the presence of outliers or non-separable data the SVM allows some misclassification by introducing “hinge loss” function</a:t>
                </a:r>
              </a:p>
              <a:p>
                <a:pPr marL="0" indent="0" algn="ctr">
                  <a:buNone/>
                </a:pPr>
                <a:r>
                  <a:rPr lang="en-US" b="1" dirty="0"/>
                  <a:t>Hinge loss :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𝜁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max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⁡(0,  1 −</m:t>
                    </m:r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endParaRPr lang="en-IN" dirty="0"/>
              </a:p>
              <a:p>
                <a:pPr>
                  <a:buFont typeface="Wingdings" panose="05000000000000000000" pitchFamily="2" charset="2"/>
                  <a:buChar char="q"/>
                </a:pPr>
                <a:r>
                  <a:rPr lang="en-IN" dirty="0"/>
                  <a:t> </a:t>
                </a:r>
                <a:r>
                  <a:rPr lang="en-US" dirty="0"/>
                  <a:t>This function is zero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lies on the correct side of the margin. For data on the wrong side of the margin, the function's value is proportional to the distance from the margin.</a:t>
                </a:r>
              </a:p>
              <a:p>
                <a:pPr>
                  <a:buFont typeface="Wingdings" panose="05000000000000000000" pitchFamily="2" charset="2"/>
                  <a:buChar char="q"/>
                </a:pPr>
                <a:r>
                  <a:rPr lang="en-US" dirty="0"/>
                  <a:t> New optimization goal :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EB55702-F4A1-1B01-8886-E38A932695E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80" y="1845734"/>
                <a:ext cx="10058400" cy="2370666"/>
              </a:xfrm>
              <a:blipFill>
                <a:blip r:embed="rId2"/>
                <a:stretch>
                  <a:fillRect l="-1455" t="-2828" b="-51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5E3AACA-CCC9-072D-2345-D0F62EDF8642}"/>
                  </a:ext>
                </a:extLst>
              </p:cNvPr>
              <p:cNvSpPr txBox="1"/>
              <p:nvPr/>
            </p:nvSpPr>
            <p:spPr>
              <a:xfrm>
                <a:off x="2311398" y="4234265"/>
                <a:ext cx="2580640" cy="1342034"/>
              </a:xfrm>
              <a:prstGeom prst="rect">
                <a:avLst/>
              </a:prstGeom>
            </p:spPr>
            <p:style>
              <a:lnRef idx="0">
                <a:schemeClr val="accent5"/>
              </a:lnRef>
              <a:fillRef idx="3">
                <a:schemeClr val="accent5"/>
              </a:fillRef>
              <a:effectRef idx="3">
                <a:schemeClr val="accent5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2400" b="1" i="1" dirty="0">
                    <a:solidFill>
                      <a:srgbClr val="0070C0"/>
                    </a:solidFill>
                  </a:rPr>
                  <a:t>Minimize</a:t>
                </a:r>
                <a:endParaRPr lang="en-IN" b="1" i="1" dirty="0">
                  <a:solidFill>
                    <a:srgbClr val="0070C0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IN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</m:d>
                        </m:e>
                        <m:sup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begChr m:val="["/>
                          <m:endChr m:val="]"/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den>
                          </m:f>
                          <m:nary>
                            <m:naryPr>
                              <m:chr m:val="∑"/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𝜁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5E3AACA-CCC9-072D-2345-D0F62EDF86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1398" y="4234265"/>
                <a:ext cx="2580640" cy="134203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8DCF430-C581-0264-8977-30E76BF75675}"/>
                  </a:ext>
                </a:extLst>
              </p:cNvPr>
              <p:cNvSpPr txBox="1"/>
              <p:nvPr/>
            </p:nvSpPr>
            <p:spPr>
              <a:xfrm>
                <a:off x="5969002" y="4521908"/>
                <a:ext cx="4826000" cy="681982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IN" b="1" i="1" dirty="0">
                    <a:solidFill>
                      <a:srgbClr val="FF0000"/>
                    </a:solidFill>
                  </a:rPr>
                  <a:t>subject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en-I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d>
                      <m:dPr>
                        <m:ctrlPr>
                          <a:rPr lang="en-I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IN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𝒘</m:t>
                            </m:r>
                          </m:e>
                          <m:sup>
                            <m:r>
                              <a:rPr lang="en-IN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𝑻</m:t>
                            </m:r>
                          </m:sup>
                        </m:sSup>
                        <m:sSub>
                          <m:sSubPr>
                            <m:ctrlPr>
                              <a:rPr lang="en-IN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IN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  <m:r>
                          <a:rPr lang="en-I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</m:d>
                    <m:r>
                      <a:rPr lang="en-IN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IN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</m:t>
                    </m:r>
                    <m:r>
                      <a:rPr lang="en-IN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−</m:t>
                    </m:r>
                    <m:sSub>
                      <m:sSubPr>
                        <m:ctrlPr>
                          <a:rPr lang="en-IN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𝜻</m:t>
                        </m:r>
                      </m:e>
                      <m:sub>
                        <m:r>
                          <a:rPr lang="en-IN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IN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b="1" i="1" dirty="0">
                    <a:solidFill>
                      <a:srgbClr val="FF0000"/>
                    </a:solidFill>
                  </a:rPr>
                  <a:t>; for all </a:t>
                </a:r>
                <a14:m>
                  <m:oMath xmlns:m="http://schemas.openxmlformats.org/officeDocument/2006/math">
                    <m:r>
                      <a:rPr lang="en-IN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IN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IN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𝒊</m:t>
                    </m:r>
                    <m:r>
                      <a:rPr lang="en-IN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IN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𝑵</m:t>
                    </m:r>
                  </m:oMath>
                </a14:m>
                <a:endParaRPr lang="en-IN" b="1" i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8DCF430-C581-0264-8977-30E76BF756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9002" y="4521908"/>
                <a:ext cx="4826000" cy="681982"/>
              </a:xfrm>
              <a:prstGeom prst="rect">
                <a:avLst/>
              </a:prstGeom>
              <a:blipFill>
                <a:blip r:embed="rId4"/>
                <a:stretch>
                  <a:fillRect l="-881" t="-87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Arrow: Right 5">
            <a:extLst>
              <a:ext uri="{FF2B5EF4-FFF2-40B4-BE49-F238E27FC236}">
                <a16:creationId xmlns:a16="http://schemas.microsoft.com/office/drawing/2014/main" id="{147C8374-C72D-C00A-3448-BFBEBA621994}"/>
              </a:ext>
            </a:extLst>
          </p:cNvPr>
          <p:cNvSpPr/>
          <p:nvPr/>
        </p:nvSpPr>
        <p:spPr>
          <a:xfrm>
            <a:off x="5059680" y="4602480"/>
            <a:ext cx="792480" cy="24384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7AF1A39-6909-5ADD-37C1-37CF25572AE6}"/>
                  </a:ext>
                </a:extLst>
              </p:cNvPr>
              <p:cNvSpPr txBox="1"/>
              <p:nvPr/>
            </p:nvSpPr>
            <p:spPr>
              <a:xfrm>
                <a:off x="2753358" y="5639213"/>
                <a:ext cx="695960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i="1" dirty="0"/>
                  <a:t>The parameter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i="1" dirty="0"/>
                  <a:t> determines the trade-off between increasing the margin size and ensuring that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i="1" dirty="0"/>
                  <a:t> lie on the correct side of the margin</a:t>
                </a:r>
                <a:endParaRPr lang="en-IN" i="1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7AF1A39-6909-5ADD-37C1-37CF25572A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3358" y="5639213"/>
                <a:ext cx="6959600" cy="646331"/>
              </a:xfrm>
              <a:prstGeom prst="rect">
                <a:avLst/>
              </a:prstGeom>
              <a:blipFill>
                <a:blip r:embed="rId5"/>
                <a:stretch>
                  <a:fillRect l="-789" t="-4717" b="-1415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F6CE6AB2-197B-37A3-1381-1D453993FDC8}"/>
              </a:ext>
            </a:extLst>
          </p:cNvPr>
          <p:cNvSpPr txBox="1"/>
          <p:nvPr/>
        </p:nvSpPr>
        <p:spPr>
          <a:xfrm>
            <a:off x="1071878" y="6427371"/>
            <a:ext cx="10322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>
                <a:solidFill>
                  <a:schemeClr val="bg1"/>
                </a:solidFill>
              </a:rPr>
              <a:t>H.W. : Show that for large 𝐶 , soft margin SVM acts like a hard-margin SVM but still tests rule viability.</a:t>
            </a:r>
            <a:endParaRPr lang="en-IN" b="1" i="1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F50C211-F2A5-7CF8-85F0-5D8AC9FB95B3}"/>
              </a:ext>
            </a:extLst>
          </p:cNvPr>
          <p:cNvSpPr txBox="1"/>
          <p:nvPr/>
        </p:nvSpPr>
        <p:spPr>
          <a:xfrm>
            <a:off x="203196" y="5116715"/>
            <a:ext cx="1341120" cy="6463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dirty="0"/>
              <a:t>Objective function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D9DB85C-8AF3-FA96-0316-B6DF06316D16}"/>
              </a:ext>
            </a:extLst>
          </p:cNvPr>
          <p:cNvCxnSpPr>
            <a:cxnSpLocks/>
            <a:stCxn id="9" idx="3"/>
            <a:endCxn id="4" idx="1"/>
          </p:cNvCxnSpPr>
          <p:nvPr/>
        </p:nvCxnSpPr>
        <p:spPr>
          <a:xfrm flipV="1">
            <a:off x="1544316" y="4905282"/>
            <a:ext cx="767082" cy="5345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439948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AD5031-55C6-E203-08A5-2C10157ECD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9C0E9A-61FD-416A-2925-FCBDA1BB57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3129280"/>
            <a:ext cx="10058400" cy="731520"/>
          </a:xfrm>
        </p:spPr>
        <p:txBody>
          <a:bodyPr/>
          <a:lstStyle/>
          <a:p>
            <a:pPr algn="ctr"/>
            <a:r>
              <a:rPr lang="en-IN" dirty="0"/>
              <a:t>What if data is not linearly separable 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94B9D10-3598-F943-67A4-05CC7ED9A0B1}"/>
              </a:ext>
            </a:extLst>
          </p:cNvPr>
          <p:cNvSpPr/>
          <p:nvPr/>
        </p:nvSpPr>
        <p:spPr>
          <a:xfrm>
            <a:off x="1066800" y="1645920"/>
            <a:ext cx="10170160" cy="254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C88B9C-EE77-22D3-892A-536E886A2B66}"/>
              </a:ext>
            </a:extLst>
          </p:cNvPr>
          <p:cNvSpPr txBox="1"/>
          <p:nvPr/>
        </p:nvSpPr>
        <p:spPr>
          <a:xfrm>
            <a:off x="3413760" y="4013200"/>
            <a:ext cx="5069840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i="1" dirty="0">
                <a:solidFill>
                  <a:srgbClr val="00B050"/>
                </a:solidFill>
              </a:rPr>
              <a:t>Make it separable anyway – somehow</a:t>
            </a:r>
          </a:p>
          <a:p>
            <a:pPr algn="ctr"/>
            <a:endParaRPr lang="en-IN" b="1" i="1" dirty="0">
              <a:solidFill>
                <a:srgbClr val="00B050"/>
              </a:solidFill>
            </a:endParaRPr>
          </a:p>
          <a:p>
            <a:pPr algn="ctr"/>
            <a:r>
              <a:rPr lang="en-IN" dirty="0"/>
              <a:t>Or in better words…</a:t>
            </a:r>
          </a:p>
          <a:p>
            <a:pPr algn="ctr"/>
            <a:endParaRPr lang="en-IN" dirty="0"/>
          </a:p>
          <a:p>
            <a:pPr algn="ctr"/>
            <a:r>
              <a:rPr lang="en-IN" dirty="0"/>
              <a:t>“Transform the data so that it becomes separable”</a:t>
            </a:r>
          </a:p>
        </p:txBody>
      </p:sp>
    </p:spTree>
    <p:extLst>
      <p:ext uri="{BB962C8B-B14F-4D97-AF65-F5344CB8AC3E}">
        <p14:creationId xmlns:p14="http://schemas.microsoft.com/office/powerpoint/2010/main" val="332499293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78DA33-2622-FDE2-E049-3F25AC954D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Non Linear SVM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3C6FB2-3C8A-3F61-8AAA-AAAEEA73E1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4145280" cy="4023360"/>
          </a:xfrm>
        </p:spPr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IN" dirty="0"/>
              <a:t> </a:t>
            </a:r>
            <a:r>
              <a:rPr lang="en-US" dirty="0"/>
              <a:t>When data is not linearly separable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</a:t>
            </a:r>
            <a:r>
              <a:rPr lang="en-US" b="1" i="1" u="sng" dirty="0">
                <a:solidFill>
                  <a:srgbClr val="00B050"/>
                </a:solidFill>
              </a:rPr>
              <a:t>SVM uses kernels to map data to a higher-dimensional space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</a:t>
            </a:r>
            <a:r>
              <a:rPr lang="en-US" b="1" i="1" dirty="0"/>
              <a:t>In this space, data becomes separable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Enables SVM to find a decision boundary for non-linear data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AA77D1-DB6D-AB2C-81AE-4CACBA2B2D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7572" y="1953049"/>
            <a:ext cx="7154428" cy="344297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1886E9B-689C-FB35-6C9A-51F5CDDF74F0}"/>
              </a:ext>
            </a:extLst>
          </p:cNvPr>
          <p:cNvSpPr txBox="1"/>
          <p:nvPr/>
        </p:nvSpPr>
        <p:spPr>
          <a:xfrm>
            <a:off x="7559040" y="3576320"/>
            <a:ext cx="1066800" cy="6463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dirty="0"/>
              <a:t>Kernel</a:t>
            </a:r>
            <a:br>
              <a:rPr lang="en-IN" dirty="0"/>
            </a:br>
            <a:r>
              <a:rPr lang="en-IN" dirty="0"/>
              <a:t>Trick</a:t>
            </a:r>
          </a:p>
        </p:txBody>
      </p:sp>
    </p:spTree>
    <p:extLst>
      <p:ext uri="{BB962C8B-B14F-4D97-AF65-F5344CB8AC3E}">
        <p14:creationId xmlns:p14="http://schemas.microsoft.com/office/powerpoint/2010/main" val="42862409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9C8BE8-2627-071D-D534-50AF458AF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Kernel trick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B4AC8C-889D-494C-FD64-AD3F7DFB0F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5506720" cy="4023360"/>
          </a:xfrm>
        </p:spPr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IN" dirty="0"/>
              <a:t> A kernel maps data into a higher-dimensional space without explicitly computing the coordinates, enabling SVM to handle non-linear data efficiently.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dirty="0"/>
              <a:t> It implicitly transforms non-separable data into a space where it becomes linearly separable.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dirty="0"/>
              <a:t> Common Kernels: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dirty="0"/>
              <a:t> </a:t>
            </a:r>
            <a:r>
              <a:rPr lang="en-IN" b="1" dirty="0"/>
              <a:t>Linear Kernel</a:t>
            </a:r>
            <a:r>
              <a:rPr lang="en-IN" dirty="0"/>
              <a:t> – for linearly separable data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dirty="0"/>
              <a:t> </a:t>
            </a:r>
            <a:r>
              <a:rPr lang="en-IN" b="1" dirty="0"/>
              <a:t>Polynomial Kernel</a:t>
            </a:r>
            <a:r>
              <a:rPr lang="en-IN" dirty="0"/>
              <a:t> – maps data into polynomial feature space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dirty="0"/>
              <a:t> </a:t>
            </a:r>
            <a:r>
              <a:rPr lang="en-IN" b="1" dirty="0"/>
              <a:t>RBF Kernel</a:t>
            </a:r>
            <a:r>
              <a:rPr lang="en-IN" dirty="0"/>
              <a:t> – separates data based on pairwise distances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8BE80FA-F943-58B3-43D1-A7A5616014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2880" y="2471912"/>
            <a:ext cx="5506720" cy="2472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741331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300</TotalTime>
  <Words>2117</Words>
  <Application>Microsoft Office PowerPoint</Application>
  <PresentationFormat>Widescreen</PresentationFormat>
  <Paragraphs>240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9" baseType="lpstr">
      <vt:lpstr>Arial</vt:lpstr>
      <vt:lpstr>Calibri</vt:lpstr>
      <vt:lpstr>Calibri Light</vt:lpstr>
      <vt:lpstr>Cambria Math</vt:lpstr>
      <vt:lpstr>Wingdings</vt:lpstr>
      <vt:lpstr>Retrospect</vt:lpstr>
      <vt:lpstr>Supervised Learning</vt:lpstr>
      <vt:lpstr>Learning</vt:lpstr>
      <vt:lpstr>Classification problems</vt:lpstr>
      <vt:lpstr>Decision Boundaries</vt:lpstr>
      <vt:lpstr>Decision Boundaries</vt:lpstr>
      <vt:lpstr>Classification algorithms</vt:lpstr>
      <vt:lpstr>K – Nearest Neighbour (KNN)</vt:lpstr>
      <vt:lpstr>K-Nearest Neighbour (KNN)</vt:lpstr>
      <vt:lpstr>How to choose best ‘k’</vt:lpstr>
      <vt:lpstr>KNN overview</vt:lpstr>
      <vt:lpstr>Linear Classifiers</vt:lpstr>
      <vt:lpstr>Linear Classifiers</vt:lpstr>
      <vt:lpstr>Linear classifiers - examples</vt:lpstr>
      <vt:lpstr>Perceptron in action</vt:lpstr>
      <vt:lpstr>A slight detour…  Bayes’ Rule</vt:lpstr>
      <vt:lpstr>Looking back at Bayes’ Rule</vt:lpstr>
      <vt:lpstr>Updating beliefs with Bayes</vt:lpstr>
      <vt:lpstr>Naïve Bayes Classifier</vt:lpstr>
      <vt:lpstr>Naïve Bayes Classifier</vt:lpstr>
      <vt:lpstr>Example</vt:lpstr>
      <vt:lpstr>Example - continued</vt:lpstr>
      <vt:lpstr>Support Vector Machine</vt:lpstr>
      <vt:lpstr>Support Vector Machine</vt:lpstr>
      <vt:lpstr>Hyperplane</vt:lpstr>
      <vt:lpstr>Margins</vt:lpstr>
      <vt:lpstr>Support Vectors</vt:lpstr>
      <vt:lpstr>Mathematics of SVM</vt:lpstr>
      <vt:lpstr>Linear SVM – Hard Margin</vt:lpstr>
      <vt:lpstr>Linear SVM – Hard Margin</vt:lpstr>
      <vt:lpstr>Linear SVM – Soft Margin</vt:lpstr>
      <vt:lpstr>What if data is not linearly separable ?</vt:lpstr>
      <vt:lpstr>Non Linear SVM</vt:lpstr>
      <vt:lpstr>Kernel trick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Kishan Malaviya</dc:creator>
  <cp:lastModifiedBy>Owner</cp:lastModifiedBy>
  <cp:revision>7</cp:revision>
  <dcterms:created xsi:type="dcterms:W3CDTF">2025-09-07T16:40:36Z</dcterms:created>
  <dcterms:modified xsi:type="dcterms:W3CDTF">2026-04-10T09:51:32Z</dcterms:modified>
</cp:coreProperties>
</file>