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2" r:id="rId17"/>
    <p:sldId id="271" r:id="rId18"/>
    <p:sldId id="274" r:id="rId19"/>
    <p:sldId id="277" r:id="rId20"/>
    <p:sldId id="279" r:id="rId21"/>
    <p:sldId id="280" r:id="rId22"/>
    <p:sldId id="278" r:id="rId23"/>
    <p:sldId id="273" r:id="rId24"/>
    <p:sldId id="275" r:id="rId25"/>
    <p:sldId id="282" r:id="rId26"/>
    <p:sldId id="276" r:id="rId27"/>
    <p:sldId id="281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89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8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9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89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97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261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95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42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4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13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54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7DDBC33-9501-475E-B0D1-F94DE3180C74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12E7424-5AA9-49EA-8D25-0B1D4DFCFFE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07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9AC5-D4A0-F221-5B0E-9DA3504CA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7B738-50ED-D15A-C8D9-73A8BC7C9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Introduction, Theory,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9415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DD2BF-2822-2BD9-A9A7-6CCB3841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C392-8451-6A83-BCAC-A557E47E2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Issues with Linear Regression for classification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9B632-149F-CBFF-B1AD-BF3226310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012" y="2416026"/>
            <a:ext cx="9630936" cy="389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9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A940-BA8F-FA5E-EC5E-8F3E6D7E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0F3A7-B24D-0A42-766A-38F583C8D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Logistic Regression is a supervised machine learning algorithm primarily used for classification problems.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It's a statistical method that models the log-odds of an event as a linear combination of one or more independent variables.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Its core purpose is to predict the probability that an observation belongs to a specific class or category.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Key Difference from Linear Regression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Unlike linear regression, which predicts continuous values (e.g., house price), logistic regression predicts a categorical outcome.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Its output is a </a:t>
            </a:r>
            <a:r>
              <a:rPr lang="en-US" sz="2000" b="1" dirty="0"/>
              <a:t>probability between 0 and 1</a:t>
            </a:r>
            <a:r>
              <a:rPr lang="en-US" sz="2000" dirty="0"/>
              <a:t>, rather than an unbounded continuous value.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730D6-9763-997E-484A-DA564EEB4041}"/>
              </a:ext>
            </a:extLst>
          </p:cNvPr>
          <p:cNvSpPr txBox="1"/>
          <p:nvPr/>
        </p:nvSpPr>
        <p:spPr>
          <a:xfrm>
            <a:off x="3027680" y="5608136"/>
            <a:ext cx="57912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rgbClr val="FF0000"/>
                </a:solidFill>
              </a:rPr>
              <a:t>What does probability has to do with the classification ?</a:t>
            </a:r>
          </a:p>
        </p:txBody>
      </p:sp>
    </p:spTree>
    <p:extLst>
      <p:ext uri="{BB962C8B-B14F-4D97-AF65-F5344CB8AC3E}">
        <p14:creationId xmlns:p14="http://schemas.microsoft.com/office/powerpoint/2010/main" val="182192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68DF-8785-2DB7-732E-CDA0ACA7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8492F-5C94-62C7-AFAE-14F258882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 returned probability can be used "as is" (e.g., 93.2% chance of spam) or converted to a binary category (e.g., "Spam" or "Not Spam") using a threshold (often 0.5).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Applications (Overview)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Widely used in healthcare, finance, marketing, social sciences, and engineering.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78B84-1866-94F4-9F15-BEA9F631FF3F}"/>
              </a:ext>
            </a:extLst>
          </p:cNvPr>
          <p:cNvSpPr txBox="1"/>
          <p:nvPr/>
        </p:nvSpPr>
        <p:spPr>
          <a:xfrm>
            <a:off x="1036320" y="4730989"/>
            <a:ext cx="9926320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Question : Are all classification tasks in ML ultimately are regression tasks based on probabilities ?</a:t>
            </a:r>
            <a:endParaRPr lang="en-IN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661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FBDEA3-4E1D-2C51-A46D-12A2D4BA8558}"/>
              </a:ext>
            </a:extLst>
          </p:cNvPr>
          <p:cNvSpPr/>
          <p:nvPr/>
        </p:nvSpPr>
        <p:spPr>
          <a:xfrm>
            <a:off x="1107440" y="1625600"/>
            <a:ext cx="1013968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7E720-2992-CC96-ADA1-DF315ABF5F9E}"/>
              </a:ext>
            </a:extLst>
          </p:cNvPr>
          <p:cNvSpPr txBox="1"/>
          <p:nvPr/>
        </p:nvSpPr>
        <p:spPr>
          <a:xfrm>
            <a:off x="1524000" y="2296160"/>
            <a:ext cx="8910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“ Classification is regression onto probabilities, followed by a decision rule. ’’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*But in practice, classification and regression are considered separate because the learning objectives, metrics, and interpretation differ.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66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CCC9-6CC1-6130-B45D-B46024C2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Idea Behind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D668A-4A3F-BE1E-809C-0166C32D4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6512560" cy="402336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</a:t>
                </a:r>
                <a:r>
                  <a:rPr lang="en-US" b="1" dirty="0"/>
                  <a:t>Goal : </a:t>
                </a:r>
                <a:r>
                  <a:rPr lang="en-US" dirty="0"/>
                  <a:t>To predict the probability of a class (e.g., spam = 1).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Computes a linear combination of inputs: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Pass these linear combination 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) through Sigmoid function to get output (probability) between 0 and 1.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Provide a decision rule : Ex =&gt; If 𝑝 &gt; 0.5, predict Class 1; else, Class 0.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Model is trained by maximizing likelihood (choosing best weights).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D668A-4A3F-BE1E-809C-0166C32D4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6512560" cy="4023360"/>
              </a:xfrm>
              <a:blipFill>
                <a:blip r:embed="rId2"/>
                <a:stretch>
                  <a:fillRect l="-2247" t="-1667" r="-13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E1463DB-D2C2-427A-687F-61B4C50E1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170" y="2360612"/>
            <a:ext cx="473583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33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0373-AF21-7FDB-F3B4-47399CB6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Odds in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AEB79-E5C9-CF44-D4BB-69549D174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Definition: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𝑜𝑑𝑑𝑠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𝑝 = probability of the event.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Expresses how much more likely an event is to occur than not.</a:t>
                </a:r>
              </a:p>
              <a:p>
                <a:r>
                  <a:rPr lang="en-US" dirty="0"/>
                  <a:t>If: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Odds = 1 → Event is equally likely to happen or not.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Odds &gt; 1 → Event is more likely to happen.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Odds &lt; 1 → Event is less likely to happen.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Logistic regression models the log of odds (logit) as a linear function.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AEB79-E5C9-CF44-D4BB-69549D174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29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DBD0-970A-D6D3-046F-F1C2F811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Logit Function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AA3181-E0AF-C1BC-2E9B-3C299A7876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6959600" cy="4023360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dirty="0"/>
                  <a:t>Logit: The Link Between Odds and Linear Models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Definition: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𝐿𝑜𝑔𝑖𝑡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Transforms probability (0,1) → real numbers (-∞, +∞).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Makes it possible to model probabilities using linear equations: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𝐿𝑜𝑔𝑖𝑡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Logistic regression is linear in the log-odds, not in raw probability.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Helps interpret coefficients in terms of how features affect odds.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AA3181-E0AF-C1BC-2E9B-3C299A787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6959600" cy="4023360"/>
              </a:xfrm>
              <a:blipFill>
                <a:blip r:embed="rId2"/>
                <a:stretch>
                  <a:fillRect l="-2102" t="-2273" r="-1839" b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7C2D1B5-F125-1D2D-F736-5C9F8C7AC0BA}"/>
              </a:ext>
            </a:extLst>
          </p:cNvPr>
          <p:cNvSpPr txBox="1"/>
          <p:nvPr/>
        </p:nvSpPr>
        <p:spPr>
          <a:xfrm>
            <a:off x="1234440" y="6437868"/>
            <a:ext cx="978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bg1"/>
                </a:solidFill>
              </a:rPr>
              <a:t>H.W. : Show how Sigmoid and logit functions are related in the context of Logistic regression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6198D-6C0B-4A19-F76D-7F86F8980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0" t="6938" r="54515" b="3990"/>
          <a:stretch>
            <a:fillRect/>
          </a:stretch>
        </p:blipFill>
        <p:spPr>
          <a:xfrm>
            <a:off x="8056880" y="2219961"/>
            <a:ext cx="3596640" cy="327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01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2C15D-1BAF-2ED3-9C79-635E5118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CCC5A-ACE8-7121-264D-7B4E700A69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6461760" cy="402336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Definition: A line (or surface) that separates classes in feature space.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In logistic regression: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Set threshold at 𝑝=0.5.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Solve for z = 0 :</a:t>
                </a:r>
              </a:p>
              <a:p>
                <a:pPr marL="201168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 0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Boundary is linear in features (unless features are transformed).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Points on one side → predict Class 1; other side → Class 0.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Can extend to higher dimensions (planes, hyperplanes).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CCC5A-ACE8-7121-264D-7B4E700A69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6461760" cy="4023360"/>
              </a:xfrm>
              <a:blipFill>
                <a:blip r:embed="rId2"/>
                <a:stretch>
                  <a:fillRect l="-2264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0E423D8-6952-D976-1E2E-CF7716633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639" y="1935120"/>
            <a:ext cx="4564385" cy="367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0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44C3-F5C5-E5C4-3F63-384C6548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4599B4-B3B2-62C8-2591-8D8757214F40}"/>
              </a:ext>
            </a:extLst>
          </p:cNvPr>
          <p:cNvSpPr/>
          <p:nvPr/>
        </p:nvSpPr>
        <p:spPr>
          <a:xfrm>
            <a:off x="1107440" y="1625600"/>
            <a:ext cx="1013968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3D537-619F-8AD8-6FF8-EE7F99F2FEDD}"/>
              </a:ext>
            </a:extLst>
          </p:cNvPr>
          <p:cNvSpPr txBox="1"/>
          <p:nvPr/>
        </p:nvSpPr>
        <p:spPr>
          <a:xfrm>
            <a:off x="1722120" y="2828835"/>
            <a:ext cx="8910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The key question : How to optimize the weights for best possible classification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E38951-9AA6-D342-4030-20E92E712F45}"/>
              </a:ext>
            </a:extLst>
          </p:cNvPr>
          <p:cNvSpPr txBox="1"/>
          <p:nvPr/>
        </p:nvSpPr>
        <p:spPr>
          <a:xfrm>
            <a:off x="3464560" y="4332068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Or</a:t>
            </a:r>
          </a:p>
          <a:p>
            <a:pPr algn="ctr"/>
            <a:r>
              <a:rPr lang="en-IN" dirty="0"/>
              <a:t>How “learning” is done in Logistic Regression ?</a:t>
            </a:r>
          </a:p>
        </p:txBody>
      </p:sp>
    </p:spTree>
    <p:extLst>
      <p:ext uri="{BB962C8B-B14F-4D97-AF65-F5344CB8AC3E}">
        <p14:creationId xmlns:p14="http://schemas.microsoft.com/office/powerpoint/2010/main" val="384776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47B05-073F-3A1E-4329-7C202A962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Likelihood: The Core Idea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CF5A6-DDFA-A79E-1459-1BA99D2C2E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US" b="1" dirty="0"/>
                  <a:t>Goal: </a:t>
                </a:r>
                <a:r>
                  <a:rPr lang="en-US" dirty="0"/>
                  <a:t>Find model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that make observed data most probable.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In logistic regression: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For each training point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), predicted probability: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Likelihood of dataset: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Sup>
                            <m:sSub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We want to maximize L(w) to find best-fit weights.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Easier to work with log-likelihood (sum instead of product).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CF5A6-DDFA-A79E-1459-1BA99D2C2E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DE9565-0569-9979-E822-A14ED2ED7536}"/>
                  </a:ext>
                </a:extLst>
              </p:cNvPr>
              <p:cNvSpPr txBox="1"/>
              <p:nvPr/>
            </p:nvSpPr>
            <p:spPr>
              <a:xfrm>
                <a:off x="9418320" y="3698240"/>
                <a:ext cx="2357120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are class labels (0, 1)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DE9565-0569-9979-E822-A14ED2ED7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8320" y="3698240"/>
                <a:ext cx="2357120" cy="369332"/>
              </a:xfrm>
              <a:prstGeom prst="rect">
                <a:avLst/>
              </a:prstGeom>
              <a:blipFill>
                <a:blip r:embed="rId3"/>
                <a:stretch>
                  <a:fillRect t="-7937" r="-1026" b="-2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BCC53C-5207-9991-799F-1EED38AB3894}"/>
              </a:ext>
            </a:extLst>
          </p:cNvPr>
          <p:cNvCxnSpPr/>
          <p:nvPr/>
        </p:nvCxnSpPr>
        <p:spPr>
          <a:xfrm flipH="1" flipV="1">
            <a:off x="7741920" y="3789680"/>
            <a:ext cx="1584960" cy="121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34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105F-BB1F-10E5-EC30-2114A7F40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Log-Likelihood in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E3DCC-0BB2-77DF-D3A9-9CBD9B5E1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Log – Likelihood 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]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Turning product into a sum simplifies optimization.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</a:t>
                </a:r>
                <a:r>
                  <a:rPr lang="en-IN" b="1" dirty="0"/>
                  <a:t>Maximize ℓ(w) using gradient ascent </a:t>
                </a:r>
                <a:r>
                  <a:rPr lang="en-IN" dirty="0"/>
                  <a:t>or </a:t>
                </a:r>
                <a:r>
                  <a:rPr lang="en-IN" b="1" dirty="0"/>
                  <a:t>minimize negative log-likelihood</a:t>
                </a:r>
                <a:r>
                  <a:rPr lang="en-IN" dirty="0"/>
                  <a:t> (cross-entropy loss).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 MLE provides interpretable coefficients tied to odds.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E3DCC-0BB2-77DF-D3A9-9CBD9B5E1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 r="-1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000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F4F97-8FEC-92AE-4922-F4BEB6F0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378424-74D2-EE94-8F7C-A6D7715DD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891" y="2090928"/>
            <a:ext cx="7961580" cy="366979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984E5F-2C1B-2623-E148-703338B797B5}"/>
              </a:ext>
            </a:extLst>
          </p:cNvPr>
          <p:cNvSpPr txBox="1"/>
          <p:nvPr/>
        </p:nvSpPr>
        <p:spPr>
          <a:xfrm>
            <a:off x="8128000" y="4602480"/>
            <a:ext cx="28448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Learning =&gt; Minimising the negative log-likelihood</a:t>
            </a:r>
          </a:p>
        </p:txBody>
      </p:sp>
    </p:spTree>
    <p:extLst>
      <p:ext uri="{BB962C8B-B14F-4D97-AF65-F5344CB8AC3E}">
        <p14:creationId xmlns:p14="http://schemas.microsoft.com/office/powerpoint/2010/main" val="1705577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1599-C3E6-241E-B333-05C8993A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with Linear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FBEF8E-8387-87F0-38BD-B5B7F7C29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198" y="1836103"/>
            <a:ext cx="9142898" cy="4402137"/>
          </a:xfrm>
        </p:spPr>
      </p:pic>
    </p:spTree>
    <p:extLst>
      <p:ext uri="{BB962C8B-B14F-4D97-AF65-F5344CB8AC3E}">
        <p14:creationId xmlns:p14="http://schemas.microsoft.com/office/powerpoint/2010/main" val="2396328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9E07-7EFE-AD03-3F3B-00E8F1F2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&amp; Cons of Logistic Regression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DEB8AE-0298-D260-DFA9-32407491C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052" y="1817745"/>
            <a:ext cx="9354856" cy="37343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ADEC2B-E353-2589-51AC-E3CEA59B0DF0}"/>
              </a:ext>
            </a:extLst>
          </p:cNvPr>
          <p:cNvSpPr txBox="1"/>
          <p:nvPr/>
        </p:nvSpPr>
        <p:spPr>
          <a:xfrm>
            <a:off x="1449052" y="5612928"/>
            <a:ext cx="921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00B050"/>
                </a:solidFill>
              </a:rPr>
              <a:t>NOTE : Logistic Regression is a strong baseline for classification — interpretable, simple, and efficient, but not suited for complex, highly non-linear problems.</a:t>
            </a:r>
            <a:endParaRPr lang="en-IN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83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61F47-FD42-36CB-5A4A-985CC84D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4FE380-BAF4-C18A-E660-DADFF7A2BBB4}"/>
              </a:ext>
            </a:extLst>
          </p:cNvPr>
          <p:cNvSpPr/>
          <p:nvPr/>
        </p:nvSpPr>
        <p:spPr>
          <a:xfrm>
            <a:off x="1107440" y="1625600"/>
            <a:ext cx="1013968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DF4550-3584-4CED-44AB-33ADDE5422DB}"/>
              </a:ext>
            </a:extLst>
          </p:cNvPr>
          <p:cNvSpPr txBox="1"/>
          <p:nvPr/>
        </p:nvSpPr>
        <p:spPr>
          <a:xfrm>
            <a:off x="1722120" y="2828835"/>
            <a:ext cx="8910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Looking back at loss/cost function for logistic regression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3574F-C77E-C7D1-7730-B5861B9849D1}"/>
              </a:ext>
            </a:extLst>
          </p:cNvPr>
          <p:cNvSpPr txBox="1"/>
          <p:nvPr/>
        </p:nvSpPr>
        <p:spPr>
          <a:xfrm>
            <a:off x="3464560" y="4332068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Why we suddenly switched to “negative log likelihood” instead of MSE ?</a:t>
            </a:r>
          </a:p>
        </p:txBody>
      </p:sp>
    </p:spTree>
    <p:extLst>
      <p:ext uri="{BB962C8B-B14F-4D97-AF65-F5344CB8AC3E}">
        <p14:creationId xmlns:p14="http://schemas.microsoft.com/office/powerpoint/2010/main" val="608382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70BF-F6E8-5E3F-6946-8C13553F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Function : Cross-Entropy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E057F-5501-2C7F-A1D9-9CC634E09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We minimize negative log-likelihood (</a:t>
                </a:r>
                <a:r>
                  <a:rPr lang="en-US" b="1" dirty="0"/>
                  <a:t>Cross-Entropy Loss or Log Loss</a:t>
                </a:r>
                <a:r>
                  <a:rPr lang="en-US" dirty="0"/>
                  <a:t>) to train logistic regression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Why not MSE?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MSE leads to non-convex optimization for classification.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Cross-entropy is convex, easier to optimize.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Loss penalizes confident wrong predictions heavily.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Optimization uses Gradient Descent or similar algorithms.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Key advantage 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Correct predictions → low loss.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Wrong predictions → high loss, especially if predicted probability was high.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E057F-5501-2C7F-A1D9-9CC634E09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273" b="-6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491D21D-3AA4-25FC-A0AB-EA6108169089}"/>
              </a:ext>
            </a:extLst>
          </p:cNvPr>
          <p:cNvSpPr txBox="1"/>
          <p:nvPr/>
        </p:nvSpPr>
        <p:spPr>
          <a:xfrm>
            <a:off x="2661920" y="5869094"/>
            <a:ext cx="728472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rgbClr val="FF0000"/>
                </a:solidFill>
              </a:rPr>
              <a:t>Q. : How entropy comes in this picture ? Why the name “Cross-Entropy” ?</a:t>
            </a:r>
          </a:p>
        </p:txBody>
      </p:sp>
    </p:spTree>
    <p:extLst>
      <p:ext uri="{BB962C8B-B14F-4D97-AF65-F5344CB8AC3E}">
        <p14:creationId xmlns:p14="http://schemas.microsoft.com/office/powerpoint/2010/main" val="4179828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8D81-79A0-32E1-F81D-624D8EDC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980777-2F9E-0958-1C9A-FB108A966314}"/>
              </a:ext>
            </a:extLst>
          </p:cNvPr>
          <p:cNvSpPr/>
          <p:nvPr/>
        </p:nvSpPr>
        <p:spPr>
          <a:xfrm>
            <a:off x="1107440" y="1625600"/>
            <a:ext cx="1013968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B843E-0EAF-5211-7797-5B9F224F84E0}"/>
              </a:ext>
            </a:extLst>
          </p:cNvPr>
          <p:cNvSpPr txBox="1"/>
          <p:nvPr/>
        </p:nvSpPr>
        <p:spPr>
          <a:xfrm>
            <a:off x="1722120" y="2442755"/>
            <a:ext cx="8910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What about classification in multiple classes/categories ?</a:t>
            </a:r>
          </a:p>
        </p:txBody>
      </p:sp>
    </p:spTree>
    <p:extLst>
      <p:ext uri="{BB962C8B-B14F-4D97-AF65-F5344CB8AC3E}">
        <p14:creationId xmlns:p14="http://schemas.microsoft.com/office/powerpoint/2010/main" val="2532050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9AAC-6065-1D8F-D12C-1B0761E8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696A8-2F5D-7C01-966B-7057BA7A4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50088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Binary logistic regression → two classes (0 or 1).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For multiple classes (K classes), two main approaches: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One-vs-Rest (</a:t>
            </a:r>
            <a:r>
              <a:rPr lang="en-US" dirty="0" err="1"/>
              <a:t>OvR</a:t>
            </a:r>
            <a:r>
              <a:rPr lang="en-US" dirty="0"/>
              <a:t>):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/>
              <a:t> Train K separate binary classifiers.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/>
              <a:t> Pick the class with highest probability.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One-vs-One (</a:t>
            </a:r>
            <a:r>
              <a:rPr lang="en-US" dirty="0" err="1"/>
              <a:t>OvO</a:t>
            </a:r>
            <a:r>
              <a:rPr lang="en-US" dirty="0"/>
              <a:t>):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/>
              <a:t> Train a classifier for each pair of classes.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1600" dirty="0"/>
              <a:t> Use voting to decide final class.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54B4A-5697-0947-3575-9842FD413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560" y="2015066"/>
            <a:ext cx="6159406" cy="38540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5315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CF96-551D-1906-0255-F51D5532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77FD-03F5-D202-2CBD-CFEC5EBB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class classification with SoftMax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553B7-B73C-0C45-25FD-3F593D5F16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SoftMax Regression: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Generalization of logistic regression for multi-class.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Computes probability for each class:​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Sup>
                                    <m:sSubSup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Predictions = Class with highest probability.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IN" dirty="0"/>
                  <a:t>Note that, </a:t>
                </a:r>
                <a:r>
                  <a:rPr lang="en-US" dirty="0"/>
                  <a:t>Logistic regression scales well to multiple classes but stays linear in decision boundaries.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SoftMax ensures the following 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All probabilities are between 0 and 1.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Sum of probabilities = 1.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→ higher probability for class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/>
                  <a:t> Prediction = Class with maximum probability.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3553B7-B73C-0C45-25FD-3F593D5F1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576" b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F910A2-0F3A-3077-DDC4-552E514C2F8B}"/>
                  </a:ext>
                </a:extLst>
              </p:cNvPr>
              <p:cNvSpPr txBox="1"/>
              <p:nvPr/>
            </p:nvSpPr>
            <p:spPr>
              <a:xfrm>
                <a:off x="9011920" y="2321560"/>
                <a:ext cx="1011111" cy="28809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F910A2-0F3A-3077-DDC4-552E514C2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920" y="2321560"/>
                <a:ext cx="1011111" cy="288092"/>
              </a:xfrm>
              <a:prstGeom prst="rect">
                <a:avLst/>
              </a:prstGeom>
              <a:blipFill>
                <a:blip r:embed="rId3"/>
                <a:stretch>
                  <a:fillRect l="-2367" r="-1183"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B79373-FD59-5F54-87AC-A994E9639D9D}"/>
              </a:ext>
            </a:extLst>
          </p:cNvPr>
          <p:cNvCxnSpPr>
            <a:cxnSpLocks/>
          </p:cNvCxnSpPr>
          <p:nvPr/>
        </p:nvCxnSpPr>
        <p:spPr>
          <a:xfrm flipH="1">
            <a:off x="7457440" y="2465606"/>
            <a:ext cx="1554480" cy="40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135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9B50-C38B-10D0-4FCB-3C3880DC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 class classification with SoftMax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26B56-FAA7-E741-1AD9-EECDE22D5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b="1" i="1" dirty="0">
                <a:solidFill>
                  <a:srgbClr val="00B050"/>
                </a:solidFill>
              </a:rPr>
              <a:t>SoftMax is like applying sigmoid but extended to multiple classes.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Turns raw scores into something we can interpret as probabilities.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Example: </a:t>
            </a:r>
          </a:p>
          <a:p>
            <a:pPr marL="292608" lvl="1" indent="0">
              <a:buNone/>
            </a:pPr>
            <a:r>
              <a:rPr lang="en-US" sz="2000" dirty="0"/>
              <a:t>Three classes with raw scores [2, 1, 0].</a:t>
            </a:r>
          </a:p>
          <a:p>
            <a:pPr marL="292608" lvl="1" indent="0">
              <a:buNone/>
            </a:pPr>
            <a:r>
              <a:rPr lang="en-US" sz="2000" dirty="0"/>
              <a:t>Apply SoftMax → Probabilities [ 0.71, 0.26, 0.03]. </a:t>
            </a:r>
          </a:p>
          <a:p>
            <a:pPr marL="292608" lvl="1" indent="0">
              <a:buNone/>
            </a:pPr>
            <a:r>
              <a:rPr lang="en-US" sz="2000" dirty="0"/>
              <a:t>Note that probabilities are adding up to 1, which is important.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8904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14CCA-1E2C-004F-4E3C-FDCC0685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305D51-DC4B-8A0B-09A8-859C6203281D}"/>
              </a:ext>
            </a:extLst>
          </p:cNvPr>
          <p:cNvSpPr/>
          <p:nvPr/>
        </p:nvSpPr>
        <p:spPr>
          <a:xfrm>
            <a:off x="1107440" y="1625600"/>
            <a:ext cx="10139680" cy="25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4073A-9C54-E697-E049-CFD7BA889A90}"/>
              </a:ext>
            </a:extLst>
          </p:cNvPr>
          <p:cNvSpPr txBox="1"/>
          <p:nvPr/>
        </p:nvSpPr>
        <p:spPr>
          <a:xfrm>
            <a:off x="1722120" y="2442755"/>
            <a:ext cx="8910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Now, the main question :</a:t>
            </a:r>
            <a:br>
              <a:rPr lang="en-IN" sz="3600" dirty="0"/>
            </a:br>
            <a:r>
              <a:rPr lang="en-IN" sz="3600" dirty="0"/>
              <a:t>How do we know how well my model is performing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F026E-ED36-3D07-E31D-2B2BC67F38DB}"/>
              </a:ext>
            </a:extLst>
          </p:cNvPr>
          <p:cNvSpPr txBox="1"/>
          <p:nvPr/>
        </p:nvSpPr>
        <p:spPr>
          <a:xfrm>
            <a:off x="3464560" y="4332068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Or </a:t>
            </a:r>
          </a:p>
          <a:p>
            <a:pPr algn="ctr"/>
            <a:r>
              <a:rPr lang="en-IN" dirty="0"/>
              <a:t>How to evaluate my model in classification ?</a:t>
            </a:r>
          </a:p>
        </p:txBody>
      </p:sp>
    </p:spTree>
    <p:extLst>
      <p:ext uri="{BB962C8B-B14F-4D97-AF65-F5344CB8AC3E}">
        <p14:creationId xmlns:p14="http://schemas.microsoft.com/office/powerpoint/2010/main" val="1568291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C6F1-857D-BFDD-CC0F-514A1D61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04D044-F9FF-CC1C-C5A5-56265850F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154"/>
          <a:stretch>
            <a:fillRect/>
          </a:stretch>
        </p:blipFill>
        <p:spPr>
          <a:xfrm>
            <a:off x="182880" y="1866583"/>
            <a:ext cx="7809908" cy="43513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81DA4C-30E2-164B-D209-A3774CAA70D2}"/>
              </a:ext>
            </a:extLst>
          </p:cNvPr>
          <p:cNvSpPr txBox="1"/>
          <p:nvPr/>
        </p:nvSpPr>
        <p:spPr>
          <a:xfrm>
            <a:off x="162560" y="2012910"/>
            <a:ext cx="244856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/>
              <a:t>A key diagnostic tool for evaluating classification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DAF7A-2A17-88B3-8ECD-C1BC3F72E6D7}"/>
              </a:ext>
            </a:extLst>
          </p:cNvPr>
          <p:cNvSpPr txBox="1"/>
          <p:nvPr/>
        </p:nvSpPr>
        <p:spPr>
          <a:xfrm>
            <a:off x="8453120" y="2012910"/>
            <a:ext cx="282448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Several evaluation metric can be calculated based on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352230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3BF1-D172-703E-10A6-9EB860F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F1 - score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0E91B2-DE8B-747B-EFB3-037FE71E3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928052"/>
            <a:ext cx="5059363" cy="18704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B01C35-62B2-F183-371B-CB6449E0A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7" t="17249" r="6760" b="29650"/>
          <a:stretch>
            <a:fillRect/>
          </a:stretch>
        </p:blipFill>
        <p:spPr>
          <a:xfrm>
            <a:off x="2291600" y="3798463"/>
            <a:ext cx="7608799" cy="2521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799D6-49AF-1F63-9A6A-F716DAF28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0" t="15323" r="16507" b="10953"/>
          <a:stretch>
            <a:fillRect/>
          </a:stretch>
        </p:blipFill>
        <p:spPr>
          <a:xfrm>
            <a:off x="1198880" y="2002045"/>
            <a:ext cx="3068637" cy="1762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005747-4581-9255-CBC7-5D8A59F494B0}"/>
              </a:ext>
            </a:extLst>
          </p:cNvPr>
          <p:cNvSpPr txBox="1"/>
          <p:nvPr/>
        </p:nvSpPr>
        <p:spPr>
          <a:xfrm>
            <a:off x="9306560" y="6441440"/>
            <a:ext cx="2875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</a:rPr>
              <a:t>Image credit : grammarly.com</a:t>
            </a:r>
          </a:p>
        </p:txBody>
      </p:sp>
    </p:spTree>
    <p:extLst>
      <p:ext uri="{BB962C8B-B14F-4D97-AF65-F5344CB8AC3E}">
        <p14:creationId xmlns:p14="http://schemas.microsoft.com/office/powerpoint/2010/main" val="1748479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AC5F-B190-8937-25DF-6FF06780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DF5303-CCB0-E631-F3D1-1B59A2D6D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37703"/>
            <a:ext cx="6351670" cy="4022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89C065-69B3-CA76-19B0-C5DD66A0E84B}"/>
              </a:ext>
            </a:extLst>
          </p:cNvPr>
          <p:cNvSpPr txBox="1"/>
          <p:nvPr/>
        </p:nvSpPr>
        <p:spPr>
          <a:xfrm>
            <a:off x="7792720" y="2072640"/>
            <a:ext cx="3942080" cy="2492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00B050"/>
                </a:solidFill>
              </a:rPr>
              <a:t>Points to be noted</a:t>
            </a:r>
          </a:p>
          <a:p>
            <a:pPr algn="ctr"/>
            <a:endParaRPr lang="en-US" sz="2000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Accuracy can be misleading with imbalanced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Precision vs Recall = trade-off (depends on application).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F1-score useful when classes are imbalanced.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D3FF4-0348-C7DF-1A24-9CE9E8EC5ABC}"/>
              </a:ext>
            </a:extLst>
          </p:cNvPr>
          <p:cNvSpPr txBox="1"/>
          <p:nvPr/>
        </p:nvSpPr>
        <p:spPr>
          <a:xfrm>
            <a:off x="1097280" y="6410960"/>
            <a:ext cx="1037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solidFill>
                  <a:schemeClr val="bg1"/>
                </a:solidFill>
              </a:rPr>
              <a:t>Q. : What do we mean by imbalanced data ?</a:t>
            </a:r>
          </a:p>
        </p:txBody>
      </p:sp>
    </p:spTree>
    <p:extLst>
      <p:ext uri="{BB962C8B-B14F-4D97-AF65-F5344CB8AC3E}">
        <p14:creationId xmlns:p14="http://schemas.microsoft.com/office/powerpoint/2010/main" val="918762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1200-623E-AB54-9358-D4727FF49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46121A-25F6-C721-32A6-885738A19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88" t="6890" r="10480" b="7742"/>
          <a:stretch>
            <a:fillRect/>
          </a:stretch>
        </p:blipFill>
        <p:spPr>
          <a:xfrm>
            <a:off x="1097280" y="2245360"/>
            <a:ext cx="5842000" cy="343408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75CB96-FC8C-9EA7-9208-39882C03D5F0}"/>
              </a:ext>
            </a:extLst>
          </p:cNvPr>
          <p:cNvSpPr txBox="1"/>
          <p:nvPr/>
        </p:nvSpPr>
        <p:spPr>
          <a:xfrm>
            <a:off x="7345680" y="2082800"/>
            <a:ext cx="4013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ML model was used to classify 10,000 emails in “spam” or “Non-spam”. The confusion matrix for the same is given here. Evaluate the model performance by calculating : </a:t>
            </a:r>
          </a:p>
          <a:p>
            <a:endParaRPr lang="en-IN" dirty="0"/>
          </a:p>
          <a:p>
            <a:pPr marL="342900" indent="-342900">
              <a:buFont typeface="+mj-lt"/>
              <a:buAutoNum type="alphaLcParenR"/>
            </a:pPr>
            <a:r>
              <a:rPr lang="en-IN" dirty="0"/>
              <a:t>Precision</a:t>
            </a:r>
          </a:p>
          <a:p>
            <a:pPr marL="342900" indent="-342900">
              <a:buFont typeface="+mj-lt"/>
              <a:buAutoNum type="alphaLcParenR"/>
            </a:pPr>
            <a:r>
              <a:rPr lang="en-IN" dirty="0"/>
              <a:t>Recall</a:t>
            </a:r>
          </a:p>
          <a:p>
            <a:pPr marL="342900" indent="-342900">
              <a:buFont typeface="+mj-lt"/>
              <a:buAutoNum type="alphaLcParenR"/>
            </a:pPr>
            <a:r>
              <a:rPr lang="en-IN" dirty="0"/>
              <a:t>Accuracy</a:t>
            </a:r>
          </a:p>
          <a:p>
            <a:pPr marL="342900" indent="-342900">
              <a:buFont typeface="+mj-lt"/>
              <a:buAutoNum type="alphaLcParenR"/>
            </a:pPr>
            <a:r>
              <a:rPr lang="en-IN" dirty="0"/>
              <a:t>F1-score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169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6C79-705C-BA02-AE71-EAFF83E7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Confusion matrix for multi-class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7898A-F2B3-A220-1C56-86B626FE9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51688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The logic and the principles are same as that of binary classification.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Each class treated as “positive” in a one-vs-all manner.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Metrics (Precision, Recall, F1 etc.) need averaging strategies: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1" dirty="0"/>
              <a:t>Macro Average:</a:t>
            </a:r>
            <a:r>
              <a:rPr lang="en-US" dirty="0"/>
              <a:t> Equal weight to each class.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1" dirty="0"/>
              <a:t>Micro Average:</a:t>
            </a:r>
            <a:r>
              <a:rPr lang="en-US" dirty="0"/>
              <a:t> Weighted by sample count.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0EA27-BD17-3283-89FD-EC1178149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493" y="1767840"/>
            <a:ext cx="4525227" cy="456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04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DCC2-4695-E8F0-7973-178359F6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6E034-F414-E209-C8A1-C1D027971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344160" cy="402336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Macro Averaging (treat all classes equally)</a:t>
            </a:r>
            <a:endParaRPr lang="en-IN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Compute Precision/Recall/F1 for each class.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Then take the average across all classes.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Gives </a:t>
            </a:r>
            <a:r>
              <a:rPr lang="en-US" b="1" dirty="0"/>
              <a:t>equal importance to each class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Good when classes are balanced.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Formula : 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1E3CD1-78ED-A261-62A9-43360756C19D}"/>
              </a:ext>
            </a:extLst>
          </p:cNvPr>
          <p:cNvSpPr txBox="1">
            <a:spLocks/>
          </p:cNvSpPr>
          <p:nvPr/>
        </p:nvSpPr>
        <p:spPr>
          <a:xfrm>
            <a:off x="6441440" y="1845734"/>
            <a:ext cx="534416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Micro Averaging (treat all samples equally)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Aggregate TP, FP, FN across all classes.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Then compute Precision/Recall/F1 from totals.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Gives </a:t>
            </a:r>
            <a:r>
              <a:rPr lang="en-US" b="1" dirty="0"/>
              <a:t>more weight to larger classes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Good when classes are imbalanced.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Formula :</a:t>
            </a: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AA0EF6-7168-35D6-77D9-C6A862565DDC}"/>
              </a:ext>
            </a:extLst>
          </p:cNvPr>
          <p:cNvCxnSpPr>
            <a:cxnSpLocks/>
          </p:cNvCxnSpPr>
          <p:nvPr/>
        </p:nvCxnSpPr>
        <p:spPr>
          <a:xfrm>
            <a:off x="6228080" y="1845734"/>
            <a:ext cx="0" cy="433154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6055BE-54B2-CE03-BBBB-E8C545380004}"/>
                  </a:ext>
                </a:extLst>
              </p:cNvPr>
              <p:cNvSpPr txBox="1"/>
              <p:nvPr/>
            </p:nvSpPr>
            <p:spPr>
              <a:xfrm>
                <a:off x="1432560" y="4759960"/>
                <a:ext cx="4208460" cy="86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𝑀𝑎𝑐𝑟𝑜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𝑃𝑟𝑒𝑐𝑖𝑠𝑖𝑜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6055BE-54B2-CE03-BBBB-E8C545380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560" y="4759960"/>
                <a:ext cx="4208460" cy="865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35ED8B-B2C3-55B8-0DBC-2F59F3676C2E}"/>
                  </a:ext>
                </a:extLst>
              </p:cNvPr>
              <p:cNvSpPr txBox="1"/>
              <p:nvPr/>
            </p:nvSpPr>
            <p:spPr>
              <a:xfrm>
                <a:off x="6939279" y="4888974"/>
                <a:ext cx="4267199" cy="704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𝑀𝑖𝑐𝑟𝑜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35ED8B-B2C3-55B8-0DBC-2F59F3676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279" y="4888974"/>
                <a:ext cx="4267199" cy="704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932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0971-1B19-D9B6-2EA9-5FF82ABF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0B7DDC-773F-8EB9-4AC9-DF4B017945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6655933"/>
              </p:ext>
            </p:extLst>
          </p:nvPr>
        </p:nvGraphicFramePr>
        <p:xfrm>
          <a:off x="1097280" y="2222183"/>
          <a:ext cx="100584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97769498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55812487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98088501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83870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564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666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66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1365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4AEC8A-AD86-5084-F22E-C10BBB5E51F5}"/>
              </a:ext>
            </a:extLst>
          </p:cNvPr>
          <p:cNvSpPr txBox="1"/>
          <p:nvPr/>
        </p:nvSpPr>
        <p:spPr>
          <a:xfrm>
            <a:off x="1219200" y="1737360"/>
            <a:ext cx="935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Consider the following data for a classification tasks where classes are : Cat, Dog, Rabbit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EEE486-33E8-C6A8-3E5A-07F5DFC87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95"/>
          <a:stretch>
            <a:fillRect/>
          </a:stretch>
        </p:blipFill>
        <p:spPr>
          <a:xfrm>
            <a:off x="1097280" y="3803376"/>
            <a:ext cx="4334480" cy="1825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3E5C7E-7A8B-AFE5-46C4-BBA072B25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38"/>
          <a:stretch>
            <a:fillRect/>
          </a:stretch>
        </p:blipFill>
        <p:spPr>
          <a:xfrm>
            <a:off x="6126480" y="3803376"/>
            <a:ext cx="4643120" cy="16675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D75CF7-A920-7286-68E6-4E8B2F6DD087}"/>
              </a:ext>
            </a:extLst>
          </p:cNvPr>
          <p:cNvSpPr txBox="1"/>
          <p:nvPr/>
        </p:nvSpPr>
        <p:spPr>
          <a:xfrm>
            <a:off x="1076960" y="5628640"/>
            <a:ext cx="981456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Macro treats Rabbit equally, so overall score drops (0.68).</a:t>
            </a: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dirty="0"/>
              <a:t>Micro weights by total samples, so strong Cat/Dog performance dominates (0.74).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6547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DE68B-A25B-70A2-364A-76E7EE30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BCE4-89E6-1E7A-8815-7095CC1ED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298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From Regression to Classification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Linear regression unsuitable for classification → predictions unbounded.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Logistic regression adds sigmoid to output probabilities (0–1).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Uses odds &amp; logit for linear modelling of probabilities.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Model &amp; Training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Decision boundary at 𝑝 = 0.5.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Parameters estimated via Maximum Likelihood Estimation (MLE).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Cost Function: Cross-Entropy (Log Loss).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Extensions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Multi-class classification: One-vs-Rest, One-vs-One, SoftMax.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SoftMax generalizes logistic regression to multiple classes.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Evaluation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Confusion Matrix: Foundation for metrics.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Metrics: Accuracy, Precision, Recall, F1.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Multi-class evaluation needs Macro vs Micro averaging.</a:t>
            </a:r>
          </a:p>
        </p:txBody>
      </p:sp>
    </p:spTree>
    <p:extLst>
      <p:ext uri="{BB962C8B-B14F-4D97-AF65-F5344CB8AC3E}">
        <p14:creationId xmlns:p14="http://schemas.microsoft.com/office/powerpoint/2010/main" val="752118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287</TotalTime>
  <Words>1717</Words>
  <Application>Microsoft Office PowerPoint</Application>
  <PresentationFormat>Widescreen</PresentationFormat>
  <Paragraphs>207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Calibri Light</vt:lpstr>
      <vt:lpstr>Cambria Math</vt:lpstr>
      <vt:lpstr>Wingdings</vt:lpstr>
      <vt:lpstr>Retrospect</vt:lpstr>
      <vt:lpstr>Logistic Regression</vt:lpstr>
      <vt:lpstr>Recap…</vt:lpstr>
      <vt:lpstr>Logistic Regression</vt:lpstr>
      <vt:lpstr>Interpretation of probabilities</vt:lpstr>
      <vt:lpstr>PowerPoint Presentation</vt:lpstr>
      <vt:lpstr>Idea Behind Logistic Regression</vt:lpstr>
      <vt:lpstr>Understanding Odds in Classification</vt:lpstr>
      <vt:lpstr>The Logit Function</vt:lpstr>
      <vt:lpstr>Decision boundary</vt:lpstr>
      <vt:lpstr>PowerPoint Presentation</vt:lpstr>
      <vt:lpstr>Maximum Likelihood: The Core Idea</vt:lpstr>
      <vt:lpstr>Log-Likelihood in Logistic Regression</vt:lpstr>
      <vt:lpstr>Overview</vt:lpstr>
      <vt:lpstr>Comparison with Linear Regression</vt:lpstr>
      <vt:lpstr>Pros &amp; Cons of Logistic Regression</vt:lpstr>
      <vt:lpstr>PowerPoint Presentation</vt:lpstr>
      <vt:lpstr>Cost Function : Cross-Entropy</vt:lpstr>
      <vt:lpstr>PowerPoint Presentation</vt:lpstr>
      <vt:lpstr>Multi class classification</vt:lpstr>
      <vt:lpstr>Multi class classification with SoftMax</vt:lpstr>
      <vt:lpstr>Multi class classification with SoftMax</vt:lpstr>
      <vt:lpstr>PowerPoint Presentation</vt:lpstr>
      <vt:lpstr>The Confusion Matrix</vt:lpstr>
      <vt:lpstr>The F1 - score</vt:lpstr>
      <vt:lpstr>Overall</vt:lpstr>
      <vt:lpstr>Example</vt:lpstr>
      <vt:lpstr>Confusion matrix for multi-class classification</vt:lpstr>
      <vt:lpstr>Averaging strategies</vt:lpstr>
      <vt:lpstr>Examples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Kishan Malaviya</dc:creator>
  <cp:lastModifiedBy>Kishan Malaviya</cp:lastModifiedBy>
  <cp:revision>14</cp:revision>
  <dcterms:created xsi:type="dcterms:W3CDTF">2025-08-28T04:23:45Z</dcterms:created>
  <dcterms:modified xsi:type="dcterms:W3CDTF">2025-09-07T16:37:49Z</dcterms:modified>
</cp:coreProperties>
</file>