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77" r:id="rId11"/>
    <p:sldId id="269" r:id="rId12"/>
    <p:sldId id="270" r:id="rId13"/>
    <p:sldId id="271" r:id="rId14"/>
    <p:sldId id="272" r:id="rId15"/>
    <p:sldId id="264" r:id="rId16"/>
    <p:sldId id="266" r:id="rId17"/>
    <p:sldId id="267" r:id="rId18"/>
    <p:sldId id="265" r:id="rId19"/>
    <p:sldId id="273" r:id="rId20"/>
    <p:sldId id="274" r:id="rId21"/>
    <p:sldId id="276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69" d="100"/>
          <a:sy n="69" d="100"/>
        </p:scale>
        <p:origin x="6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C1023-6300-40B2-9333-E814D3B27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04BED-93F4-4CC0-8965-9D6F843F7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49E4E-3BD1-4AE4-9822-479DA000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1092-2637-4E18-A786-0E08B0A98E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66916-228B-4EAE-BECA-8EA4988A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9C0EA-1993-406A-8845-9467CDD45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AFA2-F4EE-4882-9B72-4A9961163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726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5EA02-8DAA-488D-A1E3-D9C591441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9D636-F661-4C9C-9F90-A2BFDBBA8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55F6B-B57C-4219-8988-C671470CD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1092-2637-4E18-A786-0E08B0A98E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33049-EC98-4242-9952-AEEF35568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99E34-E2D6-4950-BF70-8DCFDB85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AFA2-F4EE-4882-9B72-4A9961163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893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0800-9A1F-4829-8EC6-48DC0138C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A84B3-13BD-4809-97AB-BAE78A9D1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ADF66-3CA8-41E1-A91D-6725C2D97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1092-2637-4E18-A786-0E08B0A98E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09DCD-0D7C-4174-8AA1-4022888D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8C1EB-C16C-404B-983A-C857355D5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AFA2-F4EE-4882-9B72-4A9961163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43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27F1-3075-449D-97E6-8272BE6E0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0ADE8-CB98-4A2A-AF69-E8D056F28B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60861-7A67-403B-8DC6-5367415E3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FF01C-0CD9-49D0-8537-A843884A3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1092-2637-4E18-A786-0E08B0A98E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A1CA6-E7C3-4CB8-994E-8802CDE8E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694E1-7B15-4859-8DD0-A94EEA170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AFA2-F4EE-4882-9B72-4A9961163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91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2567-AD18-41A4-B132-82946D5E2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A752D-CC9C-46BF-BF0F-D702C563F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08C06-88F4-467D-BC97-410A0D93C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0ECB9-254C-48A0-AE91-63B42F52D6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FADB9E-9B85-4FEF-B128-E34BD7C320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741FDA-009F-4E97-BFDE-511163DD6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1092-2637-4E18-A786-0E08B0A98E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32E8D1-E123-471A-8F5D-F153DFB12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8953B6-0886-47D5-AEF9-456C01C35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AFA2-F4EE-4882-9B72-4A9961163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112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7F22-83D5-4A3F-88E8-BC30B60A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E062A-B9A5-4E5D-BA29-B74B3A1E6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1092-2637-4E18-A786-0E08B0A98E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67C302-1EC3-4985-839B-6BBB46B8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22929D-DEE1-4B5C-87C8-5DB13D75C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AFA2-F4EE-4882-9B72-4A9961163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904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BCCA78-1FF9-4476-9979-47F6C3FC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1092-2637-4E18-A786-0E08B0A98E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4669F-1456-40ED-ACF8-78949E88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B5750-791F-403D-B531-DCB68145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AFA2-F4EE-4882-9B72-4A9961163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98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5023-8B53-428E-988C-77A758136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32BAB-B4FC-4CC8-A120-9393A7C24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EED65-E9CF-4217-878B-58AF59DAAF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E59D4-8207-4E2C-A167-F75B755EA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1092-2637-4E18-A786-0E08B0A98E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ABF91-C51C-4CB2-8CCF-A9412305E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7081E-9D61-4A5A-941B-47FAFA65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AFA2-F4EE-4882-9B72-4A9961163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286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34163-8D69-47F3-B1FA-17A463F5F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045C79-7CAD-406C-A716-06FF4677D1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305C0-A65F-4534-BEEA-91E211F93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5BC51-2705-4915-A6C0-C835B5F6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1092-2637-4E18-A786-0E08B0A98E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13F28-5219-43E5-A82E-120BFBE05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FDD69-64C5-4E0E-98DF-A27FF30E3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AFA2-F4EE-4882-9B72-4A9961163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932B-B681-4E51-89A9-5814E675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E0048E-8B71-486D-9996-622637115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58831-F485-4637-A731-5D31A83FA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1092-2637-4E18-A786-0E08B0A98E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8954D-42F5-4615-BF30-EE3546C3C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05D05-B536-4511-A157-85329226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AFA2-F4EE-4882-9B72-4A9961163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780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6A5AD-1203-4DDE-9A62-63433994A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2ACD7-3BF4-4BCB-8FF3-1ADC33D53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14DA1-E1CC-4F1F-AB56-2F14B5D92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1092-2637-4E18-A786-0E08B0A98E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AAC6C-0A8E-49F1-9C32-1E4D99197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96EE1-DC56-4197-8C44-075433A3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AFA2-F4EE-4882-9B72-4A9961163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662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AD3799-31FD-4670-BE23-3F44E143A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63B85-D81A-400E-8037-40E5618C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4D1EE-501F-40CB-83A6-E073BB426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F1092-2637-4E18-A786-0E08B0A98EC0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E3E99-1E25-46B4-BEB6-B1212F8F3A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DEF61-35D8-459C-A933-FD57D0B89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0AFA2-F4EE-4882-9B72-4A9961163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635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6CE3E-3103-4526-A887-4A0B448AF1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</a:t>
            </a:r>
            <a:r>
              <a:rPr lang="en-US" dirty="0" err="1"/>
              <a:t>ArrayList</a:t>
            </a:r>
            <a:r>
              <a:rPr lang="en-US" dirty="0"/>
              <a:t> in Java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1EA4-F3E5-43AB-999C-AC154FFADD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8675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5F0B4-4E1D-4954-B00E-EFAA7562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</a:t>
            </a:r>
            <a:r>
              <a:rPr lang="en-US" b="1" dirty="0" err="1"/>
              <a:t>ArrayList</a:t>
            </a:r>
            <a:r>
              <a:rPr lang="en-US" b="1" dirty="0"/>
              <a:t>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8DF89-3867-4DDE-B672-E557028D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is a dynamic array in Java.</a:t>
            </a:r>
          </a:p>
          <a:p>
            <a:r>
              <a:rPr lang="en-US" dirty="0"/>
              <a:t>It is part of the </a:t>
            </a:r>
            <a:r>
              <a:rPr lang="en-US" dirty="0" err="1"/>
              <a:t>java.util</a:t>
            </a:r>
            <a:r>
              <a:rPr lang="en-US" dirty="0"/>
              <a:t> package and is used to store elements dynamically (size can grow or shrink).</a:t>
            </a:r>
          </a:p>
          <a:p>
            <a:r>
              <a:rPr lang="en-US" dirty="0"/>
              <a:t>Unlike normal arrays:</a:t>
            </a:r>
          </a:p>
          <a:p>
            <a:r>
              <a:rPr lang="en-US" dirty="0"/>
              <a:t>Array → Fixed size </a:t>
            </a:r>
          </a:p>
          <a:p>
            <a:r>
              <a:rPr lang="en-US" dirty="0" err="1"/>
              <a:t>ArrayList</a:t>
            </a:r>
            <a:r>
              <a:rPr lang="en-US" dirty="0"/>
              <a:t> → Dynamic size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605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1B613-57A3-4FCD-B606-D9459CB6E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Do We Need </a:t>
            </a:r>
            <a:r>
              <a:rPr lang="en-US" b="1" dirty="0" err="1"/>
              <a:t>ArrayList</a:t>
            </a:r>
            <a:r>
              <a:rPr lang="en-US" b="1" dirty="0"/>
              <a:t>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D67D6-EDB1-4472-B4FD-90218E944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with Array:</a:t>
            </a:r>
          </a:p>
          <a:p>
            <a:pPr lvl="1"/>
            <a:r>
              <a:rPr lang="en-US" sz="3600" dirty="0"/>
              <a:t>int </a:t>
            </a:r>
            <a:r>
              <a:rPr lang="en-US" sz="3600" dirty="0" err="1"/>
              <a:t>arr</a:t>
            </a:r>
            <a:r>
              <a:rPr lang="en-US" sz="3600" dirty="0"/>
              <a:t>[] = new int[5];</a:t>
            </a:r>
          </a:p>
          <a:p>
            <a:r>
              <a:rPr lang="en-US" dirty="0"/>
              <a:t>Size is fixed (5) Cannot increase later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sz="3200" dirty="0" err="1"/>
              <a:t>ArrayList</a:t>
            </a:r>
            <a:r>
              <a:rPr lang="en-US" sz="3200" dirty="0"/>
              <a:t>&lt;Integer&gt; list = new </a:t>
            </a:r>
            <a:r>
              <a:rPr lang="en-US" sz="3200" dirty="0" err="1"/>
              <a:t>ArrayList</a:t>
            </a:r>
            <a:r>
              <a:rPr lang="en-US" sz="3200" dirty="0"/>
              <a:t>&lt;&gt;();</a:t>
            </a:r>
          </a:p>
          <a:p>
            <a:r>
              <a:rPr lang="en-US" dirty="0"/>
              <a:t>Size increases automatically</a:t>
            </a:r>
          </a:p>
          <a:p>
            <a:r>
              <a:rPr lang="en-US" dirty="0"/>
              <a:t>Many built-in methods available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4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95962-7593-479C-8482-589E5B84C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Syntax of </a:t>
            </a:r>
            <a:r>
              <a:rPr lang="en-IN" b="1" dirty="0" err="1"/>
              <a:t>ArrayList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C4ECB-ADED-471D-AEF1-DC4E7FFB4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</a:t>
            </a:r>
            <a:r>
              <a:rPr lang="en-IN" dirty="0" err="1"/>
              <a:t>java.util.ArrayList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 err="1"/>
              <a:t>ArrayList</a:t>
            </a:r>
            <a:r>
              <a:rPr lang="en-IN" dirty="0"/>
              <a:t>&lt;</a:t>
            </a:r>
            <a:r>
              <a:rPr lang="en-IN" dirty="0" err="1"/>
              <a:t>DataType</a:t>
            </a:r>
            <a:r>
              <a:rPr lang="en-IN" dirty="0"/>
              <a:t>&gt; </a:t>
            </a:r>
            <a:r>
              <a:rPr lang="en-IN" dirty="0" err="1"/>
              <a:t>listName</a:t>
            </a:r>
            <a:r>
              <a:rPr lang="en-IN" dirty="0"/>
              <a:t> = new </a:t>
            </a:r>
            <a:r>
              <a:rPr lang="en-IN" dirty="0" err="1"/>
              <a:t>ArrayList</a:t>
            </a:r>
            <a:r>
              <a:rPr lang="en-IN" dirty="0"/>
              <a:t>&lt;&gt;();</a:t>
            </a:r>
          </a:p>
          <a:p>
            <a:endParaRPr lang="en-IN" dirty="0"/>
          </a:p>
          <a:p>
            <a:r>
              <a:rPr lang="en-IN" dirty="0"/>
              <a:t>EXAMPLE:</a:t>
            </a:r>
          </a:p>
          <a:p>
            <a:r>
              <a:rPr lang="en-US" dirty="0" err="1"/>
              <a:t>ArrayList</a:t>
            </a:r>
            <a:r>
              <a:rPr lang="en-US" dirty="0"/>
              <a:t>&lt;String&gt; names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r>
              <a:rPr lang="en-US" dirty="0" err="1"/>
              <a:t>ArrayList</a:t>
            </a:r>
            <a:r>
              <a:rPr lang="en-US" dirty="0"/>
              <a:t>&lt;Integer&gt; numbers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3829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7F3A1-829A-4866-A8E7-987305942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ArrayList</a:t>
            </a:r>
            <a:r>
              <a:rPr lang="en-IN" b="1" dirty="0"/>
              <a:t>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5DF05-C46D-4CBB-8730-DFA96D911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stores Objects only</a:t>
            </a:r>
          </a:p>
          <a:p>
            <a:r>
              <a:rPr lang="en-US" dirty="0"/>
              <a:t>So we use:</a:t>
            </a:r>
          </a:p>
          <a:p>
            <a:r>
              <a:rPr lang="en-US" dirty="0"/>
              <a:t>Integer instead of int</a:t>
            </a:r>
          </a:p>
          <a:p>
            <a:r>
              <a:rPr lang="en-US" dirty="0"/>
              <a:t>Double instead of double</a:t>
            </a:r>
          </a:p>
          <a:p>
            <a:r>
              <a:rPr lang="en-US" dirty="0"/>
              <a:t>Character instead of char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is called Wrapper Class.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0349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C0B36-09E4-47BE-94D6-0C4E461A2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dirty="0"/>
              <a:t>Basic Methods of </a:t>
            </a:r>
            <a:r>
              <a:rPr lang="en-IN" b="1" dirty="0" err="1"/>
              <a:t>ArrayList</a:t>
            </a: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7D6791-FB92-4EAD-A412-F9ED32A16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8223062"/>
              </p:ext>
            </p:extLst>
          </p:nvPr>
        </p:nvGraphicFramePr>
        <p:xfrm>
          <a:off x="838200" y="1690688"/>
          <a:ext cx="10515600" cy="4419828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5354164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48150358"/>
                    </a:ext>
                  </a:extLst>
                </a:gridCol>
              </a:tblGrid>
              <a:tr h="631404">
                <a:tc>
                  <a:txBody>
                    <a:bodyPr/>
                    <a:lstStyle/>
                    <a:p>
                      <a:r>
                        <a:rPr lang="en-IN" b="1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5838782"/>
                  </a:ext>
                </a:extLst>
              </a:tr>
              <a:tr h="631404">
                <a:tc>
                  <a:txBody>
                    <a:bodyPr/>
                    <a:lstStyle/>
                    <a:p>
                      <a:r>
                        <a:rPr lang="en-IN"/>
                        <a:t>add()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Add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2099609"/>
                  </a:ext>
                </a:extLst>
              </a:tr>
              <a:tr h="631404">
                <a:tc>
                  <a:txBody>
                    <a:bodyPr/>
                    <a:lstStyle/>
                    <a:p>
                      <a:r>
                        <a:rPr lang="en-IN" dirty="0"/>
                        <a:t>get()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Get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931798"/>
                  </a:ext>
                </a:extLst>
              </a:tr>
              <a:tr h="631404">
                <a:tc>
                  <a:txBody>
                    <a:bodyPr/>
                    <a:lstStyle/>
                    <a:p>
                      <a:r>
                        <a:rPr lang="en-IN"/>
                        <a:t>set()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Update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545460"/>
                  </a:ext>
                </a:extLst>
              </a:tr>
              <a:tr h="631404">
                <a:tc>
                  <a:txBody>
                    <a:bodyPr/>
                    <a:lstStyle/>
                    <a:p>
                      <a:r>
                        <a:rPr lang="en-IN"/>
                        <a:t>remove()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Delete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875547"/>
                  </a:ext>
                </a:extLst>
              </a:tr>
              <a:tr h="631404">
                <a:tc>
                  <a:txBody>
                    <a:bodyPr/>
                    <a:lstStyle/>
                    <a:p>
                      <a:r>
                        <a:rPr lang="en-IN"/>
                        <a:t>size()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Number of elements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764074"/>
                  </a:ext>
                </a:extLst>
              </a:tr>
              <a:tr h="631404">
                <a:tc>
                  <a:txBody>
                    <a:bodyPr/>
                    <a:lstStyle/>
                    <a:p>
                      <a:r>
                        <a:rPr lang="en-IN"/>
                        <a:t>contains()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Check element exists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3686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942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CA3578-4B8E-4F84-8C13-CF96018A9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Simple Example 1: Integer ArrayList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4611C-6503-41EA-835E-424DD868A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0"/>
            <a:ext cx="6555347" cy="6847862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IN" sz="1400" dirty="0"/>
              <a:t>import </a:t>
            </a:r>
            <a:r>
              <a:rPr lang="en-IN" sz="1400" dirty="0" err="1"/>
              <a:t>java.util.ArrayList</a:t>
            </a:r>
            <a:r>
              <a:rPr lang="en-IN" sz="1400" dirty="0"/>
              <a:t>;</a:t>
            </a:r>
          </a:p>
          <a:p>
            <a:pPr marL="0" indent="0">
              <a:buNone/>
            </a:pPr>
            <a:r>
              <a:rPr lang="en-IN" sz="1600" dirty="0"/>
              <a:t>public class </a:t>
            </a:r>
            <a:r>
              <a:rPr lang="en-IN" sz="1600" dirty="0" err="1"/>
              <a:t>ArrayListDemo</a:t>
            </a:r>
            <a:r>
              <a:rPr lang="en-IN" sz="1600" dirty="0"/>
              <a:t> {</a:t>
            </a:r>
          </a:p>
          <a:p>
            <a:pPr marL="0" indent="0">
              <a:buNone/>
            </a:pPr>
            <a:r>
              <a:rPr lang="en-IN" sz="1600" dirty="0"/>
              <a:t>    public static void main(String[] </a:t>
            </a:r>
            <a:r>
              <a:rPr lang="en-IN" sz="1600" dirty="0" err="1"/>
              <a:t>args</a:t>
            </a:r>
            <a:r>
              <a:rPr lang="en-IN" sz="1600" dirty="0"/>
              <a:t>) {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ArrayList</a:t>
            </a:r>
            <a:r>
              <a:rPr lang="en-IN" sz="1600" dirty="0"/>
              <a:t>&lt;Integer&gt; numbers = new </a:t>
            </a:r>
            <a:r>
              <a:rPr lang="en-IN" sz="1600" dirty="0" err="1"/>
              <a:t>ArrayList</a:t>
            </a:r>
            <a:r>
              <a:rPr lang="en-IN" sz="1600" dirty="0"/>
              <a:t>&lt;&gt;();</a:t>
            </a:r>
          </a:p>
          <a:p>
            <a:pPr marL="0" indent="0">
              <a:buNone/>
            </a:pPr>
            <a:r>
              <a:rPr lang="en-IN" sz="1600" dirty="0"/>
              <a:t>        // Add elements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numbers.add</a:t>
            </a:r>
            <a:r>
              <a:rPr lang="en-IN" sz="1600" dirty="0"/>
              <a:t>(10);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numbers.add</a:t>
            </a:r>
            <a:r>
              <a:rPr lang="en-IN" sz="1600" dirty="0"/>
              <a:t>(20);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numbers.add</a:t>
            </a:r>
            <a:r>
              <a:rPr lang="en-IN" sz="1600" dirty="0"/>
              <a:t>(30);</a:t>
            </a:r>
          </a:p>
          <a:p>
            <a:pPr marL="0" indent="0">
              <a:buNone/>
            </a:pPr>
            <a:r>
              <a:rPr lang="en-IN" sz="1600" dirty="0"/>
              <a:t>        // Display elements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System.out.println</a:t>
            </a:r>
            <a:r>
              <a:rPr lang="en-IN" sz="1600" dirty="0"/>
              <a:t>("Elements: " + numbers);</a:t>
            </a:r>
          </a:p>
          <a:p>
            <a:pPr marL="0" indent="0">
              <a:buNone/>
            </a:pPr>
            <a:r>
              <a:rPr lang="en-IN" sz="1600" dirty="0"/>
              <a:t>        // Get element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System.out.println</a:t>
            </a:r>
            <a:r>
              <a:rPr lang="en-IN" sz="1600" dirty="0"/>
              <a:t>("First element: " + </a:t>
            </a:r>
            <a:r>
              <a:rPr lang="en-IN" sz="1600" dirty="0" err="1"/>
              <a:t>numbers.get</a:t>
            </a:r>
            <a:r>
              <a:rPr lang="en-IN" sz="1600" dirty="0"/>
              <a:t>(0));</a:t>
            </a:r>
          </a:p>
          <a:p>
            <a:pPr marL="0" indent="0">
              <a:buNone/>
            </a:pPr>
            <a:r>
              <a:rPr lang="en-IN" sz="1600" dirty="0"/>
              <a:t>        // Update element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numbers.set</a:t>
            </a:r>
            <a:r>
              <a:rPr lang="en-IN" sz="1600" dirty="0"/>
              <a:t>(1, 200);</a:t>
            </a:r>
          </a:p>
          <a:p>
            <a:pPr marL="0" indent="0">
              <a:buNone/>
            </a:pPr>
            <a:r>
              <a:rPr lang="en-IN" sz="1600" dirty="0"/>
              <a:t>        // Remove element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numbers.remove</a:t>
            </a:r>
            <a:r>
              <a:rPr lang="en-IN" sz="1600" dirty="0"/>
              <a:t>(2);</a:t>
            </a:r>
          </a:p>
          <a:p>
            <a:pPr marL="0" indent="0">
              <a:buNone/>
            </a:pPr>
            <a:r>
              <a:rPr lang="en-IN" sz="1600" dirty="0"/>
              <a:t>        // Size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System.out.println</a:t>
            </a:r>
            <a:r>
              <a:rPr lang="en-IN" sz="1600" dirty="0"/>
              <a:t>("Size: " + </a:t>
            </a:r>
            <a:r>
              <a:rPr lang="en-IN" sz="1600" dirty="0" err="1"/>
              <a:t>numbers.size</a:t>
            </a:r>
            <a:r>
              <a:rPr lang="en-IN" sz="1600" dirty="0"/>
              <a:t>());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System.out.println</a:t>
            </a:r>
            <a:r>
              <a:rPr lang="en-IN" sz="1600" dirty="0"/>
              <a:t>("Final List: " + numbers);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142080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686BF9C-8EE3-4E9F-85C2-1D989468ED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6725" y="587375"/>
            <a:ext cx="3201988" cy="33877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Simple Example 2: String ArrayList</a:t>
            </a:r>
          </a:p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ECB47-FA2D-4D5E-B3C0-14A231AE3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IN" sz="2000" dirty="0"/>
              <a:t>import </a:t>
            </a:r>
            <a:r>
              <a:rPr lang="en-IN" sz="2000" dirty="0" err="1"/>
              <a:t>java.util.ArrayList</a:t>
            </a:r>
            <a:r>
              <a:rPr lang="en-IN" sz="2000" dirty="0"/>
              <a:t>;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public class </a:t>
            </a:r>
            <a:r>
              <a:rPr lang="en-IN" sz="2000" dirty="0" err="1"/>
              <a:t>NameList</a:t>
            </a:r>
            <a:r>
              <a:rPr lang="en-IN" sz="2000" dirty="0"/>
              <a:t> {</a:t>
            </a:r>
          </a:p>
          <a:p>
            <a:pPr marL="0" indent="0">
              <a:buNone/>
            </a:pPr>
            <a:r>
              <a:rPr lang="en-IN" sz="2000" dirty="0"/>
              <a:t>    public static void main(String[] </a:t>
            </a:r>
            <a:r>
              <a:rPr lang="en-IN" sz="2000" dirty="0" err="1"/>
              <a:t>args</a:t>
            </a:r>
            <a:r>
              <a:rPr lang="en-IN" sz="2000" dirty="0"/>
              <a:t>) {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ArrayList</a:t>
            </a:r>
            <a:r>
              <a:rPr lang="en-IN" sz="2000" dirty="0"/>
              <a:t>&lt;String&gt; names = new </a:t>
            </a:r>
            <a:r>
              <a:rPr lang="en-IN" sz="2000" dirty="0" err="1"/>
              <a:t>ArrayList</a:t>
            </a:r>
            <a:r>
              <a:rPr lang="en-IN" sz="2000" dirty="0"/>
              <a:t>&lt;&gt;();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names.add</a:t>
            </a:r>
            <a:r>
              <a:rPr lang="en-IN" sz="2000" dirty="0"/>
              <a:t>("Kruti");</a:t>
            </a: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names.add</a:t>
            </a:r>
            <a:r>
              <a:rPr lang="en-IN" sz="2000" dirty="0"/>
              <a:t>("Riya");</a:t>
            </a: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names.add</a:t>
            </a:r>
            <a:r>
              <a:rPr lang="en-IN" sz="2000" dirty="0"/>
              <a:t>("Asha");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        for(String n : names) {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System.out.println</a:t>
            </a:r>
            <a:r>
              <a:rPr lang="en-IN" sz="2000" dirty="0"/>
              <a:t>(n);</a:t>
            </a:r>
          </a:p>
          <a:p>
            <a:pPr marL="0" indent="0">
              <a:buNone/>
            </a:pPr>
            <a:r>
              <a:rPr lang="en-IN" sz="2000" dirty="0"/>
              <a:t>        }</a:t>
            </a:r>
          </a:p>
          <a:p>
            <a:pPr marL="0" indent="0">
              <a:buNone/>
            </a:pPr>
            <a:r>
              <a:rPr lang="en-IN" sz="2000" dirty="0"/>
              <a:t>    }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76247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87DF8-6186-4DB4-A839-8A2FC7408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</a:t>
            </a:r>
            <a:r>
              <a:rPr lang="en-IN" b="1" dirty="0" err="1"/>
              <a:t>ArrayList</a:t>
            </a:r>
            <a:r>
              <a:rPr lang="en-IN" b="1" dirty="0"/>
              <a:t> Internally?</a:t>
            </a:r>
          </a:p>
        </p:txBody>
      </p:sp>
      <p:sp>
        <p:nvSpPr>
          <p:cNvPr id="63" name="Content Placeholder 62">
            <a:extLst>
              <a:ext uri="{FF2B5EF4-FFF2-40B4-BE49-F238E27FC236}">
                <a16:creationId xmlns:a16="http://schemas.microsoft.com/office/drawing/2014/main" id="{7B19F263-B00B-4BED-B959-91440B77A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we call it "dynamic array", internally:</a:t>
            </a:r>
          </a:p>
          <a:p>
            <a:r>
              <a:rPr lang="en-US" dirty="0"/>
              <a:t>👉 </a:t>
            </a:r>
            <a:r>
              <a:rPr lang="en-US" b="1" dirty="0" err="1"/>
              <a:t>ArrayList</a:t>
            </a:r>
            <a:r>
              <a:rPr lang="en-US" b="1" dirty="0"/>
              <a:t> uses a normal array internally</a:t>
            </a:r>
            <a:endParaRPr lang="en-US" dirty="0"/>
          </a:p>
          <a:p>
            <a:r>
              <a:rPr lang="en-IN" dirty="0"/>
              <a:t>Inside </a:t>
            </a:r>
            <a:r>
              <a:rPr lang="en-IN" dirty="0" err="1"/>
              <a:t>ArrayList</a:t>
            </a:r>
            <a:r>
              <a:rPr lang="en-IN" dirty="0"/>
              <a:t> class:</a:t>
            </a:r>
          </a:p>
          <a:p>
            <a:r>
              <a:rPr lang="en-IN" dirty="0"/>
              <a:t>transient Object[] </a:t>
            </a:r>
            <a:r>
              <a:rPr lang="en-IN" dirty="0" err="1"/>
              <a:t>elementData</a:t>
            </a:r>
            <a:r>
              <a:rPr lang="en-IN" dirty="0"/>
              <a:t>;</a:t>
            </a:r>
          </a:p>
          <a:p>
            <a:r>
              <a:rPr lang="en-US" dirty="0"/>
              <a:t>This is the actual array that stores elements.</a:t>
            </a:r>
          </a:p>
          <a:p>
            <a:r>
              <a:rPr lang="en-US" dirty="0" err="1"/>
              <a:t>So:ArrayList</a:t>
            </a:r>
            <a:r>
              <a:rPr lang="en-US" dirty="0"/>
              <a:t> = Wrapper over normal array</a:t>
            </a:r>
          </a:p>
          <a:p>
            <a:r>
              <a:rPr lang="en-US" dirty="0"/>
              <a:t>It resizes automatically when needed.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6374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82820-10EF-4E7F-A157-76B983C2F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Example: Convert Array Program to </a:t>
            </a:r>
            <a:r>
              <a:rPr lang="en-IN" b="1" dirty="0" err="1"/>
              <a:t>ArrayList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D55BD-A460-4295-BF6C-EB1577DEC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Array Version</a:t>
            </a:r>
          </a:p>
          <a:p>
            <a:r>
              <a:rPr lang="en-IN" dirty="0"/>
              <a:t>String[] names = {"Asha", "Riya", "John"};</a:t>
            </a:r>
          </a:p>
          <a:p>
            <a:r>
              <a:rPr lang="en-IN" dirty="0" err="1"/>
              <a:t>ArrayList</a:t>
            </a:r>
            <a:r>
              <a:rPr lang="en-IN" dirty="0"/>
              <a:t> Version</a:t>
            </a:r>
          </a:p>
          <a:p>
            <a:r>
              <a:rPr lang="en-IN" dirty="0" err="1"/>
              <a:t>ArrayList</a:t>
            </a:r>
            <a:r>
              <a:rPr lang="en-IN" dirty="0"/>
              <a:t>&lt;String&gt; names = new </a:t>
            </a:r>
            <a:r>
              <a:rPr lang="en-IN" dirty="0" err="1"/>
              <a:t>ArrayList</a:t>
            </a:r>
            <a:r>
              <a:rPr lang="en-IN" dirty="0"/>
              <a:t>&lt;&gt;();</a:t>
            </a:r>
          </a:p>
          <a:p>
            <a:r>
              <a:rPr lang="en-IN" dirty="0" err="1"/>
              <a:t>names.add</a:t>
            </a:r>
            <a:r>
              <a:rPr lang="en-IN" dirty="0"/>
              <a:t>("Asha");</a:t>
            </a:r>
          </a:p>
          <a:p>
            <a:r>
              <a:rPr lang="en-IN" dirty="0" err="1"/>
              <a:t>names.add</a:t>
            </a:r>
            <a:r>
              <a:rPr lang="en-IN" dirty="0"/>
              <a:t>("Riya");</a:t>
            </a:r>
          </a:p>
          <a:p>
            <a:r>
              <a:rPr lang="en-IN" dirty="0" err="1"/>
              <a:t>names.add</a:t>
            </a:r>
            <a:r>
              <a:rPr lang="en-IN" dirty="0"/>
              <a:t>("John");</a:t>
            </a:r>
          </a:p>
        </p:txBody>
      </p:sp>
    </p:spTree>
    <p:extLst>
      <p:ext uri="{BB962C8B-B14F-4D97-AF65-F5344CB8AC3E}">
        <p14:creationId xmlns:p14="http://schemas.microsoft.com/office/powerpoint/2010/main" val="1280024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1A8E9-D18D-4550-A0EE-173A876ED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Elements Are Stored?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850EC-886A-420C-8964-B55154AB9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When we write:</a:t>
            </a:r>
          </a:p>
          <a:p>
            <a:r>
              <a:rPr lang="en-IN" dirty="0" err="1"/>
              <a:t>ArrayList</a:t>
            </a:r>
            <a:r>
              <a:rPr lang="en-IN" dirty="0"/>
              <a:t>&lt;Integer&gt; list = new </a:t>
            </a:r>
            <a:r>
              <a:rPr lang="en-IN" dirty="0" err="1"/>
              <a:t>ArrayList</a:t>
            </a:r>
            <a:r>
              <a:rPr lang="en-IN" dirty="0"/>
              <a:t>&lt;&gt;();</a:t>
            </a:r>
          </a:p>
          <a:p>
            <a:r>
              <a:rPr lang="en-IN" dirty="0" err="1"/>
              <a:t>list.add</a:t>
            </a:r>
            <a:r>
              <a:rPr lang="en-IN" dirty="0"/>
              <a:t>(10);</a:t>
            </a:r>
          </a:p>
          <a:p>
            <a:r>
              <a:rPr lang="en-US" dirty="0"/>
              <a:t>Internally:</a:t>
            </a:r>
          </a:p>
          <a:p>
            <a:r>
              <a:rPr lang="en-US" dirty="0"/>
              <a:t>An Object array is created</a:t>
            </a:r>
          </a:p>
          <a:p>
            <a:r>
              <a:rPr lang="en-US" dirty="0"/>
              <a:t>Elements are stored in </a:t>
            </a:r>
            <a:r>
              <a:rPr lang="en-US" dirty="0" err="1"/>
              <a:t>elementData</a:t>
            </a:r>
            <a:r>
              <a:rPr lang="en-US" dirty="0"/>
              <a:t>[index]</a:t>
            </a:r>
          </a:p>
          <a:p>
            <a:r>
              <a:rPr lang="en-US" dirty="0"/>
              <a:t>Example internal structure:</a:t>
            </a:r>
            <a:endParaRPr lang="en-IN" dirty="0"/>
          </a:p>
          <a:p>
            <a:r>
              <a:rPr lang="it-IT" dirty="0"/>
              <a:t>Index:     0     1     2     3</a:t>
            </a:r>
          </a:p>
          <a:p>
            <a:r>
              <a:rPr lang="it-IT" dirty="0"/>
              <a:t>Data:     10    20    30    null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5413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67BA6-FD3A-4D4B-9B0D-69679C7B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Default Capacity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4F51A-BDB9-49D7-B62C-A169E2134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When we create:</a:t>
            </a:r>
          </a:p>
          <a:p>
            <a:r>
              <a:rPr lang="en-IN" dirty="0" err="1"/>
              <a:t>ArrayList</a:t>
            </a:r>
            <a:r>
              <a:rPr lang="en-IN" dirty="0"/>
              <a:t>&lt;Integer&gt; list = new </a:t>
            </a:r>
            <a:r>
              <a:rPr lang="en-IN" dirty="0" err="1"/>
              <a:t>ArrayList</a:t>
            </a:r>
            <a:r>
              <a:rPr lang="en-IN" dirty="0"/>
              <a:t>&lt;&gt;();</a:t>
            </a:r>
          </a:p>
          <a:p>
            <a:r>
              <a:rPr lang="en-US" dirty="0"/>
              <a:t>Default capacity = </a:t>
            </a:r>
            <a:r>
              <a:rPr lang="en-US" b="1" dirty="0"/>
              <a:t>10</a:t>
            </a:r>
            <a:endParaRPr lang="en-US" dirty="0"/>
          </a:p>
          <a:p>
            <a:r>
              <a:rPr lang="en-US" dirty="0"/>
              <a:t>It creates an array of size 10 internally.</a:t>
            </a:r>
          </a:p>
          <a:p>
            <a:r>
              <a:rPr lang="en-US" dirty="0"/>
              <a:t>Even if we add only 1 element, internally capacity is 10.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5696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D74BB-5C06-45AF-AC03-ED912C41C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Happens When Capacity Is Full?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6F275-68FD-4B79-A932-3C4006B5A0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If capacity becomes full: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Current capacity = 10</a:t>
            </a:r>
          </a:p>
          <a:p>
            <a:r>
              <a:rPr lang="en-US" dirty="0"/>
              <a:t>You add 11th element</a:t>
            </a:r>
          </a:p>
          <a:p>
            <a:r>
              <a:rPr lang="en-US" dirty="0"/>
              <a:t>Then:👉 </a:t>
            </a:r>
            <a:r>
              <a:rPr lang="en-US" dirty="0" err="1"/>
              <a:t>ArrayList</a:t>
            </a:r>
            <a:r>
              <a:rPr lang="en-US" dirty="0"/>
              <a:t> creates a new bigger array</a:t>
            </a:r>
          </a:p>
          <a:p>
            <a:r>
              <a:rPr lang="en-US" dirty="0"/>
              <a:t>New capacity formula</a:t>
            </a:r>
          </a:p>
          <a:p>
            <a:r>
              <a:rPr lang="en-IN" dirty="0" err="1"/>
              <a:t>newCapacity</a:t>
            </a:r>
            <a:r>
              <a:rPr lang="en-IN" dirty="0"/>
              <a:t> = </a:t>
            </a:r>
            <a:r>
              <a:rPr lang="en-IN" dirty="0" err="1"/>
              <a:t>oldCapacity</a:t>
            </a:r>
            <a:r>
              <a:rPr lang="en-IN" dirty="0"/>
              <a:t> + (</a:t>
            </a:r>
            <a:r>
              <a:rPr lang="en-IN" dirty="0" err="1"/>
              <a:t>oldCapacity</a:t>
            </a:r>
            <a:r>
              <a:rPr lang="en-IN" dirty="0"/>
              <a:t> / 2)</a:t>
            </a:r>
          </a:p>
          <a:p>
            <a:r>
              <a:rPr lang="en-IN" dirty="0"/>
              <a:t>10 → 15</a:t>
            </a:r>
          </a:p>
          <a:p>
            <a:r>
              <a:rPr lang="en-IN" dirty="0"/>
              <a:t>15 → 22</a:t>
            </a:r>
          </a:p>
          <a:p>
            <a:r>
              <a:rPr lang="en-IN" dirty="0"/>
              <a:t>22 → 33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06066-D259-4434-8CF3-5A7E488A90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When array becomes full:</a:t>
            </a:r>
          </a:p>
          <a:p>
            <a:r>
              <a:rPr lang="en-US" dirty="0"/>
              <a:t>Create new bigger array</a:t>
            </a:r>
          </a:p>
          <a:p>
            <a:r>
              <a:rPr lang="en-US" dirty="0"/>
              <a:t>Copy old elements to new array</a:t>
            </a:r>
          </a:p>
          <a:p>
            <a:r>
              <a:rPr lang="en-US" dirty="0"/>
              <a:t>Add new element</a:t>
            </a:r>
          </a:p>
          <a:p>
            <a:r>
              <a:rPr lang="en-US" dirty="0"/>
              <a:t>Old array becomes garbage</a:t>
            </a:r>
          </a:p>
          <a:p>
            <a:r>
              <a:rPr lang="en-US" dirty="0"/>
              <a:t>This is why resizing is costly operation.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91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79F8E-31BE-456A-A25A-A3D9062D7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Time Complexity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E82EAC6-7076-47C7-B630-FC7C02BD584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48443433"/>
              </p:ext>
            </p:extLst>
          </p:nvPr>
        </p:nvGraphicFramePr>
        <p:xfrm>
          <a:off x="838200" y="1825625"/>
          <a:ext cx="5181600" cy="4405310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1448041388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4291600635"/>
                    </a:ext>
                  </a:extLst>
                </a:gridCol>
              </a:tblGrid>
              <a:tr h="629330">
                <a:tc>
                  <a:txBody>
                    <a:bodyPr/>
                    <a:lstStyle/>
                    <a:p>
                      <a:r>
                        <a:rPr lang="en-IN" b="1" dirty="0"/>
                        <a:t>Operation</a:t>
                      </a:r>
                    </a:p>
                  </a:txBody>
                  <a:tcPr marL="45057" marR="45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Time Complexity</a:t>
                      </a:r>
                    </a:p>
                  </a:txBody>
                  <a:tcPr marL="45057" marR="45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677219"/>
                  </a:ext>
                </a:extLst>
              </a:tr>
              <a:tr h="629330">
                <a:tc>
                  <a:txBody>
                    <a:bodyPr/>
                    <a:lstStyle/>
                    <a:p>
                      <a:r>
                        <a:rPr lang="en-IN"/>
                        <a:t>add() (normal)</a:t>
                      </a:r>
                    </a:p>
                  </a:txBody>
                  <a:tcPr marL="45057" marR="45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O(1)</a:t>
                      </a:r>
                    </a:p>
                  </a:txBody>
                  <a:tcPr marL="45057" marR="45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36259"/>
                  </a:ext>
                </a:extLst>
              </a:tr>
              <a:tr h="629330">
                <a:tc>
                  <a:txBody>
                    <a:bodyPr/>
                    <a:lstStyle/>
                    <a:p>
                      <a:r>
                        <a:rPr lang="en-IN"/>
                        <a:t>add() (resize case)</a:t>
                      </a:r>
                    </a:p>
                  </a:txBody>
                  <a:tcPr marL="45057" marR="45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O(n)</a:t>
                      </a:r>
                    </a:p>
                  </a:txBody>
                  <a:tcPr marL="45057" marR="45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296764"/>
                  </a:ext>
                </a:extLst>
              </a:tr>
              <a:tr h="629330">
                <a:tc>
                  <a:txBody>
                    <a:bodyPr/>
                    <a:lstStyle/>
                    <a:p>
                      <a:r>
                        <a:rPr lang="en-IN"/>
                        <a:t>get()</a:t>
                      </a:r>
                    </a:p>
                  </a:txBody>
                  <a:tcPr marL="45057" marR="45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O(1)</a:t>
                      </a:r>
                    </a:p>
                  </a:txBody>
                  <a:tcPr marL="45057" marR="45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092396"/>
                  </a:ext>
                </a:extLst>
              </a:tr>
              <a:tr h="629330">
                <a:tc>
                  <a:txBody>
                    <a:bodyPr/>
                    <a:lstStyle/>
                    <a:p>
                      <a:r>
                        <a:rPr lang="en-IN"/>
                        <a:t>set()</a:t>
                      </a:r>
                    </a:p>
                  </a:txBody>
                  <a:tcPr marL="45057" marR="45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O(1)</a:t>
                      </a:r>
                    </a:p>
                  </a:txBody>
                  <a:tcPr marL="45057" marR="45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220157"/>
                  </a:ext>
                </a:extLst>
              </a:tr>
              <a:tr h="629330">
                <a:tc>
                  <a:txBody>
                    <a:bodyPr/>
                    <a:lstStyle/>
                    <a:p>
                      <a:r>
                        <a:rPr lang="en-IN"/>
                        <a:t>remove()</a:t>
                      </a:r>
                    </a:p>
                  </a:txBody>
                  <a:tcPr marL="45057" marR="45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O(n)</a:t>
                      </a:r>
                    </a:p>
                  </a:txBody>
                  <a:tcPr marL="45057" marR="45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5251621"/>
                  </a:ext>
                </a:extLst>
              </a:tr>
              <a:tr h="629330">
                <a:tc>
                  <a:txBody>
                    <a:bodyPr/>
                    <a:lstStyle/>
                    <a:p>
                      <a:r>
                        <a:rPr lang="en-IN"/>
                        <a:t>search</a:t>
                      </a:r>
                    </a:p>
                  </a:txBody>
                  <a:tcPr marL="45057" marR="45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O(n)</a:t>
                      </a:r>
                    </a:p>
                  </a:txBody>
                  <a:tcPr marL="45057" marR="45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1053431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F6BDA1-88C1-4E3C-9AF6-8B58B8562E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Why remove is O(n)?</a:t>
            </a:r>
          </a:p>
          <a:p>
            <a:r>
              <a:rPr lang="en-US" dirty="0"/>
              <a:t>Because after removing element:</a:t>
            </a:r>
          </a:p>
          <a:p>
            <a:r>
              <a:rPr lang="en-US" dirty="0"/>
              <a:t>All elements shift left.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2502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3A2F8-F8D1-4E17-BBAB-7BC84552A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Vector?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C3B21-77CE-480D-A552-CA3AAE819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Vector is a dynamic array in Java.</a:t>
            </a:r>
          </a:p>
          <a:p>
            <a:r>
              <a:rPr lang="en-US" dirty="0"/>
              <a:t>It is part of the </a:t>
            </a:r>
            <a:r>
              <a:rPr lang="en-US" dirty="0" err="1"/>
              <a:t>java.util</a:t>
            </a:r>
            <a:r>
              <a:rPr lang="en-US" dirty="0"/>
              <a:t> package and is similar to </a:t>
            </a:r>
            <a:r>
              <a:rPr lang="en-US" dirty="0" err="1"/>
              <a:t>ArrayList</a:t>
            </a:r>
            <a:r>
              <a:rPr lang="en-US" dirty="0"/>
              <a:t>, </a:t>
            </a:r>
          </a:p>
          <a:p>
            <a:r>
              <a:rPr lang="en-US" dirty="0"/>
              <a:t>but:</a:t>
            </a:r>
          </a:p>
          <a:p>
            <a:r>
              <a:rPr lang="en-US" dirty="0"/>
              <a:t>👉 Vector is synchronized (thread-safe)</a:t>
            </a:r>
          </a:p>
          <a:p>
            <a:r>
              <a:rPr lang="en-US" dirty="0"/>
              <a:t>👉 It is a legacy class (introduced in Java 1.0)</a:t>
            </a:r>
          </a:p>
          <a:p>
            <a:endParaRPr lang="en-US" dirty="0"/>
          </a:p>
          <a:p>
            <a:r>
              <a:rPr lang="en-US" dirty="0"/>
              <a:t>Definition : Vector is a growable array that allows dynamic resizing and is synchronized for thread safety.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973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F11E-DE32-4F7C-8598-453B201DF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Syntax of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0F8D3-EE1C-4319-9830-A8026495E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</a:t>
            </a:r>
            <a:r>
              <a:rPr lang="en-IN" dirty="0" err="1"/>
              <a:t>java.util.Vector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Vector&lt;</a:t>
            </a:r>
            <a:r>
              <a:rPr lang="en-IN" dirty="0" err="1"/>
              <a:t>DataType</a:t>
            </a:r>
            <a:r>
              <a:rPr lang="en-IN" dirty="0"/>
              <a:t>&gt; </a:t>
            </a:r>
            <a:r>
              <a:rPr lang="en-IN" dirty="0" err="1"/>
              <a:t>vectorName</a:t>
            </a:r>
            <a:r>
              <a:rPr lang="en-IN" dirty="0"/>
              <a:t> = new Vector&lt;&gt;();</a:t>
            </a:r>
          </a:p>
          <a:p>
            <a:r>
              <a:rPr lang="en-IN" dirty="0" err="1"/>
              <a:t>Exmaple</a:t>
            </a:r>
            <a:r>
              <a:rPr lang="en-IN" dirty="0"/>
              <a:t>:</a:t>
            </a:r>
          </a:p>
          <a:p>
            <a:r>
              <a:rPr lang="en-US" dirty="0"/>
              <a:t>Vector&lt;Integer&gt; numbers = new Vector&lt;&gt;();</a:t>
            </a:r>
          </a:p>
          <a:p>
            <a:r>
              <a:rPr lang="en-US" dirty="0"/>
              <a:t>Vector&lt;String&gt; names = new Vector&lt;&gt;();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985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393E2-F15B-4716-B761-7B11DBE3E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Use Vector?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A917D-778E-4465-8982-A028C0A66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multiple threads access data</a:t>
            </a:r>
          </a:p>
          <a:p>
            <a:r>
              <a:rPr lang="en-US" dirty="0"/>
              <a:t>When thread safety is required</a:t>
            </a:r>
          </a:p>
          <a:p>
            <a:r>
              <a:rPr lang="en-US" dirty="0"/>
              <a:t>In legacy systems</a:t>
            </a:r>
          </a:p>
          <a:p>
            <a:r>
              <a:rPr lang="en-US" dirty="0"/>
              <a:t>In modern applications:👉 </a:t>
            </a:r>
            <a:r>
              <a:rPr lang="en-US" dirty="0" err="1"/>
              <a:t>ArrayList</a:t>
            </a:r>
            <a:r>
              <a:rPr lang="en-US" dirty="0"/>
              <a:t> is preferred (faster)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822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997CB-A90A-4521-8FD8-FF02B6F8E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Methods of Vector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16F682-467C-48D6-AC6C-01AAE61E0C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3608377"/>
              </p:ext>
            </p:extLst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70405024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21933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1676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add()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Add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411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addElement()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Add element (old style)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6293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get()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Get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410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Update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15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remove()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Remove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711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size()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Number of elements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0874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capacity()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Current capacity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24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2678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86EA5F-2ED9-4CB4-BCCF-82E49F161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Simple Example: Vector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DA2F7-AE2B-420A-A4F3-85248F3E4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0141"/>
            <a:ext cx="5269605" cy="6847855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IN" sz="900" dirty="0"/>
              <a:t>import </a:t>
            </a:r>
            <a:r>
              <a:rPr lang="en-IN" sz="900" dirty="0" err="1"/>
              <a:t>java.util.Vector</a:t>
            </a:r>
            <a:r>
              <a:rPr lang="en-IN" sz="900" dirty="0"/>
              <a:t>;</a:t>
            </a:r>
          </a:p>
          <a:p>
            <a:pPr marL="0" indent="0">
              <a:buNone/>
            </a:pPr>
            <a:endParaRPr lang="en-IN" sz="900" dirty="0"/>
          </a:p>
          <a:p>
            <a:pPr marL="0" indent="0">
              <a:buNone/>
            </a:pPr>
            <a:r>
              <a:rPr lang="en-IN" sz="900" dirty="0"/>
              <a:t>public class </a:t>
            </a:r>
            <a:r>
              <a:rPr lang="en-IN" sz="900" dirty="0" err="1"/>
              <a:t>VectorDemo</a:t>
            </a:r>
            <a:r>
              <a:rPr lang="en-IN" sz="900" dirty="0"/>
              <a:t> {</a:t>
            </a:r>
          </a:p>
          <a:p>
            <a:pPr marL="0" indent="0">
              <a:buNone/>
            </a:pPr>
            <a:r>
              <a:rPr lang="en-IN" sz="900" dirty="0"/>
              <a:t>    public static void main(String[] </a:t>
            </a:r>
            <a:r>
              <a:rPr lang="en-IN" sz="900" dirty="0" err="1"/>
              <a:t>args</a:t>
            </a:r>
            <a:r>
              <a:rPr lang="en-IN" sz="900" dirty="0"/>
              <a:t>) {</a:t>
            </a:r>
          </a:p>
          <a:p>
            <a:pPr marL="0" indent="0">
              <a:buNone/>
            </a:pPr>
            <a:endParaRPr lang="en-IN" sz="900" dirty="0"/>
          </a:p>
          <a:p>
            <a:pPr marL="0" indent="0">
              <a:buNone/>
            </a:pPr>
            <a:r>
              <a:rPr lang="en-IN" sz="900" dirty="0"/>
              <a:t>        Vector&lt;String&gt; names = new Vector&lt;&gt;();</a:t>
            </a:r>
          </a:p>
          <a:p>
            <a:pPr marL="0" indent="0">
              <a:buNone/>
            </a:pPr>
            <a:endParaRPr lang="en-IN" sz="900" dirty="0"/>
          </a:p>
          <a:p>
            <a:pPr marL="0" indent="0">
              <a:buNone/>
            </a:pPr>
            <a:r>
              <a:rPr lang="en-IN" sz="900" dirty="0"/>
              <a:t>        // Add elements</a:t>
            </a:r>
          </a:p>
          <a:p>
            <a:pPr marL="0" indent="0">
              <a:buNone/>
            </a:pPr>
            <a:r>
              <a:rPr lang="en-IN" sz="900" dirty="0"/>
              <a:t>        </a:t>
            </a:r>
            <a:r>
              <a:rPr lang="en-IN" sz="900" dirty="0" err="1"/>
              <a:t>names.add</a:t>
            </a:r>
            <a:r>
              <a:rPr lang="en-IN" sz="900" dirty="0"/>
              <a:t>("Kruti");</a:t>
            </a:r>
          </a:p>
          <a:p>
            <a:pPr marL="0" indent="0">
              <a:buNone/>
            </a:pPr>
            <a:r>
              <a:rPr lang="en-IN" sz="900" dirty="0"/>
              <a:t>        </a:t>
            </a:r>
            <a:r>
              <a:rPr lang="en-IN" sz="900" dirty="0" err="1"/>
              <a:t>names.add</a:t>
            </a:r>
            <a:r>
              <a:rPr lang="en-IN" sz="900" dirty="0"/>
              <a:t>("Riya");</a:t>
            </a:r>
          </a:p>
          <a:p>
            <a:pPr marL="0" indent="0">
              <a:buNone/>
            </a:pPr>
            <a:r>
              <a:rPr lang="en-IN" sz="900" dirty="0"/>
              <a:t>        </a:t>
            </a:r>
            <a:r>
              <a:rPr lang="en-IN" sz="900" dirty="0" err="1"/>
              <a:t>names.add</a:t>
            </a:r>
            <a:r>
              <a:rPr lang="en-IN" sz="900" dirty="0"/>
              <a:t>("Asha");</a:t>
            </a:r>
          </a:p>
          <a:p>
            <a:pPr marL="0" indent="0">
              <a:buNone/>
            </a:pPr>
            <a:endParaRPr lang="en-IN" sz="900" dirty="0"/>
          </a:p>
          <a:p>
            <a:pPr marL="0" indent="0">
              <a:buNone/>
            </a:pPr>
            <a:r>
              <a:rPr lang="en-IN" sz="900" dirty="0"/>
              <a:t>        // Display elements</a:t>
            </a:r>
          </a:p>
          <a:p>
            <a:pPr marL="0" indent="0">
              <a:buNone/>
            </a:pPr>
            <a:r>
              <a:rPr lang="en-IN" sz="900" dirty="0"/>
              <a:t>        </a:t>
            </a:r>
            <a:r>
              <a:rPr lang="en-IN" sz="900" dirty="0" err="1"/>
              <a:t>System.out.println</a:t>
            </a:r>
            <a:r>
              <a:rPr lang="en-IN" sz="900" dirty="0"/>
              <a:t>("Vector Elements: " + names);</a:t>
            </a:r>
          </a:p>
          <a:p>
            <a:pPr marL="0" indent="0">
              <a:buNone/>
            </a:pPr>
            <a:endParaRPr lang="en-IN" sz="900" dirty="0"/>
          </a:p>
          <a:p>
            <a:pPr marL="0" indent="0">
              <a:buNone/>
            </a:pPr>
            <a:r>
              <a:rPr lang="en-IN" sz="900" dirty="0"/>
              <a:t>        // Get element</a:t>
            </a:r>
          </a:p>
          <a:p>
            <a:pPr marL="0" indent="0">
              <a:buNone/>
            </a:pPr>
            <a:r>
              <a:rPr lang="en-IN" sz="900" dirty="0"/>
              <a:t>        </a:t>
            </a:r>
            <a:r>
              <a:rPr lang="en-IN" sz="900" dirty="0" err="1"/>
              <a:t>System.out.println</a:t>
            </a:r>
            <a:r>
              <a:rPr lang="en-IN" sz="900" dirty="0"/>
              <a:t>("First element: " + </a:t>
            </a:r>
            <a:r>
              <a:rPr lang="en-IN" sz="900" dirty="0" err="1"/>
              <a:t>names.get</a:t>
            </a:r>
            <a:r>
              <a:rPr lang="en-IN" sz="900" dirty="0"/>
              <a:t>(0));</a:t>
            </a:r>
          </a:p>
          <a:p>
            <a:pPr marL="0" indent="0">
              <a:buNone/>
            </a:pPr>
            <a:endParaRPr lang="en-IN" sz="900" dirty="0"/>
          </a:p>
          <a:p>
            <a:pPr marL="0" indent="0">
              <a:buNone/>
            </a:pPr>
            <a:r>
              <a:rPr lang="en-IN" sz="900" dirty="0"/>
              <a:t>        // Remove element</a:t>
            </a:r>
          </a:p>
          <a:p>
            <a:pPr marL="0" indent="0">
              <a:buNone/>
            </a:pPr>
            <a:r>
              <a:rPr lang="en-IN" sz="900" dirty="0"/>
              <a:t>        </a:t>
            </a:r>
            <a:r>
              <a:rPr lang="en-IN" sz="900" dirty="0" err="1"/>
              <a:t>names.remove</a:t>
            </a:r>
            <a:r>
              <a:rPr lang="en-IN" sz="900" dirty="0"/>
              <a:t>(1);</a:t>
            </a:r>
          </a:p>
          <a:p>
            <a:pPr marL="0" indent="0">
              <a:buNone/>
            </a:pPr>
            <a:endParaRPr lang="en-IN" sz="900" dirty="0"/>
          </a:p>
          <a:p>
            <a:pPr marL="0" indent="0">
              <a:buNone/>
            </a:pPr>
            <a:r>
              <a:rPr lang="en-IN" sz="900" dirty="0"/>
              <a:t>        </a:t>
            </a:r>
            <a:r>
              <a:rPr lang="en-IN" sz="900" dirty="0" err="1"/>
              <a:t>System.out.println</a:t>
            </a:r>
            <a:r>
              <a:rPr lang="en-IN" sz="900" dirty="0"/>
              <a:t>("After Removal: " + names);</a:t>
            </a:r>
          </a:p>
          <a:p>
            <a:pPr marL="0" indent="0">
              <a:buNone/>
            </a:pPr>
            <a:endParaRPr lang="en-IN" sz="900" dirty="0"/>
          </a:p>
          <a:p>
            <a:pPr marL="0" indent="0">
              <a:buNone/>
            </a:pPr>
            <a:r>
              <a:rPr lang="en-IN" sz="900" dirty="0"/>
              <a:t>        // Size</a:t>
            </a:r>
          </a:p>
          <a:p>
            <a:pPr marL="0" indent="0">
              <a:buNone/>
            </a:pPr>
            <a:r>
              <a:rPr lang="en-IN" sz="900" dirty="0"/>
              <a:t>        </a:t>
            </a:r>
            <a:r>
              <a:rPr lang="en-IN" sz="900" dirty="0" err="1"/>
              <a:t>System.out.println</a:t>
            </a:r>
            <a:r>
              <a:rPr lang="en-IN" sz="900" dirty="0"/>
              <a:t>("Size: " + </a:t>
            </a:r>
            <a:r>
              <a:rPr lang="en-IN" sz="900" dirty="0" err="1"/>
              <a:t>names.size</a:t>
            </a:r>
            <a:r>
              <a:rPr lang="en-IN" sz="900" dirty="0"/>
              <a:t>());</a:t>
            </a:r>
          </a:p>
          <a:p>
            <a:pPr marL="0" indent="0">
              <a:buNone/>
            </a:pPr>
            <a:endParaRPr lang="en-IN" sz="900" dirty="0"/>
          </a:p>
          <a:p>
            <a:pPr marL="0" indent="0">
              <a:buNone/>
            </a:pPr>
            <a:r>
              <a:rPr lang="en-IN" sz="900" dirty="0"/>
              <a:t>        // Capacity</a:t>
            </a:r>
          </a:p>
          <a:p>
            <a:pPr marL="0" indent="0">
              <a:buNone/>
            </a:pPr>
            <a:r>
              <a:rPr lang="en-IN" sz="900" dirty="0"/>
              <a:t>        </a:t>
            </a:r>
            <a:r>
              <a:rPr lang="en-IN" sz="900" dirty="0" err="1"/>
              <a:t>System.out.println</a:t>
            </a:r>
            <a:r>
              <a:rPr lang="en-IN" sz="900" dirty="0"/>
              <a:t>("Capacity: " + </a:t>
            </a:r>
            <a:r>
              <a:rPr lang="en-IN" sz="900" dirty="0" err="1"/>
              <a:t>names.capacity</a:t>
            </a:r>
            <a:r>
              <a:rPr lang="en-IN" sz="900" dirty="0"/>
              <a:t>());</a:t>
            </a:r>
          </a:p>
          <a:p>
            <a:pPr marL="0" indent="0">
              <a:buNone/>
            </a:pPr>
            <a:r>
              <a:rPr lang="en-IN" sz="900" dirty="0"/>
              <a:t>    }</a:t>
            </a:r>
          </a:p>
          <a:p>
            <a:pPr marL="0" indent="0">
              <a:buNone/>
            </a:pPr>
            <a:r>
              <a:rPr lang="en-IN" sz="900" dirty="0"/>
              <a:t>}</a:t>
            </a:r>
          </a:p>
          <a:p>
            <a:pPr marL="0" indent="0">
              <a:buNone/>
            </a:pP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1050428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E166-36B0-4353-9332-277E450C6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Default Capacity of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169FF-B3E7-4EA2-863D-DC1A13799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Vector&lt;Integer&gt; v = new Vector&lt;&gt;();</a:t>
            </a:r>
          </a:p>
          <a:p>
            <a:r>
              <a:rPr lang="en-IN" dirty="0"/>
              <a:t>Default capacity = </a:t>
            </a:r>
            <a:r>
              <a:rPr lang="en-IN" b="1" dirty="0"/>
              <a:t>10</a:t>
            </a:r>
          </a:p>
          <a:p>
            <a:r>
              <a:rPr lang="en-IN" dirty="0"/>
              <a:t>How Vector Grows?</a:t>
            </a:r>
          </a:p>
          <a:p>
            <a:r>
              <a:rPr lang="en-US" dirty="0"/>
              <a:t>When full: Vector doubles its size:</a:t>
            </a:r>
          </a:p>
          <a:p>
            <a:r>
              <a:rPr lang="en-US" dirty="0"/>
              <a:t>New Capacity = Old Capacity × 2</a:t>
            </a:r>
          </a:p>
          <a:p>
            <a:r>
              <a:rPr lang="en-US" dirty="0"/>
              <a:t>Example:10 → 20 → 40 → 80</a:t>
            </a:r>
          </a:p>
          <a:p>
            <a:r>
              <a:rPr lang="en-US" dirty="0"/>
              <a:t>This is different from </a:t>
            </a:r>
            <a:r>
              <a:rPr lang="en-US" dirty="0" err="1"/>
              <a:t>ArrayList</a:t>
            </a:r>
            <a:r>
              <a:rPr lang="en-US" dirty="0"/>
              <a:t> (which increases by 50%).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1818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0A4C1-81EB-4CC0-9C35-095D24B9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Vector vs </a:t>
            </a:r>
            <a:r>
              <a:rPr lang="en-IN" dirty="0" err="1"/>
              <a:t>ArrayList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F0926D-7545-401B-BAB7-F7B555D200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2025937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1150351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79416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62442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Vector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err="1"/>
                        <a:t>ArrayList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905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Thread Safe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072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056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Growth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Double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Increase by 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860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Introduced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Java 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Java 1.2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623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Recommended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Rarely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Mostly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4925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199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AF87C-C1F2-4FC6-AA43-06EC590A6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3A18F-884C-4F1F-B2DA-DF02DD5E7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333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1209</Words>
  <Application>Microsoft Office PowerPoint</Application>
  <PresentationFormat>Widescreen</PresentationFormat>
  <Paragraphs>245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Office Theme</vt:lpstr>
      <vt:lpstr>Introduction to ArrayList in Java</vt:lpstr>
      <vt:lpstr>What is ArrayList?</vt:lpstr>
      <vt:lpstr>Why Do We Need ArrayList?</vt:lpstr>
      <vt:lpstr>Syntax of ArrayList</vt:lpstr>
      <vt:lpstr>ArrayList Object</vt:lpstr>
      <vt:lpstr>Basic Methods of ArrayList</vt:lpstr>
      <vt:lpstr>Simple Example 1: Integer ArrayList</vt:lpstr>
      <vt:lpstr>Simple Example 2: String ArrayList </vt:lpstr>
      <vt:lpstr>What is ArrayList Internally?</vt:lpstr>
      <vt:lpstr>Example: Convert Array Program to ArrayList</vt:lpstr>
      <vt:lpstr>How Elements Are Stored?</vt:lpstr>
      <vt:lpstr>Default Capacity</vt:lpstr>
      <vt:lpstr>What Happens When Capacity Is Full?</vt:lpstr>
      <vt:lpstr>Time Complexity</vt:lpstr>
      <vt:lpstr>What is Vector?</vt:lpstr>
      <vt:lpstr>Syntax of Vector</vt:lpstr>
      <vt:lpstr>Why Use Vector?</vt:lpstr>
      <vt:lpstr>Basic Methods of Vector</vt:lpstr>
      <vt:lpstr>Simple Example: Vector Program</vt:lpstr>
      <vt:lpstr>Default Capacity of Vector</vt:lpstr>
      <vt:lpstr>Vector vs ArrayList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ArrayList in Java</dc:title>
  <dc:creator>Kruti Jani</dc:creator>
  <cp:lastModifiedBy>Kruti Jani</cp:lastModifiedBy>
  <cp:revision>4</cp:revision>
  <dcterms:created xsi:type="dcterms:W3CDTF">2026-02-11T13:42:05Z</dcterms:created>
  <dcterms:modified xsi:type="dcterms:W3CDTF">2026-02-11T13:52:32Z</dcterms:modified>
</cp:coreProperties>
</file>