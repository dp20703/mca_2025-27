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9144000" cy="5143500" type="screen16x9"/>
  <p:notesSz cx="6858000" cy="9144000"/>
  <p:embeddedFontLst>
    <p:embeddedFont>
      <p:font typeface="Nunito" pitchFamily="2" charset="0"/>
      <p:regular r:id="rId65"/>
      <p:bold r:id="rId66"/>
      <p:italic r:id="rId67"/>
      <p:boldItalic r:id="rId68"/>
    </p:embeddedFont>
    <p:embeddedFont>
      <p:font typeface="Roboto" panose="02000000000000000000" pitchFamily="2" charset="0"/>
      <p:regular r:id="rId69"/>
      <p:bold r:id="rId70"/>
      <p:italic r:id="rId71"/>
      <p:boldItalic r:id="rId72"/>
    </p:embeddedFont>
    <p:embeddedFont>
      <p:font typeface="Roboto Condensed" panose="02000000000000000000" pitchFamily="2" charset="0"/>
      <p:regular r:id="rId73"/>
      <p:bold r:id="rId74"/>
      <p:italic r:id="rId75"/>
      <p:boldItalic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1" roundtripDataSignature="AMtx7mjHCz0LDEjkgznYU39Z7a4QwpH1T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655A26-8906-463F-BED6-DC41EABA8058}">
  <a:tblStyle styleId="{B2655A26-8906-463F-BED6-DC41EABA8058}"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19" d="100"/>
          <a:sy n="119" d="100"/>
        </p:scale>
        <p:origin x="403"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4.fntdata"/><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0.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8.fntdata"/><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6.fntdata"/><Relationship Id="rId75" Type="http://schemas.openxmlformats.org/officeDocument/2006/relationships/font" Target="fonts/font11.fntdata"/><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1.fntdata"/><Relationship Id="rId73" Type="http://schemas.openxmlformats.org/officeDocument/2006/relationships/font" Target="fonts/font9.fntdata"/><Relationship Id="rId8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2.fntdata"/><Relationship Id="rId7" Type="http://schemas.openxmlformats.org/officeDocument/2006/relationships/slide" Target="slides/slide6.xml"/><Relationship Id="rId71" Type="http://schemas.openxmlformats.org/officeDocument/2006/relationships/font" Target="fonts/font7.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f449b83914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f449b8391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f449b83914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f449b83914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f449b83914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f449b83914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f449b83914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f449b83914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f449b83914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f449b8391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f449b83914_0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f449b83914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f449b83914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f449b83914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f449b83914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f449b83914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0" name="Google Shape;22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 name="Google Shape;226;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 name="Google Shape;243;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 name="Google Shape;249;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5" name="Google Shape;255;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0" name="Google Shape;260;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1" name="Google Shape;27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7" name="Google Shape;27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2" name="Google Shape;282;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4" name="Google Shape;294;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0" name="Google Shape;30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6" name="Google Shape;30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2" name="Google Shape;312;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8" name="Google Shape;318;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4" name="Google Shape;324;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9" name="Google Shape;329;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4" name="Google Shape;334;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9" name="Google Shape;339;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5" name="Google Shape;345;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1" name="Google Shape;351;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6" name="Google Shape;356;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2" name="Google Shape;362;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7" name="Google Shape;367;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3" name="Google Shape;373;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8" name="Google Shape;378;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4" name="Google Shape;384;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9" name="Google Shape;389;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4" name="Google Shape;394;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5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5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5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5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60"/>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6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6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6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6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63"/>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6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64"/>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6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6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5"/>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65"/>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65"/>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6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66"/>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67"/>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67"/>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6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6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5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5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a:spLocks noGrp="1"/>
          </p:cNvSpPr>
          <p:nvPr>
            <p:ph type="ctrTitle"/>
          </p:nvPr>
        </p:nvSpPr>
        <p:spPr>
          <a:xfrm>
            <a:off x="311700" y="251375"/>
            <a:ext cx="8520600" cy="6651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r>
              <a:rPr lang="en" sz="3000">
                <a:latin typeface="Times New Roman"/>
                <a:ea typeface="Times New Roman"/>
                <a:cs typeface="Times New Roman"/>
                <a:sym typeface="Times New Roman"/>
              </a:rPr>
              <a:t>What is Android?		</a:t>
            </a:r>
            <a:endParaRPr sz="3000">
              <a:latin typeface="Times New Roman"/>
              <a:ea typeface="Times New Roman"/>
              <a:cs typeface="Times New Roman"/>
              <a:sym typeface="Times New Roman"/>
            </a:endParaRPr>
          </a:p>
        </p:txBody>
      </p:sp>
      <p:sp>
        <p:nvSpPr>
          <p:cNvPr id="55" name="Google Shape;55;p1"/>
          <p:cNvSpPr txBox="1">
            <a:spLocks noGrp="1"/>
          </p:cNvSpPr>
          <p:nvPr>
            <p:ph type="subTitle" idx="1"/>
          </p:nvPr>
        </p:nvSpPr>
        <p:spPr>
          <a:xfrm>
            <a:off x="311700" y="1036725"/>
            <a:ext cx="8520600" cy="3837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400" b="1">
                <a:solidFill>
                  <a:schemeClr val="dk1"/>
                </a:solidFill>
                <a:latin typeface="Times New Roman"/>
                <a:ea typeface="Times New Roman"/>
                <a:cs typeface="Times New Roman"/>
                <a:sym typeface="Times New Roman"/>
              </a:rPr>
              <a:t>Android</a:t>
            </a:r>
            <a:r>
              <a:rPr lang="en" sz="1400">
                <a:solidFill>
                  <a:schemeClr val="dk1"/>
                </a:solidFill>
                <a:latin typeface="Times New Roman"/>
                <a:ea typeface="Times New Roman"/>
                <a:cs typeface="Times New Roman"/>
                <a:sym typeface="Times New Roman"/>
              </a:rPr>
              <a:t> is an </a:t>
            </a:r>
            <a:r>
              <a:rPr lang="en" sz="1400" b="1">
                <a:solidFill>
                  <a:schemeClr val="dk1"/>
                </a:solidFill>
                <a:latin typeface="Times New Roman"/>
                <a:ea typeface="Times New Roman"/>
                <a:cs typeface="Times New Roman"/>
                <a:sym typeface="Times New Roman"/>
              </a:rPr>
              <a:t>open-source</a:t>
            </a:r>
            <a:r>
              <a:rPr lang="en" sz="1400">
                <a:solidFill>
                  <a:schemeClr val="dk1"/>
                </a:solidFill>
                <a:latin typeface="Times New Roman"/>
                <a:ea typeface="Times New Roman"/>
                <a:cs typeface="Times New Roman"/>
                <a:sym typeface="Times New Roman"/>
              </a:rPr>
              <a:t>, Linux-based mobile operating system developed by </a:t>
            </a:r>
            <a:r>
              <a:rPr lang="en" sz="1400" b="1">
                <a:solidFill>
                  <a:schemeClr val="dk1"/>
                </a:solidFill>
                <a:latin typeface="Times New Roman"/>
                <a:ea typeface="Times New Roman"/>
                <a:cs typeface="Times New Roman"/>
                <a:sym typeface="Times New Roman"/>
              </a:rPr>
              <a:t>Google</a:t>
            </a:r>
            <a:r>
              <a:rPr lang="en" sz="1400">
                <a:solidFill>
                  <a:schemeClr val="dk1"/>
                </a:solidFill>
                <a:latin typeface="Times New Roman"/>
                <a:ea typeface="Times New Roman"/>
                <a:cs typeface="Times New Roman"/>
                <a:sym typeface="Times New Roman"/>
              </a:rPr>
              <a:t> for smartphones, tablets, smart TVs, smartwatches, automotive systems, and other smart devices. It provides a complete software stack that includes an operating system, middleware, application framework, and built-in applications.</a:t>
            </a:r>
            <a:endParaRPr sz="14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Android allows developers to create mobile applications using programming languages such as </a:t>
            </a:r>
            <a:r>
              <a:rPr lang="en" sz="1400" b="1">
                <a:solidFill>
                  <a:schemeClr val="dk1"/>
                </a:solidFill>
                <a:latin typeface="Times New Roman"/>
                <a:ea typeface="Times New Roman"/>
                <a:cs typeface="Times New Roman"/>
                <a:sym typeface="Times New Roman"/>
              </a:rPr>
              <a:t>Java</a:t>
            </a:r>
            <a:r>
              <a:rPr lang="en" sz="1400">
                <a:solidFill>
                  <a:schemeClr val="dk1"/>
                </a:solidFill>
                <a:latin typeface="Times New Roman"/>
                <a:ea typeface="Times New Roman"/>
                <a:cs typeface="Times New Roman"/>
                <a:sym typeface="Times New Roman"/>
              </a:rPr>
              <a:t>, </a:t>
            </a:r>
            <a:r>
              <a:rPr lang="en" sz="1400" b="1">
                <a:solidFill>
                  <a:schemeClr val="dk1"/>
                </a:solidFill>
                <a:latin typeface="Times New Roman"/>
                <a:ea typeface="Times New Roman"/>
                <a:cs typeface="Times New Roman"/>
                <a:sym typeface="Times New Roman"/>
              </a:rPr>
              <a:t>Kotlin</a:t>
            </a:r>
            <a:r>
              <a:rPr lang="en" sz="1400">
                <a:solidFill>
                  <a:schemeClr val="dk1"/>
                </a:solidFill>
                <a:latin typeface="Times New Roman"/>
                <a:ea typeface="Times New Roman"/>
                <a:cs typeface="Times New Roman"/>
                <a:sym typeface="Times New Roman"/>
              </a:rPr>
              <a:t>, and </a:t>
            </a:r>
            <a:r>
              <a:rPr lang="en" sz="1400" b="1">
                <a:solidFill>
                  <a:schemeClr val="dk1"/>
                </a:solidFill>
                <a:latin typeface="Times New Roman"/>
                <a:ea typeface="Times New Roman"/>
                <a:cs typeface="Times New Roman"/>
                <a:sym typeface="Times New Roman"/>
              </a:rPr>
              <a:t>C++ (through the Android NDK)</a:t>
            </a:r>
            <a:r>
              <a:rPr lang="en" sz="1400">
                <a:solidFill>
                  <a:schemeClr val="dk1"/>
                </a:solidFill>
                <a:latin typeface="Times New Roman"/>
                <a:ea typeface="Times New Roman"/>
                <a:cs typeface="Times New Roman"/>
                <a:sym typeface="Times New Roman"/>
              </a:rPr>
              <a:t>. In this course, we will primarily use </a:t>
            </a:r>
            <a:r>
              <a:rPr lang="en" sz="1400" b="1">
                <a:solidFill>
                  <a:schemeClr val="dk1"/>
                </a:solidFill>
                <a:latin typeface="Times New Roman"/>
                <a:ea typeface="Times New Roman"/>
                <a:cs typeface="Times New Roman"/>
                <a:sym typeface="Times New Roman"/>
              </a:rPr>
              <a:t>Java</a:t>
            </a:r>
            <a:r>
              <a:rPr lang="en" sz="1400">
                <a:solidFill>
                  <a:schemeClr val="dk1"/>
                </a:solidFill>
                <a:latin typeface="Times New Roman"/>
                <a:ea typeface="Times New Roman"/>
                <a:cs typeface="Times New Roman"/>
                <a:sym typeface="Times New Roman"/>
              </a:rPr>
              <a:t> for Android application development.</a:t>
            </a:r>
            <a:endParaRPr sz="14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The first commercial Android device, the </a:t>
            </a:r>
            <a:r>
              <a:rPr lang="en" sz="1400" b="1">
                <a:solidFill>
                  <a:schemeClr val="dk1"/>
                </a:solidFill>
                <a:latin typeface="Times New Roman"/>
                <a:ea typeface="Times New Roman"/>
                <a:cs typeface="Times New Roman"/>
                <a:sym typeface="Times New Roman"/>
              </a:rPr>
              <a:t>HTC Dream (T-Mobile G1)</a:t>
            </a:r>
            <a:r>
              <a:rPr lang="en" sz="1400">
                <a:solidFill>
                  <a:schemeClr val="dk1"/>
                </a:solidFill>
                <a:latin typeface="Times New Roman"/>
                <a:ea typeface="Times New Roman"/>
                <a:cs typeface="Times New Roman"/>
                <a:sym typeface="Times New Roman"/>
              </a:rPr>
              <a:t>, was released in September 2008. Since then, Android has become the world's most widely used mobile operating system because of its flexibility, open-source nature, and extensive application ecosystem.</a:t>
            </a:r>
            <a:endParaRPr sz="14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Android applications are primarily distributed through the </a:t>
            </a:r>
            <a:r>
              <a:rPr lang="en" sz="1400" b="1">
                <a:solidFill>
                  <a:schemeClr val="dk1"/>
                </a:solidFill>
                <a:latin typeface="Times New Roman"/>
                <a:ea typeface="Times New Roman"/>
                <a:cs typeface="Times New Roman"/>
                <a:sym typeface="Times New Roman"/>
              </a:rPr>
              <a:t>Google Play Store</a:t>
            </a:r>
            <a:r>
              <a:rPr lang="en" sz="1400">
                <a:solidFill>
                  <a:schemeClr val="dk1"/>
                </a:solidFill>
                <a:latin typeface="Times New Roman"/>
                <a:ea typeface="Times New Roman"/>
                <a:cs typeface="Times New Roman"/>
                <a:sym typeface="Times New Roman"/>
              </a:rPr>
              <a:t>, although users can also install applications from other trusted sources.</a:t>
            </a:r>
            <a:endParaRPr sz="1400">
              <a:solidFill>
                <a:schemeClr val="dk1"/>
              </a:solidFill>
              <a:latin typeface="Times New Roman"/>
              <a:ea typeface="Times New Roman"/>
              <a:cs typeface="Times New Roman"/>
              <a:sym typeface="Times New Roman"/>
            </a:endParaRPr>
          </a:p>
          <a:p>
            <a:pPr marL="0" lvl="0" indent="0" algn="l" rtl="0">
              <a:lnSpc>
                <a:spcPct val="100000"/>
              </a:lnSpc>
              <a:spcBef>
                <a:spcPts val="1200"/>
              </a:spcBef>
              <a:spcAft>
                <a:spcPts val="0"/>
              </a:spcAft>
              <a:buSzPts val="2800"/>
              <a:buNone/>
            </a:pPr>
            <a:endParaRPr sz="2100" b="1">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g3f449b83914_0_1"/>
          <p:cNvSpPr txBox="1">
            <a:spLocks noGrp="1"/>
          </p:cNvSpPr>
          <p:nvPr>
            <p:ph type="ctrTitle"/>
          </p:nvPr>
        </p:nvSpPr>
        <p:spPr>
          <a:xfrm>
            <a:off x="400175" y="369450"/>
            <a:ext cx="7002000" cy="5532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2400">
                <a:latin typeface="Times New Roman"/>
                <a:ea typeface="Times New Roman"/>
                <a:cs typeface="Times New Roman"/>
                <a:sym typeface="Times New Roman"/>
              </a:rPr>
              <a:t>Features of Android	</a:t>
            </a:r>
            <a:endParaRPr sz="2400">
              <a:latin typeface="Times New Roman"/>
              <a:ea typeface="Times New Roman"/>
              <a:cs typeface="Times New Roman"/>
              <a:sym typeface="Times New Roman"/>
            </a:endParaRPr>
          </a:p>
        </p:txBody>
      </p:sp>
      <p:sp>
        <p:nvSpPr>
          <p:cNvPr id="61" name="Google Shape;61;g3f449b83914_0_1"/>
          <p:cNvSpPr txBox="1">
            <a:spLocks noGrp="1"/>
          </p:cNvSpPr>
          <p:nvPr>
            <p:ph type="subTitle" idx="1"/>
          </p:nvPr>
        </p:nvSpPr>
        <p:spPr>
          <a:xfrm>
            <a:off x="311700" y="1099500"/>
            <a:ext cx="8520600" cy="3838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Android offers a wide range of features that make it one of the most powerful mobile operating systems available today.</a:t>
            </a:r>
            <a:endParaRPr sz="1500">
              <a:solidFill>
                <a:schemeClr val="dk1"/>
              </a:solidFill>
              <a:latin typeface="Times New Roman"/>
              <a:ea typeface="Times New Roman"/>
              <a:cs typeface="Times New Roman"/>
              <a:sym typeface="Times New Roman"/>
            </a:endParaRPr>
          </a:p>
          <a:p>
            <a:pPr marL="457200" lvl="0" indent="-323850" algn="l" rtl="0">
              <a:spcBef>
                <a:spcPts val="800"/>
              </a:spcBef>
              <a:spcAft>
                <a:spcPts val="0"/>
              </a:spcAft>
              <a:buClr>
                <a:schemeClr val="dk1"/>
              </a:buClr>
              <a:buSzPts val="1500"/>
              <a:buFont typeface="Times New Roman"/>
              <a:buAutoNum type="arabicPeriod"/>
            </a:pPr>
            <a:r>
              <a:rPr lang="en" sz="1500">
                <a:solidFill>
                  <a:schemeClr val="dk1"/>
                </a:solidFill>
                <a:latin typeface="Times New Roman"/>
                <a:ea typeface="Times New Roman"/>
                <a:cs typeface="Times New Roman"/>
                <a:sym typeface="Times New Roman"/>
              </a:rPr>
              <a:t>Open Source </a:t>
            </a: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Times New Roman"/>
              <a:buAutoNum type="arabicPeriod"/>
            </a:pPr>
            <a:r>
              <a:rPr lang="en" sz="1500">
                <a:solidFill>
                  <a:schemeClr val="dk1"/>
                </a:solidFill>
                <a:latin typeface="Times New Roman"/>
                <a:ea typeface="Times New Roman"/>
                <a:cs typeface="Times New Roman"/>
                <a:sym typeface="Times New Roman"/>
              </a:rPr>
              <a:t>Linux-based Operating System</a:t>
            </a: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Times New Roman"/>
              <a:buAutoNum type="arabicPeriod"/>
            </a:pPr>
            <a:r>
              <a:rPr lang="en" sz="1500">
                <a:solidFill>
                  <a:schemeClr val="dk1"/>
                </a:solidFill>
                <a:latin typeface="Times New Roman"/>
                <a:ea typeface="Times New Roman"/>
                <a:cs typeface="Times New Roman"/>
                <a:sym typeface="Times New Roman"/>
              </a:rPr>
              <a:t>Multitasking</a:t>
            </a: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Times New Roman"/>
              <a:buAutoNum type="arabicPeriod"/>
            </a:pPr>
            <a:r>
              <a:rPr lang="en" sz="1500">
                <a:solidFill>
                  <a:schemeClr val="dk1"/>
                </a:solidFill>
                <a:latin typeface="Times New Roman"/>
                <a:ea typeface="Times New Roman"/>
                <a:cs typeface="Times New Roman"/>
                <a:sym typeface="Times New Roman"/>
              </a:rPr>
              <a:t>Touch Based User Interface</a:t>
            </a: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Times New Roman"/>
              <a:buAutoNum type="arabicPeriod"/>
            </a:pPr>
            <a:r>
              <a:rPr lang="en" sz="1500">
                <a:solidFill>
                  <a:schemeClr val="dk1"/>
                </a:solidFill>
                <a:latin typeface="Times New Roman"/>
                <a:ea typeface="Times New Roman"/>
                <a:cs typeface="Times New Roman"/>
                <a:sym typeface="Times New Roman"/>
              </a:rPr>
              <a:t>Rich Multimedia Support</a:t>
            </a: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Times New Roman"/>
              <a:buAutoNum type="arabicPeriod"/>
            </a:pPr>
            <a:r>
              <a:rPr lang="en" sz="1500">
                <a:solidFill>
                  <a:schemeClr val="dk1"/>
                </a:solidFill>
                <a:latin typeface="Times New Roman"/>
                <a:ea typeface="Times New Roman"/>
                <a:cs typeface="Times New Roman"/>
                <a:sym typeface="Times New Roman"/>
              </a:rPr>
              <a:t>Connectivity Options</a:t>
            </a: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Times New Roman"/>
              <a:buAutoNum type="arabicPeriod"/>
            </a:pPr>
            <a:r>
              <a:rPr lang="en" sz="1500">
                <a:solidFill>
                  <a:schemeClr val="dk1"/>
                </a:solidFill>
                <a:latin typeface="Times New Roman"/>
                <a:ea typeface="Times New Roman"/>
                <a:cs typeface="Times New Roman"/>
                <a:sym typeface="Times New Roman"/>
              </a:rPr>
              <a:t>Database Support</a:t>
            </a: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Times New Roman"/>
              <a:buAutoNum type="arabicPeriod"/>
            </a:pPr>
            <a:r>
              <a:rPr lang="en" sz="1500">
                <a:solidFill>
                  <a:schemeClr val="dk1"/>
                </a:solidFill>
                <a:latin typeface="Times New Roman"/>
                <a:ea typeface="Times New Roman"/>
                <a:cs typeface="Times New Roman"/>
                <a:sym typeface="Times New Roman"/>
              </a:rPr>
              <a:t>Security</a:t>
            </a: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Times New Roman"/>
              <a:buAutoNum type="arabicPeriod"/>
            </a:pPr>
            <a:r>
              <a:rPr lang="en" sz="1500">
                <a:solidFill>
                  <a:schemeClr val="dk1"/>
                </a:solidFill>
                <a:latin typeface="Times New Roman"/>
                <a:ea typeface="Times New Roman"/>
                <a:cs typeface="Times New Roman"/>
                <a:sym typeface="Times New Roman"/>
              </a:rPr>
              <a:t>Notification System</a:t>
            </a: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Times New Roman"/>
              <a:buAutoNum type="arabicPeriod"/>
            </a:pPr>
            <a:r>
              <a:rPr lang="en" sz="1500">
                <a:solidFill>
                  <a:schemeClr val="dk1"/>
                </a:solidFill>
                <a:latin typeface="Times New Roman"/>
                <a:ea typeface="Times New Roman"/>
                <a:cs typeface="Times New Roman"/>
                <a:sym typeface="Times New Roman"/>
              </a:rPr>
              <a:t>Sensor Support</a:t>
            </a: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Times New Roman"/>
              <a:buAutoNum type="arabicPeriod"/>
            </a:pPr>
            <a:r>
              <a:rPr lang="en" sz="1500">
                <a:solidFill>
                  <a:schemeClr val="dk1"/>
                </a:solidFill>
                <a:latin typeface="Times New Roman"/>
                <a:ea typeface="Times New Roman"/>
                <a:cs typeface="Times New Roman"/>
                <a:sym typeface="Times New Roman"/>
              </a:rPr>
              <a:t>Google Services Integration</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2"/>
          <p:cNvSpPr txBox="1">
            <a:spLocks noGrp="1"/>
          </p:cNvSpPr>
          <p:nvPr>
            <p:ph type="ctrTitle"/>
          </p:nvPr>
        </p:nvSpPr>
        <p:spPr>
          <a:xfrm>
            <a:off x="311700" y="183101"/>
            <a:ext cx="8520600" cy="79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778"/>
              <a:buNone/>
            </a:pPr>
            <a:r>
              <a:rPr lang="en" sz="2400">
                <a:latin typeface="Times New Roman"/>
                <a:ea typeface="Times New Roman"/>
                <a:cs typeface="Times New Roman"/>
                <a:sym typeface="Times New Roman"/>
              </a:rPr>
              <a:t>History of Android</a:t>
            </a:r>
            <a:endParaRPr sz="2400">
              <a:latin typeface="Times New Roman"/>
              <a:ea typeface="Times New Roman"/>
              <a:cs typeface="Times New Roman"/>
              <a:sym typeface="Times New Roman"/>
            </a:endParaRPr>
          </a:p>
        </p:txBody>
      </p:sp>
      <p:sp>
        <p:nvSpPr>
          <p:cNvPr id="67" name="Google Shape;67;p2"/>
          <p:cNvSpPr txBox="1">
            <a:spLocks noGrp="1"/>
          </p:cNvSpPr>
          <p:nvPr>
            <p:ph type="subTitle" idx="1"/>
          </p:nvPr>
        </p:nvSpPr>
        <p:spPr>
          <a:xfrm>
            <a:off x="311700" y="1116925"/>
            <a:ext cx="8520600" cy="3885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1500">
                <a:solidFill>
                  <a:schemeClr val="dk1"/>
                </a:solidFill>
                <a:latin typeface="Times New Roman"/>
                <a:ea typeface="Times New Roman"/>
                <a:cs typeface="Times New Roman"/>
                <a:sym typeface="Times New Roman"/>
              </a:rPr>
              <a:t>The history of Android is a remarkable journey from a </a:t>
            </a:r>
            <a:r>
              <a:rPr lang="en" sz="1500" b="1">
                <a:solidFill>
                  <a:schemeClr val="dk1"/>
                </a:solidFill>
                <a:latin typeface="Times New Roman"/>
                <a:ea typeface="Times New Roman"/>
                <a:cs typeface="Times New Roman"/>
                <a:sym typeface="Times New Roman"/>
              </a:rPr>
              <a:t>niche digital camera software to the world's most dominant operating system</a:t>
            </a:r>
            <a:r>
              <a:rPr lang="en" sz="1500">
                <a:solidFill>
                  <a:schemeClr val="dk1"/>
                </a:solidFill>
                <a:latin typeface="Times New Roman"/>
                <a:ea typeface="Times New Roman"/>
                <a:cs typeface="Times New Roman"/>
                <a:sym typeface="Times New Roman"/>
              </a:rPr>
              <a:t>, powering over 3.9 billion active devices.</a:t>
            </a:r>
            <a:endParaRPr sz="1500">
              <a:solidFill>
                <a:schemeClr val="dk1"/>
              </a:solidFill>
              <a:latin typeface="Times New Roman"/>
              <a:ea typeface="Times New Roman"/>
              <a:cs typeface="Times New Roman"/>
              <a:sym typeface="Times New Roman"/>
            </a:endParaRPr>
          </a:p>
          <a:p>
            <a:pPr marL="0" lvl="0" indent="0" algn="l" rtl="0">
              <a:lnSpc>
                <a:spcPct val="115000"/>
              </a:lnSpc>
              <a:spcBef>
                <a:spcPts val="180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1. The Foundation (2003–2005)</a:t>
            </a:r>
            <a:endParaRPr sz="1500">
              <a:solidFill>
                <a:schemeClr val="dk1"/>
              </a:solidFill>
              <a:latin typeface="Times New Roman"/>
              <a:ea typeface="Times New Roman"/>
              <a:cs typeface="Times New Roman"/>
              <a:sym typeface="Times New Roman"/>
            </a:endParaRPr>
          </a:p>
          <a:p>
            <a:pPr marL="0" lvl="0" indent="0" algn="l" rtl="0">
              <a:lnSpc>
                <a:spcPct val="115000"/>
              </a:lnSpc>
              <a:spcBef>
                <a:spcPts val="90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Android Inc. was founded in October 2003 in Palo Alto, California, by </a:t>
            </a:r>
            <a:r>
              <a:rPr lang="en" sz="1500" b="1">
                <a:solidFill>
                  <a:schemeClr val="dk1"/>
                </a:solidFill>
                <a:latin typeface="Times New Roman"/>
                <a:ea typeface="Times New Roman"/>
                <a:cs typeface="Times New Roman"/>
                <a:sym typeface="Times New Roman"/>
              </a:rPr>
              <a:t>Andy Rubin, Rich Miner, Nick Sears, and Chris White</a:t>
            </a:r>
            <a:r>
              <a:rPr lang="en" sz="1500">
                <a:solidFill>
                  <a:schemeClr val="dk1"/>
                </a:solidFill>
                <a:latin typeface="Times New Roman"/>
                <a:ea typeface="Times New Roman"/>
                <a:cs typeface="Times New Roman"/>
                <a:sym typeface="Times New Roman"/>
              </a:rPr>
              <a:t>.</a:t>
            </a:r>
            <a:endParaRPr sz="1500">
              <a:solidFill>
                <a:schemeClr val="dk1"/>
              </a:solidFill>
              <a:latin typeface="Times New Roman"/>
              <a:ea typeface="Times New Roman"/>
              <a:cs typeface="Times New Roman"/>
              <a:sym typeface="Times New Roman"/>
            </a:endParaRPr>
          </a:p>
          <a:p>
            <a:pPr marL="457200" lvl="0" indent="-323850" algn="l" rtl="0">
              <a:lnSpc>
                <a:spcPct val="115000"/>
              </a:lnSpc>
              <a:spcBef>
                <a:spcPts val="1200"/>
              </a:spcBef>
              <a:spcAft>
                <a:spcPts val="0"/>
              </a:spcAft>
              <a:buClr>
                <a:schemeClr val="dk1"/>
              </a:buClr>
              <a:buSzPts val="1500"/>
              <a:buChar char="●"/>
            </a:pPr>
            <a:r>
              <a:rPr lang="en" sz="1500" b="1">
                <a:solidFill>
                  <a:schemeClr val="dk1"/>
                </a:solidFill>
                <a:latin typeface="Times New Roman"/>
                <a:ea typeface="Times New Roman"/>
                <a:cs typeface="Times New Roman"/>
                <a:sym typeface="Times New Roman"/>
              </a:rPr>
              <a:t>The Camera Plan</a:t>
            </a:r>
            <a:r>
              <a:rPr lang="en" sz="1500">
                <a:solidFill>
                  <a:schemeClr val="dk1"/>
                </a:solidFill>
                <a:latin typeface="Times New Roman"/>
                <a:ea typeface="Times New Roman"/>
                <a:cs typeface="Times New Roman"/>
                <a:sym typeface="Times New Roman"/>
              </a:rPr>
              <a:t>: Initially, the team intended to build an advanced operating system for digital cameras.</a:t>
            </a:r>
            <a:endParaRPr sz="1500">
              <a:solidFill>
                <a:schemeClr val="dk1"/>
              </a:solidFill>
              <a:latin typeface="Times New Roman"/>
              <a:ea typeface="Times New Roman"/>
              <a:cs typeface="Times New Roman"/>
              <a:sym typeface="Times New Roman"/>
            </a:endParaRPr>
          </a:p>
          <a:p>
            <a:pPr marL="457200" lvl="0" indent="-323850" algn="l" rtl="0">
              <a:lnSpc>
                <a:spcPct val="115000"/>
              </a:lnSpc>
              <a:spcBef>
                <a:spcPts val="0"/>
              </a:spcBef>
              <a:spcAft>
                <a:spcPts val="0"/>
              </a:spcAft>
              <a:buClr>
                <a:schemeClr val="dk1"/>
              </a:buClr>
              <a:buSzPts val="1500"/>
              <a:buChar char="●"/>
            </a:pPr>
            <a:r>
              <a:rPr lang="en" sz="1500" b="1">
                <a:solidFill>
                  <a:schemeClr val="dk1"/>
                </a:solidFill>
                <a:latin typeface="Times New Roman"/>
                <a:ea typeface="Times New Roman"/>
                <a:cs typeface="Times New Roman"/>
                <a:sym typeface="Times New Roman"/>
              </a:rPr>
              <a:t>The Pivot</a:t>
            </a:r>
            <a:r>
              <a:rPr lang="en" sz="1500">
                <a:solidFill>
                  <a:schemeClr val="dk1"/>
                </a:solidFill>
                <a:latin typeface="Times New Roman"/>
                <a:ea typeface="Times New Roman"/>
                <a:cs typeface="Times New Roman"/>
                <a:sym typeface="Times New Roman"/>
              </a:rPr>
              <a:t>: Realising the digital camera market was too small, they pivoted to target mobile phones.</a:t>
            </a:r>
            <a:endParaRPr sz="1500">
              <a:solidFill>
                <a:schemeClr val="dk1"/>
              </a:solidFill>
              <a:latin typeface="Times New Roman"/>
              <a:ea typeface="Times New Roman"/>
              <a:cs typeface="Times New Roman"/>
              <a:sym typeface="Times New Roman"/>
            </a:endParaRPr>
          </a:p>
          <a:p>
            <a:pPr marL="457200" lvl="0" indent="-323850" algn="l" rtl="0">
              <a:lnSpc>
                <a:spcPct val="115000"/>
              </a:lnSpc>
              <a:spcBef>
                <a:spcPts val="0"/>
              </a:spcBef>
              <a:spcAft>
                <a:spcPts val="0"/>
              </a:spcAft>
              <a:buClr>
                <a:schemeClr val="dk1"/>
              </a:buClr>
              <a:buSzPts val="1500"/>
              <a:buChar char="●"/>
            </a:pPr>
            <a:r>
              <a:rPr lang="en" sz="1500" b="1">
                <a:solidFill>
                  <a:schemeClr val="dk1"/>
                </a:solidFill>
                <a:latin typeface="Times New Roman"/>
                <a:ea typeface="Times New Roman"/>
                <a:cs typeface="Times New Roman"/>
                <a:sym typeface="Times New Roman"/>
              </a:rPr>
              <a:t>The Google Acquisition</a:t>
            </a:r>
            <a:r>
              <a:rPr lang="en" sz="1500">
                <a:solidFill>
                  <a:schemeClr val="dk1"/>
                </a:solidFill>
                <a:latin typeface="Times New Roman"/>
                <a:ea typeface="Times New Roman"/>
                <a:cs typeface="Times New Roman"/>
                <a:sym typeface="Times New Roman"/>
              </a:rPr>
              <a:t>: Facing financial strain, the startup was </a:t>
            </a:r>
            <a:r>
              <a:rPr lang="en" sz="1500" b="1">
                <a:solidFill>
                  <a:schemeClr val="dk1"/>
                </a:solidFill>
                <a:latin typeface="Times New Roman"/>
                <a:ea typeface="Times New Roman"/>
                <a:cs typeface="Times New Roman"/>
                <a:sym typeface="Times New Roman"/>
              </a:rPr>
              <a:t>acquired by Google in August 2005 for $50 million</a:t>
            </a:r>
            <a:r>
              <a:rPr lang="en" sz="1500">
                <a:solidFill>
                  <a:schemeClr val="dk1"/>
                </a:solidFill>
                <a:latin typeface="Times New Roman"/>
                <a:ea typeface="Times New Roman"/>
                <a:cs typeface="Times New Roman"/>
                <a:sym typeface="Times New Roman"/>
              </a:rPr>
              <a:t>. The original founders moved to Google to continue building the OS on a Linux foundation.</a:t>
            </a:r>
            <a:endParaRPr sz="1500">
              <a:solidFill>
                <a:schemeClr val="dk1"/>
              </a:solidFill>
              <a:latin typeface="Times New Roman"/>
              <a:ea typeface="Times New Roman"/>
              <a:cs typeface="Times New Roman"/>
              <a:sym typeface="Times New Roman"/>
            </a:endParaRPr>
          </a:p>
          <a:p>
            <a:pPr marL="0" lvl="0" indent="0" algn="l" rtl="0">
              <a:lnSpc>
                <a:spcPct val="100000"/>
              </a:lnSpc>
              <a:spcBef>
                <a:spcPts val="2100"/>
              </a:spcBef>
              <a:spcAft>
                <a:spcPts val="0"/>
              </a:spcAft>
              <a:buSzPts val="2800"/>
              <a:buNone/>
            </a:pP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3"/>
          <p:cNvSpPr txBox="1">
            <a:spLocks noGrp="1"/>
          </p:cNvSpPr>
          <p:nvPr>
            <p:ph type="subTitle" idx="1"/>
          </p:nvPr>
        </p:nvSpPr>
        <p:spPr>
          <a:xfrm>
            <a:off x="311700" y="354925"/>
            <a:ext cx="8520600" cy="4454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None/>
            </a:pPr>
            <a:r>
              <a:rPr lang="en" sz="1400">
                <a:solidFill>
                  <a:schemeClr val="dk1"/>
                </a:solidFill>
                <a:latin typeface="Times New Roman"/>
                <a:ea typeface="Times New Roman"/>
                <a:cs typeface="Times New Roman"/>
                <a:sym typeface="Times New Roman"/>
              </a:rPr>
              <a:t>2. The Launch &amp; Early Evolution (2007–2010)</a:t>
            </a:r>
            <a:endParaRPr sz="1400">
              <a:solidFill>
                <a:schemeClr val="dk1"/>
              </a:solidFill>
              <a:latin typeface="Times New Roman"/>
              <a:ea typeface="Times New Roman"/>
              <a:cs typeface="Times New Roman"/>
              <a:sym typeface="Times New Roman"/>
            </a:endParaRPr>
          </a:p>
          <a:p>
            <a:pPr marL="0" lvl="0" indent="0" algn="l" rtl="0">
              <a:lnSpc>
                <a:spcPct val="115000"/>
              </a:lnSpc>
              <a:spcBef>
                <a:spcPts val="900"/>
              </a:spcBef>
              <a:spcAft>
                <a:spcPts val="0"/>
              </a:spcAft>
              <a:buNone/>
            </a:pPr>
            <a:r>
              <a:rPr lang="en" sz="1400">
                <a:solidFill>
                  <a:schemeClr val="dk1"/>
                </a:solidFill>
                <a:latin typeface="Times New Roman"/>
                <a:ea typeface="Times New Roman"/>
                <a:cs typeface="Times New Roman"/>
                <a:sym typeface="Times New Roman"/>
              </a:rPr>
              <a:t>When Apple unveiled the touch-centric iPhone in 2007, the Android team had to completely rework their prototype, which originally resembled a BlackBerry with a physical keyboard. </a:t>
            </a:r>
            <a:endParaRPr sz="1400">
              <a:solidFill>
                <a:schemeClr val="dk1"/>
              </a:solidFill>
              <a:latin typeface="Times New Roman"/>
              <a:ea typeface="Times New Roman"/>
              <a:cs typeface="Times New Roman"/>
              <a:sym typeface="Times New Roman"/>
            </a:endParaRPr>
          </a:p>
          <a:p>
            <a:pPr marL="457200" lvl="0" indent="-317500" algn="l" rtl="0">
              <a:lnSpc>
                <a:spcPct val="115000"/>
              </a:lnSpc>
              <a:spcBef>
                <a:spcPts val="1200"/>
              </a:spcBef>
              <a:spcAft>
                <a:spcPts val="0"/>
              </a:spcAft>
              <a:buClr>
                <a:schemeClr val="dk1"/>
              </a:buClr>
              <a:buSzPts val="1400"/>
              <a:buChar char="●"/>
            </a:pPr>
            <a:r>
              <a:rPr lang="en" sz="1400" b="1">
                <a:solidFill>
                  <a:schemeClr val="dk1"/>
                </a:solidFill>
                <a:latin typeface="Times New Roman"/>
                <a:ea typeface="Times New Roman"/>
                <a:cs typeface="Times New Roman"/>
                <a:sym typeface="Times New Roman"/>
              </a:rPr>
              <a:t>Open Handset Alliance (OHA)</a:t>
            </a:r>
            <a:r>
              <a:rPr lang="en" sz="1400">
                <a:solidFill>
                  <a:schemeClr val="dk1"/>
                </a:solidFill>
                <a:latin typeface="Times New Roman"/>
                <a:ea typeface="Times New Roman"/>
                <a:cs typeface="Times New Roman"/>
                <a:sym typeface="Times New Roman"/>
              </a:rPr>
              <a:t>: In November 2007, Google announced a consortium of tech giants—including Samsung, HTC, and Intel—to develop a free, open-source mobile platform.</a:t>
            </a:r>
            <a:endParaRPr sz="1400">
              <a:solidFill>
                <a:schemeClr val="dk1"/>
              </a:solidFill>
              <a:latin typeface="Times New Roman"/>
              <a:ea typeface="Times New Roman"/>
              <a:cs typeface="Times New Roman"/>
              <a:sym typeface="Times New Roman"/>
            </a:endParaRPr>
          </a:p>
          <a:p>
            <a:pPr marL="457200" lvl="0" indent="-317500" algn="l" rtl="0">
              <a:lnSpc>
                <a:spcPct val="115000"/>
              </a:lnSpc>
              <a:spcBef>
                <a:spcPts val="0"/>
              </a:spcBef>
              <a:spcAft>
                <a:spcPts val="0"/>
              </a:spcAft>
              <a:buClr>
                <a:schemeClr val="dk1"/>
              </a:buClr>
              <a:buSzPts val="1400"/>
              <a:buChar char="●"/>
            </a:pPr>
            <a:r>
              <a:rPr lang="en" sz="1400" b="1">
                <a:solidFill>
                  <a:schemeClr val="dk1"/>
                </a:solidFill>
                <a:latin typeface="Times New Roman"/>
                <a:ea typeface="Times New Roman"/>
                <a:cs typeface="Times New Roman"/>
                <a:sym typeface="Times New Roman"/>
              </a:rPr>
              <a:t>The First Phone</a:t>
            </a:r>
            <a:r>
              <a:rPr lang="en" sz="1400">
                <a:solidFill>
                  <a:schemeClr val="dk1"/>
                </a:solidFill>
                <a:latin typeface="Times New Roman"/>
                <a:ea typeface="Times New Roman"/>
                <a:cs typeface="Times New Roman"/>
                <a:sym typeface="Times New Roman"/>
              </a:rPr>
              <a:t>: On </a:t>
            </a:r>
            <a:r>
              <a:rPr lang="en" sz="1400" b="1">
                <a:solidFill>
                  <a:schemeClr val="dk1"/>
                </a:solidFill>
                <a:latin typeface="Times New Roman"/>
                <a:ea typeface="Times New Roman"/>
                <a:cs typeface="Times New Roman"/>
                <a:sym typeface="Times New Roman"/>
              </a:rPr>
              <a:t>September 23, 2008</a:t>
            </a:r>
            <a:r>
              <a:rPr lang="en" sz="1400">
                <a:solidFill>
                  <a:schemeClr val="dk1"/>
                </a:solidFill>
                <a:latin typeface="Times New Roman"/>
                <a:ea typeface="Times New Roman"/>
                <a:cs typeface="Times New Roman"/>
                <a:sym typeface="Times New Roman"/>
              </a:rPr>
              <a:t>, the first commercial Android smartphone, the </a:t>
            </a:r>
            <a:r>
              <a:rPr lang="en" sz="1400" b="1">
                <a:solidFill>
                  <a:schemeClr val="dk1"/>
                </a:solidFill>
                <a:latin typeface="Times New Roman"/>
                <a:ea typeface="Times New Roman"/>
                <a:cs typeface="Times New Roman"/>
                <a:sym typeface="Times New Roman"/>
              </a:rPr>
              <a:t>T-Mobile G1 (also known as the HTC Dream)</a:t>
            </a:r>
            <a:r>
              <a:rPr lang="en" sz="1400">
                <a:solidFill>
                  <a:schemeClr val="dk1"/>
                </a:solidFill>
                <a:latin typeface="Times New Roman"/>
                <a:ea typeface="Times New Roman"/>
                <a:cs typeface="Times New Roman"/>
                <a:sym typeface="Times New Roman"/>
              </a:rPr>
              <a:t>, made its debut. It featured a physical slide-out keyboard, a trackball, and the Android 1.0 software.</a:t>
            </a:r>
            <a:endParaRPr sz="1400">
              <a:solidFill>
                <a:schemeClr val="dk1"/>
              </a:solidFill>
              <a:latin typeface="Times New Roman"/>
              <a:ea typeface="Times New Roman"/>
              <a:cs typeface="Times New Roman"/>
              <a:sym typeface="Times New Roman"/>
            </a:endParaRPr>
          </a:p>
          <a:p>
            <a:pPr marL="0" lvl="0" indent="0" algn="l" rtl="0">
              <a:lnSpc>
                <a:spcPct val="115000"/>
              </a:lnSpc>
              <a:spcBef>
                <a:spcPts val="2100"/>
              </a:spcBef>
              <a:spcAft>
                <a:spcPts val="0"/>
              </a:spcAft>
              <a:buNone/>
            </a:pPr>
            <a:r>
              <a:rPr lang="en" sz="1400">
                <a:solidFill>
                  <a:schemeClr val="dk1"/>
                </a:solidFill>
                <a:latin typeface="Times New Roman"/>
                <a:ea typeface="Times New Roman"/>
                <a:cs typeface="Times New Roman"/>
                <a:sym typeface="Times New Roman"/>
              </a:rPr>
              <a:t>3. The "Sweet Treat" Eras</a:t>
            </a:r>
            <a:endParaRPr sz="1400">
              <a:solidFill>
                <a:schemeClr val="dk1"/>
              </a:solidFill>
              <a:latin typeface="Times New Roman"/>
              <a:ea typeface="Times New Roman"/>
              <a:cs typeface="Times New Roman"/>
              <a:sym typeface="Times New Roman"/>
            </a:endParaRPr>
          </a:p>
          <a:p>
            <a:pPr marL="0" lvl="0" indent="0" algn="l" rtl="0">
              <a:lnSpc>
                <a:spcPct val="115000"/>
              </a:lnSpc>
              <a:spcBef>
                <a:spcPts val="900"/>
              </a:spcBef>
              <a:spcAft>
                <a:spcPts val="0"/>
              </a:spcAft>
              <a:buNone/>
            </a:pPr>
            <a:r>
              <a:rPr lang="en" sz="1400">
                <a:solidFill>
                  <a:schemeClr val="dk1"/>
                </a:solidFill>
                <a:latin typeface="Times New Roman"/>
                <a:ea typeface="Times New Roman"/>
                <a:cs typeface="Times New Roman"/>
                <a:sym typeface="Times New Roman"/>
              </a:rPr>
              <a:t>Starting with Android 1.5, Google began naming its major releases after popular desserts in alphabetical order. This quirky naming convention became a hallmark of the tech industry. </a:t>
            </a:r>
            <a:endParaRPr sz="14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sz="1400">
              <a:solidFill>
                <a:srgbClr val="000000"/>
              </a:solidFill>
              <a:latin typeface="Times New Roman"/>
              <a:ea typeface="Times New Roman"/>
              <a:cs typeface="Times New Roman"/>
              <a:sym typeface="Times New Roman"/>
            </a:endParaRPr>
          </a:p>
          <a:p>
            <a:pPr marL="0" lvl="0" indent="0" algn="l" rtl="0">
              <a:lnSpc>
                <a:spcPct val="115000"/>
              </a:lnSpc>
              <a:spcBef>
                <a:spcPts val="900"/>
              </a:spcBef>
              <a:spcAft>
                <a:spcPts val="0"/>
              </a:spcAft>
              <a:buNone/>
            </a:pPr>
            <a:endParaRPr sz="1400">
              <a:solidFill>
                <a:schemeClr val="dk1"/>
              </a:solidFill>
              <a:latin typeface="Times New Roman"/>
              <a:ea typeface="Times New Roman"/>
              <a:cs typeface="Times New Roman"/>
              <a:sym typeface="Times New Roman"/>
            </a:endParaRPr>
          </a:p>
          <a:p>
            <a:pPr marL="0" lvl="0" indent="0" algn="l" rtl="0">
              <a:lnSpc>
                <a:spcPct val="100000"/>
              </a:lnSpc>
              <a:spcBef>
                <a:spcPts val="1200"/>
              </a:spcBef>
              <a:spcAft>
                <a:spcPts val="0"/>
              </a:spcAft>
              <a:buNone/>
            </a:pP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4"/>
          <p:cNvSpPr txBox="1">
            <a:spLocks noGrp="1"/>
          </p:cNvSpPr>
          <p:nvPr>
            <p:ph type="subTitle" idx="1"/>
          </p:nvPr>
        </p:nvSpPr>
        <p:spPr>
          <a:xfrm>
            <a:off x="156849" y="134350"/>
            <a:ext cx="5381065" cy="485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b="1" dirty="0">
                <a:solidFill>
                  <a:schemeClr val="dk1"/>
                </a:solidFill>
                <a:latin typeface="Times New Roman"/>
                <a:ea typeface="Times New Roman"/>
                <a:cs typeface="Times New Roman"/>
                <a:sym typeface="Times New Roman"/>
              </a:rPr>
              <a:t>Android Version	     Major Features Introduced</a:t>
            </a:r>
            <a:endParaRPr sz="1400" b="1"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1400" b="1"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400" dirty="0">
                <a:solidFill>
                  <a:schemeClr val="dk1"/>
                </a:solidFill>
                <a:latin typeface="Times New Roman"/>
                <a:ea typeface="Times New Roman"/>
                <a:cs typeface="Times New Roman"/>
                <a:sym typeface="Times New Roman"/>
              </a:rPr>
              <a:t>Cupcake		     Virtual Keyboard, Widgets</a:t>
            </a:r>
            <a:endParaRPr sz="14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400" dirty="0">
                <a:solidFill>
                  <a:schemeClr val="dk1"/>
                </a:solidFill>
                <a:latin typeface="Times New Roman"/>
                <a:ea typeface="Times New Roman"/>
                <a:cs typeface="Times New Roman"/>
                <a:sym typeface="Times New Roman"/>
              </a:rPr>
              <a:t>Donut	  	     Universal Search</a:t>
            </a:r>
            <a:endParaRPr sz="1400"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400" dirty="0">
                <a:solidFill>
                  <a:srgbClr val="000000"/>
                </a:solidFill>
                <a:latin typeface="Times New Roman"/>
                <a:ea typeface="Times New Roman"/>
                <a:cs typeface="Times New Roman"/>
                <a:sym typeface="Times New Roman"/>
              </a:rPr>
              <a:t>Eclair		     Google Maps Navigation</a:t>
            </a:r>
            <a:endParaRPr sz="1400"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400" dirty="0">
                <a:solidFill>
                  <a:srgbClr val="000000"/>
                </a:solidFill>
                <a:latin typeface="Times New Roman"/>
                <a:ea typeface="Times New Roman"/>
                <a:cs typeface="Times New Roman"/>
                <a:sym typeface="Times New Roman"/>
              </a:rPr>
              <a:t>Froyo		     Wi-Fi Hotspot</a:t>
            </a:r>
            <a:endParaRPr sz="1400"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400" dirty="0">
                <a:solidFill>
                  <a:srgbClr val="000000"/>
                </a:solidFill>
                <a:latin typeface="Times New Roman"/>
                <a:ea typeface="Times New Roman"/>
                <a:cs typeface="Times New Roman"/>
                <a:sym typeface="Times New Roman"/>
              </a:rPr>
              <a:t>Gingerbread		      NFC Support</a:t>
            </a:r>
            <a:endParaRPr sz="1400"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400" dirty="0">
                <a:solidFill>
                  <a:srgbClr val="000000"/>
                </a:solidFill>
                <a:latin typeface="Times New Roman"/>
                <a:ea typeface="Times New Roman"/>
                <a:cs typeface="Times New Roman"/>
                <a:sym typeface="Times New Roman"/>
              </a:rPr>
              <a:t>Honeycomb		      Tablet Interface</a:t>
            </a:r>
            <a:endParaRPr sz="1400"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400" dirty="0">
                <a:solidFill>
                  <a:srgbClr val="000000"/>
                </a:solidFill>
                <a:latin typeface="Times New Roman"/>
                <a:ea typeface="Times New Roman"/>
                <a:cs typeface="Times New Roman"/>
                <a:sym typeface="Times New Roman"/>
              </a:rPr>
              <a:t>Ice Cream Sandwich    	      Face Unlock</a:t>
            </a:r>
            <a:endParaRPr sz="1400"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400" dirty="0">
                <a:solidFill>
                  <a:srgbClr val="000000"/>
                </a:solidFill>
                <a:latin typeface="Times New Roman"/>
                <a:ea typeface="Times New Roman"/>
                <a:cs typeface="Times New Roman"/>
                <a:sym typeface="Times New Roman"/>
              </a:rPr>
              <a:t>Jelly Bean		      Google Now, Project Butter</a:t>
            </a:r>
            <a:endParaRPr sz="1400"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400" dirty="0">
                <a:solidFill>
                  <a:srgbClr val="000000"/>
                </a:solidFill>
                <a:latin typeface="Times New Roman"/>
                <a:ea typeface="Times New Roman"/>
                <a:cs typeface="Times New Roman"/>
                <a:sym typeface="Times New Roman"/>
              </a:rPr>
              <a:t>KitKat		      Optimized for Low-End Devices</a:t>
            </a:r>
            <a:endParaRPr sz="1400"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400" dirty="0">
                <a:solidFill>
                  <a:srgbClr val="000000"/>
                </a:solidFill>
                <a:latin typeface="Times New Roman"/>
                <a:ea typeface="Times New Roman"/>
                <a:cs typeface="Times New Roman"/>
                <a:sym typeface="Times New Roman"/>
              </a:rPr>
              <a:t>Lollipop		      Material Design, ART</a:t>
            </a:r>
            <a:endParaRPr sz="1400"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400" dirty="0">
                <a:solidFill>
                  <a:srgbClr val="000000"/>
                </a:solidFill>
                <a:latin typeface="Times New Roman"/>
                <a:ea typeface="Times New Roman"/>
                <a:cs typeface="Times New Roman"/>
                <a:sym typeface="Times New Roman"/>
              </a:rPr>
              <a:t>Marshmallow	      Runtime Permissions</a:t>
            </a:r>
            <a:endParaRPr sz="1400"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400" dirty="0">
                <a:solidFill>
                  <a:srgbClr val="000000"/>
                </a:solidFill>
                <a:latin typeface="Times New Roman"/>
                <a:ea typeface="Times New Roman"/>
                <a:cs typeface="Times New Roman"/>
                <a:sym typeface="Times New Roman"/>
              </a:rPr>
              <a:t>Nougat		      Split Screen</a:t>
            </a:r>
            <a:endParaRPr sz="1400"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400" dirty="0">
                <a:solidFill>
                  <a:srgbClr val="000000"/>
                </a:solidFill>
                <a:latin typeface="Times New Roman"/>
                <a:ea typeface="Times New Roman"/>
                <a:cs typeface="Times New Roman"/>
                <a:sym typeface="Times New Roman"/>
              </a:rPr>
              <a:t>Oreo		      Notification Channels, Picture-in-Picture</a:t>
            </a:r>
            <a:endParaRPr sz="1400"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400" dirty="0">
                <a:solidFill>
                  <a:srgbClr val="000000"/>
                </a:solidFill>
                <a:latin typeface="Times New Roman"/>
                <a:ea typeface="Times New Roman"/>
                <a:cs typeface="Times New Roman"/>
                <a:sym typeface="Times New Roman"/>
              </a:rPr>
              <a:t>Pie		      Gesture Navigation</a:t>
            </a:r>
            <a:endParaRPr sz="1400"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400" dirty="0">
                <a:solidFill>
                  <a:schemeClr val="dk1"/>
                </a:solidFill>
                <a:latin typeface="Times New Roman"/>
                <a:ea typeface="Times New Roman"/>
                <a:cs typeface="Times New Roman"/>
                <a:sym typeface="Times New Roman"/>
              </a:rPr>
              <a:t>Android 10		      Dark Theme</a:t>
            </a:r>
            <a:endParaRPr sz="14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14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SzPts val="2800"/>
              <a:buNone/>
            </a:pPr>
            <a:endParaRPr sz="1400" dirty="0">
              <a:solidFill>
                <a:srgbClr val="000000"/>
              </a:solidFill>
              <a:latin typeface="Times New Roman"/>
              <a:ea typeface="Times New Roman"/>
              <a:cs typeface="Times New Roman"/>
              <a:sym typeface="Times New Roman"/>
            </a:endParaRPr>
          </a:p>
        </p:txBody>
      </p:sp>
      <p:sp>
        <p:nvSpPr>
          <p:cNvPr id="78" name="Google Shape;78;p4"/>
          <p:cNvSpPr txBox="1">
            <a:spLocks noGrp="1"/>
          </p:cNvSpPr>
          <p:nvPr>
            <p:ph type="subTitle" idx="1"/>
          </p:nvPr>
        </p:nvSpPr>
        <p:spPr>
          <a:xfrm>
            <a:off x="4891300" y="134350"/>
            <a:ext cx="4137000" cy="485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b="1" dirty="0">
                <a:solidFill>
                  <a:schemeClr val="dk1"/>
                </a:solidFill>
                <a:latin typeface="Times New Roman"/>
                <a:ea typeface="Times New Roman"/>
                <a:cs typeface="Times New Roman"/>
                <a:sym typeface="Times New Roman"/>
              </a:rPr>
              <a:t>Android Version	Major Features Introduced</a:t>
            </a:r>
            <a:endParaRPr sz="1400" b="1"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400" b="1"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 sz="1400" dirty="0">
                <a:solidFill>
                  <a:schemeClr val="dk1"/>
                </a:solidFill>
                <a:latin typeface="Times New Roman"/>
                <a:ea typeface="Times New Roman"/>
                <a:cs typeface="Times New Roman"/>
                <a:sym typeface="Times New Roman"/>
              </a:rPr>
              <a:t>Android 11		One-Time Permissions</a:t>
            </a:r>
            <a:endParaRPr sz="14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 sz="1400" dirty="0">
                <a:solidFill>
                  <a:schemeClr val="dk1"/>
                </a:solidFill>
                <a:latin typeface="Times New Roman"/>
                <a:ea typeface="Times New Roman"/>
                <a:cs typeface="Times New Roman"/>
                <a:sym typeface="Times New Roman"/>
              </a:rPr>
              <a:t>Android 12		Material You</a:t>
            </a:r>
            <a:endParaRPr sz="14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 sz="1400" dirty="0">
                <a:solidFill>
                  <a:schemeClr val="dk1"/>
                </a:solidFill>
                <a:latin typeface="Times New Roman"/>
                <a:ea typeface="Times New Roman"/>
                <a:cs typeface="Times New Roman"/>
                <a:sym typeface="Times New Roman"/>
              </a:rPr>
              <a:t>Android 13		Notification Permission</a:t>
            </a:r>
            <a:endParaRPr sz="14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 sz="1400" dirty="0">
                <a:solidFill>
                  <a:schemeClr val="dk1"/>
                </a:solidFill>
                <a:latin typeface="Times New Roman"/>
                <a:ea typeface="Times New Roman"/>
                <a:cs typeface="Times New Roman"/>
                <a:sym typeface="Times New Roman"/>
              </a:rPr>
              <a:t>Android 14		Predictive Back Gesture</a:t>
            </a:r>
            <a:endParaRPr sz="14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 sz="1400" dirty="0">
                <a:solidFill>
                  <a:schemeClr val="dk1"/>
                </a:solidFill>
                <a:latin typeface="Times New Roman"/>
                <a:ea typeface="Times New Roman"/>
                <a:cs typeface="Times New Roman"/>
                <a:sym typeface="Times New Roman"/>
              </a:rPr>
              <a:t>Android 15		Large-Screen Enhancements</a:t>
            </a:r>
            <a:endParaRPr sz="14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SzPts val="2800"/>
              <a:buNone/>
            </a:pPr>
            <a:endParaRPr sz="14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6"/>
          <p:cNvSpPr txBox="1">
            <a:spLocks noGrp="1"/>
          </p:cNvSpPr>
          <p:nvPr>
            <p:ph type="subTitle" idx="1"/>
          </p:nvPr>
        </p:nvSpPr>
        <p:spPr>
          <a:xfrm>
            <a:off x="311700" y="244325"/>
            <a:ext cx="8520600" cy="449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1800"/>
              </a:spcBef>
              <a:spcAft>
                <a:spcPts val="0"/>
              </a:spcAft>
              <a:buSzPts val="2800"/>
              <a:buNone/>
            </a:pPr>
            <a:r>
              <a:rPr lang="en" sz="2400" b="1" dirty="0">
                <a:solidFill>
                  <a:srgbClr val="273239"/>
                </a:solidFill>
                <a:highlight>
                  <a:srgbClr val="FFFFFF"/>
                </a:highlight>
                <a:latin typeface="Times New Roman"/>
                <a:ea typeface="Times New Roman"/>
                <a:cs typeface="Times New Roman"/>
                <a:sym typeface="Times New Roman"/>
              </a:rPr>
              <a:t>The Necessary Tools</a:t>
            </a:r>
            <a:endParaRPr sz="2400" b="1" dirty="0">
              <a:solidFill>
                <a:srgbClr val="273239"/>
              </a:solidFill>
              <a:highlight>
                <a:srgbClr val="FFFFFF"/>
              </a:highlight>
              <a:latin typeface="Times New Roman"/>
              <a:ea typeface="Times New Roman"/>
              <a:cs typeface="Times New Roman"/>
              <a:sym typeface="Times New Roman"/>
            </a:endParaRPr>
          </a:p>
          <a:p>
            <a:pPr marL="457200" lvl="0" indent="0" algn="l" rtl="0">
              <a:lnSpc>
                <a:spcPct val="100000"/>
              </a:lnSpc>
              <a:spcBef>
                <a:spcPts val="1800"/>
              </a:spcBef>
              <a:spcAft>
                <a:spcPts val="0"/>
              </a:spcAft>
              <a:buNone/>
            </a:pPr>
            <a:r>
              <a:rPr lang="en" sz="2300" b="1" dirty="0">
                <a:solidFill>
                  <a:srgbClr val="273239"/>
                </a:solidFill>
                <a:highlight>
                  <a:srgbClr val="FFFFFF"/>
                </a:highlight>
                <a:latin typeface="Times New Roman"/>
                <a:ea typeface="Times New Roman"/>
                <a:cs typeface="Times New Roman"/>
                <a:sym typeface="Times New Roman"/>
              </a:rPr>
              <a:t>Android Studio</a:t>
            </a:r>
            <a:endParaRPr sz="2300" b="1" dirty="0">
              <a:solidFill>
                <a:srgbClr val="273239"/>
              </a:solidFill>
              <a:highlight>
                <a:srgbClr val="FFFFFF"/>
              </a:highlight>
              <a:latin typeface="Times New Roman"/>
              <a:ea typeface="Times New Roman"/>
              <a:cs typeface="Times New Roman"/>
              <a:sym typeface="Times New Roman"/>
            </a:endParaRPr>
          </a:p>
          <a:p>
            <a:pPr marL="457200" lvl="0" indent="0" algn="l" rtl="0">
              <a:lnSpc>
                <a:spcPct val="100000"/>
              </a:lnSpc>
              <a:spcBef>
                <a:spcPts val="1800"/>
              </a:spcBef>
              <a:spcAft>
                <a:spcPts val="0"/>
              </a:spcAft>
              <a:buNone/>
            </a:pPr>
            <a:r>
              <a:rPr lang="en" sz="1500" dirty="0">
                <a:solidFill>
                  <a:srgbClr val="273239"/>
                </a:solidFill>
                <a:highlight>
                  <a:srgbClr val="FFFFFF"/>
                </a:highlight>
                <a:latin typeface="Times New Roman"/>
                <a:ea typeface="Times New Roman"/>
                <a:cs typeface="Times New Roman"/>
                <a:sym typeface="Times New Roman"/>
              </a:rPr>
              <a:t>Android Studio is an integrated development environment used for Android development that is based on the popular IntelliJ IDEA.</a:t>
            </a:r>
            <a:endParaRPr sz="1500" dirty="0">
              <a:solidFill>
                <a:srgbClr val="273239"/>
              </a:solidFill>
              <a:highlight>
                <a:srgbClr val="FFFFFF"/>
              </a:highlight>
              <a:latin typeface="Times New Roman"/>
              <a:ea typeface="Times New Roman"/>
              <a:cs typeface="Times New Roman"/>
              <a:sym typeface="Times New Roman"/>
            </a:endParaRPr>
          </a:p>
          <a:p>
            <a:pPr marL="457200" lvl="0" indent="-323850" algn="l" rtl="0">
              <a:lnSpc>
                <a:spcPct val="100000"/>
              </a:lnSpc>
              <a:spcBef>
                <a:spcPts val="1800"/>
              </a:spcBef>
              <a:spcAft>
                <a:spcPts val="0"/>
              </a:spcAft>
              <a:buClr>
                <a:srgbClr val="273239"/>
              </a:buClr>
              <a:buSzPts val="1500"/>
              <a:buFont typeface="Times New Roman"/>
              <a:buChar char="●"/>
            </a:pPr>
            <a:r>
              <a:rPr lang="en" sz="1500" dirty="0">
                <a:solidFill>
                  <a:srgbClr val="273239"/>
                </a:solidFill>
                <a:highlight>
                  <a:srgbClr val="FFFFFF"/>
                </a:highlight>
                <a:latin typeface="Times New Roman"/>
                <a:ea typeface="Times New Roman"/>
                <a:cs typeface="Times New Roman"/>
                <a:sym typeface="Times New Roman"/>
              </a:rPr>
              <a:t>An install of Android Studio includes: </a:t>
            </a:r>
            <a:endParaRPr sz="1500" dirty="0">
              <a:solidFill>
                <a:srgbClr val="273239"/>
              </a:solidFill>
              <a:highlight>
                <a:srgbClr val="FFFFFF"/>
              </a:highlight>
              <a:latin typeface="Times New Roman"/>
              <a:ea typeface="Times New Roman"/>
              <a:cs typeface="Times New Roman"/>
              <a:sym typeface="Times New Roman"/>
            </a:endParaRPr>
          </a:p>
          <a:p>
            <a:pPr marL="457200" lvl="0" indent="-323850" algn="l" rtl="0">
              <a:lnSpc>
                <a:spcPct val="100000"/>
              </a:lnSpc>
              <a:spcBef>
                <a:spcPts val="0"/>
              </a:spcBef>
              <a:spcAft>
                <a:spcPts val="0"/>
              </a:spcAft>
              <a:buClr>
                <a:srgbClr val="273239"/>
              </a:buClr>
              <a:buSzPts val="1500"/>
              <a:buFont typeface="Times New Roman"/>
              <a:buChar char="●"/>
            </a:pPr>
            <a:r>
              <a:rPr lang="en" sz="1500" dirty="0">
                <a:solidFill>
                  <a:srgbClr val="273239"/>
                </a:solidFill>
                <a:highlight>
                  <a:srgbClr val="FFFFFF"/>
                </a:highlight>
                <a:latin typeface="Times New Roman"/>
                <a:ea typeface="Times New Roman"/>
                <a:cs typeface="Times New Roman"/>
                <a:sym typeface="Times New Roman"/>
              </a:rPr>
              <a:t>Android SDK:  the latest version of the Android SDK</a:t>
            </a:r>
            <a:endParaRPr sz="1500" dirty="0">
              <a:solidFill>
                <a:srgbClr val="273239"/>
              </a:solidFill>
              <a:highlight>
                <a:srgbClr val="FFFFFF"/>
              </a:highlight>
              <a:latin typeface="Times New Roman"/>
              <a:ea typeface="Times New Roman"/>
              <a:cs typeface="Times New Roman"/>
              <a:sym typeface="Times New Roman"/>
            </a:endParaRPr>
          </a:p>
          <a:p>
            <a:pPr marL="457200" lvl="0" indent="-323850" algn="l" rtl="0">
              <a:lnSpc>
                <a:spcPct val="100000"/>
              </a:lnSpc>
              <a:spcBef>
                <a:spcPts val="0"/>
              </a:spcBef>
              <a:spcAft>
                <a:spcPts val="0"/>
              </a:spcAft>
              <a:buClr>
                <a:srgbClr val="273239"/>
              </a:buClr>
              <a:buSzPts val="1500"/>
              <a:buFont typeface="Times New Roman"/>
              <a:buChar char="●"/>
            </a:pPr>
            <a:r>
              <a:rPr lang="en" sz="1500" dirty="0">
                <a:solidFill>
                  <a:srgbClr val="273239"/>
                </a:solidFill>
                <a:highlight>
                  <a:srgbClr val="FFFFFF"/>
                </a:highlight>
                <a:latin typeface="Times New Roman"/>
                <a:ea typeface="Times New Roman"/>
                <a:cs typeface="Times New Roman"/>
                <a:sym typeface="Times New Roman"/>
              </a:rPr>
              <a:t>Android SDK tools and platform tools:  tools for debugging and testing your apps</a:t>
            </a:r>
          </a:p>
          <a:p>
            <a:pPr marL="457200" lvl="0" indent="-323850" algn="l" rtl="0">
              <a:lnSpc>
                <a:spcPct val="100000"/>
              </a:lnSpc>
              <a:spcBef>
                <a:spcPts val="0"/>
              </a:spcBef>
              <a:spcAft>
                <a:spcPts val="0"/>
              </a:spcAft>
              <a:buClr>
                <a:srgbClr val="273239"/>
              </a:buClr>
              <a:buSzPts val="1500"/>
              <a:buFont typeface="Times New Roman"/>
              <a:buChar char="●"/>
            </a:pPr>
            <a:r>
              <a:rPr lang="en" sz="1500" dirty="0">
                <a:solidFill>
                  <a:srgbClr val="273239"/>
                </a:solidFill>
                <a:highlight>
                  <a:srgbClr val="FFFFFF"/>
                </a:highlight>
                <a:latin typeface="Times New Roman"/>
                <a:ea typeface="Times New Roman"/>
                <a:cs typeface="Times New Roman"/>
                <a:sym typeface="Times New Roman"/>
              </a:rPr>
              <a:t>A system image for the Android emulator: lets you create and test your apps on different virtual devices </a:t>
            </a:r>
            <a:endParaRPr sz="1500" dirty="0">
              <a:solidFill>
                <a:srgbClr val="273239"/>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g3f449b83914_0_43"/>
          <p:cNvSpPr txBox="1">
            <a:spLocks noGrp="1"/>
          </p:cNvSpPr>
          <p:nvPr>
            <p:ph type="ctrTitle"/>
          </p:nvPr>
        </p:nvSpPr>
        <p:spPr>
          <a:xfrm>
            <a:off x="311700" y="333500"/>
            <a:ext cx="8520600" cy="693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3000">
                <a:latin typeface="Times New Roman"/>
                <a:ea typeface="Times New Roman"/>
                <a:cs typeface="Times New Roman"/>
                <a:sym typeface="Times New Roman"/>
              </a:rPr>
              <a:t>Creating an Android Project</a:t>
            </a:r>
            <a:endParaRPr sz="3000">
              <a:latin typeface="Times New Roman"/>
              <a:ea typeface="Times New Roman"/>
              <a:cs typeface="Times New Roman"/>
              <a:sym typeface="Times New Roman"/>
            </a:endParaRPr>
          </a:p>
        </p:txBody>
      </p:sp>
      <p:pic>
        <p:nvPicPr>
          <p:cNvPr id="89" name="Google Shape;89;g3f449b83914_0_43"/>
          <p:cNvPicPr preferRelativeResize="0"/>
          <p:nvPr/>
        </p:nvPicPr>
        <p:blipFill>
          <a:blip r:embed="rId3">
            <a:alphaModFix/>
          </a:blip>
          <a:stretch>
            <a:fillRect/>
          </a:stretch>
        </p:blipFill>
        <p:spPr>
          <a:xfrm>
            <a:off x="1568116" y="1107009"/>
            <a:ext cx="5996231" cy="3454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g3f449b83914_0_49"/>
          <p:cNvSpPr txBox="1">
            <a:spLocks noGrp="1"/>
          </p:cNvSpPr>
          <p:nvPr>
            <p:ph type="ctrTitle"/>
          </p:nvPr>
        </p:nvSpPr>
        <p:spPr>
          <a:xfrm>
            <a:off x="311700" y="333500"/>
            <a:ext cx="8520600" cy="693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3000">
                <a:latin typeface="Times New Roman"/>
                <a:ea typeface="Times New Roman"/>
                <a:cs typeface="Times New Roman"/>
                <a:sym typeface="Times New Roman"/>
              </a:rPr>
              <a:t>Creating a new application</a:t>
            </a:r>
            <a:endParaRPr sz="3000">
              <a:latin typeface="Times New Roman"/>
              <a:ea typeface="Times New Roman"/>
              <a:cs typeface="Times New Roman"/>
              <a:sym typeface="Times New Roman"/>
            </a:endParaRPr>
          </a:p>
        </p:txBody>
      </p:sp>
      <p:pic>
        <p:nvPicPr>
          <p:cNvPr id="95" name="Google Shape;95;g3f449b83914_0_49"/>
          <p:cNvPicPr preferRelativeResize="0"/>
          <p:nvPr/>
        </p:nvPicPr>
        <p:blipFill>
          <a:blip r:embed="rId3">
            <a:alphaModFix/>
          </a:blip>
          <a:stretch>
            <a:fillRect/>
          </a:stretch>
        </p:blipFill>
        <p:spPr>
          <a:xfrm>
            <a:off x="2348175" y="1026800"/>
            <a:ext cx="4571637" cy="3811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g3f449b83914_0_56"/>
          <p:cNvSpPr txBox="1">
            <a:spLocks noGrp="1"/>
          </p:cNvSpPr>
          <p:nvPr>
            <p:ph type="ctrTitle"/>
          </p:nvPr>
        </p:nvSpPr>
        <p:spPr>
          <a:xfrm>
            <a:off x="311700" y="333500"/>
            <a:ext cx="8520600" cy="693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3000">
                <a:latin typeface="Times New Roman"/>
                <a:ea typeface="Times New Roman"/>
                <a:cs typeface="Times New Roman"/>
                <a:sym typeface="Times New Roman"/>
              </a:rPr>
              <a:t>Specifying device support</a:t>
            </a:r>
            <a:endParaRPr sz="3000">
              <a:latin typeface="Times New Roman"/>
              <a:ea typeface="Times New Roman"/>
              <a:cs typeface="Times New Roman"/>
              <a:sym typeface="Times New Roman"/>
            </a:endParaRPr>
          </a:p>
        </p:txBody>
      </p:sp>
      <p:pic>
        <p:nvPicPr>
          <p:cNvPr id="101" name="Google Shape;101;g3f449b83914_0_56"/>
          <p:cNvPicPr preferRelativeResize="0"/>
          <p:nvPr/>
        </p:nvPicPr>
        <p:blipFill>
          <a:blip r:embed="rId3">
            <a:alphaModFix/>
          </a:blip>
          <a:stretch>
            <a:fillRect/>
          </a:stretch>
        </p:blipFill>
        <p:spPr>
          <a:xfrm>
            <a:off x="2448425" y="1109025"/>
            <a:ext cx="4314291" cy="38118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g3f449b83914_0_62"/>
          <p:cNvSpPr txBox="1">
            <a:spLocks noGrp="1"/>
          </p:cNvSpPr>
          <p:nvPr>
            <p:ph type="ctrTitle"/>
          </p:nvPr>
        </p:nvSpPr>
        <p:spPr>
          <a:xfrm>
            <a:off x="311700" y="333500"/>
            <a:ext cx="8520600" cy="693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3000">
                <a:latin typeface="Times New Roman"/>
                <a:ea typeface="Times New Roman"/>
                <a:cs typeface="Times New Roman"/>
                <a:sym typeface="Times New Roman"/>
              </a:rPr>
              <a:t>Choosing a type of activity</a:t>
            </a:r>
            <a:endParaRPr sz="3000">
              <a:latin typeface="Times New Roman"/>
              <a:ea typeface="Times New Roman"/>
              <a:cs typeface="Times New Roman"/>
              <a:sym typeface="Times New Roman"/>
            </a:endParaRPr>
          </a:p>
        </p:txBody>
      </p:sp>
      <p:pic>
        <p:nvPicPr>
          <p:cNvPr id="107" name="Google Shape;107;g3f449b83914_0_62"/>
          <p:cNvPicPr preferRelativeResize="0"/>
          <p:nvPr/>
        </p:nvPicPr>
        <p:blipFill>
          <a:blip r:embed="rId3">
            <a:alphaModFix/>
          </a:blip>
          <a:stretch>
            <a:fillRect/>
          </a:stretch>
        </p:blipFill>
        <p:spPr>
          <a:xfrm>
            <a:off x="2458452" y="1129068"/>
            <a:ext cx="4240893" cy="38119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g3f449b83914_0_68"/>
          <p:cNvSpPr txBox="1">
            <a:spLocks noGrp="1"/>
          </p:cNvSpPr>
          <p:nvPr>
            <p:ph type="ctrTitle"/>
          </p:nvPr>
        </p:nvSpPr>
        <p:spPr>
          <a:xfrm>
            <a:off x="311700" y="333500"/>
            <a:ext cx="8520600" cy="693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3000">
                <a:latin typeface="Times New Roman"/>
                <a:ea typeface="Times New Roman"/>
                <a:cs typeface="Times New Roman"/>
                <a:sym typeface="Times New Roman"/>
              </a:rPr>
              <a:t>Choosing a type of activity</a:t>
            </a:r>
            <a:endParaRPr sz="3000">
              <a:latin typeface="Times New Roman"/>
              <a:ea typeface="Times New Roman"/>
              <a:cs typeface="Times New Roman"/>
              <a:sym typeface="Times New Roman"/>
            </a:endParaRPr>
          </a:p>
        </p:txBody>
      </p:sp>
      <p:pic>
        <p:nvPicPr>
          <p:cNvPr id="113" name="Google Shape;113;g3f449b83914_0_68"/>
          <p:cNvPicPr preferRelativeResize="0"/>
          <p:nvPr/>
        </p:nvPicPr>
        <p:blipFill>
          <a:blip r:embed="rId3">
            <a:alphaModFix/>
          </a:blip>
          <a:stretch>
            <a:fillRect/>
          </a:stretch>
        </p:blipFill>
        <p:spPr>
          <a:xfrm>
            <a:off x="2458452" y="1129068"/>
            <a:ext cx="4240893" cy="38119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3f449b83914_0_73"/>
          <p:cNvSpPr txBox="1">
            <a:spLocks noGrp="1"/>
          </p:cNvSpPr>
          <p:nvPr>
            <p:ph type="ctrTitle"/>
          </p:nvPr>
        </p:nvSpPr>
        <p:spPr>
          <a:xfrm>
            <a:off x="311700" y="333500"/>
            <a:ext cx="8520600" cy="693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3000">
                <a:latin typeface="Times New Roman"/>
                <a:ea typeface="Times New Roman"/>
                <a:cs typeface="Times New Roman"/>
                <a:sym typeface="Times New Roman"/>
              </a:rPr>
              <a:t>Configuring the new activity</a:t>
            </a:r>
            <a:endParaRPr sz="3000">
              <a:latin typeface="Times New Roman"/>
              <a:ea typeface="Times New Roman"/>
              <a:cs typeface="Times New Roman"/>
              <a:sym typeface="Times New Roman"/>
            </a:endParaRPr>
          </a:p>
        </p:txBody>
      </p:sp>
      <p:pic>
        <p:nvPicPr>
          <p:cNvPr id="119" name="Google Shape;119;g3f449b83914_0_73"/>
          <p:cNvPicPr preferRelativeResize="0"/>
          <p:nvPr/>
        </p:nvPicPr>
        <p:blipFill>
          <a:blip r:embed="rId3">
            <a:alphaModFix/>
          </a:blip>
          <a:stretch>
            <a:fillRect/>
          </a:stretch>
        </p:blipFill>
        <p:spPr>
          <a:xfrm>
            <a:off x="2197775" y="1026800"/>
            <a:ext cx="4863075" cy="3699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g3f449b83914_0_79"/>
          <p:cNvSpPr txBox="1">
            <a:spLocks noGrp="1"/>
          </p:cNvSpPr>
          <p:nvPr>
            <p:ph type="ctrTitle"/>
          </p:nvPr>
        </p:nvSpPr>
        <p:spPr>
          <a:xfrm>
            <a:off x="311700" y="333500"/>
            <a:ext cx="8520600" cy="693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3000" dirty="0">
                <a:latin typeface="Times New Roman"/>
                <a:ea typeface="Times New Roman"/>
                <a:cs typeface="Times New Roman"/>
                <a:sym typeface="Times New Roman"/>
              </a:rPr>
              <a:t>A Fresh project window</a:t>
            </a:r>
            <a:endParaRPr sz="3000" dirty="0">
              <a:latin typeface="Times New Roman"/>
              <a:ea typeface="Times New Roman"/>
              <a:cs typeface="Times New Roman"/>
              <a:sym typeface="Times New Roman"/>
            </a:endParaRPr>
          </a:p>
        </p:txBody>
      </p:sp>
      <p:pic>
        <p:nvPicPr>
          <p:cNvPr id="125" name="Google Shape;125;g3f449b83914_0_79"/>
          <p:cNvPicPr preferRelativeResize="0"/>
          <p:nvPr/>
        </p:nvPicPr>
        <p:blipFill>
          <a:blip r:embed="rId3">
            <a:alphaModFix/>
          </a:blip>
          <a:stretch>
            <a:fillRect/>
          </a:stretch>
        </p:blipFill>
        <p:spPr>
          <a:xfrm>
            <a:off x="1576137" y="1088963"/>
            <a:ext cx="5858557" cy="3811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8"/>
          <p:cNvSpPr txBox="1">
            <a:spLocks noGrp="1"/>
          </p:cNvSpPr>
          <p:nvPr>
            <p:ph type="title"/>
          </p:nvPr>
        </p:nvSpPr>
        <p:spPr>
          <a:xfrm>
            <a:off x="311700" y="3164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latin typeface="Times New Roman"/>
                <a:ea typeface="Times New Roman"/>
                <a:cs typeface="Times New Roman"/>
                <a:sym typeface="Times New Roman"/>
              </a:rPr>
              <a:t>Four main pillars of Android</a:t>
            </a:r>
            <a:endParaRPr>
              <a:latin typeface="Times New Roman"/>
              <a:ea typeface="Times New Roman"/>
              <a:cs typeface="Times New Roman"/>
              <a:sym typeface="Times New Roman"/>
            </a:endParaRPr>
          </a:p>
        </p:txBody>
      </p:sp>
      <p:sp>
        <p:nvSpPr>
          <p:cNvPr id="131" name="Google Shape;131;p8"/>
          <p:cNvSpPr txBox="1">
            <a:spLocks noGrp="1"/>
          </p:cNvSpPr>
          <p:nvPr>
            <p:ph type="body" idx="1"/>
          </p:nvPr>
        </p:nvSpPr>
        <p:spPr>
          <a:xfrm>
            <a:off x="311700" y="972450"/>
            <a:ext cx="8520600" cy="3416400"/>
          </a:xfrm>
          <a:prstGeom prst="rect">
            <a:avLst/>
          </a:prstGeom>
          <a:noFill/>
          <a:ln>
            <a:noFill/>
          </a:ln>
        </p:spPr>
        <p:txBody>
          <a:bodyPr spcFirstLastPara="1" wrap="square" lIns="91425" tIns="91425" rIns="91425" bIns="91425" anchor="t" anchorCtr="0">
            <a:noAutofit/>
          </a:bodyPr>
          <a:lstStyle/>
          <a:p>
            <a:pPr marL="457200" lvl="0" indent="0" algn="l" rtl="0">
              <a:lnSpc>
                <a:spcPct val="158000"/>
              </a:lnSpc>
              <a:spcBef>
                <a:spcPts val="0"/>
              </a:spcBef>
              <a:spcAft>
                <a:spcPts val="0"/>
              </a:spcAft>
              <a:buSzPts val="1800"/>
              <a:buNone/>
            </a:pPr>
            <a:r>
              <a:rPr lang="en" sz="1400" b="1">
                <a:solidFill>
                  <a:schemeClr val="dk1"/>
                </a:solidFill>
                <a:highlight>
                  <a:srgbClr val="FFFFFF"/>
                </a:highlight>
                <a:latin typeface="Times New Roman"/>
                <a:ea typeface="Times New Roman"/>
                <a:cs typeface="Times New Roman"/>
                <a:sym typeface="Times New Roman"/>
              </a:rPr>
              <a:t>Activities:</a:t>
            </a:r>
            <a:r>
              <a:rPr lang="en" sz="1400">
                <a:solidFill>
                  <a:schemeClr val="dk1"/>
                </a:solidFill>
                <a:highlight>
                  <a:srgbClr val="FFFFFF"/>
                </a:highlight>
                <a:latin typeface="Times New Roman"/>
                <a:ea typeface="Times New Roman"/>
                <a:cs typeface="Times New Roman"/>
                <a:sym typeface="Times New Roman"/>
              </a:rPr>
              <a:t> You can understand a little bit by seeing its name. The activity represents your app. The activity makes your app communicate with the user. Activity let the user use your app, which means all the screen, buttons, switch, and views are the part of the activity that helps to share your idea with the user. Users will see the app with the help of an activity. Shortly you can say it as “user interface”.</a:t>
            </a:r>
            <a:endParaRPr sz="1400">
              <a:solidFill>
                <a:schemeClr val="dk1"/>
              </a:solidFill>
              <a:highlight>
                <a:srgbClr val="FFFFFF"/>
              </a:highlight>
              <a:latin typeface="Times New Roman"/>
              <a:ea typeface="Times New Roman"/>
              <a:cs typeface="Times New Roman"/>
              <a:sym typeface="Times New Roman"/>
            </a:endParaRPr>
          </a:p>
          <a:p>
            <a:pPr marL="457200" lvl="0" indent="0" algn="l" rtl="0">
              <a:lnSpc>
                <a:spcPct val="158000"/>
              </a:lnSpc>
              <a:spcBef>
                <a:spcPts val="1800"/>
              </a:spcBef>
              <a:spcAft>
                <a:spcPts val="0"/>
              </a:spcAft>
              <a:buSzPts val="1800"/>
              <a:buNone/>
            </a:pPr>
            <a:r>
              <a:rPr lang="en" sz="1400" b="1">
                <a:solidFill>
                  <a:schemeClr val="dk1"/>
                </a:solidFill>
                <a:highlight>
                  <a:srgbClr val="FFFFFF"/>
                </a:highlight>
                <a:latin typeface="Times New Roman"/>
                <a:ea typeface="Times New Roman"/>
                <a:cs typeface="Times New Roman"/>
                <a:sym typeface="Times New Roman"/>
              </a:rPr>
              <a:t>Services: </a:t>
            </a:r>
            <a:r>
              <a:rPr lang="en" sz="1400">
                <a:solidFill>
                  <a:schemeClr val="dk1"/>
                </a:solidFill>
                <a:highlight>
                  <a:srgbClr val="FFFFFF"/>
                </a:highlight>
                <a:latin typeface="Times New Roman"/>
                <a:ea typeface="Times New Roman"/>
                <a:cs typeface="Times New Roman"/>
                <a:sym typeface="Times New Roman"/>
              </a:rPr>
              <a:t>Services are this part which users can’t see directly but It’s very important and one of the main parts of your app. Service runs in the background to perform long-running operations even if the users are not active and the application is destroyed. A service interacts with a content provider, performs multiplayer in the background threads.</a:t>
            </a:r>
            <a:endParaRPr sz="1400">
              <a:solidFill>
                <a:schemeClr val="dk1"/>
              </a:solidFill>
              <a:highlight>
                <a:srgbClr val="FFFFFF"/>
              </a:highlight>
              <a:latin typeface="Times New Roman"/>
              <a:ea typeface="Times New Roman"/>
              <a:cs typeface="Times New Roman"/>
              <a:sym typeface="Times New Roman"/>
            </a:endParaRPr>
          </a:p>
          <a:p>
            <a:pPr marL="0" lvl="0" indent="0" algn="l" rtl="0">
              <a:lnSpc>
                <a:spcPct val="115000"/>
              </a:lnSpc>
              <a:spcBef>
                <a:spcPts val="1800"/>
              </a:spcBef>
              <a:spcAft>
                <a:spcPts val="1200"/>
              </a:spcAft>
              <a:buSzPts val="1800"/>
              <a:buNone/>
            </a:pP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0" algn="l" rtl="0">
              <a:lnSpc>
                <a:spcPct val="158000"/>
              </a:lnSpc>
              <a:spcBef>
                <a:spcPts val="0"/>
              </a:spcBef>
              <a:spcAft>
                <a:spcPts val="0"/>
              </a:spcAft>
              <a:buSzPts val="1800"/>
              <a:buNone/>
            </a:pPr>
            <a:r>
              <a:rPr lang="en" sz="1400" b="1">
                <a:solidFill>
                  <a:schemeClr val="dk1"/>
                </a:solidFill>
                <a:highlight>
                  <a:srgbClr val="FFFFFF"/>
                </a:highlight>
                <a:latin typeface="Times New Roman"/>
                <a:ea typeface="Times New Roman"/>
                <a:cs typeface="Times New Roman"/>
                <a:sym typeface="Times New Roman"/>
              </a:rPr>
              <a:t>Broadcast Receivers:</a:t>
            </a:r>
            <a:r>
              <a:rPr lang="en" sz="1400">
                <a:solidFill>
                  <a:schemeClr val="dk1"/>
                </a:solidFill>
                <a:highlight>
                  <a:srgbClr val="FFFFFF"/>
                </a:highlight>
                <a:latin typeface="Times New Roman"/>
                <a:ea typeface="Times New Roman"/>
                <a:cs typeface="Times New Roman"/>
                <a:sym typeface="Times New Roman"/>
              </a:rPr>
              <a:t> Broadcast receivers help your app to communicate with android systems. With the help of a broadcast receiver, your app can communicate with other app events and system events. One has to be very aware of broadcast receivers. It can help to build a fast and user-friendly app by communicating with the system.</a:t>
            </a:r>
            <a:endParaRPr sz="1400">
              <a:solidFill>
                <a:schemeClr val="dk1"/>
              </a:solidFill>
              <a:highlight>
                <a:srgbClr val="FFFFFF"/>
              </a:highlight>
              <a:latin typeface="Times New Roman"/>
              <a:ea typeface="Times New Roman"/>
              <a:cs typeface="Times New Roman"/>
              <a:sym typeface="Times New Roman"/>
            </a:endParaRPr>
          </a:p>
          <a:p>
            <a:pPr marL="457200" lvl="0" indent="0" algn="l" rtl="0">
              <a:lnSpc>
                <a:spcPct val="158000"/>
              </a:lnSpc>
              <a:spcBef>
                <a:spcPts val="1800"/>
              </a:spcBef>
              <a:spcAft>
                <a:spcPts val="1800"/>
              </a:spcAft>
              <a:buSzPts val="1800"/>
              <a:buNone/>
            </a:pPr>
            <a:r>
              <a:rPr lang="en" sz="1400" b="1">
                <a:solidFill>
                  <a:schemeClr val="dk1"/>
                </a:solidFill>
                <a:highlight>
                  <a:srgbClr val="FFFFFF"/>
                </a:highlight>
                <a:latin typeface="Times New Roman"/>
                <a:ea typeface="Times New Roman"/>
                <a:cs typeface="Times New Roman"/>
                <a:sym typeface="Times New Roman"/>
              </a:rPr>
              <a:t>Content Providers: </a:t>
            </a:r>
            <a:r>
              <a:rPr lang="en" sz="1400">
                <a:solidFill>
                  <a:schemeClr val="dk1"/>
                </a:solidFill>
                <a:highlight>
                  <a:srgbClr val="FFFFFF"/>
                </a:highlight>
                <a:latin typeface="Times New Roman"/>
                <a:ea typeface="Times New Roman"/>
                <a:cs typeface="Times New Roman"/>
                <a:sym typeface="Times New Roman"/>
              </a:rPr>
              <a:t>Content Provider is a very important part of android. It handles the data part of your app. It helps to provide the main content of your app with the main data that you want to show in your app. Not only you can access your app data you can also access the data of other apps as per your need and app permissions.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0"/>
          <p:cNvSpPr txBox="1">
            <a:spLocks noGrp="1"/>
          </p:cNvSpPr>
          <p:nvPr>
            <p:ph type="title"/>
          </p:nvPr>
        </p:nvSpPr>
        <p:spPr>
          <a:xfrm>
            <a:off x="311700" y="204393"/>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Basic structural layout of Android Studio	</a:t>
            </a:r>
            <a:endParaRPr/>
          </a:p>
        </p:txBody>
      </p:sp>
      <p:pic>
        <p:nvPicPr>
          <p:cNvPr id="142" name="Google Shape;142;p10"/>
          <p:cNvPicPr preferRelativeResize="0"/>
          <p:nvPr/>
        </p:nvPicPr>
        <p:blipFill>
          <a:blip r:embed="rId3">
            <a:alphaModFix/>
          </a:blip>
          <a:stretch>
            <a:fillRect/>
          </a:stretch>
        </p:blipFill>
        <p:spPr>
          <a:xfrm>
            <a:off x="718887" y="844717"/>
            <a:ext cx="5219700" cy="40957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1"/>
          <p:cNvSpPr txBox="1">
            <a:spLocks noGrp="1"/>
          </p:cNvSpPr>
          <p:nvPr>
            <p:ph type="title"/>
          </p:nvPr>
        </p:nvSpPr>
        <p:spPr>
          <a:xfrm>
            <a:off x="311700" y="2135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Android Platform Architecture</a:t>
            </a:r>
            <a:endParaRPr/>
          </a:p>
        </p:txBody>
      </p:sp>
      <p:pic>
        <p:nvPicPr>
          <p:cNvPr id="148" name="Google Shape;148;p11"/>
          <p:cNvPicPr preferRelativeResize="0"/>
          <p:nvPr/>
        </p:nvPicPr>
        <p:blipFill rotWithShape="1">
          <a:blip r:embed="rId3">
            <a:alphaModFix/>
          </a:blip>
          <a:srcRect/>
          <a:stretch/>
        </p:blipFill>
        <p:spPr>
          <a:xfrm>
            <a:off x="1028700" y="938675"/>
            <a:ext cx="6673700" cy="39733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2"/>
          <p:cNvSpPr txBox="1">
            <a:spLocks noGrp="1"/>
          </p:cNvSpPr>
          <p:nvPr>
            <p:ph type="body" idx="1"/>
          </p:nvPr>
        </p:nvSpPr>
        <p:spPr>
          <a:xfrm>
            <a:off x="311700" y="398625"/>
            <a:ext cx="8520600" cy="41703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Clr>
                <a:schemeClr val="dk1"/>
              </a:buClr>
              <a:buSzPts val="1100"/>
              <a:buFont typeface="Arial"/>
              <a:buNone/>
            </a:pPr>
            <a:r>
              <a:rPr lang="en" sz="1300">
                <a:solidFill>
                  <a:srgbClr val="273239"/>
                </a:solidFill>
                <a:highlight>
                  <a:srgbClr val="FFFFFF"/>
                </a:highlight>
                <a:latin typeface="Nunito"/>
                <a:ea typeface="Nunito"/>
                <a:cs typeface="Nunito"/>
                <a:sym typeface="Nunito"/>
              </a:rPr>
              <a:t>The main components of android architecture are following:-</a:t>
            </a:r>
            <a:endParaRPr sz="1300">
              <a:solidFill>
                <a:srgbClr val="273239"/>
              </a:solidFill>
              <a:highlight>
                <a:srgbClr val="FFFFFF"/>
              </a:highlight>
              <a:latin typeface="Nunito"/>
              <a:ea typeface="Nunito"/>
              <a:cs typeface="Nunito"/>
              <a:sym typeface="Nunito"/>
            </a:endParaRPr>
          </a:p>
          <a:p>
            <a:pPr marL="685800" lvl="0" indent="-311150" algn="l" rtl="0">
              <a:lnSpc>
                <a:spcPct val="158000"/>
              </a:lnSpc>
              <a:spcBef>
                <a:spcPts val="800"/>
              </a:spcBef>
              <a:spcAft>
                <a:spcPts val="0"/>
              </a:spcAft>
              <a:buClr>
                <a:srgbClr val="273239"/>
              </a:buClr>
              <a:buSzPts val="1300"/>
              <a:buFont typeface="Nunito"/>
              <a:buChar char="●"/>
            </a:pPr>
            <a:r>
              <a:rPr lang="en" sz="1300">
                <a:solidFill>
                  <a:srgbClr val="273239"/>
                </a:solidFill>
                <a:highlight>
                  <a:srgbClr val="FFFFFF"/>
                </a:highlight>
                <a:latin typeface="Nunito"/>
                <a:ea typeface="Nunito"/>
                <a:cs typeface="Nunito"/>
                <a:sym typeface="Nunito"/>
              </a:rPr>
              <a:t>Applications</a:t>
            </a:r>
            <a:endParaRPr sz="1300">
              <a:solidFill>
                <a:srgbClr val="273239"/>
              </a:solidFill>
              <a:highlight>
                <a:srgbClr val="FFFFFF"/>
              </a:highlight>
              <a:latin typeface="Nunito"/>
              <a:ea typeface="Nunito"/>
              <a:cs typeface="Nunito"/>
              <a:sym typeface="Nunito"/>
            </a:endParaRPr>
          </a:p>
          <a:p>
            <a:pPr marL="685800" lvl="0" indent="-311150" algn="l" rtl="0">
              <a:lnSpc>
                <a:spcPct val="158000"/>
              </a:lnSpc>
              <a:spcBef>
                <a:spcPts val="0"/>
              </a:spcBef>
              <a:spcAft>
                <a:spcPts val="0"/>
              </a:spcAft>
              <a:buClr>
                <a:srgbClr val="273239"/>
              </a:buClr>
              <a:buSzPts val="1300"/>
              <a:buFont typeface="Nunito"/>
              <a:buChar char="●"/>
            </a:pPr>
            <a:r>
              <a:rPr lang="en" sz="1300">
                <a:solidFill>
                  <a:srgbClr val="273239"/>
                </a:solidFill>
                <a:highlight>
                  <a:srgbClr val="FFFFFF"/>
                </a:highlight>
                <a:latin typeface="Nunito"/>
                <a:ea typeface="Nunito"/>
                <a:cs typeface="Nunito"/>
                <a:sym typeface="Nunito"/>
              </a:rPr>
              <a:t>Application Framework</a:t>
            </a:r>
            <a:endParaRPr sz="1300">
              <a:solidFill>
                <a:srgbClr val="273239"/>
              </a:solidFill>
              <a:highlight>
                <a:srgbClr val="FFFFFF"/>
              </a:highlight>
              <a:latin typeface="Nunito"/>
              <a:ea typeface="Nunito"/>
              <a:cs typeface="Nunito"/>
              <a:sym typeface="Nunito"/>
            </a:endParaRPr>
          </a:p>
          <a:p>
            <a:pPr marL="685800" lvl="0" indent="-311150" algn="l" rtl="0">
              <a:lnSpc>
                <a:spcPct val="158000"/>
              </a:lnSpc>
              <a:spcBef>
                <a:spcPts val="0"/>
              </a:spcBef>
              <a:spcAft>
                <a:spcPts val="0"/>
              </a:spcAft>
              <a:buClr>
                <a:srgbClr val="273239"/>
              </a:buClr>
              <a:buSzPts val="1300"/>
              <a:buFont typeface="Nunito"/>
              <a:buChar char="●"/>
            </a:pPr>
            <a:r>
              <a:rPr lang="en" sz="1300">
                <a:solidFill>
                  <a:srgbClr val="273239"/>
                </a:solidFill>
                <a:highlight>
                  <a:srgbClr val="FFFFFF"/>
                </a:highlight>
                <a:latin typeface="Nunito"/>
                <a:ea typeface="Nunito"/>
                <a:cs typeface="Nunito"/>
                <a:sym typeface="Nunito"/>
              </a:rPr>
              <a:t>Android Runtime</a:t>
            </a:r>
            <a:endParaRPr sz="1300">
              <a:solidFill>
                <a:srgbClr val="273239"/>
              </a:solidFill>
              <a:highlight>
                <a:srgbClr val="FFFFFF"/>
              </a:highlight>
              <a:latin typeface="Nunito"/>
              <a:ea typeface="Nunito"/>
              <a:cs typeface="Nunito"/>
              <a:sym typeface="Nunito"/>
            </a:endParaRPr>
          </a:p>
          <a:p>
            <a:pPr marL="685800" lvl="0" indent="-311150" algn="l" rtl="0">
              <a:lnSpc>
                <a:spcPct val="158000"/>
              </a:lnSpc>
              <a:spcBef>
                <a:spcPts val="0"/>
              </a:spcBef>
              <a:spcAft>
                <a:spcPts val="0"/>
              </a:spcAft>
              <a:buClr>
                <a:srgbClr val="273239"/>
              </a:buClr>
              <a:buSzPts val="1300"/>
              <a:buFont typeface="Nunito"/>
              <a:buChar char="●"/>
            </a:pPr>
            <a:r>
              <a:rPr lang="en" sz="1300">
                <a:solidFill>
                  <a:srgbClr val="273239"/>
                </a:solidFill>
                <a:highlight>
                  <a:srgbClr val="FFFFFF"/>
                </a:highlight>
                <a:latin typeface="Nunito"/>
                <a:ea typeface="Nunito"/>
                <a:cs typeface="Nunito"/>
                <a:sym typeface="Nunito"/>
              </a:rPr>
              <a:t>Platform Libraries</a:t>
            </a:r>
            <a:endParaRPr sz="1300">
              <a:solidFill>
                <a:srgbClr val="273239"/>
              </a:solidFill>
              <a:highlight>
                <a:srgbClr val="FFFFFF"/>
              </a:highlight>
              <a:latin typeface="Nunito"/>
              <a:ea typeface="Nunito"/>
              <a:cs typeface="Nunito"/>
              <a:sym typeface="Nunito"/>
            </a:endParaRPr>
          </a:p>
          <a:p>
            <a:pPr marL="685800" lvl="0" indent="-311150" algn="l" rtl="0">
              <a:lnSpc>
                <a:spcPct val="158000"/>
              </a:lnSpc>
              <a:spcBef>
                <a:spcPts val="0"/>
              </a:spcBef>
              <a:spcAft>
                <a:spcPts val="0"/>
              </a:spcAft>
              <a:buClr>
                <a:srgbClr val="273239"/>
              </a:buClr>
              <a:buSzPts val="1300"/>
              <a:buFont typeface="Nunito"/>
              <a:buChar char="●"/>
            </a:pPr>
            <a:r>
              <a:rPr lang="en" sz="1300">
                <a:solidFill>
                  <a:srgbClr val="273239"/>
                </a:solidFill>
                <a:highlight>
                  <a:srgbClr val="FFFFFF"/>
                </a:highlight>
                <a:latin typeface="Nunito"/>
                <a:ea typeface="Nunito"/>
                <a:cs typeface="Nunito"/>
                <a:sym typeface="Nunito"/>
              </a:rPr>
              <a:t>Linux Kernel</a:t>
            </a:r>
            <a:endParaRPr sz="1300">
              <a:solidFill>
                <a:srgbClr val="273239"/>
              </a:solidFill>
              <a:highlight>
                <a:srgbClr val="FFFFFF"/>
              </a:highlight>
              <a:latin typeface="Nunito"/>
              <a:ea typeface="Nunito"/>
              <a:cs typeface="Nunito"/>
              <a:sym typeface="Nunito"/>
            </a:endParaRPr>
          </a:p>
          <a:p>
            <a:pPr marL="0" lvl="0" indent="0" algn="l" rtl="0">
              <a:lnSpc>
                <a:spcPct val="115000"/>
              </a:lnSpc>
              <a:spcBef>
                <a:spcPts val="1800"/>
              </a:spcBef>
              <a:spcAft>
                <a:spcPts val="0"/>
              </a:spcAft>
              <a:buSzPts val="1800"/>
              <a:buNone/>
            </a:pPr>
            <a:r>
              <a:rPr lang="en" b="1">
                <a:solidFill>
                  <a:srgbClr val="273239"/>
                </a:solidFill>
                <a:highlight>
                  <a:srgbClr val="FFFFFF"/>
                </a:highlight>
                <a:latin typeface="Nunito"/>
                <a:ea typeface="Nunito"/>
                <a:cs typeface="Nunito"/>
                <a:sym typeface="Nunito"/>
              </a:rPr>
              <a:t>Applications –</a:t>
            </a:r>
            <a:endParaRPr b="1">
              <a:solidFill>
                <a:srgbClr val="273239"/>
              </a:solidFill>
              <a:highlight>
                <a:srgbClr val="FFFFFF"/>
              </a:highlight>
              <a:latin typeface="Nunito"/>
              <a:ea typeface="Nunito"/>
              <a:cs typeface="Nunito"/>
              <a:sym typeface="Nunito"/>
            </a:endParaRPr>
          </a:p>
          <a:p>
            <a:pPr marL="0" lvl="0" indent="0" algn="l" rtl="0">
              <a:lnSpc>
                <a:spcPct val="115000"/>
              </a:lnSpc>
              <a:spcBef>
                <a:spcPts val="0"/>
              </a:spcBef>
              <a:spcAft>
                <a:spcPts val="0"/>
              </a:spcAft>
              <a:buSzPts val="1800"/>
              <a:buNone/>
            </a:pPr>
            <a:r>
              <a:rPr lang="en" sz="1300">
                <a:solidFill>
                  <a:srgbClr val="273239"/>
                </a:solidFill>
                <a:highlight>
                  <a:srgbClr val="FFFFFF"/>
                </a:highlight>
                <a:latin typeface="Nunito"/>
                <a:ea typeface="Nunito"/>
                <a:cs typeface="Nunito"/>
                <a:sym typeface="Nunito"/>
              </a:rPr>
              <a:t>Applications is the top layer of android architecture. The pre-installed applications like home, contacts, camera, gallery etc and third party applications downloaded from the play store like chat applications, games etc. will be installed on this layer only.</a:t>
            </a:r>
            <a:br>
              <a:rPr lang="en" sz="1300">
                <a:solidFill>
                  <a:srgbClr val="273239"/>
                </a:solidFill>
                <a:highlight>
                  <a:srgbClr val="FFFFFF"/>
                </a:highlight>
                <a:latin typeface="Nunito"/>
                <a:ea typeface="Nunito"/>
                <a:cs typeface="Nunito"/>
                <a:sym typeface="Nunito"/>
              </a:rPr>
            </a:br>
            <a:r>
              <a:rPr lang="en" sz="1300">
                <a:solidFill>
                  <a:srgbClr val="273239"/>
                </a:solidFill>
                <a:highlight>
                  <a:srgbClr val="FFFFFF"/>
                </a:highlight>
                <a:latin typeface="Nunito"/>
                <a:ea typeface="Nunito"/>
                <a:cs typeface="Nunito"/>
                <a:sym typeface="Nunito"/>
              </a:rPr>
              <a:t>It runs within the Android run time with the help of the classes and services provided by the application framework.</a:t>
            </a:r>
            <a:endParaRPr sz="13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1200"/>
              </a:spcAft>
              <a:buSzPts val="1800"/>
              <a:buNone/>
            </a:pPr>
            <a:endParaRPr sz="1700" b="1">
              <a:solidFill>
                <a:srgbClr val="202124"/>
              </a:solidFill>
              <a:highlight>
                <a:srgbClr val="FFFFFF"/>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3"/>
          <p:cNvSpPr txBox="1">
            <a:spLocks noGrp="1"/>
          </p:cNvSpPr>
          <p:nvPr>
            <p:ph type="body" idx="1"/>
          </p:nvPr>
        </p:nvSpPr>
        <p:spPr>
          <a:xfrm>
            <a:off x="311700" y="244325"/>
            <a:ext cx="8520600" cy="4590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Clr>
                <a:schemeClr val="dk1"/>
              </a:buClr>
              <a:buSzPts val="1100"/>
              <a:buFont typeface="Arial"/>
              <a:buNone/>
            </a:pPr>
            <a:r>
              <a:rPr lang="en" b="1">
                <a:solidFill>
                  <a:schemeClr val="dk1"/>
                </a:solidFill>
                <a:highlight>
                  <a:srgbClr val="FFFFFF"/>
                </a:highlight>
                <a:latin typeface="Nunito"/>
                <a:ea typeface="Nunito"/>
                <a:cs typeface="Nunito"/>
                <a:sym typeface="Nunito"/>
              </a:rPr>
              <a:t>Application framework –</a:t>
            </a:r>
            <a:endParaRPr b="1">
              <a:solidFill>
                <a:schemeClr val="dk1"/>
              </a:solidFill>
              <a:highlight>
                <a:srgbClr val="FFFFFF"/>
              </a:highlight>
              <a:latin typeface="Nunito"/>
              <a:ea typeface="Nunito"/>
              <a:cs typeface="Nunito"/>
              <a:sym typeface="Nunito"/>
            </a:endParaRPr>
          </a:p>
          <a:p>
            <a:pPr marL="0" lvl="0" indent="0" algn="l" rtl="0">
              <a:lnSpc>
                <a:spcPct val="115000"/>
              </a:lnSpc>
              <a:spcBef>
                <a:spcPts val="0"/>
              </a:spcBef>
              <a:spcAft>
                <a:spcPts val="0"/>
              </a:spcAft>
              <a:buClr>
                <a:schemeClr val="dk1"/>
              </a:buClr>
              <a:buSzPts val="1100"/>
              <a:buFont typeface="Arial"/>
              <a:buNone/>
            </a:pPr>
            <a:r>
              <a:rPr lang="en" sz="1300">
                <a:solidFill>
                  <a:schemeClr val="dk1"/>
                </a:solidFill>
                <a:highlight>
                  <a:srgbClr val="FFFFFF"/>
                </a:highlight>
                <a:latin typeface="Nunito"/>
                <a:ea typeface="Nunito"/>
                <a:cs typeface="Nunito"/>
                <a:sym typeface="Nunito"/>
              </a:rPr>
              <a:t>Application Framework provides several important classes which are used to create an Android application. It provides a generic abstraction for hardware access and also helps in managing the user interface with application resources. Generally, it provides the services with the help of which we can create a particular class and make that class helpful for the Applications creation.</a:t>
            </a:r>
            <a:endParaRPr sz="1300">
              <a:solidFill>
                <a:schemeClr val="dk1"/>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 sz="1300">
                <a:solidFill>
                  <a:schemeClr val="dk1"/>
                </a:solidFill>
                <a:highlight>
                  <a:srgbClr val="FFFFFF"/>
                </a:highlight>
                <a:latin typeface="Nunito"/>
                <a:ea typeface="Nunito"/>
                <a:cs typeface="Nunito"/>
                <a:sym typeface="Nunito"/>
              </a:rPr>
              <a:t>It includes different types of services activity manager, notification manager, view system, package manager etc. which are helpful for the development of our application according to the prerequisite.</a:t>
            </a:r>
            <a:endParaRPr sz="1300">
              <a:solidFill>
                <a:schemeClr val="dk1"/>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 b="1">
                <a:solidFill>
                  <a:schemeClr val="dk1"/>
                </a:solidFill>
                <a:highlight>
                  <a:srgbClr val="FFFFFF"/>
                </a:highlight>
                <a:latin typeface="Nunito"/>
                <a:ea typeface="Nunito"/>
                <a:cs typeface="Nunito"/>
                <a:sym typeface="Nunito"/>
              </a:rPr>
              <a:t>Application runtime –</a:t>
            </a:r>
            <a:endParaRPr b="1">
              <a:solidFill>
                <a:schemeClr val="dk1"/>
              </a:solidFill>
              <a:highlight>
                <a:srgbClr val="FFFFFF"/>
              </a:highlight>
              <a:latin typeface="Nunito"/>
              <a:ea typeface="Nunito"/>
              <a:cs typeface="Nunito"/>
              <a:sym typeface="Nunito"/>
            </a:endParaRPr>
          </a:p>
          <a:p>
            <a:pPr marL="0" lvl="0" indent="0" algn="l" rtl="0">
              <a:lnSpc>
                <a:spcPct val="115000"/>
              </a:lnSpc>
              <a:spcBef>
                <a:spcPts val="0"/>
              </a:spcBef>
              <a:spcAft>
                <a:spcPts val="0"/>
              </a:spcAft>
              <a:buClr>
                <a:schemeClr val="dk1"/>
              </a:buClr>
              <a:buSzPts val="1100"/>
              <a:buFont typeface="Arial"/>
              <a:buNone/>
            </a:pPr>
            <a:r>
              <a:rPr lang="en" sz="1300">
                <a:solidFill>
                  <a:schemeClr val="dk1"/>
                </a:solidFill>
                <a:highlight>
                  <a:srgbClr val="FFFFFF"/>
                </a:highlight>
                <a:latin typeface="Nunito"/>
                <a:ea typeface="Nunito"/>
                <a:cs typeface="Nunito"/>
                <a:sym typeface="Nunito"/>
              </a:rPr>
              <a:t>Android Runtime environment is one of the most important part of Android. It contains components like core libraries and the Dalvik virtual machine(DVM). Mainly, it provides the base for the application framework and powers our application with the help of the core libraries.</a:t>
            </a:r>
            <a:endParaRPr sz="1300">
              <a:solidFill>
                <a:schemeClr val="dk1"/>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 sz="1300">
                <a:solidFill>
                  <a:schemeClr val="dk1"/>
                </a:solidFill>
                <a:highlight>
                  <a:srgbClr val="FFFFFF"/>
                </a:highlight>
                <a:latin typeface="Nunito"/>
                <a:ea typeface="Nunito"/>
                <a:cs typeface="Nunito"/>
                <a:sym typeface="Nunito"/>
              </a:rPr>
              <a:t>Like Java Virtual Machine (JVM), </a:t>
            </a:r>
            <a:r>
              <a:rPr lang="en" sz="1300" b="1">
                <a:solidFill>
                  <a:schemeClr val="dk1"/>
                </a:solidFill>
                <a:highlight>
                  <a:srgbClr val="FFFFFF"/>
                </a:highlight>
                <a:latin typeface="Nunito"/>
                <a:ea typeface="Nunito"/>
                <a:cs typeface="Nunito"/>
                <a:sym typeface="Nunito"/>
              </a:rPr>
              <a:t>Dalvik Virtual Machine (DVM)</a:t>
            </a:r>
            <a:r>
              <a:rPr lang="en" sz="1300">
                <a:solidFill>
                  <a:schemeClr val="dk1"/>
                </a:solidFill>
                <a:highlight>
                  <a:srgbClr val="FFFFFF"/>
                </a:highlight>
                <a:latin typeface="Nunito"/>
                <a:ea typeface="Nunito"/>
                <a:cs typeface="Nunito"/>
                <a:sym typeface="Nunito"/>
              </a:rPr>
              <a:t> is a register-based virtual machine and specially designed and optimized for android to ensure that a device can run multiple instances efficiently. It depends on the layer Linux kernel for threading and low-level memory management. The core libraries enable us to implement android applications using the standard JAVA or Kotlin programming languages.</a:t>
            </a:r>
            <a:endParaRPr sz="1300">
              <a:solidFill>
                <a:schemeClr val="dk1"/>
              </a:solidFill>
              <a:highlight>
                <a:srgbClr val="FFFFFF"/>
              </a:highlight>
              <a:latin typeface="Nunito"/>
              <a:ea typeface="Nunito"/>
              <a:cs typeface="Nunito"/>
              <a:sym typeface="Nunito"/>
            </a:endParaRPr>
          </a:p>
          <a:p>
            <a:pPr marL="0" lvl="0" indent="0" algn="l" rtl="0">
              <a:lnSpc>
                <a:spcPct val="115000"/>
              </a:lnSpc>
              <a:spcBef>
                <a:spcPts val="800"/>
              </a:spcBef>
              <a:spcAft>
                <a:spcPts val="1200"/>
              </a:spcAft>
              <a:buSzPts val="1800"/>
              <a:buNone/>
            </a:pPr>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4"/>
          <p:cNvSpPr txBox="1">
            <a:spLocks noGrp="1"/>
          </p:cNvSpPr>
          <p:nvPr>
            <p:ph type="body" idx="1"/>
          </p:nvPr>
        </p:nvSpPr>
        <p:spPr>
          <a:xfrm>
            <a:off x="311700" y="154325"/>
            <a:ext cx="8520600" cy="4500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 sz="1200" b="1">
                <a:solidFill>
                  <a:srgbClr val="202124"/>
                </a:solidFill>
                <a:highlight>
                  <a:srgbClr val="FFFFFF"/>
                </a:highlight>
              </a:rPr>
              <a:t>Native C/C++ libraries </a:t>
            </a:r>
            <a:endParaRPr sz="1200" b="1">
              <a:solidFill>
                <a:srgbClr val="202124"/>
              </a:solidFill>
              <a:highlight>
                <a:srgbClr val="FFFFFF"/>
              </a:highlight>
            </a:endParaRPr>
          </a:p>
          <a:p>
            <a:pPr marL="0" lvl="0" indent="0" algn="l" rtl="0">
              <a:lnSpc>
                <a:spcPct val="115000"/>
              </a:lnSpc>
              <a:spcBef>
                <a:spcPts val="1200"/>
              </a:spcBef>
              <a:spcAft>
                <a:spcPts val="0"/>
              </a:spcAft>
              <a:buSzPts val="1800"/>
              <a:buNone/>
            </a:pPr>
            <a:r>
              <a:rPr lang="en" sz="1200">
                <a:solidFill>
                  <a:srgbClr val="202124"/>
                </a:solidFill>
                <a:highlight>
                  <a:srgbClr val="FFFFFF"/>
                </a:highlight>
                <a:latin typeface="Roboto"/>
                <a:ea typeface="Roboto"/>
                <a:cs typeface="Roboto"/>
                <a:sym typeface="Roboto"/>
              </a:rPr>
              <a:t>Many core Android system components and services, such as ART and HAL, are built from native code that requires native libraries written in C and C++. The Android platform provides Java framework APIs to expose the functionality of some of these native libraries to apps. For example, you can access OpenGL ES through the Android framework’s Java OpenGL API to add support for drawing and manipulating 2D and 3D graphics in your app.</a:t>
            </a:r>
            <a:endParaRPr sz="1200">
              <a:solidFill>
                <a:srgbClr val="202124"/>
              </a:solidFill>
              <a:highlight>
                <a:srgbClr val="FFFFFF"/>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en" sz="1200">
                <a:solidFill>
                  <a:srgbClr val="202124"/>
                </a:solidFill>
                <a:highlight>
                  <a:srgbClr val="FFFFFF"/>
                </a:highlight>
                <a:latin typeface="Roboto"/>
                <a:ea typeface="Roboto"/>
                <a:cs typeface="Roboto"/>
                <a:sym typeface="Roboto"/>
              </a:rPr>
              <a:t>If you are developing an app that requires C or C++ code, you can use the Android NDK to access some of these native platform libraries directly from your native code.</a:t>
            </a:r>
            <a:endParaRPr sz="1200">
              <a:solidFill>
                <a:srgbClr val="202124"/>
              </a:solidFill>
              <a:highlight>
                <a:srgbClr val="FFFFFF"/>
              </a:highlight>
              <a:latin typeface="Roboto"/>
              <a:ea typeface="Roboto"/>
              <a:cs typeface="Roboto"/>
              <a:sym typeface="Roboto"/>
            </a:endParaRPr>
          </a:p>
          <a:p>
            <a:pPr marL="0" lvl="0" indent="0" algn="l" rtl="0">
              <a:lnSpc>
                <a:spcPct val="115000"/>
              </a:lnSpc>
              <a:spcBef>
                <a:spcPts val="1800"/>
              </a:spcBef>
              <a:spcAft>
                <a:spcPts val="0"/>
              </a:spcAft>
              <a:buClr>
                <a:schemeClr val="dk1"/>
              </a:buClr>
              <a:buSzPts val="1100"/>
              <a:buFont typeface="Arial"/>
              <a:buNone/>
            </a:pPr>
            <a:r>
              <a:rPr lang="en" sz="1200" b="1">
                <a:solidFill>
                  <a:srgbClr val="202124"/>
                </a:solidFill>
                <a:highlight>
                  <a:srgbClr val="FFFFFF"/>
                </a:highlight>
              </a:rPr>
              <a:t>Java API framework </a:t>
            </a:r>
            <a:endParaRPr sz="1200" b="1">
              <a:solidFill>
                <a:srgbClr val="202124"/>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r>
              <a:rPr lang="en" sz="1200">
                <a:solidFill>
                  <a:srgbClr val="202124"/>
                </a:solidFill>
                <a:highlight>
                  <a:srgbClr val="FFFFFF"/>
                </a:highlight>
                <a:latin typeface="Roboto"/>
                <a:ea typeface="Roboto"/>
                <a:cs typeface="Roboto"/>
                <a:sym typeface="Roboto"/>
              </a:rPr>
              <a:t>The entire feature-set of the Android OS is available to you through APIs written in the Java language. These APIs form the building blocks you need to create Android apps by simplifying the reuse of core, modular system components and services, which include the following:</a:t>
            </a:r>
            <a:endParaRPr sz="1200">
              <a:solidFill>
                <a:srgbClr val="202124"/>
              </a:solidFill>
              <a:highlight>
                <a:srgbClr val="FFFFFF"/>
              </a:highlight>
              <a:latin typeface="Roboto"/>
              <a:ea typeface="Roboto"/>
              <a:cs typeface="Roboto"/>
              <a:sym typeface="Roboto"/>
            </a:endParaRPr>
          </a:p>
          <a:p>
            <a:pPr marL="457200" lvl="0" indent="-304800" algn="l" rtl="0">
              <a:lnSpc>
                <a:spcPct val="115000"/>
              </a:lnSpc>
              <a:spcBef>
                <a:spcPts val="1200"/>
              </a:spcBef>
              <a:spcAft>
                <a:spcPts val="0"/>
              </a:spcAft>
              <a:buClr>
                <a:srgbClr val="202124"/>
              </a:buClr>
              <a:buSzPts val="1200"/>
              <a:buFont typeface="Roboto"/>
              <a:buChar char="●"/>
            </a:pPr>
            <a:r>
              <a:rPr lang="en" sz="1200">
                <a:solidFill>
                  <a:srgbClr val="202124"/>
                </a:solidFill>
                <a:highlight>
                  <a:srgbClr val="FFFFFF"/>
                </a:highlight>
                <a:latin typeface="Roboto"/>
                <a:ea typeface="Roboto"/>
                <a:cs typeface="Roboto"/>
                <a:sym typeface="Roboto"/>
              </a:rPr>
              <a:t>A rich and extensible view system you can use to build an app’s UI, including lists, grids, text boxes, buttons, and even an embeddable web browser</a:t>
            </a:r>
            <a:endParaRPr sz="1200">
              <a:solidFill>
                <a:srgbClr val="202124"/>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202124"/>
              </a:buClr>
              <a:buSzPts val="1200"/>
              <a:buFont typeface="Roboto"/>
              <a:buChar char="●"/>
            </a:pPr>
            <a:r>
              <a:rPr lang="en" sz="1200">
                <a:solidFill>
                  <a:srgbClr val="202124"/>
                </a:solidFill>
                <a:highlight>
                  <a:srgbClr val="FFFFFF"/>
                </a:highlight>
                <a:latin typeface="Roboto"/>
                <a:ea typeface="Roboto"/>
                <a:cs typeface="Roboto"/>
                <a:sym typeface="Roboto"/>
              </a:rPr>
              <a:t>A resource manager, providing access to non-code resources such as localized strings, graphics, and layout files</a:t>
            </a:r>
            <a:endParaRPr sz="1200">
              <a:solidFill>
                <a:srgbClr val="202124"/>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202124"/>
              </a:buClr>
              <a:buSzPts val="1200"/>
              <a:buFont typeface="Roboto"/>
              <a:buChar char="●"/>
            </a:pPr>
            <a:r>
              <a:rPr lang="en" sz="1200">
                <a:solidFill>
                  <a:srgbClr val="202124"/>
                </a:solidFill>
                <a:highlight>
                  <a:srgbClr val="FFFFFF"/>
                </a:highlight>
                <a:latin typeface="Roboto"/>
                <a:ea typeface="Roboto"/>
                <a:cs typeface="Roboto"/>
                <a:sym typeface="Roboto"/>
              </a:rPr>
              <a:t>A notification manager that enables all apps to display custom alerts in the status bar</a:t>
            </a:r>
            <a:endParaRPr sz="1200">
              <a:solidFill>
                <a:srgbClr val="202124"/>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202124"/>
              </a:buClr>
              <a:buSzPts val="1200"/>
              <a:buFont typeface="Roboto"/>
              <a:buChar char="●"/>
            </a:pPr>
            <a:r>
              <a:rPr lang="en" sz="1200">
                <a:solidFill>
                  <a:srgbClr val="202124"/>
                </a:solidFill>
                <a:highlight>
                  <a:srgbClr val="FFFFFF"/>
                </a:highlight>
                <a:latin typeface="Roboto"/>
                <a:ea typeface="Roboto"/>
                <a:cs typeface="Roboto"/>
                <a:sym typeface="Roboto"/>
              </a:rPr>
              <a:t>An activity manager that manages the lifecycle of apps and provides a common navigation back stack</a:t>
            </a:r>
            <a:endParaRPr sz="1200" u="sng">
              <a:solidFill>
                <a:schemeClr val="hlink"/>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202124"/>
              </a:buClr>
              <a:buSzPts val="1200"/>
              <a:buFont typeface="Roboto"/>
              <a:buChar char="●"/>
            </a:pPr>
            <a:r>
              <a:rPr lang="en" sz="1200">
                <a:solidFill>
                  <a:schemeClr val="dk1"/>
                </a:solidFill>
                <a:highlight>
                  <a:srgbClr val="FFFFFF"/>
                </a:highlight>
                <a:latin typeface="Roboto"/>
                <a:ea typeface="Roboto"/>
                <a:cs typeface="Roboto"/>
                <a:sym typeface="Roboto"/>
              </a:rPr>
              <a:t>Content providers</a:t>
            </a:r>
            <a:r>
              <a:rPr lang="en" sz="1200">
                <a:solidFill>
                  <a:srgbClr val="202124"/>
                </a:solidFill>
                <a:highlight>
                  <a:srgbClr val="FFFFFF"/>
                </a:highlight>
                <a:latin typeface="Roboto"/>
                <a:ea typeface="Roboto"/>
                <a:cs typeface="Roboto"/>
                <a:sym typeface="Roboto"/>
              </a:rPr>
              <a:t> that enable apps to access data from other apps, such as the Contacts app, or to share their own data.Developers have full access to the same framework APIs that Android system apps use.</a:t>
            </a:r>
            <a:endParaRPr sz="1200">
              <a:solidFill>
                <a:srgbClr val="202124"/>
              </a:solidFill>
              <a:highlight>
                <a:srgbClr val="FFFFFF"/>
              </a:highlight>
              <a:latin typeface="Roboto"/>
              <a:ea typeface="Roboto"/>
              <a:cs typeface="Roboto"/>
              <a:sym typeface="Roboto"/>
            </a:endParaRPr>
          </a:p>
          <a:p>
            <a:pPr marL="0" lvl="0" indent="0" algn="l" rtl="0">
              <a:lnSpc>
                <a:spcPct val="115000"/>
              </a:lnSpc>
              <a:spcBef>
                <a:spcPts val="900"/>
              </a:spcBef>
              <a:spcAft>
                <a:spcPts val="1200"/>
              </a:spcAft>
              <a:buSzPts val="1800"/>
              <a:buNone/>
            </a:pPr>
            <a:endParaRPr sz="12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5"/>
          <p:cNvSpPr txBox="1">
            <a:spLocks noGrp="1"/>
          </p:cNvSpPr>
          <p:nvPr>
            <p:ph type="body" idx="1"/>
          </p:nvPr>
        </p:nvSpPr>
        <p:spPr>
          <a:xfrm>
            <a:off x="311700" y="450050"/>
            <a:ext cx="8520600" cy="4118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800"/>
              </a:spcBef>
              <a:spcAft>
                <a:spcPts val="0"/>
              </a:spcAft>
              <a:buClr>
                <a:schemeClr val="dk1"/>
              </a:buClr>
              <a:buSzPts val="1100"/>
              <a:buFont typeface="Arial"/>
              <a:buNone/>
            </a:pPr>
            <a:r>
              <a:rPr lang="en" sz="1400" b="1">
                <a:solidFill>
                  <a:schemeClr val="dk1"/>
                </a:solidFill>
                <a:highlight>
                  <a:srgbClr val="FFFFFF"/>
                </a:highlight>
              </a:rPr>
              <a:t>System apps </a:t>
            </a:r>
            <a:endParaRPr sz="1400" b="1">
              <a:solidFill>
                <a:schemeClr val="dk1"/>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r>
              <a:rPr lang="en" sz="1400">
                <a:solidFill>
                  <a:schemeClr val="dk1"/>
                </a:solidFill>
                <a:highlight>
                  <a:srgbClr val="FFFFFF"/>
                </a:highlight>
                <a:latin typeface="Roboto"/>
                <a:ea typeface="Roboto"/>
                <a:cs typeface="Roboto"/>
                <a:sym typeface="Roboto"/>
              </a:rPr>
              <a:t>Android comes with a set of core apps for email, SMS messaging, calendars, internet browsing, contacts, and more. Apps included with the platform have no special status among the apps the user chooses to install. So, a third-party app can become the user's default web browser, SMS messenger, or even the default keyboard. Some exceptions apply, such as the system's Settings app.</a:t>
            </a:r>
            <a:endParaRPr sz="1400">
              <a:solidFill>
                <a:schemeClr val="dk1"/>
              </a:solidFill>
              <a:highlight>
                <a:srgbClr val="FFFFFF"/>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en" sz="1400">
                <a:solidFill>
                  <a:schemeClr val="dk1"/>
                </a:solidFill>
                <a:highlight>
                  <a:srgbClr val="FFFFFF"/>
                </a:highlight>
                <a:latin typeface="Roboto"/>
                <a:ea typeface="Roboto"/>
                <a:cs typeface="Roboto"/>
                <a:sym typeface="Roboto"/>
              </a:rPr>
              <a:t>The system apps function both as apps for users and to provide key capabilities that developers can access from their own app. For example, if you want your app to deliver SMS messages, you don't need to build that functionality yourself. You can instead invoke whichever SMS app is already installed to deliver a message to the recipient you specify.</a:t>
            </a:r>
            <a:endParaRPr sz="1400">
              <a:solidFill>
                <a:schemeClr val="dk1"/>
              </a:solidFill>
              <a:highlight>
                <a:srgbClr val="FFFFFF"/>
              </a:highlight>
              <a:latin typeface="Roboto"/>
              <a:ea typeface="Roboto"/>
              <a:cs typeface="Roboto"/>
              <a:sym typeface="Roboto"/>
            </a:endParaRPr>
          </a:p>
          <a:p>
            <a:pPr marL="0" lvl="0" indent="0" algn="l" rtl="0">
              <a:lnSpc>
                <a:spcPct val="115000"/>
              </a:lnSpc>
              <a:spcBef>
                <a:spcPts val="1200"/>
              </a:spcBef>
              <a:spcAft>
                <a:spcPts val="1200"/>
              </a:spcAft>
              <a:buSzPts val="1800"/>
              <a:buNone/>
            </a:pPr>
            <a:endParaRPr sz="14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Important Android Terminology</a:t>
            </a:r>
            <a:endParaRPr/>
          </a:p>
        </p:txBody>
      </p:sp>
      <p:sp>
        <p:nvSpPr>
          <p:cNvPr id="174" name="Google Shape;174;p16"/>
          <p:cNvSpPr txBox="1">
            <a:spLocks noGrp="1"/>
          </p:cNvSpPr>
          <p:nvPr>
            <p:ph type="body" idx="1"/>
          </p:nvPr>
        </p:nvSpPr>
        <p:spPr>
          <a:xfrm>
            <a:off x="311700" y="1000075"/>
            <a:ext cx="8520600" cy="38109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sz="1400" b="1">
                <a:solidFill>
                  <a:schemeClr val="dk1"/>
                </a:solidFill>
              </a:rPr>
              <a:t>Context : </a:t>
            </a:r>
            <a:r>
              <a:rPr lang="en" sz="1400">
                <a:solidFill>
                  <a:schemeClr val="dk1"/>
                </a:solidFill>
              </a:rPr>
              <a:t>The context is the central command center for an Android application. All application-specific functionality can be accessed through the context.</a:t>
            </a:r>
            <a:endParaRPr sz="1400">
              <a:solidFill>
                <a:schemeClr val="dk1"/>
              </a:solidFill>
            </a:endParaRPr>
          </a:p>
          <a:p>
            <a:pPr marL="0" lvl="0" indent="0" algn="l" rtl="0">
              <a:lnSpc>
                <a:spcPct val="115000"/>
              </a:lnSpc>
              <a:spcBef>
                <a:spcPts val="1200"/>
              </a:spcBef>
              <a:spcAft>
                <a:spcPts val="0"/>
              </a:spcAft>
              <a:buSzPts val="1800"/>
              <a:buNone/>
            </a:pPr>
            <a:r>
              <a:rPr lang="en" sz="1400" b="1">
                <a:solidFill>
                  <a:schemeClr val="dk1"/>
                </a:solidFill>
              </a:rPr>
              <a:t>Activity </a:t>
            </a:r>
            <a:r>
              <a:rPr lang="en" sz="1400">
                <a:solidFill>
                  <a:schemeClr val="dk1"/>
                </a:solidFill>
              </a:rPr>
              <a:t>: An Android application is a collection of tasks, each of which is called an Activity. Each Activity with in an application has a unique task or purpose.</a:t>
            </a:r>
            <a:endParaRPr sz="1400">
              <a:solidFill>
                <a:schemeClr val="dk1"/>
              </a:solidFill>
            </a:endParaRPr>
          </a:p>
          <a:p>
            <a:pPr marL="0" lvl="0" indent="0" algn="l" rtl="0">
              <a:lnSpc>
                <a:spcPct val="115000"/>
              </a:lnSpc>
              <a:spcBef>
                <a:spcPts val="1200"/>
              </a:spcBef>
              <a:spcAft>
                <a:spcPts val="0"/>
              </a:spcAft>
              <a:buSzPts val="1800"/>
              <a:buNone/>
            </a:pPr>
            <a:r>
              <a:rPr lang="en" sz="1400" b="1">
                <a:solidFill>
                  <a:schemeClr val="dk1"/>
                </a:solidFill>
              </a:rPr>
              <a:t>Intent </a:t>
            </a:r>
            <a:r>
              <a:rPr lang="en" sz="1400">
                <a:solidFill>
                  <a:schemeClr val="dk1"/>
                </a:solidFill>
              </a:rPr>
              <a:t>: The Android operating system uses an asynchronous messaging mechanism to match task requests with the appropriate Activity. Each request is packaged as an Intent. You can think of each such request as a message stating </a:t>
            </a:r>
            <a:r>
              <a:rPr lang="en" sz="1400" i="1">
                <a:solidFill>
                  <a:schemeClr val="dk1"/>
                </a:solidFill>
              </a:rPr>
              <a:t>an intent to do something.</a:t>
            </a:r>
            <a:endParaRPr sz="1400" i="1">
              <a:solidFill>
                <a:schemeClr val="dk1"/>
              </a:solidFill>
            </a:endParaRPr>
          </a:p>
          <a:p>
            <a:pPr marL="0" lvl="0" indent="0" algn="l" rtl="0">
              <a:lnSpc>
                <a:spcPct val="115000"/>
              </a:lnSpc>
              <a:spcBef>
                <a:spcPts val="1200"/>
              </a:spcBef>
              <a:spcAft>
                <a:spcPts val="1200"/>
              </a:spcAft>
              <a:buClr>
                <a:schemeClr val="dk1"/>
              </a:buClr>
              <a:buSzPts val="1100"/>
              <a:buFont typeface="Arial"/>
              <a:buNone/>
            </a:pPr>
            <a:r>
              <a:rPr lang="en" sz="1400" b="1">
                <a:solidFill>
                  <a:schemeClr val="dk1"/>
                </a:solidFill>
              </a:rPr>
              <a:t>Service</a:t>
            </a:r>
            <a:r>
              <a:rPr lang="en" sz="1400">
                <a:solidFill>
                  <a:schemeClr val="dk1"/>
                </a:solidFill>
              </a:rPr>
              <a:t>: Tasks that to do not require user interaction can encapsulated in a service. A service is most useful when the operation are lengthy or need to be done regularly(such as checking server for new email).</a:t>
            </a:r>
            <a:endParaRPr sz="14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pic>
        <p:nvPicPr>
          <p:cNvPr id="179" name="Google Shape;179;p17"/>
          <p:cNvPicPr preferRelativeResize="0"/>
          <p:nvPr/>
        </p:nvPicPr>
        <p:blipFill rotWithShape="1">
          <a:blip r:embed="rId3">
            <a:alphaModFix/>
          </a:blip>
          <a:srcRect/>
          <a:stretch/>
        </p:blipFill>
        <p:spPr>
          <a:xfrm>
            <a:off x="1067275" y="385775"/>
            <a:ext cx="7445226" cy="46053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8"/>
          <p:cNvSpPr txBox="1">
            <a:spLocks noGrp="1"/>
          </p:cNvSpPr>
          <p:nvPr>
            <p:ph type="body" idx="1"/>
          </p:nvPr>
        </p:nvSpPr>
        <p:spPr>
          <a:xfrm>
            <a:off x="311700" y="295750"/>
            <a:ext cx="8520600" cy="4603500"/>
          </a:xfrm>
          <a:prstGeom prst="rect">
            <a:avLst/>
          </a:prstGeom>
          <a:noFill/>
          <a:ln>
            <a:noFill/>
          </a:ln>
        </p:spPr>
        <p:txBody>
          <a:bodyPr spcFirstLastPara="1" wrap="square" lIns="91425" tIns="91425" rIns="91425" bIns="91425" anchor="t" anchorCtr="0">
            <a:normAutofit fontScale="92500" lnSpcReduction="20000"/>
          </a:bodyPr>
          <a:lstStyle/>
          <a:p>
            <a:pPr marL="0" lvl="0" indent="0" algn="l" rtl="0">
              <a:lnSpc>
                <a:spcPct val="115000"/>
              </a:lnSpc>
              <a:spcBef>
                <a:spcPts val="1800"/>
              </a:spcBef>
              <a:spcAft>
                <a:spcPts val="0"/>
              </a:spcAft>
              <a:buClr>
                <a:schemeClr val="dk1"/>
              </a:buClr>
              <a:buSzPct val="78571"/>
              <a:buFont typeface="Arial"/>
              <a:buNone/>
            </a:pPr>
            <a:r>
              <a:rPr lang="en" sz="1400" b="1">
                <a:solidFill>
                  <a:schemeClr val="dk1"/>
                </a:solidFill>
                <a:highlight>
                  <a:srgbClr val="FFFFFF"/>
                </a:highlight>
                <a:latin typeface="Nunito"/>
                <a:ea typeface="Nunito"/>
                <a:cs typeface="Nunito"/>
                <a:sym typeface="Nunito"/>
              </a:rPr>
              <a:t>1. onCreate()</a:t>
            </a:r>
            <a:endParaRPr sz="1400" b="1">
              <a:solidFill>
                <a:schemeClr val="dk1"/>
              </a:solidFill>
              <a:highlight>
                <a:srgbClr val="FFFFFF"/>
              </a:highlight>
              <a:latin typeface="Nunito"/>
              <a:ea typeface="Nunito"/>
              <a:cs typeface="Nunito"/>
              <a:sym typeface="Nunito"/>
            </a:endParaRPr>
          </a:p>
          <a:p>
            <a:pPr marL="0" lvl="0" indent="0" algn="l" rtl="0">
              <a:lnSpc>
                <a:spcPct val="115000"/>
              </a:lnSpc>
              <a:spcBef>
                <a:spcPts val="1800"/>
              </a:spcBef>
              <a:spcAft>
                <a:spcPts val="0"/>
              </a:spcAft>
              <a:buClr>
                <a:schemeClr val="dk1"/>
              </a:buClr>
              <a:buSzPct val="84615"/>
              <a:buFont typeface="Arial"/>
              <a:buNone/>
            </a:pPr>
            <a:r>
              <a:rPr lang="en" sz="1300">
                <a:solidFill>
                  <a:schemeClr val="dk1"/>
                </a:solidFill>
                <a:highlight>
                  <a:srgbClr val="FFFFFF"/>
                </a:highlight>
                <a:latin typeface="Nunito"/>
                <a:ea typeface="Nunito"/>
                <a:cs typeface="Nunito"/>
                <a:sym typeface="Nunito"/>
              </a:rPr>
              <a:t>It is called when the activity is first created. This is where all the static work is done like creating views, binding data to lists, etc. This method also provides a Bundle containing its previous frozen state, if there was one. </a:t>
            </a:r>
            <a:endParaRPr sz="1300">
              <a:solidFill>
                <a:schemeClr val="dk1"/>
              </a:solidFill>
              <a:highlight>
                <a:srgbClr val="FFFFFF"/>
              </a:highlight>
              <a:latin typeface="Nunito"/>
              <a:ea typeface="Nunito"/>
              <a:cs typeface="Nunito"/>
              <a:sym typeface="Nunito"/>
            </a:endParaRPr>
          </a:p>
          <a:p>
            <a:pPr marL="0" lvl="0" indent="0" algn="l" rtl="0">
              <a:lnSpc>
                <a:spcPct val="115000"/>
              </a:lnSpc>
              <a:spcBef>
                <a:spcPts val="1800"/>
              </a:spcBef>
              <a:spcAft>
                <a:spcPts val="0"/>
              </a:spcAft>
              <a:buClr>
                <a:schemeClr val="dk1"/>
              </a:buClr>
              <a:buSzPct val="78571"/>
              <a:buFont typeface="Arial"/>
              <a:buNone/>
            </a:pPr>
            <a:r>
              <a:rPr lang="en" sz="1400" b="1">
                <a:solidFill>
                  <a:schemeClr val="dk1"/>
                </a:solidFill>
                <a:highlight>
                  <a:srgbClr val="FFFFFF"/>
                </a:highlight>
                <a:latin typeface="Nunito"/>
                <a:ea typeface="Nunito"/>
                <a:cs typeface="Nunito"/>
                <a:sym typeface="Nunito"/>
              </a:rPr>
              <a:t>2. onStart() </a:t>
            </a:r>
            <a:endParaRPr sz="1400" b="1">
              <a:solidFill>
                <a:schemeClr val="dk1"/>
              </a:solidFill>
              <a:highlight>
                <a:srgbClr val="FFFFFF"/>
              </a:highlight>
              <a:latin typeface="Nunito"/>
              <a:ea typeface="Nunito"/>
              <a:cs typeface="Nunito"/>
              <a:sym typeface="Nunito"/>
            </a:endParaRPr>
          </a:p>
          <a:p>
            <a:pPr marL="0" lvl="0" indent="0" algn="l" rtl="0">
              <a:lnSpc>
                <a:spcPct val="115000"/>
              </a:lnSpc>
              <a:spcBef>
                <a:spcPts val="1800"/>
              </a:spcBef>
              <a:spcAft>
                <a:spcPts val="0"/>
              </a:spcAft>
              <a:buClr>
                <a:schemeClr val="dk1"/>
              </a:buClr>
              <a:buSzPct val="84615"/>
              <a:buFont typeface="Arial"/>
              <a:buNone/>
            </a:pPr>
            <a:r>
              <a:rPr lang="en" sz="1300">
                <a:solidFill>
                  <a:schemeClr val="dk1"/>
                </a:solidFill>
                <a:highlight>
                  <a:srgbClr val="FFFFFF"/>
                </a:highlight>
                <a:latin typeface="Nunito"/>
                <a:ea typeface="Nunito"/>
                <a:cs typeface="Nunito"/>
                <a:sym typeface="Nunito"/>
              </a:rPr>
              <a:t>It is invoked when the activity is visible to the user. It is followed by onResume() if the activity is invoked from the background. It is also invoked after onCreate() when the activity is first started.  </a:t>
            </a:r>
            <a:endParaRPr sz="1300">
              <a:solidFill>
                <a:schemeClr val="dk1"/>
              </a:solidFill>
              <a:highlight>
                <a:srgbClr val="FFFFFF"/>
              </a:highlight>
              <a:latin typeface="Nunito"/>
              <a:ea typeface="Nunito"/>
              <a:cs typeface="Nunito"/>
              <a:sym typeface="Nunito"/>
            </a:endParaRPr>
          </a:p>
          <a:p>
            <a:pPr marL="0" lvl="0" indent="0" algn="l" rtl="0">
              <a:lnSpc>
                <a:spcPct val="115000"/>
              </a:lnSpc>
              <a:spcBef>
                <a:spcPts val="1800"/>
              </a:spcBef>
              <a:spcAft>
                <a:spcPts val="0"/>
              </a:spcAft>
              <a:buClr>
                <a:schemeClr val="dk1"/>
              </a:buClr>
              <a:buSzPct val="78571"/>
              <a:buFont typeface="Arial"/>
              <a:buNone/>
            </a:pPr>
            <a:r>
              <a:rPr lang="en" sz="1400" b="1">
                <a:solidFill>
                  <a:schemeClr val="dk1"/>
                </a:solidFill>
                <a:highlight>
                  <a:srgbClr val="FFFFFF"/>
                </a:highlight>
                <a:latin typeface="Nunito"/>
                <a:ea typeface="Nunito"/>
                <a:cs typeface="Nunito"/>
                <a:sym typeface="Nunito"/>
              </a:rPr>
              <a:t>3. onRestart() </a:t>
            </a:r>
            <a:endParaRPr sz="1400" b="1">
              <a:solidFill>
                <a:schemeClr val="dk1"/>
              </a:solidFill>
              <a:highlight>
                <a:srgbClr val="FFFFFF"/>
              </a:highlight>
              <a:latin typeface="Nunito"/>
              <a:ea typeface="Nunito"/>
              <a:cs typeface="Nunito"/>
              <a:sym typeface="Nunito"/>
            </a:endParaRPr>
          </a:p>
          <a:p>
            <a:pPr marL="0" lvl="0" indent="0" algn="l" rtl="0">
              <a:lnSpc>
                <a:spcPct val="115000"/>
              </a:lnSpc>
              <a:spcBef>
                <a:spcPts val="1800"/>
              </a:spcBef>
              <a:spcAft>
                <a:spcPts val="0"/>
              </a:spcAft>
              <a:buClr>
                <a:schemeClr val="dk1"/>
              </a:buClr>
              <a:buSzPct val="84615"/>
              <a:buFont typeface="Arial"/>
              <a:buNone/>
            </a:pPr>
            <a:r>
              <a:rPr lang="en" sz="1300">
                <a:solidFill>
                  <a:schemeClr val="dk1"/>
                </a:solidFill>
                <a:highlight>
                  <a:srgbClr val="FFFFFF"/>
                </a:highlight>
                <a:latin typeface="Nunito"/>
                <a:ea typeface="Nunito"/>
                <a:cs typeface="Nunito"/>
                <a:sym typeface="Nunito"/>
              </a:rPr>
              <a:t>It is invoked after the activity has been stopped and prior to its starting stage and thus is always followed by onStart() when any activity is revived from background to on-screen.  </a:t>
            </a:r>
            <a:endParaRPr sz="1300">
              <a:solidFill>
                <a:schemeClr val="dk1"/>
              </a:solidFill>
              <a:highlight>
                <a:srgbClr val="FFFFFF"/>
              </a:highlight>
              <a:latin typeface="Nunito"/>
              <a:ea typeface="Nunito"/>
              <a:cs typeface="Nunito"/>
              <a:sym typeface="Nunito"/>
            </a:endParaRPr>
          </a:p>
          <a:p>
            <a:pPr marL="0" lvl="0" indent="0" algn="l" rtl="0">
              <a:lnSpc>
                <a:spcPct val="115000"/>
              </a:lnSpc>
              <a:spcBef>
                <a:spcPts val="1800"/>
              </a:spcBef>
              <a:spcAft>
                <a:spcPts val="0"/>
              </a:spcAft>
              <a:buClr>
                <a:schemeClr val="dk1"/>
              </a:buClr>
              <a:buSzPct val="78571"/>
              <a:buFont typeface="Arial"/>
              <a:buNone/>
            </a:pPr>
            <a:r>
              <a:rPr lang="en" sz="1400" b="1">
                <a:solidFill>
                  <a:schemeClr val="dk1"/>
                </a:solidFill>
                <a:highlight>
                  <a:srgbClr val="FFFFFF"/>
                </a:highlight>
                <a:latin typeface="Nunito"/>
                <a:ea typeface="Nunito"/>
                <a:cs typeface="Nunito"/>
                <a:sym typeface="Nunito"/>
              </a:rPr>
              <a:t>4. onResume() </a:t>
            </a:r>
            <a:endParaRPr sz="1400" b="1">
              <a:solidFill>
                <a:schemeClr val="dk1"/>
              </a:solidFill>
              <a:highlight>
                <a:srgbClr val="FFFFFF"/>
              </a:highlight>
              <a:latin typeface="Nunito"/>
              <a:ea typeface="Nunito"/>
              <a:cs typeface="Nunito"/>
              <a:sym typeface="Nunito"/>
            </a:endParaRPr>
          </a:p>
          <a:p>
            <a:pPr marL="0" lvl="0" indent="0" algn="l" rtl="0">
              <a:lnSpc>
                <a:spcPct val="115000"/>
              </a:lnSpc>
              <a:spcBef>
                <a:spcPts val="1800"/>
              </a:spcBef>
              <a:spcAft>
                <a:spcPts val="0"/>
              </a:spcAft>
              <a:buClr>
                <a:schemeClr val="dk1"/>
              </a:buClr>
              <a:buSzPct val="84615"/>
              <a:buFont typeface="Arial"/>
              <a:buNone/>
            </a:pPr>
            <a:r>
              <a:rPr lang="en" sz="1300">
                <a:solidFill>
                  <a:schemeClr val="dk1"/>
                </a:solidFill>
                <a:highlight>
                  <a:srgbClr val="FFFFFF"/>
                </a:highlight>
                <a:latin typeface="Nunito"/>
                <a:ea typeface="Nunito"/>
                <a:cs typeface="Nunito"/>
                <a:sym typeface="Nunito"/>
              </a:rPr>
              <a:t>It is invoked when the activity starts interacting with the user. At this point, the activity is at the top of the activity stack, with a user interacting with it. Always followed by onPause() when the activity goes into the background or is closed by the user. </a:t>
            </a:r>
            <a:endParaRPr sz="1300">
              <a:solidFill>
                <a:schemeClr val="dk1"/>
              </a:solidFill>
              <a:highlight>
                <a:srgbClr val="FFFFFF"/>
              </a:highlight>
              <a:latin typeface="Nunito"/>
              <a:ea typeface="Nunito"/>
              <a:cs typeface="Nunito"/>
              <a:sym typeface="Nunito"/>
            </a:endParaRPr>
          </a:p>
          <a:p>
            <a:pPr marL="0" lvl="0" indent="0" algn="l" rtl="0">
              <a:lnSpc>
                <a:spcPct val="115000"/>
              </a:lnSpc>
              <a:spcBef>
                <a:spcPts val="800"/>
              </a:spcBef>
              <a:spcAft>
                <a:spcPts val="1200"/>
              </a:spcAft>
              <a:buSzPct val="108108"/>
              <a:buNone/>
            </a:pPr>
            <a:endParaRPr>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9"/>
          <p:cNvSpPr txBox="1">
            <a:spLocks noGrp="1"/>
          </p:cNvSpPr>
          <p:nvPr>
            <p:ph type="body" idx="1"/>
          </p:nvPr>
        </p:nvSpPr>
        <p:spPr>
          <a:xfrm>
            <a:off x="311700" y="437200"/>
            <a:ext cx="8520600" cy="4436400"/>
          </a:xfrm>
          <a:prstGeom prst="rect">
            <a:avLst/>
          </a:prstGeom>
          <a:noFill/>
          <a:ln>
            <a:noFill/>
          </a:ln>
        </p:spPr>
        <p:txBody>
          <a:bodyPr spcFirstLastPara="1" wrap="square" lIns="91425" tIns="91425" rIns="91425" bIns="91425" anchor="t" anchorCtr="0">
            <a:normAutofit fontScale="92500" lnSpcReduction="10000"/>
          </a:bodyPr>
          <a:lstStyle/>
          <a:p>
            <a:pPr marL="0" lvl="0" indent="0" algn="l" rtl="0">
              <a:lnSpc>
                <a:spcPct val="115000"/>
              </a:lnSpc>
              <a:spcBef>
                <a:spcPts val="1800"/>
              </a:spcBef>
              <a:spcAft>
                <a:spcPts val="0"/>
              </a:spcAft>
              <a:buClr>
                <a:schemeClr val="dk1"/>
              </a:buClr>
              <a:buSzPct val="78571"/>
              <a:buFont typeface="Arial"/>
              <a:buNone/>
            </a:pPr>
            <a:r>
              <a:rPr lang="en" sz="1400" b="1">
                <a:solidFill>
                  <a:schemeClr val="dk1"/>
                </a:solidFill>
                <a:highlight>
                  <a:srgbClr val="FFFFFF"/>
                </a:highlight>
                <a:latin typeface="Nunito"/>
                <a:ea typeface="Nunito"/>
                <a:cs typeface="Nunito"/>
                <a:sym typeface="Nunito"/>
              </a:rPr>
              <a:t>5. onPause() </a:t>
            </a:r>
            <a:endParaRPr sz="1400" b="1">
              <a:solidFill>
                <a:schemeClr val="dk1"/>
              </a:solidFill>
              <a:highlight>
                <a:srgbClr val="FFFFFF"/>
              </a:highlight>
              <a:latin typeface="Nunito"/>
              <a:ea typeface="Nunito"/>
              <a:cs typeface="Nunito"/>
              <a:sym typeface="Nunito"/>
            </a:endParaRPr>
          </a:p>
          <a:p>
            <a:pPr marL="0" lvl="0" indent="0" algn="l" rtl="0">
              <a:lnSpc>
                <a:spcPct val="115000"/>
              </a:lnSpc>
              <a:spcBef>
                <a:spcPts val="1800"/>
              </a:spcBef>
              <a:spcAft>
                <a:spcPts val="0"/>
              </a:spcAft>
              <a:buClr>
                <a:schemeClr val="dk1"/>
              </a:buClr>
              <a:buSzPct val="84615"/>
              <a:buFont typeface="Arial"/>
              <a:buNone/>
            </a:pPr>
            <a:r>
              <a:rPr lang="en" sz="1300">
                <a:solidFill>
                  <a:schemeClr val="dk1"/>
                </a:solidFill>
                <a:highlight>
                  <a:srgbClr val="FFFFFF"/>
                </a:highlight>
                <a:latin typeface="Nunito"/>
                <a:ea typeface="Nunito"/>
                <a:cs typeface="Nunito"/>
                <a:sym typeface="Nunito"/>
              </a:rPr>
              <a:t>It is invoked when an activity is going into the background but has not yet been killed. It is a counterpart to onResume(). When an activity is launched in front of another activity, this callback will be invoked on the top activity (currently on screen). The activity, under the active activity, will not be created until the active activity’s onPause() returns, so it is recommended that heavy processing should not be done in this part. </a:t>
            </a:r>
            <a:endParaRPr sz="1300">
              <a:solidFill>
                <a:schemeClr val="dk1"/>
              </a:solidFill>
              <a:highlight>
                <a:srgbClr val="FFFFFF"/>
              </a:highlight>
              <a:latin typeface="Nunito"/>
              <a:ea typeface="Nunito"/>
              <a:cs typeface="Nunito"/>
              <a:sym typeface="Nunito"/>
            </a:endParaRPr>
          </a:p>
          <a:p>
            <a:pPr marL="0" lvl="0" indent="0" algn="l" rtl="0">
              <a:lnSpc>
                <a:spcPct val="115000"/>
              </a:lnSpc>
              <a:spcBef>
                <a:spcPts val="1800"/>
              </a:spcBef>
              <a:spcAft>
                <a:spcPts val="0"/>
              </a:spcAft>
              <a:buClr>
                <a:schemeClr val="dk1"/>
              </a:buClr>
              <a:buSzPct val="78571"/>
              <a:buFont typeface="Arial"/>
              <a:buNone/>
            </a:pPr>
            <a:r>
              <a:rPr lang="en" sz="1400" b="1">
                <a:solidFill>
                  <a:schemeClr val="dk1"/>
                </a:solidFill>
                <a:highlight>
                  <a:srgbClr val="FFFFFF"/>
                </a:highlight>
                <a:latin typeface="Nunito"/>
                <a:ea typeface="Nunito"/>
                <a:cs typeface="Nunito"/>
                <a:sym typeface="Nunito"/>
              </a:rPr>
              <a:t>6. onStop()</a:t>
            </a:r>
            <a:endParaRPr sz="1400" b="1">
              <a:solidFill>
                <a:schemeClr val="dk1"/>
              </a:solidFill>
              <a:highlight>
                <a:srgbClr val="FFFFFF"/>
              </a:highlight>
              <a:latin typeface="Nunito"/>
              <a:ea typeface="Nunito"/>
              <a:cs typeface="Nunito"/>
              <a:sym typeface="Nunito"/>
            </a:endParaRPr>
          </a:p>
          <a:p>
            <a:pPr marL="0" lvl="0" indent="0" algn="l" rtl="0">
              <a:lnSpc>
                <a:spcPct val="115000"/>
              </a:lnSpc>
              <a:spcBef>
                <a:spcPts val="1800"/>
              </a:spcBef>
              <a:spcAft>
                <a:spcPts val="0"/>
              </a:spcAft>
              <a:buClr>
                <a:schemeClr val="dk1"/>
              </a:buClr>
              <a:buSzPct val="84615"/>
              <a:buFont typeface="Arial"/>
              <a:buNone/>
            </a:pPr>
            <a:r>
              <a:rPr lang="en" sz="1300">
                <a:solidFill>
                  <a:schemeClr val="dk1"/>
                </a:solidFill>
                <a:highlight>
                  <a:srgbClr val="FFFFFF"/>
                </a:highlight>
                <a:latin typeface="Nunito"/>
                <a:ea typeface="Nunito"/>
                <a:cs typeface="Nunito"/>
                <a:sym typeface="Nunito"/>
              </a:rPr>
              <a:t>It is invoked when the activity is not visible to the user. It is followed by </a:t>
            </a:r>
            <a:r>
              <a:rPr lang="en" sz="1300" b="1">
                <a:solidFill>
                  <a:schemeClr val="dk1"/>
                </a:solidFill>
                <a:highlight>
                  <a:srgbClr val="FFFFFF"/>
                </a:highlight>
                <a:latin typeface="Nunito"/>
                <a:ea typeface="Nunito"/>
                <a:cs typeface="Nunito"/>
                <a:sym typeface="Nunito"/>
              </a:rPr>
              <a:t>onRestart()</a:t>
            </a:r>
            <a:r>
              <a:rPr lang="en" sz="1300">
                <a:solidFill>
                  <a:schemeClr val="dk1"/>
                </a:solidFill>
                <a:highlight>
                  <a:srgbClr val="FFFFFF"/>
                </a:highlight>
                <a:latin typeface="Nunito"/>
                <a:ea typeface="Nunito"/>
                <a:cs typeface="Nunito"/>
                <a:sym typeface="Nunito"/>
              </a:rPr>
              <a:t> when the activity is revoked from the background, followed by onDestroy() when the activity is closed or finished, and nothing when the activity remains on the background only. Note that this method may never be called, in low memory situations where the system does not have enough memory to keep the activity’s process running after its onPause() method is called.  </a:t>
            </a:r>
            <a:endParaRPr sz="1300">
              <a:solidFill>
                <a:schemeClr val="dk1"/>
              </a:solidFill>
              <a:highlight>
                <a:srgbClr val="FFFFFF"/>
              </a:highlight>
              <a:latin typeface="Nunito"/>
              <a:ea typeface="Nunito"/>
              <a:cs typeface="Nunito"/>
              <a:sym typeface="Nunito"/>
            </a:endParaRPr>
          </a:p>
          <a:p>
            <a:pPr marL="0" lvl="0" indent="0" algn="l" rtl="0">
              <a:lnSpc>
                <a:spcPct val="115000"/>
              </a:lnSpc>
              <a:spcBef>
                <a:spcPts val="1800"/>
              </a:spcBef>
              <a:spcAft>
                <a:spcPts val="0"/>
              </a:spcAft>
              <a:buClr>
                <a:schemeClr val="dk1"/>
              </a:buClr>
              <a:buSzPct val="78571"/>
              <a:buFont typeface="Arial"/>
              <a:buNone/>
            </a:pPr>
            <a:r>
              <a:rPr lang="en" sz="1400" b="1">
                <a:solidFill>
                  <a:schemeClr val="dk1"/>
                </a:solidFill>
                <a:highlight>
                  <a:srgbClr val="FFFFFF"/>
                </a:highlight>
                <a:latin typeface="Nunito"/>
                <a:ea typeface="Nunito"/>
                <a:cs typeface="Nunito"/>
                <a:sym typeface="Nunito"/>
              </a:rPr>
              <a:t>7. onDestroy() </a:t>
            </a:r>
            <a:endParaRPr sz="1400" b="1">
              <a:solidFill>
                <a:schemeClr val="dk1"/>
              </a:solidFill>
              <a:highlight>
                <a:srgbClr val="FFFFFF"/>
              </a:highlight>
              <a:latin typeface="Nunito"/>
              <a:ea typeface="Nunito"/>
              <a:cs typeface="Nunito"/>
              <a:sym typeface="Nunito"/>
            </a:endParaRPr>
          </a:p>
          <a:p>
            <a:pPr marL="0" lvl="0" indent="0" algn="l" rtl="0">
              <a:lnSpc>
                <a:spcPct val="115000"/>
              </a:lnSpc>
              <a:spcBef>
                <a:spcPts val="1800"/>
              </a:spcBef>
              <a:spcAft>
                <a:spcPts val="0"/>
              </a:spcAft>
              <a:buClr>
                <a:schemeClr val="dk1"/>
              </a:buClr>
              <a:buSzPct val="84615"/>
              <a:buFont typeface="Arial"/>
              <a:buNone/>
            </a:pPr>
            <a:r>
              <a:rPr lang="en" sz="1300">
                <a:solidFill>
                  <a:schemeClr val="dk1"/>
                </a:solidFill>
                <a:highlight>
                  <a:srgbClr val="FFFFFF"/>
                </a:highlight>
                <a:latin typeface="Nunito"/>
                <a:ea typeface="Nunito"/>
                <a:cs typeface="Nunito"/>
                <a:sym typeface="Nunito"/>
              </a:rPr>
              <a:t>The final call received before the activity is destroyed. This can happen either because the activity is finishing (when finish() is invoked) or because the system is temporarily destroying this instance of the activity to save space. To distinguish between these scenarios, check it with </a:t>
            </a:r>
            <a:r>
              <a:rPr lang="en" sz="1300" b="1">
                <a:solidFill>
                  <a:schemeClr val="dk1"/>
                </a:solidFill>
                <a:highlight>
                  <a:srgbClr val="FFFFFF"/>
                </a:highlight>
                <a:latin typeface="Nunito"/>
                <a:ea typeface="Nunito"/>
                <a:cs typeface="Nunito"/>
                <a:sym typeface="Nunito"/>
              </a:rPr>
              <a:t>isFinishing() </a:t>
            </a:r>
            <a:r>
              <a:rPr lang="en" sz="1300">
                <a:solidFill>
                  <a:schemeClr val="dk1"/>
                </a:solidFill>
                <a:highlight>
                  <a:srgbClr val="FFFFFF"/>
                </a:highlight>
                <a:latin typeface="Nunito"/>
                <a:ea typeface="Nunito"/>
                <a:cs typeface="Nunito"/>
                <a:sym typeface="Nunito"/>
              </a:rPr>
              <a:t>method.  </a:t>
            </a:r>
            <a:endParaRPr sz="1300">
              <a:solidFill>
                <a:schemeClr val="dk1"/>
              </a:solidFill>
              <a:highlight>
                <a:srgbClr val="FFFFFF"/>
              </a:highlight>
              <a:latin typeface="Nunito"/>
              <a:ea typeface="Nunito"/>
              <a:cs typeface="Nunito"/>
              <a:sym typeface="Nunito"/>
            </a:endParaRPr>
          </a:p>
          <a:p>
            <a:pPr marL="0" lvl="0" indent="0" algn="l" rtl="0">
              <a:lnSpc>
                <a:spcPct val="115000"/>
              </a:lnSpc>
              <a:spcBef>
                <a:spcPts val="800"/>
              </a:spcBef>
              <a:spcAft>
                <a:spcPts val="1200"/>
              </a:spcAft>
              <a:buSzPct val="108108"/>
              <a:buNone/>
            </a:pPr>
            <a:endParaRPr>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0"/>
          <p:cNvSpPr txBox="1">
            <a:spLocks noGrp="1"/>
          </p:cNvSpPr>
          <p:nvPr>
            <p:ph type="body" idx="1"/>
          </p:nvPr>
        </p:nvSpPr>
        <p:spPr>
          <a:xfrm>
            <a:off x="311700" y="90025"/>
            <a:ext cx="8520600" cy="4770600"/>
          </a:xfrm>
          <a:prstGeom prst="rect">
            <a:avLst/>
          </a:prstGeom>
          <a:noFill/>
          <a:ln>
            <a:noFill/>
          </a:ln>
        </p:spPr>
        <p:txBody>
          <a:bodyPr spcFirstLastPara="1" wrap="square" lIns="91425" tIns="91425" rIns="91425" bIns="91425" anchor="t" anchorCtr="0">
            <a:noAutofit/>
          </a:bodyPr>
          <a:lstStyle/>
          <a:p>
            <a:pPr marL="0" marR="139700" lvl="0" indent="0" algn="l" rtl="0">
              <a:lnSpc>
                <a:spcPct val="120000"/>
              </a:lnSpc>
              <a:spcBef>
                <a:spcPts val="0"/>
              </a:spcBef>
              <a:spcAft>
                <a:spcPts val="0"/>
              </a:spcAft>
              <a:buClr>
                <a:schemeClr val="dk1"/>
              </a:buClr>
              <a:buSzPts val="1100"/>
              <a:buFont typeface="Arial"/>
              <a:buNone/>
            </a:pPr>
            <a:r>
              <a:rPr lang="en" sz="1100" b="1" dirty="0">
                <a:solidFill>
                  <a:schemeClr val="tx1"/>
                </a:solidFill>
                <a:highlight>
                  <a:srgbClr val="FFFFFF"/>
                </a:highlight>
                <a:latin typeface="Courier New"/>
                <a:ea typeface="Courier New"/>
                <a:cs typeface="Courier New"/>
                <a:sym typeface="Courier New"/>
              </a:rPr>
              <a:t>import</a:t>
            </a:r>
            <a:r>
              <a:rPr lang="en" sz="1100" dirty="0">
                <a:solidFill>
                  <a:schemeClr val="tx1"/>
                </a:solidFill>
                <a:highlight>
                  <a:srgbClr val="FFFFFF"/>
                </a:highlight>
                <a:latin typeface="Courier New"/>
                <a:ea typeface="Courier New"/>
                <a:cs typeface="Courier New"/>
                <a:sym typeface="Courier New"/>
              </a:rPr>
              <a:t> android.support.v7.app.AppCompatActivity;</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b="1" dirty="0">
                <a:solidFill>
                  <a:schemeClr val="tx1"/>
                </a:solidFill>
                <a:highlight>
                  <a:srgbClr val="FFFFFF"/>
                </a:highlight>
                <a:latin typeface="Courier New"/>
                <a:ea typeface="Courier New"/>
                <a:cs typeface="Courier New"/>
                <a:sym typeface="Courier New"/>
              </a:rPr>
              <a:t>import</a:t>
            </a:r>
            <a:r>
              <a:rPr lang="en" sz="1100" dirty="0">
                <a:solidFill>
                  <a:schemeClr val="tx1"/>
                </a:solidFill>
                <a:highlight>
                  <a:srgbClr val="FFFFFF"/>
                </a:highlight>
                <a:latin typeface="Courier New"/>
                <a:ea typeface="Courier New"/>
                <a:cs typeface="Courier New"/>
                <a:sym typeface="Courier New"/>
              </a:rPr>
              <a:t> android.os.Bundle;</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b="1" dirty="0">
                <a:solidFill>
                  <a:schemeClr val="tx1"/>
                </a:solidFill>
                <a:highlight>
                  <a:srgbClr val="FFFFFF"/>
                </a:highlight>
                <a:latin typeface="Courier New"/>
                <a:ea typeface="Courier New"/>
                <a:cs typeface="Courier New"/>
                <a:sym typeface="Courier New"/>
              </a:rPr>
              <a:t>import</a:t>
            </a:r>
            <a:r>
              <a:rPr lang="en" sz="1100" dirty="0">
                <a:solidFill>
                  <a:schemeClr val="tx1"/>
                </a:solidFill>
                <a:highlight>
                  <a:srgbClr val="FFFFFF"/>
                </a:highlight>
                <a:latin typeface="Courier New"/>
                <a:ea typeface="Courier New"/>
                <a:cs typeface="Courier New"/>
                <a:sym typeface="Courier New"/>
              </a:rPr>
              <a:t> android.widget.Toast;</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b="1" dirty="0">
                <a:solidFill>
                  <a:schemeClr val="tx1"/>
                </a:solidFill>
                <a:highlight>
                  <a:srgbClr val="FFFFFF"/>
                </a:highlight>
                <a:latin typeface="Courier New"/>
                <a:ea typeface="Courier New"/>
                <a:cs typeface="Courier New"/>
                <a:sym typeface="Courier New"/>
              </a:rPr>
              <a:t>public</a:t>
            </a: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class</a:t>
            </a:r>
            <a:r>
              <a:rPr lang="en" sz="1100" dirty="0">
                <a:solidFill>
                  <a:schemeClr val="tx1"/>
                </a:solidFill>
                <a:highlight>
                  <a:srgbClr val="FFFFFF"/>
                </a:highlight>
                <a:latin typeface="Courier New"/>
                <a:ea typeface="Courier New"/>
                <a:cs typeface="Courier New"/>
                <a:sym typeface="Courier New"/>
              </a:rPr>
              <a:t> MainActivity </a:t>
            </a:r>
            <a:r>
              <a:rPr lang="en" sz="1100" b="1" dirty="0">
                <a:solidFill>
                  <a:schemeClr val="tx1"/>
                </a:solidFill>
                <a:highlight>
                  <a:srgbClr val="FFFFFF"/>
                </a:highlight>
                <a:latin typeface="Courier New"/>
                <a:ea typeface="Courier New"/>
                <a:cs typeface="Courier New"/>
                <a:sym typeface="Courier New"/>
              </a:rPr>
              <a:t>extends</a:t>
            </a:r>
            <a:r>
              <a:rPr lang="en" sz="1100" dirty="0">
                <a:solidFill>
                  <a:schemeClr val="tx1"/>
                </a:solidFill>
                <a:highlight>
                  <a:srgbClr val="FFFFFF"/>
                </a:highlight>
                <a:latin typeface="Courier New"/>
                <a:ea typeface="Courier New"/>
                <a:cs typeface="Courier New"/>
                <a:sym typeface="Courier New"/>
              </a:rPr>
              <a:t> AppCompatActivity {</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@Override</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protected</a:t>
            </a: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void</a:t>
            </a:r>
            <a:r>
              <a:rPr lang="en" sz="1100" dirty="0">
                <a:solidFill>
                  <a:schemeClr val="tx1"/>
                </a:solidFill>
                <a:highlight>
                  <a:srgbClr val="FFFFFF"/>
                </a:highlight>
                <a:latin typeface="Courier New"/>
                <a:ea typeface="Courier New"/>
                <a:cs typeface="Courier New"/>
                <a:sym typeface="Courier New"/>
              </a:rPr>
              <a:t> onCreate(Bundle savedInstanceState) {</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super</a:t>
            </a:r>
            <a:r>
              <a:rPr lang="en" sz="1100" dirty="0">
                <a:solidFill>
                  <a:schemeClr val="tx1"/>
                </a:solidFill>
                <a:highlight>
                  <a:srgbClr val="FFFFFF"/>
                </a:highlight>
                <a:latin typeface="Courier New"/>
                <a:ea typeface="Courier New"/>
                <a:cs typeface="Courier New"/>
                <a:sym typeface="Courier New"/>
              </a:rPr>
              <a:t>.onCreate(savedInstanceState);</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setContentView(R.layout.activity_main);</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Toast toast = Toast.makeText(getApplicationContext(), "onCreate Called", Toast.LENGTH_LONG).show();</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protected</a:t>
            </a: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void</a:t>
            </a:r>
            <a:r>
              <a:rPr lang="en" sz="1100" dirty="0">
                <a:solidFill>
                  <a:schemeClr val="tx1"/>
                </a:solidFill>
                <a:highlight>
                  <a:srgbClr val="FFFFFF"/>
                </a:highlight>
                <a:latin typeface="Courier New"/>
                <a:ea typeface="Courier New"/>
                <a:cs typeface="Courier New"/>
                <a:sym typeface="Courier New"/>
              </a:rPr>
              <a:t> onStart() {</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super</a:t>
            </a:r>
            <a:r>
              <a:rPr lang="en" sz="1100" dirty="0">
                <a:solidFill>
                  <a:schemeClr val="tx1"/>
                </a:solidFill>
                <a:highlight>
                  <a:srgbClr val="FFFFFF"/>
                </a:highlight>
                <a:latin typeface="Courier New"/>
                <a:ea typeface="Courier New"/>
                <a:cs typeface="Courier New"/>
                <a:sym typeface="Courier New"/>
              </a:rPr>
              <a:t>.onStart();</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Toast toast = Toast.makeText(getApplicationContext(), "onStart Called", Toast.LENGTH_LONG).show();</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@Override</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protected</a:t>
            </a: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void</a:t>
            </a:r>
            <a:r>
              <a:rPr lang="en" sz="1100" dirty="0">
                <a:solidFill>
                  <a:schemeClr val="tx1"/>
                </a:solidFill>
                <a:highlight>
                  <a:srgbClr val="FFFFFF"/>
                </a:highlight>
                <a:latin typeface="Courier New"/>
                <a:ea typeface="Courier New"/>
                <a:cs typeface="Courier New"/>
                <a:sym typeface="Courier New"/>
              </a:rPr>
              <a:t> onRestart() {</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super</a:t>
            </a:r>
            <a:r>
              <a:rPr lang="en" sz="1100" dirty="0">
                <a:solidFill>
                  <a:schemeClr val="tx1"/>
                </a:solidFill>
                <a:highlight>
                  <a:srgbClr val="FFFFFF"/>
                </a:highlight>
                <a:latin typeface="Courier New"/>
                <a:ea typeface="Courier New"/>
                <a:cs typeface="Courier New"/>
                <a:sym typeface="Courier New"/>
              </a:rPr>
              <a:t>.onRestart();</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Toast toast = Toast.makeText(getApplicationContext(), "onRestart Called", Toast.LENGTH_LONG).show();</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endParaRPr sz="1100" dirty="0">
              <a:solidFill>
                <a:schemeClr val="tx1"/>
              </a:solidFill>
              <a:highlight>
                <a:srgbClr val="FFFFFF"/>
              </a:highlight>
              <a:latin typeface="Courier New"/>
              <a:ea typeface="Courier New"/>
              <a:cs typeface="Courier New"/>
              <a:sym typeface="Courier New"/>
            </a:endParaRPr>
          </a:p>
          <a:p>
            <a:pPr marL="0" lvl="0" indent="0" algn="l" rtl="0">
              <a:lnSpc>
                <a:spcPct val="115000"/>
              </a:lnSpc>
              <a:spcBef>
                <a:spcPts val="0"/>
              </a:spcBef>
              <a:spcAft>
                <a:spcPts val="1200"/>
              </a:spcAft>
              <a:buSzPts val="1800"/>
              <a:buNone/>
            </a:pPr>
            <a:endParaRPr sz="1100" dirty="0">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1"/>
          <p:cNvSpPr txBox="1">
            <a:spLocks noGrp="1"/>
          </p:cNvSpPr>
          <p:nvPr>
            <p:ph type="body" idx="1"/>
          </p:nvPr>
        </p:nvSpPr>
        <p:spPr>
          <a:xfrm>
            <a:off x="311700" y="257175"/>
            <a:ext cx="8520600" cy="4641900"/>
          </a:xfrm>
          <a:prstGeom prst="rect">
            <a:avLst/>
          </a:prstGeom>
          <a:noFill/>
          <a:ln>
            <a:noFill/>
          </a:ln>
        </p:spPr>
        <p:txBody>
          <a:bodyPr spcFirstLastPara="1" wrap="square" lIns="91425" tIns="91425" rIns="91425" bIns="91425" anchor="t" anchorCtr="0">
            <a:normAutofit lnSpcReduction="10000"/>
          </a:bodyPr>
          <a:lstStyle/>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protected</a:t>
            </a: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void</a:t>
            </a:r>
            <a:r>
              <a:rPr lang="en" sz="1100" dirty="0">
                <a:solidFill>
                  <a:schemeClr val="tx1"/>
                </a:solidFill>
                <a:highlight>
                  <a:srgbClr val="FFFFFF"/>
                </a:highlight>
                <a:latin typeface="Courier New"/>
                <a:ea typeface="Courier New"/>
                <a:cs typeface="Courier New"/>
                <a:sym typeface="Courier New"/>
              </a:rPr>
              <a:t> onPause() {</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super</a:t>
            </a:r>
            <a:r>
              <a:rPr lang="en" sz="1100" dirty="0">
                <a:solidFill>
                  <a:schemeClr val="tx1"/>
                </a:solidFill>
                <a:highlight>
                  <a:srgbClr val="FFFFFF"/>
                </a:highlight>
                <a:latin typeface="Courier New"/>
                <a:ea typeface="Courier New"/>
                <a:cs typeface="Courier New"/>
                <a:sym typeface="Courier New"/>
              </a:rPr>
              <a:t>.onPause();</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Toast toast = Toast.makeText(getApplicationContext(), "onPause Called", Toast.LENGTH_LONG).show();</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protected</a:t>
            </a: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void</a:t>
            </a:r>
            <a:r>
              <a:rPr lang="en" sz="1100" dirty="0">
                <a:solidFill>
                  <a:schemeClr val="tx1"/>
                </a:solidFill>
                <a:highlight>
                  <a:srgbClr val="FFFFFF"/>
                </a:highlight>
                <a:latin typeface="Courier New"/>
                <a:ea typeface="Courier New"/>
                <a:cs typeface="Courier New"/>
                <a:sym typeface="Courier New"/>
              </a:rPr>
              <a:t> onResume() {</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super</a:t>
            </a:r>
            <a:r>
              <a:rPr lang="en" sz="1100" dirty="0">
                <a:solidFill>
                  <a:schemeClr val="tx1"/>
                </a:solidFill>
                <a:highlight>
                  <a:srgbClr val="FFFFFF"/>
                </a:highlight>
                <a:latin typeface="Courier New"/>
                <a:ea typeface="Courier New"/>
                <a:cs typeface="Courier New"/>
                <a:sym typeface="Courier New"/>
              </a:rPr>
              <a:t>.onResume();</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Toast toast = Toast.makeText(getApplicationContext(), "onResume Called", Toast.LENGTH_LONG).show();</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protected</a:t>
            </a: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void</a:t>
            </a:r>
            <a:r>
              <a:rPr lang="en" sz="1100" dirty="0">
                <a:solidFill>
                  <a:schemeClr val="tx1"/>
                </a:solidFill>
                <a:highlight>
                  <a:srgbClr val="FFFFFF"/>
                </a:highlight>
                <a:latin typeface="Courier New"/>
                <a:ea typeface="Courier New"/>
                <a:cs typeface="Courier New"/>
                <a:sym typeface="Courier New"/>
              </a:rPr>
              <a:t> onStop() {</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super</a:t>
            </a:r>
            <a:r>
              <a:rPr lang="en" sz="1100" dirty="0">
                <a:solidFill>
                  <a:schemeClr val="tx1"/>
                </a:solidFill>
                <a:highlight>
                  <a:srgbClr val="FFFFFF"/>
                </a:highlight>
                <a:latin typeface="Courier New"/>
                <a:ea typeface="Courier New"/>
                <a:cs typeface="Courier New"/>
                <a:sym typeface="Courier New"/>
              </a:rPr>
              <a:t>.onStop();</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Toast toast = Toast.makeText(getApplicationContext(), "onStop Called", Toast.LENGTH_LONG).show();</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protected</a:t>
            </a: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void</a:t>
            </a:r>
            <a:r>
              <a:rPr lang="en" sz="1100" dirty="0">
                <a:solidFill>
                  <a:schemeClr val="tx1"/>
                </a:solidFill>
                <a:highlight>
                  <a:srgbClr val="FFFFFF"/>
                </a:highlight>
                <a:latin typeface="Courier New"/>
                <a:ea typeface="Courier New"/>
                <a:cs typeface="Courier New"/>
                <a:sym typeface="Courier New"/>
              </a:rPr>
              <a:t> onDestroy() {</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r>
              <a:rPr lang="en" sz="1100" b="1" dirty="0">
                <a:solidFill>
                  <a:schemeClr val="tx1"/>
                </a:solidFill>
                <a:highlight>
                  <a:srgbClr val="FFFFFF"/>
                </a:highlight>
                <a:latin typeface="Courier New"/>
                <a:ea typeface="Courier New"/>
                <a:cs typeface="Courier New"/>
                <a:sym typeface="Courier New"/>
              </a:rPr>
              <a:t>super</a:t>
            </a:r>
            <a:r>
              <a:rPr lang="en" sz="1100" dirty="0">
                <a:solidFill>
                  <a:schemeClr val="tx1"/>
                </a:solidFill>
                <a:highlight>
                  <a:srgbClr val="FFFFFF"/>
                </a:highlight>
                <a:latin typeface="Courier New"/>
                <a:ea typeface="Courier New"/>
                <a:cs typeface="Courier New"/>
                <a:sym typeface="Courier New"/>
              </a:rPr>
              <a:t>.onDestroy();</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Toast toast = Toast.makeText(getApplicationContext(), "onDestroy Called", Toast.LENGTH_LONG).show();</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    }</a:t>
            </a:r>
            <a:endParaRPr sz="1100" dirty="0">
              <a:solidFill>
                <a:schemeClr val="tx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dirty="0">
                <a:solidFill>
                  <a:schemeClr val="tx1"/>
                </a:solidFill>
                <a:highlight>
                  <a:srgbClr val="FFFFFF"/>
                </a:highlight>
                <a:latin typeface="Courier New"/>
                <a:ea typeface="Courier New"/>
                <a:cs typeface="Courier New"/>
                <a:sym typeface="Courier New"/>
              </a:rPr>
              <a:t>}</a:t>
            </a:r>
            <a:endParaRPr sz="1100" dirty="0">
              <a:solidFill>
                <a:schemeClr val="tx1"/>
              </a:solidFill>
              <a:highlight>
                <a:srgbClr val="FFFFFF"/>
              </a:highlight>
              <a:latin typeface="Courier New"/>
              <a:ea typeface="Courier New"/>
              <a:cs typeface="Courier New"/>
              <a:sym typeface="Courier New"/>
            </a:endParaRPr>
          </a:p>
          <a:p>
            <a:pPr marL="0" lvl="0" indent="0" algn="l" rtl="0">
              <a:lnSpc>
                <a:spcPct val="115000"/>
              </a:lnSpc>
              <a:spcBef>
                <a:spcPts val="0"/>
              </a:spcBef>
              <a:spcAft>
                <a:spcPts val="1200"/>
              </a:spcAft>
              <a:buSzPts val="1800"/>
              <a:buNone/>
            </a:pPr>
            <a:endParaRPr dirty="0">
              <a:solidFill>
                <a:schemeClr val="tx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Intents and Intent filters</a:t>
            </a:r>
            <a:endParaRPr/>
          </a:p>
        </p:txBody>
      </p:sp>
      <p:sp>
        <p:nvSpPr>
          <p:cNvPr id="205" name="Google Shape;205;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fontScale="70000" lnSpcReduction="10000"/>
          </a:bodyPr>
          <a:lstStyle/>
          <a:p>
            <a:pPr marL="0" lvl="0" indent="0" algn="just" rtl="0">
              <a:lnSpc>
                <a:spcPct val="90000"/>
              </a:lnSpc>
              <a:spcBef>
                <a:spcPts val="0"/>
              </a:spcBef>
              <a:spcAft>
                <a:spcPts val="0"/>
              </a:spcAft>
              <a:buNone/>
            </a:pPr>
            <a:r>
              <a:rPr lang="en" sz="2400">
                <a:solidFill>
                  <a:schemeClr val="accent2"/>
                </a:solidFill>
                <a:latin typeface="Roboto Condensed"/>
                <a:ea typeface="Roboto Condensed"/>
                <a:cs typeface="Roboto Condensed"/>
                <a:sym typeface="Roboto Condensed"/>
              </a:rPr>
              <a:t>An intent is to perform an action on the screen.</a:t>
            </a:r>
            <a:endParaRPr sz="2400">
              <a:solidFill>
                <a:schemeClr val="accent2"/>
              </a:solidFill>
              <a:latin typeface="Roboto Condensed"/>
              <a:ea typeface="Roboto Condensed"/>
              <a:cs typeface="Roboto Condensed"/>
              <a:sym typeface="Roboto Condensed"/>
            </a:endParaRPr>
          </a:p>
          <a:p>
            <a:pPr marL="0" lvl="0" indent="0" algn="just" rtl="0">
              <a:lnSpc>
                <a:spcPct val="90000"/>
              </a:lnSpc>
              <a:spcBef>
                <a:spcPts val="1000"/>
              </a:spcBef>
              <a:spcAft>
                <a:spcPts val="0"/>
              </a:spcAft>
              <a:buNone/>
            </a:pPr>
            <a:r>
              <a:rPr lang="en" sz="2400">
                <a:solidFill>
                  <a:schemeClr val="accent2"/>
                </a:solidFill>
                <a:latin typeface="Roboto Condensed"/>
                <a:ea typeface="Roboto Condensed"/>
                <a:cs typeface="Roboto Condensed"/>
                <a:sym typeface="Roboto Condensed"/>
              </a:rPr>
              <a:t>It is mostly used to start activity, send broadcast receiver, start services and send message between two activities.</a:t>
            </a:r>
            <a:endParaRPr sz="2400">
              <a:solidFill>
                <a:schemeClr val="accent2"/>
              </a:solidFill>
              <a:latin typeface="Roboto Condensed"/>
              <a:ea typeface="Roboto Condensed"/>
              <a:cs typeface="Roboto Condensed"/>
              <a:sym typeface="Roboto Condensed"/>
            </a:endParaRPr>
          </a:p>
          <a:p>
            <a:pPr marL="0" lvl="0" indent="0" algn="just" rtl="0">
              <a:lnSpc>
                <a:spcPct val="90000"/>
              </a:lnSpc>
              <a:spcBef>
                <a:spcPts val="1000"/>
              </a:spcBef>
              <a:spcAft>
                <a:spcPts val="0"/>
              </a:spcAft>
              <a:buNone/>
            </a:pPr>
            <a:r>
              <a:rPr lang="en" sz="2400">
                <a:solidFill>
                  <a:schemeClr val="accent2"/>
                </a:solidFill>
                <a:latin typeface="Roboto Condensed"/>
                <a:ea typeface="Roboto Condensed"/>
                <a:cs typeface="Roboto Condensed"/>
                <a:sym typeface="Roboto Condensed"/>
              </a:rPr>
              <a:t>It is a messaging object which tells what kind of action to be performed.</a:t>
            </a:r>
            <a:endParaRPr sz="2400">
              <a:solidFill>
                <a:schemeClr val="accent2"/>
              </a:solidFill>
              <a:latin typeface="Roboto Condensed"/>
              <a:ea typeface="Roboto Condensed"/>
              <a:cs typeface="Roboto Condensed"/>
              <a:sym typeface="Roboto Condensed"/>
            </a:endParaRPr>
          </a:p>
          <a:p>
            <a:pPr marL="0" lvl="0" indent="0" algn="just" rtl="0">
              <a:lnSpc>
                <a:spcPct val="90000"/>
              </a:lnSpc>
              <a:spcBef>
                <a:spcPts val="1000"/>
              </a:spcBef>
              <a:spcAft>
                <a:spcPts val="0"/>
              </a:spcAft>
              <a:buNone/>
            </a:pPr>
            <a:r>
              <a:rPr lang="en" sz="2400">
                <a:solidFill>
                  <a:schemeClr val="accent2"/>
                </a:solidFill>
                <a:latin typeface="Roboto Condensed"/>
                <a:ea typeface="Roboto Condensed"/>
                <a:cs typeface="Roboto Condensed"/>
                <a:sym typeface="Roboto Condensed"/>
              </a:rPr>
              <a:t>The intent’s most significant use is the launching of the activity.</a:t>
            </a:r>
            <a:endParaRPr sz="2400">
              <a:solidFill>
                <a:schemeClr val="accent2"/>
              </a:solidFill>
              <a:latin typeface="Roboto Condensed"/>
              <a:ea typeface="Roboto Condensed"/>
              <a:cs typeface="Roboto Condensed"/>
              <a:sym typeface="Roboto Condensed"/>
            </a:endParaRPr>
          </a:p>
          <a:p>
            <a:pPr marL="0" lvl="0" indent="0" algn="just" rtl="0">
              <a:lnSpc>
                <a:spcPct val="90000"/>
              </a:lnSpc>
              <a:spcBef>
                <a:spcPts val="1000"/>
              </a:spcBef>
              <a:spcAft>
                <a:spcPts val="0"/>
              </a:spcAft>
              <a:buNone/>
            </a:pPr>
            <a:r>
              <a:rPr lang="en" sz="2400" b="1">
                <a:solidFill>
                  <a:schemeClr val="accent2"/>
                </a:solidFill>
                <a:latin typeface="Roboto Condensed"/>
                <a:ea typeface="Roboto Condensed"/>
                <a:cs typeface="Roboto Condensed"/>
                <a:sym typeface="Roboto Condensed"/>
              </a:rPr>
              <a:t>Body of Intent:</a:t>
            </a:r>
            <a:endParaRPr sz="2400">
              <a:solidFill>
                <a:schemeClr val="accent2"/>
              </a:solidFill>
              <a:latin typeface="Roboto Condensed"/>
              <a:ea typeface="Roboto Condensed"/>
              <a:cs typeface="Roboto Condensed"/>
              <a:sym typeface="Roboto Condensed"/>
            </a:endParaRPr>
          </a:p>
          <a:p>
            <a:pPr marL="457200" lvl="0" indent="0" algn="just" rtl="0">
              <a:lnSpc>
                <a:spcPct val="90000"/>
              </a:lnSpc>
              <a:spcBef>
                <a:spcPts val="500"/>
              </a:spcBef>
              <a:spcAft>
                <a:spcPts val="0"/>
              </a:spcAft>
              <a:buNone/>
            </a:pPr>
            <a:r>
              <a:rPr lang="en" sz="2000" b="1">
                <a:solidFill>
                  <a:schemeClr val="accent2"/>
                </a:solidFill>
                <a:latin typeface="Roboto Condensed"/>
                <a:ea typeface="Roboto Condensed"/>
                <a:cs typeface="Roboto Condensed"/>
                <a:sym typeface="Roboto Condensed"/>
              </a:rPr>
              <a:t>action: </a:t>
            </a:r>
            <a:r>
              <a:rPr lang="en" sz="2000">
                <a:solidFill>
                  <a:schemeClr val="accent2"/>
                </a:solidFill>
                <a:latin typeface="Roboto Condensed"/>
                <a:ea typeface="Roboto Condensed"/>
                <a:cs typeface="Roboto Condensed"/>
                <a:sym typeface="Roboto Condensed"/>
              </a:rPr>
              <a:t>The general action to be performed, such as ACTION_VIEW, ACTION_EDIT, ACTION_MAIN, etc.</a:t>
            </a:r>
            <a:endParaRPr sz="2000">
              <a:solidFill>
                <a:schemeClr val="accent2"/>
              </a:solidFill>
              <a:latin typeface="Roboto Condensed"/>
              <a:ea typeface="Roboto Condensed"/>
              <a:cs typeface="Roboto Condensed"/>
              <a:sym typeface="Roboto Condensed"/>
            </a:endParaRPr>
          </a:p>
          <a:p>
            <a:pPr marL="457200" lvl="0" indent="0" algn="just" rtl="0">
              <a:lnSpc>
                <a:spcPct val="90000"/>
              </a:lnSpc>
              <a:spcBef>
                <a:spcPts val="500"/>
              </a:spcBef>
              <a:spcAft>
                <a:spcPts val="0"/>
              </a:spcAft>
              <a:buNone/>
            </a:pPr>
            <a:r>
              <a:rPr lang="en" sz="2000" b="1">
                <a:solidFill>
                  <a:schemeClr val="accent2"/>
                </a:solidFill>
                <a:latin typeface="Roboto Condensed"/>
                <a:ea typeface="Roboto Condensed"/>
                <a:cs typeface="Roboto Condensed"/>
                <a:sym typeface="Roboto Condensed"/>
              </a:rPr>
              <a:t>data:</a:t>
            </a:r>
            <a:r>
              <a:rPr lang="en" sz="2000">
                <a:solidFill>
                  <a:schemeClr val="accent2"/>
                </a:solidFill>
                <a:latin typeface="Roboto Condensed"/>
                <a:ea typeface="Roboto Condensed"/>
                <a:cs typeface="Roboto Condensed"/>
                <a:sym typeface="Roboto Condensed"/>
              </a:rPr>
              <a:t> The data to operate on, such as a person record in the contacts database, expressed as a Uri</a:t>
            </a:r>
            <a:endParaRPr sz="2000">
              <a:solidFill>
                <a:schemeClr val="accent2"/>
              </a:solidFill>
              <a:latin typeface="Roboto Condensed"/>
              <a:ea typeface="Roboto Condensed"/>
              <a:cs typeface="Roboto Condensed"/>
              <a:sym typeface="Roboto Condensed"/>
            </a:endParaRPr>
          </a:p>
          <a:p>
            <a:pPr marL="0" lvl="0" indent="0" algn="just" rtl="0">
              <a:lnSpc>
                <a:spcPct val="90000"/>
              </a:lnSpc>
              <a:spcBef>
                <a:spcPts val="1000"/>
              </a:spcBef>
              <a:spcAft>
                <a:spcPts val="0"/>
              </a:spcAft>
              <a:buNone/>
            </a:pPr>
            <a:r>
              <a:rPr lang="en" sz="2400">
                <a:solidFill>
                  <a:schemeClr val="accent2"/>
                </a:solidFill>
                <a:latin typeface="Roboto Condensed"/>
                <a:ea typeface="Roboto Condensed"/>
                <a:cs typeface="Roboto Condensed"/>
                <a:sym typeface="Roboto Condensed"/>
              </a:rPr>
              <a:t>Basically two intents are there in android.</a:t>
            </a:r>
            <a:endParaRPr sz="2400">
              <a:solidFill>
                <a:schemeClr val="accent2"/>
              </a:solidFill>
              <a:latin typeface="Roboto Condensed"/>
              <a:ea typeface="Roboto Condensed"/>
              <a:cs typeface="Roboto Condensed"/>
              <a:sym typeface="Roboto Condensed"/>
            </a:endParaRPr>
          </a:p>
          <a:p>
            <a:pPr marL="457200" lvl="0" indent="0" algn="just" rtl="0">
              <a:lnSpc>
                <a:spcPct val="90000"/>
              </a:lnSpc>
              <a:spcBef>
                <a:spcPts val="500"/>
              </a:spcBef>
              <a:spcAft>
                <a:spcPts val="0"/>
              </a:spcAft>
              <a:buNone/>
            </a:pPr>
            <a:r>
              <a:rPr lang="en" sz="2000">
                <a:solidFill>
                  <a:schemeClr val="accent2"/>
                </a:solidFill>
                <a:latin typeface="Roboto Condensed"/>
                <a:ea typeface="Roboto Condensed"/>
                <a:cs typeface="Roboto Condensed"/>
                <a:sym typeface="Roboto Condensed"/>
              </a:rPr>
              <a:t>Implicit Intents</a:t>
            </a:r>
            <a:endParaRPr sz="2000">
              <a:solidFill>
                <a:schemeClr val="accent2"/>
              </a:solidFill>
              <a:latin typeface="Roboto Condensed"/>
              <a:ea typeface="Roboto Condensed"/>
              <a:cs typeface="Roboto Condensed"/>
              <a:sym typeface="Roboto Condensed"/>
            </a:endParaRPr>
          </a:p>
          <a:p>
            <a:pPr marL="457200" lvl="0" indent="0" algn="just" rtl="0">
              <a:lnSpc>
                <a:spcPct val="90000"/>
              </a:lnSpc>
              <a:spcBef>
                <a:spcPts val="500"/>
              </a:spcBef>
              <a:spcAft>
                <a:spcPts val="0"/>
              </a:spcAft>
              <a:buNone/>
            </a:pPr>
            <a:r>
              <a:rPr lang="en" sz="2000">
                <a:solidFill>
                  <a:schemeClr val="accent2"/>
                </a:solidFill>
                <a:latin typeface="Roboto Condensed"/>
                <a:ea typeface="Roboto Condensed"/>
                <a:cs typeface="Roboto Condensed"/>
                <a:sym typeface="Roboto Condensed"/>
              </a:rPr>
              <a:t>Explicit Intents</a:t>
            </a:r>
            <a:endParaRPr sz="2000">
              <a:solidFill>
                <a:schemeClr val="accent2"/>
              </a:solidFill>
              <a:latin typeface="Roboto Condensed"/>
              <a:ea typeface="Roboto Condensed"/>
              <a:cs typeface="Roboto Condensed"/>
              <a:sym typeface="Roboto Condensed"/>
            </a:endParaRPr>
          </a:p>
          <a:p>
            <a:pPr marL="0" lvl="0" indent="0" algn="l" rtl="0">
              <a:lnSpc>
                <a:spcPct val="115000"/>
              </a:lnSpc>
              <a:spcBef>
                <a:spcPts val="0"/>
              </a:spcBef>
              <a:spcAft>
                <a:spcPts val="1200"/>
              </a:spcAft>
              <a:buSzPct val="128571"/>
              <a:buNone/>
            </a:pPr>
            <a:endParaRPr sz="1400">
              <a:solidFill>
                <a:srgbClr val="202124"/>
              </a:solidFill>
              <a:highlight>
                <a:srgbClr val="FFFFFF"/>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Types of Intents</a:t>
            </a:r>
            <a:endParaRPr/>
          </a:p>
        </p:txBody>
      </p:sp>
      <p:sp>
        <p:nvSpPr>
          <p:cNvPr id="211" name="Google Shape;211;p2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17500" algn="l" rtl="0">
              <a:lnSpc>
                <a:spcPct val="115000"/>
              </a:lnSpc>
              <a:spcBef>
                <a:spcPts val="900"/>
              </a:spcBef>
              <a:spcAft>
                <a:spcPts val="0"/>
              </a:spcAft>
              <a:buClr>
                <a:srgbClr val="202124"/>
              </a:buClr>
              <a:buSzPts val="1400"/>
              <a:buFont typeface="Roboto"/>
              <a:buChar char="●"/>
            </a:pPr>
            <a:r>
              <a:rPr lang="en" sz="1400" b="1">
                <a:solidFill>
                  <a:srgbClr val="202124"/>
                </a:solidFill>
                <a:highlight>
                  <a:srgbClr val="FFFFFF"/>
                </a:highlight>
              </a:rPr>
              <a:t>Implicit intents</a:t>
            </a:r>
            <a:r>
              <a:rPr lang="en" sz="1400">
                <a:solidFill>
                  <a:srgbClr val="202124"/>
                </a:solidFill>
                <a:highlight>
                  <a:srgbClr val="FFFFFF"/>
                </a:highlight>
              </a:rPr>
              <a:t> do not name a specific component, but instead declare a general action to perform, which allows a component from another app to handle it. For example, if you want to show the user a location on a map, you can use an implicit intent to request that another capable app show a specified location on a map.</a:t>
            </a:r>
            <a:endParaRPr sz="1400">
              <a:solidFill>
                <a:srgbClr val="202124"/>
              </a:solidFill>
              <a:highlight>
                <a:srgbClr val="FFFFFF"/>
              </a:highlight>
            </a:endParaRPr>
          </a:p>
          <a:p>
            <a:pPr marL="0" lvl="0" indent="0" algn="l" rtl="0">
              <a:lnSpc>
                <a:spcPct val="115000"/>
              </a:lnSpc>
              <a:spcBef>
                <a:spcPts val="900"/>
              </a:spcBef>
              <a:spcAft>
                <a:spcPts val="0"/>
              </a:spcAft>
              <a:buSzPts val="1800"/>
              <a:buNone/>
            </a:pPr>
            <a:endParaRPr sz="1400">
              <a:solidFill>
                <a:srgbClr val="202124"/>
              </a:solidFill>
              <a:highlight>
                <a:srgbClr val="FFFFFF"/>
              </a:highlight>
            </a:endParaRPr>
          </a:p>
          <a:p>
            <a:pPr marL="457200" lvl="0" indent="-317500" algn="l" rtl="0">
              <a:lnSpc>
                <a:spcPct val="115000"/>
              </a:lnSpc>
              <a:spcBef>
                <a:spcPts val="900"/>
              </a:spcBef>
              <a:spcAft>
                <a:spcPts val="0"/>
              </a:spcAft>
              <a:buClr>
                <a:srgbClr val="202124"/>
              </a:buClr>
              <a:buSzPts val="1400"/>
              <a:buFont typeface="Roboto"/>
              <a:buChar char="●"/>
            </a:pPr>
            <a:r>
              <a:rPr lang="en" sz="1400" b="1">
                <a:solidFill>
                  <a:srgbClr val="202124"/>
                </a:solidFill>
                <a:highlight>
                  <a:srgbClr val="FFFFFF"/>
                </a:highlight>
              </a:rPr>
              <a:t>Explicit intents</a:t>
            </a:r>
            <a:r>
              <a:rPr lang="en" sz="1400">
                <a:solidFill>
                  <a:srgbClr val="202124"/>
                </a:solidFill>
                <a:highlight>
                  <a:srgbClr val="FFFFFF"/>
                </a:highlight>
              </a:rPr>
              <a:t> specify which application will satisfy the intent, by supplying either the target app's package name or a fully-qualified component class name. You'll typically use an explicit intent to start a component in your own app, because you know the class name of the activity or service you want to start. For example, you might start a new activity within your app in response to a user action, or start a service to download a file in the background.</a:t>
            </a:r>
            <a:endParaRPr sz="1400">
              <a:solidFill>
                <a:srgbClr val="202124"/>
              </a:solidFill>
              <a:highlight>
                <a:srgbClr val="FFFFFF"/>
              </a:highlight>
            </a:endParaRPr>
          </a:p>
          <a:p>
            <a:pPr marL="0" lvl="0" indent="0" algn="l" rtl="0">
              <a:lnSpc>
                <a:spcPct val="115000"/>
              </a:lnSpc>
              <a:spcBef>
                <a:spcPts val="900"/>
              </a:spcBef>
              <a:spcAft>
                <a:spcPts val="1200"/>
              </a:spcAft>
              <a:buSzPts val="1800"/>
              <a:buNone/>
            </a:pPr>
            <a:endParaRPr sz="1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Implicit Intent</a:t>
            </a:r>
            <a:endParaRPr/>
          </a:p>
        </p:txBody>
      </p:sp>
      <p:sp>
        <p:nvSpPr>
          <p:cNvPr id="217" name="Google Shape;217;p24"/>
          <p:cNvSpPr txBox="1">
            <a:spLocks noGrp="1"/>
          </p:cNvSpPr>
          <p:nvPr>
            <p:ph type="body" idx="1"/>
          </p:nvPr>
        </p:nvSpPr>
        <p:spPr>
          <a:xfrm>
            <a:off x="194125" y="1242500"/>
            <a:ext cx="6316200" cy="2202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sz="1600" dirty="0">
                <a:solidFill>
                  <a:schemeClr val="tx1"/>
                </a:solidFill>
                <a:latin typeface="Times New Roman" panose="02020603050405020304" pitchFamily="18" charset="0"/>
                <a:ea typeface="Courier New"/>
                <a:cs typeface="Times New Roman" panose="02020603050405020304" pitchFamily="18" charset="0"/>
                <a:sym typeface="Courier New"/>
              </a:rPr>
              <a:t>syntax:</a:t>
            </a:r>
            <a:endParaRPr sz="1600" dirty="0">
              <a:solidFill>
                <a:schemeClr val="tx1"/>
              </a:solidFill>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15000"/>
              </a:lnSpc>
              <a:spcBef>
                <a:spcPts val="1200"/>
              </a:spcBef>
              <a:spcAft>
                <a:spcPts val="0"/>
              </a:spcAft>
              <a:buSzPts val="1800"/>
              <a:buNone/>
            </a:pPr>
            <a:r>
              <a:rPr lang="en" sz="1600" dirty="0">
                <a:solidFill>
                  <a:schemeClr val="tx1"/>
                </a:solidFill>
                <a:latin typeface="Times New Roman" panose="02020603050405020304" pitchFamily="18" charset="0"/>
                <a:ea typeface="Courier New"/>
                <a:cs typeface="Times New Roman" panose="02020603050405020304" pitchFamily="18" charset="0"/>
                <a:sym typeface="Courier New"/>
              </a:rPr>
              <a:t>Intent intent=new Intent(Intent.ACTION_VIEW);</a:t>
            </a:r>
            <a:endParaRPr sz="1600" dirty="0">
              <a:solidFill>
                <a:schemeClr val="tx1"/>
              </a:solidFill>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15000"/>
              </a:lnSpc>
              <a:spcBef>
                <a:spcPts val="1200"/>
              </a:spcBef>
              <a:spcAft>
                <a:spcPts val="0"/>
              </a:spcAft>
              <a:buSzPts val="1800"/>
              <a:buNone/>
            </a:pPr>
            <a:r>
              <a:rPr lang="en" sz="1600" dirty="0">
                <a:solidFill>
                  <a:schemeClr val="tx1"/>
                </a:solidFill>
                <a:latin typeface="Times New Roman" panose="02020603050405020304" pitchFamily="18" charset="0"/>
                <a:ea typeface="Courier New"/>
                <a:cs typeface="Times New Roman" panose="02020603050405020304" pitchFamily="18" charset="0"/>
                <a:sym typeface="Courier New"/>
              </a:rPr>
              <a:t>intent.setData(Uri.parse("https://www.google.com/"));</a:t>
            </a:r>
            <a:endParaRPr sz="1600" dirty="0">
              <a:solidFill>
                <a:schemeClr val="tx1"/>
              </a:solidFill>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15000"/>
              </a:lnSpc>
              <a:spcBef>
                <a:spcPts val="1200"/>
              </a:spcBef>
              <a:spcAft>
                <a:spcPts val="0"/>
              </a:spcAft>
              <a:buSzPts val="1800"/>
              <a:buNone/>
            </a:pPr>
            <a:r>
              <a:rPr lang="en" sz="1600" dirty="0">
                <a:solidFill>
                  <a:schemeClr val="tx1"/>
                </a:solidFill>
                <a:latin typeface="Times New Roman" panose="02020603050405020304" pitchFamily="18" charset="0"/>
                <a:ea typeface="Courier New"/>
                <a:cs typeface="Times New Roman" panose="02020603050405020304" pitchFamily="18" charset="0"/>
                <a:sym typeface="Courier New"/>
              </a:rPr>
              <a:t>startActivity(intent);</a:t>
            </a:r>
            <a:endParaRPr sz="1600" dirty="0">
              <a:solidFill>
                <a:schemeClr val="tx1"/>
              </a:solidFill>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15000"/>
              </a:lnSpc>
              <a:spcBef>
                <a:spcPts val="1200"/>
              </a:spcBef>
              <a:spcAft>
                <a:spcPts val="1200"/>
              </a:spcAft>
              <a:buSzPts val="1800"/>
              <a:buNone/>
            </a:pPr>
            <a:endParaRPr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Explicit Intent</a:t>
            </a:r>
            <a:endParaRPr/>
          </a:p>
        </p:txBody>
      </p:sp>
      <p:sp>
        <p:nvSpPr>
          <p:cNvPr id="223" name="Google Shape;223;p25"/>
          <p:cNvSpPr txBox="1">
            <a:spLocks noGrp="1"/>
          </p:cNvSpPr>
          <p:nvPr>
            <p:ph type="body" idx="1"/>
          </p:nvPr>
        </p:nvSpPr>
        <p:spPr>
          <a:xfrm>
            <a:off x="311700" y="1152475"/>
            <a:ext cx="6108300" cy="1715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sz="1400"/>
              <a:t>Syntax:</a:t>
            </a:r>
            <a:endParaRPr sz="1400"/>
          </a:p>
          <a:p>
            <a:pPr marL="0" lvl="0" indent="0" algn="l" rtl="0">
              <a:lnSpc>
                <a:spcPct val="115000"/>
              </a:lnSpc>
              <a:spcBef>
                <a:spcPts val="1200"/>
              </a:spcBef>
              <a:spcAft>
                <a:spcPts val="0"/>
              </a:spcAft>
              <a:buSzPts val="1800"/>
              <a:buNone/>
            </a:pPr>
            <a:r>
              <a:rPr lang="en" sz="1400">
                <a:solidFill>
                  <a:srgbClr val="273239"/>
                </a:solidFill>
              </a:rPr>
              <a:t>Intent i = new Intent(getApplicationContext(), ActivityTwo.class);  startActivity(i);</a:t>
            </a:r>
            <a:endParaRPr sz="1400">
              <a:solidFill>
                <a:srgbClr val="273239"/>
              </a:solidFill>
            </a:endParaRPr>
          </a:p>
          <a:p>
            <a:pPr marL="0" lvl="0" indent="0" algn="l" rtl="0">
              <a:lnSpc>
                <a:spcPct val="115000"/>
              </a:lnSpc>
              <a:spcBef>
                <a:spcPts val="800"/>
              </a:spcBef>
              <a:spcAft>
                <a:spcPts val="1200"/>
              </a:spcAft>
              <a:buSzPts val="1800"/>
              <a:buNone/>
            </a:pPr>
            <a:endParaRPr sz="1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Intent filter</a:t>
            </a:r>
            <a:endParaRPr/>
          </a:p>
        </p:txBody>
      </p:sp>
      <p:sp>
        <p:nvSpPr>
          <p:cNvPr id="229" name="Google Shape;229;p2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sz="1400">
                <a:solidFill>
                  <a:srgbClr val="202124"/>
                </a:solidFill>
                <a:highlight>
                  <a:srgbClr val="FFFFFF"/>
                </a:highlight>
              </a:rPr>
              <a:t>An app component should declare separate filters for each unique job it can do. For example, one activity in an image gallery app may have two filters: one filter to view an image, and another filter to edit an image.</a:t>
            </a:r>
            <a:endParaRPr sz="1400">
              <a:solidFill>
                <a:srgbClr val="202124"/>
              </a:solidFill>
              <a:highlight>
                <a:srgbClr val="FFFFFF"/>
              </a:highlight>
            </a:endParaRPr>
          </a:p>
          <a:p>
            <a:pPr marL="0" lvl="0" indent="0" algn="l" rtl="0">
              <a:lnSpc>
                <a:spcPct val="115000"/>
              </a:lnSpc>
              <a:spcBef>
                <a:spcPts val="1200"/>
              </a:spcBef>
              <a:spcAft>
                <a:spcPts val="0"/>
              </a:spcAft>
              <a:buSzPts val="1800"/>
              <a:buNone/>
            </a:pPr>
            <a:r>
              <a:rPr lang="en" sz="1400">
                <a:solidFill>
                  <a:srgbClr val="202124"/>
                </a:solidFill>
                <a:highlight>
                  <a:srgbClr val="FFFFFF"/>
                </a:highlight>
              </a:rPr>
              <a:t> When the activity starts, it inspects the </a:t>
            </a:r>
            <a:r>
              <a:rPr lang="en" sz="1400">
                <a:solidFill>
                  <a:srgbClr val="202124"/>
                </a:solidFill>
              </a:rPr>
              <a:t>Intent</a:t>
            </a:r>
            <a:r>
              <a:rPr lang="en" sz="1400">
                <a:solidFill>
                  <a:srgbClr val="202124"/>
                </a:solidFill>
                <a:highlight>
                  <a:srgbClr val="FFFFFF"/>
                </a:highlight>
              </a:rPr>
              <a:t> and decides how to behave based on the information in the </a:t>
            </a:r>
            <a:r>
              <a:rPr lang="en" sz="1400">
                <a:solidFill>
                  <a:srgbClr val="202124"/>
                </a:solidFill>
              </a:rPr>
              <a:t>Intent</a:t>
            </a:r>
            <a:r>
              <a:rPr lang="en" sz="1400">
                <a:solidFill>
                  <a:srgbClr val="202124"/>
                </a:solidFill>
                <a:highlight>
                  <a:srgbClr val="FFFFFF"/>
                </a:highlight>
              </a:rPr>
              <a:t> (such as to show the editor controls or not).</a:t>
            </a:r>
            <a:endParaRPr sz="1400">
              <a:solidFill>
                <a:srgbClr val="202124"/>
              </a:solidFill>
              <a:highlight>
                <a:srgbClr val="FFFFFF"/>
              </a:highlight>
            </a:endParaRPr>
          </a:p>
          <a:p>
            <a:pPr marL="0" lvl="0" indent="0" algn="l" rtl="0">
              <a:lnSpc>
                <a:spcPct val="115000"/>
              </a:lnSpc>
              <a:spcBef>
                <a:spcPts val="1200"/>
              </a:spcBef>
              <a:spcAft>
                <a:spcPts val="1200"/>
              </a:spcAft>
              <a:buSzPts val="1800"/>
              <a:buNone/>
            </a:pPr>
            <a:r>
              <a:rPr lang="en" sz="1400">
                <a:solidFill>
                  <a:srgbClr val="202124"/>
                </a:solidFill>
                <a:highlight>
                  <a:srgbClr val="FFFFFF"/>
                </a:highlight>
              </a:rPr>
              <a:t>Each intent filter is defined by an &lt;intent-filter&gt; element in the app's manifest file, nested in the corresponding app component (such as an &lt;activity&gt; element).</a:t>
            </a:r>
            <a:endParaRPr sz="1400">
              <a:solidFill>
                <a:srgbClr val="202124"/>
              </a:solidFill>
              <a:highlight>
                <a:srgbClr val="FFFFFF"/>
              </a:high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7"/>
          <p:cNvSpPr txBox="1">
            <a:spLocks noGrp="1"/>
          </p:cNvSpPr>
          <p:nvPr>
            <p:ph type="body" idx="1"/>
          </p:nvPr>
        </p:nvSpPr>
        <p:spPr>
          <a:xfrm>
            <a:off x="311700" y="134950"/>
            <a:ext cx="8520600" cy="4434000"/>
          </a:xfrm>
          <a:prstGeom prst="rect">
            <a:avLst/>
          </a:prstGeom>
          <a:noFill/>
          <a:ln>
            <a:noFill/>
          </a:ln>
        </p:spPr>
        <p:txBody>
          <a:bodyPr spcFirstLastPara="1" wrap="square" lIns="91425" tIns="91425" rIns="91425" bIns="91425" anchor="t" anchorCtr="0">
            <a:noAutofit/>
          </a:bodyPr>
          <a:lstStyle/>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&lt;activity android:name="MainActivity" android:exported="true"&gt;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 This activity is the main entry, should appear in app launcher --&gt;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&lt;intent-filter&gt;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&lt;action android:name="android.intent.action.MAIN" /&gt;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&lt;category android:name="android.intent.category.LAUNCHER" /&gt;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&lt;/intent-filter&gt;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&lt;/activity&gt;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&lt;activity android:name="ShareActivity" android:exported="false"&gt;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 This activity handles "SEND" actions with text data --&gt;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&lt;intent-filter&gt;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&lt;action android:name="android.intent.action.SEND"/&gt;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&lt;category android:name="android.intent.category.DEFAULT"/&gt;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&lt;data android:mimeType="text/plain"/&gt;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&lt;/intent-filter&gt;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 This activity also handles "SEND" and "SEND_MULTIPLE" with media data --&gt;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&lt;intent-filter&gt;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&lt;action android:name="android.intent.action.SEND"/&gt;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&lt;action android:name="android.intent.action.SEND_MULTIPLE"/&gt;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&lt;category android:name="android.intent.category.DEFAULT"/&gt;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&lt;data android:mimeType="application/vnd.google.panorama360+jpg"/&gt;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&lt;data android:mimeType="image/*"/&gt;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&lt;data android:mimeType="video/*"/&gt;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    &lt;/intent-filter&gt;</a:t>
            </a:r>
            <a:endParaRPr sz="1100">
              <a:solidFill>
                <a:srgbClr val="202124"/>
              </a:solidFill>
              <a:highlight>
                <a:srgbClr val="FFFFFF"/>
              </a:highlight>
              <a:latin typeface="Roboto"/>
              <a:ea typeface="Roboto"/>
              <a:cs typeface="Roboto"/>
              <a:sym typeface="Roboto"/>
            </a:endParaRPr>
          </a:p>
          <a:p>
            <a:pPr marL="228600" marR="228600" lvl="0" indent="0" algn="l" rtl="0">
              <a:lnSpc>
                <a:spcPct val="115000"/>
              </a:lnSpc>
              <a:spcBef>
                <a:spcPts val="0"/>
              </a:spcBef>
              <a:spcAft>
                <a:spcPts val="0"/>
              </a:spcAft>
              <a:buClr>
                <a:schemeClr val="dk1"/>
              </a:buClr>
              <a:buSzPts val="1100"/>
              <a:buFont typeface="Arial"/>
              <a:buNone/>
            </a:pPr>
            <a:r>
              <a:rPr lang="en" sz="1100">
                <a:solidFill>
                  <a:srgbClr val="202124"/>
                </a:solidFill>
                <a:highlight>
                  <a:srgbClr val="FFFFFF"/>
                </a:highlight>
                <a:latin typeface="Roboto"/>
                <a:ea typeface="Roboto"/>
                <a:cs typeface="Roboto"/>
                <a:sym typeface="Roboto"/>
              </a:rPr>
              <a:t>&lt;/activity&gt;</a:t>
            </a:r>
            <a:endParaRPr sz="1100">
              <a:solidFill>
                <a:srgbClr val="202124"/>
              </a:solidFill>
              <a:highlight>
                <a:srgbClr val="FFFFFF"/>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endParaRPr sz="1100">
              <a:solidFill>
                <a:srgbClr val="202124"/>
              </a:solidFill>
              <a:highlight>
                <a:srgbClr val="FFFFFF"/>
              </a:highlight>
              <a:latin typeface="Roboto"/>
              <a:ea typeface="Roboto"/>
              <a:cs typeface="Roboto"/>
              <a:sym typeface="Roboto"/>
            </a:endParaRPr>
          </a:p>
          <a:p>
            <a:pPr marL="0" lvl="0" indent="0" algn="l" rtl="0">
              <a:lnSpc>
                <a:spcPct val="115000"/>
              </a:lnSpc>
              <a:spcBef>
                <a:spcPts val="1200"/>
              </a:spcBef>
              <a:spcAft>
                <a:spcPts val="1200"/>
              </a:spcAft>
              <a:buSzPts val="1800"/>
              <a:buNone/>
            </a:pPr>
            <a:endParaRPr sz="11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8"/>
          <p:cNvSpPr txBox="1">
            <a:spLocks noGrp="1"/>
          </p:cNvSpPr>
          <p:nvPr>
            <p:ph type="title"/>
          </p:nvPr>
        </p:nvSpPr>
        <p:spPr>
          <a:xfrm>
            <a:off x="311700" y="3035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Elements of Intent filter</a:t>
            </a:r>
            <a:endParaRPr/>
          </a:p>
        </p:txBody>
      </p:sp>
      <p:sp>
        <p:nvSpPr>
          <p:cNvPr id="240" name="Google Shape;240;p28"/>
          <p:cNvSpPr txBox="1">
            <a:spLocks noGrp="1"/>
          </p:cNvSpPr>
          <p:nvPr>
            <p:ph type="body" idx="1"/>
          </p:nvPr>
        </p:nvSpPr>
        <p:spPr>
          <a:xfrm>
            <a:off x="311700" y="98532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400">
                <a:solidFill>
                  <a:srgbClr val="202124"/>
                </a:solidFill>
                <a:highlight>
                  <a:srgbClr val="FFFFFF"/>
                </a:highlight>
              </a:rPr>
              <a:t>Inside the &lt;intent-filter&gt;, you can specify the type of intents to accept using one or more of these three elements:</a:t>
            </a:r>
            <a:endParaRPr sz="1400">
              <a:solidFill>
                <a:srgbClr val="202124"/>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r>
              <a:rPr lang="en" sz="1400">
                <a:solidFill>
                  <a:srgbClr val="202124"/>
                </a:solidFill>
                <a:highlight>
                  <a:srgbClr val="FFFFFF"/>
                </a:highlight>
              </a:rPr>
              <a:t>&lt;action&gt;</a:t>
            </a:r>
            <a:endParaRPr sz="1400" u="sng">
              <a:solidFill>
                <a:srgbClr val="188038"/>
              </a:solidFill>
              <a:highlight>
                <a:srgbClr val="FFFFFF"/>
              </a:highlight>
            </a:endParaRPr>
          </a:p>
          <a:p>
            <a:pPr marL="381000" lvl="0" indent="0" algn="l" rtl="0">
              <a:lnSpc>
                <a:spcPct val="115000"/>
              </a:lnSpc>
              <a:spcBef>
                <a:spcPts val="1200"/>
              </a:spcBef>
              <a:spcAft>
                <a:spcPts val="0"/>
              </a:spcAft>
              <a:buClr>
                <a:schemeClr val="dk1"/>
              </a:buClr>
              <a:buSzPts val="1100"/>
              <a:buFont typeface="Arial"/>
              <a:buNone/>
            </a:pPr>
            <a:r>
              <a:rPr lang="en" sz="1400">
                <a:solidFill>
                  <a:srgbClr val="202124"/>
                </a:solidFill>
                <a:highlight>
                  <a:srgbClr val="FFFFFF"/>
                </a:highlight>
              </a:rPr>
              <a:t>Declares the intent action accepted, in the </a:t>
            </a:r>
            <a:r>
              <a:rPr lang="en" sz="1400">
                <a:solidFill>
                  <a:srgbClr val="188038"/>
                </a:solidFill>
                <a:highlight>
                  <a:srgbClr val="FFFFFF"/>
                </a:highlight>
              </a:rPr>
              <a:t>name</a:t>
            </a:r>
            <a:r>
              <a:rPr lang="en" sz="1400">
                <a:solidFill>
                  <a:srgbClr val="202124"/>
                </a:solidFill>
                <a:highlight>
                  <a:srgbClr val="FFFFFF"/>
                </a:highlight>
              </a:rPr>
              <a:t> attribute. The value must be the literal string value of an action, not the class constant.</a:t>
            </a:r>
            <a:endParaRPr sz="1400">
              <a:solidFill>
                <a:srgbClr val="202124"/>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r>
              <a:rPr lang="en" sz="1400">
                <a:solidFill>
                  <a:srgbClr val="202124"/>
                </a:solidFill>
                <a:highlight>
                  <a:srgbClr val="FFFFFF"/>
                </a:highlight>
              </a:rPr>
              <a:t>&lt;data&gt;</a:t>
            </a:r>
            <a:endParaRPr sz="1400" u="sng">
              <a:solidFill>
                <a:srgbClr val="188038"/>
              </a:solidFill>
              <a:highlight>
                <a:srgbClr val="FFFFFF"/>
              </a:highlight>
            </a:endParaRPr>
          </a:p>
          <a:p>
            <a:pPr marL="381000" lvl="0" indent="0" algn="l" rtl="0">
              <a:lnSpc>
                <a:spcPct val="115000"/>
              </a:lnSpc>
              <a:spcBef>
                <a:spcPts val="1200"/>
              </a:spcBef>
              <a:spcAft>
                <a:spcPts val="0"/>
              </a:spcAft>
              <a:buClr>
                <a:schemeClr val="dk1"/>
              </a:buClr>
              <a:buSzPts val="1100"/>
              <a:buFont typeface="Arial"/>
              <a:buNone/>
            </a:pPr>
            <a:r>
              <a:rPr lang="en" sz="1400">
                <a:solidFill>
                  <a:srgbClr val="202124"/>
                </a:solidFill>
                <a:highlight>
                  <a:srgbClr val="FFFFFF"/>
                </a:highlight>
              </a:rPr>
              <a:t>Declares the type of data accepted, using one or more attributes that specify various aspects of the data URI (</a:t>
            </a:r>
            <a:r>
              <a:rPr lang="en" sz="1400">
                <a:solidFill>
                  <a:srgbClr val="188038"/>
                </a:solidFill>
                <a:highlight>
                  <a:srgbClr val="FFFFFF"/>
                </a:highlight>
              </a:rPr>
              <a:t>scheme</a:t>
            </a:r>
            <a:r>
              <a:rPr lang="en" sz="1400">
                <a:solidFill>
                  <a:srgbClr val="202124"/>
                </a:solidFill>
                <a:highlight>
                  <a:srgbClr val="FFFFFF"/>
                </a:highlight>
              </a:rPr>
              <a:t>, </a:t>
            </a:r>
            <a:r>
              <a:rPr lang="en" sz="1400">
                <a:solidFill>
                  <a:srgbClr val="188038"/>
                </a:solidFill>
                <a:highlight>
                  <a:srgbClr val="FFFFFF"/>
                </a:highlight>
              </a:rPr>
              <a:t>host</a:t>
            </a:r>
            <a:r>
              <a:rPr lang="en" sz="1400">
                <a:solidFill>
                  <a:srgbClr val="202124"/>
                </a:solidFill>
                <a:highlight>
                  <a:srgbClr val="FFFFFF"/>
                </a:highlight>
              </a:rPr>
              <a:t>, </a:t>
            </a:r>
            <a:r>
              <a:rPr lang="en" sz="1400">
                <a:solidFill>
                  <a:srgbClr val="188038"/>
                </a:solidFill>
                <a:highlight>
                  <a:srgbClr val="FFFFFF"/>
                </a:highlight>
              </a:rPr>
              <a:t>port</a:t>
            </a:r>
            <a:r>
              <a:rPr lang="en" sz="1400">
                <a:solidFill>
                  <a:srgbClr val="202124"/>
                </a:solidFill>
                <a:highlight>
                  <a:srgbClr val="FFFFFF"/>
                </a:highlight>
              </a:rPr>
              <a:t>, </a:t>
            </a:r>
            <a:r>
              <a:rPr lang="en" sz="1400">
                <a:solidFill>
                  <a:srgbClr val="188038"/>
                </a:solidFill>
                <a:highlight>
                  <a:srgbClr val="FFFFFF"/>
                </a:highlight>
              </a:rPr>
              <a:t>path</a:t>
            </a:r>
            <a:r>
              <a:rPr lang="en" sz="1400">
                <a:solidFill>
                  <a:srgbClr val="202124"/>
                </a:solidFill>
                <a:highlight>
                  <a:srgbClr val="FFFFFF"/>
                </a:highlight>
              </a:rPr>
              <a:t>) and MIME type.</a:t>
            </a:r>
            <a:endParaRPr sz="1400">
              <a:solidFill>
                <a:srgbClr val="202124"/>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r>
              <a:rPr lang="en" sz="1400">
                <a:solidFill>
                  <a:srgbClr val="202124"/>
                </a:solidFill>
                <a:highlight>
                  <a:srgbClr val="FFFFFF"/>
                </a:highlight>
              </a:rPr>
              <a:t>&lt;category&gt;</a:t>
            </a:r>
            <a:endParaRPr sz="1400" u="sng">
              <a:solidFill>
                <a:srgbClr val="188038"/>
              </a:solidFill>
              <a:highlight>
                <a:srgbClr val="FFFFFF"/>
              </a:highlight>
            </a:endParaRPr>
          </a:p>
          <a:p>
            <a:pPr marL="381000" lvl="0" indent="0" algn="l" rtl="0">
              <a:lnSpc>
                <a:spcPct val="115000"/>
              </a:lnSpc>
              <a:spcBef>
                <a:spcPts val="1200"/>
              </a:spcBef>
              <a:spcAft>
                <a:spcPts val="0"/>
              </a:spcAft>
              <a:buClr>
                <a:schemeClr val="dk1"/>
              </a:buClr>
              <a:buSzPts val="1100"/>
              <a:buFont typeface="Arial"/>
              <a:buNone/>
            </a:pPr>
            <a:r>
              <a:rPr lang="en" sz="1400">
                <a:solidFill>
                  <a:srgbClr val="202124"/>
                </a:solidFill>
                <a:highlight>
                  <a:srgbClr val="FFFFFF"/>
                </a:highlight>
              </a:rPr>
              <a:t>Declares the intent category accepted, in the </a:t>
            </a:r>
            <a:r>
              <a:rPr lang="en" sz="1400">
                <a:solidFill>
                  <a:srgbClr val="188038"/>
                </a:solidFill>
                <a:highlight>
                  <a:srgbClr val="FFFFFF"/>
                </a:highlight>
              </a:rPr>
              <a:t>name</a:t>
            </a:r>
            <a:r>
              <a:rPr lang="en" sz="1400">
                <a:solidFill>
                  <a:srgbClr val="202124"/>
                </a:solidFill>
                <a:highlight>
                  <a:srgbClr val="FFFFFF"/>
                </a:highlight>
              </a:rPr>
              <a:t> attribute. The value must be the literal string value of an action, not the class constant.</a:t>
            </a:r>
            <a:endParaRPr sz="1400">
              <a:solidFill>
                <a:srgbClr val="202124"/>
              </a:solidFill>
              <a:highlight>
                <a:srgbClr val="FFFFFF"/>
              </a:highlight>
            </a:endParaRPr>
          </a:p>
          <a:p>
            <a:pPr marL="0" lvl="0" indent="0" algn="l" rtl="0">
              <a:lnSpc>
                <a:spcPct val="115000"/>
              </a:lnSpc>
              <a:spcBef>
                <a:spcPts val="1200"/>
              </a:spcBef>
              <a:spcAft>
                <a:spcPts val="1200"/>
              </a:spcAft>
              <a:buSzPts val="1800"/>
              <a:buNone/>
            </a:pPr>
            <a:endParaRPr sz="1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Services</a:t>
            </a:r>
            <a:endParaRPr/>
          </a:p>
        </p:txBody>
      </p:sp>
      <p:sp>
        <p:nvSpPr>
          <p:cNvPr id="246" name="Google Shape;246;p2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sz="1400">
                <a:solidFill>
                  <a:srgbClr val="273239"/>
                </a:solidFill>
                <a:highlight>
                  <a:srgbClr val="FFFFFF"/>
                </a:highlight>
              </a:rPr>
              <a:t>Services in Android are a special component that facilitates an application to run in the background in order to perform long-running operation tasks.</a:t>
            </a:r>
            <a:endParaRPr sz="1400">
              <a:solidFill>
                <a:srgbClr val="273239"/>
              </a:solidFill>
              <a:highlight>
                <a:srgbClr val="FFFFFF"/>
              </a:highlight>
            </a:endParaRPr>
          </a:p>
          <a:p>
            <a:pPr marL="0" lvl="0" indent="0" algn="l" rtl="0">
              <a:lnSpc>
                <a:spcPct val="115000"/>
              </a:lnSpc>
              <a:spcBef>
                <a:spcPts val="1200"/>
              </a:spcBef>
              <a:spcAft>
                <a:spcPts val="0"/>
              </a:spcAft>
              <a:buSzPts val="1800"/>
              <a:buNone/>
            </a:pPr>
            <a:r>
              <a:rPr lang="en" sz="1400">
                <a:solidFill>
                  <a:srgbClr val="273239"/>
                </a:solidFill>
                <a:highlight>
                  <a:srgbClr val="FFFFFF"/>
                </a:highlight>
              </a:rPr>
              <a:t>The prime aim of a service is to ensure that the application remains active in the background so that the user can operate multiple applications at the same time. </a:t>
            </a:r>
            <a:endParaRPr sz="1400">
              <a:solidFill>
                <a:srgbClr val="273239"/>
              </a:solidFill>
              <a:highlight>
                <a:srgbClr val="FFFFFF"/>
              </a:highlight>
            </a:endParaRPr>
          </a:p>
          <a:p>
            <a:pPr marL="0" lvl="0" indent="0" algn="l" rtl="0">
              <a:lnSpc>
                <a:spcPct val="115000"/>
              </a:lnSpc>
              <a:spcBef>
                <a:spcPts val="1200"/>
              </a:spcBef>
              <a:spcAft>
                <a:spcPts val="1200"/>
              </a:spcAft>
              <a:buSzPts val="1800"/>
              <a:buNone/>
            </a:pPr>
            <a:r>
              <a:rPr lang="en" sz="1400">
                <a:solidFill>
                  <a:srgbClr val="273239"/>
                </a:solidFill>
                <a:highlight>
                  <a:srgbClr val="FFFFFF"/>
                </a:highlight>
              </a:rPr>
              <a:t>application components can bind itself to service to carry out </a:t>
            </a:r>
            <a:r>
              <a:rPr lang="en" sz="1400" b="1">
                <a:solidFill>
                  <a:srgbClr val="273239"/>
                </a:solidFill>
                <a:highlight>
                  <a:srgbClr val="FFFFFF"/>
                </a:highlight>
              </a:rPr>
              <a:t>inter-process communication(IPC)</a:t>
            </a:r>
            <a:r>
              <a:rPr lang="en" sz="1400">
                <a:solidFill>
                  <a:srgbClr val="273239"/>
                </a:solidFill>
                <a:highlight>
                  <a:srgbClr val="FFFFFF"/>
                </a:highlight>
              </a:rPr>
              <a:t>. </a:t>
            </a:r>
            <a:endParaRPr sz="1400">
              <a:solidFill>
                <a:srgbClr val="273239"/>
              </a:solidFill>
              <a:highlight>
                <a:srgbClr val="FFFFFF"/>
              </a:high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Types of Services</a:t>
            </a:r>
            <a:endParaRPr/>
          </a:p>
        </p:txBody>
      </p:sp>
      <p:pic>
        <p:nvPicPr>
          <p:cNvPr id="252" name="Google Shape;252;p30"/>
          <p:cNvPicPr preferRelativeResize="0"/>
          <p:nvPr/>
        </p:nvPicPr>
        <p:blipFill rotWithShape="1">
          <a:blip r:embed="rId3">
            <a:alphaModFix/>
          </a:blip>
          <a:srcRect/>
          <a:stretch/>
        </p:blipFill>
        <p:spPr>
          <a:xfrm>
            <a:off x="152400" y="1170125"/>
            <a:ext cx="6242188" cy="38209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1"/>
          <p:cNvSpPr txBox="1">
            <a:spLocks noGrp="1"/>
          </p:cNvSpPr>
          <p:nvPr>
            <p:ph type="body" idx="1"/>
          </p:nvPr>
        </p:nvSpPr>
        <p:spPr>
          <a:xfrm>
            <a:off x="311700" y="334325"/>
            <a:ext cx="8520600" cy="4234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Clr>
                <a:schemeClr val="dk1"/>
              </a:buClr>
              <a:buSzPts val="1100"/>
              <a:buFont typeface="Arial"/>
              <a:buNone/>
            </a:pPr>
            <a:r>
              <a:rPr lang="en" sz="1400" b="1">
                <a:solidFill>
                  <a:srgbClr val="273239"/>
                </a:solidFill>
                <a:highlight>
                  <a:srgbClr val="FFFFFF"/>
                </a:highlight>
              </a:rPr>
              <a:t>1. Foreground Services:</a:t>
            </a:r>
            <a:endParaRPr sz="1400" b="1">
              <a:solidFill>
                <a:srgbClr val="273239"/>
              </a:solidFill>
              <a:highlight>
                <a:srgbClr val="FFFFFF"/>
              </a:highlight>
            </a:endParaRPr>
          </a:p>
          <a:p>
            <a:pPr marL="0" lvl="0" indent="0" algn="l" rtl="0">
              <a:lnSpc>
                <a:spcPct val="115000"/>
              </a:lnSpc>
              <a:spcBef>
                <a:spcPts val="800"/>
              </a:spcBef>
              <a:spcAft>
                <a:spcPts val="0"/>
              </a:spcAft>
              <a:buClr>
                <a:schemeClr val="dk1"/>
              </a:buClr>
              <a:buSzPts val="1100"/>
              <a:buFont typeface="Arial"/>
              <a:buNone/>
            </a:pPr>
            <a:r>
              <a:rPr lang="en" sz="1400">
                <a:solidFill>
                  <a:srgbClr val="273239"/>
                </a:solidFill>
                <a:highlight>
                  <a:srgbClr val="FFFFFF"/>
                </a:highlight>
              </a:rPr>
              <a:t>Services that notify the user about its ongoing operations are termed as Foreground Services. Users can interact with the service by the notifications provided about the ongoing task. Such as in downloading a file, the user can keep track of the progress in downloading and can also pause and resume the process.</a:t>
            </a:r>
            <a:endParaRPr sz="1400">
              <a:solidFill>
                <a:srgbClr val="273239"/>
              </a:solidFill>
              <a:highlight>
                <a:srgbClr val="FFFFFF"/>
              </a:highlight>
            </a:endParaRPr>
          </a:p>
          <a:p>
            <a:pPr marL="0" lvl="0" indent="0" algn="l" rtl="0">
              <a:lnSpc>
                <a:spcPct val="115000"/>
              </a:lnSpc>
              <a:spcBef>
                <a:spcPts val="800"/>
              </a:spcBef>
              <a:spcAft>
                <a:spcPts val="0"/>
              </a:spcAft>
              <a:buClr>
                <a:schemeClr val="dk1"/>
              </a:buClr>
              <a:buSzPts val="1100"/>
              <a:buFont typeface="Arial"/>
              <a:buNone/>
            </a:pPr>
            <a:r>
              <a:rPr lang="en" sz="1400" b="1">
                <a:solidFill>
                  <a:srgbClr val="273239"/>
                </a:solidFill>
                <a:highlight>
                  <a:srgbClr val="FFFFFF"/>
                </a:highlight>
              </a:rPr>
              <a:t>2. Background Services:</a:t>
            </a:r>
            <a:endParaRPr sz="1400" b="1">
              <a:solidFill>
                <a:srgbClr val="273239"/>
              </a:solidFill>
              <a:highlight>
                <a:srgbClr val="FFFFFF"/>
              </a:highlight>
            </a:endParaRPr>
          </a:p>
          <a:p>
            <a:pPr marL="0" lvl="0" indent="0" algn="l" rtl="0">
              <a:lnSpc>
                <a:spcPct val="115000"/>
              </a:lnSpc>
              <a:spcBef>
                <a:spcPts val="800"/>
              </a:spcBef>
              <a:spcAft>
                <a:spcPts val="0"/>
              </a:spcAft>
              <a:buClr>
                <a:schemeClr val="dk1"/>
              </a:buClr>
              <a:buSzPts val="1100"/>
              <a:buFont typeface="Arial"/>
              <a:buNone/>
            </a:pPr>
            <a:r>
              <a:rPr lang="en" sz="1400">
                <a:solidFill>
                  <a:srgbClr val="273239"/>
                </a:solidFill>
                <a:highlight>
                  <a:srgbClr val="FFFFFF"/>
                </a:highlight>
              </a:rPr>
              <a:t>Background services do not require any user intervention. These services do not notify the user about ongoing background tasks and users also cannot access them. The process like schedule syncing of data or storing of data fall under this service.</a:t>
            </a:r>
            <a:endParaRPr sz="1400">
              <a:solidFill>
                <a:srgbClr val="273239"/>
              </a:solidFill>
              <a:highlight>
                <a:srgbClr val="FFFFFF"/>
              </a:highlight>
            </a:endParaRPr>
          </a:p>
          <a:p>
            <a:pPr marL="0" lvl="0" indent="0" algn="l" rtl="0">
              <a:lnSpc>
                <a:spcPct val="115000"/>
              </a:lnSpc>
              <a:spcBef>
                <a:spcPts val="800"/>
              </a:spcBef>
              <a:spcAft>
                <a:spcPts val="0"/>
              </a:spcAft>
              <a:buClr>
                <a:schemeClr val="dk1"/>
              </a:buClr>
              <a:buSzPts val="1100"/>
              <a:buFont typeface="Arial"/>
              <a:buNone/>
            </a:pPr>
            <a:endParaRPr sz="1400">
              <a:solidFill>
                <a:srgbClr val="273239"/>
              </a:solidFill>
              <a:highlight>
                <a:srgbClr val="FFFFFF"/>
              </a:highlight>
            </a:endParaRPr>
          </a:p>
          <a:p>
            <a:pPr marL="0" lvl="0" indent="0" algn="l" rtl="0">
              <a:lnSpc>
                <a:spcPct val="115000"/>
              </a:lnSpc>
              <a:spcBef>
                <a:spcPts val="800"/>
              </a:spcBef>
              <a:spcAft>
                <a:spcPts val="1200"/>
              </a:spcAft>
              <a:buSzPts val="1800"/>
              <a:buNone/>
            </a:pPr>
            <a:endParaRPr sz="1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2"/>
          <p:cNvSpPr txBox="1">
            <a:spLocks noGrp="1"/>
          </p:cNvSpPr>
          <p:nvPr>
            <p:ph type="title"/>
          </p:nvPr>
        </p:nvSpPr>
        <p:spPr>
          <a:xfrm>
            <a:off x="311700" y="2926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Types of services	</a:t>
            </a:r>
            <a:endParaRPr/>
          </a:p>
        </p:txBody>
      </p:sp>
      <p:sp>
        <p:nvSpPr>
          <p:cNvPr id="263" name="Google Shape;263;p32"/>
          <p:cNvSpPr txBox="1">
            <a:spLocks noGrp="1"/>
          </p:cNvSpPr>
          <p:nvPr>
            <p:ph type="body" idx="1"/>
          </p:nvPr>
        </p:nvSpPr>
        <p:spPr>
          <a:xfrm>
            <a:off x="311700" y="923875"/>
            <a:ext cx="8520600" cy="34164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r>
              <a:rPr lang="en" sz="1400" b="1">
                <a:solidFill>
                  <a:schemeClr val="dk1"/>
                </a:solidFill>
                <a:highlight>
                  <a:srgbClr val="FFFFFF"/>
                </a:highlight>
              </a:rPr>
              <a:t>1. Started Service (Unbounded Service):</a:t>
            </a:r>
            <a:endParaRPr sz="1400" b="1">
              <a:solidFill>
                <a:schemeClr val="dk1"/>
              </a:solidFill>
              <a:highlight>
                <a:srgbClr val="FFFFFF"/>
              </a:highlight>
            </a:endParaRPr>
          </a:p>
          <a:p>
            <a:pPr marL="0" lvl="0" indent="0" algn="just" rtl="0">
              <a:lnSpc>
                <a:spcPct val="115000"/>
              </a:lnSpc>
              <a:spcBef>
                <a:spcPts val="0"/>
              </a:spcBef>
              <a:spcAft>
                <a:spcPts val="0"/>
              </a:spcAft>
              <a:buClr>
                <a:schemeClr val="dk1"/>
              </a:buClr>
              <a:buSzPts val="1100"/>
              <a:buFont typeface="Arial"/>
              <a:buNone/>
            </a:pPr>
            <a:r>
              <a:rPr lang="en" sz="1400">
                <a:solidFill>
                  <a:schemeClr val="dk1"/>
                </a:solidFill>
                <a:highlight>
                  <a:srgbClr val="FFFFFF"/>
                </a:highlight>
              </a:rPr>
              <a:t>By following this path, a service will initiate when an application component calls the </a:t>
            </a:r>
            <a:r>
              <a:rPr lang="en" sz="1400" b="1">
                <a:solidFill>
                  <a:schemeClr val="dk1"/>
                </a:solidFill>
                <a:highlight>
                  <a:srgbClr val="FFFFFF"/>
                </a:highlight>
              </a:rPr>
              <a:t>startService()</a:t>
            </a:r>
            <a:r>
              <a:rPr lang="en" sz="1400">
                <a:solidFill>
                  <a:schemeClr val="dk1"/>
                </a:solidFill>
                <a:highlight>
                  <a:srgbClr val="FFFFFF"/>
                </a:highlight>
              </a:rPr>
              <a:t> method. Once initiated, the service can run continuously in the background even if the component is destroyed which was responsible for the start of the service. Two option are available to stop the execution of service:</a:t>
            </a:r>
            <a:endParaRPr sz="1400">
              <a:solidFill>
                <a:schemeClr val="dk1"/>
              </a:solidFill>
              <a:highlight>
                <a:srgbClr val="FFFFFF"/>
              </a:highlight>
            </a:endParaRPr>
          </a:p>
          <a:p>
            <a:pPr marL="685800" lvl="0" indent="-317500" algn="just" rtl="0">
              <a:lnSpc>
                <a:spcPct val="158000"/>
              </a:lnSpc>
              <a:spcBef>
                <a:spcPts val="800"/>
              </a:spcBef>
              <a:spcAft>
                <a:spcPts val="0"/>
              </a:spcAft>
              <a:buClr>
                <a:schemeClr val="dk1"/>
              </a:buClr>
              <a:buSzPts val="1400"/>
              <a:buFont typeface="Nunito"/>
              <a:buChar char="●"/>
            </a:pPr>
            <a:r>
              <a:rPr lang="en" sz="1400">
                <a:solidFill>
                  <a:schemeClr val="dk1"/>
                </a:solidFill>
                <a:highlight>
                  <a:srgbClr val="FFFFFF"/>
                </a:highlight>
              </a:rPr>
              <a:t>By calling </a:t>
            </a:r>
            <a:r>
              <a:rPr lang="en" sz="1400" b="1">
                <a:solidFill>
                  <a:schemeClr val="dk1"/>
                </a:solidFill>
                <a:highlight>
                  <a:srgbClr val="FFFFFF"/>
                </a:highlight>
              </a:rPr>
              <a:t>stopService()</a:t>
            </a:r>
            <a:r>
              <a:rPr lang="en" sz="1400">
                <a:solidFill>
                  <a:schemeClr val="dk1"/>
                </a:solidFill>
                <a:highlight>
                  <a:srgbClr val="FFFFFF"/>
                </a:highlight>
              </a:rPr>
              <a:t> method,</a:t>
            </a:r>
            <a:endParaRPr sz="1400">
              <a:solidFill>
                <a:schemeClr val="dk1"/>
              </a:solidFill>
              <a:highlight>
                <a:srgbClr val="FFFFFF"/>
              </a:highlight>
            </a:endParaRPr>
          </a:p>
          <a:p>
            <a:pPr marL="685800" lvl="0" indent="-317500" algn="just" rtl="0">
              <a:lnSpc>
                <a:spcPct val="158000"/>
              </a:lnSpc>
              <a:spcBef>
                <a:spcPts val="0"/>
              </a:spcBef>
              <a:spcAft>
                <a:spcPts val="0"/>
              </a:spcAft>
              <a:buClr>
                <a:schemeClr val="dk1"/>
              </a:buClr>
              <a:buSzPts val="1400"/>
              <a:buFont typeface="Nunito"/>
              <a:buChar char="●"/>
            </a:pPr>
            <a:r>
              <a:rPr lang="en" sz="1400">
                <a:solidFill>
                  <a:schemeClr val="dk1"/>
                </a:solidFill>
                <a:highlight>
                  <a:srgbClr val="FFFFFF"/>
                </a:highlight>
              </a:rPr>
              <a:t>The service can stop itself by using </a:t>
            </a:r>
            <a:r>
              <a:rPr lang="en" sz="1400" b="1">
                <a:solidFill>
                  <a:schemeClr val="dk1"/>
                </a:solidFill>
                <a:highlight>
                  <a:srgbClr val="FFFFFF"/>
                </a:highlight>
              </a:rPr>
              <a:t>stopSelf()</a:t>
            </a:r>
            <a:r>
              <a:rPr lang="en" sz="1400">
                <a:solidFill>
                  <a:schemeClr val="dk1"/>
                </a:solidFill>
                <a:highlight>
                  <a:srgbClr val="FFFFFF"/>
                </a:highlight>
              </a:rPr>
              <a:t> method.</a:t>
            </a:r>
            <a:endParaRPr sz="1400">
              <a:solidFill>
                <a:schemeClr val="dk1"/>
              </a:solidFill>
              <a:highlight>
                <a:srgbClr val="FFFFFF"/>
              </a:highlight>
            </a:endParaRPr>
          </a:p>
          <a:p>
            <a:pPr marL="0" lvl="0" indent="0" algn="just" rtl="0">
              <a:lnSpc>
                <a:spcPct val="115000"/>
              </a:lnSpc>
              <a:spcBef>
                <a:spcPts val="1800"/>
              </a:spcBef>
              <a:spcAft>
                <a:spcPts val="0"/>
              </a:spcAft>
              <a:buClr>
                <a:schemeClr val="dk1"/>
              </a:buClr>
              <a:buSzPts val="1100"/>
              <a:buFont typeface="Arial"/>
              <a:buNone/>
            </a:pPr>
            <a:r>
              <a:rPr lang="en" sz="1400" b="1">
                <a:solidFill>
                  <a:schemeClr val="dk1"/>
                </a:solidFill>
                <a:highlight>
                  <a:srgbClr val="FFFFFF"/>
                </a:highlight>
              </a:rPr>
              <a:t>2. Bounded Service:</a:t>
            </a:r>
            <a:endParaRPr sz="1400" b="1">
              <a:solidFill>
                <a:schemeClr val="dk1"/>
              </a:solidFill>
              <a:highlight>
                <a:srgbClr val="FFFFFF"/>
              </a:highlight>
            </a:endParaRPr>
          </a:p>
          <a:p>
            <a:pPr marL="0" lvl="0" indent="0" algn="just" rtl="0">
              <a:lnSpc>
                <a:spcPct val="115000"/>
              </a:lnSpc>
              <a:spcBef>
                <a:spcPts val="0"/>
              </a:spcBef>
              <a:spcAft>
                <a:spcPts val="0"/>
              </a:spcAft>
              <a:buClr>
                <a:schemeClr val="dk1"/>
              </a:buClr>
              <a:buSzPts val="1100"/>
              <a:buFont typeface="Arial"/>
              <a:buNone/>
            </a:pPr>
            <a:r>
              <a:rPr lang="en" sz="1400">
                <a:solidFill>
                  <a:schemeClr val="dk1"/>
                </a:solidFill>
                <a:highlight>
                  <a:srgbClr val="FFFFFF"/>
                </a:highlight>
              </a:rPr>
              <a:t>It can be treated as a server in a client-server interface. By following this path, android application components can send requests to the service and can fetch results. A service is termed as bounded when an application component binds itself with a service by calling </a:t>
            </a:r>
            <a:r>
              <a:rPr lang="en" sz="1400" b="1">
                <a:solidFill>
                  <a:schemeClr val="dk1"/>
                </a:solidFill>
                <a:highlight>
                  <a:srgbClr val="FFFFFF"/>
                </a:highlight>
              </a:rPr>
              <a:t>bindService()</a:t>
            </a:r>
            <a:r>
              <a:rPr lang="en" sz="1400">
                <a:solidFill>
                  <a:schemeClr val="dk1"/>
                </a:solidFill>
                <a:highlight>
                  <a:srgbClr val="FFFFFF"/>
                </a:highlight>
              </a:rPr>
              <a:t> method. To stop the execution of this service, all the components must unbind themselves from the service by using </a:t>
            </a:r>
            <a:r>
              <a:rPr lang="en" sz="1400" b="1">
                <a:solidFill>
                  <a:schemeClr val="dk1"/>
                </a:solidFill>
                <a:highlight>
                  <a:srgbClr val="FFFFFF"/>
                </a:highlight>
              </a:rPr>
              <a:t>unbindService() </a:t>
            </a:r>
            <a:r>
              <a:rPr lang="en" sz="1400">
                <a:solidFill>
                  <a:schemeClr val="dk1"/>
                </a:solidFill>
                <a:highlight>
                  <a:srgbClr val="FFFFFF"/>
                </a:highlight>
              </a:rPr>
              <a:t>method.</a:t>
            </a:r>
            <a:endParaRPr sz="1400">
              <a:solidFill>
                <a:schemeClr val="dk1"/>
              </a:solidFill>
              <a:highlight>
                <a:srgbClr val="FFFFFF"/>
              </a:highlight>
            </a:endParaRPr>
          </a:p>
          <a:p>
            <a:pPr marL="0" lvl="0" indent="0" algn="just" rtl="0">
              <a:lnSpc>
                <a:spcPct val="115000"/>
              </a:lnSpc>
              <a:spcBef>
                <a:spcPts val="800"/>
              </a:spcBef>
              <a:spcAft>
                <a:spcPts val="1200"/>
              </a:spcAft>
              <a:buSzPts val="1800"/>
              <a:buNone/>
            </a:pPr>
            <a:endParaRPr sz="1400">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pic>
        <p:nvPicPr>
          <p:cNvPr id="268" name="Google Shape;268;p33"/>
          <p:cNvPicPr preferRelativeResize="0"/>
          <p:nvPr/>
        </p:nvPicPr>
        <p:blipFill rotWithShape="1">
          <a:blip r:embed="rId3">
            <a:alphaModFix/>
          </a:blip>
          <a:srcRect/>
          <a:stretch/>
        </p:blipFill>
        <p:spPr>
          <a:xfrm>
            <a:off x="1684500" y="257175"/>
            <a:ext cx="5220650" cy="42819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Fundamentals of android services</a:t>
            </a:r>
            <a:endParaRPr/>
          </a:p>
        </p:txBody>
      </p:sp>
      <p:sp>
        <p:nvSpPr>
          <p:cNvPr id="274" name="Google Shape;274;p3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800"/>
              <a:buNone/>
            </a:pPr>
            <a:r>
              <a:rPr lang="en" sz="1400">
                <a:solidFill>
                  <a:schemeClr val="dk1"/>
                </a:solidFill>
                <a:highlight>
                  <a:srgbClr val="FFFFFF"/>
                </a:highlight>
              </a:rPr>
              <a:t>onStartCommand(): </a:t>
            </a:r>
            <a:endParaRPr sz="1400">
              <a:solidFill>
                <a:schemeClr val="dk1"/>
              </a:solidFill>
              <a:highlight>
                <a:srgbClr val="FFFFFF"/>
              </a:highlight>
            </a:endParaRPr>
          </a:p>
          <a:p>
            <a:pPr marL="0" lvl="0" indent="0" algn="just" rtl="0">
              <a:lnSpc>
                <a:spcPct val="115000"/>
              </a:lnSpc>
              <a:spcBef>
                <a:spcPts val="0"/>
              </a:spcBef>
              <a:spcAft>
                <a:spcPts val="0"/>
              </a:spcAft>
              <a:buSzPts val="1800"/>
              <a:buNone/>
            </a:pPr>
            <a:r>
              <a:rPr lang="en" sz="1400">
                <a:solidFill>
                  <a:schemeClr val="dk1"/>
                </a:solidFill>
                <a:highlight>
                  <a:srgbClr val="FFFFFF"/>
                </a:highlight>
              </a:rPr>
              <a:t>The Android service calls this method when a component(eg: activity) requests to start a service using startService(). Once the service is started,it can be stopped explicitly using stopService() or stopSelf() methods.</a:t>
            </a:r>
            <a:endParaRPr sz="1400">
              <a:solidFill>
                <a:schemeClr val="dk1"/>
              </a:solidFill>
              <a:highlight>
                <a:srgbClr val="FFFFFF"/>
              </a:highlight>
            </a:endParaRPr>
          </a:p>
          <a:p>
            <a:pPr marL="0" lvl="0" indent="0" algn="just" rtl="0">
              <a:lnSpc>
                <a:spcPct val="115000"/>
              </a:lnSpc>
              <a:spcBef>
                <a:spcPts val="800"/>
              </a:spcBef>
              <a:spcAft>
                <a:spcPts val="0"/>
              </a:spcAft>
              <a:buSzPts val="1800"/>
              <a:buNone/>
            </a:pPr>
            <a:r>
              <a:rPr lang="en" sz="1400">
                <a:solidFill>
                  <a:schemeClr val="dk1"/>
                </a:solidFill>
                <a:highlight>
                  <a:srgbClr val="FFFFFF"/>
                </a:highlight>
              </a:rPr>
              <a:t>onBind():</a:t>
            </a:r>
            <a:endParaRPr sz="1400">
              <a:solidFill>
                <a:schemeClr val="dk1"/>
              </a:solidFill>
              <a:highlight>
                <a:srgbClr val="FFFFFF"/>
              </a:highlight>
            </a:endParaRPr>
          </a:p>
          <a:p>
            <a:pPr marL="0" lvl="0" indent="0" algn="just" rtl="0">
              <a:lnSpc>
                <a:spcPct val="115000"/>
              </a:lnSpc>
              <a:spcBef>
                <a:spcPts val="0"/>
              </a:spcBef>
              <a:spcAft>
                <a:spcPts val="0"/>
              </a:spcAft>
              <a:buSzPts val="1800"/>
              <a:buNone/>
            </a:pPr>
            <a:r>
              <a:rPr lang="en" sz="1400">
                <a:solidFill>
                  <a:schemeClr val="dk1"/>
                </a:solidFill>
                <a:highlight>
                  <a:srgbClr val="FFFFFF"/>
                </a:highlight>
              </a:rPr>
              <a:t>This method is mandatory to implement in android service and is invoked whenever an application component calls the bindService() method in order to bind itself with a service. User-interface is also provided to communicate with the service effectively by returning an IBinder object. If the binding of service is not required then the method must return null.</a:t>
            </a:r>
            <a:endParaRPr sz="1400">
              <a:solidFill>
                <a:schemeClr val="dk1"/>
              </a:solidFill>
              <a:highlight>
                <a:srgbClr val="FFFFFF"/>
              </a:highlight>
            </a:endParaRPr>
          </a:p>
          <a:p>
            <a:pPr marL="0" lvl="0" indent="0" algn="just" rtl="0">
              <a:lnSpc>
                <a:spcPct val="115000"/>
              </a:lnSpc>
              <a:spcBef>
                <a:spcPts val="800"/>
              </a:spcBef>
              <a:spcAft>
                <a:spcPts val="1200"/>
              </a:spcAft>
              <a:buSzPts val="1800"/>
              <a:buNone/>
            </a:pPr>
            <a:endParaRPr sz="14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5"/>
          <p:cNvSpPr txBox="1">
            <a:spLocks noGrp="1"/>
          </p:cNvSpPr>
          <p:nvPr>
            <p:ph type="body" idx="1"/>
          </p:nvPr>
        </p:nvSpPr>
        <p:spPr>
          <a:xfrm>
            <a:off x="311700" y="270025"/>
            <a:ext cx="8520600" cy="42990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800"/>
              <a:buNone/>
            </a:pPr>
            <a:r>
              <a:rPr lang="en" sz="1400">
                <a:solidFill>
                  <a:schemeClr val="dk1"/>
                </a:solidFill>
                <a:highlight>
                  <a:srgbClr val="FFFFFF"/>
                </a:highlight>
              </a:rPr>
              <a:t>onUnbind():</a:t>
            </a:r>
            <a:endParaRPr sz="1400">
              <a:solidFill>
                <a:schemeClr val="dk1"/>
              </a:solidFill>
              <a:highlight>
                <a:srgbClr val="FFFFFF"/>
              </a:highlight>
            </a:endParaRPr>
          </a:p>
          <a:p>
            <a:pPr marL="0" lvl="0" indent="0" algn="just" rtl="0">
              <a:lnSpc>
                <a:spcPct val="115000"/>
              </a:lnSpc>
              <a:spcBef>
                <a:spcPts val="0"/>
              </a:spcBef>
              <a:spcAft>
                <a:spcPts val="0"/>
              </a:spcAft>
              <a:buSzPts val="1800"/>
              <a:buNone/>
            </a:pPr>
            <a:r>
              <a:rPr lang="en" sz="1400">
                <a:solidFill>
                  <a:schemeClr val="dk1"/>
                </a:solidFill>
                <a:highlight>
                  <a:srgbClr val="FFFFFF"/>
                </a:highlight>
              </a:rPr>
              <a:t>The Android system invokes this method when all the clients get disconnected from a particular service interface.</a:t>
            </a:r>
            <a:endParaRPr sz="1400">
              <a:solidFill>
                <a:schemeClr val="dk1"/>
              </a:solidFill>
              <a:highlight>
                <a:srgbClr val="FFFFFF"/>
              </a:highlight>
            </a:endParaRPr>
          </a:p>
          <a:p>
            <a:pPr marL="0" lvl="0" indent="0" algn="just" rtl="0">
              <a:lnSpc>
                <a:spcPct val="115000"/>
              </a:lnSpc>
              <a:spcBef>
                <a:spcPts val="800"/>
              </a:spcBef>
              <a:spcAft>
                <a:spcPts val="0"/>
              </a:spcAft>
              <a:buSzPts val="1800"/>
              <a:buNone/>
            </a:pPr>
            <a:r>
              <a:rPr lang="en" sz="1400">
                <a:solidFill>
                  <a:schemeClr val="dk1"/>
                </a:solidFill>
                <a:highlight>
                  <a:srgbClr val="FFFFFF"/>
                </a:highlight>
              </a:rPr>
              <a:t>onRebind():</a:t>
            </a:r>
            <a:endParaRPr sz="1400">
              <a:solidFill>
                <a:schemeClr val="dk1"/>
              </a:solidFill>
              <a:highlight>
                <a:srgbClr val="FFFFFF"/>
              </a:highlight>
            </a:endParaRPr>
          </a:p>
          <a:p>
            <a:pPr marL="0" lvl="0" indent="0" algn="just" rtl="0">
              <a:lnSpc>
                <a:spcPct val="115000"/>
              </a:lnSpc>
              <a:spcBef>
                <a:spcPts val="0"/>
              </a:spcBef>
              <a:spcAft>
                <a:spcPts val="0"/>
              </a:spcAft>
              <a:buSzPts val="1800"/>
              <a:buNone/>
            </a:pPr>
            <a:r>
              <a:rPr lang="en" sz="1400">
                <a:solidFill>
                  <a:schemeClr val="dk1"/>
                </a:solidFill>
                <a:highlight>
                  <a:srgbClr val="FFFFFF"/>
                </a:highlight>
              </a:rPr>
              <a:t>Once all clients are disconnected from the particular interface of service and there is a need to connect the service with new clients, the system calls this method.</a:t>
            </a:r>
            <a:endParaRPr sz="1400">
              <a:solidFill>
                <a:schemeClr val="dk1"/>
              </a:solidFill>
              <a:highlight>
                <a:srgbClr val="FFFFFF"/>
              </a:highlight>
            </a:endParaRPr>
          </a:p>
          <a:p>
            <a:pPr marL="0" lvl="0" indent="0" algn="just" rtl="0">
              <a:lnSpc>
                <a:spcPct val="115000"/>
              </a:lnSpc>
              <a:spcBef>
                <a:spcPts val="800"/>
              </a:spcBef>
              <a:spcAft>
                <a:spcPts val="0"/>
              </a:spcAft>
              <a:buSzPts val="1800"/>
              <a:buNone/>
            </a:pPr>
            <a:r>
              <a:rPr lang="en" sz="1400">
                <a:solidFill>
                  <a:schemeClr val="dk1"/>
                </a:solidFill>
                <a:highlight>
                  <a:srgbClr val="FFFFFF"/>
                </a:highlight>
              </a:rPr>
              <a:t>onCreate()</a:t>
            </a:r>
            <a:endParaRPr sz="1400">
              <a:solidFill>
                <a:schemeClr val="dk1"/>
              </a:solidFill>
              <a:highlight>
                <a:srgbClr val="FFFFFF"/>
              </a:highlight>
            </a:endParaRPr>
          </a:p>
          <a:p>
            <a:pPr marL="0" lvl="0" indent="0" algn="just" rtl="0">
              <a:lnSpc>
                <a:spcPct val="115000"/>
              </a:lnSpc>
              <a:spcBef>
                <a:spcPts val="0"/>
              </a:spcBef>
              <a:spcAft>
                <a:spcPts val="0"/>
              </a:spcAft>
              <a:buSzPts val="1800"/>
              <a:buNone/>
            </a:pPr>
            <a:r>
              <a:rPr lang="en" sz="1400">
                <a:solidFill>
                  <a:schemeClr val="dk1"/>
                </a:solidFill>
                <a:highlight>
                  <a:srgbClr val="FFFFFF"/>
                </a:highlight>
              </a:rPr>
              <a:t>Whenever a service is created either using onStartCommand() or onBind(), the android system calls this method. This method is necessary to perform a one-time-setup.</a:t>
            </a:r>
            <a:endParaRPr sz="1400">
              <a:solidFill>
                <a:schemeClr val="dk1"/>
              </a:solidFill>
              <a:highlight>
                <a:srgbClr val="FFFFFF"/>
              </a:highlight>
            </a:endParaRPr>
          </a:p>
          <a:p>
            <a:pPr marL="0" lvl="0" indent="0" algn="just" rtl="0">
              <a:lnSpc>
                <a:spcPct val="115000"/>
              </a:lnSpc>
              <a:spcBef>
                <a:spcPts val="800"/>
              </a:spcBef>
              <a:spcAft>
                <a:spcPts val="0"/>
              </a:spcAft>
              <a:buSzPts val="1800"/>
              <a:buNone/>
            </a:pPr>
            <a:r>
              <a:rPr lang="en" sz="1400">
                <a:solidFill>
                  <a:schemeClr val="dk1"/>
                </a:solidFill>
                <a:highlight>
                  <a:srgbClr val="FFFFFF"/>
                </a:highlight>
              </a:rPr>
              <a:t>onDestroy()</a:t>
            </a:r>
            <a:endParaRPr sz="1400">
              <a:solidFill>
                <a:schemeClr val="dk1"/>
              </a:solidFill>
              <a:highlight>
                <a:srgbClr val="FFFFFF"/>
              </a:highlight>
            </a:endParaRPr>
          </a:p>
          <a:p>
            <a:pPr marL="0" lvl="0" indent="0" algn="just" rtl="0">
              <a:lnSpc>
                <a:spcPct val="115000"/>
              </a:lnSpc>
              <a:spcBef>
                <a:spcPts val="0"/>
              </a:spcBef>
              <a:spcAft>
                <a:spcPts val="0"/>
              </a:spcAft>
              <a:buSzPts val="1800"/>
              <a:buNone/>
            </a:pPr>
            <a:r>
              <a:rPr lang="en" sz="1400">
                <a:solidFill>
                  <a:schemeClr val="dk1"/>
                </a:solidFill>
                <a:highlight>
                  <a:srgbClr val="FFFFFF"/>
                </a:highlight>
              </a:rPr>
              <a:t>When a service is no longer in use, the system invokes this method just before the service destroys as a final clean up call. Services must implement this method in order to clean up resources like registered listeners, threads, receivers, etc.</a:t>
            </a:r>
            <a:endParaRPr sz="1400">
              <a:solidFill>
                <a:schemeClr val="dk1"/>
              </a:solidFill>
              <a:highlight>
                <a:srgbClr val="FFFFFF"/>
              </a:highlight>
            </a:endParaRPr>
          </a:p>
          <a:p>
            <a:pPr marL="0" lvl="0" indent="0" algn="just" rtl="0">
              <a:lnSpc>
                <a:spcPct val="115000"/>
              </a:lnSpc>
              <a:spcBef>
                <a:spcPts val="800"/>
              </a:spcBef>
              <a:spcAft>
                <a:spcPts val="1200"/>
              </a:spcAft>
              <a:buSzPts val="1800"/>
              <a:buNone/>
            </a:pPr>
            <a:endParaRPr sz="14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Broadcast Receivers</a:t>
            </a:r>
            <a:endParaRPr/>
          </a:p>
        </p:txBody>
      </p:sp>
      <p:sp>
        <p:nvSpPr>
          <p:cNvPr id="285" name="Google Shape;285;p3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sz="1400" b="1">
                <a:solidFill>
                  <a:schemeClr val="dk1"/>
                </a:solidFill>
                <a:highlight>
                  <a:srgbClr val="F9F9F9"/>
                </a:highlight>
              </a:rPr>
              <a:t>Broadcast Receivers</a:t>
            </a:r>
            <a:r>
              <a:rPr lang="en" sz="1400">
                <a:solidFill>
                  <a:schemeClr val="dk1"/>
                </a:solidFill>
                <a:highlight>
                  <a:srgbClr val="F9F9F9"/>
                </a:highlight>
              </a:rPr>
              <a:t> simply respond to broadcast messages from other applications or from the system itself. These messages are sometime called events or intents. For example, applications can also initiate broadcasts to let other applications know that some data has been downloaded to the device and is available for them to use, so this is broadcast receiver who will intercept this communication and will initiate appropriate action.</a:t>
            </a:r>
            <a:endParaRPr sz="1400">
              <a:solidFill>
                <a:schemeClr val="dk1"/>
              </a:solidFill>
              <a:highlight>
                <a:srgbClr val="F9F9F9"/>
              </a:highlight>
            </a:endParaRPr>
          </a:p>
          <a:p>
            <a:pPr marL="0" lvl="0" indent="0" algn="just" rtl="0">
              <a:lnSpc>
                <a:spcPct val="160000"/>
              </a:lnSpc>
              <a:spcBef>
                <a:spcPts val="1200"/>
              </a:spcBef>
              <a:spcAft>
                <a:spcPts val="0"/>
              </a:spcAft>
              <a:buClr>
                <a:schemeClr val="dk1"/>
              </a:buClr>
              <a:buSzPts val="1100"/>
              <a:buFont typeface="Arial"/>
              <a:buNone/>
            </a:pPr>
            <a:r>
              <a:rPr lang="en" sz="1400">
                <a:solidFill>
                  <a:schemeClr val="dk1"/>
                </a:solidFill>
              </a:rPr>
              <a:t>There are following two important steps to make BroadCastReceiver works for the system broadcast intents −</a:t>
            </a:r>
            <a:endParaRPr sz="1400">
              <a:solidFill>
                <a:schemeClr val="dk1"/>
              </a:solidFill>
            </a:endParaRPr>
          </a:p>
          <a:p>
            <a:pPr marL="457200" lvl="0" indent="-317500" algn="l" rtl="0">
              <a:lnSpc>
                <a:spcPct val="150000"/>
              </a:lnSpc>
              <a:spcBef>
                <a:spcPts val="700"/>
              </a:spcBef>
              <a:spcAft>
                <a:spcPts val="0"/>
              </a:spcAft>
              <a:buClr>
                <a:schemeClr val="dk1"/>
              </a:buClr>
              <a:buSzPts val="1400"/>
              <a:buAutoNum type="arabicPeriod"/>
            </a:pPr>
            <a:r>
              <a:rPr lang="en" sz="1400">
                <a:solidFill>
                  <a:schemeClr val="dk1"/>
                </a:solidFill>
              </a:rPr>
              <a:t>Creating the Broadcast Receiver.</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Registering Broadcast Receiver</a:t>
            </a:r>
            <a:endParaRPr sz="1400">
              <a:solidFill>
                <a:schemeClr val="dk1"/>
              </a:solidFill>
            </a:endParaRPr>
          </a:p>
          <a:p>
            <a:pPr marL="0" lvl="0" indent="0" algn="l" rtl="0">
              <a:lnSpc>
                <a:spcPct val="115000"/>
              </a:lnSpc>
              <a:spcBef>
                <a:spcPts val="1500"/>
              </a:spcBef>
              <a:spcAft>
                <a:spcPts val="1200"/>
              </a:spcAft>
              <a:buSzPts val="1800"/>
              <a:buNone/>
            </a:pPr>
            <a:endParaRPr sz="1400">
              <a:solidFill>
                <a:schemeClr val="dk1"/>
              </a:solidFill>
              <a:highlight>
                <a:srgbClr val="F9F9F9"/>
              </a:highligh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25000"/>
              </a:lnSpc>
              <a:spcBef>
                <a:spcPts val="0"/>
              </a:spcBef>
              <a:spcAft>
                <a:spcPts val="0"/>
              </a:spcAft>
              <a:buClr>
                <a:schemeClr val="dk1"/>
              </a:buClr>
              <a:buSzPts val="1100"/>
              <a:buFont typeface="Arial"/>
              <a:buNone/>
            </a:pPr>
            <a:r>
              <a:rPr lang="en" sz="1800"/>
              <a:t>Creating the Broadcast Receiver</a:t>
            </a:r>
            <a:endParaRPr sz="1800"/>
          </a:p>
          <a:p>
            <a:pPr marL="0" lvl="0" indent="0" algn="l" rtl="0">
              <a:lnSpc>
                <a:spcPct val="100000"/>
              </a:lnSpc>
              <a:spcBef>
                <a:spcPts val="0"/>
              </a:spcBef>
              <a:spcAft>
                <a:spcPts val="0"/>
              </a:spcAft>
              <a:buSzPts val="2800"/>
              <a:buNone/>
            </a:pPr>
            <a:endParaRPr sz="1800"/>
          </a:p>
        </p:txBody>
      </p:sp>
      <p:sp>
        <p:nvSpPr>
          <p:cNvPr id="291" name="Google Shape;291;p3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sz="1400">
                <a:solidFill>
                  <a:srgbClr val="000088"/>
                </a:solidFill>
                <a:highlight>
                  <a:srgbClr val="EEEEEE"/>
                </a:highlight>
              </a:rPr>
              <a:t>public</a:t>
            </a:r>
            <a:r>
              <a:rPr lang="en" sz="1400">
                <a:solidFill>
                  <a:schemeClr val="dk1"/>
                </a:solidFill>
                <a:highlight>
                  <a:srgbClr val="EEEEEE"/>
                </a:highlight>
              </a:rPr>
              <a:t> </a:t>
            </a:r>
            <a:r>
              <a:rPr lang="en" sz="1400">
                <a:solidFill>
                  <a:srgbClr val="000088"/>
                </a:solidFill>
                <a:highlight>
                  <a:srgbClr val="EEEEEE"/>
                </a:highlight>
              </a:rPr>
              <a:t>class</a:t>
            </a:r>
            <a:r>
              <a:rPr lang="en" sz="1400">
                <a:solidFill>
                  <a:schemeClr val="dk1"/>
                </a:solidFill>
                <a:highlight>
                  <a:srgbClr val="EEEEEE"/>
                </a:highlight>
              </a:rPr>
              <a:t> </a:t>
            </a:r>
            <a:r>
              <a:rPr lang="en" sz="1400">
                <a:solidFill>
                  <a:srgbClr val="660066"/>
                </a:solidFill>
                <a:highlight>
                  <a:srgbClr val="EEEEEE"/>
                </a:highlight>
              </a:rPr>
              <a:t>MyReceiver</a:t>
            </a:r>
            <a:r>
              <a:rPr lang="en" sz="1400">
                <a:solidFill>
                  <a:schemeClr val="dk1"/>
                </a:solidFill>
                <a:highlight>
                  <a:srgbClr val="EEEEEE"/>
                </a:highlight>
              </a:rPr>
              <a:t> </a:t>
            </a:r>
            <a:r>
              <a:rPr lang="en" sz="1400">
                <a:solidFill>
                  <a:srgbClr val="000088"/>
                </a:solidFill>
                <a:highlight>
                  <a:srgbClr val="EEEEEE"/>
                </a:highlight>
              </a:rPr>
              <a:t>extends</a:t>
            </a:r>
            <a:r>
              <a:rPr lang="en" sz="1400">
                <a:solidFill>
                  <a:schemeClr val="dk1"/>
                </a:solidFill>
                <a:highlight>
                  <a:srgbClr val="EEEEEE"/>
                </a:highlight>
              </a:rPr>
              <a:t> </a:t>
            </a:r>
            <a:r>
              <a:rPr lang="en" sz="1400">
                <a:solidFill>
                  <a:srgbClr val="660066"/>
                </a:solidFill>
                <a:highlight>
                  <a:srgbClr val="EEEEEE"/>
                </a:highlight>
              </a:rPr>
              <a:t>BroadcastReceiver</a:t>
            </a:r>
            <a:r>
              <a:rPr lang="en" sz="1400">
                <a:solidFill>
                  <a:schemeClr val="dk1"/>
                </a:solidFill>
                <a:highlight>
                  <a:srgbClr val="EEEEEE"/>
                </a:highlight>
              </a:rPr>
              <a:t> </a:t>
            </a:r>
            <a:r>
              <a:rPr lang="en" sz="1400">
                <a:solidFill>
                  <a:srgbClr val="666600"/>
                </a:solidFill>
                <a:highlight>
                  <a:srgbClr val="EEEEEE"/>
                </a:highlight>
              </a:rPr>
              <a:t>{</a:t>
            </a:r>
            <a:endParaRPr sz="1400">
              <a:solidFill>
                <a:schemeClr val="dk1"/>
              </a:solidFill>
              <a:highlight>
                <a:srgbClr val="EEEEEE"/>
              </a:highlight>
            </a:endParaRPr>
          </a:p>
          <a:p>
            <a:pPr marL="0" lvl="0" indent="0" algn="l" rtl="0">
              <a:lnSpc>
                <a:spcPct val="115000"/>
              </a:lnSpc>
              <a:spcBef>
                <a:spcPts val="1200"/>
              </a:spcBef>
              <a:spcAft>
                <a:spcPts val="0"/>
              </a:spcAft>
              <a:buSzPts val="1800"/>
              <a:buNone/>
            </a:pPr>
            <a:r>
              <a:rPr lang="en" sz="1400">
                <a:solidFill>
                  <a:schemeClr val="dk1"/>
                </a:solidFill>
                <a:highlight>
                  <a:srgbClr val="EEEEEE"/>
                </a:highlight>
              </a:rPr>
              <a:t>   </a:t>
            </a:r>
            <a:r>
              <a:rPr lang="en" sz="1400">
                <a:solidFill>
                  <a:srgbClr val="006666"/>
                </a:solidFill>
                <a:highlight>
                  <a:srgbClr val="EEEEEE"/>
                </a:highlight>
              </a:rPr>
              <a:t>@Override</a:t>
            </a:r>
            <a:endParaRPr sz="1400">
              <a:solidFill>
                <a:schemeClr val="dk1"/>
              </a:solidFill>
              <a:highlight>
                <a:srgbClr val="EEEEEE"/>
              </a:highlight>
            </a:endParaRPr>
          </a:p>
          <a:p>
            <a:pPr marL="0" lvl="0" indent="0" algn="l" rtl="0">
              <a:lnSpc>
                <a:spcPct val="115000"/>
              </a:lnSpc>
              <a:spcBef>
                <a:spcPts val="1200"/>
              </a:spcBef>
              <a:spcAft>
                <a:spcPts val="0"/>
              </a:spcAft>
              <a:buSzPts val="1800"/>
              <a:buNone/>
            </a:pPr>
            <a:r>
              <a:rPr lang="en" sz="1400">
                <a:solidFill>
                  <a:schemeClr val="dk1"/>
                </a:solidFill>
                <a:highlight>
                  <a:srgbClr val="EEEEEE"/>
                </a:highlight>
              </a:rPr>
              <a:t>   </a:t>
            </a:r>
            <a:r>
              <a:rPr lang="en" sz="1400">
                <a:solidFill>
                  <a:srgbClr val="000088"/>
                </a:solidFill>
                <a:highlight>
                  <a:srgbClr val="EEEEEE"/>
                </a:highlight>
              </a:rPr>
              <a:t>public</a:t>
            </a:r>
            <a:r>
              <a:rPr lang="en" sz="1400">
                <a:solidFill>
                  <a:schemeClr val="dk1"/>
                </a:solidFill>
                <a:highlight>
                  <a:srgbClr val="EEEEEE"/>
                </a:highlight>
              </a:rPr>
              <a:t> </a:t>
            </a:r>
            <a:r>
              <a:rPr lang="en" sz="1400">
                <a:solidFill>
                  <a:srgbClr val="000088"/>
                </a:solidFill>
                <a:highlight>
                  <a:srgbClr val="EEEEEE"/>
                </a:highlight>
              </a:rPr>
              <a:t>void</a:t>
            </a:r>
            <a:r>
              <a:rPr lang="en" sz="1400">
                <a:solidFill>
                  <a:schemeClr val="dk1"/>
                </a:solidFill>
                <a:highlight>
                  <a:srgbClr val="EEEEEE"/>
                </a:highlight>
              </a:rPr>
              <a:t> onReceive</a:t>
            </a:r>
            <a:r>
              <a:rPr lang="en" sz="1400">
                <a:solidFill>
                  <a:srgbClr val="666600"/>
                </a:solidFill>
                <a:highlight>
                  <a:srgbClr val="EEEEEE"/>
                </a:highlight>
              </a:rPr>
              <a:t>(</a:t>
            </a:r>
            <a:r>
              <a:rPr lang="en" sz="1400">
                <a:solidFill>
                  <a:srgbClr val="660066"/>
                </a:solidFill>
                <a:highlight>
                  <a:srgbClr val="EEEEEE"/>
                </a:highlight>
              </a:rPr>
              <a:t>Context</a:t>
            </a:r>
            <a:r>
              <a:rPr lang="en" sz="1400">
                <a:solidFill>
                  <a:schemeClr val="dk1"/>
                </a:solidFill>
                <a:highlight>
                  <a:srgbClr val="EEEEEE"/>
                </a:highlight>
              </a:rPr>
              <a:t> context</a:t>
            </a:r>
            <a:r>
              <a:rPr lang="en" sz="1400">
                <a:solidFill>
                  <a:srgbClr val="666600"/>
                </a:solidFill>
                <a:highlight>
                  <a:srgbClr val="EEEEEE"/>
                </a:highlight>
              </a:rPr>
              <a:t>,</a:t>
            </a:r>
            <a:r>
              <a:rPr lang="en" sz="1400">
                <a:solidFill>
                  <a:schemeClr val="dk1"/>
                </a:solidFill>
                <a:highlight>
                  <a:srgbClr val="EEEEEE"/>
                </a:highlight>
              </a:rPr>
              <a:t> </a:t>
            </a:r>
            <a:r>
              <a:rPr lang="en" sz="1400">
                <a:solidFill>
                  <a:srgbClr val="660066"/>
                </a:solidFill>
                <a:highlight>
                  <a:srgbClr val="EEEEEE"/>
                </a:highlight>
              </a:rPr>
              <a:t>Intent</a:t>
            </a:r>
            <a:r>
              <a:rPr lang="en" sz="1400">
                <a:solidFill>
                  <a:schemeClr val="dk1"/>
                </a:solidFill>
                <a:highlight>
                  <a:srgbClr val="EEEEEE"/>
                </a:highlight>
              </a:rPr>
              <a:t> intent</a:t>
            </a:r>
            <a:r>
              <a:rPr lang="en" sz="1400">
                <a:solidFill>
                  <a:srgbClr val="666600"/>
                </a:solidFill>
                <a:highlight>
                  <a:srgbClr val="EEEEEE"/>
                </a:highlight>
              </a:rPr>
              <a:t>)</a:t>
            </a:r>
            <a:r>
              <a:rPr lang="en" sz="1400">
                <a:solidFill>
                  <a:schemeClr val="dk1"/>
                </a:solidFill>
                <a:highlight>
                  <a:srgbClr val="EEEEEE"/>
                </a:highlight>
              </a:rPr>
              <a:t> </a:t>
            </a:r>
            <a:r>
              <a:rPr lang="en" sz="1400">
                <a:solidFill>
                  <a:srgbClr val="666600"/>
                </a:solidFill>
                <a:highlight>
                  <a:srgbClr val="EEEEEE"/>
                </a:highlight>
              </a:rPr>
              <a:t>{</a:t>
            </a:r>
            <a:endParaRPr sz="1400">
              <a:solidFill>
                <a:schemeClr val="dk1"/>
              </a:solidFill>
              <a:highlight>
                <a:srgbClr val="EEEEEE"/>
              </a:highlight>
            </a:endParaRPr>
          </a:p>
          <a:p>
            <a:pPr marL="0" lvl="0" indent="0" algn="l" rtl="0">
              <a:lnSpc>
                <a:spcPct val="115000"/>
              </a:lnSpc>
              <a:spcBef>
                <a:spcPts val="1200"/>
              </a:spcBef>
              <a:spcAft>
                <a:spcPts val="0"/>
              </a:spcAft>
              <a:buSzPts val="1800"/>
              <a:buNone/>
            </a:pPr>
            <a:r>
              <a:rPr lang="en" sz="1400">
                <a:solidFill>
                  <a:schemeClr val="dk1"/>
                </a:solidFill>
                <a:highlight>
                  <a:srgbClr val="EEEEEE"/>
                </a:highlight>
              </a:rPr>
              <a:t>      </a:t>
            </a:r>
            <a:r>
              <a:rPr lang="en" sz="1400">
                <a:solidFill>
                  <a:srgbClr val="660066"/>
                </a:solidFill>
                <a:highlight>
                  <a:srgbClr val="EEEEEE"/>
                </a:highlight>
              </a:rPr>
              <a:t>Toast</a:t>
            </a:r>
            <a:r>
              <a:rPr lang="en" sz="1400">
                <a:solidFill>
                  <a:srgbClr val="666600"/>
                </a:solidFill>
                <a:highlight>
                  <a:srgbClr val="EEEEEE"/>
                </a:highlight>
              </a:rPr>
              <a:t>.</a:t>
            </a:r>
            <a:r>
              <a:rPr lang="en" sz="1400">
                <a:solidFill>
                  <a:schemeClr val="dk1"/>
                </a:solidFill>
                <a:highlight>
                  <a:srgbClr val="EEEEEE"/>
                </a:highlight>
              </a:rPr>
              <a:t>makeText</a:t>
            </a:r>
            <a:r>
              <a:rPr lang="en" sz="1400">
                <a:solidFill>
                  <a:srgbClr val="666600"/>
                </a:solidFill>
                <a:highlight>
                  <a:srgbClr val="EEEEEE"/>
                </a:highlight>
              </a:rPr>
              <a:t>(</a:t>
            </a:r>
            <a:r>
              <a:rPr lang="en" sz="1400">
                <a:solidFill>
                  <a:schemeClr val="dk1"/>
                </a:solidFill>
                <a:highlight>
                  <a:srgbClr val="EEEEEE"/>
                </a:highlight>
              </a:rPr>
              <a:t>context</a:t>
            </a:r>
            <a:r>
              <a:rPr lang="en" sz="1400">
                <a:solidFill>
                  <a:srgbClr val="666600"/>
                </a:solidFill>
                <a:highlight>
                  <a:srgbClr val="EEEEEE"/>
                </a:highlight>
              </a:rPr>
              <a:t>,</a:t>
            </a:r>
            <a:r>
              <a:rPr lang="en" sz="1400">
                <a:solidFill>
                  <a:schemeClr val="dk1"/>
                </a:solidFill>
                <a:highlight>
                  <a:srgbClr val="EEEEEE"/>
                </a:highlight>
              </a:rPr>
              <a:t> </a:t>
            </a:r>
            <a:r>
              <a:rPr lang="en" sz="1400">
                <a:solidFill>
                  <a:srgbClr val="008800"/>
                </a:solidFill>
                <a:highlight>
                  <a:srgbClr val="EEEEEE"/>
                </a:highlight>
              </a:rPr>
              <a:t>"Intent Detected."</a:t>
            </a:r>
            <a:r>
              <a:rPr lang="en" sz="1400">
                <a:solidFill>
                  <a:srgbClr val="666600"/>
                </a:solidFill>
                <a:highlight>
                  <a:srgbClr val="EEEEEE"/>
                </a:highlight>
              </a:rPr>
              <a:t>,</a:t>
            </a:r>
            <a:r>
              <a:rPr lang="en" sz="1400">
                <a:solidFill>
                  <a:schemeClr val="dk1"/>
                </a:solidFill>
                <a:highlight>
                  <a:srgbClr val="EEEEEE"/>
                </a:highlight>
              </a:rPr>
              <a:t> </a:t>
            </a:r>
            <a:r>
              <a:rPr lang="en" sz="1400">
                <a:solidFill>
                  <a:srgbClr val="660066"/>
                </a:solidFill>
                <a:highlight>
                  <a:srgbClr val="EEEEEE"/>
                </a:highlight>
              </a:rPr>
              <a:t>Toast</a:t>
            </a:r>
            <a:r>
              <a:rPr lang="en" sz="1400">
                <a:solidFill>
                  <a:srgbClr val="666600"/>
                </a:solidFill>
                <a:highlight>
                  <a:srgbClr val="EEEEEE"/>
                </a:highlight>
              </a:rPr>
              <a:t>.</a:t>
            </a:r>
            <a:r>
              <a:rPr lang="en" sz="1400">
                <a:solidFill>
                  <a:schemeClr val="dk1"/>
                </a:solidFill>
                <a:highlight>
                  <a:srgbClr val="EEEEEE"/>
                </a:highlight>
              </a:rPr>
              <a:t>LENGTH_LONG</a:t>
            </a:r>
            <a:r>
              <a:rPr lang="en" sz="1400">
                <a:solidFill>
                  <a:srgbClr val="666600"/>
                </a:solidFill>
                <a:highlight>
                  <a:srgbClr val="EEEEEE"/>
                </a:highlight>
              </a:rPr>
              <a:t>).</a:t>
            </a:r>
            <a:r>
              <a:rPr lang="en" sz="1400">
                <a:solidFill>
                  <a:schemeClr val="dk1"/>
                </a:solidFill>
                <a:highlight>
                  <a:srgbClr val="EEEEEE"/>
                </a:highlight>
              </a:rPr>
              <a:t>show</a:t>
            </a:r>
            <a:r>
              <a:rPr lang="en" sz="1400">
                <a:solidFill>
                  <a:srgbClr val="666600"/>
                </a:solidFill>
                <a:highlight>
                  <a:srgbClr val="EEEEEE"/>
                </a:highlight>
              </a:rPr>
              <a:t>();</a:t>
            </a:r>
            <a:endParaRPr sz="1400">
              <a:solidFill>
                <a:schemeClr val="dk1"/>
              </a:solidFill>
              <a:highlight>
                <a:srgbClr val="EEEEEE"/>
              </a:highlight>
            </a:endParaRPr>
          </a:p>
          <a:p>
            <a:pPr marL="0" lvl="0" indent="0" algn="l" rtl="0">
              <a:lnSpc>
                <a:spcPct val="115000"/>
              </a:lnSpc>
              <a:spcBef>
                <a:spcPts val="1200"/>
              </a:spcBef>
              <a:spcAft>
                <a:spcPts val="0"/>
              </a:spcAft>
              <a:buSzPts val="1800"/>
              <a:buNone/>
            </a:pPr>
            <a:r>
              <a:rPr lang="en" sz="1400">
                <a:solidFill>
                  <a:schemeClr val="dk1"/>
                </a:solidFill>
                <a:highlight>
                  <a:srgbClr val="EEEEEE"/>
                </a:highlight>
              </a:rPr>
              <a:t>   </a:t>
            </a:r>
            <a:r>
              <a:rPr lang="en" sz="1400">
                <a:solidFill>
                  <a:srgbClr val="666600"/>
                </a:solidFill>
                <a:highlight>
                  <a:srgbClr val="EEEEEE"/>
                </a:highlight>
              </a:rPr>
              <a:t>}</a:t>
            </a:r>
            <a:endParaRPr sz="1400">
              <a:solidFill>
                <a:schemeClr val="dk1"/>
              </a:solidFill>
              <a:highlight>
                <a:srgbClr val="EEEEEE"/>
              </a:highlight>
            </a:endParaRPr>
          </a:p>
          <a:p>
            <a:pPr marL="25400" marR="25400" lvl="0" indent="0" algn="l" rtl="0">
              <a:lnSpc>
                <a:spcPct val="115000"/>
              </a:lnSpc>
              <a:spcBef>
                <a:spcPts val="1200"/>
              </a:spcBef>
              <a:spcAft>
                <a:spcPts val="0"/>
              </a:spcAft>
              <a:buClr>
                <a:schemeClr val="dk1"/>
              </a:buClr>
              <a:buSzPts val="1100"/>
              <a:buFont typeface="Arial"/>
              <a:buNone/>
            </a:pPr>
            <a:r>
              <a:rPr lang="en" sz="1400">
                <a:solidFill>
                  <a:srgbClr val="666600"/>
                </a:solidFill>
                <a:highlight>
                  <a:srgbClr val="EEEEEE"/>
                </a:highlight>
              </a:rPr>
              <a:t>}</a:t>
            </a:r>
            <a:endParaRPr sz="1400">
              <a:solidFill>
                <a:srgbClr val="666600"/>
              </a:solidFill>
              <a:highlight>
                <a:srgbClr val="EEEEEE"/>
              </a:highlight>
            </a:endParaRPr>
          </a:p>
          <a:p>
            <a:pPr marL="0" lvl="0" indent="0" algn="l" rtl="0">
              <a:lnSpc>
                <a:spcPct val="115000"/>
              </a:lnSpc>
              <a:spcBef>
                <a:spcPts val="0"/>
              </a:spcBef>
              <a:spcAft>
                <a:spcPts val="1200"/>
              </a:spcAft>
              <a:buSzPts val="1800"/>
              <a:buNone/>
            </a:pPr>
            <a:endParaRPr sz="14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25000"/>
              </a:lnSpc>
              <a:spcBef>
                <a:spcPts val="0"/>
              </a:spcBef>
              <a:spcAft>
                <a:spcPts val="0"/>
              </a:spcAft>
              <a:buClr>
                <a:schemeClr val="dk1"/>
              </a:buClr>
              <a:buSzPts val="1100"/>
              <a:buFont typeface="Arial"/>
              <a:buNone/>
            </a:pPr>
            <a:r>
              <a:rPr lang="en" sz="1800" b="1"/>
              <a:t>Registering Broadcast Receiver</a:t>
            </a:r>
            <a:endParaRPr sz="1800" b="1"/>
          </a:p>
          <a:p>
            <a:pPr marL="0" lvl="0" indent="0" algn="l" rtl="0">
              <a:lnSpc>
                <a:spcPct val="100000"/>
              </a:lnSpc>
              <a:spcBef>
                <a:spcPts val="0"/>
              </a:spcBef>
              <a:spcAft>
                <a:spcPts val="0"/>
              </a:spcAft>
              <a:buSzPts val="2800"/>
              <a:buNone/>
            </a:pPr>
            <a:endParaRPr sz="1800" b="1"/>
          </a:p>
        </p:txBody>
      </p:sp>
      <p:sp>
        <p:nvSpPr>
          <p:cNvPr id="297" name="Google Shape;297;p38"/>
          <p:cNvSpPr txBox="1">
            <a:spLocks noGrp="1"/>
          </p:cNvSpPr>
          <p:nvPr>
            <p:ph type="body" idx="1"/>
          </p:nvPr>
        </p:nvSpPr>
        <p:spPr>
          <a:xfrm>
            <a:off x="311700" y="92387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sz="1200">
                <a:solidFill>
                  <a:srgbClr val="000088"/>
                </a:solidFill>
                <a:highlight>
                  <a:srgbClr val="EEEEEE"/>
                </a:highlight>
              </a:rPr>
              <a:t>&lt;application</a:t>
            </a:r>
            <a:endParaRPr sz="1200">
              <a:solidFill>
                <a:schemeClr val="dk1"/>
              </a:solidFill>
              <a:highlight>
                <a:srgbClr val="EEEEEE"/>
              </a:highlight>
            </a:endParaRPr>
          </a:p>
          <a:p>
            <a:pPr marL="0" lvl="0" indent="0" algn="l" rtl="0">
              <a:lnSpc>
                <a:spcPct val="115000"/>
              </a:lnSpc>
              <a:spcBef>
                <a:spcPts val="1200"/>
              </a:spcBef>
              <a:spcAft>
                <a:spcPts val="0"/>
              </a:spcAft>
              <a:buSzPts val="1800"/>
              <a:buNone/>
            </a:pPr>
            <a:r>
              <a:rPr lang="en" sz="1200">
                <a:solidFill>
                  <a:schemeClr val="dk1"/>
                </a:solidFill>
                <a:highlight>
                  <a:srgbClr val="EEEEEE"/>
                </a:highlight>
              </a:rPr>
              <a:t>   </a:t>
            </a:r>
            <a:r>
              <a:rPr lang="en" sz="1200">
                <a:solidFill>
                  <a:srgbClr val="660066"/>
                </a:solidFill>
                <a:highlight>
                  <a:srgbClr val="EEEEEE"/>
                </a:highlight>
              </a:rPr>
              <a:t>android:icon</a:t>
            </a:r>
            <a:r>
              <a:rPr lang="en" sz="1200">
                <a:solidFill>
                  <a:srgbClr val="666600"/>
                </a:solidFill>
                <a:highlight>
                  <a:srgbClr val="EEEEEE"/>
                </a:highlight>
              </a:rPr>
              <a:t>=</a:t>
            </a:r>
            <a:r>
              <a:rPr lang="en" sz="1200">
                <a:solidFill>
                  <a:srgbClr val="008800"/>
                </a:solidFill>
                <a:highlight>
                  <a:srgbClr val="EEEEEE"/>
                </a:highlight>
              </a:rPr>
              <a:t>"@drawable/ic_launcher"</a:t>
            </a:r>
            <a:endParaRPr sz="1200">
              <a:solidFill>
                <a:schemeClr val="dk1"/>
              </a:solidFill>
              <a:highlight>
                <a:srgbClr val="EEEEEE"/>
              </a:highlight>
            </a:endParaRPr>
          </a:p>
          <a:p>
            <a:pPr marL="0" lvl="0" indent="0" algn="l" rtl="0">
              <a:lnSpc>
                <a:spcPct val="115000"/>
              </a:lnSpc>
              <a:spcBef>
                <a:spcPts val="1200"/>
              </a:spcBef>
              <a:spcAft>
                <a:spcPts val="0"/>
              </a:spcAft>
              <a:buSzPts val="1800"/>
              <a:buNone/>
            </a:pPr>
            <a:r>
              <a:rPr lang="en" sz="1200">
                <a:solidFill>
                  <a:schemeClr val="dk1"/>
                </a:solidFill>
                <a:highlight>
                  <a:srgbClr val="EEEEEE"/>
                </a:highlight>
              </a:rPr>
              <a:t>   </a:t>
            </a:r>
            <a:r>
              <a:rPr lang="en" sz="1200">
                <a:solidFill>
                  <a:srgbClr val="660066"/>
                </a:solidFill>
                <a:highlight>
                  <a:srgbClr val="EEEEEE"/>
                </a:highlight>
              </a:rPr>
              <a:t>android:label</a:t>
            </a:r>
            <a:r>
              <a:rPr lang="en" sz="1200">
                <a:solidFill>
                  <a:srgbClr val="666600"/>
                </a:solidFill>
                <a:highlight>
                  <a:srgbClr val="EEEEEE"/>
                </a:highlight>
              </a:rPr>
              <a:t>=</a:t>
            </a:r>
            <a:r>
              <a:rPr lang="en" sz="1200">
                <a:solidFill>
                  <a:srgbClr val="008800"/>
                </a:solidFill>
                <a:highlight>
                  <a:srgbClr val="EEEEEE"/>
                </a:highlight>
              </a:rPr>
              <a:t>"@string/app_name"</a:t>
            </a:r>
            <a:endParaRPr sz="1200">
              <a:solidFill>
                <a:schemeClr val="dk1"/>
              </a:solidFill>
              <a:highlight>
                <a:srgbClr val="EEEEEE"/>
              </a:highlight>
            </a:endParaRPr>
          </a:p>
          <a:p>
            <a:pPr marL="0" lvl="0" indent="0" algn="l" rtl="0">
              <a:lnSpc>
                <a:spcPct val="115000"/>
              </a:lnSpc>
              <a:spcBef>
                <a:spcPts val="1200"/>
              </a:spcBef>
              <a:spcAft>
                <a:spcPts val="0"/>
              </a:spcAft>
              <a:buSzPts val="1800"/>
              <a:buNone/>
            </a:pPr>
            <a:r>
              <a:rPr lang="en" sz="1200">
                <a:solidFill>
                  <a:schemeClr val="dk1"/>
                </a:solidFill>
                <a:highlight>
                  <a:srgbClr val="EEEEEE"/>
                </a:highlight>
              </a:rPr>
              <a:t>   </a:t>
            </a:r>
            <a:r>
              <a:rPr lang="en" sz="1200">
                <a:solidFill>
                  <a:srgbClr val="660066"/>
                </a:solidFill>
                <a:highlight>
                  <a:srgbClr val="EEEEEE"/>
                </a:highlight>
              </a:rPr>
              <a:t>android:theme</a:t>
            </a:r>
            <a:r>
              <a:rPr lang="en" sz="1200">
                <a:solidFill>
                  <a:srgbClr val="666600"/>
                </a:solidFill>
                <a:highlight>
                  <a:srgbClr val="EEEEEE"/>
                </a:highlight>
              </a:rPr>
              <a:t>=</a:t>
            </a:r>
            <a:r>
              <a:rPr lang="en" sz="1200">
                <a:solidFill>
                  <a:srgbClr val="008800"/>
                </a:solidFill>
                <a:highlight>
                  <a:srgbClr val="EEEEEE"/>
                </a:highlight>
              </a:rPr>
              <a:t>"@style/AppTheme"</a:t>
            </a:r>
            <a:r>
              <a:rPr lang="en" sz="1200">
                <a:solidFill>
                  <a:schemeClr val="dk1"/>
                </a:solidFill>
                <a:highlight>
                  <a:srgbClr val="EEEEEE"/>
                </a:highlight>
              </a:rPr>
              <a:t> </a:t>
            </a:r>
            <a:r>
              <a:rPr lang="en" sz="1200">
                <a:solidFill>
                  <a:srgbClr val="000088"/>
                </a:solidFill>
                <a:highlight>
                  <a:srgbClr val="EEEEEE"/>
                </a:highlight>
              </a:rPr>
              <a:t>&gt;</a:t>
            </a:r>
            <a:endParaRPr sz="1200">
              <a:solidFill>
                <a:schemeClr val="dk1"/>
              </a:solidFill>
              <a:highlight>
                <a:srgbClr val="EEEEEE"/>
              </a:highlight>
            </a:endParaRPr>
          </a:p>
          <a:p>
            <a:pPr marL="0" lvl="0" indent="0" algn="l" rtl="0">
              <a:lnSpc>
                <a:spcPct val="115000"/>
              </a:lnSpc>
              <a:spcBef>
                <a:spcPts val="1200"/>
              </a:spcBef>
              <a:spcAft>
                <a:spcPts val="0"/>
              </a:spcAft>
              <a:buSzPts val="1800"/>
              <a:buNone/>
            </a:pPr>
            <a:r>
              <a:rPr lang="en" sz="1200">
                <a:solidFill>
                  <a:schemeClr val="dk1"/>
                </a:solidFill>
                <a:highlight>
                  <a:srgbClr val="EEEEEE"/>
                </a:highlight>
              </a:rPr>
              <a:t>   </a:t>
            </a:r>
            <a:r>
              <a:rPr lang="en" sz="1200">
                <a:solidFill>
                  <a:srgbClr val="000088"/>
                </a:solidFill>
                <a:highlight>
                  <a:srgbClr val="EEEEEE"/>
                </a:highlight>
              </a:rPr>
              <a:t>&lt;receiver</a:t>
            </a:r>
            <a:r>
              <a:rPr lang="en" sz="1200">
                <a:solidFill>
                  <a:schemeClr val="dk1"/>
                </a:solidFill>
                <a:highlight>
                  <a:srgbClr val="EEEEEE"/>
                </a:highlight>
              </a:rPr>
              <a:t> </a:t>
            </a:r>
            <a:r>
              <a:rPr lang="en" sz="1200">
                <a:solidFill>
                  <a:srgbClr val="660066"/>
                </a:solidFill>
                <a:highlight>
                  <a:srgbClr val="EEEEEE"/>
                </a:highlight>
              </a:rPr>
              <a:t>android:name</a:t>
            </a:r>
            <a:r>
              <a:rPr lang="en" sz="1200">
                <a:solidFill>
                  <a:srgbClr val="666600"/>
                </a:solidFill>
                <a:highlight>
                  <a:srgbClr val="EEEEEE"/>
                </a:highlight>
              </a:rPr>
              <a:t>=</a:t>
            </a:r>
            <a:r>
              <a:rPr lang="en" sz="1200">
                <a:solidFill>
                  <a:srgbClr val="008800"/>
                </a:solidFill>
                <a:highlight>
                  <a:srgbClr val="EEEEEE"/>
                </a:highlight>
              </a:rPr>
              <a:t>"MyReceiver"</a:t>
            </a:r>
            <a:r>
              <a:rPr lang="en" sz="1200">
                <a:solidFill>
                  <a:srgbClr val="000088"/>
                </a:solidFill>
                <a:highlight>
                  <a:srgbClr val="EEEEEE"/>
                </a:highlight>
              </a:rPr>
              <a:t>&gt;</a:t>
            </a:r>
            <a:endParaRPr sz="1200">
              <a:solidFill>
                <a:schemeClr val="dk1"/>
              </a:solidFill>
              <a:highlight>
                <a:srgbClr val="EEEEEE"/>
              </a:highlight>
            </a:endParaRPr>
          </a:p>
          <a:p>
            <a:pPr marL="0" lvl="0" indent="0" algn="l" rtl="0">
              <a:lnSpc>
                <a:spcPct val="115000"/>
              </a:lnSpc>
              <a:spcBef>
                <a:spcPts val="1200"/>
              </a:spcBef>
              <a:spcAft>
                <a:spcPts val="0"/>
              </a:spcAft>
              <a:buSzPts val="1800"/>
              <a:buNone/>
            </a:pPr>
            <a:r>
              <a:rPr lang="en" sz="1200">
                <a:solidFill>
                  <a:schemeClr val="dk1"/>
                </a:solidFill>
                <a:highlight>
                  <a:srgbClr val="EEEEEE"/>
                </a:highlight>
              </a:rPr>
              <a:t>      </a:t>
            </a:r>
            <a:r>
              <a:rPr lang="en" sz="1200">
                <a:solidFill>
                  <a:srgbClr val="000088"/>
                </a:solidFill>
                <a:highlight>
                  <a:srgbClr val="EEEEEE"/>
                </a:highlight>
              </a:rPr>
              <a:t>&lt;intent-filter&gt;</a:t>
            </a:r>
            <a:endParaRPr sz="1200">
              <a:solidFill>
                <a:schemeClr val="dk1"/>
              </a:solidFill>
              <a:highlight>
                <a:srgbClr val="EEEEEE"/>
              </a:highlight>
            </a:endParaRPr>
          </a:p>
          <a:p>
            <a:pPr marL="0" lvl="0" indent="0" algn="l" rtl="0">
              <a:lnSpc>
                <a:spcPct val="115000"/>
              </a:lnSpc>
              <a:spcBef>
                <a:spcPts val="1200"/>
              </a:spcBef>
              <a:spcAft>
                <a:spcPts val="0"/>
              </a:spcAft>
              <a:buSzPts val="1800"/>
              <a:buNone/>
            </a:pPr>
            <a:r>
              <a:rPr lang="en" sz="1200">
                <a:solidFill>
                  <a:schemeClr val="dk1"/>
                </a:solidFill>
                <a:highlight>
                  <a:srgbClr val="EEEEEE"/>
                </a:highlight>
              </a:rPr>
              <a:t>         </a:t>
            </a:r>
            <a:r>
              <a:rPr lang="en" sz="1200">
                <a:solidFill>
                  <a:srgbClr val="000088"/>
                </a:solidFill>
                <a:highlight>
                  <a:srgbClr val="EEEEEE"/>
                </a:highlight>
              </a:rPr>
              <a:t>&lt;action</a:t>
            </a:r>
            <a:r>
              <a:rPr lang="en" sz="1200">
                <a:solidFill>
                  <a:schemeClr val="dk1"/>
                </a:solidFill>
                <a:highlight>
                  <a:srgbClr val="EEEEEE"/>
                </a:highlight>
              </a:rPr>
              <a:t> </a:t>
            </a:r>
            <a:r>
              <a:rPr lang="en" sz="1200">
                <a:solidFill>
                  <a:srgbClr val="660066"/>
                </a:solidFill>
                <a:highlight>
                  <a:srgbClr val="EEEEEE"/>
                </a:highlight>
              </a:rPr>
              <a:t>android:name</a:t>
            </a:r>
            <a:r>
              <a:rPr lang="en" sz="1200">
                <a:solidFill>
                  <a:srgbClr val="666600"/>
                </a:solidFill>
                <a:highlight>
                  <a:srgbClr val="EEEEEE"/>
                </a:highlight>
              </a:rPr>
              <a:t>=</a:t>
            </a:r>
            <a:r>
              <a:rPr lang="en" sz="1200">
                <a:solidFill>
                  <a:srgbClr val="008800"/>
                </a:solidFill>
                <a:highlight>
                  <a:srgbClr val="EEEEEE"/>
                </a:highlight>
              </a:rPr>
              <a:t>"android.intent.action.BOOT_COMPLETED"/</a:t>
            </a:r>
            <a:r>
              <a:rPr lang="en" sz="1200">
                <a:solidFill>
                  <a:srgbClr val="000088"/>
                </a:solidFill>
                <a:highlight>
                  <a:srgbClr val="EEEEEE"/>
                </a:highlight>
              </a:rPr>
              <a:t>&gt;</a:t>
            </a:r>
            <a:endParaRPr sz="1200">
              <a:solidFill>
                <a:schemeClr val="dk1"/>
              </a:solidFill>
              <a:highlight>
                <a:srgbClr val="EEEEEE"/>
              </a:highlight>
            </a:endParaRPr>
          </a:p>
          <a:p>
            <a:pPr marL="0" lvl="0" indent="0" algn="l" rtl="0">
              <a:lnSpc>
                <a:spcPct val="115000"/>
              </a:lnSpc>
              <a:spcBef>
                <a:spcPts val="1200"/>
              </a:spcBef>
              <a:spcAft>
                <a:spcPts val="0"/>
              </a:spcAft>
              <a:buSzPts val="1800"/>
              <a:buNone/>
            </a:pPr>
            <a:r>
              <a:rPr lang="en" sz="1200">
                <a:solidFill>
                  <a:schemeClr val="dk1"/>
                </a:solidFill>
                <a:highlight>
                  <a:srgbClr val="EEEEEE"/>
                </a:highlight>
              </a:rPr>
              <a:t>      </a:t>
            </a:r>
            <a:r>
              <a:rPr lang="en" sz="1200">
                <a:solidFill>
                  <a:srgbClr val="000088"/>
                </a:solidFill>
                <a:highlight>
                  <a:srgbClr val="EEEEEE"/>
                </a:highlight>
              </a:rPr>
              <a:t>&lt;/intent-filter&gt;</a:t>
            </a:r>
            <a:endParaRPr sz="1200">
              <a:solidFill>
                <a:schemeClr val="dk1"/>
              </a:solidFill>
              <a:highlight>
                <a:srgbClr val="EEEEEE"/>
              </a:highlight>
            </a:endParaRPr>
          </a:p>
          <a:p>
            <a:pPr marL="0" lvl="0" indent="0" algn="l" rtl="0">
              <a:lnSpc>
                <a:spcPct val="115000"/>
              </a:lnSpc>
              <a:spcBef>
                <a:spcPts val="1200"/>
              </a:spcBef>
              <a:spcAft>
                <a:spcPts val="0"/>
              </a:spcAft>
              <a:buSzPts val="1800"/>
              <a:buNone/>
            </a:pPr>
            <a:r>
              <a:rPr lang="en" sz="1200">
                <a:solidFill>
                  <a:schemeClr val="dk1"/>
                </a:solidFill>
                <a:highlight>
                  <a:srgbClr val="EEEEEE"/>
                </a:highlight>
              </a:rPr>
              <a:t>   </a:t>
            </a:r>
            <a:r>
              <a:rPr lang="en" sz="1200">
                <a:solidFill>
                  <a:srgbClr val="000088"/>
                </a:solidFill>
                <a:highlight>
                  <a:srgbClr val="EEEEEE"/>
                </a:highlight>
              </a:rPr>
              <a:t>&lt;/receiver&gt;</a:t>
            </a:r>
            <a:endParaRPr sz="1200">
              <a:solidFill>
                <a:schemeClr val="dk1"/>
              </a:solidFill>
              <a:highlight>
                <a:srgbClr val="EEEEEE"/>
              </a:highlight>
            </a:endParaRPr>
          </a:p>
          <a:p>
            <a:pPr marL="25400" marR="25400" lvl="0" indent="0" algn="l" rtl="0">
              <a:lnSpc>
                <a:spcPct val="115000"/>
              </a:lnSpc>
              <a:spcBef>
                <a:spcPts val="1200"/>
              </a:spcBef>
              <a:spcAft>
                <a:spcPts val="0"/>
              </a:spcAft>
              <a:buClr>
                <a:schemeClr val="dk1"/>
              </a:buClr>
              <a:buSzPts val="1100"/>
              <a:buFont typeface="Arial"/>
              <a:buNone/>
            </a:pPr>
            <a:r>
              <a:rPr lang="en" sz="1200">
                <a:solidFill>
                  <a:srgbClr val="000088"/>
                </a:solidFill>
                <a:highlight>
                  <a:srgbClr val="EEEEEE"/>
                </a:highlight>
              </a:rPr>
              <a:t>&lt;/application&gt;</a:t>
            </a:r>
            <a:endParaRPr sz="1200">
              <a:solidFill>
                <a:srgbClr val="000088"/>
              </a:solidFill>
              <a:highlight>
                <a:srgbClr val="EEEEEE"/>
              </a:highlight>
            </a:endParaRPr>
          </a:p>
          <a:p>
            <a:pPr marL="0" lvl="0" indent="0" algn="l" rtl="0">
              <a:lnSpc>
                <a:spcPct val="115000"/>
              </a:lnSpc>
              <a:spcBef>
                <a:spcPts val="0"/>
              </a:spcBef>
              <a:spcAft>
                <a:spcPts val="1200"/>
              </a:spcAft>
              <a:buSzPts val="1800"/>
              <a:buNone/>
            </a:pPr>
            <a:endParaRPr sz="12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sz="1800"/>
              <a:t>System Event Constants</a:t>
            </a:r>
            <a:endParaRPr sz="1800"/>
          </a:p>
        </p:txBody>
      </p:sp>
      <p:sp>
        <p:nvSpPr>
          <p:cNvPr id="303" name="Google Shape;303;p39"/>
          <p:cNvSpPr txBox="1">
            <a:spLocks noGrp="1"/>
          </p:cNvSpPr>
          <p:nvPr>
            <p:ph type="body" idx="1"/>
          </p:nvPr>
        </p:nvSpPr>
        <p:spPr>
          <a:xfrm>
            <a:off x="311700" y="923875"/>
            <a:ext cx="8520600" cy="3416400"/>
          </a:xfrm>
          <a:prstGeom prst="rect">
            <a:avLst/>
          </a:prstGeom>
          <a:noFill/>
          <a:ln>
            <a:noFill/>
          </a:ln>
        </p:spPr>
        <p:txBody>
          <a:bodyPr spcFirstLastPara="1" wrap="square" lIns="91425" tIns="91425" rIns="91425" bIns="91425" anchor="t" anchorCtr="0">
            <a:noAutofit/>
          </a:bodyPr>
          <a:lstStyle/>
          <a:p>
            <a:pPr marL="0" lvl="0" indent="0" algn="just" rtl="0">
              <a:lnSpc>
                <a:spcPct val="160000"/>
              </a:lnSpc>
              <a:spcBef>
                <a:spcPts val="600"/>
              </a:spcBef>
              <a:spcAft>
                <a:spcPts val="0"/>
              </a:spcAft>
              <a:buSzPts val="1800"/>
              <a:buNone/>
            </a:pPr>
            <a:r>
              <a:rPr lang="en" sz="1200" b="1">
                <a:solidFill>
                  <a:srgbClr val="000000"/>
                </a:solidFill>
              </a:rPr>
              <a:t>android.intent.action.BATTERY_CHANGED:- </a:t>
            </a:r>
            <a:r>
              <a:rPr lang="en" sz="1200">
                <a:solidFill>
                  <a:srgbClr val="000000"/>
                </a:solidFill>
              </a:rPr>
              <a:t>Sticky broadcast containing the charging state, level, and other information about the battery.</a:t>
            </a:r>
            <a:endParaRPr sz="1200">
              <a:solidFill>
                <a:srgbClr val="000000"/>
              </a:solidFill>
            </a:endParaRPr>
          </a:p>
          <a:p>
            <a:pPr marL="0" lvl="0" indent="0" algn="just" rtl="0">
              <a:lnSpc>
                <a:spcPct val="160000"/>
              </a:lnSpc>
              <a:spcBef>
                <a:spcPts val="700"/>
              </a:spcBef>
              <a:spcAft>
                <a:spcPts val="0"/>
              </a:spcAft>
              <a:buSzPts val="1800"/>
              <a:buNone/>
            </a:pPr>
            <a:r>
              <a:rPr lang="en" sz="1200" b="1">
                <a:solidFill>
                  <a:srgbClr val="000000"/>
                </a:solidFill>
              </a:rPr>
              <a:t>android.intent.action.BATTERY_LOW:- </a:t>
            </a:r>
            <a:r>
              <a:rPr lang="en" sz="1200">
                <a:solidFill>
                  <a:srgbClr val="000000"/>
                </a:solidFill>
              </a:rPr>
              <a:t>Indicates low battery condition on the device.</a:t>
            </a:r>
            <a:endParaRPr sz="1200">
              <a:solidFill>
                <a:srgbClr val="000000"/>
              </a:solidFill>
            </a:endParaRPr>
          </a:p>
          <a:p>
            <a:pPr marL="0" lvl="0" indent="0" algn="just" rtl="0">
              <a:lnSpc>
                <a:spcPct val="160000"/>
              </a:lnSpc>
              <a:spcBef>
                <a:spcPts val="700"/>
              </a:spcBef>
              <a:spcAft>
                <a:spcPts val="0"/>
              </a:spcAft>
              <a:buSzPts val="1800"/>
              <a:buNone/>
            </a:pPr>
            <a:r>
              <a:rPr lang="en" sz="1200" b="1">
                <a:solidFill>
                  <a:srgbClr val="000000"/>
                </a:solidFill>
              </a:rPr>
              <a:t>android.intent.action.BATTERY_OKAY:- </a:t>
            </a:r>
            <a:r>
              <a:rPr lang="en" sz="1200">
                <a:solidFill>
                  <a:srgbClr val="000000"/>
                </a:solidFill>
              </a:rPr>
              <a:t>Indicates the battery is now okay after being low.</a:t>
            </a:r>
            <a:endParaRPr sz="1200">
              <a:solidFill>
                <a:srgbClr val="000000"/>
              </a:solidFill>
            </a:endParaRPr>
          </a:p>
          <a:p>
            <a:pPr marL="0" lvl="0" indent="0" algn="just" rtl="0">
              <a:lnSpc>
                <a:spcPct val="160000"/>
              </a:lnSpc>
              <a:spcBef>
                <a:spcPts val="700"/>
              </a:spcBef>
              <a:spcAft>
                <a:spcPts val="0"/>
              </a:spcAft>
              <a:buSzPts val="1800"/>
              <a:buNone/>
            </a:pPr>
            <a:r>
              <a:rPr lang="en" sz="1200" b="1">
                <a:solidFill>
                  <a:srgbClr val="000000"/>
                </a:solidFill>
              </a:rPr>
              <a:t>android.intent.action.BOOT_COMPLETED:- </a:t>
            </a:r>
            <a:r>
              <a:rPr lang="en" sz="1200">
                <a:solidFill>
                  <a:srgbClr val="000000"/>
                </a:solidFill>
              </a:rPr>
              <a:t>This is broadcast once, after the system has finished booting.</a:t>
            </a:r>
            <a:endParaRPr sz="1200">
              <a:solidFill>
                <a:srgbClr val="000000"/>
              </a:solidFill>
            </a:endParaRPr>
          </a:p>
          <a:p>
            <a:pPr marL="0" lvl="0" indent="0" algn="just" rtl="0">
              <a:lnSpc>
                <a:spcPct val="160000"/>
              </a:lnSpc>
              <a:spcBef>
                <a:spcPts val="700"/>
              </a:spcBef>
              <a:spcAft>
                <a:spcPts val="0"/>
              </a:spcAft>
              <a:buSzPts val="1800"/>
              <a:buNone/>
            </a:pPr>
            <a:r>
              <a:rPr lang="en" sz="1200" b="1">
                <a:solidFill>
                  <a:srgbClr val="000000"/>
                </a:solidFill>
              </a:rPr>
              <a:t>android.intent.action.BUG_REPORT:- </a:t>
            </a:r>
            <a:r>
              <a:rPr lang="en" sz="1200">
                <a:solidFill>
                  <a:srgbClr val="000000"/>
                </a:solidFill>
              </a:rPr>
              <a:t>Show activity for reporting a bug.</a:t>
            </a:r>
            <a:endParaRPr sz="1200">
              <a:solidFill>
                <a:srgbClr val="212529"/>
              </a:solidFill>
            </a:endParaRPr>
          </a:p>
          <a:p>
            <a:pPr marL="0" lvl="0" indent="0" algn="just" rtl="0">
              <a:lnSpc>
                <a:spcPct val="160000"/>
              </a:lnSpc>
              <a:spcBef>
                <a:spcPts val="700"/>
              </a:spcBef>
              <a:spcAft>
                <a:spcPts val="0"/>
              </a:spcAft>
              <a:buSzPts val="1800"/>
              <a:buNone/>
            </a:pPr>
            <a:r>
              <a:rPr lang="en" sz="1200" b="1">
                <a:solidFill>
                  <a:srgbClr val="000000"/>
                </a:solidFill>
              </a:rPr>
              <a:t>android.intent.action.CALL:- </a:t>
            </a:r>
            <a:r>
              <a:rPr lang="en" sz="1200">
                <a:solidFill>
                  <a:srgbClr val="000000"/>
                </a:solidFill>
              </a:rPr>
              <a:t>Perform a call to someone specified by the data.</a:t>
            </a:r>
            <a:endParaRPr sz="1200">
              <a:solidFill>
                <a:srgbClr val="212529"/>
              </a:solidFill>
            </a:endParaRPr>
          </a:p>
          <a:p>
            <a:pPr marL="0" lvl="0" indent="0" algn="just" rtl="0">
              <a:lnSpc>
                <a:spcPct val="160000"/>
              </a:lnSpc>
              <a:spcBef>
                <a:spcPts val="700"/>
              </a:spcBef>
              <a:spcAft>
                <a:spcPts val="0"/>
              </a:spcAft>
              <a:buSzPts val="1800"/>
              <a:buNone/>
            </a:pPr>
            <a:r>
              <a:rPr lang="en" sz="1200" b="1">
                <a:solidFill>
                  <a:srgbClr val="000000"/>
                </a:solidFill>
              </a:rPr>
              <a:t>android.intent.action.CALL_BUTTON:-</a:t>
            </a:r>
            <a:r>
              <a:rPr lang="en" sz="1200">
                <a:solidFill>
                  <a:srgbClr val="000000"/>
                </a:solidFill>
              </a:rPr>
              <a:t>The user pressed the "call" button to go to the dialer or other appropriate UI for placing a call.</a:t>
            </a:r>
            <a:endParaRPr sz="1200">
              <a:solidFill>
                <a:srgbClr val="212529"/>
              </a:solidFill>
            </a:endParaRPr>
          </a:p>
          <a:p>
            <a:pPr marL="0" lvl="0" indent="0" algn="just" rtl="0">
              <a:lnSpc>
                <a:spcPct val="160000"/>
              </a:lnSpc>
              <a:spcBef>
                <a:spcPts val="700"/>
              </a:spcBef>
              <a:spcAft>
                <a:spcPts val="0"/>
              </a:spcAft>
              <a:buSzPts val="1800"/>
              <a:buNone/>
            </a:pPr>
            <a:r>
              <a:rPr lang="en" sz="1200" b="1">
                <a:solidFill>
                  <a:srgbClr val="000000"/>
                </a:solidFill>
              </a:rPr>
              <a:t>android.intent.action.DATE_CHANGED:-</a:t>
            </a:r>
            <a:r>
              <a:rPr lang="en" sz="1200">
                <a:solidFill>
                  <a:srgbClr val="000000"/>
                </a:solidFill>
              </a:rPr>
              <a:t>The date has changed.</a:t>
            </a:r>
            <a:endParaRPr sz="1200">
              <a:solidFill>
                <a:srgbClr val="000000"/>
              </a:solidFill>
            </a:endParaRPr>
          </a:p>
          <a:p>
            <a:pPr marL="0" lvl="0" indent="0" algn="just" rtl="0">
              <a:lnSpc>
                <a:spcPct val="160000"/>
              </a:lnSpc>
              <a:spcBef>
                <a:spcPts val="700"/>
              </a:spcBef>
              <a:spcAft>
                <a:spcPts val="0"/>
              </a:spcAft>
              <a:buSzPts val="1800"/>
              <a:buNone/>
            </a:pPr>
            <a:r>
              <a:rPr lang="en" sz="1200" b="1">
                <a:solidFill>
                  <a:srgbClr val="000000"/>
                </a:solidFill>
              </a:rPr>
              <a:t>android.intent.action.REBOOT:- </a:t>
            </a:r>
            <a:r>
              <a:rPr lang="en" sz="1200">
                <a:solidFill>
                  <a:srgbClr val="000000"/>
                </a:solidFill>
              </a:rPr>
              <a:t>Have the device reboot.</a:t>
            </a:r>
            <a:endParaRPr sz="1200">
              <a:solidFill>
                <a:srgbClr val="000000"/>
              </a:solidFill>
            </a:endParaRPr>
          </a:p>
          <a:p>
            <a:pPr marL="0" lvl="0" indent="0" algn="l" rtl="0">
              <a:lnSpc>
                <a:spcPct val="115000"/>
              </a:lnSpc>
              <a:spcBef>
                <a:spcPts val="700"/>
              </a:spcBef>
              <a:spcAft>
                <a:spcPts val="1200"/>
              </a:spcAft>
              <a:buSzPts val="1800"/>
              <a:buNone/>
            </a:pPr>
            <a:endParaRPr sz="12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Fragments</a:t>
            </a:r>
            <a:endParaRPr/>
          </a:p>
        </p:txBody>
      </p:sp>
      <p:sp>
        <p:nvSpPr>
          <p:cNvPr id="309" name="Google Shape;309;p40"/>
          <p:cNvSpPr txBox="1">
            <a:spLocks noGrp="1"/>
          </p:cNvSpPr>
          <p:nvPr>
            <p:ph type="body" idx="1"/>
          </p:nvPr>
        </p:nvSpPr>
        <p:spPr>
          <a:xfrm>
            <a:off x="311700" y="100007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sz="1400">
                <a:solidFill>
                  <a:schemeClr val="dk1"/>
                </a:solidFill>
                <a:highlight>
                  <a:srgbClr val="F9F9F9"/>
                </a:highlight>
              </a:rPr>
              <a:t>A </a:t>
            </a:r>
            <a:r>
              <a:rPr lang="en" sz="1400">
                <a:solidFill>
                  <a:schemeClr val="dk1"/>
                </a:solidFill>
              </a:rPr>
              <a:t>Fragment </a:t>
            </a:r>
            <a:r>
              <a:rPr lang="en" sz="1400">
                <a:solidFill>
                  <a:schemeClr val="dk1"/>
                </a:solidFill>
                <a:highlight>
                  <a:srgbClr val="F9F9F9"/>
                </a:highlight>
              </a:rPr>
              <a:t>is a piece of an activity which enable more modular activity design. It will not be wrong if we say, a fragment is a kind of </a:t>
            </a:r>
            <a:r>
              <a:rPr lang="en" sz="1400">
                <a:solidFill>
                  <a:schemeClr val="dk1"/>
                </a:solidFill>
              </a:rPr>
              <a:t>sub-activity</a:t>
            </a:r>
            <a:r>
              <a:rPr lang="en" sz="1400">
                <a:solidFill>
                  <a:schemeClr val="dk1"/>
                </a:solidFill>
                <a:highlight>
                  <a:srgbClr val="F9F9F9"/>
                </a:highlight>
              </a:rPr>
              <a:t>.</a:t>
            </a:r>
            <a:endParaRPr sz="1400">
              <a:solidFill>
                <a:schemeClr val="dk1"/>
              </a:solidFill>
              <a:highlight>
                <a:srgbClr val="F9F9F9"/>
              </a:highlight>
            </a:endParaRPr>
          </a:p>
          <a:p>
            <a:pPr marL="0" lvl="0" indent="0" algn="just" rtl="0">
              <a:lnSpc>
                <a:spcPct val="160000"/>
              </a:lnSpc>
              <a:spcBef>
                <a:spcPts val="1200"/>
              </a:spcBef>
              <a:spcAft>
                <a:spcPts val="0"/>
              </a:spcAft>
              <a:buClr>
                <a:schemeClr val="dk1"/>
              </a:buClr>
              <a:buSzPts val="1100"/>
              <a:buFont typeface="Arial"/>
              <a:buNone/>
            </a:pPr>
            <a:r>
              <a:rPr lang="en" sz="1400">
                <a:solidFill>
                  <a:schemeClr val="dk1"/>
                </a:solidFill>
              </a:rPr>
              <a:t>Following are important points about fragment −</a:t>
            </a:r>
            <a:endParaRPr sz="1400">
              <a:solidFill>
                <a:schemeClr val="dk1"/>
              </a:solidFill>
            </a:endParaRPr>
          </a:p>
          <a:p>
            <a:pPr marL="889000" lvl="0" indent="-317500" algn="l" rtl="0">
              <a:lnSpc>
                <a:spcPct val="150000"/>
              </a:lnSpc>
              <a:spcBef>
                <a:spcPts val="700"/>
              </a:spcBef>
              <a:spcAft>
                <a:spcPts val="0"/>
              </a:spcAft>
              <a:buClr>
                <a:schemeClr val="dk1"/>
              </a:buClr>
              <a:buSzPts val="1400"/>
              <a:buFont typeface="Arial"/>
              <a:buChar char="●"/>
            </a:pPr>
            <a:r>
              <a:rPr lang="en" sz="1400">
                <a:solidFill>
                  <a:schemeClr val="dk1"/>
                </a:solidFill>
              </a:rPr>
              <a:t>A fragment has its own layout and its own behaviour with its own life cycle callbacks.</a:t>
            </a:r>
            <a:endParaRPr sz="1400">
              <a:solidFill>
                <a:schemeClr val="dk1"/>
              </a:solidFill>
            </a:endParaRPr>
          </a:p>
          <a:p>
            <a:pPr marL="889000" lvl="0" indent="-317500" algn="l" rtl="0">
              <a:lnSpc>
                <a:spcPct val="150000"/>
              </a:lnSpc>
              <a:spcBef>
                <a:spcPts val="0"/>
              </a:spcBef>
              <a:spcAft>
                <a:spcPts val="0"/>
              </a:spcAft>
              <a:buClr>
                <a:schemeClr val="dk1"/>
              </a:buClr>
              <a:buSzPts val="1400"/>
              <a:buFont typeface="Arial"/>
              <a:buChar char="●"/>
            </a:pPr>
            <a:r>
              <a:rPr lang="en" sz="1400">
                <a:solidFill>
                  <a:schemeClr val="dk1"/>
                </a:solidFill>
              </a:rPr>
              <a:t>You can add or remove fragments in an activity while the activity is running.</a:t>
            </a:r>
            <a:endParaRPr sz="1400">
              <a:solidFill>
                <a:schemeClr val="dk1"/>
              </a:solidFill>
            </a:endParaRPr>
          </a:p>
          <a:p>
            <a:pPr marL="889000" lvl="0" indent="-317500" algn="l" rtl="0">
              <a:lnSpc>
                <a:spcPct val="150000"/>
              </a:lnSpc>
              <a:spcBef>
                <a:spcPts val="0"/>
              </a:spcBef>
              <a:spcAft>
                <a:spcPts val="0"/>
              </a:spcAft>
              <a:buClr>
                <a:schemeClr val="dk1"/>
              </a:buClr>
              <a:buSzPts val="1400"/>
              <a:buFont typeface="Arial"/>
              <a:buChar char="●"/>
            </a:pPr>
            <a:r>
              <a:rPr lang="en" sz="1400">
                <a:solidFill>
                  <a:schemeClr val="dk1"/>
                </a:solidFill>
              </a:rPr>
              <a:t>You can combine multiple fragments in a single activity to build a multi-pane UI.</a:t>
            </a:r>
            <a:endParaRPr sz="1400">
              <a:solidFill>
                <a:schemeClr val="dk1"/>
              </a:solidFill>
            </a:endParaRPr>
          </a:p>
          <a:p>
            <a:pPr marL="889000" lvl="0" indent="-317500" algn="l" rtl="0">
              <a:lnSpc>
                <a:spcPct val="150000"/>
              </a:lnSpc>
              <a:spcBef>
                <a:spcPts val="0"/>
              </a:spcBef>
              <a:spcAft>
                <a:spcPts val="0"/>
              </a:spcAft>
              <a:buClr>
                <a:schemeClr val="dk1"/>
              </a:buClr>
              <a:buSzPts val="1400"/>
              <a:buFont typeface="Arial"/>
              <a:buChar char="●"/>
            </a:pPr>
            <a:r>
              <a:rPr lang="en" sz="1400">
                <a:solidFill>
                  <a:schemeClr val="dk1"/>
                </a:solidFill>
              </a:rPr>
              <a:t>A fragment can be used in multiple activities.</a:t>
            </a:r>
            <a:endParaRPr sz="1400">
              <a:solidFill>
                <a:schemeClr val="dk1"/>
              </a:solidFill>
            </a:endParaRPr>
          </a:p>
          <a:p>
            <a:pPr marL="889000" lvl="0" indent="-317500" algn="l" rtl="0">
              <a:lnSpc>
                <a:spcPct val="150000"/>
              </a:lnSpc>
              <a:spcBef>
                <a:spcPts val="0"/>
              </a:spcBef>
              <a:spcAft>
                <a:spcPts val="0"/>
              </a:spcAft>
              <a:buClr>
                <a:schemeClr val="dk1"/>
              </a:buClr>
              <a:buSzPts val="1400"/>
              <a:buFont typeface="Arial"/>
              <a:buChar char="●"/>
            </a:pPr>
            <a:r>
              <a:rPr lang="en" sz="1400">
                <a:solidFill>
                  <a:schemeClr val="dk1"/>
                </a:solidFill>
              </a:rPr>
              <a:t>Fragment life cycle is closely related to the life cycle of its host activity which means when the activity is paused, all the fragments available in the activity will also be stopped.</a:t>
            </a:r>
            <a:endParaRPr sz="1400">
              <a:solidFill>
                <a:schemeClr val="dk1"/>
              </a:solidFill>
            </a:endParaRPr>
          </a:p>
          <a:p>
            <a:pPr marL="889000" lvl="0" indent="-317500" algn="l" rtl="0">
              <a:lnSpc>
                <a:spcPct val="150000"/>
              </a:lnSpc>
              <a:spcBef>
                <a:spcPts val="0"/>
              </a:spcBef>
              <a:spcAft>
                <a:spcPts val="0"/>
              </a:spcAft>
              <a:buClr>
                <a:schemeClr val="dk1"/>
              </a:buClr>
              <a:buSzPts val="1400"/>
              <a:buFont typeface="Arial"/>
              <a:buChar char="●"/>
            </a:pPr>
            <a:r>
              <a:rPr lang="en" sz="1400">
                <a:solidFill>
                  <a:schemeClr val="dk1"/>
                </a:solidFill>
              </a:rPr>
              <a:t>A fragment can implement a behaviour that has no user interface component.</a:t>
            </a:r>
            <a:endParaRPr sz="1400">
              <a:solidFill>
                <a:schemeClr val="dk1"/>
              </a:solidFill>
            </a:endParaRPr>
          </a:p>
          <a:p>
            <a:pPr marL="889000" lvl="0" indent="-317500" algn="l" rtl="0">
              <a:lnSpc>
                <a:spcPct val="150000"/>
              </a:lnSpc>
              <a:spcBef>
                <a:spcPts val="0"/>
              </a:spcBef>
              <a:spcAft>
                <a:spcPts val="0"/>
              </a:spcAft>
              <a:buClr>
                <a:schemeClr val="dk1"/>
              </a:buClr>
              <a:buSzPts val="1400"/>
              <a:buFont typeface="Arial"/>
              <a:buChar char="●"/>
            </a:pPr>
            <a:r>
              <a:rPr lang="en" sz="1400">
                <a:solidFill>
                  <a:schemeClr val="dk1"/>
                </a:solidFill>
              </a:rPr>
              <a:t>Fragments were added to the Android API in Honeycomb version of Android which API version 11.</a:t>
            </a:r>
            <a:endParaRPr sz="1400">
              <a:solidFill>
                <a:schemeClr val="dk1"/>
              </a:solidFill>
            </a:endParaRPr>
          </a:p>
          <a:p>
            <a:pPr marL="0" lvl="0" indent="0" algn="l" rtl="0">
              <a:lnSpc>
                <a:spcPct val="115000"/>
              </a:lnSpc>
              <a:spcBef>
                <a:spcPts val="1500"/>
              </a:spcBef>
              <a:spcAft>
                <a:spcPts val="1200"/>
              </a:spcAft>
              <a:buSzPts val="1800"/>
              <a:buNone/>
            </a:pPr>
            <a:endParaRPr sz="1400">
              <a:solidFill>
                <a:schemeClr val="dk1"/>
              </a:solidFill>
              <a:highlight>
                <a:srgbClr val="F9F9F9"/>
              </a:highligh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1"/>
          <p:cNvSpPr txBox="1">
            <a:spLocks noGrp="1"/>
          </p:cNvSpPr>
          <p:nvPr>
            <p:ph type="body" idx="1"/>
          </p:nvPr>
        </p:nvSpPr>
        <p:spPr>
          <a:xfrm>
            <a:off x="311700" y="4709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r>
              <a:rPr lang="en" sz="1400">
                <a:solidFill>
                  <a:schemeClr val="dk1"/>
                </a:solidFill>
                <a:highlight>
                  <a:srgbClr val="FFFFFF"/>
                </a:highlight>
              </a:rPr>
              <a:t>Following is a typical example of how two UI modules defined by fragments can be combined into one activity for a tablet design, but separated for a handset design.</a:t>
            </a:r>
            <a:endParaRPr sz="1400"/>
          </a:p>
        </p:txBody>
      </p:sp>
      <p:pic>
        <p:nvPicPr>
          <p:cNvPr id="315" name="Google Shape;315;p41"/>
          <p:cNvPicPr preferRelativeResize="0"/>
          <p:nvPr/>
        </p:nvPicPr>
        <p:blipFill rotWithShape="1">
          <a:blip r:embed="rId3">
            <a:alphaModFix/>
          </a:blip>
          <a:srcRect/>
          <a:stretch/>
        </p:blipFill>
        <p:spPr>
          <a:xfrm>
            <a:off x="1905000" y="1465913"/>
            <a:ext cx="5334000" cy="30765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25000"/>
              </a:lnSpc>
              <a:spcBef>
                <a:spcPts val="0"/>
              </a:spcBef>
              <a:spcAft>
                <a:spcPts val="0"/>
              </a:spcAft>
              <a:buClr>
                <a:schemeClr val="dk1"/>
              </a:buClr>
              <a:buSzPts val="1100"/>
              <a:buFont typeface="Arial"/>
              <a:buNone/>
            </a:pPr>
            <a:r>
              <a:rPr lang="en" sz="1800"/>
              <a:t>Fragment Lifecycle</a:t>
            </a:r>
            <a:endParaRPr sz="1800"/>
          </a:p>
          <a:p>
            <a:pPr marL="0" lvl="0" indent="0" algn="l" rtl="0">
              <a:lnSpc>
                <a:spcPct val="100000"/>
              </a:lnSpc>
              <a:spcBef>
                <a:spcPts val="0"/>
              </a:spcBef>
              <a:spcAft>
                <a:spcPts val="0"/>
              </a:spcAft>
              <a:buSzPts val="2800"/>
              <a:buNone/>
            </a:pPr>
            <a:endParaRPr sz="1800"/>
          </a:p>
        </p:txBody>
      </p:sp>
      <p:pic>
        <p:nvPicPr>
          <p:cNvPr id="321" name="Google Shape;321;p42"/>
          <p:cNvPicPr preferRelativeResize="0"/>
          <p:nvPr/>
        </p:nvPicPr>
        <p:blipFill rotWithShape="1">
          <a:blip r:embed="rId3">
            <a:alphaModFix/>
          </a:blip>
          <a:srcRect/>
          <a:stretch/>
        </p:blipFill>
        <p:spPr>
          <a:xfrm>
            <a:off x="1543050" y="1170125"/>
            <a:ext cx="6105026" cy="32056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3"/>
          <p:cNvSpPr txBox="1">
            <a:spLocks noGrp="1"/>
          </p:cNvSpPr>
          <p:nvPr>
            <p:ph type="body" idx="1"/>
          </p:nvPr>
        </p:nvSpPr>
        <p:spPr>
          <a:xfrm>
            <a:off x="311700" y="244325"/>
            <a:ext cx="8520600" cy="4744800"/>
          </a:xfrm>
          <a:prstGeom prst="rect">
            <a:avLst/>
          </a:prstGeom>
          <a:noFill/>
          <a:ln>
            <a:noFill/>
          </a:ln>
        </p:spPr>
        <p:txBody>
          <a:bodyPr spcFirstLastPara="1" wrap="square" lIns="91425" tIns="91425" rIns="91425" bIns="91425" anchor="t" anchorCtr="0">
            <a:noAutofit/>
          </a:bodyPr>
          <a:lstStyle/>
          <a:p>
            <a:pPr marL="0" lvl="0" indent="0" algn="just" rtl="0">
              <a:lnSpc>
                <a:spcPct val="160000"/>
              </a:lnSpc>
              <a:spcBef>
                <a:spcPts val="600"/>
              </a:spcBef>
              <a:spcAft>
                <a:spcPts val="0"/>
              </a:spcAft>
              <a:buClr>
                <a:schemeClr val="dk1"/>
              </a:buClr>
              <a:buSzPts val="1100"/>
              <a:buFont typeface="Arial"/>
              <a:buNone/>
            </a:pPr>
            <a:r>
              <a:rPr lang="en" sz="1400">
                <a:solidFill>
                  <a:schemeClr val="dk1"/>
                </a:solidFill>
              </a:rPr>
              <a:t>Here is the list of methods which you can to override in your fragment class −</a:t>
            </a:r>
            <a:endParaRPr sz="1400">
              <a:solidFill>
                <a:schemeClr val="dk1"/>
              </a:solidFill>
            </a:endParaRPr>
          </a:p>
          <a:p>
            <a:pPr marL="457200" lvl="0" indent="0" algn="l" rtl="0">
              <a:lnSpc>
                <a:spcPct val="150000"/>
              </a:lnSpc>
              <a:spcBef>
                <a:spcPts val="700"/>
              </a:spcBef>
              <a:spcAft>
                <a:spcPts val="0"/>
              </a:spcAft>
              <a:buSzPts val="1800"/>
              <a:buNone/>
            </a:pPr>
            <a:r>
              <a:rPr lang="en" sz="1400" b="1">
                <a:solidFill>
                  <a:schemeClr val="dk1"/>
                </a:solidFill>
              </a:rPr>
              <a:t>onAttach()</a:t>
            </a:r>
            <a:r>
              <a:rPr lang="en" sz="1400">
                <a:solidFill>
                  <a:schemeClr val="dk1"/>
                </a:solidFill>
              </a:rPr>
              <a:t> The fragment instance is associated with an activity instance.The fragment and the activity is not fully initialized. Typically you get in this method a reference to the activity which uses the fragment for further initialization work.</a:t>
            </a:r>
            <a:endParaRPr sz="1400">
              <a:solidFill>
                <a:schemeClr val="dk1"/>
              </a:solidFill>
            </a:endParaRPr>
          </a:p>
          <a:p>
            <a:pPr marL="457200" lvl="0" indent="0" algn="l" rtl="0">
              <a:lnSpc>
                <a:spcPct val="150000"/>
              </a:lnSpc>
              <a:spcBef>
                <a:spcPts val="1500"/>
              </a:spcBef>
              <a:spcAft>
                <a:spcPts val="0"/>
              </a:spcAft>
              <a:buSzPts val="1800"/>
              <a:buNone/>
            </a:pPr>
            <a:r>
              <a:rPr lang="en" sz="1400" b="1">
                <a:solidFill>
                  <a:schemeClr val="dk1"/>
                </a:solidFill>
              </a:rPr>
              <a:t>onCreate()</a:t>
            </a:r>
            <a:r>
              <a:rPr lang="en" sz="1400">
                <a:solidFill>
                  <a:schemeClr val="dk1"/>
                </a:solidFill>
              </a:rPr>
              <a:t> The system calls this method when creating the fragment. You should initialize essential components of the fragment that you want to retain when the fragment is paused or stopped, then resumed.</a:t>
            </a:r>
            <a:endParaRPr sz="1400">
              <a:solidFill>
                <a:schemeClr val="dk1"/>
              </a:solidFill>
            </a:endParaRPr>
          </a:p>
          <a:p>
            <a:pPr marL="457200" lvl="0" indent="0" algn="l" rtl="0">
              <a:lnSpc>
                <a:spcPct val="150000"/>
              </a:lnSpc>
              <a:spcBef>
                <a:spcPts val="1500"/>
              </a:spcBef>
              <a:spcAft>
                <a:spcPts val="0"/>
              </a:spcAft>
              <a:buSzPts val="1800"/>
              <a:buNone/>
            </a:pPr>
            <a:r>
              <a:rPr lang="en" sz="1400" b="1">
                <a:solidFill>
                  <a:schemeClr val="dk1"/>
                </a:solidFill>
              </a:rPr>
              <a:t>onCreateView()</a:t>
            </a:r>
            <a:r>
              <a:rPr lang="en" sz="1400">
                <a:solidFill>
                  <a:schemeClr val="dk1"/>
                </a:solidFill>
              </a:rPr>
              <a:t> The system calls this callback when it's time for the fragment to draw its user interface for the first time. To draw a UI for your fragment, you must return a View component from this method that is the root of your fragment's layout. You can return null if the fragment does not provide a UI.</a:t>
            </a:r>
            <a:endParaRPr sz="1400">
              <a:solidFill>
                <a:schemeClr val="dk1"/>
              </a:solidFill>
            </a:endParaRPr>
          </a:p>
          <a:p>
            <a:pPr marL="0" lvl="0" indent="0" algn="just" rtl="0">
              <a:lnSpc>
                <a:spcPct val="160000"/>
              </a:lnSpc>
              <a:spcBef>
                <a:spcPts val="1500"/>
              </a:spcBef>
              <a:spcAft>
                <a:spcPts val="0"/>
              </a:spcAft>
              <a:buClr>
                <a:schemeClr val="dk1"/>
              </a:buClr>
              <a:buSzPts val="1100"/>
              <a:buFont typeface="Arial"/>
              <a:buNone/>
            </a:pPr>
            <a:endParaRPr sz="1400">
              <a:solidFill>
                <a:schemeClr val="dk1"/>
              </a:solidFill>
            </a:endParaRPr>
          </a:p>
          <a:p>
            <a:pPr marL="0" lvl="0" indent="0" algn="l" rtl="0">
              <a:lnSpc>
                <a:spcPct val="115000"/>
              </a:lnSpc>
              <a:spcBef>
                <a:spcPts val="700"/>
              </a:spcBef>
              <a:spcAft>
                <a:spcPts val="1200"/>
              </a:spcAft>
              <a:buSzPts val="1800"/>
              <a:buNone/>
            </a:pPr>
            <a:endParaRPr sz="14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4"/>
          <p:cNvSpPr txBox="1">
            <a:spLocks noGrp="1"/>
          </p:cNvSpPr>
          <p:nvPr>
            <p:ph type="body" idx="1"/>
          </p:nvPr>
        </p:nvSpPr>
        <p:spPr>
          <a:xfrm>
            <a:off x="311700" y="511450"/>
            <a:ext cx="8520600" cy="3416400"/>
          </a:xfrm>
          <a:prstGeom prst="rect">
            <a:avLst/>
          </a:prstGeom>
          <a:noFill/>
          <a:ln>
            <a:noFill/>
          </a:ln>
        </p:spPr>
        <p:txBody>
          <a:bodyPr spcFirstLastPara="1" wrap="square" lIns="91425" tIns="91425" rIns="91425" bIns="91425" anchor="t" anchorCtr="0">
            <a:noAutofit/>
          </a:bodyPr>
          <a:lstStyle/>
          <a:p>
            <a:pPr marL="457200" lvl="0" indent="0" algn="l" rtl="0">
              <a:lnSpc>
                <a:spcPct val="150000"/>
              </a:lnSpc>
              <a:spcBef>
                <a:spcPts val="0"/>
              </a:spcBef>
              <a:spcAft>
                <a:spcPts val="0"/>
              </a:spcAft>
              <a:buClr>
                <a:schemeClr val="dk1"/>
              </a:buClr>
              <a:buSzPts val="1100"/>
              <a:buFont typeface="Arial"/>
              <a:buNone/>
            </a:pPr>
            <a:r>
              <a:rPr lang="en" sz="1400" b="1">
                <a:solidFill>
                  <a:schemeClr val="dk1"/>
                </a:solidFill>
              </a:rPr>
              <a:t>onActivityCreated()</a:t>
            </a:r>
            <a:r>
              <a:rPr lang="en" sz="1400">
                <a:solidFill>
                  <a:schemeClr val="dk1"/>
                </a:solidFill>
              </a:rPr>
              <a:t>The onActivityCreated() is called after the onCreateView() method when the host activity is created. Activity and fragment instance have been created as well as the view hierarchy of the activity. At this point, view can be accessed with the findViewById() method. example. In this method you can instantiate objects which require a Context object</a:t>
            </a:r>
            <a:endParaRPr sz="1400">
              <a:solidFill>
                <a:schemeClr val="dk1"/>
              </a:solidFill>
            </a:endParaRPr>
          </a:p>
          <a:p>
            <a:pPr marL="457200" lvl="0" indent="0" algn="l" rtl="0">
              <a:lnSpc>
                <a:spcPct val="150000"/>
              </a:lnSpc>
              <a:spcBef>
                <a:spcPts val="1500"/>
              </a:spcBef>
              <a:spcAft>
                <a:spcPts val="0"/>
              </a:spcAft>
              <a:buSzPts val="1800"/>
              <a:buNone/>
            </a:pPr>
            <a:r>
              <a:rPr lang="en" sz="1400" b="1">
                <a:solidFill>
                  <a:schemeClr val="dk1"/>
                </a:solidFill>
              </a:rPr>
              <a:t>onStart() </a:t>
            </a:r>
            <a:r>
              <a:rPr lang="en" sz="1400">
                <a:solidFill>
                  <a:schemeClr val="dk1"/>
                </a:solidFill>
              </a:rPr>
              <a:t>The onStart() method is called once the fragment gets visible.</a:t>
            </a:r>
            <a:endParaRPr sz="1400">
              <a:solidFill>
                <a:schemeClr val="dk1"/>
              </a:solidFill>
            </a:endParaRPr>
          </a:p>
          <a:p>
            <a:pPr marL="457200" lvl="0" indent="0" algn="l" rtl="0">
              <a:lnSpc>
                <a:spcPct val="150000"/>
              </a:lnSpc>
              <a:spcBef>
                <a:spcPts val="1500"/>
              </a:spcBef>
              <a:spcAft>
                <a:spcPts val="0"/>
              </a:spcAft>
              <a:buSzPts val="1800"/>
              <a:buNone/>
            </a:pPr>
            <a:r>
              <a:rPr lang="en" sz="1400" b="1">
                <a:solidFill>
                  <a:schemeClr val="dk1"/>
                </a:solidFill>
              </a:rPr>
              <a:t>onResume() </a:t>
            </a:r>
            <a:r>
              <a:rPr lang="en" sz="1400">
                <a:solidFill>
                  <a:schemeClr val="dk1"/>
                </a:solidFill>
              </a:rPr>
              <a:t>Fragment becomes active.</a:t>
            </a:r>
            <a:endParaRPr sz="1400">
              <a:solidFill>
                <a:schemeClr val="dk1"/>
              </a:solidFill>
            </a:endParaRPr>
          </a:p>
          <a:p>
            <a:pPr marL="457200" lvl="0" indent="0" algn="l" rtl="0">
              <a:lnSpc>
                <a:spcPct val="150000"/>
              </a:lnSpc>
              <a:spcBef>
                <a:spcPts val="1500"/>
              </a:spcBef>
              <a:spcAft>
                <a:spcPts val="0"/>
              </a:spcAft>
              <a:buSzPts val="1800"/>
              <a:buNone/>
            </a:pPr>
            <a:r>
              <a:rPr lang="en" sz="1400" b="1">
                <a:solidFill>
                  <a:schemeClr val="dk1"/>
                </a:solidFill>
              </a:rPr>
              <a:t>onPause()  </a:t>
            </a:r>
            <a:r>
              <a:rPr lang="en" sz="1400">
                <a:solidFill>
                  <a:schemeClr val="dk1"/>
                </a:solidFill>
              </a:rPr>
              <a:t>The system calls this method as the first indication that the user is leaving the fragment. This is usually where you should commit any changes that should be persisted beyond the current user session.</a:t>
            </a:r>
            <a:endParaRPr sz="1400">
              <a:solidFill>
                <a:schemeClr val="dk1"/>
              </a:solidFill>
            </a:endParaRPr>
          </a:p>
          <a:p>
            <a:pPr marL="457200" lvl="0" indent="0" algn="l" rtl="0">
              <a:lnSpc>
                <a:spcPct val="150000"/>
              </a:lnSpc>
              <a:spcBef>
                <a:spcPts val="1500"/>
              </a:spcBef>
              <a:spcAft>
                <a:spcPts val="0"/>
              </a:spcAft>
              <a:buSzPts val="1800"/>
              <a:buNone/>
            </a:pPr>
            <a:r>
              <a:rPr lang="en" sz="1400" b="1">
                <a:solidFill>
                  <a:schemeClr val="dk1"/>
                </a:solidFill>
              </a:rPr>
              <a:t>onStop() </a:t>
            </a:r>
            <a:r>
              <a:rPr lang="en" sz="1400">
                <a:solidFill>
                  <a:schemeClr val="dk1"/>
                </a:solidFill>
              </a:rPr>
              <a:t>Fragment going to be stopped by calling onStop()</a:t>
            </a:r>
            <a:endParaRPr sz="1400">
              <a:solidFill>
                <a:schemeClr val="dk1"/>
              </a:solidFill>
            </a:endParaRPr>
          </a:p>
          <a:p>
            <a:pPr marL="0" lvl="0" indent="0" algn="l" rtl="0">
              <a:lnSpc>
                <a:spcPct val="115000"/>
              </a:lnSpc>
              <a:spcBef>
                <a:spcPts val="1500"/>
              </a:spcBef>
              <a:spcAft>
                <a:spcPts val="1200"/>
              </a:spcAft>
              <a:buSzPts val="1800"/>
              <a:buNone/>
            </a:pPr>
            <a:endParaRPr sz="14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5"/>
          <p:cNvSpPr txBox="1">
            <a:spLocks noGrp="1"/>
          </p:cNvSpPr>
          <p:nvPr>
            <p:ph type="body" idx="1"/>
          </p:nvPr>
        </p:nvSpPr>
        <p:spPr>
          <a:xfrm>
            <a:off x="311700" y="483800"/>
            <a:ext cx="8520600" cy="3416400"/>
          </a:xfrm>
          <a:prstGeom prst="rect">
            <a:avLst/>
          </a:prstGeom>
          <a:noFill/>
          <a:ln>
            <a:noFill/>
          </a:ln>
        </p:spPr>
        <p:txBody>
          <a:bodyPr spcFirstLastPara="1" wrap="square" lIns="91425" tIns="91425" rIns="91425" bIns="91425" anchor="t" anchorCtr="0">
            <a:normAutofit/>
          </a:bodyPr>
          <a:lstStyle/>
          <a:p>
            <a:pPr marL="457200" lvl="0" indent="0" algn="l" rtl="0">
              <a:lnSpc>
                <a:spcPct val="150000"/>
              </a:lnSpc>
              <a:spcBef>
                <a:spcPts val="0"/>
              </a:spcBef>
              <a:spcAft>
                <a:spcPts val="0"/>
              </a:spcAft>
              <a:buClr>
                <a:schemeClr val="dk1"/>
              </a:buClr>
              <a:buSzPts val="1100"/>
              <a:buFont typeface="Arial"/>
              <a:buNone/>
            </a:pPr>
            <a:r>
              <a:rPr lang="en" sz="1400" b="1">
                <a:solidFill>
                  <a:schemeClr val="dk1"/>
                </a:solidFill>
              </a:rPr>
              <a:t>onDestroyView() </a:t>
            </a:r>
            <a:r>
              <a:rPr lang="en" sz="1400">
                <a:solidFill>
                  <a:schemeClr val="dk1"/>
                </a:solidFill>
              </a:rPr>
              <a:t>Fragment view will destroy after call this method</a:t>
            </a:r>
            <a:endParaRPr sz="1400">
              <a:solidFill>
                <a:schemeClr val="dk1"/>
              </a:solidFill>
            </a:endParaRPr>
          </a:p>
          <a:p>
            <a:pPr marL="457200" lvl="0" indent="0" algn="l" rtl="0">
              <a:lnSpc>
                <a:spcPct val="150000"/>
              </a:lnSpc>
              <a:spcBef>
                <a:spcPts val="1500"/>
              </a:spcBef>
              <a:spcAft>
                <a:spcPts val="0"/>
              </a:spcAft>
              <a:buClr>
                <a:schemeClr val="dk1"/>
              </a:buClr>
              <a:buSzPts val="1100"/>
              <a:buFont typeface="Arial"/>
              <a:buNone/>
            </a:pPr>
            <a:r>
              <a:rPr lang="en" sz="1400" b="1">
                <a:solidFill>
                  <a:schemeClr val="dk1"/>
                </a:solidFill>
              </a:rPr>
              <a:t>onDestroy() </a:t>
            </a:r>
            <a:r>
              <a:rPr lang="en" sz="1400">
                <a:solidFill>
                  <a:schemeClr val="dk1"/>
                </a:solidFill>
              </a:rPr>
              <a:t>onDestroy() called to do final clean up of the fragment's state but Not guaranteed to be called by the Android platform.</a:t>
            </a:r>
            <a:endParaRPr sz="1400">
              <a:solidFill>
                <a:schemeClr val="dk1"/>
              </a:solidFill>
            </a:endParaRPr>
          </a:p>
          <a:p>
            <a:pPr marL="0" lvl="0" indent="0" algn="l" rtl="0">
              <a:lnSpc>
                <a:spcPct val="115000"/>
              </a:lnSpc>
              <a:spcBef>
                <a:spcPts val="1500"/>
              </a:spcBef>
              <a:spcAft>
                <a:spcPts val="1200"/>
              </a:spcAft>
              <a:buSzPts val="1800"/>
              <a:buNone/>
            </a:pP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sz="1800">
                <a:highlight>
                  <a:srgbClr val="FFFFFF"/>
                </a:highlight>
              </a:rPr>
              <a:t>This involves number of simple steps to create Fragments.</a:t>
            </a:r>
            <a:endParaRPr sz="1800"/>
          </a:p>
        </p:txBody>
      </p:sp>
      <p:sp>
        <p:nvSpPr>
          <p:cNvPr id="342" name="Google Shape;342;p4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Clr>
                <a:schemeClr val="dk1"/>
              </a:buClr>
              <a:buSzPts val="1400"/>
              <a:buChar char="●"/>
            </a:pPr>
            <a:r>
              <a:rPr lang="en" sz="1400">
                <a:solidFill>
                  <a:schemeClr val="dk1"/>
                </a:solidFill>
              </a:rPr>
              <a:t>First of all decide how many fragments you want to use in an activity. For example let's we want to use two fragments to handle landscape and portrait modes of the device.</a:t>
            </a:r>
            <a:endParaRPr sz="14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Next based on number of fragments, create classes which will extend the </a:t>
            </a:r>
            <a:r>
              <a:rPr lang="en" sz="1400" i="1">
                <a:solidFill>
                  <a:schemeClr val="dk1"/>
                </a:solidFill>
              </a:rPr>
              <a:t>Fragment</a:t>
            </a:r>
            <a:r>
              <a:rPr lang="en" sz="1400">
                <a:solidFill>
                  <a:schemeClr val="dk1"/>
                </a:solidFill>
              </a:rPr>
              <a:t> class. The Fragment class has above mentioned callback functions. You can override any of the functions based on your requirements.</a:t>
            </a:r>
            <a:endParaRPr sz="14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Corresponding to each fragment, you will need to create layout files in XML file. These files will have layout for the defined fragments.</a:t>
            </a:r>
            <a:endParaRPr sz="14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Finally modify activity file to define the actual logic of replacing fragments based on your requirement.</a:t>
            </a:r>
            <a:endParaRPr sz="1400">
              <a:solidFill>
                <a:schemeClr val="dk1"/>
              </a:solidFill>
            </a:endParaRPr>
          </a:p>
          <a:p>
            <a:pPr marL="0" lvl="0" indent="0" algn="l" rtl="0">
              <a:lnSpc>
                <a:spcPct val="115000"/>
              </a:lnSpc>
              <a:spcBef>
                <a:spcPts val="1500"/>
              </a:spcBef>
              <a:spcAft>
                <a:spcPts val="1200"/>
              </a:spcAft>
              <a:buSzPts val="1800"/>
              <a:buNone/>
            </a:pPr>
            <a:endParaRPr sz="14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25000"/>
              </a:lnSpc>
              <a:spcBef>
                <a:spcPts val="0"/>
              </a:spcBef>
              <a:spcAft>
                <a:spcPts val="0"/>
              </a:spcAft>
              <a:buClr>
                <a:schemeClr val="dk1"/>
              </a:buClr>
              <a:buSzPts val="1100"/>
              <a:buFont typeface="Arial"/>
              <a:buNone/>
            </a:pPr>
            <a:r>
              <a:rPr lang="en" sz="1800"/>
              <a:t>Types of Fragments</a:t>
            </a:r>
            <a:endParaRPr sz="1800"/>
          </a:p>
          <a:p>
            <a:pPr marL="0" lvl="0" indent="0" algn="l" rtl="0">
              <a:lnSpc>
                <a:spcPct val="100000"/>
              </a:lnSpc>
              <a:spcBef>
                <a:spcPts val="0"/>
              </a:spcBef>
              <a:spcAft>
                <a:spcPts val="0"/>
              </a:spcAft>
              <a:buSzPts val="2800"/>
              <a:buNone/>
            </a:pPr>
            <a:endParaRPr sz="1800"/>
          </a:p>
        </p:txBody>
      </p:sp>
      <p:sp>
        <p:nvSpPr>
          <p:cNvPr id="348" name="Google Shape;348;p4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just" rtl="0">
              <a:lnSpc>
                <a:spcPct val="160000"/>
              </a:lnSpc>
              <a:spcBef>
                <a:spcPts val="600"/>
              </a:spcBef>
              <a:spcAft>
                <a:spcPts val="0"/>
              </a:spcAft>
              <a:buClr>
                <a:schemeClr val="dk1"/>
              </a:buClr>
              <a:buSzPts val="1100"/>
              <a:buFont typeface="Arial"/>
              <a:buNone/>
            </a:pPr>
            <a:r>
              <a:rPr lang="en" sz="1400">
                <a:solidFill>
                  <a:schemeClr val="dk1"/>
                </a:solidFill>
              </a:rPr>
              <a:t>Basically fragments are divided as three stages as shown below.</a:t>
            </a:r>
            <a:endParaRPr sz="1400">
              <a:solidFill>
                <a:schemeClr val="dk1"/>
              </a:solidFill>
            </a:endParaRPr>
          </a:p>
          <a:p>
            <a:pPr marL="457200" lvl="0" indent="-317500" algn="l" rtl="0">
              <a:lnSpc>
                <a:spcPct val="150000"/>
              </a:lnSpc>
              <a:spcBef>
                <a:spcPts val="700"/>
              </a:spcBef>
              <a:spcAft>
                <a:spcPts val="0"/>
              </a:spcAft>
              <a:buClr>
                <a:schemeClr val="dk1"/>
              </a:buClr>
              <a:buSzPts val="1400"/>
              <a:buChar char="●"/>
            </a:pPr>
            <a:r>
              <a:rPr lang="en" sz="1400" b="1">
                <a:solidFill>
                  <a:schemeClr val="dk1"/>
                </a:solidFill>
              </a:rPr>
              <a:t>Single frame fragments</a:t>
            </a:r>
            <a:r>
              <a:rPr lang="en" sz="1400">
                <a:solidFill>
                  <a:schemeClr val="dk1"/>
                </a:solidFill>
              </a:rPr>
              <a:t> − Single frame fragments are using for hand hold devices like mobiles, here we can show only one fragment as a view.</a:t>
            </a:r>
            <a:endParaRPr sz="14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b="1">
                <a:solidFill>
                  <a:schemeClr val="dk1"/>
                </a:solidFill>
              </a:rPr>
              <a:t>List fragments</a:t>
            </a:r>
            <a:r>
              <a:rPr lang="en" sz="1400">
                <a:solidFill>
                  <a:schemeClr val="dk1"/>
                </a:solidFill>
              </a:rPr>
              <a:t> − fragments having special list view is called as list fragment</a:t>
            </a:r>
            <a:endParaRPr sz="14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b="1">
                <a:solidFill>
                  <a:schemeClr val="dk1"/>
                </a:solidFill>
              </a:rPr>
              <a:t>Fragments transaction</a:t>
            </a:r>
            <a:r>
              <a:rPr lang="en" sz="1400">
                <a:solidFill>
                  <a:schemeClr val="dk1"/>
                </a:solidFill>
              </a:rPr>
              <a:t> − Using with fragment transaction. we can move one fragment to another fragment.</a:t>
            </a:r>
            <a:endParaRPr sz="1400">
              <a:solidFill>
                <a:schemeClr val="dk1"/>
              </a:solidFill>
            </a:endParaRPr>
          </a:p>
          <a:p>
            <a:pPr marL="0" lvl="0" indent="0" algn="l" rtl="0">
              <a:lnSpc>
                <a:spcPct val="115000"/>
              </a:lnSpc>
              <a:spcBef>
                <a:spcPts val="1500"/>
              </a:spcBef>
              <a:spcAft>
                <a:spcPts val="1200"/>
              </a:spcAft>
              <a:buSzPts val="1800"/>
              <a:buNone/>
            </a:pPr>
            <a:endParaRPr sz="1400">
              <a:solidFill>
                <a:schemeClr val="dk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8"/>
          <p:cNvSpPr txBox="1">
            <a:spLocks noGrp="1"/>
          </p:cNvSpPr>
          <p:nvPr>
            <p:ph type="body" idx="1"/>
          </p:nvPr>
        </p:nvSpPr>
        <p:spPr>
          <a:xfrm>
            <a:off x="311700" y="265225"/>
            <a:ext cx="8520600" cy="3416400"/>
          </a:xfrm>
          <a:prstGeom prst="rect">
            <a:avLst/>
          </a:prstGeom>
          <a:noFill/>
          <a:ln>
            <a:noFill/>
          </a:ln>
        </p:spPr>
        <p:txBody>
          <a:bodyPr spcFirstLastPara="1" wrap="square" lIns="91425" tIns="91425" rIns="91425" bIns="91425" anchor="t" anchorCtr="0">
            <a:noAutofit/>
          </a:bodyPr>
          <a:lstStyle/>
          <a:p>
            <a:pPr marL="0" marR="139700" lvl="0" indent="0" algn="l" rtl="0">
              <a:lnSpc>
                <a:spcPct val="120000"/>
              </a:lnSpc>
              <a:spcBef>
                <a:spcPts val="0"/>
              </a:spcBef>
              <a:spcAft>
                <a:spcPts val="0"/>
              </a:spcAft>
              <a:buSzPts val="1800"/>
              <a:buNone/>
            </a:pPr>
            <a:r>
              <a:rPr lang="en" sz="1100">
                <a:solidFill>
                  <a:schemeClr val="dk1"/>
                </a:solidFill>
                <a:highlight>
                  <a:srgbClr val="FFFFFF"/>
                </a:highlight>
                <a:latin typeface="Courier New"/>
                <a:ea typeface="Courier New"/>
                <a:cs typeface="Courier New"/>
                <a:sym typeface="Courier New"/>
              </a:rPr>
              <a:t>Fragment fr;</a:t>
            </a:r>
            <a:endParaRPr sz="1400" b="1">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SzPts val="1800"/>
              <a:buNone/>
            </a:pPr>
            <a:r>
              <a:rPr lang="en" sz="1400" b="1">
                <a:solidFill>
                  <a:schemeClr val="dk1"/>
                </a:solidFill>
                <a:highlight>
                  <a:srgbClr val="FFFFFF"/>
                </a:highlight>
                <a:latin typeface="Courier New"/>
                <a:ea typeface="Courier New"/>
                <a:cs typeface="Courier New"/>
                <a:sym typeface="Courier New"/>
              </a:rPr>
              <a:t>if</a:t>
            </a:r>
            <a:r>
              <a:rPr lang="en" sz="1400">
                <a:solidFill>
                  <a:schemeClr val="dk1"/>
                </a:solidFill>
                <a:highlight>
                  <a:srgbClr val="FFFFFF"/>
                </a:highlight>
                <a:latin typeface="Courier New"/>
                <a:ea typeface="Courier New"/>
                <a:cs typeface="Courier New"/>
                <a:sym typeface="Courier New"/>
              </a:rPr>
              <a:t>(view == findViewById(R.id.button1)) {</a:t>
            </a:r>
            <a:endParaRPr sz="14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SzPts val="1800"/>
              <a:buNone/>
            </a:pPr>
            <a:r>
              <a:rPr lang="en" sz="1400">
                <a:solidFill>
                  <a:schemeClr val="dk1"/>
                </a:solidFill>
                <a:highlight>
                  <a:srgbClr val="FFFFFF"/>
                </a:highlight>
                <a:latin typeface="Courier New"/>
                <a:ea typeface="Courier New"/>
                <a:cs typeface="Courier New"/>
                <a:sym typeface="Courier New"/>
              </a:rPr>
              <a:t>            fr = </a:t>
            </a:r>
            <a:r>
              <a:rPr lang="en" sz="1400" b="1">
                <a:solidFill>
                  <a:schemeClr val="dk1"/>
                </a:solidFill>
                <a:highlight>
                  <a:srgbClr val="FFFFFF"/>
                </a:highlight>
                <a:latin typeface="Courier New"/>
                <a:ea typeface="Courier New"/>
                <a:cs typeface="Courier New"/>
                <a:sym typeface="Courier New"/>
              </a:rPr>
              <a:t>new</a:t>
            </a:r>
            <a:r>
              <a:rPr lang="en" sz="1400">
                <a:solidFill>
                  <a:schemeClr val="dk1"/>
                </a:solidFill>
                <a:highlight>
                  <a:srgbClr val="FFFFFF"/>
                </a:highlight>
                <a:latin typeface="Courier New"/>
                <a:ea typeface="Courier New"/>
                <a:cs typeface="Courier New"/>
                <a:sym typeface="Courier New"/>
              </a:rPr>
              <a:t> FragmentOne();</a:t>
            </a:r>
            <a:endParaRPr sz="14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SzPts val="1800"/>
              <a:buNone/>
            </a:pPr>
            <a:r>
              <a:rPr lang="en" sz="1400">
                <a:solidFill>
                  <a:schemeClr val="dk1"/>
                </a:solidFill>
                <a:highlight>
                  <a:srgbClr val="FFFFFF"/>
                </a:highlight>
                <a:latin typeface="Courier New"/>
                <a:ea typeface="Courier New"/>
                <a:cs typeface="Courier New"/>
                <a:sym typeface="Courier New"/>
              </a:rPr>
              <a:t>        }</a:t>
            </a:r>
            <a:endParaRPr sz="14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SzPts val="1800"/>
              <a:buNone/>
            </a:pPr>
            <a:r>
              <a:rPr lang="en" sz="1400">
                <a:solidFill>
                  <a:schemeClr val="dk1"/>
                </a:solidFill>
                <a:highlight>
                  <a:srgbClr val="FFFFFF"/>
                </a:highlight>
                <a:latin typeface="Courier New"/>
                <a:ea typeface="Courier New"/>
                <a:cs typeface="Courier New"/>
                <a:sym typeface="Courier New"/>
              </a:rPr>
              <a:t>        // displaying second fragment</a:t>
            </a:r>
            <a:endParaRPr sz="14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SzPts val="1800"/>
              <a:buNone/>
            </a:pPr>
            <a:r>
              <a:rPr lang="en" sz="1400">
                <a:solidFill>
                  <a:schemeClr val="dk1"/>
                </a:solidFill>
                <a:highlight>
                  <a:srgbClr val="FFFFFF"/>
                </a:highlight>
                <a:latin typeface="Courier New"/>
                <a:ea typeface="Courier New"/>
                <a:cs typeface="Courier New"/>
                <a:sym typeface="Courier New"/>
              </a:rPr>
              <a:t>        // if button2 is clicked</a:t>
            </a:r>
            <a:endParaRPr sz="14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SzPts val="1800"/>
              <a:buNone/>
            </a:pPr>
            <a:r>
              <a:rPr lang="en" sz="1400">
                <a:solidFill>
                  <a:schemeClr val="dk1"/>
                </a:solidFill>
                <a:highlight>
                  <a:srgbClr val="FFFFFF"/>
                </a:highlight>
                <a:latin typeface="Courier New"/>
                <a:ea typeface="Courier New"/>
                <a:cs typeface="Courier New"/>
                <a:sym typeface="Courier New"/>
              </a:rPr>
              <a:t>        </a:t>
            </a:r>
            <a:r>
              <a:rPr lang="en" sz="1400" b="1">
                <a:solidFill>
                  <a:schemeClr val="dk1"/>
                </a:solidFill>
                <a:highlight>
                  <a:srgbClr val="FFFFFF"/>
                </a:highlight>
                <a:latin typeface="Courier New"/>
                <a:ea typeface="Courier New"/>
                <a:cs typeface="Courier New"/>
                <a:sym typeface="Courier New"/>
              </a:rPr>
              <a:t>else</a:t>
            </a:r>
            <a:r>
              <a:rPr lang="en" sz="1400">
                <a:solidFill>
                  <a:schemeClr val="dk1"/>
                </a:solidFill>
                <a:highlight>
                  <a:srgbClr val="FFFFFF"/>
                </a:highlight>
                <a:latin typeface="Courier New"/>
                <a:ea typeface="Courier New"/>
                <a:cs typeface="Courier New"/>
                <a:sym typeface="Courier New"/>
              </a:rPr>
              <a:t> {</a:t>
            </a:r>
            <a:endParaRPr sz="14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SzPts val="1800"/>
              <a:buNone/>
            </a:pPr>
            <a:r>
              <a:rPr lang="en" sz="1400">
                <a:solidFill>
                  <a:schemeClr val="dk1"/>
                </a:solidFill>
                <a:highlight>
                  <a:srgbClr val="FFFFFF"/>
                </a:highlight>
                <a:latin typeface="Courier New"/>
                <a:ea typeface="Courier New"/>
                <a:cs typeface="Courier New"/>
                <a:sym typeface="Courier New"/>
              </a:rPr>
              <a:t>            fr = </a:t>
            </a:r>
            <a:r>
              <a:rPr lang="en" sz="1400" b="1">
                <a:solidFill>
                  <a:schemeClr val="dk1"/>
                </a:solidFill>
                <a:highlight>
                  <a:srgbClr val="FFFFFF"/>
                </a:highlight>
                <a:latin typeface="Courier New"/>
                <a:ea typeface="Courier New"/>
                <a:cs typeface="Courier New"/>
                <a:sym typeface="Courier New"/>
              </a:rPr>
              <a:t>new</a:t>
            </a:r>
            <a:r>
              <a:rPr lang="en" sz="1400">
                <a:solidFill>
                  <a:schemeClr val="dk1"/>
                </a:solidFill>
                <a:highlight>
                  <a:srgbClr val="FFFFFF"/>
                </a:highlight>
                <a:latin typeface="Courier New"/>
                <a:ea typeface="Courier New"/>
                <a:cs typeface="Courier New"/>
                <a:sym typeface="Courier New"/>
              </a:rPr>
              <a:t> FragmentTwo();</a:t>
            </a:r>
            <a:endParaRPr sz="14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SzPts val="1800"/>
              <a:buNone/>
            </a:pPr>
            <a:r>
              <a:rPr lang="en" sz="1400">
                <a:solidFill>
                  <a:schemeClr val="dk1"/>
                </a:solidFill>
                <a:highlight>
                  <a:srgbClr val="FFFFFF"/>
                </a:highlight>
                <a:latin typeface="Courier New"/>
                <a:ea typeface="Courier New"/>
                <a:cs typeface="Courier New"/>
                <a:sym typeface="Courier New"/>
              </a:rPr>
              <a:t>        }</a:t>
            </a:r>
            <a:endParaRPr sz="14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400">
                <a:solidFill>
                  <a:schemeClr val="dk1"/>
                </a:solidFill>
                <a:highlight>
                  <a:srgbClr val="FFFFFF"/>
                </a:highlight>
                <a:latin typeface="Courier New"/>
                <a:ea typeface="Courier New"/>
                <a:cs typeface="Courier New"/>
                <a:sym typeface="Courier New"/>
              </a:rPr>
              <a:t>FragmentManager fm = getFragmentManager();</a:t>
            </a:r>
            <a:endParaRPr sz="14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400">
                <a:solidFill>
                  <a:schemeClr val="dk1"/>
                </a:solidFill>
                <a:highlight>
                  <a:srgbClr val="FFFFFF"/>
                </a:highlight>
                <a:latin typeface="Courier New"/>
                <a:ea typeface="Courier New"/>
                <a:cs typeface="Courier New"/>
                <a:sym typeface="Courier New"/>
              </a:rPr>
              <a:t>        // fragment transaction to add or replace</a:t>
            </a:r>
            <a:endParaRPr sz="14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400">
                <a:solidFill>
                  <a:schemeClr val="dk1"/>
                </a:solidFill>
                <a:highlight>
                  <a:srgbClr val="FFFFFF"/>
                </a:highlight>
                <a:latin typeface="Courier New"/>
                <a:ea typeface="Courier New"/>
                <a:cs typeface="Courier New"/>
                <a:sym typeface="Courier New"/>
              </a:rPr>
              <a:t>        // fragments while activity is running</a:t>
            </a:r>
            <a:endParaRPr sz="14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400">
                <a:solidFill>
                  <a:schemeClr val="dk1"/>
                </a:solidFill>
                <a:highlight>
                  <a:srgbClr val="FFFFFF"/>
                </a:highlight>
                <a:latin typeface="Courier New"/>
                <a:ea typeface="Courier New"/>
                <a:cs typeface="Courier New"/>
                <a:sym typeface="Courier New"/>
              </a:rPr>
              <a:t>        FragmentTransaction fragmentTransaction = fm.beginTransaction();</a:t>
            </a:r>
            <a:endParaRPr sz="14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400">
                <a:solidFill>
                  <a:schemeClr val="dk1"/>
                </a:solidFill>
                <a:highlight>
                  <a:srgbClr val="FFFFFF"/>
                </a:highlight>
                <a:latin typeface="Courier New"/>
                <a:ea typeface="Courier New"/>
                <a:cs typeface="Courier New"/>
                <a:sym typeface="Courier New"/>
              </a:rPr>
              <a:t>        fragmentTransaction.replace(R.id.fragment_section, fr);</a:t>
            </a:r>
            <a:endParaRPr sz="14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400">
                <a:solidFill>
                  <a:schemeClr val="dk1"/>
                </a:solidFill>
                <a:highlight>
                  <a:srgbClr val="FFFFFF"/>
                </a:highlight>
                <a:latin typeface="Courier New"/>
                <a:ea typeface="Courier New"/>
                <a:cs typeface="Courier New"/>
                <a:sym typeface="Courier New"/>
              </a:rPr>
              <a:t> </a:t>
            </a:r>
            <a:endParaRPr sz="14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400">
                <a:solidFill>
                  <a:schemeClr val="dk1"/>
                </a:solidFill>
                <a:highlight>
                  <a:srgbClr val="FFFFFF"/>
                </a:highlight>
                <a:latin typeface="Courier New"/>
                <a:ea typeface="Courier New"/>
                <a:cs typeface="Courier New"/>
                <a:sym typeface="Courier New"/>
              </a:rPr>
              <a:t>        // making a commit after the transaction</a:t>
            </a:r>
            <a:endParaRPr sz="14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400">
                <a:solidFill>
                  <a:schemeClr val="dk1"/>
                </a:solidFill>
                <a:highlight>
                  <a:srgbClr val="FFFFFF"/>
                </a:highlight>
                <a:latin typeface="Courier New"/>
                <a:ea typeface="Courier New"/>
                <a:cs typeface="Courier New"/>
                <a:sym typeface="Courier New"/>
              </a:rPr>
              <a:t>        // to assure that the change is effective</a:t>
            </a:r>
            <a:endParaRPr sz="14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400">
                <a:solidFill>
                  <a:schemeClr val="dk1"/>
                </a:solidFill>
                <a:highlight>
                  <a:srgbClr val="FFFFFF"/>
                </a:highlight>
                <a:latin typeface="Courier New"/>
                <a:ea typeface="Courier New"/>
                <a:cs typeface="Courier New"/>
                <a:sym typeface="Courier New"/>
              </a:rPr>
              <a:t>        fragmentTransaction.commit();</a:t>
            </a:r>
            <a:endParaRPr sz="1400">
              <a:solidFill>
                <a:schemeClr val="dk1"/>
              </a:solidFill>
              <a:highlight>
                <a:srgbClr val="FFFFFF"/>
              </a:highlight>
              <a:latin typeface="Courier New"/>
              <a:ea typeface="Courier New"/>
              <a:cs typeface="Courier New"/>
              <a:sym typeface="Courier New"/>
            </a:endParaRPr>
          </a:p>
          <a:p>
            <a:pPr marL="0" lvl="0" indent="0" algn="l" rtl="0">
              <a:lnSpc>
                <a:spcPct val="115000"/>
              </a:lnSpc>
              <a:spcBef>
                <a:spcPts val="0"/>
              </a:spcBef>
              <a:spcAft>
                <a:spcPts val="1200"/>
              </a:spcAft>
              <a:buSzPts val="1800"/>
              <a:buNone/>
            </a:pPr>
            <a:endParaRPr sz="1400">
              <a:solidFill>
                <a:schemeClr val="dk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4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How to send data from Activity to Fragment</a:t>
            </a:r>
            <a:endParaRPr/>
          </a:p>
        </p:txBody>
      </p:sp>
      <p:sp>
        <p:nvSpPr>
          <p:cNvPr id="359" name="Google Shape;359;p4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0" marR="139700" lvl="0" indent="0" algn="l" rtl="0">
              <a:lnSpc>
                <a:spcPct val="120000"/>
              </a:lnSpc>
              <a:spcBef>
                <a:spcPts val="0"/>
              </a:spcBef>
              <a:spcAft>
                <a:spcPts val="0"/>
              </a:spcAft>
              <a:buSzPts val="1800"/>
              <a:buNone/>
            </a:pPr>
            <a:r>
              <a:rPr lang="en" sz="1200" b="1">
                <a:solidFill>
                  <a:schemeClr val="dk1"/>
                </a:solidFill>
                <a:highlight>
                  <a:srgbClr val="FFFFFF"/>
                </a:highlight>
              </a:rPr>
              <a:t>Sending data from MainActivity to fragment</a:t>
            </a:r>
            <a:endParaRPr sz="1200" b="1">
              <a:solidFill>
                <a:schemeClr val="dk1"/>
              </a:solidFill>
              <a:highlight>
                <a:srgbClr val="FFFFFF"/>
              </a:highlight>
            </a:endParaRPr>
          </a:p>
          <a:p>
            <a:pPr marL="0" marR="139700" lvl="0" indent="0" algn="l" rtl="0">
              <a:lnSpc>
                <a:spcPct val="120000"/>
              </a:lnSpc>
              <a:spcBef>
                <a:spcPts val="0"/>
              </a:spcBef>
              <a:spcAft>
                <a:spcPts val="0"/>
              </a:spcAft>
              <a:buClr>
                <a:schemeClr val="dk1"/>
              </a:buClr>
              <a:buSzPts val="1100"/>
              <a:buFont typeface="Arial"/>
              <a:buNone/>
            </a:pPr>
            <a:r>
              <a:rPr lang="en" sz="1200">
                <a:solidFill>
                  <a:schemeClr val="dk1"/>
                </a:solidFill>
                <a:highlight>
                  <a:srgbClr val="FFFFFF"/>
                </a:highlight>
              </a:rPr>
              <a:t>Bundle mBundle = </a:t>
            </a:r>
            <a:r>
              <a:rPr lang="en" sz="1200" b="1">
                <a:solidFill>
                  <a:schemeClr val="dk1"/>
                </a:solidFill>
                <a:highlight>
                  <a:srgbClr val="FFFFFF"/>
                </a:highlight>
              </a:rPr>
              <a:t>new</a:t>
            </a:r>
            <a:r>
              <a:rPr lang="en" sz="1200">
                <a:solidFill>
                  <a:schemeClr val="dk1"/>
                </a:solidFill>
                <a:highlight>
                  <a:srgbClr val="FFFFFF"/>
                </a:highlight>
              </a:rPr>
              <a:t> Bundle();</a:t>
            </a:r>
            <a:endParaRPr sz="1200">
              <a:solidFill>
                <a:schemeClr val="dk1"/>
              </a:solidFill>
              <a:highlight>
                <a:srgbClr val="FFFFFF"/>
              </a:highlight>
            </a:endParaRPr>
          </a:p>
          <a:p>
            <a:pPr marL="0" marR="139700" lvl="0" indent="0" algn="l" rtl="0">
              <a:lnSpc>
                <a:spcPct val="120000"/>
              </a:lnSpc>
              <a:spcBef>
                <a:spcPts val="0"/>
              </a:spcBef>
              <a:spcAft>
                <a:spcPts val="0"/>
              </a:spcAft>
              <a:buSzPts val="1800"/>
              <a:buNone/>
            </a:pPr>
            <a:r>
              <a:rPr lang="en" sz="1200">
                <a:solidFill>
                  <a:schemeClr val="dk1"/>
                </a:solidFill>
                <a:highlight>
                  <a:srgbClr val="FFFFFF"/>
                </a:highlight>
              </a:rPr>
              <a:t>mBundle.putString("mText",mEditText.getText().toString());</a:t>
            </a:r>
            <a:endParaRPr sz="1200">
              <a:solidFill>
                <a:schemeClr val="dk1"/>
              </a:solidFill>
              <a:highlight>
                <a:srgbClr val="FFFFFF"/>
              </a:highlight>
            </a:endParaRPr>
          </a:p>
          <a:p>
            <a:pPr marL="0" marR="139700" lvl="0" indent="0" algn="l" rtl="0">
              <a:lnSpc>
                <a:spcPct val="120000"/>
              </a:lnSpc>
              <a:spcBef>
                <a:spcPts val="0"/>
              </a:spcBef>
              <a:spcAft>
                <a:spcPts val="0"/>
              </a:spcAft>
              <a:buClr>
                <a:schemeClr val="dk1"/>
              </a:buClr>
              <a:buSzPts val="1100"/>
              <a:buFont typeface="Arial"/>
              <a:buNone/>
            </a:pPr>
            <a:r>
              <a:rPr lang="en" sz="1200">
                <a:solidFill>
                  <a:schemeClr val="dk1"/>
                </a:solidFill>
                <a:highlight>
                  <a:srgbClr val="FFFFFF"/>
                </a:highlight>
              </a:rPr>
              <a:t> mFragment.setArguments(mBundle);</a:t>
            </a:r>
            <a:endParaRPr sz="1200">
              <a:solidFill>
                <a:schemeClr val="dk1"/>
              </a:solidFill>
              <a:highlight>
                <a:srgbClr val="FFFFFF"/>
              </a:highlight>
            </a:endParaRPr>
          </a:p>
          <a:p>
            <a:pPr marL="0" marR="139700" lvl="0" indent="0" algn="l" rtl="0">
              <a:lnSpc>
                <a:spcPct val="120000"/>
              </a:lnSpc>
              <a:spcBef>
                <a:spcPts val="0"/>
              </a:spcBef>
              <a:spcAft>
                <a:spcPts val="0"/>
              </a:spcAft>
              <a:buClr>
                <a:schemeClr val="dk1"/>
              </a:buClr>
              <a:buSzPts val="1100"/>
              <a:buFont typeface="Arial"/>
              <a:buNone/>
            </a:pPr>
            <a:r>
              <a:rPr lang="en" sz="1200">
                <a:solidFill>
                  <a:schemeClr val="dk1"/>
                </a:solidFill>
                <a:highlight>
                  <a:srgbClr val="FFFFFF"/>
                </a:highlight>
              </a:rPr>
              <a:t> mFragmentTransaction.add(R.id.frameLayout, mFragment).commit();</a:t>
            </a:r>
            <a:endParaRPr sz="1200">
              <a:solidFill>
                <a:schemeClr val="dk1"/>
              </a:solidFill>
              <a:highlight>
                <a:srgbClr val="FFFFFF"/>
              </a:highlight>
            </a:endParaRPr>
          </a:p>
          <a:p>
            <a:pPr marL="0" lvl="0" indent="0" algn="l" rtl="0">
              <a:lnSpc>
                <a:spcPct val="115000"/>
              </a:lnSpc>
              <a:spcBef>
                <a:spcPts val="0"/>
              </a:spcBef>
              <a:spcAft>
                <a:spcPts val="0"/>
              </a:spcAft>
              <a:buSzPts val="1800"/>
              <a:buNone/>
            </a:pPr>
            <a:endParaRPr sz="1200">
              <a:solidFill>
                <a:schemeClr val="dk1"/>
              </a:solidFill>
            </a:endParaRPr>
          </a:p>
          <a:p>
            <a:pPr marL="0" lvl="0" indent="0" algn="l" rtl="0">
              <a:lnSpc>
                <a:spcPct val="115000"/>
              </a:lnSpc>
              <a:spcBef>
                <a:spcPts val="1200"/>
              </a:spcBef>
              <a:spcAft>
                <a:spcPts val="0"/>
              </a:spcAft>
              <a:buSzPts val="1800"/>
              <a:buNone/>
            </a:pPr>
            <a:r>
              <a:rPr lang="en" sz="1200" b="1">
                <a:solidFill>
                  <a:schemeClr val="dk1"/>
                </a:solidFill>
              </a:rPr>
              <a:t>Receiving data from MainActivity to fragment</a:t>
            </a:r>
            <a:endParaRPr sz="1200" b="1">
              <a:solidFill>
                <a:schemeClr val="dk1"/>
              </a:solidFill>
            </a:endParaRPr>
          </a:p>
          <a:p>
            <a:pPr marL="0" marR="139700" lvl="0" indent="0" algn="l" rtl="0">
              <a:lnSpc>
                <a:spcPct val="120000"/>
              </a:lnSpc>
              <a:spcBef>
                <a:spcPts val="1200"/>
              </a:spcBef>
              <a:spcAft>
                <a:spcPts val="0"/>
              </a:spcAft>
              <a:buClr>
                <a:schemeClr val="dk1"/>
              </a:buClr>
              <a:buSzPts val="1100"/>
              <a:buFont typeface="Arial"/>
              <a:buNone/>
            </a:pPr>
            <a:r>
              <a:rPr lang="en" sz="1200">
                <a:solidFill>
                  <a:schemeClr val="dk1"/>
                </a:solidFill>
                <a:highlight>
                  <a:srgbClr val="FFFFFF"/>
                </a:highlight>
              </a:rPr>
              <a:t> // Gets the data from the passed bundle</a:t>
            </a:r>
            <a:endParaRPr sz="1200">
              <a:solidFill>
                <a:schemeClr val="dk1"/>
              </a:solidFill>
              <a:highlight>
                <a:srgbClr val="FFFFFF"/>
              </a:highlight>
            </a:endParaRPr>
          </a:p>
          <a:p>
            <a:pPr marL="0" marR="139700" lvl="0" indent="0" algn="l" rtl="0">
              <a:lnSpc>
                <a:spcPct val="120000"/>
              </a:lnSpc>
              <a:spcBef>
                <a:spcPts val="0"/>
              </a:spcBef>
              <a:spcAft>
                <a:spcPts val="0"/>
              </a:spcAft>
              <a:buClr>
                <a:schemeClr val="dk1"/>
              </a:buClr>
              <a:buSzPts val="1100"/>
              <a:buFont typeface="Arial"/>
              <a:buNone/>
            </a:pPr>
            <a:r>
              <a:rPr lang="en" sz="1200">
                <a:solidFill>
                  <a:schemeClr val="dk1"/>
                </a:solidFill>
                <a:highlight>
                  <a:srgbClr val="FFFFFF"/>
                </a:highlight>
              </a:rPr>
              <a:t>        Bundle bundle = getArguments();</a:t>
            </a:r>
            <a:endParaRPr sz="1200">
              <a:solidFill>
                <a:schemeClr val="dk1"/>
              </a:solidFill>
              <a:highlight>
                <a:srgbClr val="FFFFFF"/>
              </a:highlight>
            </a:endParaRPr>
          </a:p>
          <a:p>
            <a:pPr marL="0" marR="139700" lvl="0" indent="0" algn="l" rtl="0">
              <a:lnSpc>
                <a:spcPct val="120000"/>
              </a:lnSpc>
              <a:spcBef>
                <a:spcPts val="0"/>
              </a:spcBef>
              <a:spcAft>
                <a:spcPts val="0"/>
              </a:spcAft>
              <a:buClr>
                <a:schemeClr val="dk1"/>
              </a:buClr>
              <a:buSzPts val="1100"/>
              <a:buFont typeface="Arial"/>
              <a:buNone/>
            </a:pPr>
            <a:r>
              <a:rPr lang="en" sz="1200">
                <a:solidFill>
                  <a:schemeClr val="dk1"/>
                </a:solidFill>
                <a:highlight>
                  <a:srgbClr val="FFFFFF"/>
                </a:highlight>
              </a:rPr>
              <a:t>        String message = bundle.getString("mText");</a:t>
            </a:r>
            <a:endParaRPr sz="1200">
              <a:solidFill>
                <a:schemeClr val="dk1"/>
              </a:solidFill>
              <a:highlight>
                <a:srgbClr val="FFFFFF"/>
              </a:highlight>
            </a:endParaRPr>
          </a:p>
          <a:p>
            <a:pPr marL="0" marR="139700" lvl="0" indent="0" algn="l" rtl="0">
              <a:lnSpc>
                <a:spcPct val="120000"/>
              </a:lnSpc>
              <a:spcBef>
                <a:spcPts val="0"/>
              </a:spcBef>
              <a:spcAft>
                <a:spcPts val="0"/>
              </a:spcAft>
              <a:buClr>
                <a:schemeClr val="dk1"/>
              </a:buClr>
              <a:buSzPts val="1100"/>
              <a:buFont typeface="Arial"/>
              <a:buNone/>
            </a:pPr>
            <a:r>
              <a:rPr lang="en" sz="1200">
                <a:solidFill>
                  <a:schemeClr val="dk1"/>
                </a:solidFill>
                <a:highlight>
                  <a:srgbClr val="FFFFFF"/>
                </a:highlight>
              </a:rPr>
              <a:t> </a:t>
            </a:r>
            <a:endParaRPr sz="1200">
              <a:solidFill>
                <a:schemeClr val="dk1"/>
              </a:solidFill>
              <a:highlight>
                <a:srgbClr val="FFFFFF"/>
              </a:highlight>
            </a:endParaRPr>
          </a:p>
          <a:p>
            <a:pPr marL="0" marR="139700" lvl="0" indent="0" algn="l" rtl="0">
              <a:lnSpc>
                <a:spcPct val="120000"/>
              </a:lnSpc>
              <a:spcBef>
                <a:spcPts val="0"/>
              </a:spcBef>
              <a:spcAft>
                <a:spcPts val="0"/>
              </a:spcAft>
              <a:buClr>
                <a:schemeClr val="dk1"/>
              </a:buClr>
              <a:buSzPts val="1100"/>
              <a:buFont typeface="Arial"/>
              <a:buNone/>
            </a:pPr>
            <a:r>
              <a:rPr lang="en" sz="1200">
                <a:solidFill>
                  <a:schemeClr val="dk1"/>
                </a:solidFill>
                <a:highlight>
                  <a:srgbClr val="FFFFFF"/>
                </a:highlight>
              </a:rPr>
              <a:t>        // Sets the derived data (type String) in the</a:t>
            </a:r>
            <a:endParaRPr sz="1200">
              <a:solidFill>
                <a:schemeClr val="dk1"/>
              </a:solidFill>
              <a:highlight>
                <a:srgbClr val="FFFFFF"/>
              </a:highlight>
            </a:endParaRPr>
          </a:p>
          <a:p>
            <a:pPr marL="0" marR="139700" lvl="0" indent="0" algn="l" rtl="0">
              <a:lnSpc>
                <a:spcPct val="120000"/>
              </a:lnSpc>
              <a:spcBef>
                <a:spcPts val="0"/>
              </a:spcBef>
              <a:spcAft>
                <a:spcPts val="0"/>
              </a:spcAft>
              <a:buClr>
                <a:schemeClr val="dk1"/>
              </a:buClr>
              <a:buSzPts val="1100"/>
              <a:buFont typeface="Arial"/>
              <a:buNone/>
            </a:pPr>
            <a:r>
              <a:rPr lang="en" sz="1200">
                <a:solidFill>
                  <a:schemeClr val="dk1"/>
                </a:solidFill>
                <a:highlight>
                  <a:srgbClr val="FFFFFF"/>
                </a:highlight>
              </a:rPr>
              <a:t>        // TextView</a:t>
            </a:r>
            <a:endParaRPr sz="1200">
              <a:solidFill>
                <a:schemeClr val="dk1"/>
              </a:solidFill>
              <a:highlight>
                <a:srgbClr val="FFFFFF"/>
              </a:highlight>
            </a:endParaRPr>
          </a:p>
          <a:p>
            <a:pPr marL="0" marR="139700" lvl="0" indent="0" algn="l" rtl="0">
              <a:lnSpc>
                <a:spcPct val="120000"/>
              </a:lnSpc>
              <a:spcBef>
                <a:spcPts val="0"/>
              </a:spcBef>
              <a:spcAft>
                <a:spcPts val="0"/>
              </a:spcAft>
              <a:buClr>
                <a:schemeClr val="dk1"/>
              </a:buClr>
              <a:buSzPts val="1100"/>
              <a:buFont typeface="Arial"/>
              <a:buNone/>
            </a:pPr>
            <a:r>
              <a:rPr lang="en" sz="1200">
                <a:solidFill>
                  <a:schemeClr val="dk1"/>
                </a:solidFill>
                <a:highlight>
                  <a:srgbClr val="FFFFFF"/>
                </a:highlight>
              </a:rPr>
              <a:t>        myTextView.setText(message);</a:t>
            </a:r>
            <a:endParaRPr sz="1200">
              <a:solidFill>
                <a:schemeClr val="dk1"/>
              </a:solidFill>
              <a:highlight>
                <a:srgbClr val="FFFFFF"/>
              </a:highlight>
            </a:endParaRPr>
          </a:p>
          <a:p>
            <a:pPr marL="0" lvl="0" indent="0" algn="l" rtl="0">
              <a:lnSpc>
                <a:spcPct val="115000"/>
              </a:lnSpc>
              <a:spcBef>
                <a:spcPts val="0"/>
              </a:spcBef>
              <a:spcAft>
                <a:spcPts val="1200"/>
              </a:spcAft>
              <a:buSzPts val="1800"/>
              <a:buNone/>
            </a:pPr>
            <a:endParaRPr sz="1200" b="1">
              <a:solidFill>
                <a:schemeClr val="dk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graphicFrame>
        <p:nvGraphicFramePr>
          <p:cNvPr id="364" name="Google Shape;364;p50"/>
          <p:cNvGraphicFramePr/>
          <p:nvPr/>
        </p:nvGraphicFramePr>
        <p:xfrm>
          <a:off x="152400" y="152400"/>
          <a:ext cx="9134475" cy="5210429"/>
        </p:xfrm>
        <a:graphic>
          <a:graphicData uri="http://schemas.openxmlformats.org/drawingml/2006/table">
            <a:tbl>
              <a:tblPr>
                <a:solidFill>
                  <a:srgbClr val="FFFFFF"/>
                </a:solidFill>
                <a:tableStyleId>{B2655A26-8906-463F-BED6-DC41EABA8058}</a:tableStyleId>
              </a:tblPr>
              <a:tblGrid>
                <a:gridCol w="4400550">
                  <a:extLst>
                    <a:ext uri="{9D8B030D-6E8A-4147-A177-3AD203B41FA5}">
                      <a16:colId xmlns:a16="http://schemas.microsoft.com/office/drawing/2014/main" val="20000"/>
                    </a:ext>
                  </a:extLst>
                </a:gridCol>
                <a:gridCol w="4733925">
                  <a:extLst>
                    <a:ext uri="{9D8B030D-6E8A-4147-A177-3AD203B41FA5}">
                      <a16:colId xmlns:a16="http://schemas.microsoft.com/office/drawing/2014/main" val="20001"/>
                    </a:ext>
                  </a:extLst>
                </a:gridCol>
              </a:tblGrid>
              <a:tr h="504825">
                <a:tc>
                  <a:txBody>
                    <a:bodyPr/>
                    <a:lstStyle/>
                    <a:p>
                      <a:pPr marL="0" marR="0" lvl="0" indent="0" algn="ctr" rtl="0">
                        <a:lnSpc>
                          <a:spcPct val="115000"/>
                        </a:lnSpc>
                        <a:spcBef>
                          <a:spcPts val="0"/>
                        </a:spcBef>
                        <a:spcAft>
                          <a:spcPts val="0"/>
                        </a:spcAft>
                        <a:buClr>
                          <a:srgbClr val="000000"/>
                        </a:buClr>
                        <a:buSzPts val="1400"/>
                        <a:buFont typeface="Arial"/>
                        <a:buNone/>
                      </a:pPr>
                      <a:r>
                        <a:rPr lang="en" sz="1400" b="1" u="none" strike="noStrike" cap="none">
                          <a:solidFill>
                            <a:srgbClr val="273239"/>
                          </a:solidFill>
                          <a:highlight>
                            <a:srgbClr val="FFFFFF"/>
                          </a:highlight>
                          <a:latin typeface="Nunito"/>
                          <a:ea typeface="Nunito"/>
                          <a:cs typeface="Nunito"/>
                          <a:sym typeface="Nunito"/>
                        </a:rPr>
                        <a:t>Activity</a:t>
                      </a:r>
                      <a:endParaRPr sz="1400" b="1" u="none" strike="noStrike" cap="none">
                        <a:solidFill>
                          <a:srgbClr val="273239"/>
                        </a:solidFill>
                        <a:highlight>
                          <a:srgbClr val="FFFFFF"/>
                        </a:highlight>
                        <a:latin typeface="Nunito"/>
                        <a:ea typeface="Nunito"/>
                        <a:cs typeface="Nunito"/>
                        <a:sym typeface="Nunito"/>
                      </a:endParaRPr>
                    </a:p>
                  </a:txBody>
                  <a:tcPr marL="38100" marR="38100" marT="95250" marB="952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 sz="1400" b="1" u="none" strike="noStrike" cap="none">
                          <a:solidFill>
                            <a:srgbClr val="273239"/>
                          </a:solidFill>
                          <a:highlight>
                            <a:srgbClr val="FFFFFF"/>
                          </a:highlight>
                          <a:latin typeface="Nunito"/>
                          <a:ea typeface="Nunito"/>
                          <a:cs typeface="Nunito"/>
                          <a:sym typeface="Nunito"/>
                        </a:rPr>
                        <a:t>Fragment</a:t>
                      </a:r>
                      <a:endParaRPr sz="1400" b="1" u="none" strike="noStrike" cap="none">
                        <a:solidFill>
                          <a:srgbClr val="273239"/>
                        </a:solidFill>
                        <a:highlight>
                          <a:srgbClr val="FFFFFF"/>
                        </a:highlight>
                        <a:latin typeface="Nunito"/>
                        <a:ea typeface="Nunito"/>
                        <a:cs typeface="Nunito"/>
                        <a:sym typeface="Nunito"/>
                      </a:endParaRPr>
                    </a:p>
                  </a:txBody>
                  <a:tcPr marL="95250" marR="95250" marT="95250" marB="952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0"/>
                  </a:ext>
                </a:extLst>
              </a:tr>
              <a:tr h="657225">
                <a:tc>
                  <a:txBody>
                    <a:bodyPr/>
                    <a:lstStyle/>
                    <a:p>
                      <a:pPr marL="0" marR="0" lvl="0" indent="0" algn="l" rtl="0">
                        <a:lnSpc>
                          <a:spcPct val="115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Activity is an application component that gives a user interface where the user can interact. </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The fragment is only part of an activity, it basically contributes its UI to that activity.</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1"/>
                  </a:ext>
                </a:extLst>
              </a:tr>
              <a:tr h="466725">
                <a:tc>
                  <a:txBody>
                    <a:bodyPr/>
                    <a:lstStyle/>
                    <a:p>
                      <a:pPr marL="0" marR="0" lvl="0" indent="0" algn="l" rtl="0">
                        <a:lnSpc>
                          <a:spcPct val="115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Activity is not dependent on fragment </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Fragment is dependent on activity. It can’t exist independently.</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2"/>
                  </a:ext>
                </a:extLst>
              </a:tr>
              <a:tr h="466725">
                <a:tc>
                  <a:txBody>
                    <a:bodyPr/>
                    <a:lstStyle/>
                    <a:p>
                      <a:pPr marL="0" marR="0" lvl="0" indent="0" algn="l" rtl="0">
                        <a:lnSpc>
                          <a:spcPct val="115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we need to mention all activity it in the manifest.xml file </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Fragment is not required to mention in  the manifest file</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3"/>
                  </a:ext>
                </a:extLst>
              </a:tr>
              <a:tr h="657225">
                <a:tc>
                  <a:txBody>
                    <a:bodyPr/>
                    <a:lstStyle/>
                    <a:p>
                      <a:pPr marL="0" marR="0" lvl="0" indent="0" algn="l" rtl="0">
                        <a:lnSpc>
                          <a:spcPct val="115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We can’t create multi-screen UI without using fragment in an activity,</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After using multiple fragments in a single activity, we can create a multi-screen UI.</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4"/>
                  </a:ext>
                </a:extLst>
              </a:tr>
              <a:tr h="466725">
                <a:tc>
                  <a:txBody>
                    <a:bodyPr/>
                    <a:lstStyle/>
                    <a:p>
                      <a:pPr marL="0" marR="0" lvl="0" indent="0" algn="l" rtl="0">
                        <a:lnSpc>
                          <a:spcPct val="115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Activity can exist without a Fragment  </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Fragment cannot be used without an Activity.</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5"/>
                  </a:ext>
                </a:extLst>
              </a:tr>
              <a:tr h="657225">
                <a:tc>
                  <a:txBody>
                    <a:bodyPr/>
                    <a:lstStyle/>
                    <a:p>
                      <a:pPr marL="0" marR="0" lvl="0" indent="0" algn="l" rtl="0">
                        <a:lnSpc>
                          <a:spcPct val="115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Creating a project using only Activity then it’s difficult to manage</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While Using fragments in the project, the project structure will be good and we can handle it easily.</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6"/>
                  </a:ext>
                </a:extLst>
              </a:tr>
              <a:tr h="657225">
                <a:tc>
                  <a:txBody>
                    <a:bodyPr/>
                    <a:lstStyle/>
                    <a:p>
                      <a:pPr marL="0" marR="0" lvl="0" indent="0" algn="l" rtl="0">
                        <a:lnSpc>
                          <a:spcPct val="115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Lifecycle methods are hosted by OS. The activity has its own life cycle.</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Lifecycle methods in fragments are hosted by hosting the activity.</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7"/>
                  </a:ext>
                </a:extLst>
              </a:tr>
              <a:tr h="466725">
                <a:tc>
                  <a:txBody>
                    <a:bodyPr/>
                    <a:lstStyle/>
                    <a:p>
                      <a:pPr marL="0" marR="0" lvl="0" indent="0" algn="l" rtl="0">
                        <a:lnSpc>
                          <a:spcPct val="115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Activity is not lite weight. </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The fragment is the lite weight.</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5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ArrayAdapter</a:t>
            </a:r>
            <a:endParaRPr/>
          </a:p>
        </p:txBody>
      </p:sp>
      <p:sp>
        <p:nvSpPr>
          <p:cNvPr id="370" name="Google Shape;370;p5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sz="1400">
                <a:solidFill>
                  <a:srgbClr val="273239"/>
                </a:solidFill>
                <a:highlight>
                  <a:srgbClr val="FFFFFF"/>
                </a:highlight>
              </a:rPr>
              <a:t>The Adapter acts as a bridge between the UI Component and the Data Source. It converts data from the data sources into view items that can be displayed into the UI Component. Data Source can be Arrays, HashMap, Database, etc. and UI Components can be ListView, GridView, Spinner, etc. </a:t>
            </a:r>
            <a:endParaRPr sz="1400">
              <a:solidFill>
                <a:srgbClr val="273239"/>
              </a:solidFill>
              <a:highlight>
                <a:srgbClr val="FFFFFF"/>
              </a:highlight>
            </a:endParaRPr>
          </a:p>
          <a:p>
            <a:pPr marL="0" lvl="0" indent="0" algn="l" rtl="0">
              <a:lnSpc>
                <a:spcPct val="115000"/>
              </a:lnSpc>
              <a:spcBef>
                <a:spcPts val="1200"/>
              </a:spcBef>
              <a:spcAft>
                <a:spcPts val="0"/>
              </a:spcAft>
              <a:buSzPts val="1800"/>
              <a:buNone/>
            </a:pPr>
            <a:r>
              <a:rPr lang="en" sz="1400" b="1">
                <a:solidFill>
                  <a:srgbClr val="273239"/>
                </a:solidFill>
                <a:highlight>
                  <a:srgbClr val="FFFFFF"/>
                </a:highlight>
              </a:rPr>
              <a:t>ArrayAdapter</a:t>
            </a:r>
            <a:r>
              <a:rPr lang="en" sz="1400">
                <a:solidFill>
                  <a:srgbClr val="273239"/>
                </a:solidFill>
                <a:highlight>
                  <a:srgbClr val="FFFFFF"/>
                </a:highlight>
              </a:rPr>
              <a:t> is the most commonly used adapter in android. When you have a list of single type items which are stored in an array you can use ArrayAdapter. Likewise, if you have a list of phone numbers, names, or cities. </a:t>
            </a:r>
            <a:endParaRPr sz="1400">
              <a:solidFill>
                <a:srgbClr val="273239"/>
              </a:solidFill>
              <a:highlight>
                <a:srgbClr val="FFFFFF"/>
              </a:highlight>
            </a:endParaRPr>
          </a:p>
          <a:p>
            <a:pPr marL="0" lvl="0" indent="0" algn="l" rtl="0">
              <a:lnSpc>
                <a:spcPct val="115000"/>
              </a:lnSpc>
              <a:spcBef>
                <a:spcPts val="1200"/>
              </a:spcBef>
              <a:spcAft>
                <a:spcPts val="0"/>
              </a:spcAft>
              <a:buSzPts val="1800"/>
              <a:buNone/>
            </a:pPr>
            <a:r>
              <a:rPr lang="en" sz="1400">
                <a:solidFill>
                  <a:srgbClr val="273239"/>
                </a:solidFill>
                <a:highlight>
                  <a:srgbClr val="FFFFFF"/>
                </a:highlight>
              </a:rPr>
              <a:t> ArrayAdapter has a layout with a single TextView.</a:t>
            </a:r>
            <a:endParaRPr sz="1400">
              <a:solidFill>
                <a:srgbClr val="273239"/>
              </a:solidFill>
              <a:highlight>
                <a:srgbClr val="FFFFFF"/>
              </a:highlight>
            </a:endParaRPr>
          </a:p>
          <a:p>
            <a:pPr marL="0" lvl="0" indent="0" algn="l" rtl="0">
              <a:lnSpc>
                <a:spcPct val="115000"/>
              </a:lnSpc>
              <a:spcBef>
                <a:spcPts val="1200"/>
              </a:spcBef>
              <a:spcAft>
                <a:spcPts val="0"/>
              </a:spcAft>
              <a:buSzPts val="1800"/>
              <a:buNone/>
            </a:pPr>
            <a:r>
              <a:rPr lang="en" sz="1400" b="1">
                <a:solidFill>
                  <a:srgbClr val="273239"/>
                </a:solidFill>
                <a:highlight>
                  <a:srgbClr val="FFFFFF"/>
                </a:highlight>
              </a:rPr>
              <a:t>The basic syntax for</a:t>
            </a:r>
            <a:r>
              <a:rPr lang="en" sz="1400">
                <a:solidFill>
                  <a:srgbClr val="273239"/>
                </a:solidFill>
                <a:highlight>
                  <a:srgbClr val="FFFFFF"/>
                </a:highlight>
              </a:rPr>
              <a:t> </a:t>
            </a:r>
            <a:r>
              <a:rPr lang="en" sz="1400" b="1">
                <a:solidFill>
                  <a:srgbClr val="273239"/>
                </a:solidFill>
                <a:highlight>
                  <a:srgbClr val="FFFFFF"/>
                </a:highlight>
              </a:rPr>
              <a:t>ArrayAdapter is given as:</a:t>
            </a:r>
            <a:endParaRPr sz="1400" b="1">
              <a:solidFill>
                <a:srgbClr val="273239"/>
              </a:solidFill>
              <a:highlight>
                <a:srgbClr val="FFFFFF"/>
              </a:highlight>
            </a:endParaRPr>
          </a:p>
          <a:p>
            <a:pPr marL="228600" marR="228600" lvl="0" indent="0" algn="l" rtl="0">
              <a:lnSpc>
                <a:spcPct val="115000"/>
              </a:lnSpc>
              <a:spcBef>
                <a:spcPts val="1200"/>
              </a:spcBef>
              <a:spcAft>
                <a:spcPts val="0"/>
              </a:spcAft>
              <a:buClr>
                <a:schemeClr val="dk1"/>
              </a:buClr>
              <a:buSzPts val="1100"/>
              <a:buFont typeface="Arial"/>
              <a:buNone/>
            </a:pPr>
            <a:r>
              <a:rPr lang="en" sz="1400">
                <a:solidFill>
                  <a:srgbClr val="273239"/>
                </a:solidFill>
              </a:rPr>
              <a:t>public ArrayAdapter(Context context, int resource, int textViewResourceId, T[] objects)</a:t>
            </a:r>
            <a:endParaRPr sz="1400">
              <a:solidFill>
                <a:srgbClr val="273239"/>
              </a:solidFill>
            </a:endParaRPr>
          </a:p>
          <a:p>
            <a:pPr marL="0" lvl="0" indent="0" algn="l" rtl="0">
              <a:lnSpc>
                <a:spcPct val="115000"/>
              </a:lnSpc>
              <a:spcBef>
                <a:spcPts val="2600"/>
              </a:spcBef>
              <a:spcAft>
                <a:spcPts val="1200"/>
              </a:spcAft>
              <a:buSzPts val="1800"/>
              <a:buNone/>
            </a:pPr>
            <a:endParaRPr sz="1400">
              <a:solidFill>
                <a:srgbClr val="273239"/>
              </a:solidFill>
              <a:highlight>
                <a:srgbClr val="FFFFFF"/>
              </a:highligh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52"/>
          <p:cNvSpPr txBox="1">
            <a:spLocks noGrp="1"/>
          </p:cNvSpPr>
          <p:nvPr>
            <p:ph type="body" idx="1"/>
          </p:nvPr>
        </p:nvSpPr>
        <p:spPr>
          <a:xfrm>
            <a:off x="311700" y="398625"/>
            <a:ext cx="8520600" cy="41703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sz="1400" b="1">
                <a:solidFill>
                  <a:srgbClr val="273239"/>
                </a:solidFill>
                <a:highlight>
                  <a:srgbClr val="FFFFFF"/>
                </a:highlight>
              </a:rPr>
              <a:t>context</a:t>
            </a:r>
            <a:endParaRPr sz="1400" b="1">
              <a:solidFill>
                <a:srgbClr val="273239"/>
              </a:solidFill>
              <a:highlight>
                <a:srgbClr val="FFFFFF"/>
              </a:highlight>
            </a:endParaRPr>
          </a:p>
          <a:p>
            <a:pPr marL="0" lvl="0" indent="0" algn="l" rtl="0">
              <a:lnSpc>
                <a:spcPct val="115000"/>
              </a:lnSpc>
              <a:spcBef>
                <a:spcPts val="0"/>
              </a:spcBef>
              <a:spcAft>
                <a:spcPts val="0"/>
              </a:spcAft>
              <a:buSzPts val="1800"/>
              <a:buNone/>
            </a:pPr>
            <a:r>
              <a:rPr lang="en" sz="1400">
                <a:solidFill>
                  <a:srgbClr val="273239"/>
                </a:solidFill>
                <a:highlight>
                  <a:srgbClr val="FFFFFF"/>
                </a:highlight>
              </a:rPr>
              <a:t>The current context. This value can not be null.</a:t>
            </a:r>
            <a:endParaRPr sz="1400">
              <a:solidFill>
                <a:srgbClr val="273239"/>
              </a:solidFill>
              <a:highlight>
                <a:srgbClr val="FFFFFF"/>
              </a:highlight>
            </a:endParaRPr>
          </a:p>
          <a:p>
            <a:pPr marL="0" lvl="0" indent="0" algn="l" rtl="0">
              <a:lnSpc>
                <a:spcPct val="115000"/>
              </a:lnSpc>
              <a:spcBef>
                <a:spcPts val="0"/>
              </a:spcBef>
              <a:spcAft>
                <a:spcPts val="0"/>
              </a:spcAft>
              <a:buSzPts val="1800"/>
              <a:buNone/>
            </a:pPr>
            <a:r>
              <a:rPr lang="en" sz="1400" b="1">
                <a:solidFill>
                  <a:srgbClr val="273239"/>
                </a:solidFill>
                <a:highlight>
                  <a:srgbClr val="FFFFFF"/>
                </a:highlight>
              </a:rPr>
              <a:t>resource</a:t>
            </a:r>
            <a:endParaRPr sz="1400" b="1">
              <a:solidFill>
                <a:srgbClr val="273239"/>
              </a:solidFill>
              <a:highlight>
                <a:srgbClr val="FFFFFF"/>
              </a:highlight>
            </a:endParaRPr>
          </a:p>
          <a:p>
            <a:pPr marL="0" lvl="0" indent="0" algn="l" rtl="0">
              <a:lnSpc>
                <a:spcPct val="115000"/>
              </a:lnSpc>
              <a:spcBef>
                <a:spcPts val="0"/>
              </a:spcBef>
              <a:spcAft>
                <a:spcPts val="0"/>
              </a:spcAft>
              <a:buSzPts val="1800"/>
              <a:buNone/>
            </a:pPr>
            <a:r>
              <a:rPr lang="en" sz="1400">
                <a:solidFill>
                  <a:srgbClr val="273239"/>
                </a:solidFill>
                <a:highlight>
                  <a:srgbClr val="FFFFFF"/>
                </a:highlight>
              </a:rPr>
              <a:t>The resource ID for the layout file containing a layout to use when instantiating views.</a:t>
            </a:r>
            <a:endParaRPr sz="1400">
              <a:solidFill>
                <a:srgbClr val="273239"/>
              </a:solidFill>
              <a:highlight>
                <a:srgbClr val="FFFFFF"/>
              </a:highlight>
            </a:endParaRPr>
          </a:p>
          <a:p>
            <a:pPr marL="0" lvl="0" indent="0" algn="l" rtl="0">
              <a:lnSpc>
                <a:spcPct val="115000"/>
              </a:lnSpc>
              <a:spcBef>
                <a:spcPts val="0"/>
              </a:spcBef>
              <a:spcAft>
                <a:spcPts val="0"/>
              </a:spcAft>
              <a:buSzPts val="1800"/>
              <a:buNone/>
            </a:pPr>
            <a:r>
              <a:rPr lang="en" sz="1400" b="1">
                <a:solidFill>
                  <a:srgbClr val="273239"/>
                </a:solidFill>
                <a:highlight>
                  <a:srgbClr val="FFFFFF"/>
                </a:highlight>
              </a:rPr>
              <a:t>textViewResourceId</a:t>
            </a:r>
            <a:endParaRPr sz="1400" b="1">
              <a:solidFill>
                <a:srgbClr val="273239"/>
              </a:solidFill>
              <a:highlight>
                <a:srgbClr val="FFFFFF"/>
              </a:highlight>
            </a:endParaRPr>
          </a:p>
          <a:p>
            <a:pPr marL="0" lvl="0" indent="0" algn="l" rtl="0">
              <a:lnSpc>
                <a:spcPct val="115000"/>
              </a:lnSpc>
              <a:spcBef>
                <a:spcPts val="0"/>
              </a:spcBef>
              <a:spcAft>
                <a:spcPts val="0"/>
              </a:spcAft>
              <a:buSzPts val="1800"/>
              <a:buNone/>
            </a:pPr>
            <a:r>
              <a:rPr lang="en" sz="1400">
                <a:solidFill>
                  <a:srgbClr val="273239"/>
                </a:solidFill>
                <a:highlight>
                  <a:srgbClr val="FFFFFF"/>
                </a:highlight>
              </a:rPr>
              <a:t>The id of the TextView within the layout resource to be populated.</a:t>
            </a:r>
            <a:endParaRPr sz="1400">
              <a:solidFill>
                <a:srgbClr val="273239"/>
              </a:solidFill>
              <a:highlight>
                <a:srgbClr val="FFFFFF"/>
              </a:highlight>
            </a:endParaRPr>
          </a:p>
          <a:p>
            <a:pPr marL="0" lvl="0" indent="0" algn="l" rtl="0">
              <a:lnSpc>
                <a:spcPct val="115000"/>
              </a:lnSpc>
              <a:spcBef>
                <a:spcPts val="0"/>
              </a:spcBef>
              <a:spcAft>
                <a:spcPts val="0"/>
              </a:spcAft>
              <a:buSzPts val="1800"/>
              <a:buNone/>
            </a:pPr>
            <a:r>
              <a:rPr lang="en" sz="1400" b="1">
                <a:solidFill>
                  <a:srgbClr val="273239"/>
                </a:solidFill>
                <a:highlight>
                  <a:srgbClr val="FFFFFF"/>
                </a:highlight>
              </a:rPr>
              <a:t>objects</a:t>
            </a:r>
            <a:endParaRPr sz="1400" b="1">
              <a:solidFill>
                <a:srgbClr val="273239"/>
              </a:solidFill>
              <a:highlight>
                <a:srgbClr val="FFFFFF"/>
              </a:highlight>
            </a:endParaRPr>
          </a:p>
          <a:p>
            <a:pPr marL="0" lvl="0" indent="0" algn="l" rtl="0">
              <a:lnSpc>
                <a:spcPct val="115000"/>
              </a:lnSpc>
              <a:spcBef>
                <a:spcPts val="0"/>
              </a:spcBef>
              <a:spcAft>
                <a:spcPts val="0"/>
              </a:spcAft>
              <a:buSzPts val="1800"/>
              <a:buNone/>
            </a:pPr>
            <a:r>
              <a:rPr lang="en" sz="1400">
                <a:solidFill>
                  <a:srgbClr val="273239"/>
                </a:solidFill>
                <a:highlight>
                  <a:srgbClr val="FFFFFF"/>
                </a:highlight>
              </a:rPr>
              <a:t>The objects to represent in the ListView. This value cannot be null.</a:t>
            </a:r>
            <a:endParaRPr sz="1400">
              <a:solidFill>
                <a:srgbClr val="273239"/>
              </a:solidFill>
              <a:highlight>
                <a:srgbClr val="FFFFFF"/>
              </a:highlight>
            </a:endParaRPr>
          </a:p>
          <a:p>
            <a:pPr marL="0" lvl="0" indent="0" algn="l" rtl="0">
              <a:lnSpc>
                <a:spcPct val="115000"/>
              </a:lnSpc>
              <a:spcBef>
                <a:spcPts val="0"/>
              </a:spcBef>
              <a:spcAft>
                <a:spcPts val="0"/>
              </a:spcAft>
              <a:buSzPts val="1800"/>
              <a:buNone/>
            </a:pPr>
            <a:endParaRPr sz="1400"/>
          </a:p>
          <a:p>
            <a:pPr marL="0" lvl="0" indent="0" algn="l" rtl="0">
              <a:lnSpc>
                <a:spcPct val="115000"/>
              </a:lnSpc>
              <a:spcBef>
                <a:spcPts val="1200"/>
              </a:spcBef>
              <a:spcAft>
                <a:spcPts val="0"/>
              </a:spcAft>
              <a:buClr>
                <a:schemeClr val="dk1"/>
              </a:buClr>
              <a:buSzPts val="1100"/>
              <a:buFont typeface="Arial"/>
              <a:buNone/>
            </a:pPr>
            <a:r>
              <a:rPr lang="en" sz="1400">
                <a:solidFill>
                  <a:srgbClr val="273239"/>
                </a:solidFill>
              </a:rPr>
              <a:t>String courseList[] = {“C-Programming”, “Data Structure”, “Database”, “Python”,</a:t>
            </a:r>
            <a:endParaRPr sz="1400">
              <a:solidFill>
                <a:srgbClr val="273239"/>
              </a:solidFill>
            </a:endParaRPr>
          </a:p>
          <a:p>
            <a:pPr marL="0" lvl="0" indent="0" algn="l" rtl="0">
              <a:lnSpc>
                <a:spcPct val="115000"/>
              </a:lnSpc>
              <a:spcBef>
                <a:spcPts val="800"/>
              </a:spcBef>
              <a:spcAft>
                <a:spcPts val="0"/>
              </a:spcAft>
              <a:buClr>
                <a:schemeClr val="dk1"/>
              </a:buClr>
              <a:buSzPts val="1100"/>
              <a:buFont typeface="Arial"/>
              <a:buNone/>
            </a:pPr>
            <a:r>
              <a:rPr lang="en" sz="1400">
                <a:solidFill>
                  <a:srgbClr val="273239"/>
                </a:solidFill>
              </a:rPr>
              <a:t>                      “Java”, “Operating System”,”Compiler Design”, “Android Development”};</a:t>
            </a:r>
            <a:endParaRPr sz="1400">
              <a:solidFill>
                <a:srgbClr val="273239"/>
              </a:solidFill>
            </a:endParaRPr>
          </a:p>
          <a:p>
            <a:pPr marL="0" lvl="0" indent="0" algn="l" rtl="0">
              <a:lnSpc>
                <a:spcPct val="115000"/>
              </a:lnSpc>
              <a:spcBef>
                <a:spcPts val="800"/>
              </a:spcBef>
              <a:spcAft>
                <a:spcPts val="0"/>
              </a:spcAft>
              <a:buClr>
                <a:schemeClr val="dk1"/>
              </a:buClr>
              <a:buSzPts val="1100"/>
              <a:buFont typeface="Arial"/>
              <a:buNone/>
            </a:pPr>
            <a:r>
              <a:rPr lang="en" sz="1400">
                <a:solidFill>
                  <a:srgbClr val="273239"/>
                </a:solidFill>
              </a:rPr>
              <a:t>ArrayAdapter arrayAdapter = new ArrayAdapter(this, R.layout.itemListView, R.id.itemTextView, courseList[]);</a:t>
            </a:r>
            <a:endParaRPr sz="1400">
              <a:solidFill>
                <a:srgbClr val="273239"/>
              </a:solidFill>
            </a:endParaRPr>
          </a:p>
          <a:p>
            <a:pPr marL="0" lvl="0" indent="0" algn="l" rtl="0">
              <a:lnSpc>
                <a:spcPct val="115000"/>
              </a:lnSpc>
              <a:spcBef>
                <a:spcPts val="800"/>
              </a:spcBef>
              <a:spcAft>
                <a:spcPts val="1200"/>
              </a:spcAft>
              <a:buSzPts val="1800"/>
              <a:buNone/>
            </a:pPr>
            <a:endParaRPr sz="14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5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SimpleAdapter</a:t>
            </a:r>
            <a:endParaRPr/>
          </a:p>
        </p:txBody>
      </p:sp>
      <p:sp>
        <p:nvSpPr>
          <p:cNvPr id="381" name="Google Shape;381;p5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sz="1400">
                <a:solidFill>
                  <a:srgbClr val="273239"/>
                </a:solidFill>
                <a:highlight>
                  <a:srgbClr val="FFFFFF"/>
                </a:highlight>
              </a:rPr>
              <a:t>In Android, whenever we want to bind some data which we get from any data source (e.g. ArrayList, HashMap, SQLite, etc.) with a UI component(e.g. ListView, GridView, etc.) then </a:t>
            </a:r>
            <a:r>
              <a:rPr lang="en" sz="1400" b="1">
                <a:solidFill>
                  <a:srgbClr val="273239"/>
                </a:solidFill>
                <a:highlight>
                  <a:srgbClr val="FFFFFF"/>
                </a:highlight>
              </a:rPr>
              <a:t>Adapter</a:t>
            </a:r>
            <a:r>
              <a:rPr lang="en" sz="1400">
                <a:solidFill>
                  <a:srgbClr val="273239"/>
                </a:solidFill>
                <a:highlight>
                  <a:srgbClr val="FFFFFF"/>
                </a:highlight>
              </a:rPr>
              <a:t> comes into the picture. </a:t>
            </a:r>
            <a:endParaRPr sz="1400">
              <a:solidFill>
                <a:srgbClr val="273239"/>
              </a:solidFill>
              <a:highlight>
                <a:srgbClr val="FFFFFF"/>
              </a:highlight>
            </a:endParaRPr>
          </a:p>
          <a:p>
            <a:pPr marL="0" lvl="0" indent="0" algn="l" rtl="0">
              <a:lnSpc>
                <a:spcPct val="115000"/>
              </a:lnSpc>
              <a:spcBef>
                <a:spcPts val="1200"/>
              </a:spcBef>
              <a:spcAft>
                <a:spcPts val="0"/>
              </a:spcAft>
              <a:buSzPts val="1800"/>
              <a:buNone/>
            </a:pPr>
            <a:r>
              <a:rPr lang="en" sz="1400">
                <a:solidFill>
                  <a:srgbClr val="273239"/>
                </a:solidFill>
                <a:highlight>
                  <a:srgbClr val="FFFFFF"/>
                </a:highlight>
              </a:rPr>
              <a:t>Basically </a:t>
            </a:r>
            <a:r>
              <a:rPr lang="en" sz="1400" b="1">
                <a:solidFill>
                  <a:srgbClr val="273239"/>
                </a:solidFill>
                <a:highlight>
                  <a:srgbClr val="FFFFFF"/>
                </a:highlight>
              </a:rPr>
              <a:t>Adapter</a:t>
            </a:r>
            <a:r>
              <a:rPr lang="en" sz="1400">
                <a:solidFill>
                  <a:srgbClr val="273239"/>
                </a:solidFill>
                <a:highlight>
                  <a:srgbClr val="FFFFFF"/>
                </a:highlight>
              </a:rPr>
              <a:t> acts as a bridge between the UI component and data sources.</a:t>
            </a:r>
            <a:endParaRPr sz="1400">
              <a:solidFill>
                <a:srgbClr val="273239"/>
              </a:solidFill>
              <a:highlight>
                <a:srgbClr val="FFFFFF"/>
              </a:highlight>
            </a:endParaRPr>
          </a:p>
          <a:p>
            <a:pPr marL="0" lvl="0" indent="0" algn="l" rtl="0">
              <a:lnSpc>
                <a:spcPct val="115000"/>
              </a:lnSpc>
              <a:spcBef>
                <a:spcPts val="1200"/>
              </a:spcBef>
              <a:spcAft>
                <a:spcPts val="0"/>
              </a:spcAft>
              <a:buSzPts val="1800"/>
              <a:buNone/>
            </a:pPr>
            <a:r>
              <a:rPr lang="en" sz="1400">
                <a:solidFill>
                  <a:srgbClr val="273239"/>
                </a:solidFill>
                <a:highlight>
                  <a:srgbClr val="FFFFFF"/>
                </a:highlight>
              </a:rPr>
              <a:t> Here </a:t>
            </a:r>
            <a:r>
              <a:rPr lang="en" sz="1400" b="1">
                <a:solidFill>
                  <a:srgbClr val="273239"/>
                </a:solidFill>
                <a:highlight>
                  <a:srgbClr val="FFFFFF"/>
                </a:highlight>
              </a:rPr>
              <a:t>Simple Adapter</a:t>
            </a:r>
            <a:r>
              <a:rPr lang="en" sz="1400">
                <a:solidFill>
                  <a:srgbClr val="273239"/>
                </a:solidFill>
                <a:highlight>
                  <a:srgbClr val="FFFFFF"/>
                </a:highlight>
              </a:rPr>
              <a:t> is one type of </a:t>
            </a:r>
            <a:r>
              <a:rPr lang="en" sz="1400" b="1">
                <a:solidFill>
                  <a:srgbClr val="273239"/>
                </a:solidFill>
                <a:highlight>
                  <a:srgbClr val="FFFFFF"/>
                </a:highlight>
              </a:rPr>
              <a:t>Adapter</a:t>
            </a:r>
            <a:r>
              <a:rPr lang="en" sz="1400">
                <a:solidFill>
                  <a:srgbClr val="273239"/>
                </a:solidFill>
                <a:highlight>
                  <a:srgbClr val="FFFFFF"/>
                </a:highlight>
              </a:rPr>
              <a:t>. It is basically an easy adapter to map static data to views defined in our XML file(UI component) and is used for customization of List or Grid items. </a:t>
            </a:r>
            <a:endParaRPr sz="1400">
              <a:solidFill>
                <a:srgbClr val="273239"/>
              </a:solidFill>
              <a:highlight>
                <a:srgbClr val="FFFFFF"/>
              </a:highlight>
            </a:endParaRPr>
          </a:p>
          <a:p>
            <a:pPr marL="0" lvl="0" indent="0" algn="l" rtl="0">
              <a:lnSpc>
                <a:spcPct val="115000"/>
              </a:lnSpc>
              <a:spcBef>
                <a:spcPts val="1200"/>
              </a:spcBef>
              <a:spcAft>
                <a:spcPts val="1200"/>
              </a:spcAft>
              <a:buSzPts val="1800"/>
              <a:buNone/>
            </a:pPr>
            <a:r>
              <a:rPr lang="en" sz="1400">
                <a:solidFill>
                  <a:srgbClr val="273239"/>
                </a:solidFill>
                <a:highlight>
                  <a:srgbClr val="FFFFFF"/>
                </a:highlight>
              </a:rPr>
              <a:t>Here we use an ArrayList of Map (e.g. hashmap, mutable map, etc.) for data-backing. Each entry in an ArrayList is corresponding to one row of a list. The Map contains the data for each row. Now to display the row we need a view for which we used to specify a custom list item file (an XML file).</a:t>
            </a:r>
            <a:endParaRPr sz="14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4"/>
          <p:cNvSpPr txBox="1">
            <a:spLocks noGrp="1"/>
          </p:cNvSpPr>
          <p:nvPr>
            <p:ph type="body" idx="1"/>
          </p:nvPr>
        </p:nvSpPr>
        <p:spPr>
          <a:xfrm>
            <a:off x="311700" y="257175"/>
            <a:ext cx="8520600" cy="4311600"/>
          </a:xfrm>
          <a:prstGeom prst="rect">
            <a:avLst/>
          </a:prstGeom>
          <a:noFill/>
          <a:ln>
            <a:noFill/>
          </a:ln>
        </p:spPr>
        <p:txBody>
          <a:bodyPr spcFirstLastPara="1" wrap="square" lIns="91425" tIns="91425" rIns="91425" bIns="91425" anchor="t" anchorCtr="0">
            <a:normAutofit lnSpcReduction="20000"/>
          </a:bodyPr>
          <a:lstStyle/>
          <a:p>
            <a:pPr marL="0" lvl="0" indent="0" algn="l" rtl="0">
              <a:lnSpc>
                <a:spcPct val="115000"/>
              </a:lnSpc>
              <a:spcBef>
                <a:spcPts val="0"/>
              </a:spcBef>
              <a:spcAft>
                <a:spcPts val="0"/>
              </a:spcAft>
              <a:buSzPts val="1800"/>
              <a:buNone/>
            </a:pPr>
            <a:r>
              <a:rPr lang="en" sz="1300" b="1">
                <a:solidFill>
                  <a:srgbClr val="273239"/>
                </a:solidFill>
                <a:highlight>
                  <a:srgbClr val="F9F9F9"/>
                </a:highlight>
                <a:latin typeface="Nunito"/>
                <a:ea typeface="Nunito"/>
                <a:cs typeface="Nunito"/>
                <a:sym typeface="Nunito"/>
              </a:rPr>
              <a:t>Basic syntax of simpleAdapter:</a:t>
            </a:r>
            <a:endParaRPr sz="1300" b="1">
              <a:solidFill>
                <a:srgbClr val="273239"/>
              </a:solidFill>
              <a:highlight>
                <a:srgbClr val="F9F9F9"/>
              </a:highlight>
              <a:latin typeface="Nunito"/>
              <a:ea typeface="Nunito"/>
              <a:cs typeface="Nunito"/>
              <a:sym typeface="Nunito"/>
            </a:endParaRPr>
          </a:p>
          <a:p>
            <a:pPr marL="0" lvl="0" indent="0" algn="l" rtl="0">
              <a:lnSpc>
                <a:spcPct val="115000"/>
              </a:lnSpc>
              <a:spcBef>
                <a:spcPts val="1200"/>
              </a:spcBef>
              <a:spcAft>
                <a:spcPts val="0"/>
              </a:spcAft>
              <a:buSzPts val="1800"/>
              <a:buNone/>
            </a:pPr>
            <a:r>
              <a:rPr lang="en" sz="1300" b="1" i="1">
                <a:solidFill>
                  <a:srgbClr val="273239"/>
                </a:solidFill>
                <a:highlight>
                  <a:srgbClr val="F9F9F9"/>
                </a:highlight>
                <a:latin typeface="Nunito"/>
                <a:ea typeface="Nunito"/>
                <a:cs typeface="Nunito"/>
                <a:sym typeface="Nunito"/>
              </a:rPr>
              <a:t>SimpleAdapter</a:t>
            </a:r>
            <a:r>
              <a:rPr lang="en" sz="1300" i="1">
                <a:solidFill>
                  <a:srgbClr val="273239"/>
                </a:solidFill>
                <a:highlight>
                  <a:srgbClr val="F9F9F9"/>
                </a:highlight>
                <a:latin typeface="Nunito"/>
                <a:ea typeface="Nunito"/>
                <a:cs typeface="Nunito"/>
                <a:sym typeface="Nunito"/>
              </a:rPr>
              <a:t>(</a:t>
            </a:r>
            <a:r>
              <a:rPr lang="en" sz="1300" b="1" i="1">
                <a:solidFill>
                  <a:srgbClr val="273239"/>
                </a:solidFill>
                <a:highlight>
                  <a:srgbClr val="F9F9F9"/>
                </a:highlight>
                <a:latin typeface="Nunito"/>
                <a:ea typeface="Nunito"/>
                <a:cs typeface="Nunito"/>
                <a:sym typeface="Nunito"/>
              </a:rPr>
              <a:t>Context</a:t>
            </a:r>
            <a:r>
              <a:rPr lang="en" sz="1300" i="1">
                <a:solidFill>
                  <a:srgbClr val="273239"/>
                </a:solidFill>
                <a:highlight>
                  <a:srgbClr val="F9F9F9"/>
                </a:highlight>
                <a:latin typeface="Nunito"/>
                <a:ea typeface="Nunito"/>
                <a:cs typeface="Nunito"/>
                <a:sym typeface="Nunito"/>
              </a:rPr>
              <a:t> context, </a:t>
            </a:r>
            <a:r>
              <a:rPr lang="en" sz="1300" b="1" i="1">
                <a:solidFill>
                  <a:srgbClr val="273239"/>
                </a:solidFill>
                <a:highlight>
                  <a:srgbClr val="F9F9F9"/>
                </a:highlight>
                <a:latin typeface="Nunito"/>
                <a:ea typeface="Nunito"/>
                <a:cs typeface="Nunito"/>
                <a:sym typeface="Nunito"/>
              </a:rPr>
              <a:t>List</a:t>
            </a:r>
            <a:r>
              <a:rPr lang="en" sz="1300" i="1">
                <a:solidFill>
                  <a:srgbClr val="273239"/>
                </a:solidFill>
                <a:highlight>
                  <a:srgbClr val="F9F9F9"/>
                </a:highlight>
                <a:latin typeface="Nunito"/>
                <a:ea typeface="Nunito"/>
                <a:cs typeface="Nunito"/>
                <a:sym typeface="Nunito"/>
              </a:rPr>
              <a:t>&lt;? extends </a:t>
            </a:r>
            <a:r>
              <a:rPr lang="en" sz="1300" b="1" i="1">
                <a:solidFill>
                  <a:srgbClr val="273239"/>
                </a:solidFill>
                <a:highlight>
                  <a:srgbClr val="F9F9F9"/>
                </a:highlight>
                <a:latin typeface="Nunito"/>
                <a:ea typeface="Nunito"/>
                <a:cs typeface="Nunito"/>
                <a:sym typeface="Nunito"/>
              </a:rPr>
              <a:t>Map</a:t>
            </a:r>
            <a:r>
              <a:rPr lang="en" sz="1300" i="1">
                <a:solidFill>
                  <a:srgbClr val="273239"/>
                </a:solidFill>
                <a:highlight>
                  <a:srgbClr val="F9F9F9"/>
                </a:highlight>
                <a:latin typeface="Nunito"/>
                <a:ea typeface="Nunito"/>
                <a:cs typeface="Nunito"/>
                <a:sym typeface="Nunito"/>
              </a:rPr>
              <a:t>&lt;</a:t>
            </a:r>
            <a:r>
              <a:rPr lang="en" sz="1300" b="1" i="1">
                <a:solidFill>
                  <a:srgbClr val="273239"/>
                </a:solidFill>
                <a:highlight>
                  <a:srgbClr val="F9F9F9"/>
                </a:highlight>
                <a:latin typeface="Nunito"/>
                <a:ea typeface="Nunito"/>
                <a:cs typeface="Nunito"/>
                <a:sym typeface="Nunito"/>
              </a:rPr>
              <a:t>String</a:t>
            </a:r>
            <a:r>
              <a:rPr lang="en" sz="1300" i="1">
                <a:solidFill>
                  <a:srgbClr val="273239"/>
                </a:solidFill>
                <a:highlight>
                  <a:srgbClr val="F9F9F9"/>
                </a:highlight>
                <a:latin typeface="Nunito"/>
                <a:ea typeface="Nunito"/>
                <a:cs typeface="Nunito"/>
                <a:sym typeface="Nunito"/>
              </a:rPr>
              <a:t>, ?&gt;&gt; data, </a:t>
            </a:r>
            <a:r>
              <a:rPr lang="en" sz="1300" b="1" i="1">
                <a:solidFill>
                  <a:srgbClr val="273239"/>
                </a:solidFill>
                <a:highlight>
                  <a:srgbClr val="F9F9F9"/>
                </a:highlight>
                <a:latin typeface="Nunito"/>
                <a:ea typeface="Nunito"/>
                <a:cs typeface="Nunito"/>
                <a:sym typeface="Nunito"/>
              </a:rPr>
              <a:t>int</a:t>
            </a:r>
            <a:r>
              <a:rPr lang="en" sz="1300" i="1">
                <a:solidFill>
                  <a:srgbClr val="273239"/>
                </a:solidFill>
                <a:highlight>
                  <a:srgbClr val="F9F9F9"/>
                </a:highlight>
                <a:latin typeface="Nunito"/>
                <a:ea typeface="Nunito"/>
                <a:cs typeface="Nunito"/>
                <a:sym typeface="Nunito"/>
              </a:rPr>
              <a:t> resource, </a:t>
            </a:r>
            <a:r>
              <a:rPr lang="en" sz="1300" b="1" i="1">
                <a:solidFill>
                  <a:srgbClr val="273239"/>
                </a:solidFill>
                <a:highlight>
                  <a:srgbClr val="F9F9F9"/>
                </a:highlight>
                <a:latin typeface="Nunito"/>
                <a:ea typeface="Nunito"/>
                <a:cs typeface="Nunito"/>
                <a:sym typeface="Nunito"/>
              </a:rPr>
              <a:t>String</a:t>
            </a:r>
            <a:r>
              <a:rPr lang="en" sz="1300" i="1">
                <a:solidFill>
                  <a:srgbClr val="273239"/>
                </a:solidFill>
                <a:highlight>
                  <a:srgbClr val="F9F9F9"/>
                </a:highlight>
                <a:latin typeface="Nunito"/>
                <a:ea typeface="Nunito"/>
                <a:cs typeface="Nunito"/>
                <a:sym typeface="Nunito"/>
              </a:rPr>
              <a:t>[] from, </a:t>
            </a:r>
            <a:r>
              <a:rPr lang="en" sz="1300" b="1" i="1">
                <a:solidFill>
                  <a:srgbClr val="273239"/>
                </a:solidFill>
                <a:highlight>
                  <a:srgbClr val="F9F9F9"/>
                </a:highlight>
                <a:latin typeface="Nunito"/>
                <a:ea typeface="Nunito"/>
                <a:cs typeface="Nunito"/>
                <a:sym typeface="Nunito"/>
              </a:rPr>
              <a:t>int</a:t>
            </a:r>
            <a:r>
              <a:rPr lang="en" sz="1300" i="1">
                <a:solidFill>
                  <a:srgbClr val="273239"/>
                </a:solidFill>
                <a:highlight>
                  <a:srgbClr val="F9F9F9"/>
                </a:highlight>
                <a:latin typeface="Nunito"/>
                <a:ea typeface="Nunito"/>
                <a:cs typeface="Nunito"/>
                <a:sym typeface="Nunito"/>
              </a:rPr>
              <a:t>[] to)</a:t>
            </a:r>
            <a:endParaRPr sz="1300" i="1">
              <a:solidFill>
                <a:srgbClr val="273239"/>
              </a:solidFill>
              <a:highlight>
                <a:srgbClr val="F9F9F9"/>
              </a:highlight>
              <a:latin typeface="Nunito"/>
              <a:ea typeface="Nunito"/>
              <a:cs typeface="Nunito"/>
              <a:sym typeface="Nunito"/>
            </a:endParaRPr>
          </a:p>
          <a:p>
            <a:pPr marL="0" lvl="0" indent="0" algn="l" rtl="0">
              <a:lnSpc>
                <a:spcPct val="115000"/>
              </a:lnSpc>
              <a:spcBef>
                <a:spcPts val="1200"/>
              </a:spcBef>
              <a:spcAft>
                <a:spcPts val="0"/>
              </a:spcAft>
              <a:buSzPts val="1800"/>
              <a:buNone/>
            </a:pPr>
            <a:endParaRPr sz="1300" i="1">
              <a:solidFill>
                <a:srgbClr val="273239"/>
              </a:solidFill>
              <a:highlight>
                <a:srgbClr val="F9F9F9"/>
              </a:highlight>
              <a:latin typeface="Nunito"/>
              <a:ea typeface="Nunito"/>
              <a:cs typeface="Nunito"/>
              <a:sym typeface="Nunito"/>
            </a:endParaRPr>
          </a:p>
          <a:p>
            <a:pPr marL="0" lvl="0" indent="0" algn="l" rtl="0">
              <a:lnSpc>
                <a:spcPct val="115000"/>
              </a:lnSpc>
              <a:spcBef>
                <a:spcPts val="1200"/>
              </a:spcBef>
              <a:spcAft>
                <a:spcPts val="0"/>
              </a:spcAft>
              <a:buSzPts val="1800"/>
              <a:buNone/>
            </a:pPr>
            <a:r>
              <a:rPr lang="en" sz="1300">
                <a:solidFill>
                  <a:srgbClr val="273239"/>
                </a:solidFill>
                <a:highlight>
                  <a:srgbClr val="F9F9F9"/>
                </a:highlight>
                <a:latin typeface="Nunito"/>
                <a:ea typeface="Nunito"/>
                <a:cs typeface="Nunito"/>
                <a:sym typeface="Nunito"/>
              </a:rPr>
              <a:t>Example:</a:t>
            </a:r>
            <a:endParaRPr sz="1300">
              <a:solidFill>
                <a:srgbClr val="273239"/>
              </a:solidFill>
              <a:highlight>
                <a:srgbClr val="F9F9F9"/>
              </a:highlight>
              <a:latin typeface="Nunito"/>
              <a:ea typeface="Nunito"/>
              <a:cs typeface="Nunito"/>
              <a:sym typeface="Nunito"/>
            </a:endParaRPr>
          </a:p>
          <a:p>
            <a:pPr marL="0" marR="139700" lvl="0" indent="0" algn="l" rtl="0">
              <a:lnSpc>
                <a:spcPct val="120000"/>
              </a:lnSpc>
              <a:spcBef>
                <a:spcPts val="120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ListView listView;</a:t>
            </a:r>
            <a:endParaRPr sz="11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endParaRPr sz="1100">
              <a:solidFill>
                <a:srgbClr val="273239"/>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rgbClr val="008200"/>
                </a:solidFill>
                <a:highlight>
                  <a:srgbClr val="FFFFFF"/>
                </a:highlight>
                <a:latin typeface="Courier New"/>
                <a:ea typeface="Courier New"/>
                <a:cs typeface="Courier New"/>
                <a:sym typeface="Courier New"/>
              </a:rPr>
              <a:t>// creating  a String type array (fruitNames)</a:t>
            </a:r>
            <a:endParaRPr sz="11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rgbClr val="008200"/>
                </a:solidFill>
                <a:highlight>
                  <a:srgbClr val="FFFFFF"/>
                </a:highlight>
                <a:latin typeface="Courier New"/>
                <a:ea typeface="Courier New"/>
                <a:cs typeface="Courier New"/>
                <a:sym typeface="Courier New"/>
              </a:rPr>
              <a:t>// which contains names of different fruits' images</a:t>
            </a:r>
            <a:endParaRPr sz="11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chemeClr val="dk1"/>
                </a:solidFill>
                <a:highlight>
                  <a:srgbClr val="FFFFFF"/>
                </a:highlight>
                <a:latin typeface="Courier New"/>
                <a:ea typeface="Courier New"/>
                <a:cs typeface="Courier New"/>
                <a:sym typeface="Courier New"/>
              </a:rPr>
              <a:t>String fruitNames[] = {</a:t>
            </a:r>
            <a:r>
              <a:rPr lang="en" sz="1100">
                <a:solidFill>
                  <a:srgbClr val="0000FF"/>
                </a:solidFill>
                <a:highlight>
                  <a:srgbClr val="FFFFFF"/>
                </a:highlight>
                <a:latin typeface="Courier New"/>
                <a:ea typeface="Courier New"/>
                <a:cs typeface="Courier New"/>
                <a:sym typeface="Courier New"/>
              </a:rPr>
              <a:t>"Banana"</a:t>
            </a:r>
            <a:r>
              <a:rPr lang="en" sz="1100">
                <a:solidFill>
                  <a:schemeClr val="dk1"/>
                </a:solidFill>
                <a:highlight>
                  <a:srgbClr val="FFFFFF"/>
                </a:highlight>
                <a:latin typeface="Courier New"/>
                <a:ea typeface="Courier New"/>
                <a:cs typeface="Courier New"/>
                <a:sym typeface="Courier New"/>
              </a:rPr>
              <a:t>, </a:t>
            </a:r>
            <a:r>
              <a:rPr lang="en" sz="1100">
                <a:solidFill>
                  <a:srgbClr val="0000FF"/>
                </a:solidFill>
                <a:highlight>
                  <a:srgbClr val="FFFFFF"/>
                </a:highlight>
                <a:latin typeface="Courier New"/>
                <a:ea typeface="Courier New"/>
                <a:cs typeface="Courier New"/>
                <a:sym typeface="Courier New"/>
              </a:rPr>
              <a:t>"Grape"</a:t>
            </a:r>
            <a:r>
              <a:rPr lang="en" sz="1100">
                <a:solidFill>
                  <a:schemeClr val="dk1"/>
                </a:solidFill>
                <a:highlight>
                  <a:srgbClr val="FFFFFF"/>
                </a:highlight>
                <a:latin typeface="Courier New"/>
                <a:ea typeface="Courier New"/>
                <a:cs typeface="Courier New"/>
                <a:sym typeface="Courier New"/>
              </a:rPr>
              <a:t>, </a:t>
            </a:r>
            <a:r>
              <a:rPr lang="en" sz="1100">
                <a:solidFill>
                  <a:srgbClr val="0000FF"/>
                </a:solidFill>
                <a:highlight>
                  <a:srgbClr val="FFFFFF"/>
                </a:highlight>
                <a:latin typeface="Courier New"/>
                <a:ea typeface="Courier New"/>
                <a:cs typeface="Courier New"/>
                <a:sym typeface="Courier New"/>
              </a:rPr>
              <a:t>"Guava"</a:t>
            </a:r>
            <a:r>
              <a:rPr lang="en" sz="1100">
                <a:solidFill>
                  <a:schemeClr val="dk1"/>
                </a:solidFill>
                <a:highlight>
                  <a:srgbClr val="FFFFFF"/>
                </a:highlight>
                <a:latin typeface="Courier New"/>
                <a:ea typeface="Courier New"/>
                <a:cs typeface="Courier New"/>
                <a:sym typeface="Courier New"/>
              </a:rPr>
              <a:t>, </a:t>
            </a:r>
            <a:r>
              <a:rPr lang="en" sz="1100">
                <a:solidFill>
                  <a:srgbClr val="0000FF"/>
                </a:solidFill>
                <a:highlight>
                  <a:srgbClr val="FFFFFF"/>
                </a:highlight>
                <a:latin typeface="Courier New"/>
                <a:ea typeface="Courier New"/>
                <a:cs typeface="Courier New"/>
                <a:sym typeface="Courier New"/>
              </a:rPr>
              <a:t>"Mango"</a:t>
            </a:r>
            <a:r>
              <a:rPr lang="en" sz="1100">
                <a:solidFill>
                  <a:schemeClr val="dk1"/>
                </a:solidFill>
                <a:highlight>
                  <a:srgbClr val="FFFFFF"/>
                </a:highlight>
                <a:latin typeface="Courier New"/>
                <a:ea typeface="Courier New"/>
                <a:cs typeface="Courier New"/>
                <a:sym typeface="Courier New"/>
              </a:rPr>
              <a:t>, </a:t>
            </a:r>
            <a:r>
              <a:rPr lang="en" sz="1100">
                <a:solidFill>
                  <a:srgbClr val="0000FF"/>
                </a:solidFill>
                <a:highlight>
                  <a:srgbClr val="FFFFFF"/>
                </a:highlight>
                <a:latin typeface="Courier New"/>
                <a:ea typeface="Courier New"/>
                <a:cs typeface="Courier New"/>
                <a:sym typeface="Courier New"/>
              </a:rPr>
              <a:t>"Orange"</a:t>
            </a:r>
            <a:r>
              <a:rPr lang="en" sz="1100">
                <a:solidFill>
                  <a:schemeClr val="dk1"/>
                </a:solidFill>
                <a:highlight>
                  <a:srgbClr val="FFFFFF"/>
                </a:highlight>
                <a:latin typeface="Courier New"/>
                <a:ea typeface="Courier New"/>
                <a:cs typeface="Courier New"/>
                <a:sym typeface="Courier New"/>
              </a:rPr>
              <a:t>, </a:t>
            </a:r>
            <a:r>
              <a:rPr lang="en" sz="1100">
                <a:solidFill>
                  <a:srgbClr val="0000FF"/>
                </a:solidFill>
                <a:highlight>
                  <a:srgbClr val="FFFFFF"/>
                </a:highlight>
                <a:latin typeface="Courier New"/>
                <a:ea typeface="Courier New"/>
                <a:cs typeface="Courier New"/>
                <a:sym typeface="Courier New"/>
              </a:rPr>
              <a:t>"Watermelon"</a:t>
            </a:r>
            <a:r>
              <a:rPr lang="en" sz="1100">
                <a:solidFill>
                  <a:schemeClr val="dk1"/>
                </a:solidFill>
                <a:highlight>
                  <a:srgbClr val="FFFFFF"/>
                </a:highlight>
                <a:latin typeface="Courier New"/>
                <a:ea typeface="Courier New"/>
                <a:cs typeface="Courier New"/>
                <a:sym typeface="Courier New"/>
              </a:rPr>
              <a:t>};</a:t>
            </a:r>
            <a:endParaRPr sz="11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endParaRPr sz="1100">
              <a:solidFill>
                <a:srgbClr val="273239"/>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rgbClr val="008200"/>
                </a:solidFill>
                <a:highlight>
                  <a:srgbClr val="FFFFFF"/>
                </a:highlight>
                <a:latin typeface="Courier New"/>
                <a:ea typeface="Courier New"/>
                <a:cs typeface="Courier New"/>
                <a:sym typeface="Courier New"/>
              </a:rPr>
              <a:t>// creating an Integer type array (fruitImageIds) which</a:t>
            </a:r>
            <a:endParaRPr sz="11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rgbClr val="008200"/>
                </a:solidFill>
                <a:highlight>
                  <a:srgbClr val="FFFFFF"/>
                </a:highlight>
                <a:latin typeface="Courier New"/>
                <a:ea typeface="Courier New"/>
                <a:cs typeface="Courier New"/>
                <a:sym typeface="Courier New"/>
              </a:rPr>
              <a:t>// contains IDs of different fruits' images</a:t>
            </a:r>
            <a:endParaRPr sz="11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b="1">
                <a:solidFill>
                  <a:srgbClr val="006699"/>
                </a:solidFill>
                <a:highlight>
                  <a:srgbClr val="FFFFFF"/>
                </a:highlight>
                <a:latin typeface="Courier New"/>
                <a:ea typeface="Courier New"/>
                <a:cs typeface="Courier New"/>
                <a:sym typeface="Courier New"/>
              </a:rPr>
              <a:t>int</a:t>
            </a:r>
            <a:r>
              <a:rPr lang="en" sz="1100">
                <a:solidFill>
                  <a:srgbClr val="273239"/>
                </a:solidFill>
                <a:highlight>
                  <a:srgbClr val="FFFFFF"/>
                </a:highlight>
                <a:latin typeface="Courier New"/>
                <a:ea typeface="Courier New"/>
                <a:cs typeface="Courier New"/>
                <a:sym typeface="Courier New"/>
              </a:rPr>
              <a:t> </a:t>
            </a:r>
            <a:r>
              <a:rPr lang="en" sz="1100">
                <a:solidFill>
                  <a:schemeClr val="dk1"/>
                </a:solidFill>
                <a:highlight>
                  <a:srgbClr val="FFFFFF"/>
                </a:highlight>
                <a:latin typeface="Courier New"/>
                <a:ea typeface="Courier New"/>
                <a:cs typeface="Courier New"/>
                <a:sym typeface="Courier New"/>
              </a:rPr>
              <a:t>fruitImageIds[] = {R.drawable.banana,</a:t>
            </a:r>
            <a:endParaRPr sz="11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chemeClr val="dk1"/>
                </a:solidFill>
                <a:highlight>
                  <a:srgbClr val="FFFFFF"/>
                </a:highlight>
                <a:latin typeface="Courier New"/>
                <a:ea typeface="Courier New"/>
                <a:cs typeface="Courier New"/>
                <a:sym typeface="Courier New"/>
              </a:rPr>
              <a:t>R.drawable.grape,</a:t>
            </a:r>
            <a:endParaRPr sz="11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chemeClr val="dk1"/>
                </a:solidFill>
                <a:highlight>
                  <a:srgbClr val="FFFFFF"/>
                </a:highlight>
                <a:latin typeface="Courier New"/>
                <a:ea typeface="Courier New"/>
                <a:cs typeface="Courier New"/>
                <a:sym typeface="Courier New"/>
              </a:rPr>
              <a:t>R.drawable.guava,</a:t>
            </a:r>
            <a:endParaRPr sz="11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chemeClr val="dk1"/>
                </a:solidFill>
                <a:highlight>
                  <a:srgbClr val="FFFFFF"/>
                </a:highlight>
                <a:latin typeface="Courier New"/>
                <a:ea typeface="Courier New"/>
                <a:cs typeface="Courier New"/>
                <a:sym typeface="Courier New"/>
              </a:rPr>
              <a:t>R.drawable.mango,</a:t>
            </a:r>
            <a:endParaRPr sz="11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chemeClr val="dk1"/>
                </a:solidFill>
                <a:highlight>
                  <a:srgbClr val="FFFFFF"/>
                </a:highlight>
                <a:latin typeface="Courier New"/>
                <a:ea typeface="Courier New"/>
                <a:cs typeface="Courier New"/>
                <a:sym typeface="Courier New"/>
              </a:rPr>
              <a:t>R.drawable.orange,</a:t>
            </a:r>
            <a:endParaRPr sz="11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chemeClr val="dk1"/>
                </a:solidFill>
                <a:highlight>
                  <a:srgbClr val="FFFFFF"/>
                </a:highlight>
                <a:latin typeface="Courier New"/>
                <a:ea typeface="Courier New"/>
                <a:cs typeface="Courier New"/>
                <a:sym typeface="Courier New"/>
              </a:rPr>
              <a:t>R.drawable.watermelon};</a:t>
            </a:r>
            <a:endParaRPr sz="1100">
              <a:solidFill>
                <a:schemeClr val="dk1"/>
              </a:solidFill>
              <a:highlight>
                <a:srgbClr val="FFFFFF"/>
              </a:highlight>
              <a:latin typeface="Courier New"/>
              <a:ea typeface="Courier New"/>
              <a:cs typeface="Courier New"/>
              <a:sym typeface="Courier New"/>
            </a:endParaRPr>
          </a:p>
          <a:p>
            <a:pPr marL="0" lvl="0" indent="0" algn="l" rtl="0">
              <a:lnSpc>
                <a:spcPct val="115000"/>
              </a:lnSpc>
              <a:spcBef>
                <a:spcPts val="0"/>
              </a:spcBef>
              <a:spcAft>
                <a:spcPts val="1200"/>
              </a:spcAft>
              <a:buSzPts val="1800"/>
              <a:buNone/>
            </a:pPr>
            <a:endParaRPr sz="1300">
              <a:solidFill>
                <a:srgbClr val="273239"/>
              </a:solidFill>
              <a:highlight>
                <a:srgbClr val="F9F9F9"/>
              </a:highlight>
              <a:latin typeface="Nunito"/>
              <a:ea typeface="Nunito"/>
              <a:cs typeface="Nunito"/>
              <a:sym typeface="Nunito"/>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55"/>
          <p:cNvSpPr txBox="1">
            <a:spLocks noGrp="1"/>
          </p:cNvSpPr>
          <p:nvPr>
            <p:ph type="body" idx="1"/>
          </p:nvPr>
        </p:nvSpPr>
        <p:spPr>
          <a:xfrm>
            <a:off x="311700" y="141450"/>
            <a:ext cx="8520600" cy="4873500"/>
          </a:xfrm>
          <a:prstGeom prst="rect">
            <a:avLst/>
          </a:prstGeom>
          <a:noFill/>
          <a:ln>
            <a:noFill/>
          </a:ln>
        </p:spPr>
        <p:txBody>
          <a:bodyPr spcFirstLastPara="1" wrap="square" lIns="91425" tIns="91425" rIns="91425" bIns="91425" anchor="t" anchorCtr="0">
            <a:noAutofit/>
          </a:bodyPr>
          <a:lstStyle/>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rgbClr val="808080"/>
                </a:solidFill>
                <a:highlight>
                  <a:srgbClr val="FFFFFF"/>
                </a:highlight>
                <a:latin typeface="Courier New"/>
                <a:ea typeface="Courier New"/>
                <a:cs typeface="Courier New"/>
                <a:sym typeface="Courier New"/>
              </a:rPr>
              <a:t>@Override</a:t>
            </a:r>
            <a:endParaRPr sz="1100">
              <a:solidFill>
                <a:srgbClr val="80808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b="1">
                <a:solidFill>
                  <a:srgbClr val="006699"/>
                </a:solidFill>
                <a:highlight>
                  <a:srgbClr val="FFFFFF"/>
                </a:highlight>
                <a:latin typeface="Courier New"/>
                <a:ea typeface="Courier New"/>
                <a:cs typeface="Courier New"/>
                <a:sym typeface="Courier New"/>
              </a:rPr>
              <a:t>protected</a:t>
            </a:r>
            <a:r>
              <a:rPr lang="en" sz="1100">
                <a:solidFill>
                  <a:srgbClr val="273239"/>
                </a:solidFill>
                <a:highlight>
                  <a:srgbClr val="FFFFFF"/>
                </a:highlight>
                <a:latin typeface="Courier New"/>
                <a:ea typeface="Courier New"/>
                <a:cs typeface="Courier New"/>
                <a:sym typeface="Courier New"/>
              </a:rPr>
              <a:t> </a:t>
            </a:r>
            <a:r>
              <a:rPr lang="en" sz="1100" b="1">
                <a:solidFill>
                  <a:srgbClr val="006699"/>
                </a:solidFill>
                <a:highlight>
                  <a:srgbClr val="FFFFFF"/>
                </a:highlight>
                <a:latin typeface="Courier New"/>
                <a:ea typeface="Courier New"/>
                <a:cs typeface="Courier New"/>
                <a:sym typeface="Courier New"/>
              </a:rPr>
              <a:t>void</a:t>
            </a:r>
            <a:r>
              <a:rPr lang="en" sz="1100">
                <a:solidFill>
                  <a:srgbClr val="273239"/>
                </a:solidFill>
                <a:highlight>
                  <a:srgbClr val="FFFFFF"/>
                </a:highlight>
                <a:latin typeface="Courier New"/>
                <a:ea typeface="Courier New"/>
                <a:cs typeface="Courier New"/>
                <a:sym typeface="Courier New"/>
              </a:rPr>
              <a:t> </a:t>
            </a:r>
            <a:r>
              <a:rPr lang="en" sz="1100">
                <a:solidFill>
                  <a:schemeClr val="dk1"/>
                </a:solidFill>
                <a:highlight>
                  <a:srgbClr val="FFFFFF"/>
                </a:highlight>
                <a:latin typeface="Courier New"/>
                <a:ea typeface="Courier New"/>
                <a:cs typeface="Courier New"/>
                <a:sym typeface="Courier New"/>
              </a:rPr>
              <a:t>onCreate(Bundle savedInstanceState) {</a:t>
            </a:r>
            <a:endParaRPr sz="11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b="1">
                <a:solidFill>
                  <a:srgbClr val="006699"/>
                </a:solidFill>
                <a:highlight>
                  <a:srgbClr val="FFFFFF"/>
                </a:highlight>
                <a:latin typeface="Courier New"/>
                <a:ea typeface="Courier New"/>
                <a:cs typeface="Courier New"/>
                <a:sym typeface="Courier New"/>
              </a:rPr>
              <a:t>super</a:t>
            </a:r>
            <a:r>
              <a:rPr lang="en" sz="1100">
                <a:solidFill>
                  <a:schemeClr val="dk1"/>
                </a:solidFill>
                <a:highlight>
                  <a:srgbClr val="FFFFFF"/>
                </a:highlight>
                <a:latin typeface="Courier New"/>
                <a:ea typeface="Courier New"/>
                <a:cs typeface="Courier New"/>
                <a:sym typeface="Courier New"/>
              </a:rPr>
              <a:t>.onCreate(savedInstanceState);</a:t>
            </a:r>
            <a:endParaRPr sz="11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chemeClr val="dk1"/>
                </a:solidFill>
                <a:highlight>
                  <a:srgbClr val="FFFFFF"/>
                </a:highlight>
                <a:latin typeface="Courier New"/>
                <a:ea typeface="Courier New"/>
                <a:cs typeface="Courier New"/>
                <a:sym typeface="Courier New"/>
              </a:rPr>
              <a:t>setContentView(R.layout.activity_main);</a:t>
            </a:r>
            <a:endParaRPr sz="11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endParaRPr sz="1100">
              <a:solidFill>
                <a:srgbClr val="273239"/>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rgbClr val="008200"/>
                </a:solidFill>
                <a:highlight>
                  <a:srgbClr val="FFFFFF"/>
                </a:highlight>
                <a:latin typeface="Courier New"/>
                <a:ea typeface="Courier New"/>
                <a:cs typeface="Courier New"/>
                <a:sym typeface="Courier New"/>
              </a:rPr>
              <a:t>// Binding the ListView  of activity_main.xml file</a:t>
            </a:r>
            <a:endParaRPr sz="11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rgbClr val="008200"/>
                </a:solidFill>
                <a:highlight>
                  <a:srgbClr val="FFFFFF"/>
                </a:highlight>
                <a:latin typeface="Courier New"/>
                <a:ea typeface="Courier New"/>
                <a:cs typeface="Courier New"/>
                <a:sym typeface="Courier New"/>
              </a:rPr>
              <a:t>// with this java code in MainActivity.java</a:t>
            </a:r>
            <a:endParaRPr sz="11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chemeClr val="dk1"/>
                </a:solidFill>
                <a:highlight>
                  <a:srgbClr val="FFFFFF"/>
                </a:highlight>
                <a:latin typeface="Courier New"/>
                <a:ea typeface="Courier New"/>
                <a:cs typeface="Courier New"/>
                <a:sym typeface="Courier New"/>
              </a:rPr>
              <a:t>listView = findViewById(R.id.listView);</a:t>
            </a:r>
            <a:endParaRPr sz="11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endParaRPr sz="1100">
              <a:solidFill>
                <a:srgbClr val="273239"/>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rgbClr val="008200"/>
                </a:solidFill>
                <a:highlight>
                  <a:srgbClr val="FFFFFF"/>
                </a:highlight>
                <a:latin typeface="Courier New"/>
                <a:ea typeface="Courier New"/>
                <a:cs typeface="Courier New"/>
                <a:sym typeface="Courier New"/>
              </a:rPr>
              <a:t>// creating an ArrayList of HashMap.The kEY of the HashMap</a:t>
            </a:r>
            <a:endParaRPr sz="11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rgbClr val="008200"/>
                </a:solidFill>
                <a:highlight>
                  <a:srgbClr val="FFFFFF"/>
                </a:highlight>
                <a:latin typeface="Courier New"/>
                <a:ea typeface="Courier New"/>
                <a:cs typeface="Courier New"/>
                <a:sym typeface="Courier New"/>
              </a:rPr>
              <a:t>// is a String and VALUE is of any datatype(Object)</a:t>
            </a:r>
            <a:endParaRPr sz="11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chemeClr val="dk1"/>
                </a:solidFill>
                <a:highlight>
                  <a:srgbClr val="FFFFFF"/>
                </a:highlight>
                <a:latin typeface="Courier New"/>
                <a:ea typeface="Courier New"/>
                <a:cs typeface="Courier New"/>
                <a:sym typeface="Courier New"/>
              </a:rPr>
              <a:t>ArrayList&lt;HashMap&lt;String, Object&gt;&gt; list = </a:t>
            </a:r>
            <a:r>
              <a:rPr lang="en" sz="1100" b="1">
                <a:solidFill>
                  <a:srgbClr val="006699"/>
                </a:solidFill>
                <a:highlight>
                  <a:srgbClr val="FFFFFF"/>
                </a:highlight>
                <a:latin typeface="Courier New"/>
                <a:ea typeface="Courier New"/>
                <a:cs typeface="Courier New"/>
                <a:sym typeface="Courier New"/>
              </a:rPr>
              <a:t>new</a:t>
            </a:r>
            <a:r>
              <a:rPr lang="en" sz="1100">
                <a:solidFill>
                  <a:srgbClr val="273239"/>
                </a:solidFill>
                <a:highlight>
                  <a:srgbClr val="FFFFFF"/>
                </a:highlight>
                <a:latin typeface="Courier New"/>
                <a:ea typeface="Courier New"/>
                <a:cs typeface="Courier New"/>
                <a:sym typeface="Courier New"/>
              </a:rPr>
              <a:t> </a:t>
            </a:r>
            <a:r>
              <a:rPr lang="en" sz="1100">
                <a:solidFill>
                  <a:schemeClr val="dk1"/>
                </a:solidFill>
                <a:highlight>
                  <a:srgbClr val="FFFFFF"/>
                </a:highlight>
                <a:latin typeface="Courier New"/>
                <a:ea typeface="Courier New"/>
                <a:cs typeface="Courier New"/>
                <a:sym typeface="Courier New"/>
              </a:rPr>
              <a:t>ArrayList&lt;&gt;();</a:t>
            </a:r>
            <a:endParaRPr sz="11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endParaRPr sz="1100">
              <a:solidFill>
                <a:srgbClr val="273239"/>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rgbClr val="008200"/>
                </a:solidFill>
                <a:highlight>
                  <a:srgbClr val="FFFFFF"/>
                </a:highlight>
                <a:latin typeface="Courier New"/>
                <a:ea typeface="Courier New"/>
                <a:cs typeface="Courier New"/>
                <a:sym typeface="Courier New"/>
              </a:rPr>
              <a:t>// By a for loop, entering different types of data in HashMap,</a:t>
            </a:r>
            <a:endParaRPr sz="11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rgbClr val="008200"/>
                </a:solidFill>
                <a:highlight>
                  <a:srgbClr val="FFFFFF"/>
                </a:highlight>
                <a:latin typeface="Courier New"/>
                <a:ea typeface="Courier New"/>
                <a:cs typeface="Courier New"/>
                <a:sym typeface="Courier New"/>
              </a:rPr>
              <a:t>// and adding this map including it's datas into the ArrayList</a:t>
            </a:r>
            <a:endParaRPr sz="11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rgbClr val="008200"/>
                </a:solidFill>
                <a:highlight>
                  <a:srgbClr val="FFFFFF"/>
                </a:highlight>
                <a:latin typeface="Courier New"/>
                <a:ea typeface="Courier New"/>
                <a:cs typeface="Courier New"/>
                <a:sym typeface="Courier New"/>
              </a:rPr>
              <a:t>// as list item and this list is the second parameter of the SimpleAdapter</a:t>
            </a:r>
            <a:endParaRPr sz="11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b="1">
                <a:solidFill>
                  <a:srgbClr val="006699"/>
                </a:solidFill>
                <a:highlight>
                  <a:srgbClr val="FFFFFF"/>
                </a:highlight>
                <a:latin typeface="Courier New"/>
                <a:ea typeface="Courier New"/>
                <a:cs typeface="Courier New"/>
                <a:sym typeface="Courier New"/>
              </a:rPr>
              <a:t>for</a:t>
            </a:r>
            <a:r>
              <a:rPr lang="en" sz="1100">
                <a:solidFill>
                  <a:srgbClr val="273239"/>
                </a:solidFill>
                <a:highlight>
                  <a:srgbClr val="FFFFFF"/>
                </a:highlight>
                <a:latin typeface="Courier New"/>
                <a:ea typeface="Courier New"/>
                <a:cs typeface="Courier New"/>
                <a:sym typeface="Courier New"/>
              </a:rPr>
              <a:t> </a:t>
            </a:r>
            <a:r>
              <a:rPr lang="en" sz="1100">
                <a:solidFill>
                  <a:schemeClr val="dk1"/>
                </a:solidFill>
                <a:highlight>
                  <a:srgbClr val="FFFFFF"/>
                </a:highlight>
                <a:latin typeface="Courier New"/>
                <a:ea typeface="Courier New"/>
                <a:cs typeface="Courier New"/>
                <a:sym typeface="Courier New"/>
              </a:rPr>
              <a:t>(</a:t>
            </a:r>
            <a:r>
              <a:rPr lang="en" sz="1100" b="1">
                <a:solidFill>
                  <a:srgbClr val="006699"/>
                </a:solidFill>
                <a:highlight>
                  <a:srgbClr val="FFFFFF"/>
                </a:highlight>
                <a:latin typeface="Courier New"/>
                <a:ea typeface="Courier New"/>
                <a:cs typeface="Courier New"/>
                <a:sym typeface="Courier New"/>
              </a:rPr>
              <a:t>int</a:t>
            </a:r>
            <a:r>
              <a:rPr lang="en" sz="1100">
                <a:solidFill>
                  <a:srgbClr val="273239"/>
                </a:solidFill>
                <a:highlight>
                  <a:srgbClr val="FFFFFF"/>
                </a:highlight>
                <a:latin typeface="Courier New"/>
                <a:ea typeface="Courier New"/>
                <a:cs typeface="Courier New"/>
                <a:sym typeface="Courier New"/>
              </a:rPr>
              <a:t> </a:t>
            </a:r>
            <a:r>
              <a:rPr lang="en" sz="1100">
                <a:solidFill>
                  <a:schemeClr val="dk1"/>
                </a:solidFill>
                <a:highlight>
                  <a:srgbClr val="FFFFFF"/>
                </a:highlight>
                <a:latin typeface="Courier New"/>
                <a:ea typeface="Courier New"/>
                <a:cs typeface="Courier New"/>
                <a:sym typeface="Courier New"/>
              </a:rPr>
              <a:t>i = </a:t>
            </a:r>
            <a:r>
              <a:rPr lang="en" sz="1100">
                <a:solidFill>
                  <a:srgbClr val="009900"/>
                </a:solidFill>
                <a:highlight>
                  <a:srgbClr val="FFFFFF"/>
                </a:highlight>
                <a:latin typeface="Courier New"/>
                <a:ea typeface="Courier New"/>
                <a:cs typeface="Courier New"/>
                <a:sym typeface="Courier New"/>
              </a:rPr>
              <a:t>0</a:t>
            </a:r>
            <a:r>
              <a:rPr lang="en" sz="1100">
                <a:solidFill>
                  <a:schemeClr val="dk1"/>
                </a:solidFill>
                <a:highlight>
                  <a:srgbClr val="FFFFFF"/>
                </a:highlight>
                <a:latin typeface="Courier New"/>
                <a:ea typeface="Courier New"/>
                <a:cs typeface="Courier New"/>
                <a:sym typeface="Courier New"/>
              </a:rPr>
              <a:t>; i &lt; fruitNames.length; i++) {</a:t>
            </a:r>
            <a:endParaRPr sz="11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endParaRPr sz="1100">
              <a:solidFill>
                <a:srgbClr val="273239"/>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rgbClr val="008200"/>
                </a:solidFill>
                <a:highlight>
                  <a:srgbClr val="FFFFFF"/>
                </a:highlight>
                <a:latin typeface="Courier New"/>
                <a:ea typeface="Courier New"/>
                <a:cs typeface="Courier New"/>
                <a:sym typeface="Courier New"/>
              </a:rPr>
              <a:t>// creating an Object of HashMap class</a:t>
            </a:r>
            <a:endParaRPr sz="11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r>
              <a:rPr lang="en" sz="1100">
                <a:solidFill>
                  <a:schemeClr val="dk1"/>
                </a:solidFill>
                <a:highlight>
                  <a:srgbClr val="FFFFFF"/>
                </a:highlight>
                <a:latin typeface="Courier New"/>
                <a:ea typeface="Courier New"/>
                <a:cs typeface="Courier New"/>
                <a:sym typeface="Courier New"/>
              </a:rPr>
              <a:t>HashMap&lt;String, Object&gt; map = </a:t>
            </a:r>
            <a:r>
              <a:rPr lang="en" sz="1100" b="1">
                <a:solidFill>
                  <a:srgbClr val="006699"/>
                </a:solidFill>
                <a:highlight>
                  <a:srgbClr val="FFFFFF"/>
                </a:highlight>
                <a:latin typeface="Courier New"/>
                <a:ea typeface="Courier New"/>
                <a:cs typeface="Courier New"/>
                <a:sym typeface="Courier New"/>
              </a:rPr>
              <a:t>new</a:t>
            </a:r>
            <a:r>
              <a:rPr lang="en" sz="1100">
                <a:solidFill>
                  <a:srgbClr val="273239"/>
                </a:solidFill>
                <a:highlight>
                  <a:srgbClr val="FFFFFF"/>
                </a:highlight>
                <a:latin typeface="Courier New"/>
                <a:ea typeface="Courier New"/>
                <a:cs typeface="Courier New"/>
                <a:sym typeface="Courier New"/>
              </a:rPr>
              <a:t> </a:t>
            </a:r>
            <a:r>
              <a:rPr lang="en" sz="1100">
                <a:solidFill>
                  <a:schemeClr val="dk1"/>
                </a:solidFill>
                <a:highlight>
                  <a:srgbClr val="FFFFFF"/>
                </a:highlight>
                <a:latin typeface="Courier New"/>
                <a:ea typeface="Courier New"/>
                <a:cs typeface="Courier New"/>
                <a:sym typeface="Courier New"/>
              </a:rPr>
              <a:t>HashMap&lt;&gt;();</a:t>
            </a:r>
            <a:endParaRPr sz="11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endParaRPr sz="1100">
              <a:solidFill>
                <a:srgbClr val="273239"/>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100">
                <a:solidFill>
                  <a:srgbClr val="273239"/>
                </a:solidFill>
                <a:highlight>
                  <a:srgbClr val="FFFFFF"/>
                </a:highlight>
                <a:latin typeface="Courier New"/>
                <a:ea typeface="Courier New"/>
                <a:cs typeface="Courier New"/>
                <a:sym typeface="Courier New"/>
              </a:rPr>
              <a:t>            </a:t>
            </a:r>
            <a:endParaRPr sz="1100">
              <a:solidFill>
                <a:srgbClr val="273239"/>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SzPts val="1800"/>
              <a:buNone/>
            </a:pPr>
            <a:r>
              <a:rPr lang="en" sz="1100">
                <a:solidFill>
                  <a:srgbClr val="273239"/>
                </a:solidFill>
                <a:highlight>
                  <a:srgbClr val="FFFFFF"/>
                </a:highlight>
                <a:latin typeface="Courier New"/>
                <a:ea typeface="Courier New"/>
                <a:cs typeface="Courier New"/>
                <a:sym typeface="Courier New"/>
              </a:rPr>
              <a:t>       </a:t>
            </a:r>
            <a:endParaRPr sz="11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6"/>
          <p:cNvSpPr txBox="1">
            <a:spLocks noGrp="1"/>
          </p:cNvSpPr>
          <p:nvPr>
            <p:ph type="body" idx="1"/>
          </p:nvPr>
        </p:nvSpPr>
        <p:spPr>
          <a:xfrm>
            <a:off x="311700" y="3800"/>
            <a:ext cx="8520600" cy="4260300"/>
          </a:xfrm>
          <a:prstGeom prst="rect">
            <a:avLst/>
          </a:prstGeom>
          <a:noFill/>
          <a:ln>
            <a:noFill/>
          </a:ln>
        </p:spPr>
        <p:txBody>
          <a:bodyPr spcFirstLastPara="1" wrap="square" lIns="91425" tIns="91425" rIns="91425" bIns="91425" anchor="t" anchorCtr="0">
            <a:noAutofit/>
          </a:bodyPr>
          <a:lstStyle/>
          <a:p>
            <a:pPr marL="0" marR="139700" lvl="0" indent="0" algn="l" rtl="0">
              <a:lnSpc>
                <a:spcPct val="120000"/>
              </a:lnSpc>
              <a:spcBef>
                <a:spcPts val="0"/>
              </a:spcBef>
              <a:spcAft>
                <a:spcPts val="0"/>
              </a:spcAft>
              <a:buSzPts val="1800"/>
              <a:buNone/>
            </a:pPr>
            <a:r>
              <a:rPr lang="en" sz="1000">
                <a:solidFill>
                  <a:srgbClr val="273239"/>
                </a:solidFill>
                <a:highlight>
                  <a:srgbClr val="FFFFFF"/>
                </a:highlight>
                <a:latin typeface="Courier New"/>
                <a:ea typeface="Courier New"/>
                <a:cs typeface="Courier New"/>
                <a:sym typeface="Courier New"/>
              </a:rPr>
              <a:t> </a:t>
            </a:r>
            <a:endParaRPr sz="1000">
              <a:solidFill>
                <a:srgbClr val="273239"/>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SzPts val="1800"/>
              <a:buNone/>
            </a:pPr>
            <a:r>
              <a:rPr lang="en" sz="1000">
                <a:solidFill>
                  <a:srgbClr val="273239"/>
                </a:solidFill>
                <a:highlight>
                  <a:srgbClr val="FFFFFF"/>
                </a:highlight>
                <a:latin typeface="Courier New"/>
                <a:ea typeface="Courier New"/>
                <a:cs typeface="Courier New"/>
                <a:sym typeface="Courier New"/>
              </a:rPr>
              <a:t> </a:t>
            </a:r>
            <a:r>
              <a:rPr lang="en" sz="1000">
                <a:solidFill>
                  <a:srgbClr val="008200"/>
                </a:solidFill>
                <a:highlight>
                  <a:srgbClr val="FFFFFF"/>
                </a:highlight>
                <a:latin typeface="Courier New"/>
                <a:ea typeface="Courier New"/>
                <a:cs typeface="Courier New"/>
                <a:sym typeface="Courier New"/>
              </a:rPr>
              <a:t>// Data entry in HashMap</a:t>
            </a:r>
            <a:endParaRPr sz="10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SzPts val="1800"/>
              <a:buNone/>
            </a:pPr>
            <a:r>
              <a:rPr lang="en" sz="1000">
                <a:solidFill>
                  <a:srgbClr val="273239"/>
                </a:solidFill>
                <a:highlight>
                  <a:srgbClr val="FFFFFF"/>
                </a:highlight>
                <a:latin typeface="Courier New"/>
                <a:ea typeface="Courier New"/>
                <a:cs typeface="Courier New"/>
                <a:sym typeface="Courier New"/>
              </a:rPr>
              <a:t>            </a:t>
            </a:r>
            <a:r>
              <a:rPr lang="en" sz="1000">
                <a:solidFill>
                  <a:schemeClr val="dk1"/>
                </a:solidFill>
                <a:highlight>
                  <a:srgbClr val="FFFFFF"/>
                </a:highlight>
                <a:latin typeface="Courier New"/>
                <a:ea typeface="Courier New"/>
                <a:cs typeface="Courier New"/>
                <a:sym typeface="Courier New"/>
              </a:rPr>
              <a:t>map.put(</a:t>
            </a:r>
            <a:r>
              <a:rPr lang="en" sz="1000">
                <a:solidFill>
                  <a:srgbClr val="0000FF"/>
                </a:solidFill>
                <a:highlight>
                  <a:srgbClr val="FFFFFF"/>
                </a:highlight>
                <a:latin typeface="Courier New"/>
                <a:ea typeface="Courier New"/>
                <a:cs typeface="Courier New"/>
                <a:sym typeface="Courier New"/>
              </a:rPr>
              <a:t>"fruitName"</a:t>
            </a:r>
            <a:r>
              <a:rPr lang="en" sz="1000">
                <a:solidFill>
                  <a:schemeClr val="dk1"/>
                </a:solidFill>
                <a:highlight>
                  <a:srgbClr val="FFFFFF"/>
                </a:highlight>
                <a:latin typeface="Courier New"/>
                <a:ea typeface="Courier New"/>
                <a:cs typeface="Courier New"/>
                <a:sym typeface="Courier New"/>
              </a:rPr>
              <a:t>, fruitNames[i]);</a:t>
            </a:r>
            <a:endParaRPr sz="10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SzPts val="1800"/>
              <a:buNone/>
            </a:pPr>
            <a:r>
              <a:rPr lang="en" sz="1000">
                <a:solidFill>
                  <a:srgbClr val="273239"/>
                </a:solidFill>
                <a:highlight>
                  <a:srgbClr val="FFFFFF"/>
                </a:highlight>
                <a:latin typeface="Courier New"/>
                <a:ea typeface="Courier New"/>
                <a:cs typeface="Courier New"/>
                <a:sym typeface="Courier New"/>
              </a:rPr>
              <a:t>            </a:t>
            </a:r>
            <a:r>
              <a:rPr lang="en" sz="1000">
                <a:solidFill>
                  <a:schemeClr val="dk1"/>
                </a:solidFill>
                <a:highlight>
                  <a:srgbClr val="FFFFFF"/>
                </a:highlight>
                <a:latin typeface="Courier New"/>
                <a:ea typeface="Courier New"/>
                <a:cs typeface="Courier New"/>
                <a:sym typeface="Courier New"/>
              </a:rPr>
              <a:t>map.put(</a:t>
            </a:r>
            <a:r>
              <a:rPr lang="en" sz="1000">
                <a:solidFill>
                  <a:srgbClr val="0000FF"/>
                </a:solidFill>
                <a:highlight>
                  <a:srgbClr val="FFFFFF"/>
                </a:highlight>
                <a:latin typeface="Courier New"/>
                <a:ea typeface="Courier New"/>
                <a:cs typeface="Courier New"/>
                <a:sym typeface="Courier New"/>
              </a:rPr>
              <a:t>"fruitImage"</a:t>
            </a:r>
            <a:r>
              <a:rPr lang="en" sz="1000">
                <a:solidFill>
                  <a:schemeClr val="dk1"/>
                </a:solidFill>
                <a:highlight>
                  <a:srgbClr val="FFFFFF"/>
                </a:highlight>
                <a:latin typeface="Courier New"/>
                <a:ea typeface="Courier New"/>
                <a:cs typeface="Courier New"/>
                <a:sym typeface="Courier New"/>
              </a:rPr>
              <a:t>, fruitImageIds[i]);</a:t>
            </a:r>
            <a:endParaRPr sz="10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SzPts val="1800"/>
              <a:buNone/>
            </a:pPr>
            <a:r>
              <a:rPr lang="en" sz="1000">
                <a:solidFill>
                  <a:srgbClr val="273239"/>
                </a:solidFill>
                <a:highlight>
                  <a:srgbClr val="FFFFFF"/>
                </a:highlight>
                <a:latin typeface="Courier New"/>
                <a:ea typeface="Courier New"/>
                <a:cs typeface="Courier New"/>
                <a:sym typeface="Courier New"/>
              </a:rPr>
              <a:t> </a:t>
            </a:r>
            <a:endParaRPr sz="1000">
              <a:solidFill>
                <a:srgbClr val="273239"/>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SzPts val="1800"/>
              <a:buNone/>
            </a:pPr>
            <a:r>
              <a:rPr lang="en" sz="1000">
                <a:solidFill>
                  <a:srgbClr val="273239"/>
                </a:solidFill>
                <a:highlight>
                  <a:srgbClr val="FFFFFF"/>
                </a:highlight>
                <a:latin typeface="Courier New"/>
                <a:ea typeface="Courier New"/>
                <a:cs typeface="Courier New"/>
                <a:sym typeface="Courier New"/>
              </a:rPr>
              <a:t>            </a:t>
            </a:r>
            <a:r>
              <a:rPr lang="en" sz="1000">
                <a:solidFill>
                  <a:srgbClr val="008200"/>
                </a:solidFill>
                <a:highlight>
                  <a:srgbClr val="FFFFFF"/>
                </a:highlight>
                <a:latin typeface="Courier New"/>
                <a:ea typeface="Courier New"/>
                <a:cs typeface="Courier New"/>
                <a:sym typeface="Courier New"/>
              </a:rPr>
              <a:t>// adding the HashMap to the ArrayList</a:t>
            </a:r>
            <a:endParaRPr sz="10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SzPts val="1800"/>
              <a:buNone/>
            </a:pPr>
            <a:r>
              <a:rPr lang="en" sz="1000">
                <a:solidFill>
                  <a:srgbClr val="273239"/>
                </a:solidFill>
                <a:highlight>
                  <a:srgbClr val="FFFFFF"/>
                </a:highlight>
                <a:latin typeface="Courier New"/>
                <a:ea typeface="Courier New"/>
                <a:cs typeface="Courier New"/>
                <a:sym typeface="Courier New"/>
              </a:rPr>
              <a:t>            </a:t>
            </a:r>
            <a:r>
              <a:rPr lang="en" sz="1000">
                <a:solidFill>
                  <a:schemeClr val="dk1"/>
                </a:solidFill>
                <a:highlight>
                  <a:srgbClr val="FFFFFF"/>
                </a:highlight>
                <a:latin typeface="Courier New"/>
                <a:ea typeface="Courier New"/>
                <a:cs typeface="Courier New"/>
                <a:sym typeface="Courier New"/>
              </a:rPr>
              <a:t>list.add(map);</a:t>
            </a:r>
            <a:endParaRPr sz="10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SzPts val="1800"/>
              <a:buNone/>
            </a:pPr>
            <a:r>
              <a:rPr lang="en" sz="1000">
                <a:solidFill>
                  <a:srgbClr val="273239"/>
                </a:solidFill>
                <a:highlight>
                  <a:srgbClr val="FFFFFF"/>
                </a:highlight>
                <a:latin typeface="Courier New"/>
                <a:ea typeface="Courier New"/>
                <a:cs typeface="Courier New"/>
                <a:sym typeface="Courier New"/>
              </a:rPr>
              <a:t>        </a:t>
            </a:r>
            <a:r>
              <a:rPr lang="en" sz="1000">
                <a:solidFill>
                  <a:schemeClr val="dk1"/>
                </a:solidFill>
                <a:highlight>
                  <a:srgbClr val="FFFFFF"/>
                </a:highlight>
                <a:latin typeface="Courier New"/>
                <a:ea typeface="Courier New"/>
                <a:cs typeface="Courier New"/>
                <a:sym typeface="Courier New"/>
              </a:rPr>
              <a:t>}</a:t>
            </a:r>
            <a:endParaRPr sz="10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SzPts val="1800"/>
              <a:buNone/>
            </a:pPr>
            <a:endParaRPr sz="10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000">
                <a:solidFill>
                  <a:srgbClr val="008200"/>
                </a:solidFill>
                <a:highlight>
                  <a:srgbClr val="FFFFFF"/>
                </a:highlight>
                <a:latin typeface="Courier New"/>
                <a:ea typeface="Courier New"/>
                <a:cs typeface="Courier New"/>
                <a:sym typeface="Courier New"/>
              </a:rPr>
              <a:t>// creating A string type array(from) which contains</a:t>
            </a:r>
            <a:endParaRPr sz="10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000">
                <a:solidFill>
                  <a:srgbClr val="273239"/>
                </a:solidFill>
                <a:highlight>
                  <a:srgbClr val="FFFFFF"/>
                </a:highlight>
                <a:latin typeface="Courier New"/>
                <a:ea typeface="Courier New"/>
                <a:cs typeface="Courier New"/>
                <a:sym typeface="Courier New"/>
              </a:rPr>
              <a:t>        </a:t>
            </a:r>
            <a:r>
              <a:rPr lang="en" sz="1000">
                <a:solidFill>
                  <a:srgbClr val="008200"/>
                </a:solidFill>
                <a:highlight>
                  <a:srgbClr val="FFFFFF"/>
                </a:highlight>
                <a:latin typeface="Courier New"/>
                <a:ea typeface="Courier New"/>
                <a:cs typeface="Courier New"/>
                <a:sym typeface="Courier New"/>
              </a:rPr>
              <a:t>// column names for each View in each row of the list</a:t>
            </a:r>
            <a:endParaRPr sz="10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000">
                <a:solidFill>
                  <a:srgbClr val="273239"/>
                </a:solidFill>
                <a:highlight>
                  <a:srgbClr val="FFFFFF"/>
                </a:highlight>
                <a:latin typeface="Courier New"/>
                <a:ea typeface="Courier New"/>
                <a:cs typeface="Courier New"/>
                <a:sym typeface="Courier New"/>
              </a:rPr>
              <a:t>        </a:t>
            </a:r>
            <a:r>
              <a:rPr lang="en" sz="1000">
                <a:solidFill>
                  <a:srgbClr val="008200"/>
                </a:solidFill>
                <a:highlight>
                  <a:srgbClr val="FFFFFF"/>
                </a:highlight>
                <a:latin typeface="Courier New"/>
                <a:ea typeface="Courier New"/>
                <a:cs typeface="Courier New"/>
                <a:sym typeface="Courier New"/>
              </a:rPr>
              <a:t>// and this array(form) is the fourth parameter of the SimpleAdapter</a:t>
            </a:r>
            <a:endParaRPr sz="10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000">
                <a:solidFill>
                  <a:srgbClr val="273239"/>
                </a:solidFill>
                <a:highlight>
                  <a:srgbClr val="FFFFFF"/>
                </a:highlight>
                <a:latin typeface="Courier New"/>
                <a:ea typeface="Courier New"/>
                <a:cs typeface="Courier New"/>
                <a:sym typeface="Courier New"/>
              </a:rPr>
              <a:t>        </a:t>
            </a:r>
            <a:r>
              <a:rPr lang="en" sz="1000">
                <a:solidFill>
                  <a:schemeClr val="dk1"/>
                </a:solidFill>
                <a:highlight>
                  <a:srgbClr val="FFFFFF"/>
                </a:highlight>
                <a:latin typeface="Courier New"/>
                <a:ea typeface="Courier New"/>
                <a:cs typeface="Courier New"/>
                <a:sym typeface="Courier New"/>
              </a:rPr>
              <a:t>String[] from = {</a:t>
            </a:r>
            <a:r>
              <a:rPr lang="en" sz="1000">
                <a:solidFill>
                  <a:srgbClr val="0000FF"/>
                </a:solidFill>
                <a:highlight>
                  <a:srgbClr val="FFFFFF"/>
                </a:highlight>
                <a:latin typeface="Courier New"/>
                <a:ea typeface="Courier New"/>
                <a:cs typeface="Courier New"/>
                <a:sym typeface="Courier New"/>
              </a:rPr>
              <a:t>"fruitName"</a:t>
            </a:r>
            <a:r>
              <a:rPr lang="en" sz="1000">
                <a:solidFill>
                  <a:schemeClr val="dk1"/>
                </a:solidFill>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"fruitImage"</a:t>
            </a:r>
            <a:r>
              <a:rPr lang="en" sz="1000">
                <a:solidFill>
                  <a:schemeClr val="dk1"/>
                </a:solidFill>
                <a:highlight>
                  <a:srgbClr val="FFFFFF"/>
                </a:highlight>
                <a:latin typeface="Courier New"/>
                <a:ea typeface="Courier New"/>
                <a:cs typeface="Courier New"/>
                <a:sym typeface="Courier New"/>
              </a:rPr>
              <a:t>};</a:t>
            </a:r>
            <a:endParaRPr sz="10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000">
                <a:solidFill>
                  <a:srgbClr val="273239"/>
                </a:solidFill>
                <a:highlight>
                  <a:srgbClr val="FFFFFF"/>
                </a:highlight>
                <a:latin typeface="Courier New"/>
                <a:ea typeface="Courier New"/>
                <a:cs typeface="Courier New"/>
                <a:sym typeface="Courier New"/>
              </a:rPr>
              <a:t> </a:t>
            </a:r>
            <a:endParaRPr sz="1000">
              <a:solidFill>
                <a:srgbClr val="273239"/>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000">
                <a:solidFill>
                  <a:srgbClr val="273239"/>
                </a:solidFill>
                <a:highlight>
                  <a:srgbClr val="FFFFFF"/>
                </a:highlight>
                <a:latin typeface="Courier New"/>
                <a:ea typeface="Courier New"/>
                <a:cs typeface="Courier New"/>
                <a:sym typeface="Courier New"/>
              </a:rPr>
              <a:t>        </a:t>
            </a:r>
            <a:r>
              <a:rPr lang="en" sz="1000">
                <a:solidFill>
                  <a:srgbClr val="008200"/>
                </a:solidFill>
                <a:highlight>
                  <a:srgbClr val="FFFFFF"/>
                </a:highlight>
                <a:latin typeface="Courier New"/>
                <a:ea typeface="Courier New"/>
                <a:cs typeface="Courier New"/>
                <a:sym typeface="Courier New"/>
              </a:rPr>
              <a:t>// creating an integer type array(to) which contains</a:t>
            </a:r>
            <a:endParaRPr sz="10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000">
                <a:solidFill>
                  <a:srgbClr val="273239"/>
                </a:solidFill>
                <a:highlight>
                  <a:srgbClr val="FFFFFF"/>
                </a:highlight>
                <a:latin typeface="Courier New"/>
                <a:ea typeface="Courier New"/>
                <a:cs typeface="Courier New"/>
                <a:sym typeface="Courier New"/>
              </a:rPr>
              <a:t>        </a:t>
            </a:r>
            <a:r>
              <a:rPr lang="en" sz="1000">
                <a:solidFill>
                  <a:srgbClr val="008200"/>
                </a:solidFill>
                <a:highlight>
                  <a:srgbClr val="FFFFFF"/>
                </a:highlight>
                <a:latin typeface="Courier New"/>
                <a:ea typeface="Courier New"/>
                <a:cs typeface="Courier New"/>
                <a:sym typeface="Courier New"/>
              </a:rPr>
              <a:t>// id of each View in each row of the list</a:t>
            </a:r>
            <a:endParaRPr sz="10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000">
                <a:solidFill>
                  <a:srgbClr val="273239"/>
                </a:solidFill>
                <a:highlight>
                  <a:srgbClr val="FFFFFF"/>
                </a:highlight>
                <a:latin typeface="Courier New"/>
                <a:ea typeface="Courier New"/>
                <a:cs typeface="Courier New"/>
                <a:sym typeface="Courier New"/>
              </a:rPr>
              <a:t>        </a:t>
            </a:r>
            <a:r>
              <a:rPr lang="en" sz="1000">
                <a:solidFill>
                  <a:srgbClr val="008200"/>
                </a:solidFill>
                <a:highlight>
                  <a:srgbClr val="FFFFFF"/>
                </a:highlight>
                <a:latin typeface="Courier New"/>
                <a:ea typeface="Courier New"/>
                <a:cs typeface="Courier New"/>
                <a:sym typeface="Courier New"/>
              </a:rPr>
              <a:t>// and this array(form) is the fifth parameter of the SimpleAdapter</a:t>
            </a:r>
            <a:endParaRPr sz="10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000">
                <a:solidFill>
                  <a:srgbClr val="273239"/>
                </a:solidFill>
                <a:highlight>
                  <a:srgbClr val="FFFFFF"/>
                </a:highlight>
                <a:latin typeface="Courier New"/>
                <a:ea typeface="Courier New"/>
                <a:cs typeface="Courier New"/>
                <a:sym typeface="Courier New"/>
              </a:rPr>
              <a:t>        </a:t>
            </a:r>
            <a:r>
              <a:rPr lang="en" sz="1000" b="1">
                <a:solidFill>
                  <a:srgbClr val="006699"/>
                </a:solidFill>
                <a:highlight>
                  <a:srgbClr val="FFFFFF"/>
                </a:highlight>
                <a:latin typeface="Courier New"/>
                <a:ea typeface="Courier New"/>
                <a:cs typeface="Courier New"/>
                <a:sym typeface="Courier New"/>
              </a:rPr>
              <a:t>int</a:t>
            </a:r>
            <a:r>
              <a:rPr lang="en" sz="1000">
                <a:solidFill>
                  <a:srgbClr val="273239"/>
                </a:solidFill>
                <a:highlight>
                  <a:srgbClr val="FFFFFF"/>
                </a:highlight>
                <a:latin typeface="Courier New"/>
                <a:ea typeface="Courier New"/>
                <a:cs typeface="Courier New"/>
                <a:sym typeface="Courier New"/>
              </a:rPr>
              <a:t> </a:t>
            </a:r>
            <a:r>
              <a:rPr lang="en" sz="1000">
                <a:solidFill>
                  <a:schemeClr val="dk1"/>
                </a:solidFill>
                <a:highlight>
                  <a:srgbClr val="FFFFFF"/>
                </a:highlight>
                <a:latin typeface="Courier New"/>
                <a:ea typeface="Courier New"/>
                <a:cs typeface="Courier New"/>
                <a:sym typeface="Courier New"/>
              </a:rPr>
              <a:t>to[] = {R.id.textView, R.id.imageView};</a:t>
            </a:r>
            <a:endParaRPr sz="10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000">
                <a:solidFill>
                  <a:srgbClr val="273239"/>
                </a:solidFill>
                <a:highlight>
                  <a:srgbClr val="FFFFFF"/>
                </a:highlight>
                <a:latin typeface="Courier New"/>
                <a:ea typeface="Courier New"/>
                <a:cs typeface="Courier New"/>
                <a:sym typeface="Courier New"/>
              </a:rPr>
              <a:t> </a:t>
            </a:r>
            <a:endParaRPr sz="1000">
              <a:solidFill>
                <a:srgbClr val="273239"/>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000">
                <a:solidFill>
                  <a:srgbClr val="273239"/>
                </a:solidFill>
                <a:highlight>
                  <a:srgbClr val="FFFFFF"/>
                </a:highlight>
                <a:latin typeface="Courier New"/>
                <a:ea typeface="Courier New"/>
                <a:cs typeface="Courier New"/>
                <a:sym typeface="Courier New"/>
              </a:rPr>
              <a:t>        </a:t>
            </a:r>
            <a:r>
              <a:rPr lang="en" sz="1000">
                <a:solidFill>
                  <a:srgbClr val="008200"/>
                </a:solidFill>
                <a:highlight>
                  <a:srgbClr val="FFFFFF"/>
                </a:highlight>
                <a:latin typeface="Courier New"/>
                <a:ea typeface="Courier New"/>
                <a:cs typeface="Courier New"/>
                <a:sym typeface="Courier New"/>
              </a:rPr>
              <a:t>// creating an Object of SimpleAdapter class and</a:t>
            </a:r>
            <a:endParaRPr sz="10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000">
                <a:solidFill>
                  <a:srgbClr val="273239"/>
                </a:solidFill>
                <a:highlight>
                  <a:srgbClr val="FFFFFF"/>
                </a:highlight>
                <a:latin typeface="Courier New"/>
                <a:ea typeface="Courier New"/>
                <a:cs typeface="Courier New"/>
                <a:sym typeface="Courier New"/>
              </a:rPr>
              <a:t>        </a:t>
            </a:r>
            <a:r>
              <a:rPr lang="en" sz="1000">
                <a:solidFill>
                  <a:srgbClr val="008200"/>
                </a:solidFill>
                <a:highlight>
                  <a:srgbClr val="FFFFFF"/>
                </a:highlight>
                <a:latin typeface="Courier New"/>
                <a:ea typeface="Courier New"/>
                <a:cs typeface="Courier New"/>
                <a:sym typeface="Courier New"/>
              </a:rPr>
              <a:t>// passing all the required parameters</a:t>
            </a:r>
            <a:endParaRPr sz="10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000">
                <a:solidFill>
                  <a:srgbClr val="273239"/>
                </a:solidFill>
                <a:highlight>
                  <a:srgbClr val="FFFFFF"/>
                </a:highlight>
                <a:latin typeface="Courier New"/>
                <a:ea typeface="Courier New"/>
                <a:cs typeface="Courier New"/>
                <a:sym typeface="Courier New"/>
              </a:rPr>
              <a:t>        </a:t>
            </a:r>
            <a:r>
              <a:rPr lang="en" sz="1000">
                <a:solidFill>
                  <a:schemeClr val="dk1"/>
                </a:solidFill>
                <a:highlight>
                  <a:srgbClr val="FFFFFF"/>
                </a:highlight>
                <a:latin typeface="Courier New"/>
                <a:ea typeface="Courier New"/>
                <a:cs typeface="Courier New"/>
                <a:sym typeface="Courier New"/>
              </a:rPr>
              <a:t>SimpleAdapter simpleAdapter = </a:t>
            </a:r>
            <a:r>
              <a:rPr lang="en" sz="1000" b="1">
                <a:solidFill>
                  <a:srgbClr val="006699"/>
                </a:solidFill>
                <a:highlight>
                  <a:srgbClr val="FFFFFF"/>
                </a:highlight>
                <a:latin typeface="Courier New"/>
                <a:ea typeface="Courier New"/>
                <a:cs typeface="Courier New"/>
                <a:sym typeface="Courier New"/>
              </a:rPr>
              <a:t>new</a:t>
            </a:r>
            <a:r>
              <a:rPr lang="en" sz="1000">
                <a:solidFill>
                  <a:srgbClr val="273239"/>
                </a:solidFill>
                <a:highlight>
                  <a:srgbClr val="FFFFFF"/>
                </a:highlight>
                <a:latin typeface="Courier New"/>
                <a:ea typeface="Courier New"/>
                <a:cs typeface="Courier New"/>
                <a:sym typeface="Courier New"/>
              </a:rPr>
              <a:t> </a:t>
            </a:r>
            <a:r>
              <a:rPr lang="en" sz="1000">
                <a:solidFill>
                  <a:schemeClr val="dk1"/>
                </a:solidFill>
                <a:highlight>
                  <a:srgbClr val="FFFFFF"/>
                </a:highlight>
                <a:latin typeface="Courier New"/>
                <a:ea typeface="Courier New"/>
                <a:cs typeface="Courier New"/>
                <a:sym typeface="Courier New"/>
              </a:rPr>
              <a:t>SimpleAdapter(getApplicationContext(), list, R.layout.list_row_items, from, to);</a:t>
            </a:r>
            <a:endParaRPr sz="10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000">
                <a:solidFill>
                  <a:srgbClr val="273239"/>
                </a:solidFill>
                <a:highlight>
                  <a:srgbClr val="FFFFFF"/>
                </a:highlight>
                <a:latin typeface="Courier New"/>
                <a:ea typeface="Courier New"/>
                <a:cs typeface="Courier New"/>
                <a:sym typeface="Courier New"/>
              </a:rPr>
              <a:t> </a:t>
            </a:r>
            <a:endParaRPr sz="1000">
              <a:solidFill>
                <a:srgbClr val="273239"/>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000">
                <a:solidFill>
                  <a:srgbClr val="273239"/>
                </a:solidFill>
                <a:highlight>
                  <a:srgbClr val="FFFFFF"/>
                </a:highlight>
                <a:latin typeface="Courier New"/>
                <a:ea typeface="Courier New"/>
                <a:cs typeface="Courier New"/>
                <a:sym typeface="Courier New"/>
              </a:rPr>
              <a:t>        </a:t>
            </a:r>
            <a:r>
              <a:rPr lang="en" sz="1000">
                <a:solidFill>
                  <a:srgbClr val="008200"/>
                </a:solidFill>
                <a:highlight>
                  <a:srgbClr val="FFFFFF"/>
                </a:highlight>
                <a:latin typeface="Courier New"/>
                <a:ea typeface="Courier New"/>
                <a:cs typeface="Courier New"/>
                <a:sym typeface="Courier New"/>
              </a:rPr>
              <a:t>// now setting the simpleAdapter to the ListView</a:t>
            </a:r>
            <a:endParaRPr sz="1000">
              <a:solidFill>
                <a:srgbClr val="008200"/>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000">
                <a:solidFill>
                  <a:srgbClr val="273239"/>
                </a:solidFill>
                <a:highlight>
                  <a:srgbClr val="FFFFFF"/>
                </a:highlight>
                <a:latin typeface="Courier New"/>
                <a:ea typeface="Courier New"/>
                <a:cs typeface="Courier New"/>
                <a:sym typeface="Courier New"/>
              </a:rPr>
              <a:t>        </a:t>
            </a:r>
            <a:r>
              <a:rPr lang="en" sz="1000">
                <a:solidFill>
                  <a:schemeClr val="dk1"/>
                </a:solidFill>
                <a:highlight>
                  <a:srgbClr val="FFFFFF"/>
                </a:highlight>
                <a:latin typeface="Courier New"/>
                <a:ea typeface="Courier New"/>
                <a:cs typeface="Courier New"/>
                <a:sym typeface="Courier New"/>
              </a:rPr>
              <a:t>listView.setAdapter(simpleAdapter);</a:t>
            </a:r>
            <a:endParaRPr sz="1000">
              <a:solidFill>
                <a:schemeClr val="dk1"/>
              </a:solidFill>
              <a:highlight>
                <a:srgbClr val="FFFFFF"/>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000">
                <a:solidFill>
                  <a:srgbClr val="273239"/>
                </a:solidFill>
                <a:highlight>
                  <a:srgbClr val="FFFFFF"/>
                </a:highlight>
                <a:latin typeface="Courier New"/>
                <a:ea typeface="Courier New"/>
                <a:cs typeface="Courier New"/>
                <a:sym typeface="Courier New"/>
              </a:rPr>
              <a:t>    </a:t>
            </a:r>
            <a:r>
              <a:rPr lang="en" sz="1000">
                <a:solidFill>
                  <a:schemeClr val="dk1"/>
                </a:solidFill>
                <a:highlight>
                  <a:srgbClr val="FFFFFF"/>
                </a:highlight>
                <a:latin typeface="Courier New"/>
                <a:ea typeface="Courier New"/>
                <a:cs typeface="Courier New"/>
                <a:sym typeface="Courier New"/>
              </a:rPr>
              <a:t>}</a:t>
            </a:r>
            <a:endParaRPr sz="1000">
              <a:solidFill>
                <a:schemeClr val="dk1"/>
              </a:solidFill>
              <a:highlight>
                <a:srgbClr val="FFFFFF"/>
              </a:highlight>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endParaRPr sz="1000"/>
          </a:p>
          <a:p>
            <a:pPr marL="0" lvl="0" indent="0" algn="l" rtl="0">
              <a:lnSpc>
                <a:spcPct val="115000"/>
              </a:lnSpc>
              <a:spcBef>
                <a:spcPts val="1200"/>
              </a:spcBef>
              <a:spcAft>
                <a:spcPts val="1200"/>
              </a:spcAft>
              <a:buSzPts val="1800"/>
              <a:buNone/>
            </a:pPr>
            <a:endParaRPr sz="10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TotalTime>
  <Words>6613</Words>
  <Application>Microsoft Office PowerPoint</Application>
  <PresentationFormat>On-screen Show (16:9)</PresentationFormat>
  <Paragraphs>459</Paragraphs>
  <Slides>62</Slides>
  <Notes>62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62</vt:i4>
      </vt:variant>
    </vt:vector>
  </HeadingPairs>
  <TitlesOfParts>
    <vt:vector size="69" baseType="lpstr">
      <vt:lpstr>Roboto</vt:lpstr>
      <vt:lpstr>Times New Roman</vt:lpstr>
      <vt:lpstr>Arial</vt:lpstr>
      <vt:lpstr>Courier New</vt:lpstr>
      <vt:lpstr>Roboto Condensed</vt:lpstr>
      <vt:lpstr>Nunito</vt:lpstr>
      <vt:lpstr>Simple Light</vt:lpstr>
      <vt:lpstr>What is Android?  </vt:lpstr>
      <vt:lpstr>Features of Android </vt:lpstr>
      <vt:lpstr>History of Android</vt:lpstr>
      <vt:lpstr>PowerPoint Presentation</vt:lpstr>
      <vt:lpstr>PowerPoint Presentation</vt:lpstr>
      <vt:lpstr>PowerPoint Presentation</vt:lpstr>
      <vt:lpstr>Creating an Android Project</vt:lpstr>
      <vt:lpstr>Creating a new application</vt:lpstr>
      <vt:lpstr>Specifying device support</vt:lpstr>
      <vt:lpstr>Choosing a type of activity</vt:lpstr>
      <vt:lpstr>Choosing a type of activity</vt:lpstr>
      <vt:lpstr>Configuring the new activity</vt:lpstr>
      <vt:lpstr>A Fresh project window</vt:lpstr>
      <vt:lpstr>Four main pillars of Android</vt:lpstr>
      <vt:lpstr>PowerPoint Presentation</vt:lpstr>
      <vt:lpstr>Basic structural layout of Android Studio </vt:lpstr>
      <vt:lpstr>Android Platform Architecture</vt:lpstr>
      <vt:lpstr>PowerPoint Presentation</vt:lpstr>
      <vt:lpstr>PowerPoint Presentation</vt:lpstr>
      <vt:lpstr>PowerPoint Presentation</vt:lpstr>
      <vt:lpstr>PowerPoint Presentation</vt:lpstr>
      <vt:lpstr>Important Android Terminology</vt:lpstr>
      <vt:lpstr>PowerPoint Presentation</vt:lpstr>
      <vt:lpstr>PowerPoint Presentation</vt:lpstr>
      <vt:lpstr>PowerPoint Presentation</vt:lpstr>
      <vt:lpstr>PowerPoint Presentation</vt:lpstr>
      <vt:lpstr>PowerPoint Presentation</vt:lpstr>
      <vt:lpstr>Intents and Intent filters</vt:lpstr>
      <vt:lpstr>Types of Intents</vt:lpstr>
      <vt:lpstr>Implicit Intent</vt:lpstr>
      <vt:lpstr>Explicit Intent</vt:lpstr>
      <vt:lpstr>Intent filter</vt:lpstr>
      <vt:lpstr>PowerPoint Presentation</vt:lpstr>
      <vt:lpstr>Elements of Intent filter</vt:lpstr>
      <vt:lpstr>Services</vt:lpstr>
      <vt:lpstr>Types of Services</vt:lpstr>
      <vt:lpstr>PowerPoint Presentation</vt:lpstr>
      <vt:lpstr>Types of services </vt:lpstr>
      <vt:lpstr>PowerPoint Presentation</vt:lpstr>
      <vt:lpstr>Fundamentals of android services</vt:lpstr>
      <vt:lpstr>PowerPoint Presentation</vt:lpstr>
      <vt:lpstr>Broadcast Receivers</vt:lpstr>
      <vt:lpstr>Creating the Broadcast Receiver </vt:lpstr>
      <vt:lpstr>Registering Broadcast Receiver </vt:lpstr>
      <vt:lpstr>System Event Constants</vt:lpstr>
      <vt:lpstr>Fragments</vt:lpstr>
      <vt:lpstr>PowerPoint Presentation</vt:lpstr>
      <vt:lpstr>Fragment Lifecycle </vt:lpstr>
      <vt:lpstr>PowerPoint Presentation</vt:lpstr>
      <vt:lpstr>PowerPoint Presentation</vt:lpstr>
      <vt:lpstr>PowerPoint Presentation</vt:lpstr>
      <vt:lpstr>This involves number of simple steps to create Fragments.</vt:lpstr>
      <vt:lpstr>Types of Fragments </vt:lpstr>
      <vt:lpstr>PowerPoint Presentation</vt:lpstr>
      <vt:lpstr>How to send data from Activity to Fragment</vt:lpstr>
      <vt:lpstr>PowerPoint Presentation</vt:lpstr>
      <vt:lpstr>ArrayAdapter</vt:lpstr>
      <vt:lpstr>PowerPoint Presentation</vt:lpstr>
      <vt:lpstr>SimpleAdapter</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Preety Tilwani</cp:lastModifiedBy>
  <cp:revision>7</cp:revision>
  <dcterms:modified xsi:type="dcterms:W3CDTF">2026-08-04T06:32:31Z</dcterms:modified>
</cp:coreProperties>
</file>