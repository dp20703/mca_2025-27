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CC3B-4D46-3050-E58E-1E8F95522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BEF0A-59D5-0D81-9066-9F28B7672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E5407-C11A-2413-00C0-7FE540F2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8E745-D441-1588-B7C9-E4141B9C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C982-390E-107C-DF74-39EDACD8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52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0A8C-7B6B-E47E-9186-554413B2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2163A-A4FB-187E-16D3-6152C1F5F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A1B74-4C63-885D-4969-388224AC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A359D-B86C-20A3-8E42-B4C1EAD2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ECB33-6DBF-A027-E390-6807CF97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93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8AA4-9866-3F04-8C8A-9F976C11F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6F553-1489-D5E6-69CC-37499098A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3C3AD-A116-99AF-8D45-2A763EE6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C390-B674-72D8-AD1F-0952BC5B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011F5-58A0-833F-A43D-925865EE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8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4095-9E1C-7B49-64BE-0732AAA6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C2B7-E5F5-E3CA-C988-0DC0B6969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EB0B4-B78A-01C8-F33F-E91D60D5D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6E415-A9C8-4A0E-EDFA-FAF8D5BD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4934-7D49-BA91-E27F-C313107A5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48110-5BDC-9170-4D78-9311140D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09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2896-56F6-A456-B4AE-4B0AD789E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E3BA8-E314-06F1-5F84-4D39110F5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6866B-0FD6-0395-CD21-EA444CB9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D4FA2-80CA-4AF7-C988-30F8DA9F2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3CDB72-7BA6-B41A-5A1D-680A8E8B0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C134F-FF99-D912-5AB0-FD8A94C0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A578F-68E0-EF33-A5D2-9FF390A1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5D8A7-D608-6B34-91B7-EBE5706C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7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FB22-B52C-ECBC-1E33-B3C766DB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61110-E89A-8CD5-1A7E-E7D3829E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65CDA-F98F-D5E1-10A5-3356D3C6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6A103-FEC0-4CC3-1B23-74431B64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1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606EC3-4DA7-E2D1-DC45-0481D68E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9086E-1ACA-AEB6-6A39-BFEBA528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0E137-63A4-B7AC-62C2-41EDE8F9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90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A7FD-270F-9877-9A88-3E9D97A2A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5B54A-7FB5-3DCF-DB74-2C3B54B0F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71B60-5DE0-08B7-57BE-615144638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514BE-2744-2E9B-5E47-B74EA4CC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76227-C1D4-C405-A68E-82A1DE18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DC853-F089-1478-A354-08EC9BD7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10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0395-C767-9E90-9C20-9CC97F45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40EE48-4CFD-F028-12C4-973ED5845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36EDF-10D0-55C3-C868-F87FD8361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A1AE8-001B-B531-44EE-68062626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E8A6E-A148-F5D8-5305-43B5AED58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BBDCC-5996-69A6-09B8-15DDF51A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388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7786-0FD2-D43C-5A20-A5336DC85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17095-43C2-D3A2-D92A-474CC57D9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581C1-F589-78E3-B970-81A9A093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A1B7A-A877-53FF-5399-AF4571F7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972E6-3989-ACCA-1A8C-263F771F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99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AC1FB-84DB-684F-95D2-3C574A8F7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7E32B-EFC3-FE4A-89DA-6D6259499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2990C-C0CE-B382-51C6-9692CB67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3A9C7-49ED-0A6D-6940-61966BD1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AA890-CEBB-5134-61A9-C498DD4B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081E8-7B53-97F2-D842-FBF79830D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B9DD2-223B-A3DD-DC00-8892E2215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4911C-8DF7-FD5A-7DBC-5E3A65713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2994C-D88C-40EF-ACB1-1C5E219326C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F33A2-1E59-A059-9238-28A274271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06EC-12BA-E1D5-EA30-6A82609BB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73221-9476-4CDB-AAAF-EE0616251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4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971A-8E4C-9D63-73A6-8203AFBBF6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CE7CC-34CF-2F7A-C743-99D1518D6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22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76C2-C30C-9905-B755-0491DC44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Image Segmentation?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15E8-2A66-008F-FFA9-897B1938F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Image segmentation</a:t>
            </a:r>
            <a:r>
              <a:rPr lang="en-IN" dirty="0"/>
              <a:t> is the process of dividing an image into different regions based on similar properties such as:</a:t>
            </a:r>
          </a:p>
          <a:p>
            <a:pPr lvl="0"/>
            <a:r>
              <a:rPr lang="en-IN" dirty="0" err="1"/>
              <a:t>Color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Intensity/brightness </a:t>
            </a:r>
          </a:p>
          <a:p>
            <a:pPr lvl="0"/>
            <a:r>
              <a:rPr lang="en-IN" dirty="0"/>
              <a:t>Texture </a:t>
            </a:r>
          </a:p>
          <a:p>
            <a:pPr lvl="0"/>
            <a:r>
              <a:rPr lang="en-IN" dirty="0"/>
              <a:t>Shape </a:t>
            </a:r>
          </a:p>
          <a:p>
            <a:r>
              <a:rPr lang="en-IN" dirty="0"/>
              <a:t>For example, in a medical image, we may want to separate a </a:t>
            </a:r>
            <a:r>
              <a:rPr lang="en-IN" b="1" dirty="0" err="1"/>
              <a:t>tumor</a:t>
            </a:r>
            <a:r>
              <a:rPr lang="en-IN" b="1" dirty="0"/>
              <a:t> from healthy tissue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36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85C1-3758-E5BF-08E3-DC6FEA31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Region Growing?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42EF5-54E6-04E1-2FDB-DF3E62819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Region Growing</a:t>
            </a:r>
            <a:r>
              <a:rPr lang="en-IN" dirty="0"/>
              <a:t> is a simple image segmentation technique.</a:t>
            </a:r>
          </a:p>
          <a:p>
            <a:r>
              <a:rPr lang="en-IN" dirty="0"/>
              <a:t>It starts with one or more selected pixels called </a:t>
            </a:r>
            <a:r>
              <a:rPr lang="en-IN" b="1" dirty="0"/>
              <a:t>seed points</a:t>
            </a:r>
            <a:r>
              <a:rPr lang="en-IN" dirty="0"/>
              <a:t> and grows the region by adding </a:t>
            </a:r>
            <a:r>
              <a:rPr lang="en-IN" dirty="0" err="1"/>
              <a:t>neighboring</a:t>
            </a:r>
            <a:r>
              <a:rPr lang="en-IN" dirty="0"/>
              <a:t> pixels that are sufficiently similar to the seed.</a:t>
            </a:r>
          </a:p>
          <a:p>
            <a:r>
              <a:rPr lang="en-IN" dirty="0"/>
              <a:t>If the </a:t>
            </a:r>
            <a:r>
              <a:rPr lang="en-IN" dirty="0" err="1"/>
              <a:t>neighboring</a:t>
            </a:r>
            <a:r>
              <a:rPr lang="en-IN" dirty="0"/>
              <a:t> pixels have similar intensity, they are added to the region.</a:t>
            </a:r>
          </a:p>
          <a:p>
            <a:r>
              <a:rPr lang="en-IN" dirty="0"/>
              <a:t>The process continues until no more suitable </a:t>
            </a:r>
            <a:r>
              <a:rPr lang="en-IN" dirty="0" err="1"/>
              <a:t>neighboring</a:t>
            </a:r>
            <a:r>
              <a:rPr lang="en-IN" dirty="0"/>
              <a:t> pixels are found.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483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9E1A6-1F0A-DA43-76B2-EEF13D24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Consider this small grayscale image: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C9098-6ADB-8D06-0C66-8675B303B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10   12   11   80   85</a:t>
            </a:r>
          </a:p>
          <a:p>
            <a:r>
              <a:rPr lang="en-IN" dirty="0"/>
              <a:t>11   13   12   82   88</a:t>
            </a:r>
          </a:p>
          <a:p>
            <a:r>
              <a:rPr lang="en-IN" dirty="0"/>
              <a:t>10   12   14   81   86</a:t>
            </a:r>
          </a:p>
          <a:p>
            <a:r>
              <a:rPr lang="en-IN" dirty="0"/>
              <a:t>50   52   55   90   92</a:t>
            </a:r>
          </a:p>
          <a:p>
            <a:endParaRPr lang="en-IN" dirty="0"/>
          </a:p>
          <a:p>
            <a:r>
              <a:rPr lang="en-IN" dirty="0"/>
              <a:t>Suppose our seed is: 13</a:t>
            </a:r>
          </a:p>
          <a:p>
            <a:r>
              <a:rPr lang="en-IN" dirty="0"/>
              <a:t>and the threshold is:</a:t>
            </a:r>
          </a:p>
          <a:p>
            <a:r>
              <a:rPr lang="en-IN" dirty="0"/>
              <a:t>Threshold = 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67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7E38-238A-76D6-88BF-108A5FB2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21617-CF06-D580-B402-5775441BF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accept pixels whose intensity is within 5 of the seed:</a:t>
            </a:r>
          </a:p>
          <a:p>
            <a:r>
              <a:rPr lang="en-US" dirty="0"/>
              <a:t>Seed = 13</a:t>
            </a:r>
          </a:p>
          <a:p>
            <a:endParaRPr lang="en-US" dirty="0"/>
          </a:p>
          <a:p>
            <a:r>
              <a:rPr lang="en-US" dirty="0"/>
              <a:t>13 - 5 = 8</a:t>
            </a:r>
          </a:p>
          <a:p>
            <a:r>
              <a:rPr lang="en-US" dirty="0"/>
              <a:t>13 + 5 = 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22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F7EC-0586-15DA-DBB2-7DB1420B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D55E-2C17-8566-21CA-FE5E719F4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Therefore, values from approximately </a:t>
            </a:r>
            <a:r>
              <a:rPr lang="en-IN" b="1" dirty="0"/>
              <a:t>8 to 18</a:t>
            </a:r>
            <a:r>
              <a:rPr lang="en-IN" dirty="0"/>
              <a:t> can belong to the region.	</a:t>
            </a:r>
          </a:p>
          <a:p>
            <a:endParaRPr lang="en-IN" dirty="0"/>
          </a:p>
          <a:p>
            <a:r>
              <a:rPr lang="en-IN" dirty="0"/>
              <a:t>1   1   1   0   0</a:t>
            </a:r>
          </a:p>
          <a:p>
            <a:r>
              <a:rPr lang="en-IN" dirty="0"/>
              <a:t>1   1   1   0   0</a:t>
            </a:r>
          </a:p>
          <a:p>
            <a:r>
              <a:rPr lang="en-IN" dirty="0"/>
              <a:t>1   1   1   0   0</a:t>
            </a:r>
          </a:p>
          <a:p>
            <a:r>
              <a:rPr lang="en-IN" dirty="0"/>
              <a:t>0   0   0   0   0</a:t>
            </a:r>
          </a:p>
          <a:p>
            <a:endParaRPr lang="en-IN" dirty="0"/>
          </a:p>
          <a:p>
            <a:pPr lvl="0"/>
            <a:r>
              <a:rPr lang="en-IN" dirty="0"/>
              <a:t>1 belongs to the region </a:t>
            </a:r>
          </a:p>
          <a:p>
            <a:pPr lvl="0"/>
            <a:r>
              <a:rPr lang="en-IN" dirty="0"/>
              <a:t>0 = does not belong to the region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3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494C-CBDD-BD9F-1710-DD66AD8F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8769-FB86-1A18-D247-B0176BBC8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Suppose our current pixel is (1,1):</a:t>
            </a:r>
          </a:p>
          <a:p>
            <a:r>
              <a:rPr lang="en-IN" dirty="0"/>
              <a:t>(1,1) = 6</a:t>
            </a:r>
          </a:p>
          <a:p>
            <a:r>
              <a:rPr lang="en-IN" dirty="0"/>
              <a:t>Its 4 </a:t>
            </a:r>
            <a:r>
              <a:rPr lang="en-IN" dirty="0" err="1"/>
              <a:t>neighbors</a:t>
            </a:r>
            <a:r>
              <a:rPr lang="en-IN" dirty="0"/>
              <a:t> are:</a:t>
            </a:r>
          </a:p>
          <a:p>
            <a:endParaRPr lang="en-IN" dirty="0"/>
          </a:p>
          <a:p>
            <a:r>
              <a:rPr lang="en-IN" dirty="0"/>
              <a:t>      (1,0)</a:t>
            </a:r>
          </a:p>
          <a:p>
            <a:r>
              <a:rPr lang="en-IN" dirty="0"/>
              <a:t>          ↑</a:t>
            </a:r>
          </a:p>
          <a:p>
            <a:r>
              <a:rPr lang="en-IN" dirty="0"/>
              <a:t>          |</a:t>
            </a:r>
          </a:p>
          <a:p>
            <a:r>
              <a:rPr lang="en-IN" dirty="0"/>
              <a:t>(0,1) ← (1,1) → (2,1)</a:t>
            </a:r>
          </a:p>
          <a:p>
            <a:r>
              <a:rPr lang="en-IN" dirty="0"/>
              <a:t>          |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     (1,2)</a:t>
            </a:r>
          </a:p>
        </p:txBody>
      </p:sp>
    </p:spTree>
    <p:extLst>
      <p:ext uri="{BB962C8B-B14F-4D97-AF65-F5344CB8AC3E}">
        <p14:creationId xmlns:p14="http://schemas.microsoft.com/office/powerpoint/2010/main" val="1821268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4CCF-733B-E998-9657-E384C9D4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74A59-9C05-150A-C867-F4CBB5E64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err="1"/>
              <a:t>neighbors</a:t>
            </a:r>
            <a:r>
              <a:rPr lang="en-IN" dirty="0"/>
              <a:t> = [(0,1), (2,1), (1,0), (1,2)]</a:t>
            </a:r>
          </a:p>
          <a:p>
            <a:r>
              <a:rPr lang="en-IN" dirty="0" err="1"/>
              <a:t>nx</a:t>
            </a:r>
            <a:r>
              <a:rPr lang="en-IN" dirty="0"/>
              <a:t> = 0 </a:t>
            </a:r>
            <a:r>
              <a:rPr lang="en-IN" dirty="0" err="1"/>
              <a:t>ny</a:t>
            </a:r>
            <a:r>
              <a:rPr lang="en-IN" dirty="0"/>
              <a:t> = 1</a:t>
            </a:r>
          </a:p>
          <a:p>
            <a:r>
              <a:rPr lang="en-IN" dirty="0"/>
              <a:t>So we are checking (0,1).</a:t>
            </a:r>
          </a:p>
          <a:p>
            <a:endParaRPr lang="en-IN" dirty="0"/>
          </a:p>
          <a:p>
            <a:r>
              <a:rPr lang="en-IN" dirty="0"/>
              <a:t>Is it inside the image?</a:t>
            </a:r>
          </a:p>
          <a:p>
            <a:r>
              <a:rPr lang="en-US" dirty="0"/>
              <a:t>if 0 &lt;= </a:t>
            </a:r>
            <a:r>
              <a:rPr lang="en-US" dirty="0" err="1"/>
              <a:t>nx</a:t>
            </a:r>
            <a:r>
              <a:rPr lang="en-US" dirty="0"/>
              <a:t> &lt; 3 and 0 &lt;= </a:t>
            </a:r>
            <a:r>
              <a:rPr lang="en-US" dirty="0" err="1"/>
              <a:t>ny</a:t>
            </a:r>
            <a:r>
              <a:rPr lang="en-US" dirty="0"/>
              <a:t> &lt; 3:</a:t>
            </a:r>
          </a:p>
          <a:p>
            <a:endParaRPr lang="en-US" dirty="0"/>
          </a:p>
          <a:p>
            <a:r>
              <a:rPr lang="en-IN" dirty="0"/>
              <a:t>0 &lt;= 0 &lt; 3 </a:t>
            </a:r>
          </a:p>
          <a:p>
            <a:r>
              <a:rPr lang="en-IN" dirty="0"/>
              <a:t>0 &lt;= 1 &lt; 3 </a:t>
            </a:r>
          </a:p>
        </p:txBody>
      </p:sp>
    </p:spTree>
    <p:extLst>
      <p:ext uri="{BB962C8B-B14F-4D97-AF65-F5344CB8AC3E}">
        <p14:creationId xmlns:p14="http://schemas.microsoft.com/office/powerpoint/2010/main" val="145286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C06F-44C5-2A3B-7171-6FBCA6F6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419AC-0491-9D39-0FF8-26C9AC75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it is inside.</a:t>
            </a:r>
          </a:p>
          <a:p>
            <a:r>
              <a:rPr lang="en-IN" dirty="0"/>
              <a:t>Has it already been selected?</a:t>
            </a:r>
          </a:p>
          <a:p>
            <a:r>
              <a:rPr lang="en-IN" dirty="0"/>
              <a:t>Suppose:	</a:t>
            </a:r>
          </a:p>
          <a:p>
            <a:r>
              <a:rPr lang="en-IN" dirty="0"/>
              <a:t>region =</a:t>
            </a:r>
          </a:p>
          <a:p>
            <a:r>
              <a:rPr lang="en-IN" dirty="0"/>
              <a:t>0 0 0</a:t>
            </a:r>
          </a:p>
          <a:p>
            <a:r>
              <a:rPr lang="en-IN" dirty="0"/>
              <a:t>0 1 0</a:t>
            </a:r>
          </a:p>
          <a:p>
            <a:r>
              <a:rPr lang="en-IN" dirty="0"/>
              <a:t>0 0 0</a:t>
            </a:r>
          </a:p>
        </p:txBody>
      </p:sp>
    </p:spTree>
    <p:extLst>
      <p:ext uri="{BB962C8B-B14F-4D97-AF65-F5344CB8AC3E}">
        <p14:creationId xmlns:p14="http://schemas.microsoft.com/office/powerpoint/2010/main" val="109230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CFF3-E2BD-4829-9551-E7652557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902C1-00CE-5DF6-868E-17DE3796B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1 means our current pixel is already selected.</a:t>
            </a:r>
          </a:p>
          <a:p>
            <a:endParaRPr lang="en-IN" dirty="0"/>
          </a:p>
          <a:p>
            <a:r>
              <a:rPr lang="en-IN" dirty="0"/>
              <a:t>region =</a:t>
            </a:r>
          </a:p>
          <a:p>
            <a:r>
              <a:rPr lang="en-IN" dirty="0"/>
              <a:t>0 0 0</a:t>
            </a:r>
          </a:p>
          <a:p>
            <a:r>
              <a:rPr lang="en-IN" dirty="0"/>
              <a:t>0 1 0</a:t>
            </a:r>
          </a:p>
          <a:p>
            <a:r>
              <a:rPr lang="en-IN" dirty="0"/>
              <a:t>0 0 0</a:t>
            </a:r>
          </a:p>
        </p:txBody>
      </p:sp>
    </p:spTree>
    <p:extLst>
      <p:ext uri="{BB962C8B-B14F-4D97-AF65-F5344CB8AC3E}">
        <p14:creationId xmlns:p14="http://schemas.microsoft.com/office/powerpoint/2010/main" val="3992042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26E8-331A-C51E-27C4-5B75749D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Graph-Cut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55813-61DA-5DD7-CDA1-A09B6A0B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Graph Cut</a:t>
            </a:r>
            <a:r>
              <a:rPr lang="en-IN" dirty="0"/>
              <a:t> is an image segmentation method that treats the image like a </a:t>
            </a:r>
            <a:r>
              <a:rPr lang="en-IN" b="1" dirty="0"/>
              <a:t>graph</a:t>
            </a:r>
            <a:r>
              <a:rPr lang="en-IN" dirty="0"/>
              <a:t>.</a:t>
            </a:r>
          </a:p>
          <a:p>
            <a:r>
              <a:rPr lang="en-IN" dirty="0"/>
              <a:t>The pixels become </a:t>
            </a:r>
            <a:r>
              <a:rPr lang="en-IN" b="1" dirty="0"/>
              <a:t>nodes</a:t>
            </a:r>
            <a:r>
              <a:rPr lang="en-IN" dirty="0"/>
              <a:t>, and connections between </a:t>
            </a:r>
            <a:r>
              <a:rPr lang="en-IN" dirty="0" err="1"/>
              <a:t>neighboring</a:t>
            </a:r>
            <a:r>
              <a:rPr lang="en-IN" dirty="0"/>
              <a:t> pixels become </a:t>
            </a:r>
            <a:r>
              <a:rPr lang="en-IN" b="1" dirty="0"/>
              <a:t>edges</a:t>
            </a:r>
            <a:r>
              <a:rPr lang="en-IN" dirty="0"/>
              <a:t>.</a:t>
            </a:r>
          </a:p>
          <a:p>
            <a:r>
              <a:rPr lang="en-IN" dirty="0"/>
              <a:t>Example: Separate an apple from the background</a:t>
            </a:r>
          </a:p>
          <a:p>
            <a:endParaRPr lang="en-IN" dirty="0"/>
          </a:p>
          <a:p>
            <a:r>
              <a:rPr lang="en-IN" dirty="0"/>
              <a:t>Imagine this image:</a:t>
            </a:r>
          </a:p>
        </p:txBody>
      </p:sp>
    </p:spTree>
    <p:extLst>
      <p:ext uri="{BB962C8B-B14F-4D97-AF65-F5344CB8AC3E}">
        <p14:creationId xmlns:p14="http://schemas.microsoft.com/office/powerpoint/2010/main" val="85534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7D464-1C3A-CCD8-4642-043FA466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60BC-686E-B9B3-36EB-B55DFDB7C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  Apple</a:t>
            </a:r>
          </a:p>
          <a:p>
            <a:r>
              <a:rPr lang="en-US" dirty="0"/>
              <a:t>   10  10  |  200 200</a:t>
            </a:r>
          </a:p>
          <a:p>
            <a:r>
              <a:rPr lang="en-US" dirty="0"/>
              <a:t>   10  10  |  200 200</a:t>
            </a:r>
          </a:p>
          <a:p>
            <a:r>
              <a:rPr lang="en-US" dirty="0"/>
              <a:t>   10  10  |  200 200</a:t>
            </a:r>
          </a:p>
          <a:p>
            <a:endParaRPr lang="en-US" dirty="0"/>
          </a:p>
          <a:p>
            <a:r>
              <a:rPr lang="en-IN" dirty="0"/>
              <a:t>Here:</a:t>
            </a:r>
          </a:p>
          <a:p>
            <a:pPr lvl="0"/>
            <a:r>
              <a:rPr lang="en-IN" dirty="0"/>
              <a:t>10 = background pixels </a:t>
            </a:r>
          </a:p>
          <a:p>
            <a:pPr lvl="0"/>
            <a:r>
              <a:rPr lang="en-IN" dirty="0"/>
              <a:t>200 = apple pixels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698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B10A-92D9-1424-BCED-3FE03D7EE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FD81E-D465-A447-8CF2-E0000AE16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Graph Cut converts this image into a </a:t>
            </a:r>
            <a:r>
              <a:rPr lang="en-IN" b="1" dirty="0"/>
              <a:t>graph</a:t>
            </a:r>
            <a:r>
              <a:rPr lang="en-IN" dirty="0"/>
              <a:t>.</a:t>
            </a:r>
          </a:p>
          <a:p>
            <a:r>
              <a:rPr lang="en-IN" dirty="0"/>
              <a:t>Pixels become Nodes</a:t>
            </a:r>
          </a:p>
          <a:p>
            <a:pPr marL="0" indent="0">
              <a:buNone/>
            </a:pPr>
            <a:r>
              <a:rPr lang="en-IN" dirty="0"/>
              <a:t>● ─ ● ─ ●</a:t>
            </a:r>
          </a:p>
          <a:p>
            <a:pPr marL="0" indent="0">
              <a:buNone/>
            </a:pPr>
            <a:r>
              <a:rPr lang="en-IN" dirty="0"/>
              <a:t>│      │      │</a:t>
            </a:r>
          </a:p>
          <a:p>
            <a:pPr marL="0" indent="0">
              <a:buNone/>
            </a:pPr>
            <a:r>
              <a:rPr lang="en-IN" dirty="0"/>
              <a:t>● ─ ● ─ ●</a:t>
            </a:r>
          </a:p>
          <a:p>
            <a:pPr marL="0" indent="0">
              <a:buNone/>
            </a:pPr>
            <a:r>
              <a:rPr lang="en-IN" dirty="0"/>
              <a:t>│      │      │</a:t>
            </a:r>
          </a:p>
          <a:p>
            <a:pPr marL="0" indent="0">
              <a:buNone/>
            </a:pPr>
            <a:r>
              <a:rPr lang="en-IN" dirty="0"/>
              <a:t>● ─ ● ─ ●</a:t>
            </a:r>
          </a:p>
        </p:txBody>
      </p:sp>
    </p:spTree>
    <p:extLst>
      <p:ext uri="{BB962C8B-B14F-4D97-AF65-F5344CB8AC3E}">
        <p14:creationId xmlns:p14="http://schemas.microsoft.com/office/powerpoint/2010/main" val="664179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FB88-6F12-2436-F219-C904E789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A86F-D4AC-7063-993C-EE1EB9344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● = pixel/node</a:t>
            </a:r>
          </a:p>
          <a:p>
            <a:r>
              <a:rPr lang="en-IN" dirty="0" err="1"/>
              <a:t>Neighboring</a:t>
            </a:r>
            <a:r>
              <a:rPr lang="en-IN" dirty="0"/>
              <a:t> pixels are connected</a:t>
            </a:r>
          </a:p>
          <a:p>
            <a:r>
              <a:rPr lang="en-IN" dirty="0"/>
              <a:t>The lines mean </a:t>
            </a:r>
            <a:r>
              <a:rPr lang="en-IN" dirty="0" err="1"/>
              <a:t>neighboring</a:t>
            </a:r>
            <a:r>
              <a:rPr lang="en-IN" dirty="0"/>
              <a:t> pixels are connected.</a:t>
            </a:r>
          </a:p>
          <a:p>
            <a:r>
              <a:rPr lang="en-IN" dirty="0"/>
              <a:t>● ─ ●</a:t>
            </a:r>
          </a:p>
          <a:p>
            <a:r>
              <a:rPr lang="en-IN" dirty="0"/>
              <a:t>│       │</a:t>
            </a:r>
          </a:p>
          <a:p>
            <a:r>
              <a:rPr lang="en-IN" dirty="0"/>
              <a:t>● ─ ●</a:t>
            </a:r>
          </a:p>
          <a:p>
            <a:r>
              <a:rPr lang="en-IN" dirty="0"/>
              <a:t>These connections are called </a:t>
            </a:r>
            <a:r>
              <a:rPr lang="en-IN" b="1" dirty="0"/>
              <a:t>edges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421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35DD-100B-488F-3936-0BF7D18F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D3E66-EA69-8350-B5AD-1816CA304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Source and Sink</a:t>
            </a:r>
          </a:p>
          <a:p>
            <a:r>
              <a:rPr lang="en-IN" dirty="0"/>
              <a:t>Graph Cut adds two special nodes:</a:t>
            </a:r>
          </a:p>
          <a:p>
            <a:r>
              <a:rPr lang="en-IN" dirty="0"/>
              <a:t>SOURCE              SINK</a:t>
            </a:r>
          </a:p>
          <a:p>
            <a:r>
              <a:rPr lang="en-IN" dirty="0"/>
              <a:t>  ↓                                 ↓</a:t>
            </a:r>
          </a:p>
          <a:p>
            <a:r>
              <a:rPr lang="en-IN" dirty="0"/>
              <a:t>Foreground          Background</a:t>
            </a:r>
          </a:p>
        </p:txBody>
      </p:sp>
    </p:spTree>
    <p:extLst>
      <p:ext uri="{BB962C8B-B14F-4D97-AF65-F5344CB8AC3E}">
        <p14:creationId xmlns:p14="http://schemas.microsoft.com/office/powerpoint/2010/main" val="555258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F24C-0208-2B28-CFBF-91762239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6315-9737-57DF-0365-E4CEF165D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For our apple:</a:t>
            </a:r>
          </a:p>
          <a:p>
            <a:r>
              <a:rPr lang="en-IN" dirty="0"/>
              <a:t>SOURCE → Apple pixels</a:t>
            </a:r>
          </a:p>
          <a:p>
            <a:r>
              <a:rPr lang="en-IN" dirty="0"/>
              <a:t>SINK → Background pixels</a:t>
            </a:r>
          </a:p>
          <a:p>
            <a:endParaRPr lang="en-IN" dirty="0"/>
          </a:p>
          <a:p>
            <a:r>
              <a:rPr lang="en-IN" dirty="0"/>
              <a:t>The algorithm makes a CUT</a:t>
            </a:r>
          </a:p>
          <a:p>
            <a:r>
              <a:rPr lang="en-IN" dirty="0"/>
              <a:t>Graph Cut looks at </a:t>
            </a:r>
            <a:r>
              <a:rPr lang="en-IN" b="1" dirty="0"/>
              <a:t>connections between </a:t>
            </a:r>
            <a:r>
              <a:rPr lang="en-IN" b="1" dirty="0" err="1"/>
              <a:t>neighboring</a:t>
            </a:r>
            <a:r>
              <a:rPr lang="en-IN" b="1" dirty="0"/>
              <a:t> pixels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For example:</a:t>
            </a:r>
          </a:p>
          <a:p>
            <a:r>
              <a:rPr lang="en-IN" dirty="0"/>
              <a:t>10 ─── 10 ─── 200 ─── 200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730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7088-5C1C-36C4-E74A-542137E2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9B7BB-65B0-C611-96E9-E389AD58C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a big difference between 10 and 200.</a:t>
            </a:r>
          </a:p>
          <a:p>
            <a:r>
              <a:rPr lang="en-IN" dirty="0"/>
              <a:t>So the connection between them becomes a </a:t>
            </a:r>
            <a:r>
              <a:rPr lang="en-IN" b="1" dirty="0"/>
              <a:t>good place to cut</a:t>
            </a:r>
            <a:r>
              <a:rPr lang="en-IN" dirty="0"/>
              <a:t>.</a:t>
            </a:r>
          </a:p>
          <a:p>
            <a:r>
              <a:rPr lang="en-IN" dirty="0"/>
              <a:t>10 ─── 10      200 ─── 200</a:t>
            </a:r>
          </a:p>
          <a:p>
            <a:r>
              <a:rPr lang="en-IN" dirty="0"/>
              <a:t>                    ↑</a:t>
            </a:r>
          </a:p>
          <a:p>
            <a:r>
              <a:rPr lang="en-IN" dirty="0"/>
              <a:t>                  CUT</a:t>
            </a:r>
          </a:p>
          <a:p>
            <a:r>
              <a:rPr lang="en-IN" dirty="0"/>
              <a:t>But look at two similar pixels:10 ─── 10	</a:t>
            </a:r>
          </a:p>
          <a:p>
            <a:r>
              <a:rPr lang="en-IN" dirty="0"/>
              <a:t>They are very similar, so cutting between them is usually </a:t>
            </a:r>
            <a:r>
              <a:rPr lang="en-IN" b="1" dirty="0"/>
              <a:t>not desirable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6416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F80E-D57A-7891-E027-F4CC80C6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74901-D071-EFE1-185D-79A459DE9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 want to separate foreground and background, but I should cut where the pixel difference is large and avoid cutting through similar pixels.</a:t>
            </a:r>
          </a:p>
          <a:p>
            <a:r>
              <a:rPr lang="en-IN" dirty="0"/>
              <a:t>Graph Cut finds a boundary by choosing a cut through the pixel connections that gives the lowest overall cost, usually preferring strong intensity/</a:t>
            </a:r>
            <a:r>
              <a:rPr lang="en-IN" dirty="0" err="1"/>
              <a:t>color</a:t>
            </a:r>
            <a:r>
              <a:rPr lang="en-IN" dirty="0"/>
              <a:t> differences.</a:t>
            </a:r>
          </a:p>
        </p:txBody>
      </p:sp>
    </p:spTree>
    <p:extLst>
      <p:ext uri="{BB962C8B-B14F-4D97-AF65-F5344CB8AC3E}">
        <p14:creationId xmlns:p14="http://schemas.microsoft.com/office/powerpoint/2010/main" val="1764472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2DEF1-DBD9-FC93-4DE0-240221AD8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577" y="492369"/>
            <a:ext cx="10067191" cy="568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57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F036A0-0002-A4B7-377C-0F84C25F7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746" y="404446"/>
            <a:ext cx="10216662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01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53AB-DE8C-7A86-3208-1C8D3F69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Mean Shift?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7DBC1-F2D8-144E-C522-D16AD0B0D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Mean Shift is a clustering algorithm.</a:t>
            </a:r>
            <a:endParaRPr lang="en-IN" dirty="0"/>
          </a:p>
          <a:p>
            <a:r>
              <a:rPr lang="en-IN" dirty="0"/>
              <a:t>Its basic idea is:</a:t>
            </a:r>
          </a:p>
          <a:p>
            <a:r>
              <a:rPr lang="en-IN" b="1" dirty="0"/>
              <a:t>Look at nearby points → calculate their mean → move the window to that mean → repeat until the </a:t>
            </a:r>
            <a:r>
              <a:rPr lang="en-IN" b="1" dirty="0" err="1"/>
              <a:t>center</a:t>
            </a:r>
            <a:r>
              <a:rPr lang="en-IN" b="1" dirty="0"/>
              <a:t> stops moving.</a:t>
            </a:r>
            <a:endParaRPr lang="en-IN" dirty="0"/>
          </a:p>
          <a:p>
            <a:r>
              <a:rPr lang="en-IN" dirty="0"/>
              <a:t>It is called </a:t>
            </a:r>
            <a:r>
              <a:rPr lang="en-IN" b="1" dirty="0"/>
              <a:t>Mean Shift</a:t>
            </a:r>
            <a:r>
              <a:rPr lang="en-IN" dirty="0"/>
              <a:t> because the window keeps </a:t>
            </a:r>
            <a:r>
              <a:rPr lang="en-IN" b="1" dirty="0"/>
              <a:t>shifting toward the mean</a:t>
            </a:r>
            <a:r>
              <a:rPr lang="en-IN" dirty="0"/>
              <a:t> (the area with more points).</a:t>
            </a:r>
          </a:p>
          <a:p>
            <a:r>
              <a:rPr lang="en-IN" b="1" dirty="0"/>
              <a:t>Image segmentation</a:t>
            </a:r>
            <a:r>
              <a:rPr lang="en-IN" dirty="0"/>
              <a:t> means dividing an image into meaningful groups/regions.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239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3B19-A0E0-1734-F52F-C7CBC2A6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92C49-C40A-CB93-807E-F3112E0AF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10  11  12  13  14</a:t>
            </a:r>
          </a:p>
          <a:p>
            <a:r>
              <a:rPr lang="en-IN" dirty="0"/>
              <a:t>11  12  13  14  15</a:t>
            </a:r>
          </a:p>
          <a:p>
            <a:r>
              <a:rPr lang="en-IN" dirty="0"/>
              <a:t>12  13  14  15  16</a:t>
            </a:r>
          </a:p>
          <a:p>
            <a:r>
              <a:rPr lang="en-IN" dirty="0"/>
              <a:t>80  81  82  83  84</a:t>
            </a:r>
          </a:p>
          <a:p>
            <a:r>
              <a:rPr lang="en-IN" dirty="0"/>
              <a:t>81  82  83  84  85</a:t>
            </a:r>
          </a:p>
        </p:txBody>
      </p:sp>
    </p:spTree>
    <p:extLst>
      <p:ext uri="{BB962C8B-B14F-4D97-AF65-F5344CB8AC3E}">
        <p14:creationId xmlns:p14="http://schemas.microsoft.com/office/powerpoint/2010/main" val="926045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EF1F-DD2D-0747-DE5E-904347D3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98EE1-E9EC-DF25-4C96-7E0792B0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Region 1 → intensity around 10–16</a:t>
            </a:r>
          </a:p>
          <a:p>
            <a:endParaRPr lang="en-US" dirty="0"/>
          </a:p>
          <a:p>
            <a:r>
              <a:rPr lang="en-US" dirty="0"/>
              <a:t>Region 2 → intensity around 80–85</a:t>
            </a:r>
          </a:p>
          <a:p>
            <a:r>
              <a:rPr lang="en-IN" dirty="0"/>
              <a:t>Suppose we start with a pixel having value:</a:t>
            </a:r>
          </a:p>
          <a:p>
            <a:r>
              <a:rPr lang="en-IN" dirty="0"/>
              <a:t>X=13</a:t>
            </a:r>
          </a:p>
          <a:p>
            <a:r>
              <a:rPr lang="en-IN" dirty="0"/>
              <a:t>and choose nearby pixels:</a:t>
            </a:r>
          </a:p>
          <a:p>
            <a:r>
              <a:rPr lang="en-IN" dirty="0"/>
              <a:t>10,11,12,13,14,15</a:t>
            </a:r>
          </a:p>
        </p:txBody>
      </p:sp>
    </p:spTree>
    <p:extLst>
      <p:ext uri="{BB962C8B-B14F-4D97-AF65-F5344CB8AC3E}">
        <p14:creationId xmlns:p14="http://schemas.microsoft.com/office/powerpoint/2010/main" val="3121555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19BA4-5654-B641-7AFF-0A82FB94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A83C6-C4DA-4061-952D-45B6661D9E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Their mean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𝑀𝑒𝑎𝑛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10+11+12+13+14+15</m:t>
                        </m:r>
                      </m:num>
                      <m:den>
                        <m:r>
                          <a:rPr lang="en-IN"/>
                          <m:t>6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Mean=12.5</a:t>
                </a:r>
              </a:p>
              <a:p>
                <a:r>
                  <a:rPr lang="en-IN" dirty="0"/>
                  <a:t>So the point shifts:</a:t>
                </a:r>
              </a:p>
              <a:p>
                <a:r>
                  <a:rPr lang="en-IN" dirty="0"/>
                  <a:t>13→12.5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A83C6-C4DA-4061-952D-45B6661D9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592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0A5C-277B-07F5-59F2-3FE4B148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AFB29-0A92-B4DA-EF49-F459ED6EF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ow we look around 12.5 again.</a:t>
                </a:r>
              </a:p>
              <a:p>
                <a:r>
                  <a:rPr lang="en-IN" dirty="0"/>
                  <a:t>Suppose the new </a:t>
                </a:r>
                <a:r>
                  <a:rPr lang="en-IN" dirty="0" err="1"/>
                  <a:t>neighborhood</a:t>
                </a:r>
                <a:r>
                  <a:rPr lang="en-IN" dirty="0"/>
                  <a:t> is: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11,12,13,14,15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Mean: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11+12+13+14+15</m:t>
                        </m:r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  <m:r>
                      <a:rPr lang="en-IN"/>
                      <m:t>=13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So it shifts back toward:</a:t>
                </a:r>
              </a:p>
              <a:p>
                <a:r>
                  <a:rPr lang="en-IN" dirty="0"/>
                  <a:t>12.5→13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AFB29-0A92-B4DA-EF49-F459ED6EF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000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9398-D84C-A7D0-1D1F-A2AF2331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A7417-649F-DE74-4123-773810F14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After several iterations, it converges around the </a:t>
            </a:r>
            <a:r>
              <a:rPr lang="en-IN" dirty="0" err="1"/>
              <a:t>center</a:t>
            </a:r>
            <a:r>
              <a:rPr lang="en-IN" dirty="0"/>
              <a:t> of that dense group.</a:t>
            </a:r>
          </a:p>
          <a:p>
            <a:r>
              <a:rPr lang="en-IN" dirty="0"/>
              <a:t>A pixel starting around 82 would instead converge toward approximately 82.</a:t>
            </a:r>
          </a:p>
          <a:p>
            <a:r>
              <a:rPr lang="en-IN" dirty="0"/>
              <a:t>Thus we get two clusters.</a:t>
            </a:r>
          </a:p>
          <a:p>
            <a:r>
              <a:rPr lang="en-IN" b="1" dirty="0"/>
              <a:t>shifting” is the whole point of Mean Shift.</a:t>
            </a:r>
            <a:r>
              <a:rPr lang="en-IN" dirty="0"/>
              <a:t> We shift because we want to find the </a:t>
            </a:r>
            <a:r>
              <a:rPr lang="en-IN" b="1" dirty="0"/>
              <a:t>densest/similar group of pixels</a:t>
            </a:r>
            <a:r>
              <a:rPr lang="en-IN" dirty="0"/>
              <a:t> that a particular pixel belongs to.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018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A996-6A7C-880A-A992-1AFBFB82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2D422-FCC9-CD4D-EF88-18522812E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stable point = convergence.</a:t>
            </a:r>
          </a:p>
          <a:p>
            <a:r>
              <a:rPr lang="en-IN" dirty="0"/>
              <a:t>10   11   12   50</a:t>
            </a:r>
          </a:p>
          <a:p>
            <a:r>
              <a:rPr lang="en-IN" dirty="0"/>
              <a:t>11   12   13   51</a:t>
            </a:r>
          </a:p>
          <a:p>
            <a:r>
              <a:rPr lang="en-IN" dirty="0"/>
              <a:t>12   13   14   52</a:t>
            </a:r>
          </a:p>
          <a:p>
            <a:r>
              <a:rPr lang="en-IN" dirty="0"/>
              <a:t>80   81   82   83</a:t>
            </a:r>
          </a:p>
        </p:txBody>
      </p:sp>
    </p:spTree>
    <p:extLst>
      <p:ext uri="{BB962C8B-B14F-4D97-AF65-F5344CB8AC3E}">
        <p14:creationId xmlns:p14="http://schemas.microsoft.com/office/powerpoint/2010/main" val="615096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5334-8CEB-0790-9868-FB3F0C38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F448-86AB-CE41-2AB9-129B7938C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10  11  12</a:t>
            </a:r>
          </a:p>
          <a:p>
            <a:r>
              <a:rPr lang="en-IN" dirty="0"/>
              <a:t>11  12  13</a:t>
            </a:r>
          </a:p>
          <a:p>
            <a:r>
              <a:rPr lang="en-IN" dirty="0"/>
              <a:t>12  13  14</a:t>
            </a:r>
          </a:p>
          <a:p>
            <a:endParaRPr lang="en-IN" dirty="0"/>
          </a:p>
          <a:p>
            <a:r>
              <a:rPr lang="en-IN" dirty="0"/>
              <a:t>50  51  52</a:t>
            </a:r>
          </a:p>
          <a:p>
            <a:endParaRPr lang="en-IN" dirty="0"/>
          </a:p>
          <a:p>
            <a:r>
              <a:rPr lang="en-IN" dirty="0"/>
              <a:t>80  81  82  83</a:t>
            </a:r>
          </a:p>
        </p:txBody>
      </p:sp>
    </p:spTree>
    <p:extLst>
      <p:ext uri="{BB962C8B-B14F-4D97-AF65-F5344CB8AC3E}">
        <p14:creationId xmlns:p14="http://schemas.microsoft.com/office/powerpoint/2010/main" val="3443432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B85A-5C22-FB64-C5DB-E0289A12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FB5267-935E-F615-69C9-D8BD9C8CB5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But </a:t>
                </a:r>
                <a:r>
                  <a:rPr lang="en-IN" b="1" dirty="0"/>
                  <a:t>Mean Shift doesn't know these groups beforehand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Pick one pixel</a:t>
                </a:r>
              </a:p>
              <a:p>
                <a:r>
                  <a:rPr lang="en-IN" dirty="0"/>
                  <a:t>Suppose we start with:</a:t>
                </a:r>
              </a:p>
              <a:p>
                <a:r>
                  <a:rPr lang="en-IN" dirty="0"/>
                  <a:t>10</a:t>
                </a:r>
              </a:p>
              <a:p>
                <a:r>
                  <a:rPr lang="en-IN" dirty="0"/>
                  <a:t>Our current point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=10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We need to look at pixels </a:t>
                </a:r>
                <a:r>
                  <a:rPr lang="en-IN" b="1" dirty="0"/>
                  <a:t>near 10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Suppose our bandwidth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ℎ</m:t>
                    </m:r>
                    <m:r>
                      <a:rPr lang="en-IN"/>
                      <m:t>=3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So we consider values within roughly 3 units of our current value.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FB5267-935E-F615-69C9-D8BD9C8CB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352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A15E-870D-EDAF-70FD-4F74F0D4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C7719-AD4A-2086-4EE2-A687C4837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Around 10, we have:</a:t>
                </a:r>
              </a:p>
              <a:p>
                <a:r>
                  <a:rPr lang="en-IN" dirty="0"/>
                  <a:t>10, 11, 11, 12</a:t>
                </a:r>
              </a:p>
              <a:p>
                <a:r>
                  <a:rPr lang="en-IN" b="1" dirty="0"/>
                  <a:t>Step 2: Calculate the mean</a:t>
                </a:r>
              </a:p>
              <a:p>
                <a:r>
                  <a:rPr lang="en-IN" dirty="0"/>
                  <a:t>Calculate their average: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𝑀𝑒𝑎𝑛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10+11+11+12</m:t>
                        </m:r>
                      </m:num>
                      <m:den>
                        <m:r>
                          <a:rPr lang="en-IN"/>
                          <m:t>4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𝑀𝑒𝑎𝑛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44</m:t>
                        </m:r>
                      </m:num>
                      <m:den>
                        <m:r>
                          <a:rPr lang="en-IN"/>
                          <m:t>4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𝑀𝑒𝑎𝑛</m:t>
                    </m:r>
                    <m:r>
                      <a:rPr lang="en-IN"/>
                      <m:t>=11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So our new position becomes:</a:t>
                </a:r>
              </a:p>
              <a:p>
                <a:r>
                  <a:rPr lang="en-IN" dirty="0"/>
                  <a:t>10→11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C7719-AD4A-2086-4EE2-A687C4837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770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4C56-A0B4-AF02-2200-5AC9C06F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70F44-8235-CF84-9EC4-F40FD765E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This is the first SHIFT.</a:t>
            </a:r>
          </a:p>
          <a:p>
            <a:r>
              <a:rPr lang="en-IN" dirty="0"/>
              <a:t>Why did we shift?</a:t>
            </a:r>
          </a:p>
          <a:p>
            <a:r>
              <a:rPr lang="en-IN" dirty="0"/>
              <a:t>Because the nearby pixels are </a:t>
            </a:r>
            <a:r>
              <a:rPr lang="en-IN" dirty="0" err="1"/>
              <a:t>centered</a:t>
            </a:r>
            <a:r>
              <a:rPr lang="en-IN" dirty="0"/>
              <a:t> around </a:t>
            </a:r>
            <a:r>
              <a:rPr lang="en-IN" b="1" dirty="0"/>
              <a:t>11</a:t>
            </a:r>
            <a:r>
              <a:rPr lang="en-IN" dirty="0"/>
              <a:t>, not 10.</a:t>
            </a:r>
          </a:p>
          <a:p>
            <a:r>
              <a:rPr lang="en-IN" dirty="0"/>
              <a:t>So we move toward the </a:t>
            </a:r>
            <a:r>
              <a:rPr lang="en-IN" dirty="0" err="1"/>
              <a:t>center</a:t>
            </a:r>
            <a:r>
              <a:rPr lang="en-IN" dirty="0"/>
              <a:t> of the nearby group.</a:t>
            </a:r>
          </a:p>
          <a:p>
            <a:r>
              <a:rPr lang="en-IN" dirty="0"/>
              <a:t>Look around the NEW position</a:t>
            </a:r>
          </a:p>
          <a:p>
            <a:r>
              <a:rPr lang="en-IN" dirty="0"/>
              <a:t>X=11 </a:t>
            </a:r>
          </a:p>
          <a:p>
            <a:r>
              <a:rPr lang="en-IN" dirty="0"/>
              <a:t>We again look at nearby pixels.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640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6629-0CE2-748E-8157-512355E2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C5624-82D1-9BAF-1E36-A3C6D292A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suppose we find:</a:t>
                </a:r>
              </a:p>
              <a:p>
                <a:r>
                  <a:rPr lang="en-IN" dirty="0"/>
                  <a:t>10, 11, 11, 12, 12, 13</a:t>
                </a:r>
              </a:p>
              <a:p>
                <a:r>
                  <a:rPr lang="en-IN" dirty="0"/>
                  <a:t>Calculate their mean: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𝑀𝑒𝑎𝑛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10+11+11+12+12+13</m:t>
                        </m:r>
                      </m:num>
                      <m:den>
                        <m:r>
                          <a:rPr lang="en-IN"/>
                          <m:t>6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𝑀𝑒𝑎𝑛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69</m:t>
                        </m:r>
                      </m:num>
                      <m:den>
                        <m:r>
                          <a:rPr lang="en-IN"/>
                          <m:t>6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𝑀𝑒𝑎𝑛</m:t>
                    </m:r>
                    <m:r>
                      <a:rPr lang="en-IN"/>
                      <m:t>=11.5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So we shift again: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11→11.5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C5624-82D1-9BAF-1E36-A3C6D292A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112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D43A-C250-B448-702F-C27731737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49DA80-CEFA-644C-B84F-ABB4386D6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IN" b="1" dirty="0"/>
                  <a:t>Step 4: Again</a:t>
                </a:r>
              </a:p>
              <a:p>
                <a:r>
                  <a:rPr lang="en-IN" dirty="0"/>
                  <a:t>Now: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=11.5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Look at nearby pixels again.</a:t>
                </a:r>
              </a:p>
              <a:p>
                <a:r>
                  <a:rPr lang="en-IN" dirty="0"/>
                  <a:t>Suppose the nearby pixels are:</a:t>
                </a:r>
              </a:p>
              <a:p>
                <a:r>
                  <a:rPr lang="en-IN" dirty="0"/>
                  <a:t>10, 11, 11, 12, 12, 13</a:t>
                </a:r>
              </a:p>
              <a:p>
                <a:r>
                  <a:rPr lang="en-IN" dirty="0"/>
                  <a:t>Mean is still: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11.5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11.5→11.5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Nothing changes.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49DA80-CEFA-644C-B84F-ABB4386D6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516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666C-4598-3B59-9322-9D9E13CF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BC88A-318E-C94A-A776-4842E93E47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IN" b="1" dirty="0"/>
                  <a:t>We have CONVERGED.</a:t>
                </a:r>
              </a:p>
              <a:p>
                <a:r>
                  <a:rPr lang="en-IN" dirty="0"/>
                  <a:t>The point has reached a stable location: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11.5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We can call this a </a:t>
                </a:r>
                <a:r>
                  <a:rPr lang="en-IN" b="1" dirty="0"/>
                  <a:t>mode</a:t>
                </a:r>
                <a:r>
                  <a:rPr lang="en-IN" dirty="0"/>
                  <a:t> or </a:t>
                </a:r>
                <a:r>
                  <a:rPr lang="en-IN" b="1" dirty="0"/>
                  <a:t>density peak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r>
                  <a:rPr lang="en-IN" dirty="0"/>
                  <a:t> Mean Shift</a:t>
                </a:r>
              </a:p>
              <a:p>
                <a:pPr marL="0" indent="0">
                  <a:buNone/>
                </a:pPr>
                <a:r>
                  <a:rPr lang="en-IN" dirty="0"/>
                  <a:t>                    ↓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10 11 12 13 14  →  Mode 1 ≈ 11.5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50 51 52        →  Mode 2 ≈ 51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80 81 82 83     →  Mode 3 ≈ 81.5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BC88A-318E-C94A-A776-4842E93E47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916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BA57-45FB-7886-068C-C1CF6DD5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DEF6-85C3-F927-B199-58FAA66D4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Segment 1       Segment 2       Segment 3</a:t>
            </a:r>
          </a:p>
          <a:p>
            <a:endParaRPr lang="fr-FR" dirty="0"/>
          </a:p>
          <a:p>
            <a:r>
              <a:rPr lang="fr-FR" dirty="0"/>
              <a:t>10 11 12                      50                    80</a:t>
            </a:r>
          </a:p>
          <a:p>
            <a:r>
              <a:rPr lang="fr-FR" dirty="0"/>
              <a:t>11 12 13        	     51                    81</a:t>
            </a:r>
          </a:p>
          <a:p>
            <a:r>
              <a:rPr lang="fr-FR" dirty="0"/>
              <a:t>12 13 14       	      52                  82</a:t>
            </a:r>
          </a:p>
          <a:p>
            <a:r>
              <a:rPr lang="fr-FR" dirty="0"/>
              <a:t>                                                                83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423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34457-0E9F-93EA-98AD-3D8608BB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F9DD-8E4B-2D9C-18C2-CEC27C4CB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RGB(105, 148, 198)   ← very similar</a:t>
            </a:r>
          </a:p>
          <a:p>
            <a:r>
              <a:rPr lang="en-US" dirty="0"/>
              <a:t>B = RGB(110, 155, 205)   ← similar</a:t>
            </a:r>
          </a:p>
          <a:p>
            <a:r>
              <a:rPr lang="en-US" dirty="0"/>
              <a:t>C = RGB(140, 180, 220)   ← more different</a:t>
            </a:r>
          </a:p>
          <a:p>
            <a:r>
              <a:rPr lang="en-US" dirty="0"/>
              <a:t>D = RGB(250, 20, 30)     ← very different</a:t>
            </a:r>
          </a:p>
          <a:p>
            <a:endParaRPr lang="en-US" dirty="0"/>
          </a:p>
          <a:p>
            <a:r>
              <a:rPr lang="en-IN" dirty="0"/>
              <a:t>Which nearby pixels have </a:t>
            </a:r>
            <a:r>
              <a:rPr lang="en-IN" dirty="0" err="1"/>
              <a:t>colors</a:t>
            </a:r>
            <a:r>
              <a:rPr lang="en-IN" dirty="0"/>
              <a:t> sufficiently close to my current </a:t>
            </a:r>
            <a:r>
              <a:rPr lang="en-IN" dirty="0" err="1"/>
              <a:t>color</a:t>
            </a:r>
            <a:r>
              <a:rPr lang="en-IN" dirty="0"/>
              <a:t>?“</a:t>
            </a:r>
          </a:p>
          <a:p>
            <a:r>
              <a:rPr lang="en-IN" dirty="0"/>
              <a:t>So 21 asks </a:t>
            </a:r>
            <a:r>
              <a:rPr lang="en-IN" b="1" dirty="0"/>
              <a:t>"how far should I look?"</a:t>
            </a:r>
            <a:r>
              <a:rPr lang="en-IN" dirty="0"/>
              <a:t>, while 51 asks </a:t>
            </a:r>
            <a:r>
              <a:rPr lang="en-IN" b="1" dirty="0"/>
              <a:t>"how different can the </a:t>
            </a:r>
            <a:r>
              <a:rPr lang="en-IN" b="1" dirty="0" err="1"/>
              <a:t>color</a:t>
            </a:r>
            <a:r>
              <a:rPr lang="en-IN" b="1" dirty="0"/>
              <a:t> be?"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36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1344</Words>
  <Application>Microsoft Office PowerPoint</Application>
  <PresentationFormat>Widescreen</PresentationFormat>
  <Paragraphs>236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UNIT 4</vt:lpstr>
      <vt:lpstr>What is Image Segmentation?</vt:lpstr>
      <vt:lpstr>What is Region Growing?</vt:lpstr>
      <vt:lpstr>Consider this small grayscale image: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Graph-Cut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Mean Shift?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hiralpadhariya@outlook.com</dc:creator>
  <cp:lastModifiedBy>hiralpadhariya@outlook.com</cp:lastModifiedBy>
  <cp:revision>63</cp:revision>
  <dcterms:created xsi:type="dcterms:W3CDTF">2026-09-02T09:12:50Z</dcterms:created>
  <dcterms:modified xsi:type="dcterms:W3CDTF">2026-09-07T09:24:25Z</dcterms:modified>
</cp:coreProperties>
</file>