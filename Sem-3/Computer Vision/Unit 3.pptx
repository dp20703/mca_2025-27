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66" r:id="rId18"/>
    <p:sldId id="267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420" r:id="rId43"/>
    <p:sldId id="421" r:id="rId44"/>
    <p:sldId id="422" r:id="rId45"/>
    <p:sldId id="423" r:id="rId46"/>
    <p:sldId id="424" r:id="rId47"/>
    <p:sldId id="425" r:id="rId48"/>
    <p:sldId id="484" r:id="rId49"/>
    <p:sldId id="426" r:id="rId50"/>
    <p:sldId id="427" r:id="rId51"/>
    <p:sldId id="428" r:id="rId52"/>
    <p:sldId id="429" r:id="rId53"/>
    <p:sldId id="430" r:id="rId54"/>
    <p:sldId id="431" r:id="rId55"/>
    <p:sldId id="432" r:id="rId56"/>
    <p:sldId id="433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305" r:id="rId66"/>
    <p:sldId id="306" r:id="rId67"/>
    <p:sldId id="307" r:id="rId68"/>
    <p:sldId id="308" r:id="rId69"/>
    <p:sldId id="309" r:id="rId70"/>
    <p:sldId id="310" r:id="rId71"/>
    <p:sldId id="311" r:id="rId72"/>
    <p:sldId id="312" r:id="rId73"/>
    <p:sldId id="313" r:id="rId74"/>
    <p:sldId id="314" r:id="rId75"/>
    <p:sldId id="315" r:id="rId76"/>
    <p:sldId id="316" r:id="rId77"/>
    <p:sldId id="317" r:id="rId78"/>
    <p:sldId id="318" r:id="rId79"/>
    <p:sldId id="319" r:id="rId80"/>
    <p:sldId id="320" r:id="rId81"/>
    <p:sldId id="321" r:id="rId82"/>
    <p:sldId id="322" r:id="rId83"/>
    <p:sldId id="323" r:id="rId84"/>
    <p:sldId id="324" r:id="rId85"/>
    <p:sldId id="325" r:id="rId86"/>
    <p:sldId id="326" r:id="rId87"/>
    <p:sldId id="327" r:id="rId88"/>
    <p:sldId id="328" r:id="rId89"/>
    <p:sldId id="329" r:id="rId90"/>
    <p:sldId id="330" r:id="rId91"/>
    <p:sldId id="331" r:id="rId92"/>
    <p:sldId id="332" r:id="rId93"/>
    <p:sldId id="333" r:id="rId94"/>
    <p:sldId id="334" r:id="rId95"/>
    <p:sldId id="335" r:id="rId96"/>
    <p:sldId id="336" r:id="rId97"/>
    <p:sldId id="337" r:id="rId98"/>
    <p:sldId id="338" r:id="rId99"/>
    <p:sldId id="339" r:id="rId100"/>
    <p:sldId id="340" r:id="rId101"/>
    <p:sldId id="341" r:id="rId102"/>
    <p:sldId id="342" r:id="rId103"/>
    <p:sldId id="343" r:id="rId104"/>
    <p:sldId id="344" r:id="rId105"/>
    <p:sldId id="345" r:id="rId106"/>
    <p:sldId id="346" r:id="rId107"/>
    <p:sldId id="347" r:id="rId108"/>
    <p:sldId id="348" r:id="rId109"/>
    <p:sldId id="349" r:id="rId110"/>
    <p:sldId id="350" r:id="rId111"/>
    <p:sldId id="351" r:id="rId112"/>
    <p:sldId id="352" r:id="rId113"/>
    <p:sldId id="353" r:id="rId114"/>
    <p:sldId id="354" r:id="rId115"/>
    <p:sldId id="355" r:id="rId116"/>
    <p:sldId id="356" r:id="rId117"/>
    <p:sldId id="357" r:id="rId118"/>
    <p:sldId id="358" r:id="rId119"/>
    <p:sldId id="359" r:id="rId120"/>
    <p:sldId id="360" r:id="rId121"/>
    <p:sldId id="361" r:id="rId122"/>
    <p:sldId id="362" r:id="rId123"/>
    <p:sldId id="363" r:id="rId124"/>
    <p:sldId id="364" r:id="rId125"/>
    <p:sldId id="365" r:id="rId126"/>
    <p:sldId id="366" r:id="rId127"/>
    <p:sldId id="367" r:id="rId128"/>
    <p:sldId id="368" r:id="rId129"/>
    <p:sldId id="369" r:id="rId130"/>
    <p:sldId id="370" r:id="rId131"/>
    <p:sldId id="371" r:id="rId132"/>
    <p:sldId id="372" r:id="rId133"/>
    <p:sldId id="373" r:id="rId134"/>
    <p:sldId id="374" r:id="rId135"/>
    <p:sldId id="375" r:id="rId136"/>
    <p:sldId id="376" r:id="rId137"/>
    <p:sldId id="377" r:id="rId138"/>
    <p:sldId id="378" r:id="rId139"/>
    <p:sldId id="379" r:id="rId140"/>
    <p:sldId id="380" r:id="rId141"/>
    <p:sldId id="381" r:id="rId142"/>
    <p:sldId id="382" r:id="rId143"/>
    <p:sldId id="383" r:id="rId144"/>
    <p:sldId id="384" r:id="rId145"/>
    <p:sldId id="385" r:id="rId146"/>
    <p:sldId id="386" r:id="rId147"/>
    <p:sldId id="387" r:id="rId148"/>
    <p:sldId id="388" r:id="rId149"/>
    <p:sldId id="389" r:id="rId150"/>
    <p:sldId id="390" r:id="rId151"/>
    <p:sldId id="391" r:id="rId152"/>
    <p:sldId id="392" r:id="rId153"/>
    <p:sldId id="393" r:id="rId154"/>
    <p:sldId id="394" r:id="rId155"/>
    <p:sldId id="395" r:id="rId156"/>
    <p:sldId id="396" r:id="rId157"/>
    <p:sldId id="397" r:id="rId158"/>
    <p:sldId id="398" r:id="rId159"/>
    <p:sldId id="399" r:id="rId160"/>
    <p:sldId id="400" r:id="rId161"/>
    <p:sldId id="401" r:id="rId162"/>
    <p:sldId id="402" r:id="rId163"/>
    <p:sldId id="403" r:id="rId164"/>
    <p:sldId id="404" r:id="rId165"/>
    <p:sldId id="405" r:id="rId166"/>
    <p:sldId id="406" r:id="rId167"/>
    <p:sldId id="407" r:id="rId168"/>
    <p:sldId id="408" r:id="rId169"/>
    <p:sldId id="409" r:id="rId170"/>
    <p:sldId id="410" r:id="rId171"/>
    <p:sldId id="411" r:id="rId172"/>
    <p:sldId id="412" r:id="rId173"/>
    <p:sldId id="413" r:id="rId174"/>
    <p:sldId id="414" r:id="rId175"/>
    <p:sldId id="415" r:id="rId176"/>
    <p:sldId id="416" r:id="rId177"/>
    <p:sldId id="417" r:id="rId178"/>
    <p:sldId id="418" r:id="rId179"/>
    <p:sldId id="419" r:id="rId180"/>
    <p:sldId id="434" r:id="rId181"/>
    <p:sldId id="435" r:id="rId182"/>
    <p:sldId id="436" r:id="rId183"/>
    <p:sldId id="437" r:id="rId184"/>
    <p:sldId id="438" r:id="rId185"/>
    <p:sldId id="439" r:id="rId186"/>
    <p:sldId id="440" r:id="rId187"/>
    <p:sldId id="441" r:id="rId188"/>
    <p:sldId id="442" r:id="rId189"/>
    <p:sldId id="443" r:id="rId190"/>
    <p:sldId id="444" r:id="rId191"/>
    <p:sldId id="445" r:id="rId192"/>
    <p:sldId id="446" r:id="rId193"/>
    <p:sldId id="447" r:id="rId194"/>
    <p:sldId id="448" r:id="rId195"/>
    <p:sldId id="449" r:id="rId196"/>
    <p:sldId id="450" r:id="rId197"/>
    <p:sldId id="451" r:id="rId198"/>
    <p:sldId id="453" r:id="rId199"/>
    <p:sldId id="454" r:id="rId200"/>
    <p:sldId id="452" r:id="rId201"/>
    <p:sldId id="455" r:id="rId202"/>
    <p:sldId id="457" r:id="rId203"/>
    <p:sldId id="458" r:id="rId204"/>
    <p:sldId id="456" r:id="rId205"/>
    <p:sldId id="459" r:id="rId206"/>
    <p:sldId id="460" r:id="rId207"/>
    <p:sldId id="461" r:id="rId208"/>
    <p:sldId id="462" r:id="rId209"/>
    <p:sldId id="463" r:id="rId210"/>
    <p:sldId id="464" r:id="rId211"/>
    <p:sldId id="465" r:id="rId212"/>
    <p:sldId id="466" r:id="rId213"/>
    <p:sldId id="467" r:id="rId214"/>
    <p:sldId id="468" r:id="rId215"/>
    <p:sldId id="469" r:id="rId216"/>
    <p:sldId id="470" r:id="rId217"/>
    <p:sldId id="471" r:id="rId218"/>
    <p:sldId id="472" r:id="rId219"/>
    <p:sldId id="473" r:id="rId220"/>
    <p:sldId id="474" r:id="rId221"/>
    <p:sldId id="475" r:id="rId222"/>
    <p:sldId id="476" r:id="rId223"/>
    <p:sldId id="477" r:id="rId224"/>
    <p:sldId id="478" r:id="rId225"/>
    <p:sldId id="479" r:id="rId226"/>
    <p:sldId id="480" r:id="rId227"/>
    <p:sldId id="481" r:id="rId228"/>
    <p:sldId id="482" r:id="rId229"/>
    <p:sldId id="483" r:id="rId230"/>
    <p:sldId id="485" r:id="rId231"/>
    <p:sldId id="486" r:id="rId232"/>
    <p:sldId id="487" r:id="rId233"/>
    <p:sldId id="488" r:id="rId2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tableStyles" Target="tableStyles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viewProps" Target="viewProps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presProps" Target="presProps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6536-2D68-73DB-5133-0CD9395EE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44FBE-66FA-32A6-E418-F7ADBA816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3B23D-007B-06C4-E345-AC9853D4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81870-CAE4-2E77-0994-2C898404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74B06-03DB-BED1-295F-E6DC403F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40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41E4-4B02-296C-A9F9-3FE60654B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CE533-17FE-4917-8FA7-763F17951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8AA4C-E244-C312-F48D-17317BEE3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A9947-2229-8816-B28C-7A4F36C1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46925-0B63-309D-66D3-A203079D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04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961F4-0DC6-A003-2C4B-DE83138A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F858F-81E6-BB9D-2133-FA37098A5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97242-34D5-E96E-B7F7-2EBD00BF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04843-A611-583D-3A2A-9501ED49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360D5-9EAD-FF96-5FB2-8332E13C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77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39E41-2952-7427-5B27-C8292001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18172-4CD9-CDDD-694C-A0A19F7F1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A7E47-A954-45BB-99B7-9170DCEBB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7855F-CC24-C7AF-F139-3051D745E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7A4BF-C370-7D44-AC3F-0504EEE47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8375E-21BC-CEB1-9FE6-33EFC647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19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A6B8-8AAE-703C-E9D4-31BDCDF0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953C3-EEB0-DC8B-29C3-07928D8F4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A0907-BC2E-3C8E-3E0B-C54E3F78F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CA77F-4AB2-68A7-7DA0-2D5A62CED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9F392-0396-A819-CA41-AF1FC2935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C622D-21E1-6673-CE6D-CD9A9A07D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7D5173-723B-FCE6-6460-28D50D1D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1D3F8-9500-AA9B-5BCB-218D4D93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75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B3A8-9179-2F77-4DAB-19BD2E2A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18581-CA61-55A0-16D2-FE2788B5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A1FF2-84EC-2A8C-E0C9-DC36BBAD3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1B160-BB18-B892-D696-F2EB43351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8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8D301-60C9-22FC-C9CB-F900D1CFB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8779B-842A-C49A-28D6-88D1B0EA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92DEE-2208-60A6-8B9D-E02FAA20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256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2D063-C9FC-0C16-535E-92FCA0680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0BD3A-FF13-C1AC-8DDB-851BE63EE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95B0C-0FEA-17D2-CD08-15ABC1B26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842AD-62C6-DC84-B99E-73DE25A9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771EF-03FF-5531-EC5A-7AEBB4C1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A85E1-1A67-DC8B-D200-65D57070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994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941D5-335A-66E7-8744-962A8C19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056835-16C1-39EC-E0B7-3BE9C0D31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B2C70-8763-2292-21F2-978D0E51C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D7FF6-BE88-A0A1-53B9-D71C0927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9F1B4-AB3C-4051-869F-5D1CE0BA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82AB1-9247-3ECF-1B41-7A438F751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58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8C6D-270F-1E1C-3532-F50AFC56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7883C-6747-7341-7D1E-73F9D60C2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0BC88-9422-1E80-EFB4-EA49F10E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5722D-2D3C-A5EC-E1ED-5A20E998C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A54F7-3E76-3A33-4E53-83F8D807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989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D3DFB-3A40-39A3-EF49-30BB27DB0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9F660-3C56-11B4-07D9-769C06E84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1FB8B-D5F0-85E5-541E-35FE7677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66262-9EB3-AC03-0D32-CD8E9933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7DEDD-3830-1010-2E31-D71C51ADF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79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0F278-FAF5-22F3-07A9-13E36886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B1CD0-824C-4893-BC54-C57F7059C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86D19-547B-61B4-558A-7D487A0B8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EFDB8-2334-4E14-AD22-F4501F5F08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F6AF8-88B5-E514-1FC7-5D64D4451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99523-9E7C-3711-C7B9-9B5D6B63E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085D1-1EAC-4BB5-B539-A91512DF6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46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9C1CA-90A8-B107-379D-70827D9330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Feature Extraction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238C4C-E529-77F6-A5A7-28FC3AB73C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378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9E5CD-D75E-DDB9-FD95-A4E44F74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6FFBF-1979-9C58-B0E8-42B398981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Suppose you have the  image of cat</a:t>
            </a:r>
          </a:p>
          <a:p>
            <a:r>
              <a:rPr lang="en-IN" dirty="0"/>
              <a:t>A computer doesn't naturally understand:</a:t>
            </a:r>
          </a:p>
          <a:p>
            <a:r>
              <a:rPr lang="en-IN" dirty="0"/>
              <a:t>"This is a cat."</a:t>
            </a:r>
          </a:p>
          <a:p>
            <a:r>
              <a:rPr lang="en-IN" dirty="0"/>
              <a:t>It sees numbers (pixel values).</a:t>
            </a:r>
          </a:p>
          <a:p>
            <a:r>
              <a:rPr lang="en-IN" dirty="0"/>
              <a:t>So we try to extract </a:t>
            </a:r>
            <a:r>
              <a:rPr lang="en-IN" b="1" dirty="0"/>
              <a:t>important information/features</a:t>
            </a:r>
            <a:r>
              <a:rPr lang="en-IN" dirty="0"/>
              <a:t> from the image.</a:t>
            </a:r>
          </a:p>
          <a:p>
            <a:r>
              <a:rPr lang="en-IN" dirty="0"/>
              <a:t>Examples of features:</a:t>
            </a:r>
          </a:p>
          <a:p>
            <a:pPr lvl="0"/>
            <a:r>
              <a:rPr lang="en-IN" dirty="0"/>
              <a:t>Edges </a:t>
            </a:r>
          </a:p>
          <a:p>
            <a:pPr lvl="0"/>
            <a:r>
              <a:rPr lang="en-IN" dirty="0"/>
              <a:t>Corners </a:t>
            </a:r>
          </a:p>
          <a:p>
            <a:pPr lvl="0"/>
            <a:r>
              <a:rPr lang="en-IN" dirty="0"/>
              <a:t>Shapes </a:t>
            </a:r>
          </a:p>
          <a:p>
            <a:pPr lvl="0"/>
            <a:r>
              <a:rPr lang="en-IN" dirty="0"/>
              <a:t>Texture </a:t>
            </a:r>
          </a:p>
          <a:p>
            <a:pPr lvl="0"/>
            <a:r>
              <a:rPr lang="en-IN" dirty="0" err="1"/>
              <a:t>Color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Keypoints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485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16CED-2CC5-96E4-058E-FEB77031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an Edge?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F925B-74AD-9C2C-374C-2DDCF4B30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</a:t>
            </a:r>
            <a:r>
              <a:rPr lang="en-IN" b="1" dirty="0"/>
              <a:t>edge</a:t>
            </a:r>
            <a:r>
              <a:rPr lang="en-IN" dirty="0"/>
              <a:t> is a place where the image intensity changes significantly.</a:t>
            </a:r>
          </a:p>
          <a:p>
            <a:r>
              <a:rPr lang="en-IN" dirty="0"/>
              <a:t>Consider this very simple image:</a:t>
            </a:r>
          </a:p>
          <a:p>
            <a:r>
              <a:rPr lang="en-US" dirty="0"/>
              <a:t>Black </a:t>
            </a:r>
            <a:r>
              <a:rPr lang="en-US" dirty="0" err="1"/>
              <a:t>Black</a:t>
            </a:r>
            <a:r>
              <a:rPr lang="en-US" dirty="0"/>
              <a:t> </a:t>
            </a:r>
            <a:r>
              <a:rPr lang="en-US" dirty="0" err="1"/>
              <a:t>Black</a:t>
            </a:r>
            <a:r>
              <a:rPr lang="en-US" dirty="0"/>
              <a:t> </a:t>
            </a:r>
            <a:r>
              <a:rPr lang="en-US" dirty="0" err="1"/>
              <a:t>Black</a:t>
            </a:r>
            <a:r>
              <a:rPr lang="en-US" dirty="0"/>
              <a:t> White </a:t>
            </a:r>
            <a:r>
              <a:rPr lang="en-US" dirty="0" err="1"/>
              <a:t>White</a:t>
            </a:r>
            <a:r>
              <a:rPr lang="en-US" dirty="0"/>
              <a:t> </a:t>
            </a:r>
            <a:r>
              <a:rPr lang="en-US" dirty="0" err="1"/>
              <a:t>White</a:t>
            </a:r>
            <a:r>
              <a:rPr lang="en-US" dirty="0"/>
              <a:t> </a:t>
            </a:r>
            <a:r>
              <a:rPr lang="en-US" dirty="0" err="1"/>
              <a:t>White</a:t>
            </a:r>
            <a:endParaRPr lang="en-US" dirty="0"/>
          </a:p>
          <a:p>
            <a:r>
              <a:rPr lang="en-US" dirty="0"/>
              <a:t>  0     0     0     0    255   255   255   255</a:t>
            </a:r>
          </a:p>
          <a:p>
            <a:r>
              <a:rPr lang="en-IN" dirty="0"/>
              <a:t>There is a big change here:</a:t>
            </a:r>
          </a:p>
          <a:p>
            <a:r>
              <a:rPr lang="en-IN" dirty="0"/>
              <a:t>That location is an </a:t>
            </a:r>
            <a:r>
              <a:rPr lang="en-IN" b="1" dirty="0"/>
              <a:t>edge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9732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CFF4-F86E-792D-AA7B-19584971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Why do we need edges?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A4BC8-9A64-B171-FEE4-9BC3FDBB0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Edges help us identify:</a:t>
            </a:r>
          </a:p>
          <a:p>
            <a:pPr lvl="0"/>
            <a:r>
              <a:rPr lang="en-IN" dirty="0"/>
              <a:t>Object boundaries </a:t>
            </a:r>
          </a:p>
          <a:p>
            <a:pPr lvl="0"/>
            <a:r>
              <a:rPr lang="en-IN" dirty="0"/>
              <a:t>Shapes </a:t>
            </a:r>
          </a:p>
          <a:p>
            <a:pPr lvl="0"/>
            <a:r>
              <a:rPr lang="en-IN" dirty="0"/>
              <a:t>Lines </a:t>
            </a:r>
          </a:p>
          <a:p>
            <a:pPr lvl="0"/>
            <a:r>
              <a:rPr lang="en-IN" dirty="0"/>
              <a:t>Corners </a:t>
            </a:r>
          </a:p>
          <a:p>
            <a:pPr lvl="0"/>
            <a:r>
              <a:rPr lang="en-IN" dirty="0"/>
              <a:t>Text boundaries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309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3C637-3720-4E3B-D13B-021235364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does a computer know where an edge 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4035-F0AE-C636-3EB6-C199B3948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looks at </a:t>
            </a:r>
            <a:r>
              <a:rPr lang="en-IN" b="1" dirty="0"/>
              <a:t>changes in intensity</a:t>
            </a:r>
            <a:r>
              <a:rPr lang="en-IN" dirty="0"/>
              <a:t>.</a:t>
            </a:r>
          </a:p>
          <a:p>
            <a:r>
              <a:rPr lang="en-IN" dirty="0"/>
              <a:t>Consider:</a:t>
            </a:r>
          </a:p>
          <a:p>
            <a:r>
              <a:rPr lang="fr-FR" dirty="0"/>
              <a:t>Pixel values:</a:t>
            </a:r>
          </a:p>
          <a:p>
            <a:r>
              <a:rPr lang="fr-FR" dirty="0"/>
              <a:t>10  10  10  10  200  200  200</a:t>
            </a:r>
          </a:p>
          <a:p>
            <a:r>
              <a:rPr lang="en-IN" dirty="0"/>
              <a:t>Difference:</a:t>
            </a:r>
          </a:p>
          <a:p>
            <a:pPr marL="0" indent="0">
              <a:buNone/>
            </a:pPr>
            <a:r>
              <a:rPr lang="en-US" dirty="0"/>
              <a:t>10 → 10 → 10 → 10 → 200</a:t>
            </a:r>
          </a:p>
          <a:p>
            <a:pPr marL="0" indent="0">
              <a:buNone/>
            </a:pPr>
            <a:r>
              <a:rPr lang="en-US" dirty="0"/>
              <a:t>                       ↑</a:t>
            </a:r>
          </a:p>
          <a:p>
            <a:pPr marL="0" indent="0">
              <a:buNone/>
            </a:pPr>
            <a:r>
              <a:rPr lang="en-US" dirty="0"/>
              <a:t>                    BIG CHANGE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38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ACD3-C4BA-581D-1A24-036B7315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edge detection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BF398-5A41-98BC-FBBA-19FA4045E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 Canny Edge Detection</a:t>
            </a:r>
          </a:p>
          <a:p>
            <a:r>
              <a:rPr lang="en-IN" dirty="0"/>
              <a:t>LOG</a:t>
            </a:r>
          </a:p>
          <a:p>
            <a:r>
              <a:rPr lang="en-IN" dirty="0"/>
              <a:t>DOG</a:t>
            </a:r>
          </a:p>
        </p:txBody>
      </p:sp>
    </p:spTree>
    <p:extLst>
      <p:ext uri="{BB962C8B-B14F-4D97-AF65-F5344CB8AC3E}">
        <p14:creationId xmlns:p14="http://schemas.microsoft.com/office/powerpoint/2010/main" val="1826953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D9C1-4FA3-9E8E-451D-448419A41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A89F7-81A8-0F3A-B3D6-2CF788CCE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LoG</a:t>
            </a:r>
            <a:r>
              <a:rPr lang="en-IN" b="1" dirty="0"/>
              <a:t> = Laplacian of Gaussian</a:t>
            </a:r>
            <a:endParaRPr lang="en-IN" dirty="0"/>
          </a:p>
          <a:p>
            <a:r>
              <a:rPr lang="en-IN" dirty="0"/>
              <a:t>It is an </a:t>
            </a:r>
            <a:r>
              <a:rPr lang="en-IN" b="1" dirty="0"/>
              <a:t>edge detection technique</a:t>
            </a:r>
            <a:r>
              <a:rPr lang="en-IN" dirty="0"/>
              <a:t>.</a:t>
            </a:r>
          </a:p>
          <a:p>
            <a:r>
              <a:rPr lang="en-IN" dirty="0"/>
              <a:t>First smooth the image to remove noise, then find rapid intensity changes using the Laplacian.</a:t>
            </a:r>
          </a:p>
          <a:p>
            <a:r>
              <a:rPr lang="en-IN" dirty="0"/>
              <a:t>Suppose you have this simple image:</a:t>
            </a:r>
          </a:p>
          <a:p>
            <a:r>
              <a:rPr lang="en-US" dirty="0"/>
              <a:t>BLACK </a:t>
            </a:r>
            <a:r>
              <a:rPr lang="en-US" dirty="0" err="1"/>
              <a:t>BLACK</a:t>
            </a:r>
            <a:r>
              <a:rPr lang="en-US" dirty="0"/>
              <a:t> </a:t>
            </a:r>
            <a:r>
              <a:rPr lang="en-US" dirty="0" err="1"/>
              <a:t>BLACK</a:t>
            </a:r>
            <a:r>
              <a:rPr lang="en-US" dirty="0"/>
              <a:t> </a:t>
            </a:r>
            <a:r>
              <a:rPr lang="en-US" dirty="0" err="1"/>
              <a:t>BLACK</a:t>
            </a:r>
            <a:r>
              <a:rPr lang="en-US" dirty="0"/>
              <a:t> WHITE </a:t>
            </a:r>
            <a:r>
              <a:rPr lang="en-US" dirty="0" err="1"/>
              <a:t>WHITE</a:t>
            </a:r>
            <a:r>
              <a:rPr lang="en-US" dirty="0"/>
              <a:t> </a:t>
            </a:r>
            <a:r>
              <a:rPr lang="en-US" dirty="0" err="1"/>
              <a:t>WHITE</a:t>
            </a:r>
            <a:endParaRPr lang="en-US" dirty="0"/>
          </a:p>
          <a:p>
            <a:r>
              <a:rPr lang="en-US" dirty="0"/>
              <a:t>  0     0     0     0   255   255   255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229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FCDA-47DE-3E07-F1C9-4F3396BC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DAE05-1F89-6BD8-8710-08F2C259B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is a sudden change:</a:t>
            </a:r>
          </a:p>
          <a:p>
            <a:r>
              <a:rPr lang="en-IN" dirty="0"/>
              <a:t>0-255</a:t>
            </a:r>
          </a:p>
          <a:p>
            <a:r>
              <a:rPr lang="en-IN" dirty="0"/>
              <a:t>That is an </a:t>
            </a:r>
            <a:r>
              <a:rPr lang="en-IN" b="1" dirty="0"/>
              <a:t>edge</a:t>
            </a:r>
            <a:r>
              <a:rPr lang="en-IN" dirty="0"/>
              <a:t>.</a:t>
            </a:r>
          </a:p>
          <a:p>
            <a:r>
              <a:rPr lang="en-IN" dirty="0"/>
              <a:t>The problem is that real images contain noise.</a:t>
            </a:r>
          </a:p>
          <a:p>
            <a:r>
              <a:rPr lang="en-IN" dirty="0"/>
              <a:t>For example:</a:t>
            </a:r>
          </a:p>
          <a:p>
            <a:r>
              <a:rPr lang="en-IN" dirty="0"/>
              <a:t>10  11  9  12  200  198  201</a:t>
            </a:r>
          </a:p>
          <a:p>
            <a:r>
              <a:rPr lang="en-IN" dirty="0"/>
              <a:t>Those small changes:</a:t>
            </a:r>
          </a:p>
        </p:txBody>
      </p:sp>
    </p:spTree>
    <p:extLst>
      <p:ext uri="{BB962C8B-B14F-4D97-AF65-F5344CB8AC3E}">
        <p14:creationId xmlns:p14="http://schemas.microsoft.com/office/powerpoint/2010/main" val="138178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62F8-2C16-08CB-829D-8E1AEB3E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89B10-DFB7-DE5C-5D2E-D94F76510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10 → 11</a:t>
            </a:r>
          </a:p>
          <a:p>
            <a:r>
              <a:rPr lang="en-IN" dirty="0"/>
              <a:t>11 → 9</a:t>
            </a:r>
          </a:p>
          <a:p>
            <a:r>
              <a:rPr lang="en-IN" dirty="0"/>
              <a:t>9 → 12</a:t>
            </a:r>
          </a:p>
          <a:p>
            <a:r>
              <a:rPr lang="en-IN" dirty="0"/>
              <a:t>can also look like edges to an edge detector.</a:t>
            </a:r>
          </a:p>
          <a:p>
            <a:r>
              <a:rPr lang="en-IN" dirty="0"/>
              <a:t>So </a:t>
            </a:r>
            <a:r>
              <a:rPr lang="en-IN" dirty="0" err="1"/>
              <a:t>LoG</a:t>
            </a:r>
            <a:r>
              <a:rPr lang="en-IN" dirty="0"/>
              <a:t> says:</a:t>
            </a:r>
          </a:p>
          <a:p>
            <a:r>
              <a:rPr lang="en-IN" dirty="0"/>
              <a:t>"Let's blur the image first, then detect the edges.“</a:t>
            </a:r>
          </a:p>
          <a:p>
            <a:r>
              <a:rPr lang="en-IN" dirty="0"/>
              <a:t>The </a:t>
            </a:r>
            <a:r>
              <a:rPr lang="en-IN" b="1" dirty="0"/>
              <a:t>Laplacian</a:t>
            </a:r>
            <a:r>
              <a:rPr lang="en-IN" dirty="0"/>
              <a:t> detects rapid changes in intensity.</a:t>
            </a:r>
          </a:p>
        </p:txBody>
      </p:sp>
    </p:spTree>
    <p:extLst>
      <p:ext uri="{BB962C8B-B14F-4D97-AF65-F5344CB8AC3E}">
        <p14:creationId xmlns:p14="http://schemas.microsoft.com/office/powerpoint/2010/main" val="3292769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36A2-B6E7-D960-4E77-766160331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667CD-B372-0FE6-9038-C22F22284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based on the </a:t>
            </a:r>
            <a:r>
              <a:rPr lang="en-IN" b="1" dirty="0"/>
              <a:t>second derivative</a:t>
            </a:r>
            <a:r>
              <a:rPr lang="en-IN" dirty="0"/>
              <a:t>.</a:t>
            </a:r>
          </a:p>
          <a:p>
            <a:r>
              <a:rPr lang="en-IN" dirty="0"/>
              <a:t>You may remember from mathematics:</a:t>
            </a:r>
          </a:p>
          <a:p>
            <a:r>
              <a:rPr lang="en-IN" dirty="0"/>
              <a:t>First derivative tells us "How quickly is something changing?“</a:t>
            </a:r>
          </a:p>
          <a:p>
            <a:r>
              <a:rPr lang="en-IN" b="1" dirty="0"/>
              <a:t>Second derivative</a:t>
            </a:r>
          </a:p>
          <a:p>
            <a:r>
              <a:rPr lang="en-IN" dirty="0"/>
              <a:t>Tells us:</a:t>
            </a:r>
          </a:p>
          <a:p>
            <a:r>
              <a:rPr lang="en-IN" dirty="0"/>
              <a:t>"How is that change itself changing?"</a:t>
            </a:r>
          </a:p>
          <a:p>
            <a:r>
              <a:rPr lang="en-IN" dirty="0"/>
              <a:t>In image processing, the Laplacian uses second-order derivatives to identify regions where image intensity changes sharply.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620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9FE6-DFB2-D9DF-9955-863921AC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C0B68-E4F6-4171-A8CE-588A47EE3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First derivative</a:t>
            </a:r>
          </a:p>
          <a:p>
            <a:r>
              <a:rPr lang="en-IN" dirty="0"/>
              <a:t>First derivative asks:</a:t>
            </a:r>
          </a:p>
          <a:p>
            <a:r>
              <a:rPr lang="en-IN" b="1" dirty="0"/>
              <a:t>"How quickly is the image brightness changing?“</a:t>
            </a:r>
          </a:p>
          <a:p>
            <a:r>
              <a:rPr lang="en-IN" dirty="0"/>
              <a:t>Black → Gray → White</a:t>
            </a:r>
          </a:p>
          <a:p>
            <a:r>
              <a:rPr lang="en-IN" dirty="0"/>
              <a:t>Brightness is increasing, so the </a:t>
            </a:r>
            <a:r>
              <a:rPr lang="en-IN" b="1" dirty="0"/>
              <a:t>first derivative</a:t>
            </a:r>
            <a:r>
              <a:rPr lang="en-IN" dirty="0"/>
              <a:t> detects that change. 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7729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F1B9F-1FE6-F397-7BB5-AA2901012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A1529-3A07-C605-A19B-EC7F04A4E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Second derivative</a:t>
            </a:r>
          </a:p>
          <a:p>
            <a:r>
              <a:rPr lang="en-IN" dirty="0"/>
              <a:t>Second derivative asks:</a:t>
            </a:r>
          </a:p>
          <a:p>
            <a:r>
              <a:rPr lang="en-IN" b="1" dirty="0"/>
              <a:t>"Is the rate of change increasing or decreasing?"</a:t>
            </a:r>
            <a:endParaRPr lang="en-IN" dirty="0"/>
          </a:p>
          <a:p>
            <a:r>
              <a:rPr lang="en-IN" dirty="0"/>
              <a:t>Think about a car:</a:t>
            </a:r>
          </a:p>
          <a:p>
            <a:pPr lvl="0"/>
            <a:r>
              <a:rPr lang="en-IN" b="1" dirty="0"/>
              <a:t>Speed</a:t>
            </a:r>
            <a:r>
              <a:rPr lang="en-IN" dirty="0"/>
              <a:t> = how fast you're moving </a:t>
            </a:r>
          </a:p>
          <a:p>
            <a:pPr lvl="0"/>
            <a:r>
              <a:rPr lang="en-IN" b="1" dirty="0"/>
              <a:t>Acceleration</a:t>
            </a:r>
            <a:r>
              <a:rPr lang="en-IN" dirty="0"/>
              <a:t> = how quickly your speed is changing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1094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FEE14-DE99-A79B-FC05-3C97B21E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26CB5-874B-9F6D-9455-A447F6609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Similarly:</a:t>
            </a:r>
          </a:p>
          <a:p>
            <a:pPr lvl="0"/>
            <a:r>
              <a:rPr lang="en-IN" b="1" dirty="0"/>
              <a:t>First derivative</a:t>
            </a:r>
            <a:r>
              <a:rPr lang="en-IN" dirty="0"/>
              <a:t> = how quickly brightness changes </a:t>
            </a:r>
          </a:p>
          <a:p>
            <a:pPr lvl="0"/>
            <a:r>
              <a:rPr lang="en-IN" b="1" dirty="0"/>
              <a:t>Second derivative</a:t>
            </a:r>
            <a:r>
              <a:rPr lang="en-IN" dirty="0"/>
              <a:t> = how quickly that change is changing </a:t>
            </a:r>
          </a:p>
          <a:p>
            <a:r>
              <a:rPr lang="en-IN" dirty="0"/>
              <a:t>S </a:t>
            </a:r>
            <a:r>
              <a:rPr lang="en-IN" dirty="0" err="1"/>
              <a:t>uppose</a:t>
            </a:r>
            <a:r>
              <a:rPr lang="en-IN" dirty="0"/>
              <a:t> brightness changes like this:</a:t>
            </a:r>
          </a:p>
          <a:p>
            <a:r>
              <a:rPr lang="en-IN" dirty="0"/>
              <a:t>Dark       Gray       Bright</a:t>
            </a:r>
          </a:p>
          <a:p>
            <a:r>
              <a:rPr lang="en-IN" dirty="0"/>
              <a:t>  0          100        200</a:t>
            </a:r>
          </a:p>
          <a:p>
            <a:r>
              <a:rPr lang="en-IN" dirty="0"/>
              <a:t>  └───────────┴──────────┘</a:t>
            </a:r>
          </a:p>
          <a:p>
            <a:r>
              <a:rPr lang="en-IN" dirty="0"/>
              <a:t>       brightness changes</a:t>
            </a:r>
          </a:p>
        </p:txBody>
      </p:sp>
    </p:spTree>
    <p:extLst>
      <p:ext uri="{BB962C8B-B14F-4D97-AF65-F5344CB8AC3E}">
        <p14:creationId xmlns:p14="http://schemas.microsoft.com/office/powerpoint/2010/main" val="3946736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C0B3-B323-D0B4-E4F7-A9F1312C7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18308-3D30-5125-16C6-756801E1A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Laplacian looks at the </a:t>
            </a:r>
            <a:r>
              <a:rPr lang="en-IN" b="1" dirty="0"/>
              <a:t>second derivative of this brightness</a:t>
            </a:r>
            <a:r>
              <a:rPr lang="en-IN" dirty="0"/>
              <a:t>.</a:t>
            </a:r>
            <a:br>
              <a:rPr lang="en-IN" dirty="0"/>
            </a:br>
            <a:r>
              <a:rPr lang="en-US" dirty="0"/>
              <a:t>BLACK </a:t>
            </a:r>
            <a:r>
              <a:rPr lang="en-US" dirty="0" err="1"/>
              <a:t>BLACK</a:t>
            </a:r>
            <a:r>
              <a:rPr lang="en-US" dirty="0"/>
              <a:t> </a:t>
            </a:r>
            <a:r>
              <a:rPr lang="en-US" dirty="0" err="1"/>
              <a:t>BLACK</a:t>
            </a:r>
            <a:r>
              <a:rPr lang="en-US" dirty="0"/>
              <a:t> | WHITE </a:t>
            </a:r>
            <a:r>
              <a:rPr lang="en-US" dirty="0" err="1"/>
              <a:t>WHITE</a:t>
            </a:r>
            <a:r>
              <a:rPr lang="en-US" dirty="0"/>
              <a:t> </a:t>
            </a:r>
            <a:r>
              <a:rPr lang="en-US" dirty="0" err="1"/>
              <a:t>WHITE</a:t>
            </a:r>
            <a:endParaRPr lang="en-US" dirty="0"/>
          </a:p>
          <a:p>
            <a:r>
              <a:rPr lang="en-US" dirty="0"/>
              <a:t>  0     0     0   | 255   255   255</a:t>
            </a:r>
          </a:p>
          <a:p>
            <a:r>
              <a:rPr lang="en-US" dirty="0"/>
              <a:t>                  ↑</a:t>
            </a:r>
          </a:p>
          <a:p>
            <a:r>
              <a:rPr lang="en-US" dirty="0"/>
              <a:t>                EDGE</a:t>
            </a:r>
          </a:p>
          <a:p>
            <a:r>
              <a:rPr lang="en-IN" dirty="0"/>
              <a:t>Here brightness suddenly changes:</a:t>
            </a:r>
          </a:p>
          <a:p>
            <a:r>
              <a:rPr lang="en-IN" dirty="0"/>
              <a:t>0 → 255</a:t>
            </a:r>
          </a:p>
          <a:p>
            <a:r>
              <a:rPr lang="en-IN" dirty="0"/>
              <a:t>So first derivative says:</a:t>
            </a:r>
          </a:p>
          <a:p>
            <a:r>
              <a:rPr lang="en-IN" b="1" dirty="0"/>
              <a:t>"There is a big change here!"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789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3462-BADC-FA52-CFD5-6B3064603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48392-1E18-07B2-1D21-4052CC417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Second derivative</a:t>
            </a:r>
          </a:p>
          <a:p>
            <a:r>
              <a:rPr lang="en-IN" dirty="0"/>
              <a:t>Now it asks:</a:t>
            </a:r>
          </a:p>
          <a:p>
            <a:r>
              <a:rPr lang="en-IN" b="1" dirty="0"/>
              <a:t>"How is that change changing?"</a:t>
            </a:r>
            <a:endParaRPr lang="en-IN" dirty="0"/>
          </a:p>
          <a:p>
            <a:r>
              <a:rPr lang="en-IN" dirty="0"/>
              <a:t>The first derivative goes something like:</a:t>
            </a:r>
          </a:p>
          <a:p>
            <a:r>
              <a:rPr lang="en-IN" dirty="0"/>
              <a:t>0 → BIG → 0</a:t>
            </a:r>
          </a:p>
          <a:p>
            <a:r>
              <a:rPr lang="en-IN" dirty="0"/>
              <a:t>The second derivative looks at this change</a:t>
            </a:r>
          </a:p>
          <a:p>
            <a:r>
              <a:rPr lang="en-IN" dirty="0"/>
              <a:t>The second derivative looks at this change and </a:t>
            </a:r>
            <a:r>
              <a:rPr lang="en-IN" b="1" dirty="0"/>
              <a:t>crosses 0 around the edge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5715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DB57D-46DE-5701-B0E3-567B6006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CE6E0-656F-31D7-37A9-396DEBA35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That </a:t>
            </a:r>
            <a:r>
              <a:rPr lang="en-IN" b="1" dirty="0"/>
              <a:t>zero crossing</a:t>
            </a:r>
            <a:r>
              <a:rPr lang="en-IN" dirty="0"/>
              <a:t> helps us locate the edge.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39315-FEFE-3FD3-3A84-C65939889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46" y="2400299"/>
            <a:ext cx="10697308" cy="425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46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9AD6-4008-2AEF-2DCA-4E82AAC6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AF080-3E96-B2C3-CA28-8837A5E9C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Let's use a simple example.</a:t>
            </a:r>
          </a:p>
          <a:p>
            <a:r>
              <a:rPr lang="en-IN" dirty="0"/>
              <a:t>Suppose intensity is: </a:t>
            </a:r>
          </a:p>
          <a:p>
            <a:r>
              <a:rPr lang="en-IN" dirty="0"/>
              <a:t>0  0  0  0  255  255  255  255</a:t>
            </a:r>
          </a:p>
          <a:p>
            <a:r>
              <a:rPr lang="en-IN" dirty="0"/>
              <a:t>The transition from: 0</a:t>
            </a:r>
            <a:r>
              <a:rPr lang="en-IN" dirty="0">
                <a:sym typeface="Wingdings" panose="05000000000000000000" pitchFamily="2" charset="2"/>
              </a:rPr>
              <a:t> 255</a:t>
            </a:r>
          </a:p>
          <a:p>
            <a:r>
              <a:rPr lang="en-IN" dirty="0"/>
              <a:t>is very sudden.</a:t>
            </a:r>
          </a:p>
          <a:p>
            <a:r>
              <a:rPr lang="en-IN" dirty="0"/>
              <a:t>The Laplacian responds strongly around this transition.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77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10501-7069-C437-8805-334E317EC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E781-EB93-7C92-D0C6-B976AB796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is </a:t>
            </a:r>
            <a:r>
              <a:rPr lang="en-IN" b="1" dirty="0" err="1"/>
              <a:t>DoG</a:t>
            </a:r>
            <a:r>
              <a:rPr lang="en-IN" b="1" dirty="0"/>
              <a:t>?</a:t>
            </a:r>
          </a:p>
          <a:p>
            <a:r>
              <a:rPr lang="en-IN" b="1" dirty="0" err="1"/>
              <a:t>DoG</a:t>
            </a:r>
            <a:r>
              <a:rPr lang="en-IN" b="1" dirty="0"/>
              <a:t> = Difference of Gaussians</a:t>
            </a:r>
            <a:endParaRPr lang="en-IN" dirty="0"/>
          </a:p>
          <a:p>
            <a:r>
              <a:rPr lang="en-IN" dirty="0"/>
              <a:t>The idea is very simple:</a:t>
            </a:r>
          </a:p>
          <a:p>
            <a:r>
              <a:rPr lang="en-IN" b="1"/>
              <a:t>Blur the same image two different amounts, then subtract the two blurred images.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330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6A5CA-F77A-FE7D-465F-C2722648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Detection using Hough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FBB24-9070-850F-2438-5FF1849F7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Hough Transform</a:t>
            </a:r>
            <a:r>
              <a:rPr lang="en-IN" dirty="0"/>
              <a:t> is a technique used in image processing to </a:t>
            </a:r>
            <a:r>
              <a:rPr lang="en-IN" b="1" dirty="0"/>
              <a:t>find straight lines in an image</a:t>
            </a:r>
            <a:r>
              <a:rPr lang="en-IN" dirty="0"/>
              <a:t>.</a:t>
            </a:r>
          </a:p>
          <a:p>
            <a:r>
              <a:rPr lang="en-IN" dirty="0"/>
              <a:t>For example, if you have an image of a road:</a:t>
            </a:r>
          </a:p>
          <a:p>
            <a:r>
              <a:rPr lang="en-IN" dirty="0"/>
              <a:t>The Hough Transform can detect the two straight road boundaries.</a:t>
            </a:r>
          </a:p>
          <a:p>
            <a:r>
              <a:rPr lang="en-IN" dirty="0"/>
              <a:t>1. First, we need an image</a:t>
            </a:r>
          </a:p>
          <a:p>
            <a:r>
              <a:rPr lang="en-IN" dirty="0"/>
              <a:t>Suppose we have road image We want to find the straight lines.</a:t>
            </a:r>
          </a:p>
        </p:txBody>
      </p:sp>
    </p:spTree>
    <p:extLst>
      <p:ext uri="{BB962C8B-B14F-4D97-AF65-F5344CB8AC3E}">
        <p14:creationId xmlns:p14="http://schemas.microsoft.com/office/powerpoint/2010/main" val="96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CAB4-A6B4-1FEE-8B92-31CB4AB3A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52565-88FA-4B72-2F0D-D8C254C14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2. Find the edges</a:t>
            </a:r>
          </a:p>
          <a:p>
            <a:r>
              <a:rPr lang="en-IN" dirty="0"/>
              <a:t>Usually, we first use an edge detector such as </a:t>
            </a:r>
            <a:r>
              <a:rPr lang="en-IN" b="1" dirty="0"/>
              <a:t>Canny</a:t>
            </a:r>
            <a:r>
              <a:rPr lang="en-IN" dirty="0"/>
              <a:t>.</a:t>
            </a:r>
          </a:p>
          <a:p>
            <a:r>
              <a:rPr lang="en-IN" dirty="0"/>
              <a:t>It changes the image into something like:</a:t>
            </a:r>
          </a:p>
          <a:p>
            <a:r>
              <a:rPr lang="en-IN" dirty="0"/>
              <a:t>The white pixels are the </a:t>
            </a:r>
            <a:r>
              <a:rPr lang="en-IN" b="1" dirty="0"/>
              <a:t>edge pixels</a:t>
            </a:r>
            <a:r>
              <a:rPr lang="en-IN" dirty="0"/>
              <a:t>.</a:t>
            </a:r>
          </a:p>
          <a:p>
            <a:r>
              <a:rPr lang="en-IN" dirty="0"/>
              <a:t>Each white pixel has a coordinate:</a:t>
            </a:r>
          </a:p>
          <a:p>
            <a:r>
              <a:rPr lang="en-IN" dirty="0"/>
              <a:t>For example, one edge pixel might be:</a:t>
            </a:r>
          </a:p>
          <a:p>
            <a:r>
              <a:rPr lang="en-IN" dirty="0"/>
              <a:t>(x, y) = (2, 1)</a:t>
            </a:r>
          </a:p>
        </p:txBody>
      </p:sp>
    </p:spTree>
    <p:extLst>
      <p:ext uri="{BB962C8B-B14F-4D97-AF65-F5344CB8AC3E}">
        <p14:creationId xmlns:p14="http://schemas.microsoft.com/office/powerpoint/2010/main" val="3857208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63E31-06C2-1EF4-2C9A-1605541AF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562"/>
            <a:ext cx="10515600" cy="5904401"/>
          </a:xfrm>
        </p:spPr>
        <p:txBody>
          <a:bodyPr/>
          <a:lstStyle/>
          <a:p>
            <a:r>
              <a:rPr lang="en-IN" dirty="0"/>
              <a:t>Another:</a:t>
            </a:r>
          </a:p>
          <a:p>
            <a:r>
              <a:rPr lang="en-IN" dirty="0"/>
              <a:t>(x, y) = (2, 2)</a:t>
            </a:r>
          </a:p>
          <a:p>
            <a:r>
              <a:rPr lang="en-IN" dirty="0"/>
              <a:t>Another:</a:t>
            </a:r>
          </a:p>
          <a:p>
            <a:r>
              <a:rPr lang="en-IN" dirty="0"/>
              <a:t>(x, y) = (2, 3)</a:t>
            </a:r>
          </a:p>
          <a:p>
            <a:r>
              <a:rPr lang="en-IN" dirty="0"/>
              <a:t>Then Hough Transform uses these points</a:t>
            </a:r>
          </a:p>
          <a:p>
            <a:r>
              <a:rPr lang="en-IN" dirty="0"/>
              <a:t>It takes:</a:t>
            </a:r>
          </a:p>
          <a:p>
            <a:r>
              <a:rPr lang="en-IN" dirty="0"/>
              <a:t>(2,1)</a:t>
            </a:r>
          </a:p>
          <a:p>
            <a:r>
              <a:rPr lang="en-IN" dirty="0"/>
              <a:t>(2,2)</a:t>
            </a:r>
          </a:p>
          <a:p>
            <a:r>
              <a:rPr lang="en-IN" dirty="0"/>
              <a:t>(2,3)</a:t>
            </a:r>
          </a:p>
          <a:p>
            <a:r>
              <a:rPr lang="en-IN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853553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0D0A-31AD-9FEF-221E-20A7E35A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4412-5C31-CDA6-60E4-74A31F83D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and asks:</a:t>
            </a:r>
          </a:p>
          <a:p>
            <a:r>
              <a:rPr lang="en-IN" b="1" dirty="0"/>
              <a:t>"Can these points belong to a straight line?"</a:t>
            </a:r>
            <a:endParaRPr lang="en-IN" dirty="0"/>
          </a:p>
          <a:p>
            <a:r>
              <a:rPr lang="en-IN" dirty="0"/>
              <a:t>If many points agree on the same line, Hough Transform detects that line.</a:t>
            </a:r>
          </a:p>
          <a:p>
            <a:r>
              <a:rPr lang="en-IN" dirty="0"/>
              <a:t>So remember:</a:t>
            </a:r>
          </a:p>
          <a:p>
            <a:r>
              <a:rPr lang="en-IN" b="1" dirty="0"/>
              <a:t>Canny finds the edge pixels → Hough Transform uses those edge pixels to find straight lines.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527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3C1EF-23AF-C38B-CC0A-E8067B881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What does Hough Transform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A3EC4-F21C-8CBE-89DD-0038A6A58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basic idea is:</a:t>
            </a:r>
          </a:p>
          <a:p>
            <a:r>
              <a:rPr lang="en-IN" b="1" dirty="0"/>
              <a:t>Each edge pixel votes for possible lines that could pass through it.</a:t>
            </a:r>
            <a:endParaRPr lang="en-IN" dirty="0"/>
          </a:p>
          <a:p>
            <a:r>
              <a:rPr lang="en-IN" dirty="0"/>
              <a:t>Imagine we have one edge point:</a:t>
            </a:r>
          </a:p>
          <a:p>
            <a:r>
              <a:rPr lang="en-IN" dirty="0"/>
              <a:t>There are many different lines that could pass through this point:</a:t>
            </a:r>
          </a:p>
          <a:p>
            <a:r>
              <a:rPr lang="en-IN" dirty="0"/>
              <a:t>So that point gives votes to all those possible lines.</a:t>
            </a:r>
          </a:p>
        </p:txBody>
      </p:sp>
    </p:spTree>
    <p:extLst>
      <p:ext uri="{BB962C8B-B14F-4D97-AF65-F5344CB8AC3E}">
        <p14:creationId xmlns:p14="http://schemas.microsoft.com/office/powerpoint/2010/main" val="527124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C4A7-AC2F-12B0-836B-4D792787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What happens with many edge points?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BF906-09E7-2911-B7B1-CCC71744F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we have </a:t>
            </a:r>
          </a:p>
          <a:p>
            <a:r>
              <a:rPr lang="en-IN" dirty="0"/>
              <a:t>Each point votes for possible lines.</a:t>
            </a:r>
          </a:p>
          <a:p>
            <a:r>
              <a:rPr lang="en-IN" dirty="0"/>
              <a:t>Because these points are actually on the </a:t>
            </a:r>
            <a:r>
              <a:rPr lang="en-IN" b="1" dirty="0"/>
              <a:t>same line</a:t>
            </a:r>
            <a:r>
              <a:rPr lang="en-IN" dirty="0"/>
              <a:t>, their votes will agree on one particular line.</a:t>
            </a:r>
          </a:p>
          <a:p>
            <a:r>
              <a:rPr lang="en-IN" dirty="0"/>
              <a:t>So that line gets </a:t>
            </a:r>
            <a:r>
              <a:rPr lang="en-IN" b="1" dirty="0"/>
              <a:t>many votes</a:t>
            </a:r>
            <a:r>
              <a:rPr lang="en-IN" dirty="0"/>
              <a:t>.</a:t>
            </a:r>
          </a:p>
          <a:p>
            <a:r>
              <a:rPr lang="en-IN" dirty="0"/>
              <a:t>points that belong to the same straight line:</a:t>
            </a:r>
          </a:p>
          <a:p>
            <a:r>
              <a:rPr lang="en-IN" dirty="0"/>
              <a:t>The Hough Transform says:</a:t>
            </a:r>
          </a:p>
          <a:p>
            <a:r>
              <a:rPr lang="en-IN" b="1" dirty="0"/>
              <a:t>"A line with many votes is probably a real line in the image."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9081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55D5-6A3A-2229-2B56-8B2AB156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How does it represent a line?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C30AD-AF70-F599-BFFD-849634C22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Normally, we might write a line as:</a:t>
            </a:r>
          </a:p>
          <a:p>
            <a:r>
              <a:rPr lang="en-IN" dirty="0"/>
              <a:t>y = mx + c</a:t>
            </a:r>
          </a:p>
          <a:p>
            <a:r>
              <a:rPr lang="en-IN" dirty="0"/>
              <a:t>But this causes a problem with </a:t>
            </a:r>
            <a:r>
              <a:rPr lang="en-IN" b="1" dirty="0"/>
              <a:t>vertical lines</a:t>
            </a:r>
            <a:r>
              <a:rPr lang="en-IN" dirty="0"/>
              <a:t>, because their slope is infinite.</a:t>
            </a:r>
          </a:p>
          <a:p>
            <a:r>
              <a:rPr lang="en-IN" dirty="0"/>
              <a:t>So Hough Transform usually uses:</a:t>
            </a:r>
          </a:p>
          <a:p>
            <a:r>
              <a:rPr lang="es-ES" dirty="0"/>
              <a:t>ρ = x cos θ + y sin θ</a:t>
            </a:r>
          </a:p>
          <a:p>
            <a:r>
              <a:rPr lang="en-IN" dirty="0"/>
              <a:t>It simply gives us a way to describe </a:t>
            </a:r>
            <a:r>
              <a:rPr lang="en-IN" b="1" dirty="0"/>
              <a:t>any straight line</a:t>
            </a:r>
            <a:r>
              <a:rPr lang="en-IN" dirty="0"/>
              <a:t> using two values:</a:t>
            </a:r>
          </a:p>
        </p:txBody>
      </p:sp>
    </p:spTree>
    <p:extLst>
      <p:ext uri="{BB962C8B-B14F-4D97-AF65-F5344CB8AC3E}">
        <p14:creationId xmlns:p14="http://schemas.microsoft.com/office/powerpoint/2010/main" val="2855809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93D3-AF0E-A1C0-DF21-202DF05B2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B63D6-AE1C-C0F6-DA37-81411EBA0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ρ → distance of the line from the origin </a:t>
            </a:r>
          </a:p>
          <a:p>
            <a:pPr lvl="0"/>
            <a:r>
              <a:rPr lang="en-IN" dirty="0"/>
              <a:t>θ → angle of the line</a:t>
            </a:r>
          </a:p>
          <a:p>
            <a:r>
              <a:rPr lang="en-IN" dirty="0"/>
              <a:t>Line = (</a:t>
            </a:r>
            <a:r>
              <a:rPr lang="el-GR" dirty="0"/>
              <a:t>ρ, θ)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What is ρ?</a:t>
            </a:r>
          </a:p>
          <a:p>
            <a:pPr marL="0" indent="0">
              <a:buNone/>
            </a:pPr>
            <a:r>
              <a:rPr lang="en-IN" dirty="0"/>
              <a:t>ρ tells us </a:t>
            </a:r>
            <a:r>
              <a:rPr lang="en-IN" b="1" dirty="0"/>
              <a:t>how far the line is from (0,0)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The shortest distance from the origin to the line is ρ.</a:t>
            </a:r>
          </a:p>
          <a:p>
            <a:pPr marL="0" indent="0">
              <a:buNone/>
            </a:pPr>
            <a:r>
              <a:rPr lang="en-IN" dirty="0"/>
              <a:t>θ tells us the </a:t>
            </a:r>
            <a:r>
              <a:rPr lang="en-IN" b="1" dirty="0"/>
              <a:t>orientation/angle</a:t>
            </a:r>
            <a:r>
              <a:rPr lang="en-IN" dirty="0"/>
              <a:t> of the line's perpendicular direction.</a:t>
            </a:r>
          </a:p>
        </p:txBody>
      </p:sp>
    </p:spTree>
    <p:extLst>
      <p:ext uri="{BB962C8B-B14F-4D97-AF65-F5344CB8AC3E}">
        <p14:creationId xmlns:p14="http://schemas.microsoft.com/office/powerpoint/2010/main" val="2913220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0B878-D00C-C676-52CD-43358A36F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voting process</a:t>
            </a:r>
          </a:p>
          <a:p>
            <a:r>
              <a:rPr lang="en-IN" dirty="0"/>
              <a:t>This is the most important part of the Hough Transform.</a:t>
            </a:r>
          </a:p>
          <a:p>
            <a:r>
              <a:rPr lang="en-IN" dirty="0"/>
              <a:t>Suppose we have these edge points:</a:t>
            </a:r>
          </a:p>
          <a:p>
            <a:r>
              <a:rPr lang="en-IN" dirty="0"/>
              <a:t>For every point, the algorithm tries many possible θ values.</a:t>
            </a:r>
          </a:p>
          <a:p>
            <a:r>
              <a:rPr lang="en-IN" dirty="0"/>
              <a:t>For each θ, it calculates:</a:t>
            </a:r>
          </a:p>
          <a:p>
            <a:r>
              <a:rPr lang="en-IN" dirty="0"/>
              <a:t>Each result is basically a </a:t>
            </a:r>
            <a:r>
              <a:rPr lang="en-IN" b="1" dirty="0"/>
              <a:t>vote</a:t>
            </a:r>
            <a:r>
              <a:rPr lang="en-IN" dirty="0"/>
              <a:t> for a particular line.</a:t>
            </a:r>
          </a:p>
        </p:txBody>
      </p:sp>
    </p:spTree>
    <p:extLst>
      <p:ext uri="{BB962C8B-B14F-4D97-AF65-F5344CB8AC3E}">
        <p14:creationId xmlns:p14="http://schemas.microsoft.com/office/powerpoint/2010/main" val="3687664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5125-22F7-4A25-A986-264C2F747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5123"/>
            <a:ext cx="10515600" cy="5631840"/>
          </a:xfrm>
        </p:spPr>
        <p:txBody>
          <a:bodyPr/>
          <a:lstStyle/>
          <a:p>
            <a:r>
              <a:rPr lang="en-US" dirty="0"/>
              <a:t>Line A → 2 votes</a:t>
            </a:r>
          </a:p>
          <a:p>
            <a:r>
              <a:rPr lang="en-US" dirty="0"/>
              <a:t>Line B → 3 votes</a:t>
            </a:r>
          </a:p>
          <a:p>
            <a:r>
              <a:rPr lang="en-US" dirty="0"/>
              <a:t>Line C → 50 votes  ← strong line</a:t>
            </a:r>
          </a:p>
          <a:p>
            <a:r>
              <a:rPr lang="en-US" dirty="0"/>
              <a:t>Line D → 1 vote</a:t>
            </a:r>
          </a:p>
          <a:p>
            <a:r>
              <a:rPr lang="en-IN" dirty="0"/>
              <a:t>The line with many votes is selected.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Where are the votes stored?</a:t>
            </a:r>
          </a:p>
          <a:p>
            <a:pPr marL="0" indent="0">
              <a:buNone/>
            </a:pPr>
            <a:r>
              <a:rPr lang="en-IN" dirty="0"/>
              <a:t>The votes are stored in something called an </a:t>
            </a:r>
            <a:r>
              <a:rPr lang="en-IN" b="1" dirty="0"/>
              <a:t>Accumulator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8141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24DE-F494-4CF2-0DB0-5EB72864E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1B4EAD-D400-8AFA-1A81-DBC17DDFD3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354464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8217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Votes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853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898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718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50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752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 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682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117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96132-2071-E070-2D63-988B4195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3A9E4-BA62-51A9-A451-AF176218F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highest number means:</a:t>
            </a:r>
          </a:p>
          <a:p>
            <a:r>
              <a:rPr lang="en-IN" b="1" dirty="0"/>
              <a:t>"Many edge points agree that this line exists."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456723-E211-9F55-690F-36342681BD0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0691567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85918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34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edges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 containing edge pixels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7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Distance 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556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np.pi/180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Angle precision = 1°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586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50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Minimum votes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53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minLineLength=50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Minimum line 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540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maxLineGap=10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Maximum gap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847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479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2D58-CD7B-0F0A-687F-D6580CC7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68162-76DB-DF1B-604C-1015F1C76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50 votes → how strong the line must be50 pixels → how long the line must be10 pixels → how big a gap can be</a:t>
            </a:r>
          </a:p>
          <a:p>
            <a:endParaRPr lang="en-US" dirty="0"/>
          </a:p>
          <a:p>
            <a:r>
              <a:rPr lang="es-ES" dirty="0"/>
              <a:t>x1, y1, x2, y2 = line[0]</a:t>
            </a:r>
          </a:p>
          <a:p>
            <a:r>
              <a:rPr lang="en-IN" dirty="0" err="1"/>
              <a:t>HoughLinesP</a:t>
            </a:r>
            <a:r>
              <a:rPr lang="en-IN" dirty="0"/>
              <a:t> gives a line like:</a:t>
            </a:r>
          </a:p>
          <a:p>
            <a:r>
              <a:rPr lang="en-IN" dirty="0"/>
              <a:t>[[100, 50, 300, 200]]</a:t>
            </a:r>
          </a:p>
          <a:p>
            <a:r>
              <a:rPr lang="en-IN" dirty="0"/>
              <a:t>line[0] removes the extra [] and gives:</a:t>
            </a:r>
          </a:p>
          <a:p>
            <a:r>
              <a:rPr lang="en-IN" dirty="0"/>
              <a:t>[100, 50, 300, 200]</a:t>
            </a:r>
          </a:p>
        </p:txBody>
      </p:sp>
    </p:spTree>
    <p:extLst>
      <p:ext uri="{BB962C8B-B14F-4D97-AF65-F5344CB8AC3E}">
        <p14:creationId xmlns:p14="http://schemas.microsoft.com/office/powerpoint/2010/main" val="2899214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7666-5CB7-B02E-D887-852FBF450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68E22-7861-674A-71DD-6AD59A1A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Then Python separates them:</a:t>
            </a:r>
          </a:p>
          <a:p>
            <a:r>
              <a:rPr lang="es-ES" dirty="0"/>
              <a:t>x1 = 100</a:t>
            </a:r>
          </a:p>
          <a:p>
            <a:r>
              <a:rPr lang="es-ES" dirty="0"/>
              <a:t>y1 = 50</a:t>
            </a:r>
          </a:p>
          <a:p>
            <a:r>
              <a:rPr lang="es-ES" dirty="0"/>
              <a:t>x2 = 300</a:t>
            </a:r>
          </a:p>
          <a:p>
            <a:r>
              <a:rPr lang="es-ES" dirty="0"/>
              <a:t>y2 = 200</a:t>
            </a:r>
          </a:p>
          <a:p>
            <a:r>
              <a:rPr lang="en-IN" dirty="0"/>
              <a:t>These are </a:t>
            </a:r>
            <a:r>
              <a:rPr lang="en-IN" b="1" dirty="0"/>
              <a:t>two points</a:t>
            </a:r>
            <a:r>
              <a:rPr lang="en-IN" dirty="0"/>
              <a:t>:</a:t>
            </a:r>
          </a:p>
          <a:p>
            <a:r>
              <a:rPr lang="fr-FR" dirty="0"/>
              <a:t>Point 1 = (x1, y1)</a:t>
            </a:r>
          </a:p>
          <a:p>
            <a:r>
              <a:rPr lang="fr-FR" dirty="0"/>
              <a:t>Point 2 = (x2, y2)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090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A0D81-B196-CD0C-E1ED-6E99E7B1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453DF-533B-F8D9-2132-40F184661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(100, 50) ─────────── (300, 200)</a:t>
            </a:r>
          </a:p>
          <a:p>
            <a:r>
              <a:rPr lang="en-IN" dirty="0"/>
              <a:t>   ↑                                              ↑</a:t>
            </a:r>
          </a:p>
          <a:p>
            <a:r>
              <a:rPr lang="en-IN" dirty="0"/>
              <a:t>Point 1                                  Point 2</a:t>
            </a:r>
          </a:p>
        </p:txBody>
      </p:sp>
    </p:spTree>
    <p:extLst>
      <p:ext uri="{BB962C8B-B14F-4D97-AF65-F5344CB8AC3E}">
        <p14:creationId xmlns:p14="http://schemas.microsoft.com/office/powerpoint/2010/main" val="37889926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C07EF-CEAB-7EF2-5427-F19A6231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Exmaple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E6486-07B3-9EB3-2EE4-1E507861F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Step 1: Canny finds the edge pixels</a:t>
            </a:r>
          </a:p>
          <a:p>
            <a:r>
              <a:rPr lang="en-IN" dirty="0"/>
              <a:t>Canny looks for places where the brightness changes.</a:t>
            </a:r>
          </a:p>
          <a:p>
            <a:r>
              <a:rPr lang="en-IN" dirty="0"/>
              <a:t>Your black line is surrounded by white, so Canny finds its boundary.</a:t>
            </a:r>
          </a:p>
          <a:p>
            <a:pPr marL="0" indent="0">
              <a:buNone/>
            </a:pPr>
            <a:r>
              <a:rPr lang="en-IN" dirty="0"/>
              <a:t>...............*</a:t>
            </a:r>
          </a:p>
          <a:p>
            <a:pPr marL="0" indent="0">
              <a:buNone/>
            </a:pPr>
            <a:r>
              <a:rPr lang="en-IN" dirty="0"/>
              <a:t>.............*</a:t>
            </a:r>
          </a:p>
          <a:p>
            <a:pPr marL="0" indent="0">
              <a:buNone/>
            </a:pPr>
            <a:r>
              <a:rPr lang="en-IN" dirty="0"/>
              <a:t>...........*</a:t>
            </a:r>
          </a:p>
          <a:p>
            <a:pPr marL="0" indent="0">
              <a:buNone/>
            </a:pPr>
            <a:r>
              <a:rPr lang="en-IN" dirty="0"/>
              <a:t>.........*</a:t>
            </a:r>
          </a:p>
          <a:p>
            <a:pPr marL="0" indent="0">
              <a:buNone/>
            </a:pPr>
            <a:r>
              <a:rPr lang="en-IN" dirty="0"/>
              <a:t>.......*</a:t>
            </a:r>
          </a:p>
          <a:p>
            <a:pPr marL="0" indent="0">
              <a:buNone/>
            </a:pPr>
            <a:r>
              <a:rPr lang="en-IN" dirty="0"/>
              <a:t>.....*</a:t>
            </a:r>
          </a:p>
          <a:p>
            <a:pPr marL="0" indent="0">
              <a:buNone/>
            </a:pPr>
            <a:r>
              <a:rPr lang="en-IN" dirty="0"/>
              <a:t>...*</a:t>
            </a:r>
          </a:p>
          <a:p>
            <a:pPr marL="0" indent="0">
              <a:buNone/>
            </a:pPr>
            <a:r>
              <a:rPr lang="en-IN" dirty="0"/>
              <a:t>.*</a:t>
            </a:r>
          </a:p>
        </p:txBody>
      </p:sp>
    </p:spTree>
    <p:extLst>
      <p:ext uri="{BB962C8B-B14F-4D97-AF65-F5344CB8AC3E}">
        <p14:creationId xmlns:p14="http://schemas.microsoft.com/office/powerpoint/2010/main" val="32751375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8123C-941A-010E-00FD-662DAB91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4F164-0A18-F7FA-1FCF-748AC265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Each * has a coordinate:</a:t>
            </a:r>
          </a:p>
          <a:p>
            <a:r>
              <a:rPr lang="en-IN" dirty="0"/>
              <a:t>Step 2: Hough looks at these points</a:t>
            </a:r>
          </a:p>
          <a:p>
            <a:r>
              <a:rPr lang="en-IN" dirty="0"/>
              <a:t>Hough takes the edge points </a:t>
            </a:r>
            <a:r>
              <a:rPr lang="en-IN" b="1" dirty="0"/>
              <a:t>one by one</a:t>
            </a:r>
            <a:r>
              <a:rPr lang="en-IN" dirty="0"/>
              <a:t>.</a:t>
            </a:r>
          </a:p>
          <a:p>
            <a:r>
              <a:rPr lang="en-IN" dirty="0"/>
              <a:t>Suppose it takes:</a:t>
            </a:r>
          </a:p>
          <a:p>
            <a:r>
              <a:rPr lang="en-IN" dirty="0"/>
              <a:t>Point = (100, 50)</a:t>
            </a:r>
          </a:p>
          <a:p>
            <a:r>
              <a:rPr lang="en-IN" dirty="0"/>
              <a:t>The algorithm asks:</a:t>
            </a:r>
          </a:p>
          <a:p>
            <a:r>
              <a:rPr lang="en-IN" dirty="0"/>
              <a:t>"What straight lines could pass through this point?"</a:t>
            </a:r>
          </a:p>
          <a:p>
            <a:r>
              <a:rPr lang="en-IN" dirty="0"/>
              <a:t>There are many possibilities: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793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9A982-D95D-B673-4477-D0177D138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AA197-2590-4B7E-CA51-17C4CB33C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 this point contributes votes to possible lines.</a:t>
            </a:r>
          </a:p>
          <a:p>
            <a:r>
              <a:rPr lang="en-IN" dirty="0"/>
              <a:t>Step 3: It does the same for another point</a:t>
            </a:r>
          </a:p>
          <a:p>
            <a:r>
              <a:rPr lang="en-IN" dirty="0"/>
              <a:t>Point = (110, 60)</a:t>
            </a:r>
          </a:p>
          <a:p>
            <a:r>
              <a:rPr lang="en-IN" dirty="0"/>
              <a:t>Again, it asks:</a:t>
            </a:r>
          </a:p>
          <a:p>
            <a:r>
              <a:rPr lang="en-IN" dirty="0"/>
              <a:t>"What lines could pass through this point?"</a:t>
            </a:r>
          </a:p>
          <a:p>
            <a:r>
              <a:rPr lang="en-IN" dirty="0"/>
              <a:t>And another point:</a:t>
            </a:r>
          </a:p>
          <a:p>
            <a:r>
              <a:rPr lang="en-IN" dirty="0"/>
              <a:t>Again, it votes.</a:t>
            </a:r>
          </a:p>
        </p:txBody>
      </p:sp>
    </p:spTree>
    <p:extLst>
      <p:ext uri="{BB962C8B-B14F-4D97-AF65-F5344CB8AC3E}">
        <p14:creationId xmlns:p14="http://schemas.microsoft.com/office/powerpoint/2010/main" val="21413184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DA0D-75DA-5317-BE05-BBF66BDD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58142-1826-57D5-AB60-216EAD7F9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Possible line A → 5 votes</a:t>
            </a:r>
          </a:p>
          <a:p>
            <a:r>
              <a:rPr lang="en-IN" dirty="0"/>
              <a:t>Possible line B → 8 votes</a:t>
            </a:r>
          </a:p>
          <a:p>
            <a:r>
              <a:rPr lang="en-IN" dirty="0"/>
              <a:t>Possible line C → 70 votes  </a:t>
            </a:r>
          </a:p>
          <a:p>
            <a:r>
              <a:rPr lang="en-IN" dirty="0"/>
              <a:t>Possible line D → 3 votes</a:t>
            </a:r>
          </a:p>
          <a:p>
            <a:r>
              <a:rPr lang="en-IN" dirty="0"/>
              <a:t>The line with lots of votes becomes a </a:t>
            </a:r>
            <a:r>
              <a:rPr lang="en-IN" b="1" dirty="0"/>
              <a:t>strong candidate</a:t>
            </a:r>
            <a:r>
              <a:rPr lang="en-IN" dirty="0"/>
              <a:t>.</a:t>
            </a:r>
          </a:p>
          <a:p>
            <a:r>
              <a:rPr lang="en-IN" dirty="0"/>
              <a:t>The 50 is the </a:t>
            </a:r>
            <a:r>
              <a:rPr lang="en-IN" b="1" dirty="0"/>
              <a:t>vote threshold</a:t>
            </a:r>
            <a:r>
              <a:rPr lang="en-IN" dirty="0"/>
              <a:t>.</a:t>
            </a:r>
          </a:p>
          <a:p>
            <a:r>
              <a:rPr lang="en-IN" dirty="0"/>
              <a:t>Basically:</a:t>
            </a:r>
          </a:p>
          <a:p>
            <a:r>
              <a:rPr lang="en-IN" dirty="0"/>
              <a:t>"I want enough evidence before I call something a line."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3011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122B-E61D-3713-C5B2-DF2507AE6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corner?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1010-0C46-F7EB-59AD-CD3D9E5B7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corner</a:t>
            </a:r>
            <a:r>
              <a:rPr lang="en-IN" dirty="0"/>
              <a:t> is a point where the image changes strongly in </a:t>
            </a:r>
            <a:r>
              <a:rPr lang="en-IN" b="1" dirty="0"/>
              <a:t>two directions</a:t>
            </a:r>
            <a:r>
              <a:rPr lang="en-IN" dirty="0"/>
              <a:t>.</a:t>
            </a:r>
          </a:p>
          <a:p>
            <a:r>
              <a:rPr lang="en-IN" dirty="0"/>
              <a:t>──────────</a:t>
            </a:r>
          </a:p>
          <a:p>
            <a:r>
              <a:rPr lang="en-IN" dirty="0"/>
              <a:t>                         |</a:t>
            </a:r>
          </a:p>
          <a:p>
            <a:r>
              <a:rPr lang="en-IN" dirty="0"/>
              <a:t>                         |</a:t>
            </a:r>
          </a:p>
          <a:p>
            <a:r>
              <a:rPr lang="en-IN" dirty="0"/>
              <a:t>                         |</a:t>
            </a:r>
          </a:p>
          <a:p>
            <a:r>
              <a:rPr lang="en-IN" dirty="0"/>
              <a:t>                         |</a:t>
            </a:r>
          </a:p>
        </p:txBody>
      </p:sp>
    </p:spTree>
    <p:extLst>
      <p:ext uri="{BB962C8B-B14F-4D97-AF65-F5344CB8AC3E}">
        <p14:creationId xmlns:p14="http://schemas.microsoft.com/office/powerpoint/2010/main" val="36667786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61E0-A0F4-BEB6-85D0-CC5F3D55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C6C3C-D73D-7A99-B961-D032040C1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point where the horizontal and vertical lines meet is a </a:t>
            </a:r>
            <a:r>
              <a:rPr lang="en-IN" b="1" dirty="0"/>
              <a:t>corner</a:t>
            </a:r>
            <a:r>
              <a:rPr lang="en-IN" dirty="0"/>
              <a:t>:</a:t>
            </a:r>
          </a:p>
          <a:p>
            <a:r>
              <a:rPr lang="en-IN" dirty="0"/>
              <a:t>Why do we detect corners?</a:t>
            </a:r>
          </a:p>
          <a:p>
            <a:r>
              <a:rPr lang="en-IN" dirty="0"/>
              <a:t>Suppose you take two pictures of the same object:</a:t>
            </a:r>
          </a:p>
          <a:p>
            <a:r>
              <a:rPr lang="en-IN" dirty="0"/>
              <a:t>If we can find the same corner in both images, we can understand that:</a:t>
            </a:r>
          </a:p>
          <a:p>
            <a:r>
              <a:rPr lang="en-IN" dirty="0"/>
              <a:t>This point in Image 1 corresponds to this point in Image 2."</a:t>
            </a:r>
          </a:p>
        </p:txBody>
      </p:sp>
    </p:spTree>
    <p:extLst>
      <p:ext uri="{BB962C8B-B14F-4D97-AF65-F5344CB8AC3E}">
        <p14:creationId xmlns:p14="http://schemas.microsoft.com/office/powerpoint/2010/main" val="890262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7EF5-F810-BE9E-4C5A-6DED12AF7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7B856-4B7E-B7D4-E1D2-E3026889B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is useful for:</a:t>
            </a:r>
          </a:p>
          <a:p>
            <a:pPr lvl="0"/>
            <a:r>
              <a:rPr lang="en-IN" dirty="0"/>
              <a:t>Object recognition </a:t>
            </a:r>
          </a:p>
          <a:p>
            <a:pPr lvl="0"/>
            <a:r>
              <a:rPr lang="en-IN" dirty="0"/>
              <a:t>Image matching </a:t>
            </a:r>
          </a:p>
          <a:p>
            <a:pPr lvl="0"/>
            <a:r>
              <a:rPr lang="en-IN" dirty="0"/>
              <a:t>Tracking </a:t>
            </a:r>
          </a:p>
          <a:p>
            <a:pPr lvl="0"/>
            <a:r>
              <a:rPr lang="en-IN" dirty="0"/>
              <a:t>Panorama creation </a:t>
            </a:r>
          </a:p>
          <a:p>
            <a:pPr lvl="0"/>
            <a:r>
              <a:rPr lang="en-IN" dirty="0"/>
              <a:t>Camera motion estimation </a:t>
            </a:r>
          </a:p>
          <a:p>
            <a:pPr lvl="0"/>
            <a:r>
              <a:rPr lang="en-IN" dirty="0"/>
              <a:t>3D reconstruction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52741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8334F-4A2A-C493-4BF7-F5615E0A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Harris Corner Detector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A1662-CD7F-AFD4-2F53-6A37A5874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Harris Corner Detector</a:t>
            </a:r>
            <a:r>
              <a:rPr lang="en-IN" dirty="0"/>
              <a:t> is a method for finding corners.</a:t>
            </a:r>
          </a:p>
          <a:p>
            <a:r>
              <a:rPr lang="en-IN" dirty="0"/>
              <a:t>Its basic idea is very simple:</a:t>
            </a:r>
          </a:p>
          <a:p>
            <a:r>
              <a:rPr lang="en-IN" dirty="0"/>
              <a:t>Move a small window around the image and see how much the image changes.</a:t>
            </a:r>
          </a:p>
          <a:p>
            <a:endParaRPr lang="en-IN" dirty="0"/>
          </a:p>
          <a:p>
            <a:r>
              <a:rPr lang="en-IN" dirty="0"/>
              <a:t>Harris looks in different directions</a:t>
            </a:r>
          </a:p>
          <a:p>
            <a:r>
              <a:rPr lang="en-IN" dirty="0"/>
              <a:t>Imagine we have three types of areas.</a:t>
            </a:r>
          </a:p>
        </p:txBody>
      </p:sp>
    </p:spTree>
    <p:extLst>
      <p:ext uri="{BB962C8B-B14F-4D97-AF65-F5344CB8AC3E}">
        <p14:creationId xmlns:p14="http://schemas.microsoft.com/office/powerpoint/2010/main" val="35098397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0D3EC-B2B6-3522-53AE-F50929143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822E4-8EEC-57F6-3851-A9CE4F436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you have a black hexagon on a white background.</a:t>
            </a:r>
          </a:p>
          <a:p>
            <a:r>
              <a:rPr lang="en-IN" dirty="0"/>
              <a:t>At a straight edge, intensity changes mainly in </a:t>
            </a:r>
            <a:r>
              <a:rPr lang="en-IN" b="1" dirty="0"/>
              <a:t>one direction</a:t>
            </a:r>
            <a:r>
              <a:rPr lang="en-IN" dirty="0"/>
              <a:t>.</a:t>
            </a:r>
          </a:p>
          <a:p>
            <a:r>
              <a:rPr lang="en-IN" dirty="0"/>
              <a:t>At a corner, intensity changes in </a:t>
            </a:r>
            <a:r>
              <a:rPr lang="en-IN" b="1" dirty="0"/>
              <a:t>two directions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Calculate image gradients</a:t>
            </a:r>
          </a:p>
          <a:p>
            <a:r>
              <a:rPr lang="en-IN" dirty="0"/>
              <a:t>Harris first calculates how quickly intensity changes in the </a:t>
            </a:r>
            <a:r>
              <a:rPr lang="en-IN" b="1" dirty="0"/>
              <a:t>x and y directions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0640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8BD68-0686-F1D2-EF9F-65DB7A6E4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6ED4A-1E1F-458B-9E34-1C9C22A01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Usually Sobel filters are used:</a:t>
            </a:r>
          </a:p>
          <a:p>
            <a:r>
              <a:rPr lang="en-IN" dirty="0"/>
              <a:t>Ix​=∂I/∂x</a:t>
            </a:r>
          </a:p>
          <a:p>
            <a:r>
              <a:rPr lang="en-IN" dirty="0"/>
              <a:t>​ </a:t>
            </a:r>
            <a:r>
              <a:rPr lang="en-IN" dirty="0" err="1"/>
              <a:t>Iy</a:t>
            </a:r>
            <a:r>
              <a:rPr lang="en-IN" dirty="0"/>
              <a:t>​=∂I/∂y</a:t>
            </a:r>
          </a:p>
          <a:p>
            <a:endParaRPr lang="en-IN" dirty="0"/>
          </a:p>
          <a:p>
            <a:r>
              <a:rPr lang="en-IN" dirty="0"/>
              <a:t>So for every pixel, we get:</a:t>
            </a:r>
          </a:p>
          <a:p>
            <a:pPr lvl="0"/>
            <a:r>
              <a:rPr lang="en-IN" dirty="0"/>
              <a:t>Ix​ → horizontal intensity change </a:t>
            </a:r>
          </a:p>
          <a:p>
            <a:pPr lvl="0"/>
            <a:r>
              <a:rPr lang="en-IN" dirty="0" err="1"/>
              <a:t>Iy</a:t>
            </a:r>
            <a:r>
              <a:rPr lang="en-IN" dirty="0"/>
              <a:t>​ → vertical intensity change</a:t>
            </a:r>
          </a:p>
          <a:p>
            <a:r>
              <a:rPr lang="en-IN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9021702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37A5-1599-2DFF-6160-7BC3BF62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D1F3E-798F-7CC8-4B1E-23FD1538F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Flat region       Edge             Corner</a:t>
            </a:r>
          </a:p>
          <a:p>
            <a:endParaRPr lang="en-US" dirty="0"/>
          </a:p>
          <a:p>
            <a:r>
              <a:rPr lang="en-US" dirty="0"/>
              <a:t>   0 0 0           0 0 255          0 0 255</a:t>
            </a:r>
          </a:p>
          <a:p>
            <a:r>
              <a:rPr lang="en-US" dirty="0"/>
              <a:t>   0 0 0           0 0 255          0 255 255</a:t>
            </a:r>
          </a:p>
          <a:p>
            <a:r>
              <a:rPr lang="en-US" dirty="0"/>
              <a:t>   0 0 0           0 0 255          255 255 255</a:t>
            </a:r>
          </a:p>
          <a:p>
            <a:endParaRPr lang="en-US" dirty="0"/>
          </a:p>
          <a:p>
            <a:r>
              <a:rPr lang="en-US" dirty="0"/>
              <a:t>   small           strong                 </a:t>
            </a:r>
            <a:r>
              <a:rPr lang="en-US" dirty="0" err="1"/>
              <a:t>strong</a:t>
            </a:r>
            <a:r>
              <a:rPr lang="en-US" dirty="0"/>
              <a:t> in</a:t>
            </a:r>
          </a:p>
          <a:p>
            <a:r>
              <a:rPr lang="en-US" dirty="0"/>
              <a:t>   change          </a:t>
            </a:r>
            <a:r>
              <a:rPr lang="en-US" dirty="0" err="1"/>
              <a:t>change</a:t>
            </a:r>
            <a:r>
              <a:rPr lang="en-US" dirty="0"/>
              <a:t>             2 directions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5433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A4EE-7F55-6A29-EA93-AA5E56556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7531B-3C16-7E1C-A5A8-EE2FC002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Calculate gradient products</a:t>
            </a:r>
          </a:p>
          <a:p>
            <a:r>
              <a:rPr lang="en-IN" dirty="0"/>
              <a:t>Harris calculates:</a:t>
            </a:r>
          </a:p>
          <a:p>
            <a:r>
              <a:rPr lang="en-IN" dirty="0"/>
              <a:t>Ix^2​,Iy^2​,Ix​</a:t>
            </a:r>
            <a:r>
              <a:rPr lang="en-IN" dirty="0" err="1"/>
              <a:t>Iy</a:t>
            </a:r>
            <a:r>
              <a:rPr lang="en-IN" dirty="0"/>
              <a:t>​</a:t>
            </a:r>
          </a:p>
          <a:p>
            <a:r>
              <a:rPr lang="en-IN" dirty="0"/>
              <a:t>Then it considers a small </a:t>
            </a:r>
            <a:r>
              <a:rPr lang="en-IN" dirty="0" err="1"/>
              <a:t>neighborhood</a:t>
            </a:r>
            <a:r>
              <a:rPr lang="en-IN" dirty="0"/>
              <a:t> around every pixel.</a:t>
            </a:r>
          </a:p>
          <a:p>
            <a:r>
              <a:rPr lang="en-IN" dirty="0"/>
              <a:t>For example, a </a:t>
            </a:r>
            <a:r>
              <a:rPr lang="en-IN" b="1" dirty="0"/>
              <a:t>3×3 window</a:t>
            </a:r>
            <a:r>
              <a:rPr lang="en-IN" dirty="0"/>
              <a:t>:</a:t>
            </a:r>
          </a:p>
          <a:p>
            <a:r>
              <a:rPr lang="en-IN" dirty="0"/>
              <a:t>It sums/averages the gradient information inside this window.</a:t>
            </a:r>
          </a:p>
        </p:txBody>
      </p:sp>
    </p:spTree>
    <p:extLst>
      <p:ext uri="{BB962C8B-B14F-4D97-AF65-F5344CB8AC3E}">
        <p14:creationId xmlns:p14="http://schemas.microsoft.com/office/powerpoint/2010/main" val="36601717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E0A98-3F12-1EA9-48FB-D40D4D60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BCC83-B7C0-72B1-5581-09001E2A1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Suppose after applying Sobel filters, for a particular pixel we get:</a:t>
            </a:r>
          </a:p>
          <a:p>
            <a:r>
              <a:rPr lang="en-IN" dirty="0"/>
              <a:t>Ix​=10 </a:t>
            </a:r>
            <a:r>
              <a:rPr lang="en-IN" dirty="0" err="1"/>
              <a:t>Iy</a:t>
            </a:r>
            <a:r>
              <a:rPr lang="en-IN" dirty="0"/>
              <a:t>​=5</a:t>
            </a:r>
          </a:p>
          <a:p>
            <a:r>
              <a:rPr lang="en-IN" dirty="0"/>
              <a:t>hen:</a:t>
            </a:r>
          </a:p>
          <a:p>
            <a:r>
              <a:rPr lang="en-IN" b="1" dirty="0"/>
              <a:t>1. Calculate Ix2​</a:t>
            </a:r>
          </a:p>
          <a:p>
            <a:r>
              <a:rPr lang="en-IN" dirty="0"/>
              <a:t>Ix2​=102=100 </a:t>
            </a:r>
          </a:p>
          <a:p>
            <a:r>
              <a:rPr lang="en-IN" b="1" dirty="0"/>
              <a:t>2. Calculate Iy2​</a:t>
            </a:r>
          </a:p>
          <a:p>
            <a:r>
              <a:rPr lang="en-IN" dirty="0"/>
              <a:t>Iy2​=52=25 </a:t>
            </a:r>
          </a:p>
          <a:p>
            <a:r>
              <a:rPr lang="en-IN" b="1" dirty="0"/>
              <a:t>3. Calculate Ix​</a:t>
            </a:r>
            <a:r>
              <a:rPr lang="en-IN" b="1" dirty="0" err="1"/>
              <a:t>Iy</a:t>
            </a:r>
            <a:r>
              <a:rPr lang="en-IN" b="1" dirty="0"/>
              <a:t>​</a:t>
            </a:r>
          </a:p>
          <a:p>
            <a:r>
              <a:rPr lang="en-IN" dirty="0"/>
              <a:t>Ix​</a:t>
            </a:r>
            <a:r>
              <a:rPr lang="en-IN" dirty="0" err="1"/>
              <a:t>Iy</a:t>
            </a:r>
            <a:r>
              <a:rPr lang="en-IN" dirty="0"/>
              <a:t>​=10×5=50</a:t>
            </a:r>
          </a:p>
        </p:txBody>
      </p:sp>
    </p:spTree>
    <p:extLst>
      <p:ext uri="{BB962C8B-B14F-4D97-AF65-F5344CB8AC3E}">
        <p14:creationId xmlns:p14="http://schemas.microsoft.com/office/powerpoint/2010/main" val="8312786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61F4C-B096-5F06-2D77-1B04E78B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4C79D8-8BC1-0B08-CDDD-FE11A5762E4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268575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52342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21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(I_x)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12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(I_y)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815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(I_x^2)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86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(I_y^2)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438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(I_xI_y)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317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647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5D0E-B87C-BE89-B42D-793131A4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3FE79-E8E6-399C-0E1F-9C58D804B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1 2 3</a:t>
            </a:r>
          </a:p>
          <a:p>
            <a:r>
              <a:rPr lang="en-IN" dirty="0"/>
              <a:t>4 5 6</a:t>
            </a:r>
          </a:p>
          <a:p>
            <a:r>
              <a:rPr lang="en-IN" dirty="0"/>
              <a:t>7 8 9</a:t>
            </a:r>
          </a:p>
          <a:p>
            <a:endParaRPr lang="en-IN" dirty="0"/>
          </a:p>
          <a:p>
            <a:r>
              <a:rPr lang="en-IN" dirty="0"/>
              <a:t>-1 0 1</a:t>
            </a:r>
          </a:p>
          <a:p>
            <a:r>
              <a:rPr lang="en-IN" dirty="0"/>
              <a:t>2 0 2 </a:t>
            </a:r>
          </a:p>
          <a:p>
            <a:r>
              <a:rPr lang="en-IN" dirty="0"/>
              <a:t>-1 0 -1</a:t>
            </a:r>
          </a:p>
        </p:txBody>
      </p:sp>
    </p:spTree>
    <p:extLst>
      <p:ext uri="{BB962C8B-B14F-4D97-AF65-F5344CB8AC3E}">
        <p14:creationId xmlns:p14="http://schemas.microsoft.com/office/powerpoint/2010/main" val="40567022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A4BA9-4121-AD31-022C-569FD6E8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FDF1B-31FE-D7C2-05F8-473DE577C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Why do we calculate these three values?</a:t>
            </a:r>
          </a:p>
          <a:p>
            <a:r>
              <a:rPr lang="en-IN" dirty="0"/>
              <a:t>Because Harris needs to understand </a:t>
            </a:r>
            <a:r>
              <a:rPr lang="en-IN" b="1" dirty="0"/>
              <a:t>how much the image changes around a pixel in different directions</a:t>
            </a:r>
            <a:r>
              <a:rPr lang="en-IN" dirty="0"/>
              <a:t>.</a:t>
            </a:r>
          </a:p>
          <a:p>
            <a:r>
              <a:rPr lang="en-IN" dirty="0"/>
              <a:t>The three values are later used to create the matrix: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86CFD-C52E-48BD-089C-C6338D49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346" y="4360078"/>
            <a:ext cx="5682877" cy="153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875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9D25-0A32-F093-CF82-9763385D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D5C28-34B3-1A1F-EAA6-42D0B441B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But notice the </a:t>
            </a:r>
            <a:r>
              <a:rPr lang="en-IN" b="1" dirty="0"/>
              <a:t>Σ (summation)</a:t>
            </a:r>
            <a:r>
              <a:rPr lang="en-IN" dirty="0"/>
              <a:t>.</a:t>
            </a:r>
          </a:p>
          <a:p>
            <a:r>
              <a:rPr lang="en-IN" dirty="0"/>
              <a:t>We don't normally use just one pixel. We look at a </a:t>
            </a:r>
            <a:r>
              <a:rPr lang="en-IN" b="1" dirty="0"/>
              <a:t>small </a:t>
            </a:r>
            <a:r>
              <a:rPr lang="en-IN" b="1" dirty="0" err="1"/>
              <a:t>neighborhood</a:t>
            </a:r>
            <a:r>
              <a:rPr lang="en-IN" dirty="0"/>
              <a:t>, such as a 3×3 window.</a:t>
            </a:r>
          </a:p>
          <a:p>
            <a:r>
              <a:rPr lang="en-IN" dirty="0"/>
              <a:t>Let's calculate a complete 3×3 example</a:t>
            </a:r>
          </a:p>
        </p:txBody>
      </p:sp>
    </p:spTree>
    <p:extLst>
      <p:ext uri="{BB962C8B-B14F-4D97-AF65-F5344CB8AC3E}">
        <p14:creationId xmlns:p14="http://schemas.microsoft.com/office/powerpoint/2010/main" val="30724437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51A1BA-4700-C354-B76A-635812AC2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377" y="430823"/>
            <a:ext cx="9187961" cy="574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932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EF70D6-C5B1-9DEC-80A7-738D93A91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354" y="1354015"/>
            <a:ext cx="8801100" cy="482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479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2EF6C-923A-53E2-B9CD-F3D4D972A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223"/>
            <a:ext cx="10515600" cy="5974740"/>
          </a:xfrm>
        </p:spPr>
        <p:txBody>
          <a:bodyPr/>
          <a:lstStyle/>
          <a:p>
            <a:r>
              <a:rPr lang="en-IN" dirty="0"/>
              <a:t>Now comes the important part: summation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56C36C-9DD0-E088-9313-BCF22CC56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315" y="1048259"/>
            <a:ext cx="9240716" cy="51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1692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4EE0-A86E-6945-1E64-28CD8A8E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E7F2F-E168-9685-593D-AF6FB9E8F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 we now have:</a:t>
            </a:r>
          </a:p>
          <a:p>
            <a:r>
              <a:rPr lang="en-IN" dirty="0"/>
              <a:t>∑Ix2​=168 </a:t>
            </a:r>
          </a:p>
          <a:p>
            <a:r>
              <a:rPr lang="en-IN" dirty="0"/>
              <a:t>∑Iy2​=42 </a:t>
            </a:r>
          </a:p>
          <a:p>
            <a:r>
              <a:rPr lang="en-IN" dirty="0"/>
              <a:t>∑Ix​</a:t>
            </a:r>
            <a:r>
              <a:rPr lang="en-IN" dirty="0" err="1"/>
              <a:t>Iy</a:t>
            </a:r>
            <a:r>
              <a:rPr lang="en-IN" dirty="0"/>
              <a:t>​=72</a:t>
            </a:r>
          </a:p>
          <a:p>
            <a:endParaRPr lang="en-IN" dirty="0"/>
          </a:p>
          <a:p>
            <a:r>
              <a:rPr lang="en-IN" dirty="0"/>
              <a:t>Now construct the Harris matrix</a:t>
            </a:r>
          </a:p>
        </p:txBody>
      </p:sp>
    </p:spTree>
    <p:extLst>
      <p:ext uri="{BB962C8B-B14F-4D97-AF65-F5344CB8AC3E}">
        <p14:creationId xmlns:p14="http://schemas.microsoft.com/office/powerpoint/2010/main" val="5818908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9D0344-FD6C-92C6-49D3-26A04E463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7446" y="527538"/>
            <a:ext cx="8836269" cy="564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859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FA503-8D51-1B08-55F6-8579D259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5D1DD-5009-0AE4-1C66-7C016914E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Since the Harris response is </a:t>
            </a:r>
            <a:r>
              <a:rPr lang="en-IN" b="1" dirty="0"/>
              <a:t>positive and relatively strong</a:t>
            </a:r>
            <a:r>
              <a:rPr lang="en-IN" dirty="0"/>
              <a:t>, this location could be considered a </a:t>
            </a:r>
            <a:r>
              <a:rPr lang="en-IN" b="1" dirty="0"/>
              <a:t>corner candidate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05481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68AC-31CF-C04E-1740-44CF890DF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1FC77-85F1-F50F-F87D-E9CE9E674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Flat area</a:t>
            </a:r>
          </a:p>
          <a:p>
            <a:r>
              <a:rPr lang="en-IN" dirty="0"/>
              <a:t>Move the window: right</a:t>
            </a:r>
          </a:p>
          <a:p>
            <a:r>
              <a:rPr lang="en-IN" dirty="0"/>
              <a:t>Not much changes.</a:t>
            </a:r>
          </a:p>
          <a:p>
            <a:r>
              <a:rPr lang="en-IN" dirty="0"/>
              <a:t>Move it: down Again, not much changes.</a:t>
            </a:r>
          </a:p>
          <a:p>
            <a:r>
              <a:rPr lang="en-IN" dirty="0"/>
              <a:t>So:</a:t>
            </a:r>
          </a:p>
          <a:p>
            <a:r>
              <a:rPr lang="en-IN" b="1" dirty="0"/>
              <a:t>Not a corner.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3428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C7A7-7521-25FF-EE73-5EB8BEE3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4E96C-90CE-F6D7-A36E-26E04D9B5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Edge: If we move along the edge(right): not much changes.</a:t>
            </a:r>
          </a:p>
          <a:p>
            <a:r>
              <a:rPr lang="en-IN" dirty="0"/>
              <a:t>But if we move across the edge: in down a lot changes.</a:t>
            </a:r>
          </a:p>
          <a:p>
            <a:r>
              <a:rPr lang="en-IN" dirty="0"/>
              <a:t>So:</a:t>
            </a:r>
          </a:p>
          <a:p>
            <a:r>
              <a:rPr lang="en-IN" b="1" dirty="0"/>
              <a:t>This is an edge, not a corner.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9908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35E9-81A2-4686-0FB5-626A54428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55B2A-AE88-4C6C-8587-B346C7446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Now move the window horizontally: Big change.</a:t>
            </a:r>
          </a:p>
          <a:p>
            <a:r>
              <a:rPr lang="en-IN" dirty="0"/>
              <a:t>Move it </a:t>
            </a:r>
            <a:r>
              <a:rPr lang="en-IN" dirty="0" err="1"/>
              <a:t>vertically:</a:t>
            </a:r>
            <a:r>
              <a:rPr lang="en-IN" b="1" dirty="0" err="1"/>
              <a:t>Big</a:t>
            </a:r>
            <a:r>
              <a:rPr lang="en-IN" b="1" dirty="0"/>
              <a:t> change in both directions = corner.</a:t>
            </a:r>
            <a:endParaRPr lang="en-IN" dirty="0"/>
          </a:p>
          <a:p>
            <a:r>
              <a:rPr lang="en-IN" dirty="0"/>
              <a:t>This is the main idea behind Harris.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0047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2745B-790D-FD21-9D62-DC2722E91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5612E-9834-5C8A-59C6-87C2F0F1D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Harris finds a corner by checking whether the image changes strongly when we move a small window in different directions.</a:t>
            </a:r>
          </a:p>
          <a:p>
            <a:r>
              <a:rPr lang="en-IN" dirty="0"/>
              <a:t>What does Harris actually calculate?</a:t>
            </a:r>
          </a:p>
          <a:p>
            <a:r>
              <a:rPr lang="en-IN" dirty="0"/>
              <a:t>Harris calculates something called the </a:t>
            </a:r>
            <a:r>
              <a:rPr lang="en-IN" b="1" dirty="0"/>
              <a:t>Harris response</a:t>
            </a:r>
            <a:r>
              <a:rPr lang="en-IN" dirty="0"/>
              <a:t>.</a:t>
            </a:r>
          </a:p>
          <a:p>
            <a:r>
              <a:rPr lang="en-IN" dirty="0"/>
              <a:t>You may see this formula:</a:t>
            </a:r>
          </a:p>
          <a:p>
            <a:r>
              <a:rPr lang="en-IN" dirty="0"/>
              <a:t>R=det(M)−k(trace(M))^2</a:t>
            </a:r>
          </a:p>
        </p:txBody>
      </p:sp>
    </p:spTree>
    <p:extLst>
      <p:ext uri="{BB962C8B-B14F-4D97-AF65-F5344CB8AC3E}">
        <p14:creationId xmlns:p14="http://schemas.microsoft.com/office/powerpoint/2010/main" val="8263472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A24A7-7C21-C295-5B49-2A59B0F81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507D7-DF8E-EE6E-F6DF-9A26C80A6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 is called the </a:t>
            </a:r>
            <a:r>
              <a:rPr lang="en-IN" b="1" dirty="0"/>
              <a:t>structure tensor</a:t>
            </a:r>
            <a:r>
              <a:rPr lang="en-IN" dirty="0"/>
              <a:t> or </a:t>
            </a:r>
            <a:r>
              <a:rPr lang="en-IN" b="1" dirty="0"/>
              <a:t>second-moment matrix</a:t>
            </a:r>
            <a:r>
              <a:rPr lang="en-IN" dirty="0"/>
              <a:t>.</a:t>
            </a:r>
          </a:p>
          <a:p>
            <a:r>
              <a:rPr lang="en-IN" dirty="0"/>
              <a:t>It contains information about how much the image changes in the x and y directions.</a:t>
            </a:r>
          </a:p>
          <a:p>
            <a:r>
              <a:rPr lang="en-IN" dirty="0"/>
              <a:t>Understanding the Harris response</a:t>
            </a:r>
          </a:p>
          <a:p>
            <a:r>
              <a:rPr lang="en-IN" dirty="0"/>
              <a:t>The result R tells us what kind of point we have.</a:t>
            </a:r>
          </a:p>
          <a:p>
            <a:r>
              <a:rPr lang="en-IN" dirty="0"/>
              <a:t>Flat region     R ≈ small</a:t>
            </a:r>
          </a:p>
          <a:p>
            <a:r>
              <a:rPr lang="en-IN" dirty="0"/>
              <a:t>Edge   R = negative / relatively low</a:t>
            </a:r>
          </a:p>
          <a:p>
            <a:r>
              <a:rPr lang="en-IN" dirty="0"/>
              <a:t>Corner   R = large positive</a:t>
            </a:r>
          </a:p>
          <a:p>
            <a:r>
              <a:rPr lang="en-IN" dirty="0"/>
              <a:t>Strong change in two directions.</a:t>
            </a:r>
          </a:p>
        </p:txBody>
      </p:sp>
    </p:spTree>
    <p:extLst>
      <p:ext uri="{BB962C8B-B14F-4D97-AF65-F5344CB8AC3E}">
        <p14:creationId xmlns:p14="http://schemas.microsoft.com/office/powerpoint/2010/main" val="23069195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FF61-33C2-D2AA-3323-CBF05EEDD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E7A20-5753-D9C5-CEF4-B322C9395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Flat       → small response</a:t>
            </a:r>
          </a:p>
          <a:p>
            <a:r>
              <a:rPr lang="en-US" dirty="0"/>
              <a:t>Edge       → low/negative response</a:t>
            </a:r>
          </a:p>
          <a:p>
            <a:r>
              <a:rPr lang="en-US" dirty="0"/>
              <a:t>Corner     → high positive response</a:t>
            </a:r>
          </a:p>
          <a:p>
            <a:r>
              <a:rPr lang="en-IN" dirty="0"/>
              <a:t>Suppose we have this matrix</a:t>
            </a:r>
          </a:p>
          <a:p>
            <a:r>
              <a:rPr lang="en-IN" dirty="0"/>
              <a:t>M=[4  1</a:t>
            </a:r>
          </a:p>
          <a:p>
            <a:r>
              <a:rPr lang="en-IN" dirty="0"/>
              <a:t>        1  3 ]</a:t>
            </a:r>
          </a:p>
        </p:txBody>
      </p:sp>
    </p:spTree>
    <p:extLst>
      <p:ext uri="{BB962C8B-B14F-4D97-AF65-F5344CB8AC3E}">
        <p14:creationId xmlns:p14="http://schemas.microsoft.com/office/powerpoint/2010/main" val="39357265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6C31-F33D-64BC-386E-4CF46C02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AAB04-1E0F-0FCE-B6FA-E9A9A2F99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det(M)?</a:t>
            </a:r>
          </a:p>
          <a:p>
            <a:r>
              <a:rPr lang="en-IN" dirty="0"/>
              <a:t>det = determinant</a:t>
            </a:r>
          </a:p>
          <a:p>
            <a:r>
              <a:rPr lang="en-IN" dirty="0"/>
              <a:t>he determinant is:</a:t>
            </a:r>
          </a:p>
          <a:p>
            <a:r>
              <a:rPr lang="en-IN" dirty="0"/>
              <a:t>det(M)=(</a:t>
            </a:r>
            <a:r>
              <a:rPr lang="en-IN" dirty="0" err="1"/>
              <a:t>a×d</a:t>
            </a:r>
            <a:r>
              <a:rPr lang="en-IN" dirty="0"/>
              <a:t>)−(</a:t>
            </a:r>
            <a:r>
              <a:rPr lang="en-IN" dirty="0" err="1"/>
              <a:t>b×c</a:t>
            </a:r>
            <a:r>
              <a:rPr lang="en-IN" dirty="0"/>
              <a:t>)</a:t>
            </a:r>
          </a:p>
          <a:p>
            <a:r>
              <a:rPr lang="en-IN" dirty="0"/>
              <a:t>det(M)=(4×3)−(1×1) =12−1 det(M)=11​</a:t>
            </a:r>
          </a:p>
        </p:txBody>
      </p:sp>
    </p:spTree>
    <p:extLst>
      <p:ext uri="{BB962C8B-B14F-4D97-AF65-F5344CB8AC3E}">
        <p14:creationId xmlns:p14="http://schemas.microsoft.com/office/powerpoint/2010/main" val="22627134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70F6-E63D-7886-0887-BB843EB7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625F6-F721-5CBB-B9A2-638A6C2D1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 </a:t>
            </a:r>
            <a:r>
              <a:rPr lang="en-IN" b="1" dirty="0"/>
              <a:t>det just gives us one number from the matrix.</a:t>
            </a:r>
          </a:p>
          <a:p>
            <a:r>
              <a:rPr lang="en-IN" dirty="0"/>
              <a:t>What is trace(M)?</a:t>
            </a:r>
          </a:p>
          <a:p>
            <a:r>
              <a:rPr lang="en-IN" dirty="0"/>
              <a:t>Trace = add the numbers on the main diagonal.</a:t>
            </a:r>
          </a:p>
          <a:p>
            <a:r>
              <a:rPr lang="en-IN" dirty="0"/>
              <a:t>Our matrix:</a:t>
            </a:r>
          </a:p>
          <a:p>
            <a:r>
              <a:rPr lang="en-IN" dirty="0"/>
              <a:t>[4​1​</a:t>
            </a:r>
          </a:p>
          <a:p>
            <a:r>
              <a:rPr lang="en-IN" dirty="0"/>
              <a:t>13​​]</a:t>
            </a:r>
          </a:p>
          <a:p>
            <a:r>
              <a:rPr lang="en-IN" dirty="0"/>
              <a:t>Diagonal are 4 and 3 so add4+3=7</a:t>
            </a:r>
          </a:p>
          <a:p>
            <a:r>
              <a:rPr lang="en-IN" dirty="0"/>
              <a:t>So trace=7</a:t>
            </a:r>
          </a:p>
        </p:txBody>
      </p:sp>
    </p:spTree>
    <p:extLst>
      <p:ext uri="{BB962C8B-B14F-4D97-AF65-F5344CB8AC3E}">
        <p14:creationId xmlns:p14="http://schemas.microsoft.com/office/powerpoint/2010/main" val="30451937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4A8F-9283-2ACB-1E12-13054CF1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9AEED-41F1-BEF4-888D-3BA885507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 is simply a </a:t>
            </a:r>
            <a:r>
              <a:rPr lang="en-IN" b="1" dirty="0"/>
              <a:t>small constant number</a:t>
            </a:r>
            <a:r>
              <a:rPr lang="en-IN" dirty="0"/>
              <a:t> used by Harris.</a:t>
            </a:r>
          </a:p>
          <a:p>
            <a:r>
              <a:rPr lang="en-IN" dirty="0" err="1"/>
              <a:t>sually</a:t>
            </a:r>
            <a:r>
              <a:rPr lang="en-IN" dirty="0"/>
              <a:t>:</a:t>
            </a:r>
          </a:p>
          <a:p>
            <a:r>
              <a:rPr lang="en-IN" dirty="0"/>
              <a:t>k=0.04 </a:t>
            </a:r>
          </a:p>
          <a:p>
            <a:r>
              <a:rPr lang="en-IN" dirty="0"/>
              <a:t>You don't calculate k.</a:t>
            </a:r>
          </a:p>
          <a:p>
            <a:r>
              <a:rPr lang="en-IN" dirty="0"/>
              <a:t>We choose it.</a:t>
            </a:r>
          </a:p>
          <a:p>
            <a:r>
              <a:rPr lang="da-DK" dirty="0"/>
              <a:t>det(M) = 11trace(M) = 7k = 0.04</a:t>
            </a:r>
          </a:p>
          <a:p>
            <a:r>
              <a:rPr lang="da-DK" dirty="0"/>
              <a:t>So, finally R=9.04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15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3861-A99F-0B73-F0E5-729B0EE3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A35D3-56D8-3712-46AB-6AD0BEB73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 is the Harris corner score.</a:t>
            </a:r>
            <a:endParaRPr lang="en-IN" dirty="0"/>
          </a:p>
          <a:p>
            <a:r>
              <a:rPr lang="en-IN" dirty="0"/>
              <a:t>It tells us how much the point looks like a </a:t>
            </a:r>
            <a:r>
              <a:rPr lang="en-IN" b="1" dirty="0"/>
              <a:t>corner</a:t>
            </a:r>
            <a:r>
              <a:rPr lang="en-IN" dirty="0"/>
              <a:t>.</a:t>
            </a:r>
          </a:p>
          <a:p>
            <a:r>
              <a:rPr lang="en-US" dirty="0"/>
              <a:t>R = 9.04  → strong positive score → likely a corner </a:t>
            </a:r>
          </a:p>
          <a:p>
            <a:r>
              <a:rPr lang="en-US" dirty="0"/>
              <a:t>Small R       → probably flat</a:t>
            </a:r>
          </a:p>
          <a:p>
            <a:r>
              <a:rPr lang="en-US" dirty="0"/>
              <a:t>Negative R    → probably edge</a:t>
            </a:r>
          </a:p>
          <a:p>
            <a:r>
              <a:rPr lang="en-US" dirty="0"/>
              <a:t>Large positive R → probably corner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356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2FBF-9FDA-93BA-6D2A-6DA74A7F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A0162-A0E3-444E-436D-62EFF0B0E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gray</a:t>
            </a:r>
          </a:p>
          <a:p>
            <a:pPr marL="0" indent="0">
              <a:buNone/>
            </a:pPr>
            <a:r>
              <a:rPr lang="en-US" dirty="0"/>
              <a:t> ↓</a:t>
            </a:r>
          </a:p>
          <a:p>
            <a:pPr marL="0" indent="0">
              <a:buNone/>
            </a:pPr>
            <a:r>
              <a:rPr lang="en-US" dirty="0"/>
              <a:t>The image we want to check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</a:t>
            </a:r>
          </a:p>
          <a:p>
            <a:pPr marL="0" indent="0">
              <a:buNone/>
            </a:pPr>
            <a:r>
              <a:rPr lang="en-US" dirty="0"/>
              <a:t> ↓</a:t>
            </a:r>
          </a:p>
          <a:p>
            <a:pPr marL="0" indent="0">
              <a:buNone/>
            </a:pPr>
            <a:r>
              <a:rPr lang="en-US" dirty="0"/>
              <a:t>Look at a small 2×2 area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 ↓</a:t>
            </a:r>
          </a:p>
          <a:p>
            <a:pPr marL="0" indent="0">
              <a:buNone/>
            </a:pPr>
            <a:r>
              <a:rPr lang="en-US" dirty="0"/>
              <a:t>Size of the Sobel filter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0.04</a:t>
            </a:r>
          </a:p>
          <a:p>
            <a:pPr marL="0" indent="0">
              <a:buNone/>
            </a:pPr>
            <a:r>
              <a:rPr lang="en-US" dirty="0"/>
              <a:t> ↓</a:t>
            </a:r>
          </a:p>
          <a:p>
            <a:pPr marL="0" indent="0">
              <a:buNone/>
            </a:pPr>
            <a:r>
              <a:rPr lang="en-US" dirty="0"/>
              <a:t>k value used in Harris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41743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A4734-7B58-DA12-B299-3E4F836F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77EF4-EF37-99A4-1D44-6A6D0D1F7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cornerHarris</a:t>
            </a:r>
            <a:r>
              <a:rPr lang="en-IN" b="1" dirty="0"/>
              <a:t>() finds corners and gives each pixel a corner score.</a:t>
            </a:r>
            <a:endParaRPr lang="en-IN" dirty="0"/>
          </a:p>
          <a:p>
            <a:r>
              <a:rPr lang="en-IN" dirty="0"/>
              <a:t>For example:</a:t>
            </a:r>
          </a:p>
          <a:p>
            <a:r>
              <a:rPr lang="en-IN" dirty="0"/>
              <a:t>Pixel A → R = 0.1</a:t>
            </a:r>
          </a:p>
          <a:p>
            <a:r>
              <a:rPr lang="en-IN" dirty="0"/>
              <a:t>Pixel B → R = 0.8  ← strong corner</a:t>
            </a:r>
          </a:p>
          <a:p>
            <a:r>
              <a:rPr lang="en-IN" dirty="0"/>
              <a:t>Pixel C → R = 0.02</a:t>
            </a:r>
          </a:p>
        </p:txBody>
      </p:sp>
    </p:spTree>
    <p:extLst>
      <p:ext uri="{BB962C8B-B14F-4D97-AF65-F5344CB8AC3E}">
        <p14:creationId xmlns:p14="http://schemas.microsoft.com/office/powerpoint/2010/main" val="18804273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5BBE5-52FF-C28C-F98A-F3BCE9BB4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2369"/>
            <a:ext cx="10515600" cy="5684594"/>
          </a:xfrm>
        </p:spPr>
        <p:txBody>
          <a:bodyPr>
            <a:normAutofit/>
          </a:bodyPr>
          <a:lstStyle/>
          <a:p>
            <a:r>
              <a:rPr lang="en-US" dirty="0"/>
              <a:t>corners = cv2.dilate(corners, None)</a:t>
            </a:r>
          </a:p>
          <a:p>
            <a:r>
              <a:rPr lang="en-IN" dirty="0"/>
              <a:t>This makes the detected corner areas </a:t>
            </a:r>
            <a:r>
              <a:rPr lang="en-IN" b="1" dirty="0"/>
              <a:t>bigger/thicker</a:t>
            </a:r>
            <a:r>
              <a:rPr lang="en-IN" dirty="0"/>
              <a:t>.</a:t>
            </a:r>
          </a:p>
          <a:p>
            <a:r>
              <a:rPr lang="en-US" dirty="0"/>
              <a:t>mage[corners &gt; 0.01 * </a:t>
            </a:r>
            <a:r>
              <a:rPr lang="en-US" dirty="0" err="1"/>
              <a:t>corners.max</a:t>
            </a:r>
            <a:r>
              <a:rPr lang="en-US" dirty="0"/>
              <a:t>()] = [0, 0, 255]</a:t>
            </a:r>
          </a:p>
          <a:p>
            <a:r>
              <a:rPr lang="en-IN" b="1" dirty="0" err="1"/>
              <a:t>corners.max</a:t>
            </a:r>
            <a:r>
              <a:rPr lang="en-IN" b="1" dirty="0"/>
              <a:t>()</a:t>
            </a:r>
          </a:p>
          <a:p>
            <a:r>
              <a:rPr lang="en-IN" dirty="0"/>
              <a:t>Finds the </a:t>
            </a:r>
            <a:r>
              <a:rPr lang="en-IN" b="1" dirty="0"/>
              <a:t>largest corner score</a:t>
            </a:r>
            <a:r>
              <a:rPr lang="en-IN" dirty="0"/>
              <a:t>.</a:t>
            </a:r>
          </a:p>
          <a:p>
            <a:r>
              <a:rPr lang="fr-FR" dirty="0"/>
              <a:t>scores: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0.1</a:t>
            </a:r>
          </a:p>
          <a:p>
            <a:pPr marL="0" indent="0">
              <a:buNone/>
            </a:pPr>
            <a:r>
              <a:rPr lang="fr-FR" dirty="0"/>
              <a:t>0.5</a:t>
            </a:r>
          </a:p>
          <a:p>
            <a:pPr marL="0" indent="0">
              <a:buNone/>
            </a:pPr>
            <a:r>
              <a:rPr lang="fr-FR" dirty="0"/>
              <a:t>0.9  ← maximum</a:t>
            </a:r>
          </a:p>
          <a:p>
            <a:pPr marL="0" indent="0">
              <a:buNone/>
            </a:pPr>
            <a:r>
              <a:rPr lang="fr-FR" dirty="0"/>
              <a:t>0.2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09660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45D9-2479-8C03-9BD3-61296CC2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5715B-1B67-201D-3205-A402F6681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0.01 * </a:t>
            </a:r>
            <a:r>
              <a:rPr lang="en-IN" dirty="0" err="1"/>
              <a:t>corners.max</a:t>
            </a:r>
            <a:r>
              <a:rPr lang="en-IN" dirty="0"/>
              <a:t>()</a:t>
            </a:r>
          </a:p>
          <a:p>
            <a:r>
              <a:rPr lang="en-IN" dirty="0"/>
              <a:t>If maximum = 0.9:</a:t>
            </a:r>
          </a:p>
          <a:p>
            <a:r>
              <a:rPr lang="en-IN" dirty="0"/>
              <a:t>0.01 × 0.9 = 0.009</a:t>
            </a:r>
          </a:p>
          <a:p>
            <a:r>
              <a:rPr lang="en-IN" dirty="0"/>
              <a:t>This becomes our </a:t>
            </a:r>
            <a:r>
              <a:rPr lang="en-IN" b="1" dirty="0"/>
              <a:t>threshold</a:t>
            </a:r>
            <a:r>
              <a:rPr lang="en-IN" dirty="0"/>
              <a:t>.</a:t>
            </a:r>
          </a:p>
          <a:p>
            <a:r>
              <a:rPr lang="en-IN" dirty="0"/>
              <a:t>We're saying:</a:t>
            </a:r>
          </a:p>
          <a:p>
            <a:r>
              <a:rPr lang="en-IN" dirty="0"/>
              <a:t>"Only show pixels whose corner score is strong enough."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5483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9A84-B84B-4095-7B6D-84E6F81C3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F3EC5-080A-E6A6-DF5D-666EA152B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0.1 &gt; 0.009  → YES</a:t>
            </a:r>
          </a:p>
          <a:p>
            <a:r>
              <a:rPr lang="en-US" dirty="0"/>
              <a:t>0.5 &gt; 0.009  → YES</a:t>
            </a:r>
          </a:p>
          <a:p>
            <a:r>
              <a:rPr lang="en-US" dirty="0"/>
              <a:t>0.001 &gt; 0.009 → NO</a:t>
            </a:r>
          </a:p>
          <a:p>
            <a:r>
              <a:rPr lang="en-IN" dirty="0"/>
              <a:t>Only keep corners whose score is greater than 1% of the strongest corner.“</a:t>
            </a:r>
          </a:p>
          <a:p>
            <a:r>
              <a:rPr lang="en-IN" dirty="0"/>
              <a:t>0.01 * 100 = 1</a:t>
            </a:r>
          </a:p>
        </p:txBody>
      </p:sp>
    </p:spTree>
    <p:extLst>
      <p:ext uri="{BB962C8B-B14F-4D97-AF65-F5344CB8AC3E}">
        <p14:creationId xmlns:p14="http://schemas.microsoft.com/office/powerpoint/2010/main" val="41870790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780D-5995-CBC5-117F-3D36915F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Hessian-Affine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F6162-3F2B-C6A4-7C81-45AFCBEA3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First, remember </a:t>
            </a:r>
            <a:r>
              <a:rPr lang="en-IN" b="1" dirty="0"/>
              <a:t>Harris</a:t>
            </a:r>
            <a:r>
              <a:rPr lang="en-IN" dirty="0"/>
              <a:t>:</a:t>
            </a:r>
          </a:p>
          <a:p>
            <a:r>
              <a:rPr lang="en-IN" b="1" dirty="0"/>
              <a:t>Harris finds corners.</a:t>
            </a:r>
            <a:endParaRPr lang="en-IN" dirty="0"/>
          </a:p>
          <a:p>
            <a:r>
              <a:rPr lang="en-IN" dirty="0"/>
              <a:t>Hessian-Affine is a little different:</a:t>
            </a:r>
          </a:p>
          <a:p>
            <a:r>
              <a:rPr lang="en-IN" dirty="0"/>
              <a:t>Hessian-Affine finds interesting parts/regions of an image that can still be recognized when the image changes.</a:t>
            </a:r>
          </a:p>
        </p:txBody>
      </p:sp>
    </p:spTree>
    <p:extLst>
      <p:ext uri="{BB962C8B-B14F-4D97-AF65-F5344CB8AC3E}">
        <p14:creationId xmlns:p14="http://schemas.microsoft.com/office/powerpoint/2010/main" val="17028587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E598F-3854-A83D-BC6A-FC56B8150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C9C07-E4B4-B301-2214-4B2D8CACE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an "interesting part"?</a:t>
            </a:r>
          </a:p>
          <a:p>
            <a:r>
              <a:rPr lang="en-IN" dirty="0"/>
              <a:t>Imagine this picture of a face:</a:t>
            </a:r>
          </a:p>
          <a:p>
            <a:r>
              <a:rPr lang="en-IN" dirty="0"/>
              <a:t>The eyes, nose, and mouth are </a:t>
            </a:r>
            <a:r>
              <a:rPr lang="en-IN" b="1" dirty="0"/>
              <a:t>interesting parts</a:t>
            </a:r>
            <a:r>
              <a:rPr lang="en-IN" dirty="0"/>
              <a:t> because they have lots of changes in brightness and shape.</a:t>
            </a:r>
          </a:p>
          <a:p>
            <a:r>
              <a:rPr lang="en-IN" dirty="0"/>
              <a:t>A computer can use these parts to recognize the same face in another picture.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7626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ACE6-589B-E297-2F40-DBFF1605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4F2E3-C7B1-A3DE-06E6-B877B1CBB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if the picture becomes bigger?</a:t>
            </a:r>
          </a:p>
          <a:p>
            <a:r>
              <a:rPr lang="en-IN" dirty="0"/>
              <a:t>The object became bigger.</a:t>
            </a:r>
          </a:p>
          <a:p>
            <a:r>
              <a:rPr lang="en-IN" dirty="0"/>
              <a:t>A good feature detector should still be able to say:</a:t>
            </a:r>
          </a:p>
          <a:p>
            <a:r>
              <a:rPr lang="en-IN" b="1" dirty="0"/>
              <a:t>This is the same feature."</a:t>
            </a:r>
            <a:endParaRPr lang="en-IN" dirty="0"/>
          </a:p>
          <a:p>
            <a:r>
              <a:rPr lang="en-IN" dirty="0"/>
              <a:t>Hessian-Affine is designed to help with this.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3083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F2000-5E03-3351-55BA-B84AEDB15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085"/>
            <a:ext cx="10515600" cy="5587878"/>
          </a:xfrm>
        </p:spPr>
        <p:txBody>
          <a:bodyPr>
            <a:normAutofit/>
          </a:bodyPr>
          <a:lstStyle/>
          <a:p>
            <a:r>
              <a:rPr lang="en-IN" dirty="0"/>
              <a:t>What if we rotate it?</a:t>
            </a:r>
          </a:p>
          <a:p>
            <a:r>
              <a:rPr lang="en-IN" dirty="0"/>
              <a:t>The feature changed its orientation.</a:t>
            </a:r>
          </a:p>
          <a:p>
            <a:r>
              <a:rPr lang="en-IN" dirty="0"/>
              <a:t>Hessian-Affine tries to find features that can still be matched.</a:t>
            </a:r>
          </a:p>
          <a:p>
            <a:r>
              <a:rPr lang="en-IN" dirty="0"/>
              <a:t>What if we see it from the side?</a:t>
            </a:r>
          </a:p>
          <a:p>
            <a:r>
              <a:rPr lang="en-IN" dirty="0"/>
              <a:t>Imagine a book.</a:t>
            </a:r>
          </a:p>
          <a:p>
            <a:r>
              <a:rPr lang="en-IN" dirty="0"/>
              <a:t>Straight view:</a:t>
            </a:r>
          </a:p>
          <a:p>
            <a:r>
              <a:rPr lang="en-IN" dirty="0"/>
              <a:t>Side/tilted view:</a:t>
            </a:r>
          </a:p>
          <a:p>
            <a:r>
              <a:rPr lang="en-IN" dirty="0"/>
              <a:t>The shape looks different because of the viewpoint.</a:t>
            </a:r>
          </a:p>
          <a:p>
            <a:r>
              <a:rPr lang="en-IN" dirty="0"/>
              <a:t>Hessian-Affine tries to find a region that is still recognizable.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5617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842AF-9B14-FE8E-7CC4-365497393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it called "Hessian"?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3ED1D-4F1F-E261-AA94-E08BF17FA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Because it uses the </a:t>
            </a:r>
            <a:r>
              <a:rPr lang="en-IN" b="1" dirty="0"/>
              <a:t>Hessian matrix</a:t>
            </a:r>
            <a:r>
              <a:rPr lang="en-IN" dirty="0"/>
              <a:t>, which uses </a:t>
            </a:r>
            <a:r>
              <a:rPr lang="en-IN" b="1" dirty="0"/>
              <a:t>second derivatives</a:t>
            </a:r>
            <a:r>
              <a:rPr lang="en-IN" dirty="0"/>
              <a:t>.</a:t>
            </a:r>
          </a:p>
          <a:p>
            <a:r>
              <a:rPr lang="en-IN" dirty="0"/>
              <a:t>Why is it called "Affine"?</a:t>
            </a:r>
          </a:p>
          <a:p>
            <a:r>
              <a:rPr lang="en-IN" b="1" dirty="0"/>
              <a:t>Affine</a:t>
            </a:r>
            <a:r>
              <a:rPr lang="en-IN" dirty="0"/>
              <a:t> basically means the image can change in certain ways, such as:</a:t>
            </a:r>
          </a:p>
          <a:p>
            <a:r>
              <a:rPr lang="en-IN" dirty="0"/>
              <a:t>Size       ↗</a:t>
            </a:r>
          </a:p>
          <a:p>
            <a:r>
              <a:rPr lang="en-IN" dirty="0"/>
              <a:t>Rotation   ↻</a:t>
            </a:r>
          </a:p>
          <a:p>
            <a:r>
              <a:rPr lang="en-IN" dirty="0"/>
              <a:t>Stretching →</a:t>
            </a:r>
          </a:p>
          <a:p>
            <a:r>
              <a:rPr lang="en-IN" dirty="0"/>
              <a:t>Tilt       /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9554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9E707-81E0-B21E-EC66-323272FA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C6093-E1CC-4756-C5E0-232B19372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we have a small black object:</a:t>
            </a:r>
          </a:p>
          <a:p>
            <a:r>
              <a:rPr lang="en-IN" dirty="0"/>
              <a:t>Step 1 — Look at brightness</a:t>
            </a:r>
          </a:p>
          <a:p>
            <a:r>
              <a:rPr lang="en-IN" dirty="0"/>
              <a:t>The computer sees numbers instead of "black" and "white".</a:t>
            </a:r>
          </a:p>
          <a:p>
            <a:r>
              <a:rPr lang="en-IN" dirty="0"/>
              <a:t>White = 255</a:t>
            </a:r>
          </a:p>
          <a:p>
            <a:r>
              <a:rPr lang="en-IN" dirty="0"/>
              <a:t>Black = 0</a:t>
            </a:r>
          </a:p>
          <a:p>
            <a:r>
              <a:rPr lang="en-IN" dirty="0"/>
              <a:t>So around the object:</a:t>
            </a:r>
          </a:p>
        </p:txBody>
      </p:sp>
    </p:spTree>
    <p:extLst>
      <p:ext uri="{BB962C8B-B14F-4D97-AF65-F5344CB8AC3E}">
        <p14:creationId xmlns:p14="http://schemas.microsoft.com/office/powerpoint/2010/main" val="13101185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DB9C-3D7F-28FB-EAB1-F3049D46F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AC0A-4E62-7551-92DE-BDAA867A0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255 255 255 255 255</a:t>
            </a:r>
          </a:p>
          <a:p>
            <a:r>
              <a:rPr lang="en-IN" dirty="0"/>
              <a:t>255 255   0 255 255</a:t>
            </a:r>
          </a:p>
          <a:p>
            <a:r>
              <a:rPr lang="en-IN" dirty="0"/>
              <a:t>255   0   0   0 255</a:t>
            </a:r>
          </a:p>
          <a:p>
            <a:r>
              <a:rPr lang="en-IN" dirty="0"/>
              <a:t>255 255   0 255 255</a:t>
            </a:r>
          </a:p>
          <a:p>
            <a:r>
              <a:rPr lang="en-IN" dirty="0"/>
              <a:t>255 255 255 255 255</a:t>
            </a:r>
          </a:p>
          <a:p>
            <a:r>
              <a:rPr lang="en-IN" dirty="0"/>
              <a:t>The computer notices:</a:t>
            </a:r>
          </a:p>
          <a:p>
            <a:r>
              <a:rPr lang="en-IN" dirty="0"/>
              <a:t>"The brightness changes a lot around this object."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1093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F6106-9E19-EDAC-F170-FC09B7070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769"/>
            <a:ext cx="10515600" cy="591319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Step 2 — Look for changes</a:t>
            </a:r>
          </a:p>
          <a:p>
            <a:r>
              <a:rPr lang="en-IN" dirty="0"/>
              <a:t>The detector checks:</a:t>
            </a:r>
          </a:p>
          <a:p>
            <a:r>
              <a:rPr lang="en-IN" b="1" dirty="0"/>
              <a:t>Horizontal direction →</a:t>
            </a:r>
            <a:endParaRPr lang="en-IN" dirty="0"/>
          </a:p>
          <a:p>
            <a:r>
              <a:rPr lang="en-IN" dirty="0"/>
              <a:t>255 → 0 → 255</a:t>
            </a:r>
          </a:p>
          <a:p>
            <a:r>
              <a:rPr lang="en-IN" dirty="0"/>
              <a:t>Big change.</a:t>
            </a:r>
          </a:p>
          <a:p>
            <a:r>
              <a:rPr lang="en-IN" dirty="0"/>
              <a:t>It also checks:</a:t>
            </a:r>
          </a:p>
          <a:p>
            <a:r>
              <a:rPr lang="en-IN" dirty="0"/>
              <a:t>Vertical direction ↓</a:t>
            </a:r>
          </a:p>
          <a:p>
            <a:r>
              <a:rPr lang="en-IN" dirty="0"/>
              <a:t>255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 0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255</a:t>
            </a:r>
          </a:p>
        </p:txBody>
      </p:sp>
    </p:spTree>
    <p:extLst>
      <p:ext uri="{BB962C8B-B14F-4D97-AF65-F5344CB8AC3E}">
        <p14:creationId xmlns:p14="http://schemas.microsoft.com/office/powerpoint/2010/main" val="10977017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A4B0-42F2-1A90-8B95-DE0B9297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5E81A-4F53-03DE-B295-D68390E70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Again, big change.</a:t>
            </a:r>
          </a:p>
          <a:p>
            <a:r>
              <a:rPr lang="en-IN" dirty="0"/>
              <a:t>So this region looks </a:t>
            </a:r>
            <a:r>
              <a:rPr lang="en-IN" b="1" dirty="0"/>
              <a:t>interesting</a:t>
            </a:r>
            <a:r>
              <a:rPr lang="en-IN" dirty="0"/>
              <a:t>.</a:t>
            </a:r>
          </a:p>
          <a:p>
            <a:r>
              <a:rPr lang="en-IN" dirty="0"/>
              <a:t>Step 3 — Hessian uses second derivatives</a:t>
            </a:r>
          </a:p>
          <a:p>
            <a:r>
              <a:rPr lang="en-IN" dirty="0"/>
              <a:t>You already learned:</a:t>
            </a:r>
          </a:p>
          <a:p>
            <a:r>
              <a:rPr lang="en-IN" dirty="0"/>
              <a:t>First derivative = "How quickly is brightness changing?"</a:t>
            </a:r>
          </a:p>
          <a:p>
            <a:r>
              <a:rPr lang="en-IN" dirty="0"/>
              <a:t>Second derivative = "How is that change itself changing?"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0452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32866-5CAA-47BC-77DE-6A751BDD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9D449-D1AB-B038-8C0B-DB1D048CF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Hessian uses these </a:t>
            </a:r>
            <a:r>
              <a:rPr lang="en-IN" b="1" dirty="0"/>
              <a:t>second derivatives</a:t>
            </a:r>
            <a:r>
              <a:rPr lang="en-IN" dirty="0"/>
              <a:t>.</a:t>
            </a:r>
          </a:p>
          <a:p>
            <a:r>
              <a:rPr lang="en-IN" dirty="0"/>
              <a:t>It basically checks:</a:t>
            </a:r>
          </a:p>
          <a:p>
            <a:pPr marL="0" indent="0">
              <a:buNone/>
            </a:pPr>
            <a:r>
              <a:rPr lang="en-US" dirty="0"/>
              <a:t> Image</a:t>
            </a:r>
          </a:p>
          <a:p>
            <a:pPr marL="0" indent="0">
              <a:buNone/>
            </a:pPr>
            <a:r>
              <a:rPr lang="en-US" dirty="0"/>
              <a:t>            ↓</a:t>
            </a:r>
          </a:p>
          <a:p>
            <a:pPr marL="0" indent="0">
              <a:buNone/>
            </a:pPr>
            <a:r>
              <a:rPr lang="en-US" dirty="0"/>
              <a:t>     Brightness changes</a:t>
            </a:r>
          </a:p>
          <a:p>
            <a:pPr marL="0" indent="0">
              <a:buNone/>
            </a:pPr>
            <a:r>
              <a:rPr lang="en-US" dirty="0"/>
              <a:t>            ↓</a:t>
            </a:r>
          </a:p>
          <a:p>
            <a:pPr marL="0" indent="0">
              <a:buNone/>
            </a:pPr>
            <a:r>
              <a:rPr lang="en-US" dirty="0"/>
              <a:t>     Second derivatives</a:t>
            </a:r>
          </a:p>
          <a:p>
            <a:pPr marL="0" indent="0">
              <a:buNone/>
            </a:pPr>
            <a:r>
              <a:rPr lang="en-US" dirty="0"/>
              <a:t>            ↓</a:t>
            </a:r>
          </a:p>
          <a:p>
            <a:pPr marL="0" indent="0">
              <a:buNone/>
            </a:pPr>
            <a:r>
              <a:rPr lang="en-US" dirty="0"/>
              <a:t>     Interesting region?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2225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0BB3-387F-DE63-5390-A961F6DD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179C4-206E-5628-86D3-AF8F4E7F0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don't need to manually calculate the derivatives. OpenCV/math libraries do that.</a:t>
            </a:r>
          </a:p>
          <a:p>
            <a:r>
              <a:rPr lang="en-IN" dirty="0"/>
              <a:t>OpenCV calculates derivatives by looking at </a:t>
            </a:r>
            <a:r>
              <a:rPr lang="en-IN" b="1" dirty="0"/>
              <a:t>nearby pixels and comparing their brightness</a:t>
            </a:r>
            <a:r>
              <a:rPr lang="en-IN" dirty="0"/>
              <a:t>.</a:t>
            </a:r>
          </a:p>
          <a:p>
            <a:r>
              <a:rPr lang="en-IN" dirty="0"/>
              <a:t>Suppose a row of pixels is:</a:t>
            </a:r>
          </a:p>
          <a:p>
            <a:r>
              <a:rPr lang="en-IN" dirty="0"/>
              <a:t>100   100   100   200   200</a:t>
            </a:r>
          </a:p>
          <a:p>
            <a:r>
              <a:rPr lang="en-IN" dirty="0"/>
              <a:t>OpenCV sees:</a:t>
            </a:r>
          </a:p>
          <a:p>
            <a:r>
              <a:rPr lang="en-IN" dirty="0"/>
              <a:t>100 → 100 → 100 → 200 → 200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97712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D161-21F2-DB60-9835-1F3E69FE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69CD-45A2-0CBF-27A3-8B8658ACD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At the place where: 100 → 200</a:t>
            </a:r>
          </a:p>
          <a:p>
            <a:r>
              <a:rPr lang="en-IN" dirty="0"/>
              <a:t>there is a </a:t>
            </a:r>
            <a:r>
              <a:rPr lang="en-IN" b="1" dirty="0"/>
              <a:t>big change</a:t>
            </a:r>
            <a:r>
              <a:rPr lang="en-IN" dirty="0"/>
              <a:t>.</a:t>
            </a:r>
          </a:p>
          <a:p>
            <a:r>
              <a:rPr lang="en-IN" dirty="0"/>
              <a:t>That means there is an </a:t>
            </a:r>
            <a:r>
              <a:rPr lang="en-IN" b="1" dirty="0"/>
              <a:t>edge/change</a:t>
            </a:r>
            <a:r>
              <a:rPr lang="en-IN" dirty="0"/>
              <a:t> there.</a:t>
            </a:r>
          </a:p>
          <a:p>
            <a:r>
              <a:rPr lang="en-IN" dirty="0"/>
              <a:t>OpenCV commonly uses a small filter called a </a:t>
            </a:r>
            <a:r>
              <a:rPr lang="en-IN" b="1" dirty="0"/>
              <a:t>Sobel kernel</a:t>
            </a:r>
            <a:r>
              <a:rPr lang="en-IN" dirty="0"/>
              <a:t>.</a:t>
            </a:r>
          </a:p>
          <a:p>
            <a:r>
              <a:rPr lang="en-IN" dirty="0"/>
              <a:t>for example, a simple horizontal filter is: </a:t>
            </a:r>
          </a:p>
          <a:p>
            <a:r>
              <a:rPr lang="en-IN" dirty="0"/>
              <a:t>[-1   0   +1]</a:t>
            </a:r>
          </a:p>
          <a:p>
            <a:r>
              <a:rPr lang="en-IN" dirty="0"/>
              <a:t>It looks at 3 nearby pixels:</a:t>
            </a:r>
          </a:p>
        </p:txBody>
      </p:sp>
    </p:spTree>
    <p:extLst>
      <p:ext uri="{BB962C8B-B14F-4D97-AF65-F5344CB8AC3E}">
        <p14:creationId xmlns:p14="http://schemas.microsoft.com/office/powerpoint/2010/main" val="37419660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F6BB-B2A2-F24E-AAFC-B6DCBEF0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89000-C172-EBF1-065E-876FE75FF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100   100   200</a:t>
            </a:r>
          </a:p>
          <a:p>
            <a:r>
              <a:rPr lang="en-IN" dirty="0"/>
              <a:t> ↓        ↓            ↓</a:t>
            </a:r>
          </a:p>
          <a:p>
            <a:r>
              <a:rPr lang="en-IN" dirty="0"/>
              <a:t>-100   0    +200</a:t>
            </a:r>
          </a:p>
          <a:p>
            <a:r>
              <a:rPr lang="en-IN" dirty="0"/>
              <a:t>Then roughly:</a:t>
            </a:r>
          </a:p>
          <a:p>
            <a:r>
              <a:rPr lang="en-IN" dirty="0"/>
              <a:t>(-1 × 100) + (0 × 100) + (1 × 200)</a:t>
            </a:r>
          </a:p>
          <a:p>
            <a:endParaRPr lang="en-IN" dirty="0"/>
          </a:p>
          <a:p>
            <a:r>
              <a:rPr lang="en-IN" dirty="0"/>
              <a:t>= -100 + 0 + 200</a:t>
            </a:r>
          </a:p>
          <a:p>
            <a:endParaRPr lang="en-IN" dirty="0"/>
          </a:p>
          <a:p>
            <a:r>
              <a:rPr lang="en-IN" dirty="0"/>
              <a:t>= 100</a:t>
            </a:r>
          </a:p>
        </p:txBody>
      </p:sp>
    </p:spTree>
    <p:extLst>
      <p:ext uri="{BB962C8B-B14F-4D97-AF65-F5344CB8AC3E}">
        <p14:creationId xmlns:p14="http://schemas.microsoft.com/office/powerpoint/2010/main" val="240707553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F456-9866-5BA9-0AD2-B5FFD585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97C4F-EFDA-6903-B56F-DD2FBB762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 the result is </a:t>
            </a:r>
            <a:r>
              <a:rPr lang="en-IN" b="1" dirty="0"/>
              <a:t>100</a:t>
            </a:r>
            <a:r>
              <a:rPr lang="en-IN" dirty="0"/>
              <a:t>, meaning there is a strong change.</a:t>
            </a:r>
          </a:p>
          <a:p>
            <a:endParaRPr lang="en-IN" dirty="0"/>
          </a:p>
          <a:p>
            <a:r>
              <a:rPr lang="en-IN" dirty="0"/>
              <a:t>For Hessian</a:t>
            </a:r>
          </a:p>
          <a:p>
            <a:r>
              <a:rPr lang="en-IN" dirty="0"/>
              <a:t>Imagine this simple image</a:t>
            </a:r>
          </a:p>
          <a:p>
            <a:r>
              <a:rPr lang="en-IN" dirty="0"/>
              <a:t>100  100  100</a:t>
            </a:r>
          </a:p>
          <a:p>
            <a:r>
              <a:rPr lang="en-IN" dirty="0"/>
              <a:t>100   50  100</a:t>
            </a:r>
          </a:p>
          <a:p>
            <a:r>
              <a:rPr lang="en-IN" dirty="0"/>
              <a:t>100  100  100</a:t>
            </a:r>
          </a:p>
        </p:txBody>
      </p:sp>
    </p:spTree>
    <p:extLst>
      <p:ext uri="{BB962C8B-B14F-4D97-AF65-F5344CB8AC3E}">
        <p14:creationId xmlns:p14="http://schemas.microsoft.com/office/powerpoint/2010/main" val="4988248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9E1A-4994-CF52-6FCF-1C5A34029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9B13-979C-7B4A-A476-E44C44B53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There is a dark pixel in the middle.</a:t>
            </a:r>
          </a:p>
          <a:p>
            <a:r>
              <a:rPr lang="en-IN" dirty="0"/>
              <a:t>Hessian looks at the </a:t>
            </a:r>
            <a:r>
              <a:rPr lang="en-IN" b="1" dirty="0"/>
              <a:t>brightness changes around the middle</a:t>
            </a:r>
            <a:r>
              <a:rPr lang="en-IN" dirty="0"/>
              <a:t>.</a:t>
            </a:r>
          </a:p>
          <a:p>
            <a:r>
              <a:rPr lang="en-IN" b="1" dirty="0"/>
              <a:t>Step 1: Hessian gets derivatives</a:t>
            </a:r>
          </a:p>
          <a:p>
            <a:r>
              <a:rPr lang="en-IN" dirty="0"/>
              <a:t>It calculates:</a:t>
            </a:r>
          </a:p>
          <a:p>
            <a:r>
              <a:rPr lang="en-US" dirty="0" err="1"/>
              <a:t>Ixx</a:t>
            </a:r>
            <a:r>
              <a:rPr lang="en-US" dirty="0"/>
              <a:t> → change in the X (left-right) direction</a:t>
            </a:r>
          </a:p>
          <a:p>
            <a:endParaRPr lang="en-US" dirty="0"/>
          </a:p>
          <a:p>
            <a:r>
              <a:rPr lang="en-US" dirty="0" err="1"/>
              <a:t>Iyy</a:t>
            </a:r>
            <a:r>
              <a:rPr lang="en-US" dirty="0"/>
              <a:t> → change in the Y (up-down) direction</a:t>
            </a:r>
          </a:p>
          <a:p>
            <a:endParaRPr lang="en-US" dirty="0"/>
          </a:p>
          <a:p>
            <a:r>
              <a:rPr lang="en-US" dirty="0" err="1"/>
              <a:t>Ixy</a:t>
            </a:r>
            <a:r>
              <a:rPr lang="en-US" dirty="0"/>
              <a:t> → how X and Y changes interact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7778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A07CC-D228-ECB3-62DD-5D8297C1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1497C-9F25-B816-6912-A0AB4A900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Hessian creates this matrix:</a:t>
            </a:r>
          </a:p>
          <a:p>
            <a:r>
              <a:rPr lang="en-IN" dirty="0"/>
              <a:t>H=[</a:t>
            </a:r>
            <a:r>
              <a:rPr lang="en-IN" dirty="0" err="1"/>
              <a:t>Ixx</a:t>
            </a:r>
            <a:r>
              <a:rPr lang="en-IN" dirty="0"/>
              <a:t>    </a:t>
            </a:r>
            <a:r>
              <a:rPr lang="en-IN" dirty="0" err="1"/>
              <a:t>Ixy</a:t>
            </a:r>
            <a:r>
              <a:rPr lang="en-IN" dirty="0"/>
              <a:t>​  </a:t>
            </a:r>
          </a:p>
          <a:p>
            <a:r>
              <a:rPr lang="en-IN" dirty="0"/>
              <a:t>         </a:t>
            </a:r>
            <a:r>
              <a:rPr lang="en-IN" dirty="0" err="1"/>
              <a:t>Ixy</a:t>
            </a:r>
            <a:r>
              <a:rPr lang="en-IN" dirty="0"/>
              <a:t>   </a:t>
            </a:r>
            <a:r>
              <a:rPr lang="en-IN" dirty="0" err="1"/>
              <a:t>Iyy</a:t>
            </a:r>
            <a:r>
              <a:rPr lang="en-IN" dirty="0"/>
              <a:t>​]</a:t>
            </a:r>
          </a:p>
          <a:p>
            <a:endParaRPr lang="en-IN" dirty="0"/>
          </a:p>
          <a:p>
            <a:r>
              <a:rPr lang="en-IN" dirty="0"/>
              <a:t>Step 2: What does Hessian do with them?</a:t>
            </a:r>
          </a:p>
          <a:p>
            <a:r>
              <a:rPr lang="en-IN" dirty="0"/>
              <a:t>It combines those derivative values to determine:</a:t>
            </a:r>
          </a:p>
          <a:p>
            <a:r>
              <a:rPr lang="en-IN" b="1" dirty="0"/>
              <a:t>"Is there a strong image structure at this location?"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50120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2CC7-873B-B6EC-E96F-C4AEF998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C74D7-B68E-A27C-1E1A-07F634D59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Flat area:</a:t>
            </a:r>
          </a:p>
          <a:p>
            <a:endParaRPr lang="en-US" dirty="0"/>
          </a:p>
          <a:p>
            <a:r>
              <a:rPr lang="en-US" dirty="0"/>
              <a:t>100 100 100</a:t>
            </a:r>
          </a:p>
          <a:p>
            <a:r>
              <a:rPr lang="en-US" dirty="0"/>
              <a:t>100 100 100</a:t>
            </a:r>
          </a:p>
          <a:p>
            <a:r>
              <a:rPr lang="en-US" dirty="0"/>
              <a:t>100 100 100</a:t>
            </a:r>
          </a:p>
          <a:p>
            <a:endParaRPr lang="en-US" dirty="0"/>
          </a:p>
          <a:p>
            <a:r>
              <a:rPr lang="en-US" dirty="0"/>
              <a:t>→ very little change</a:t>
            </a:r>
          </a:p>
          <a:p>
            <a:r>
              <a:rPr lang="en-US" dirty="0"/>
              <a:t>→ Hessian response is weak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1492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8D588-B0B9-739D-F755-6F558170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BEAE-A15E-3829-99AA-0D59BE5A4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100 100 100</a:t>
            </a:r>
          </a:p>
          <a:p>
            <a:r>
              <a:rPr lang="en-US" dirty="0"/>
              <a:t>100  50 100</a:t>
            </a:r>
          </a:p>
          <a:p>
            <a:r>
              <a:rPr lang="en-US" dirty="0"/>
              <a:t>100 100 100</a:t>
            </a:r>
          </a:p>
          <a:p>
            <a:endParaRPr lang="en-US" dirty="0"/>
          </a:p>
          <a:p>
            <a:r>
              <a:rPr lang="en-US" dirty="0"/>
              <a:t>→ strong change around the center</a:t>
            </a:r>
          </a:p>
          <a:p>
            <a:r>
              <a:rPr lang="en-US" dirty="0"/>
              <a:t>→ Hessian response is strong </a:t>
            </a:r>
          </a:p>
          <a:p>
            <a:endParaRPr lang="en-US" dirty="0"/>
          </a:p>
          <a:p>
            <a:r>
              <a:rPr lang="en-IN" dirty="0"/>
              <a:t>So Hessian can identify an </a:t>
            </a:r>
            <a:r>
              <a:rPr lang="en-IN" b="1" dirty="0"/>
              <a:t>interesting region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96919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994F4-2E0F-EEA9-0E65-819D9F076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5992"/>
            <a:ext cx="10515600" cy="5710971"/>
          </a:xfrm>
        </p:spPr>
        <p:txBody>
          <a:bodyPr>
            <a:normAutofit/>
          </a:bodyPr>
          <a:lstStyle/>
          <a:p>
            <a:r>
              <a:rPr lang="en-IN" dirty="0"/>
              <a:t>Step 3: Why second derivatives?</a:t>
            </a:r>
          </a:p>
          <a:p>
            <a:r>
              <a:rPr lang="en-IN" dirty="0"/>
              <a:t>Imagine brightness like a hill:</a:t>
            </a:r>
          </a:p>
          <a:p>
            <a:r>
              <a:rPr lang="en-IN" dirty="0"/>
              <a:t>The brightness changes as you move toward the </a:t>
            </a:r>
            <a:r>
              <a:rPr lang="en-IN" dirty="0" err="1"/>
              <a:t>center</a:t>
            </a:r>
            <a:r>
              <a:rPr lang="en-IN" dirty="0"/>
              <a:t>.</a:t>
            </a:r>
          </a:p>
          <a:p>
            <a:r>
              <a:rPr lang="en-IN" dirty="0"/>
              <a:t>The </a:t>
            </a:r>
            <a:r>
              <a:rPr lang="en-IN" b="1" dirty="0"/>
              <a:t>first derivative</a:t>
            </a:r>
            <a:r>
              <a:rPr lang="en-IN" dirty="0"/>
              <a:t> tells:</a:t>
            </a:r>
          </a:p>
          <a:p>
            <a:r>
              <a:rPr lang="en-IN" dirty="0"/>
              <a:t>"Is brightness going up or down?"</a:t>
            </a:r>
          </a:p>
          <a:p>
            <a:r>
              <a:rPr lang="en-IN" dirty="0"/>
              <a:t>The </a:t>
            </a:r>
            <a:r>
              <a:rPr lang="en-IN" b="1" dirty="0"/>
              <a:t>second derivative</a:t>
            </a:r>
            <a:r>
              <a:rPr lang="en-IN" dirty="0"/>
              <a:t> tells:</a:t>
            </a:r>
          </a:p>
          <a:p>
            <a:r>
              <a:rPr lang="en-IN" dirty="0"/>
              <a:t>"Is that change itself changing?"</a:t>
            </a:r>
          </a:p>
          <a:p>
            <a:r>
              <a:rPr lang="en-IN" dirty="0"/>
              <a:t>Hessian uses this second-order information to find places with strong local structure, such as </a:t>
            </a:r>
            <a:r>
              <a:rPr lang="en-IN" b="1" dirty="0"/>
              <a:t>blobs and distinctive regions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38418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2804B-344A-9E57-4492-657A4952A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7008"/>
            <a:ext cx="10515600" cy="5499955"/>
          </a:xfrm>
        </p:spPr>
        <p:txBody>
          <a:bodyPr/>
          <a:lstStyle/>
          <a:p>
            <a:r>
              <a:rPr lang="en-IN" dirty="0"/>
              <a:t>Hessian takes the second derivatives (</a:t>
            </a:r>
            <a:r>
              <a:rPr lang="en-IN" dirty="0" err="1"/>
              <a:t>Ixx</a:t>
            </a:r>
            <a:r>
              <a:rPr lang="en-IN" dirty="0"/>
              <a:t>, </a:t>
            </a:r>
            <a:r>
              <a:rPr lang="en-IN" dirty="0" err="1"/>
              <a:t>Iyy</a:t>
            </a:r>
            <a:r>
              <a:rPr lang="en-IN" dirty="0"/>
              <a:t>, </a:t>
            </a:r>
            <a:r>
              <a:rPr lang="en-IN" dirty="0" err="1"/>
              <a:t>Ixy</a:t>
            </a:r>
            <a:r>
              <a:rPr lang="en-IN" dirty="0"/>
              <a:t>) and combines them to measure how strongly the image changes around each pixel. Strong responses indicate interesting image structures.</a:t>
            </a:r>
          </a:p>
          <a:p>
            <a:endParaRPr lang="en-IN" dirty="0"/>
          </a:p>
          <a:p>
            <a:r>
              <a:rPr lang="en-US" dirty="0"/>
              <a:t>hessian = cv2.xfeatures2d.HarrisLaplaceFeatureDetector_create()</a:t>
            </a:r>
          </a:p>
          <a:p>
            <a:r>
              <a:rPr lang="en-IN" b="1" dirty="0"/>
              <a:t>Create the feature detector</a:t>
            </a:r>
            <a:endParaRPr lang="en-IN" dirty="0"/>
          </a:p>
          <a:p>
            <a:pPr lvl="0"/>
            <a:r>
              <a:rPr lang="en-IN" dirty="0"/>
              <a:t>This creates a </a:t>
            </a:r>
            <a:r>
              <a:rPr lang="en-IN" b="1" dirty="0"/>
              <a:t>Harris-Laplace feature detector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It is used to find important points/features in an image. </a:t>
            </a:r>
          </a:p>
          <a:p>
            <a:pPr lvl="0"/>
            <a:r>
              <a:rPr lang="en-IN" dirty="0"/>
              <a:t>For example, corners or distinctive regions.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493724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9C906-C966-00ED-B0A7-A63EBA6E8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2708"/>
            <a:ext cx="10515600" cy="5614255"/>
          </a:xfrm>
        </p:spPr>
        <p:txBody>
          <a:bodyPr>
            <a:normAutofit/>
          </a:bodyPr>
          <a:lstStyle/>
          <a:p>
            <a:r>
              <a:rPr lang="en-IN" dirty="0"/>
              <a:t>How Hessian feature detection works</a:t>
            </a:r>
          </a:p>
          <a:p>
            <a:pPr lvl="0"/>
            <a:r>
              <a:rPr lang="en-IN" b="1" dirty="0"/>
              <a:t>Take the image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It looks at the brightness of </a:t>
            </a:r>
            <a:r>
              <a:rPr lang="en-IN" dirty="0" err="1"/>
              <a:t>neighboring</a:t>
            </a:r>
            <a:r>
              <a:rPr lang="en-IN" dirty="0"/>
              <a:t> pixels. </a:t>
            </a:r>
          </a:p>
          <a:p>
            <a:pPr lvl="0"/>
            <a:r>
              <a:rPr lang="en-IN" b="1" dirty="0"/>
              <a:t>Calculate second derivatives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It checks how quickly the brightness changes. </a:t>
            </a:r>
          </a:p>
          <a:p>
            <a:pPr lvl="1"/>
            <a:r>
              <a:rPr lang="en-IN" dirty="0"/>
              <a:t>This gives: </a:t>
            </a:r>
          </a:p>
          <a:p>
            <a:pPr lvl="2"/>
            <a:r>
              <a:rPr lang="en-IN" dirty="0" err="1"/>
              <a:t>Ixx</a:t>
            </a:r>
            <a:r>
              <a:rPr lang="en-IN" dirty="0"/>
              <a:t>​ </a:t>
            </a:r>
          </a:p>
          <a:p>
            <a:pPr lvl="2"/>
            <a:r>
              <a:rPr lang="en-IN" dirty="0" err="1"/>
              <a:t>Iyy</a:t>
            </a:r>
            <a:r>
              <a:rPr lang="en-IN" dirty="0"/>
              <a:t>​ </a:t>
            </a:r>
          </a:p>
          <a:p>
            <a:pPr lvl="2"/>
            <a:r>
              <a:rPr lang="en-IN" dirty="0" err="1"/>
              <a:t>Ixy</a:t>
            </a:r>
            <a:r>
              <a:rPr lang="en-IN" dirty="0"/>
              <a:t>​ </a:t>
            </a:r>
          </a:p>
          <a:p>
            <a:pPr lvl="0"/>
            <a:r>
              <a:rPr lang="en-IN" b="1" dirty="0"/>
              <a:t>Build the Hessian matrix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H=[</a:t>
            </a:r>
            <a:r>
              <a:rPr lang="en-IN" dirty="0" err="1"/>
              <a:t>Ixx</a:t>
            </a:r>
            <a:r>
              <a:rPr lang="en-IN" dirty="0"/>
              <a:t>​</a:t>
            </a:r>
            <a:r>
              <a:rPr lang="en-IN" dirty="0" err="1"/>
              <a:t>Ixy</a:t>
            </a:r>
            <a:r>
              <a:rPr lang="en-IN" dirty="0"/>
              <a:t>​​</a:t>
            </a:r>
            <a:r>
              <a:rPr lang="en-IN" dirty="0" err="1"/>
              <a:t>Ixy</a:t>
            </a:r>
            <a:r>
              <a:rPr lang="en-IN" dirty="0"/>
              <a:t>​</a:t>
            </a:r>
            <a:r>
              <a:rPr lang="en-IN" dirty="0" err="1"/>
              <a:t>Iyy</a:t>
            </a:r>
            <a:r>
              <a:rPr lang="en-IN" dirty="0"/>
              <a:t>​​] </a:t>
            </a:r>
            <a:r>
              <a:rPr lang="en-IN" b="1" dirty="0"/>
              <a:t>Calculate the Hessian determinant</a:t>
            </a:r>
            <a:r>
              <a:rPr lang="en-IN" dirty="0"/>
              <a:t> </a:t>
            </a:r>
          </a:p>
          <a:p>
            <a:r>
              <a:rPr lang="en-IN" dirty="0"/>
              <a:t>det(H)=</a:t>
            </a:r>
            <a:r>
              <a:rPr lang="en-IN" dirty="0" err="1"/>
              <a:t>Ixx</a:t>
            </a:r>
            <a:r>
              <a:rPr lang="en-IN" dirty="0"/>
              <a:t>​</a:t>
            </a:r>
            <a:r>
              <a:rPr lang="en-IN" dirty="0" err="1"/>
              <a:t>Iyy</a:t>
            </a:r>
            <a:r>
              <a:rPr lang="en-IN" dirty="0"/>
              <a:t>​−Ixy^2​</a:t>
            </a:r>
          </a:p>
        </p:txBody>
      </p:sp>
    </p:spTree>
    <p:extLst>
      <p:ext uri="{BB962C8B-B14F-4D97-AF65-F5344CB8AC3E}">
        <p14:creationId xmlns:p14="http://schemas.microsoft.com/office/powerpoint/2010/main" val="175780732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39853-16A1-DED1-B51A-1FF1DF37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B21F8-9A62-7501-9B1A-B1BEEC240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If the determinant is strong, that location is likely to be a </a:t>
            </a:r>
            <a:r>
              <a:rPr lang="en-IN" b="1" dirty="0"/>
              <a:t>feature/</a:t>
            </a:r>
            <a:r>
              <a:rPr lang="en-IN" b="1" dirty="0" err="1"/>
              <a:t>keypoint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Weak values are ignored.</a:t>
            </a:r>
          </a:p>
          <a:p>
            <a:r>
              <a:rPr lang="en-IN" dirty="0" err="1"/>
              <a:t>keypoints</a:t>
            </a:r>
            <a:r>
              <a:rPr lang="en-IN" dirty="0"/>
              <a:t> = </a:t>
            </a:r>
            <a:r>
              <a:rPr lang="en-IN" dirty="0" err="1"/>
              <a:t>hessian.detect</a:t>
            </a:r>
            <a:r>
              <a:rPr lang="en-IN" dirty="0"/>
              <a:t>(</a:t>
            </a:r>
            <a:r>
              <a:rPr lang="en-IN" dirty="0" err="1"/>
              <a:t>img</a:t>
            </a:r>
            <a:r>
              <a:rPr lang="en-IN" dirty="0"/>
              <a:t>)</a:t>
            </a:r>
          </a:p>
          <a:p>
            <a:pPr lvl="0"/>
            <a:r>
              <a:rPr lang="en-IN" dirty="0" err="1"/>
              <a:t>img</a:t>
            </a:r>
            <a:r>
              <a:rPr lang="en-IN" dirty="0"/>
              <a:t> is your input image. </a:t>
            </a:r>
          </a:p>
          <a:p>
            <a:pPr lvl="0"/>
            <a:r>
              <a:rPr lang="en-IN" dirty="0"/>
              <a:t>detect() searches the image for important points. </a:t>
            </a:r>
          </a:p>
          <a:p>
            <a:pPr lvl="0"/>
            <a:r>
              <a:rPr lang="en-IN" dirty="0"/>
              <a:t>The detected points are stored in </a:t>
            </a:r>
            <a:r>
              <a:rPr lang="en-IN" dirty="0" err="1"/>
              <a:t>keypoints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18496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E8E2-AD4F-1D5E-1AB0-0379307C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FE88-E9DD-F59A-47F0-EDA8A366E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100 100 100 100 100</a:t>
            </a:r>
          </a:p>
          <a:p>
            <a:r>
              <a:rPr lang="en-IN" dirty="0"/>
              <a:t>100 100 100 100 100</a:t>
            </a:r>
          </a:p>
          <a:p>
            <a:r>
              <a:rPr lang="en-IN" dirty="0"/>
              <a:t>100 100 255 100 100</a:t>
            </a:r>
          </a:p>
          <a:p>
            <a:r>
              <a:rPr lang="en-IN" dirty="0"/>
              <a:t>100 100 100 100 100</a:t>
            </a:r>
          </a:p>
          <a:p>
            <a:r>
              <a:rPr lang="en-IN" dirty="0"/>
              <a:t>100 100 100 100 100</a:t>
            </a:r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dirty="0" err="1"/>
              <a:t>center</a:t>
            </a:r>
            <a:r>
              <a:rPr lang="en-IN" dirty="0"/>
              <a:t> pixel 255 is very different from its </a:t>
            </a:r>
            <a:r>
              <a:rPr lang="en-IN" dirty="0" err="1"/>
              <a:t>neighbors</a:t>
            </a:r>
            <a:r>
              <a:rPr lang="en-IN" dirty="0"/>
              <a:t> 100.</a:t>
            </a:r>
          </a:p>
        </p:txBody>
      </p:sp>
    </p:spTree>
    <p:extLst>
      <p:ext uri="{BB962C8B-B14F-4D97-AF65-F5344CB8AC3E}">
        <p14:creationId xmlns:p14="http://schemas.microsoft.com/office/powerpoint/2010/main" val="34738271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E089-0AE0-2F2E-382E-D965A286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A297-251F-757B-9648-EF63C8A5A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Hessian detector checks the </a:t>
            </a:r>
            <a:r>
              <a:rPr lang="en-IN" b="1" dirty="0"/>
              <a:t>second-order change</a:t>
            </a:r>
            <a:r>
              <a:rPr lang="en-IN" dirty="0"/>
              <a:t> around every pixel.</a:t>
            </a:r>
          </a:p>
          <a:p>
            <a:pPr lvl="0"/>
            <a:r>
              <a:rPr lang="en-IN" dirty="0"/>
              <a:t>Flat area → little change →  not important </a:t>
            </a:r>
          </a:p>
          <a:p>
            <a:pPr lvl="0"/>
            <a:r>
              <a:rPr lang="en-IN" dirty="0"/>
              <a:t>Edge → strong change mainly in one direction → usually weaker </a:t>
            </a:r>
          </a:p>
          <a:p>
            <a:pPr lvl="0"/>
            <a:r>
              <a:rPr lang="en-IN" dirty="0"/>
              <a:t>Corner/blob → strong change in multiple directions →  important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Check every region of this image and find locations where the intensity changes significantly in different directions.”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156949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23F6-92EC-61B5-6230-3B6C475D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E780B-6B16-B4C6-9AAF-77AC4183A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Those locations become the </a:t>
            </a:r>
            <a:r>
              <a:rPr lang="en-IN" dirty="0" err="1"/>
              <a:t>keypoints</a:t>
            </a:r>
            <a:r>
              <a:rPr lang="en-IN" dirty="0"/>
              <a:t>.</a:t>
            </a:r>
          </a:p>
          <a:p>
            <a:r>
              <a:rPr lang="en-IN" b="1" dirty="0"/>
              <a:t>One important thing:</a:t>
            </a:r>
            <a:r>
              <a:rPr lang="en-IN" dirty="0"/>
              <a:t> the detector doesn't simply choose the brightest pixels. It chooses pixels/regions with a </a:t>
            </a:r>
            <a:r>
              <a:rPr lang="en-IN" b="1" dirty="0"/>
              <a:t>strong local structure/change</a:t>
            </a:r>
            <a:r>
              <a:rPr lang="en-IN" dirty="0"/>
              <a:t>, which makes them useful for recognizing the same object later.</a:t>
            </a:r>
          </a:p>
        </p:txBody>
      </p:sp>
    </p:spTree>
    <p:extLst>
      <p:ext uri="{BB962C8B-B14F-4D97-AF65-F5344CB8AC3E}">
        <p14:creationId xmlns:p14="http://schemas.microsoft.com/office/powerpoint/2010/main" val="217935166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405CF-5F9C-93EA-39BF-3D2072E06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90814-2096-0A16-63FD-99F5D983F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Draw the detected points</a:t>
            </a:r>
            <a:endParaRPr lang="en-IN" dirty="0"/>
          </a:p>
          <a:p>
            <a:pPr lvl="0"/>
            <a:r>
              <a:rPr lang="en-IN" dirty="0" err="1"/>
              <a:t>drawKeypoints</a:t>
            </a:r>
            <a:r>
              <a:rPr lang="en-IN" dirty="0"/>
              <a:t>() draws the detected </a:t>
            </a:r>
            <a:r>
              <a:rPr lang="en-IN" dirty="0" err="1"/>
              <a:t>keypoints</a:t>
            </a:r>
            <a:r>
              <a:rPr lang="en-IN" dirty="0"/>
              <a:t> on the original image. </a:t>
            </a:r>
          </a:p>
          <a:p>
            <a:pPr lvl="0"/>
            <a:r>
              <a:rPr lang="en-IN" dirty="0" err="1"/>
              <a:t>img</a:t>
            </a:r>
            <a:r>
              <a:rPr lang="en-IN" dirty="0"/>
              <a:t> → original image. </a:t>
            </a:r>
          </a:p>
          <a:p>
            <a:pPr lvl="0"/>
            <a:r>
              <a:rPr lang="en-IN" dirty="0" err="1"/>
              <a:t>keypoints</a:t>
            </a:r>
            <a:r>
              <a:rPr lang="en-IN" dirty="0"/>
              <a:t> → points detected in step 2. </a:t>
            </a:r>
          </a:p>
          <a:p>
            <a:pPr lvl="0"/>
            <a:r>
              <a:rPr lang="en-IN" dirty="0"/>
              <a:t>None → OpenCV creates the output image automatically. </a:t>
            </a:r>
          </a:p>
          <a:p>
            <a:pPr lvl="0"/>
            <a:r>
              <a:rPr lang="en-IN" dirty="0"/>
              <a:t>DRAW_RICH_KEYPOINTS → draws the points with additional information such as </a:t>
            </a:r>
            <a:r>
              <a:rPr lang="en-IN" b="1" dirty="0"/>
              <a:t>size and orientation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972085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5050F-6BD7-2043-F6A7-75324001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Orientation 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08815-658B-A68F-073C-409C3DC83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</a:t>
            </a:r>
            <a:r>
              <a:rPr lang="en-IN" b="1" dirty="0"/>
              <a:t>Computer Vision (CV)</a:t>
            </a:r>
            <a:r>
              <a:rPr lang="en-IN" dirty="0"/>
              <a:t>, an </a:t>
            </a:r>
            <a:r>
              <a:rPr lang="en-IN" b="1" dirty="0"/>
              <a:t>Orientation Histogram</a:t>
            </a:r>
            <a:r>
              <a:rPr lang="en-IN" dirty="0"/>
              <a:t> is a way of describing an image region by counting </a:t>
            </a:r>
            <a:r>
              <a:rPr lang="en-IN" b="1" dirty="0"/>
              <a:t>which directions the edges/gradients point toward</a:t>
            </a:r>
            <a:r>
              <a:rPr lang="en-IN" dirty="0"/>
              <a:t>.</a:t>
            </a:r>
          </a:p>
          <a:p>
            <a:r>
              <a:rPr lang="en-IN" dirty="0"/>
              <a:t>It is especially important in </a:t>
            </a:r>
            <a:r>
              <a:rPr lang="en-IN" b="1" dirty="0"/>
              <a:t>HOG (Histogram of Oriented Gradients)</a:t>
            </a:r>
            <a:r>
              <a:rPr lang="en-IN" dirty="0"/>
              <a:t>, which is used for object detection and shape recognition.</a:t>
            </a:r>
          </a:p>
          <a:p>
            <a:r>
              <a:rPr lang="en-IN" dirty="0"/>
              <a:t>Which direction the edges in an image are pointing.</a:t>
            </a:r>
          </a:p>
        </p:txBody>
      </p:sp>
    </p:spTree>
    <p:extLst>
      <p:ext uri="{BB962C8B-B14F-4D97-AF65-F5344CB8AC3E}">
        <p14:creationId xmlns:p14="http://schemas.microsoft.com/office/powerpoint/2010/main" val="40946600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EBD3-111F-4806-5BA2-2973B045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3468C-211A-21E6-6776-6FCA6966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example, an image can have edges going:</a:t>
            </a:r>
          </a:p>
          <a:p>
            <a:pPr lvl="0"/>
            <a:r>
              <a:rPr lang="en-IN" dirty="0"/>
              <a:t>→ Horizontal </a:t>
            </a:r>
          </a:p>
          <a:p>
            <a:pPr lvl="0"/>
            <a:r>
              <a:rPr lang="en-IN" dirty="0"/>
              <a:t>↑ Vertical </a:t>
            </a:r>
          </a:p>
          <a:p>
            <a:pPr lvl="0"/>
            <a:r>
              <a:rPr lang="en-IN" dirty="0"/>
              <a:t>↗ Diagonal </a:t>
            </a:r>
          </a:p>
          <a:p>
            <a:pPr lvl="0"/>
            <a:r>
              <a:rPr lang="en-IN" dirty="0"/>
              <a:t>↘ Diagonal </a:t>
            </a:r>
          </a:p>
          <a:p>
            <a:r>
              <a:rPr lang="en-IN" dirty="0"/>
              <a:t>The histogram simply </a:t>
            </a:r>
            <a:r>
              <a:rPr lang="en-IN" b="1" dirty="0"/>
              <a:t>counts how many strong edges point in each direction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47258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4B33-1511-FD93-3809-D74DCD57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does the computer find the direction?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02EEC-8AEA-EF55-3FFE-AE16681B9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every pixel, it checks how much the brightness changes.</a:t>
            </a:r>
          </a:p>
          <a:p>
            <a:r>
              <a:rPr lang="en-IN" dirty="0"/>
              <a:t>It calculates two things:</a:t>
            </a:r>
          </a:p>
          <a:p>
            <a:r>
              <a:rPr lang="en-IN" b="1" dirty="0"/>
              <a:t>1. Gradient Magnitude</a:t>
            </a:r>
          </a:p>
          <a:p>
            <a:r>
              <a:rPr lang="en-IN" dirty="0"/>
              <a:t>This tells:</a:t>
            </a:r>
          </a:p>
          <a:p>
            <a:r>
              <a:rPr lang="en-IN" b="1" dirty="0"/>
              <a:t>How strong is the edge?</a:t>
            </a:r>
            <a:endParaRPr lang="en-IN" dirty="0"/>
          </a:p>
          <a:p>
            <a:r>
              <a:rPr lang="en-US" dirty="0"/>
              <a:t>Small change → weak edge</a:t>
            </a:r>
          </a:p>
          <a:p>
            <a:r>
              <a:rPr lang="en-US" dirty="0"/>
              <a:t>Big change   → strong edge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96782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35B9D-D25B-4BFC-DF9B-83C82C2A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52B8E-537B-841F-CAF6-7B68EEDEE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2. Gradient Orientation</a:t>
            </a:r>
          </a:p>
          <a:p>
            <a:r>
              <a:rPr lang="en-IN" dirty="0"/>
              <a:t>This tells:</a:t>
            </a:r>
          </a:p>
          <a:p>
            <a:r>
              <a:rPr lang="en-IN" b="1" dirty="0"/>
              <a:t>Which direction is the change happening?</a:t>
            </a:r>
            <a:endParaRPr lang="en-IN" dirty="0"/>
          </a:p>
          <a:p>
            <a:r>
              <a:rPr lang="en-IN" dirty="0"/>
              <a:t>For example:</a:t>
            </a:r>
          </a:p>
          <a:p>
            <a:r>
              <a:rPr lang="en-IN" dirty="0"/>
              <a:t>→  0°</a:t>
            </a:r>
          </a:p>
          <a:p>
            <a:r>
              <a:rPr lang="en-IN" dirty="0"/>
              <a:t>↗  45°</a:t>
            </a:r>
          </a:p>
          <a:p>
            <a:r>
              <a:rPr lang="en-IN" dirty="0"/>
              <a:t>↑  90°</a:t>
            </a:r>
          </a:p>
          <a:p>
            <a:r>
              <a:rPr lang="en-IN" dirty="0"/>
              <a:t>↖  135°</a:t>
            </a:r>
          </a:p>
        </p:txBody>
      </p:sp>
    </p:spTree>
    <p:extLst>
      <p:ext uri="{BB962C8B-B14F-4D97-AF65-F5344CB8AC3E}">
        <p14:creationId xmlns:p14="http://schemas.microsoft.com/office/powerpoint/2010/main" val="395787521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62DC-4FE9-0669-1E76-18C1B9BE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Small numerical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273FD-14E9-2D81-2BD8-36256C52E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we have 5 pixels: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DC6C2A-91D9-F074-D2B3-D5F0F779F22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603240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094166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43533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Pixel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Strength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479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133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544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880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25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209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69385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164A-117F-4B8D-1F1B-BDDB1B984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F22E4-2F4F-3002-1DDE-7960103E5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err="1"/>
              <a:t>trength</a:t>
            </a:r>
            <a:r>
              <a:rPr lang="en-IN" dirty="0"/>
              <a:t> means </a:t>
            </a:r>
            <a:r>
              <a:rPr lang="en-IN" b="1" dirty="0"/>
              <a:t>how strong or clear the edge/change is</a:t>
            </a:r>
            <a:r>
              <a:rPr lang="en-IN" dirty="0"/>
              <a:t>.</a:t>
            </a:r>
          </a:p>
          <a:p>
            <a:r>
              <a:rPr lang="en-IN" dirty="0"/>
              <a:t>In simple words:</a:t>
            </a:r>
          </a:p>
          <a:p>
            <a:pPr lvl="0"/>
            <a:r>
              <a:rPr lang="en-IN" b="1" dirty="0"/>
              <a:t>Small brightness change → weak edge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Big brightness change → strong edge</a:t>
            </a:r>
            <a:endParaRPr lang="en-IN" dirty="0"/>
          </a:p>
          <a:p>
            <a:r>
              <a:rPr lang="en-IN" dirty="0"/>
              <a:t>Now we add the strengths for each direction.</a:t>
            </a:r>
          </a:p>
          <a:p>
            <a:r>
              <a:rPr lang="en-IN" b="1" dirty="0"/>
              <a:t>0°: </a:t>
            </a:r>
            <a:r>
              <a:rPr lang="en-IN" dirty="0"/>
              <a:t>5+3=8</a:t>
            </a:r>
          </a:p>
          <a:p>
            <a:r>
              <a:rPr lang="en-IN" dirty="0"/>
              <a:t>45°: 4</a:t>
            </a:r>
          </a:p>
          <a:p>
            <a:r>
              <a:rPr lang="en-IN" b="1" dirty="0"/>
              <a:t>90°: </a:t>
            </a:r>
            <a:r>
              <a:rPr lang="en-IN" dirty="0"/>
              <a:t>8+6=14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097557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C713-F999-C20E-1212-B71404842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B3453-5D67-FD75-316F-F511945BB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computer can now say:</a:t>
            </a:r>
          </a:p>
          <a:p>
            <a:r>
              <a:rPr lang="en-IN" b="1" dirty="0"/>
              <a:t>90° has the strongest edges in this area.</a:t>
            </a:r>
            <a:endParaRPr lang="en-IN" dirty="0"/>
          </a:p>
          <a:p>
            <a:r>
              <a:rPr lang="en-IN" b="1" dirty="0"/>
              <a:t>Why is this useful?</a:t>
            </a:r>
          </a:p>
          <a:p>
            <a:r>
              <a:rPr lang="en-IN" dirty="0"/>
              <a:t>Orientation histograms are very useful for recognizing </a:t>
            </a:r>
            <a:r>
              <a:rPr lang="en-IN" b="1" dirty="0"/>
              <a:t>shapes and objects</a:t>
            </a:r>
            <a:r>
              <a:rPr lang="en-IN" dirty="0"/>
              <a:t>.</a:t>
            </a:r>
          </a:p>
          <a:p>
            <a:r>
              <a:rPr lang="en-IN" dirty="0"/>
              <a:t>For example, consider a person:</a:t>
            </a:r>
          </a:p>
        </p:txBody>
      </p:sp>
    </p:spTree>
    <p:extLst>
      <p:ext uri="{BB962C8B-B14F-4D97-AF65-F5344CB8AC3E}">
        <p14:creationId xmlns:p14="http://schemas.microsoft.com/office/powerpoint/2010/main" val="357121687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3F8D-8BBA-2865-9B90-140EDBDD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D27AB-94F8-072D-6762-3F058B005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person has many different edges:</a:t>
            </a:r>
          </a:p>
          <a:p>
            <a:pPr lvl="0"/>
            <a:r>
              <a:rPr lang="en-IN" dirty="0"/>
              <a:t>Head → curved edges </a:t>
            </a:r>
          </a:p>
          <a:p>
            <a:pPr lvl="0"/>
            <a:r>
              <a:rPr lang="en-IN" dirty="0"/>
              <a:t>Body → vertical edges </a:t>
            </a:r>
          </a:p>
          <a:p>
            <a:pPr lvl="0"/>
            <a:r>
              <a:rPr lang="en-IN" dirty="0"/>
              <a:t>Arms → diagonal edges </a:t>
            </a:r>
          </a:p>
          <a:p>
            <a:pPr lvl="0"/>
            <a:r>
              <a:rPr lang="en-IN" dirty="0"/>
              <a:t>Legs → diagonal/vertical edges </a:t>
            </a:r>
          </a:p>
          <a:p>
            <a:r>
              <a:rPr lang="en-IN" dirty="0"/>
              <a:t>The orientation histogram captures these edge patterns.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541633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1BA6-AE84-9D09-2C7F-59BAD685B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27CA-D873-7773-6334-1748CC1A4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This is why it is used in </a:t>
            </a:r>
            <a:r>
              <a:rPr lang="en-IN" b="1" dirty="0"/>
              <a:t>HOG (Histogram of Oriented Gradients)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US" dirty="0"/>
              <a:t>Image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Find edges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Find edge directions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Make histograms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Use histograms to recognize the shape/object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959082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0178-1F35-505C-DA80-BB7BCBF44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CF671-75EF-AAFC-302E-22A9B7025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Think of an image as numbers</a:t>
            </a:r>
          </a:p>
          <a:p>
            <a:r>
              <a:rPr lang="en-IN" dirty="0"/>
              <a:t>10   10   10</a:t>
            </a:r>
          </a:p>
          <a:p>
            <a:r>
              <a:rPr lang="en-IN" dirty="0"/>
              <a:t>10  100  100</a:t>
            </a:r>
          </a:p>
          <a:p>
            <a:r>
              <a:rPr lang="en-IN" dirty="0"/>
              <a:t>10  100  100</a:t>
            </a:r>
          </a:p>
          <a:p>
            <a:endParaRPr lang="en-IN" dirty="0"/>
          </a:p>
          <a:p>
            <a:r>
              <a:rPr lang="en-IN" dirty="0"/>
              <a:t>Each number represents brightness:</a:t>
            </a:r>
          </a:p>
          <a:p>
            <a:pPr lvl="0"/>
            <a:r>
              <a:rPr lang="en-IN" dirty="0"/>
              <a:t>0 = black </a:t>
            </a:r>
          </a:p>
          <a:p>
            <a:pPr lvl="0"/>
            <a:r>
              <a:rPr lang="en-IN" dirty="0"/>
              <a:t>255 = white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68519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AD565-B6A7-910F-0C34-04277A16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B9328-5843-AC47-A2E4-5AC98EB5F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Getting Gx​</a:t>
            </a:r>
          </a:p>
          <a:p>
            <a:r>
              <a:rPr lang="en-IN" dirty="0"/>
              <a:t>Gx​ measures the change from </a:t>
            </a:r>
            <a:r>
              <a:rPr lang="en-IN" b="1" dirty="0"/>
              <a:t>left → right</a:t>
            </a:r>
            <a:r>
              <a:rPr lang="en-IN" dirty="0"/>
              <a:t>.</a:t>
            </a:r>
          </a:p>
          <a:p>
            <a:r>
              <a:rPr lang="en-IN" dirty="0"/>
              <a:t>A very simple way is:</a:t>
            </a:r>
          </a:p>
          <a:p>
            <a:r>
              <a:rPr lang="en-IN" dirty="0"/>
              <a:t>Gx​=right pixel−left pixel</a:t>
            </a:r>
          </a:p>
          <a:p>
            <a:r>
              <a:rPr lang="en-US" dirty="0"/>
              <a:t>10   100   100</a:t>
            </a:r>
          </a:p>
          <a:p>
            <a:r>
              <a:rPr lang="en-US" dirty="0"/>
              <a:t> ↑     ↑</a:t>
            </a:r>
          </a:p>
          <a:p>
            <a:r>
              <a:rPr lang="en-US" dirty="0"/>
              <a:t>left  right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65155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09E92-3B97-4BA4-4963-4E3279B4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4A51-348D-EEE6-3CEB-0CA05DEB7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For the middle pixel:</a:t>
            </a:r>
          </a:p>
          <a:p>
            <a:r>
              <a:rPr lang="en-IN" dirty="0"/>
              <a:t>Gx​=100−10 Gx​=90​</a:t>
            </a:r>
          </a:p>
          <a:p>
            <a:r>
              <a:rPr lang="en-IN" dirty="0"/>
              <a:t>That means there is a </a:t>
            </a:r>
            <a:r>
              <a:rPr lang="en-IN" b="1" dirty="0"/>
              <a:t>strong horizontal brightness change</a:t>
            </a:r>
            <a:r>
              <a:rPr lang="en-IN" dirty="0"/>
              <a:t>.</a:t>
            </a:r>
          </a:p>
          <a:p>
            <a:r>
              <a:rPr lang="en-IN" b="1" dirty="0"/>
              <a:t>Getting Gy​</a:t>
            </a:r>
          </a:p>
          <a:p>
            <a:r>
              <a:rPr lang="en-IN" dirty="0"/>
              <a:t>Gy​ measures the change from </a:t>
            </a:r>
            <a:r>
              <a:rPr lang="en-IN" b="1" dirty="0"/>
              <a:t>top → bottom</a:t>
            </a:r>
            <a:r>
              <a:rPr lang="en-IN" dirty="0"/>
              <a:t>.</a:t>
            </a:r>
          </a:p>
          <a:p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/>
              <a:t>10</a:t>
            </a:r>
          </a:p>
          <a:p>
            <a:pPr marL="0" indent="0">
              <a:buNone/>
            </a:pPr>
            <a:r>
              <a:rPr lang="en-IN" dirty="0"/>
              <a:t> |</a:t>
            </a:r>
          </a:p>
          <a:p>
            <a:pPr marL="0" indent="0">
              <a:buNone/>
            </a:pPr>
            <a:r>
              <a:rPr lang="en-IN" dirty="0"/>
              <a:t>100</a:t>
            </a:r>
          </a:p>
          <a:p>
            <a:pPr marL="0" indent="0">
              <a:buNone/>
            </a:pPr>
            <a:r>
              <a:rPr lang="en-IN" dirty="0"/>
              <a:t> |</a:t>
            </a:r>
          </a:p>
          <a:p>
            <a:pPr marL="0" indent="0">
              <a:buNone/>
            </a:pPr>
            <a:r>
              <a:rPr lang="en-IN" dirty="0"/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96430941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F0E8-2C29-1528-C6E8-05BC69C98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A90F5-D572-6687-08D0-F49A0D237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the middle pixel:</a:t>
            </a:r>
          </a:p>
          <a:p>
            <a:r>
              <a:rPr lang="en-IN" dirty="0"/>
              <a:t>Gy​=100−10 </a:t>
            </a:r>
          </a:p>
          <a:p>
            <a:r>
              <a:rPr lang="en-IN" dirty="0"/>
              <a:t>Gy​=90​</a:t>
            </a:r>
          </a:p>
          <a:p>
            <a:r>
              <a:rPr lang="en-IN" dirty="0"/>
              <a:t>So there is also a strong vertical brightness change.</a:t>
            </a:r>
          </a:p>
          <a:p>
            <a:r>
              <a:rPr lang="en-IN" b="1" dirty="0"/>
              <a:t>In real Computer Vision</a:t>
            </a:r>
          </a:p>
          <a:p>
            <a:r>
              <a:rPr lang="en-IN" dirty="0"/>
              <a:t>We normally don't just use:</a:t>
            </a:r>
          </a:p>
          <a:p>
            <a:r>
              <a:rPr lang="en-IN" dirty="0"/>
              <a:t>right−left</a:t>
            </a:r>
          </a:p>
        </p:txBody>
      </p:sp>
    </p:spTree>
    <p:extLst>
      <p:ext uri="{BB962C8B-B14F-4D97-AF65-F5344CB8AC3E}">
        <p14:creationId xmlns:p14="http://schemas.microsoft.com/office/powerpoint/2010/main" val="38790786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CFFA2-4784-C2F5-001F-0DAE6FB0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0D377-CAFF-7F90-490E-C114B95DB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Instead, OpenCV uses filters such as the </a:t>
            </a:r>
            <a:r>
              <a:rPr lang="en-IN" b="1" dirty="0"/>
              <a:t>Sobel operator</a:t>
            </a:r>
            <a:r>
              <a:rPr lang="en-IN" dirty="0"/>
              <a:t>.</a:t>
            </a:r>
          </a:p>
          <a:p>
            <a:r>
              <a:rPr lang="en-IN" dirty="0"/>
              <a:t>Gx​ Sobel filter</a:t>
            </a:r>
          </a:p>
          <a:p>
            <a:r>
              <a:rPr lang="en-IN" dirty="0"/>
              <a:t>Gy​ Sobel filter</a:t>
            </a:r>
          </a:p>
          <a:p>
            <a:r>
              <a:rPr lang="en-IN" dirty="0"/>
              <a:t>x​=5,Gy​=0 </a:t>
            </a:r>
          </a:p>
          <a:p>
            <a:r>
              <a:rPr lang="en-IN" dirty="0"/>
              <a:t>Then:</a:t>
            </a:r>
          </a:p>
          <a:p>
            <a:r>
              <a:rPr lang="en-IN" dirty="0"/>
              <a:t>θ=tan−1(0/5) θ=tan−1(0) θ=0 degree</a:t>
            </a:r>
          </a:p>
          <a:p>
            <a:r>
              <a:rPr lang="en-IN" dirty="0"/>
              <a:t>So the gradient points </a:t>
            </a:r>
            <a:r>
              <a:rPr lang="en-IN" b="1" dirty="0"/>
              <a:t>straight horizontally →</a:t>
            </a:r>
            <a:r>
              <a:rPr lang="en-IN" dirty="0"/>
              <a:t>.</a:t>
            </a:r>
          </a:p>
          <a:p>
            <a:r>
              <a:rPr lang="en-IN" dirty="0"/>
              <a:t>θ=45 degree it will be diagonal</a:t>
            </a:r>
          </a:p>
        </p:txBody>
      </p:sp>
    </p:spTree>
    <p:extLst>
      <p:ext uri="{BB962C8B-B14F-4D97-AF65-F5344CB8AC3E}">
        <p14:creationId xmlns:p14="http://schemas.microsoft.com/office/powerpoint/2010/main" val="303243944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44680-F1DC-9241-0DCD-ECD0D0B57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D59D1-0683-4E0F-DD78-A047F4B42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Direction=tan−1(Gy​/Gx​)</a:t>
            </a:r>
          </a:p>
        </p:txBody>
      </p:sp>
    </p:spTree>
    <p:extLst>
      <p:ext uri="{BB962C8B-B14F-4D97-AF65-F5344CB8AC3E}">
        <p14:creationId xmlns:p14="http://schemas.microsoft.com/office/powerpoint/2010/main" val="88519870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649DB-0039-5A85-B507-6D86B9E86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39DF4-8CBE-D8F1-8877-052CE6314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SIFT = Scale-Invariant Feature Transform</a:t>
            </a:r>
          </a:p>
          <a:p>
            <a:r>
              <a:rPr lang="en-IN" dirty="0"/>
              <a:t>IFT finds interesting points in an image and describes what is around those points.</a:t>
            </a:r>
          </a:p>
          <a:p>
            <a:r>
              <a:rPr lang="en-IN" dirty="0"/>
              <a:t>SIFT might find interesting points around:</a:t>
            </a:r>
          </a:p>
          <a:p>
            <a:pPr lvl="0"/>
            <a:r>
              <a:rPr lang="en-IN" dirty="0"/>
              <a:t>corners </a:t>
            </a:r>
          </a:p>
          <a:p>
            <a:pPr lvl="0"/>
            <a:r>
              <a:rPr lang="en-IN" dirty="0"/>
              <a:t>windows </a:t>
            </a:r>
          </a:p>
          <a:p>
            <a:pPr lvl="0"/>
            <a:r>
              <a:rPr lang="en-IN" dirty="0"/>
              <a:t>edges </a:t>
            </a:r>
          </a:p>
          <a:p>
            <a:pPr lvl="0"/>
            <a:r>
              <a:rPr lang="en-IN" dirty="0"/>
              <a:t>distinctive patterns </a:t>
            </a:r>
          </a:p>
          <a:p>
            <a:r>
              <a:rPr lang="en-IN" dirty="0"/>
              <a:t>These points are called </a:t>
            </a:r>
            <a:r>
              <a:rPr lang="en-IN" b="1" dirty="0" err="1"/>
              <a:t>keypoints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78328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9D86-B97D-E451-45DB-D0F821A5C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837FA-431E-D24E-A130-EB8FFCA11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is a </a:t>
            </a:r>
            <a:r>
              <a:rPr lang="en-IN" b="1" dirty="0" err="1"/>
              <a:t>keypoint</a:t>
            </a:r>
            <a:r>
              <a:rPr lang="en-IN" b="1" dirty="0"/>
              <a:t>?</a:t>
            </a:r>
          </a:p>
          <a:p>
            <a:r>
              <a:rPr lang="en-IN" dirty="0"/>
              <a:t>A </a:t>
            </a:r>
            <a:r>
              <a:rPr lang="en-IN" dirty="0" err="1"/>
              <a:t>keypoint</a:t>
            </a:r>
            <a:r>
              <a:rPr lang="en-IN" dirty="0"/>
              <a:t> is simply an </a:t>
            </a:r>
            <a:r>
              <a:rPr lang="en-IN" b="1" dirty="0"/>
              <a:t>interesting location</a:t>
            </a:r>
            <a:r>
              <a:rPr lang="en-IN" dirty="0"/>
              <a:t> in an image.</a:t>
            </a:r>
          </a:p>
          <a:p>
            <a:r>
              <a:rPr lang="en-IN" dirty="0"/>
              <a:t>How does SIFT work?</a:t>
            </a:r>
          </a:p>
          <a:p>
            <a:r>
              <a:rPr lang="en-IN" dirty="0"/>
              <a:t>SIFT can be understood in roughly 4 main steps.</a:t>
            </a:r>
          </a:p>
          <a:p>
            <a:r>
              <a:rPr lang="en-IN" b="1" dirty="0"/>
              <a:t>Step 1: Find important points</a:t>
            </a:r>
          </a:p>
          <a:p>
            <a:r>
              <a:rPr lang="en-IN" dirty="0"/>
              <a:t>SIFT searches the image for locations that are different from their surroundings.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055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98D13-4FFC-DBC8-A9C4-22A01FC93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5907-26F5-5DCA-9CBD-E10A01052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These become </a:t>
            </a:r>
            <a:r>
              <a:rPr lang="en-IN" b="1" dirty="0" err="1"/>
              <a:t>keypoints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US" dirty="0"/>
              <a:t>Image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Find interesting locations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 err="1"/>
              <a:t>Keypoints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97330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D62E-EA42-0C94-7219-B068AE59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866A-96CF-E53C-D56E-20BEC63AE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Step 2: Make it work at different sizes</a:t>
            </a:r>
          </a:p>
          <a:p>
            <a:r>
              <a:rPr lang="en-IN" dirty="0"/>
              <a:t>This is the </a:t>
            </a:r>
            <a:r>
              <a:rPr lang="en-IN" b="1" dirty="0"/>
              <a:t>Scale-Invariant</a:t>
            </a:r>
            <a:r>
              <a:rPr lang="en-IN" dirty="0"/>
              <a:t> part.</a:t>
            </a:r>
          </a:p>
          <a:p>
            <a:r>
              <a:rPr lang="en-IN" dirty="0"/>
              <a:t>Suppose you have:</a:t>
            </a:r>
          </a:p>
          <a:p>
            <a:r>
              <a:rPr lang="en-IN" dirty="0"/>
              <a:t>Small car </a:t>
            </a:r>
          </a:p>
          <a:p>
            <a:r>
              <a:rPr lang="en-IN" dirty="0"/>
              <a:t>and:</a:t>
            </a:r>
          </a:p>
          <a:p>
            <a:r>
              <a:rPr lang="en-IN" dirty="0"/>
              <a:t>Large car </a:t>
            </a:r>
          </a:p>
          <a:p>
            <a:r>
              <a:rPr lang="en-IN" dirty="0"/>
              <a:t>SIFT tries to recognize the same feature even if the object appears at a different size.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56329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02683-FF2A-E6D4-A0D1-657D67AB9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34ECE-CDEF-04C8-EA23-354DBA759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is useful when:</a:t>
            </a:r>
          </a:p>
          <a:p>
            <a:r>
              <a:rPr lang="en-IN" dirty="0"/>
              <a:t>Object far away → small</a:t>
            </a:r>
          </a:p>
          <a:p>
            <a:r>
              <a:rPr lang="en-IN" dirty="0"/>
              <a:t>Object nearby → large</a:t>
            </a:r>
          </a:p>
          <a:p>
            <a:r>
              <a:rPr lang="en-IN" dirty="0"/>
              <a:t>SIFT uses multiple image scales to find features.</a:t>
            </a:r>
          </a:p>
          <a:p>
            <a:r>
              <a:rPr lang="en-IN" dirty="0"/>
              <a:t>Step 3: Find orientation</a:t>
            </a:r>
          </a:p>
          <a:p>
            <a:r>
              <a:rPr lang="en-IN" dirty="0"/>
              <a:t>SIFT also determines the direction around a </a:t>
            </a:r>
            <a:r>
              <a:rPr lang="en-IN" dirty="0" err="1"/>
              <a:t>keypoint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343644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51B8-48DB-9E99-1F53-E2A92FF3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67EF3-AA53-97CB-07DC-597F15273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keypoint</a:t>
            </a:r>
            <a:r>
              <a:rPr lang="en-IN" dirty="0"/>
              <a:t> may have a particular dominant direction.</a:t>
            </a:r>
          </a:p>
          <a:p>
            <a:r>
              <a:rPr lang="en-IN" dirty="0"/>
              <a:t>This helps SIFT handle image rotation.</a:t>
            </a:r>
          </a:p>
          <a:p>
            <a:r>
              <a:rPr lang="en-IN" dirty="0"/>
              <a:t>Step 4: Create a descriptor</a:t>
            </a:r>
          </a:p>
          <a:p>
            <a:r>
              <a:rPr lang="en-IN" dirty="0"/>
              <a:t>SIFT doesn't just say:</a:t>
            </a:r>
          </a:p>
          <a:p>
            <a:r>
              <a:rPr lang="en-IN" dirty="0"/>
              <a:t>"There is a </a:t>
            </a:r>
            <a:r>
              <a:rPr lang="en-IN" dirty="0" err="1"/>
              <a:t>keypoint</a:t>
            </a:r>
            <a:r>
              <a:rPr lang="en-IN" dirty="0"/>
              <a:t> here."</a:t>
            </a:r>
          </a:p>
          <a:p>
            <a:r>
              <a:rPr lang="en-IN" dirty="0"/>
              <a:t>It creates a </a:t>
            </a:r>
            <a:r>
              <a:rPr lang="en-IN" b="1" dirty="0"/>
              <a:t>descriptor</a:t>
            </a:r>
            <a:r>
              <a:rPr lang="en-IN" dirty="0"/>
              <a:t> that describes the area around the </a:t>
            </a:r>
            <a:r>
              <a:rPr lang="en-IN" dirty="0" err="1"/>
              <a:t>keypoint</a:t>
            </a:r>
            <a:r>
              <a:rPr lang="en-IN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49076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2B88C-3FA6-D695-F5D1-F83D14AE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SIFT Practical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37A48-2E1C-19C3-F5FA-2A930FC55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sift = cv2.SIFT_create()</a:t>
            </a:r>
          </a:p>
          <a:p>
            <a:r>
              <a:rPr lang="en-IN" dirty="0"/>
              <a:t>This creates a SIFT object.</a:t>
            </a:r>
          </a:p>
          <a:p>
            <a:r>
              <a:rPr lang="en-IN" dirty="0"/>
              <a:t>SIFT is an algorithm that finds interesting/important points in an image.</a:t>
            </a:r>
          </a:p>
          <a:p>
            <a:r>
              <a:rPr lang="en-IN" dirty="0"/>
              <a:t>These points are called </a:t>
            </a:r>
            <a:r>
              <a:rPr lang="en-IN" b="1" dirty="0" err="1"/>
              <a:t>keypoints</a:t>
            </a:r>
            <a:r>
              <a:rPr lang="en-IN" dirty="0"/>
              <a:t>.</a:t>
            </a:r>
          </a:p>
          <a:p>
            <a:r>
              <a:rPr lang="en-IN" dirty="0"/>
              <a:t>A </a:t>
            </a:r>
            <a:r>
              <a:rPr lang="en-IN" dirty="0" err="1"/>
              <a:t>keypoint</a:t>
            </a:r>
            <a:r>
              <a:rPr lang="en-IN" dirty="0"/>
              <a:t> might be located around:</a:t>
            </a:r>
          </a:p>
          <a:p>
            <a:pPr lvl="0"/>
            <a:r>
              <a:rPr lang="en-IN" dirty="0"/>
              <a:t>A corner </a:t>
            </a:r>
          </a:p>
          <a:p>
            <a:pPr lvl="0"/>
            <a:r>
              <a:rPr lang="en-IN" dirty="0"/>
              <a:t>An edge </a:t>
            </a:r>
          </a:p>
          <a:p>
            <a:pPr lvl="0"/>
            <a:r>
              <a:rPr lang="en-IN" dirty="0"/>
              <a:t>A textured area </a:t>
            </a:r>
          </a:p>
          <a:p>
            <a:pPr lvl="0"/>
            <a:r>
              <a:rPr lang="en-IN" dirty="0"/>
              <a:t>A distinctive pattern </a:t>
            </a:r>
          </a:p>
          <a:p>
            <a:pPr lvl="0"/>
            <a:r>
              <a:rPr lang="en-IN" dirty="0"/>
              <a:t>A small object detail </a:t>
            </a:r>
          </a:p>
          <a:p>
            <a:r>
              <a:rPr lang="en-IN" dirty="0"/>
              <a:t>The important thing is that these points should be </a:t>
            </a:r>
            <a:r>
              <a:rPr lang="en-IN" b="1" dirty="0"/>
              <a:t>recognizable even if the image changes in scale or rotation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979092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AEB3-3F9D-DC3C-7F4D-B0CDE9FD1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1AC91-AF63-FD84-45AB-583E77CF9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Find </a:t>
            </a:r>
            <a:r>
              <a:rPr lang="en-IN" b="1" dirty="0" err="1"/>
              <a:t>keypoints</a:t>
            </a:r>
            <a:r>
              <a:rPr lang="en-IN" b="1" dirty="0"/>
              <a:t> and descriptors</a:t>
            </a:r>
          </a:p>
          <a:p>
            <a:r>
              <a:rPr lang="en-IN" dirty="0"/>
              <a:t>keypoints1, descriptors1 = </a:t>
            </a:r>
            <a:r>
              <a:rPr lang="en-IN" dirty="0" err="1"/>
              <a:t>sift.detectAndCompute</a:t>
            </a:r>
            <a:r>
              <a:rPr lang="en-IN" dirty="0"/>
              <a:t>(gray1, None)</a:t>
            </a:r>
          </a:p>
          <a:p>
            <a:r>
              <a:rPr lang="en-IN" dirty="0"/>
              <a:t>keypoints2, descriptors2 = </a:t>
            </a:r>
            <a:r>
              <a:rPr lang="en-IN" dirty="0" err="1"/>
              <a:t>sift.detectAndCompute</a:t>
            </a:r>
            <a:r>
              <a:rPr lang="en-IN" dirty="0"/>
              <a:t>(gray2, None)</a:t>
            </a:r>
          </a:p>
          <a:p>
            <a:r>
              <a:rPr lang="en-IN" dirty="0"/>
              <a:t>SIFT does </a:t>
            </a:r>
            <a:r>
              <a:rPr lang="en-IN" b="1" dirty="0"/>
              <a:t>two things</a:t>
            </a:r>
            <a:r>
              <a:rPr lang="en-IN" dirty="0"/>
              <a:t> here:</a:t>
            </a:r>
          </a:p>
          <a:p>
            <a:pPr lvl="0"/>
            <a:r>
              <a:rPr lang="en-IN" dirty="0"/>
              <a:t>Finds </a:t>
            </a:r>
            <a:r>
              <a:rPr lang="en-IN" dirty="0" err="1"/>
              <a:t>keypoints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Creates descriptors for those </a:t>
            </a:r>
            <a:r>
              <a:rPr lang="en-IN" dirty="0" err="1"/>
              <a:t>keypoints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59111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4418-52E8-0448-EF29-B695DB991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05924-1C5F-A362-15A4-4D375818D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Keypoints</a:t>
            </a:r>
            <a:endParaRPr lang="en-IN" b="1" dirty="0"/>
          </a:p>
          <a:p>
            <a:r>
              <a:rPr lang="en-IN" dirty="0"/>
              <a:t>A </a:t>
            </a:r>
            <a:r>
              <a:rPr lang="en-IN" dirty="0" err="1"/>
              <a:t>keypoint</a:t>
            </a:r>
            <a:r>
              <a:rPr lang="en-IN" dirty="0"/>
              <a:t> is an interesting location in the image.</a:t>
            </a:r>
          </a:p>
          <a:p>
            <a:r>
              <a:rPr lang="en-IN" dirty="0"/>
              <a:t>SIFT might find hundreds or thousands of these points.</a:t>
            </a:r>
          </a:p>
          <a:p>
            <a:r>
              <a:rPr lang="en-IN" dirty="0"/>
              <a:t>The variable:</a:t>
            </a:r>
          </a:p>
          <a:p>
            <a:r>
              <a:rPr lang="en-IN" dirty="0"/>
              <a:t>keypoints1</a:t>
            </a:r>
          </a:p>
          <a:p>
            <a:r>
              <a:rPr lang="en-IN" dirty="0"/>
              <a:t>contains the </a:t>
            </a:r>
            <a:r>
              <a:rPr lang="en-IN" dirty="0" err="1"/>
              <a:t>keypoints</a:t>
            </a:r>
            <a:r>
              <a:rPr lang="en-IN" dirty="0"/>
              <a:t> from the first image.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63577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28957-06B9-8205-1195-202D9FBC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ED3B1-5602-9FC8-B85F-EF09FA8F4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is a descriptor?</a:t>
            </a:r>
          </a:p>
          <a:p>
            <a:r>
              <a:rPr lang="en-IN" dirty="0"/>
              <a:t>Finding a point isn't enough.</a:t>
            </a:r>
          </a:p>
          <a:p>
            <a:r>
              <a:rPr lang="en-IN" dirty="0"/>
              <a:t>Suppose SIFT finds this point:</a:t>
            </a:r>
          </a:p>
          <a:p>
            <a:r>
              <a:rPr lang="en-IN" dirty="0"/>
              <a:t>                          •</a:t>
            </a:r>
          </a:p>
          <a:p>
            <a:r>
              <a:rPr lang="en-IN" dirty="0"/>
              <a:t>We need to know </a:t>
            </a:r>
            <a:r>
              <a:rPr lang="en-IN" b="1" dirty="0"/>
              <a:t>what the area around that point looks like</a:t>
            </a:r>
            <a:r>
              <a:rPr lang="en-IN" dirty="0"/>
              <a:t>.</a:t>
            </a:r>
          </a:p>
          <a:p>
            <a:r>
              <a:rPr lang="en-IN" dirty="0"/>
              <a:t>That's where a descriptor comes in.</a:t>
            </a:r>
          </a:p>
          <a:p>
            <a:r>
              <a:rPr lang="en-IN" dirty="0"/>
              <a:t>A descriptor is basically a </a:t>
            </a:r>
            <a:r>
              <a:rPr lang="en-IN" b="1" dirty="0"/>
              <a:t>numerical description of the appearance around a </a:t>
            </a:r>
            <a:r>
              <a:rPr lang="en-IN" b="1" dirty="0" err="1"/>
              <a:t>keypoint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717737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E48E-FBE4-121A-4199-A6DBE4B56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CF2B-9BF1-E2FD-1127-9E4C82CB3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Imagine a person's fingerprint</a:t>
            </a:r>
          </a:p>
          <a:p>
            <a:r>
              <a:rPr lang="en-IN" dirty="0"/>
              <a:t>A person has a location: Person → Rahul</a:t>
            </a:r>
          </a:p>
          <a:p>
            <a:r>
              <a:rPr lang="en-IN" dirty="0"/>
              <a:t>But knowing the person's name/location isn't enough to recognize them.</a:t>
            </a:r>
          </a:p>
          <a:p>
            <a:r>
              <a:rPr lang="en-IN" dirty="0"/>
              <a:t>We can use their </a:t>
            </a:r>
            <a:r>
              <a:rPr lang="en-IN" b="1" dirty="0"/>
              <a:t>fingerprint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Rahul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Fingerprint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Unique pattern</a:t>
            </a:r>
          </a:p>
        </p:txBody>
      </p:sp>
    </p:spTree>
    <p:extLst>
      <p:ext uri="{BB962C8B-B14F-4D97-AF65-F5344CB8AC3E}">
        <p14:creationId xmlns:p14="http://schemas.microsoft.com/office/powerpoint/2010/main" val="340805469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7879B0-25C9-8B2E-88B2-0191B3B7E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577" y="465992"/>
            <a:ext cx="10401299" cy="571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5091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766FD-ACEF-DDE4-5493-5B3F43C24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-404446"/>
            <a:ext cx="10515600" cy="658140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APPLE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Choose a KEYPOINT ●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Look at the area around ●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Find brightness changes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These changes create EDGES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Measure their direction + strength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These measurements are GRADIENTS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Put the information into numbers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128 numbers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DESCRIPTOR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73302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B184-DF3D-10A7-8F3F-E596748C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2AE55-8D69-FC8B-E853-904FE766E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en-IN" b="1" dirty="0" err="1"/>
              <a:t>dge</a:t>
            </a:r>
            <a:r>
              <a:rPr lang="en-IN" b="1" dirty="0"/>
              <a:t> = where brightness changes.</a:t>
            </a:r>
            <a:br>
              <a:rPr lang="en-IN" dirty="0"/>
            </a:br>
            <a:r>
              <a:rPr lang="en-IN" b="1" dirty="0"/>
              <a:t>Gradient = how much and which direction brightness changes.</a:t>
            </a:r>
            <a:br>
              <a:rPr lang="en-IN" dirty="0"/>
            </a:br>
            <a:r>
              <a:rPr lang="en-IN" b="1" dirty="0"/>
              <a:t>Descriptor = numerical summary of these patterns around a </a:t>
            </a:r>
            <a:r>
              <a:rPr lang="en-IN" b="1" dirty="0" err="1"/>
              <a:t>keypoint</a:t>
            </a:r>
            <a:r>
              <a:rPr lang="en-IN" b="1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31030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A4E1-B71A-2E94-626B-61BCA6058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B5789-6324-9D13-D24D-EF97CCC84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</a:t>
            </a:r>
            <a:r>
              <a:rPr lang="en-IN" dirty="0" err="1"/>
              <a:t>reate</a:t>
            </a:r>
            <a:r>
              <a:rPr lang="en-IN" dirty="0"/>
              <a:t> a Brute-Force Matcher</a:t>
            </a:r>
          </a:p>
          <a:p>
            <a:r>
              <a:rPr lang="en-IN" b="1" dirty="0"/>
              <a:t>Brute-Force Matcher</a:t>
            </a:r>
            <a:endParaRPr lang="en-IN" dirty="0"/>
          </a:p>
          <a:p>
            <a:r>
              <a:rPr lang="en-IN" dirty="0"/>
              <a:t>Its job is to compare descriptors from the first image with descriptors from the second image.</a:t>
            </a:r>
          </a:p>
          <a:p>
            <a:r>
              <a:rPr lang="en-IN" dirty="0"/>
              <a:t>Imagine image 1 has:</a:t>
            </a:r>
          </a:p>
          <a:p>
            <a:r>
              <a:rPr lang="en-IN" dirty="0"/>
              <a:t>A1</a:t>
            </a:r>
          </a:p>
          <a:p>
            <a:r>
              <a:rPr lang="en-IN" dirty="0"/>
              <a:t>A2</a:t>
            </a:r>
          </a:p>
          <a:p>
            <a:r>
              <a:rPr lang="en-IN" dirty="0"/>
              <a:t>A3</a:t>
            </a:r>
          </a:p>
          <a:p>
            <a:r>
              <a:rPr lang="en-IN" dirty="0"/>
              <a:t>A4</a:t>
            </a:r>
          </a:p>
          <a:p>
            <a:r>
              <a:rPr lang="en-IN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7296474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C2E4-66A9-B1E2-0A69-D171080F4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D18CA-B157-45E6-3004-C1F910E0B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and image 2 has:</a:t>
            </a:r>
          </a:p>
          <a:p>
            <a:r>
              <a:rPr lang="en-IN" dirty="0"/>
              <a:t>B1</a:t>
            </a:r>
          </a:p>
          <a:p>
            <a:r>
              <a:rPr lang="en-IN" dirty="0"/>
              <a:t>B2</a:t>
            </a:r>
          </a:p>
          <a:p>
            <a:r>
              <a:rPr lang="en-IN" dirty="0"/>
              <a:t>B3</a:t>
            </a:r>
          </a:p>
          <a:p>
            <a:r>
              <a:rPr lang="en-IN" dirty="0"/>
              <a:t>B4</a:t>
            </a:r>
          </a:p>
          <a:p>
            <a:r>
              <a:rPr lang="en-IN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57635250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6FAD-E2A6-13B4-E809-DBC40EEA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422C5-97FF-BAA1-8586-782201C18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The matcher asks:</a:t>
            </a:r>
          </a:p>
          <a:p>
            <a:r>
              <a:rPr lang="en-US" dirty="0"/>
              <a:t>Does A1 look like B1?</a:t>
            </a:r>
          </a:p>
          <a:p>
            <a:r>
              <a:rPr lang="en-US" dirty="0"/>
              <a:t>Does A1 look like B2?</a:t>
            </a:r>
          </a:p>
          <a:p>
            <a:r>
              <a:rPr lang="en-US" dirty="0"/>
              <a:t>Does A1 look like B3?</a:t>
            </a:r>
          </a:p>
          <a:p>
            <a:r>
              <a:rPr lang="en-US" dirty="0"/>
              <a:t>...</a:t>
            </a:r>
          </a:p>
          <a:p>
            <a:endParaRPr lang="en-US" dirty="0"/>
          </a:p>
          <a:p>
            <a:r>
              <a:rPr lang="en-IN" dirty="0"/>
              <a:t>Then:</a:t>
            </a:r>
          </a:p>
          <a:p>
            <a:r>
              <a:rPr lang="en-IN" dirty="0"/>
              <a:t>Does A2 look like B1?</a:t>
            </a:r>
          </a:p>
          <a:p>
            <a:r>
              <a:rPr lang="en-IN" dirty="0"/>
              <a:t>Does A2 look like B2?</a:t>
            </a:r>
          </a:p>
          <a:p>
            <a:r>
              <a:rPr lang="en-IN" dirty="0"/>
              <a:t>...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074820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13193-8E7E-E6E5-05E7-9EB10244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96D97-1DC5-DEB5-43A0-4884006AC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That's why it is called </a:t>
            </a:r>
            <a:r>
              <a:rPr lang="en-IN" b="1" dirty="0"/>
              <a:t>brute force</a:t>
            </a:r>
            <a:r>
              <a:rPr lang="en-IN" dirty="0"/>
              <a:t>: it compares descriptors directly rather than using a more advanced search structure.</a:t>
            </a:r>
          </a:p>
          <a:p>
            <a:endParaRPr lang="en-IN" dirty="0"/>
          </a:p>
          <a:p>
            <a:r>
              <a:rPr lang="en-IN" dirty="0"/>
              <a:t>Find the two nearest matches</a:t>
            </a:r>
          </a:p>
          <a:p>
            <a:r>
              <a:rPr lang="en-US" dirty="0"/>
              <a:t>matches = </a:t>
            </a:r>
            <a:r>
              <a:rPr lang="en-US" dirty="0" err="1"/>
              <a:t>bf.knnMatch</a:t>
            </a:r>
            <a:r>
              <a:rPr lang="en-US" dirty="0"/>
              <a:t>(    descriptors1,    descriptors2,    k=2)</a:t>
            </a:r>
          </a:p>
          <a:p>
            <a:r>
              <a:rPr lang="en-IN" dirty="0" err="1"/>
              <a:t>knnMatch</a:t>
            </a:r>
            <a:r>
              <a:rPr lang="en-IN" dirty="0"/>
              <a:t>() means </a:t>
            </a:r>
            <a:r>
              <a:rPr lang="en-IN" b="1" dirty="0"/>
              <a:t>K-nearest-</a:t>
            </a:r>
            <a:r>
              <a:rPr lang="en-IN" b="1" dirty="0" err="1"/>
              <a:t>neighbor</a:t>
            </a:r>
            <a:r>
              <a:rPr lang="en-IN" b="1" dirty="0"/>
              <a:t> matching</a:t>
            </a:r>
            <a:r>
              <a:rPr lang="en-IN" dirty="0"/>
              <a:t>.</a:t>
            </a:r>
          </a:p>
          <a:p>
            <a:r>
              <a:rPr lang="en-IN" dirty="0"/>
              <a:t>So for every descriptor in image 1, OpenCV finds its </a:t>
            </a:r>
            <a:r>
              <a:rPr lang="en-IN" b="1" dirty="0"/>
              <a:t>two closest descriptors</a:t>
            </a:r>
            <a:r>
              <a:rPr lang="en-IN" dirty="0"/>
              <a:t> in image 2.</a:t>
            </a:r>
          </a:p>
        </p:txBody>
      </p:sp>
    </p:spTree>
    <p:extLst>
      <p:ext uri="{BB962C8B-B14F-4D97-AF65-F5344CB8AC3E}">
        <p14:creationId xmlns:p14="http://schemas.microsoft.com/office/powerpoint/2010/main" val="58683310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58C2-838D-7EA6-13F6-134A675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3DD57-3F1B-7994-6E95-9B8510FA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Keep only good matches</a:t>
            </a:r>
          </a:p>
          <a:p>
            <a:r>
              <a:rPr lang="en-US" dirty="0" err="1"/>
              <a:t>good_matches</a:t>
            </a:r>
            <a:r>
              <a:rPr lang="en-US" dirty="0"/>
              <a:t> = []</a:t>
            </a:r>
          </a:p>
          <a:p>
            <a:endParaRPr lang="en-US" dirty="0"/>
          </a:p>
          <a:p>
            <a:r>
              <a:rPr lang="en-US" dirty="0"/>
              <a:t>for m, n in matches:</a:t>
            </a:r>
          </a:p>
          <a:p>
            <a:endParaRPr lang="en-US" dirty="0"/>
          </a:p>
          <a:p>
            <a:r>
              <a:rPr lang="en-US" dirty="0"/>
              <a:t>    if </a:t>
            </a:r>
            <a:r>
              <a:rPr lang="en-US" dirty="0" err="1"/>
              <a:t>m.distance</a:t>
            </a:r>
            <a:r>
              <a:rPr lang="en-US" dirty="0"/>
              <a:t> &lt; 0.7 * </a:t>
            </a:r>
            <a:r>
              <a:rPr lang="en-US" dirty="0" err="1"/>
              <a:t>n.distance</a:t>
            </a:r>
            <a:r>
              <a:rPr lang="en-US" dirty="0"/>
              <a:t>:</a:t>
            </a:r>
          </a:p>
          <a:p>
            <a:r>
              <a:rPr lang="en-US" dirty="0"/>
              <a:t>        </a:t>
            </a:r>
            <a:r>
              <a:rPr lang="en-US" dirty="0" err="1"/>
              <a:t>good_matches.append</a:t>
            </a:r>
            <a:r>
              <a:rPr lang="en-US" dirty="0"/>
              <a:t>(m)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956249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4F93-6AC8-8CF1-0534-FFB99147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91B70-F0E0-705B-494E-EB815016D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is called the </a:t>
            </a:r>
            <a:r>
              <a:rPr lang="en-IN" b="1" dirty="0"/>
              <a:t>Lowe's ratio test</a:t>
            </a:r>
            <a:r>
              <a:rPr lang="en-IN" dirty="0"/>
              <a:t>.</a:t>
            </a:r>
          </a:p>
          <a:p>
            <a:r>
              <a:rPr lang="en-IN" dirty="0"/>
              <a:t>This is used to remove unreliable matches.</a:t>
            </a:r>
          </a:p>
          <a:p>
            <a:r>
              <a:rPr lang="en-IN" dirty="0"/>
              <a:t>Suppose for one </a:t>
            </a:r>
            <a:r>
              <a:rPr lang="en-IN" dirty="0" err="1"/>
              <a:t>keypoint</a:t>
            </a:r>
            <a:r>
              <a:rPr lang="en-IN" dirty="0"/>
              <a:t>:</a:t>
            </a:r>
          </a:p>
          <a:p>
            <a:r>
              <a:rPr lang="en-US" dirty="0"/>
              <a:t>Best match distance = 20</a:t>
            </a:r>
          </a:p>
          <a:p>
            <a:r>
              <a:rPr lang="en-US" dirty="0"/>
              <a:t>Second-best distance = 80</a:t>
            </a:r>
          </a:p>
          <a:p>
            <a:r>
              <a:rPr lang="en-IN" dirty="0"/>
              <a:t>The condition is:</a:t>
            </a:r>
          </a:p>
          <a:p>
            <a:r>
              <a:rPr lang="en-IN" dirty="0"/>
              <a:t>20 &lt; 0.7 × 80</a:t>
            </a:r>
          </a:p>
          <a:p>
            <a:r>
              <a:rPr lang="en-IN" dirty="0"/>
              <a:t>which becomes:</a:t>
            </a:r>
          </a:p>
        </p:txBody>
      </p:sp>
    </p:spTree>
    <p:extLst>
      <p:ext uri="{BB962C8B-B14F-4D97-AF65-F5344CB8AC3E}">
        <p14:creationId xmlns:p14="http://schemas.microsoft.com/office/powerpoint/2010/main" val="33486364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A7EFA-71DE-24E4-6542-C325411F3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08CEA-37BA-198E-C603-A294F87FE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20 &lt; 56</a:t>
            </a:r>
          </a:p>
          <a:p>
            <a:r>
              <a:rPr lang="en-IN" dirty="0"/>
              <a:t>That's true.</a:t>
            </a:r>
          </a:p>
          <a:p>
            <a:r>
              <a:rPr lang="en-IN" dirty="0"/>
              <a:t>So we keep the match.</a:t>
            </a:r>
          </a:p>
          <a:p>
            <a:r>
              <a:rPr lang="en-IN" dirty="0"/>
              <a:t>What does distance mean?</a:t>
            </a:r>
          </a:p>
          <a:p>
            <a:r>
              <a:rPr lang="en-IN" dirty="0"/>
              <a:t>The descriptor consists of numbers.</a:t>
            </a:r>
          </a:p>
          <a:p>
            <a:r>
              <a:rPr lang="en-IN" dirty="0"/>
              <a:t>The matcher compares two descriptors.</a:t>
            </a:r>
          </a:p>
          <a:p>
            <a:r>
              <a:rPr lang="en-IN" dirty="0"/>
              <a:t>If they are very similar: small distance</a:t>
            </a:r>
          </a:p>
          <a:p>
            <a:r>
              <a:rPr lang="en-IN" dirty="0"/>
              <a:t>If they are very different: large distance</a:t>
            </a:r>
          </a:p>
        </p:txBody>
      </p:sp>
    </p:spTree>
    <p:extLst>
      <p:ext uri="{BB962C8B-B14F-4D97-AF65-F5344CB8AC3E}">
        <p14:creationId xmlns:p14="http://schemas.microsoft.com/office/powerpoint/2010/main" val="59945054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8F27-C45D-D7BA-30BA-12FFCB9A8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0BBA9-5723-5433-7F4C-8ECE24621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0.7 controls how strict the test is.</a:t>
            </a:r>
          </a:p>
          <a:p>
            <a:r>
              <a:rPr lang="en-IN" dirty="0"/>
              <a:t>A lower value generally makes the test </a:t>
            </a:r>
            <a:r>
              <a:rPr lang="en-IN" b="1" dirty="0"/>
              <a:t>stricter</a:t>
            </a:r>
            <a:r>
              <a:rPr lang="en-IN" dirty="0"/>
              <a:t>, producing fewer but potentially more reliable matches.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48307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E5CD2-2FCB-983D-B299-73785FFD5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085"/>
            <a:ext cx="10515600" cy="558787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SURF = Speeded-Up Robust Features</a:t>
            </a:r>
          </a:p>
          <a:p>
            <a:r>
              <a:rPr lang="en-IN" dirty="0"/>
              <a:t>Its basic job is also:</a:t>
            </a:r>
          </a:p>
          <a:p>
            <a:r>
              <a:rPr lang="en-IN" b="1" dirty="0"/>
              <a:t>find important points → describe them → match them between images</a:t>
            </a:r>
            <a:endParaRPr lang="en-IN" dirty="0"/>
          </a:p>
          <a:p>
            <a:r>
              <a:rPr lang="en-IN" dirty="0"/>
              <a:t>First, what problem is SURF solving?</a:t>
            </a:r>
          </a:p>
          <a:p>
            <a:r>
              <a:rPr lang="en-IN" dirty="0"/>
              <a:t>Suppose you have two photos of the same apple:</a:t>
            </a:r>
          </a:p>
          <a:p>
            <a:r>
              <a:rPr lang="en-IN" dirty="0"/>
              <a:t>The camera may have moved.</a:t>
            </a:r>
          </a:p>
          <a:p>
            <a:r>
              <a:rPr lang="en-IN" dirty="0"/>
              <a:t>The apple might be:</a:t>
            </a:r>
          </a:p>
          <a:p>
            <a:pPr lvl="0"/>
            <a:r>
              <a:rPr lang="en-IN" dirty="0"/>
              <a:t>slightly bigger/smaller </a:t>
            </a:r>
          </a:p>
          <a:p>
            <a:pPr lvl="0"/>
            <a:r>
              <a:rPr lang="en-IN" dirty="0"/>
              <a:t>rotated </a:t>
            </a:r>
          </a:p>
          <a:p>
            <a:pPr lvl="0"/>
            <a:r>
              <a:rPr lang="en-IN" dirty="0"/>
              <a:t>moved to another position </a:t>
            </a:r>
          </a:p>
          <a:p>
            <a:pPr lvl="0"/>
            <a:r>
              <a:rPr lang="en-IN" dirty="0"/>
              <a:t>viewed under somewhat different conditions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95886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AFD2-BCE6-ADAF-2FBD-B9CE6EAD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72731-DC2C-E73A-9898-51921A4B6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want the computer to realize:</a:t>
            </a:r>
          </a:p>
          <a:p>
            <a:r>
              <a:rPr lang="en-IN" dirty="0"/>
              <a:t>"These two images contain the same object."</a:t>
            </a:r>
          </a:p>
          <a:p>
            <a:r>
              <a:rPr lang="en-IN" dirty="0"/>
              <a:t>SURF helps us do that.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12197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6DAA-078A-257A-D636-7878806B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3310A3-2CB3-480D-1959-5AEAAA136F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898017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39064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SURF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147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Scale-Invariant Feature Transform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Speeded-Up Robust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150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Difference of Gaussians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Hessian-based detector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356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Descriptor usually 128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Descriptor usually 64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25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Relatively computationally 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Designed to be 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814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image gradients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Haar wavelet responses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686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Robust to scale/rotation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Robust to scale/rotation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85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52427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D666B-F14E-A0E5-EFF7-362AAC8D8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769"/>
            <a:ext cx="10515600" cy="59131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 IMAGE</a:t>
            </a:r>
          </a:p>
          <a:p>
            <a:pPr marL="0" indent="0">
              <a:buNone/>
            </a:pPr>
            <a:r>
              <a:rPr lang="en-IN" dirty="0"/>
              <a:t>                   │</a:t>
            </a:r>
          </a:p>
          <a:p>
            <a:pPr marL="0" indent="0">
              <a:buNone/>
            </a:pPr>
            <a:r>
              <a:rPr lang="en-IN" dirty="0"/>
              <a:t>                   ↓</a:t>
            </a:r>
          </a:p>
          <a:p>
            <a:pPr marL="0" indent="0">
              <a:buNone/>
            </a:pPr>
            <a:r>
              <a:rPr lang="en-IN" dirty="0"/>
              <a:t>          Find interesting points</a:t>
            </a:r>
          </a:p>
          <a:p>
            <a:pPr marL="0" indent="0">
              <a:buNone/>
            </a:pPr>
            <a:r>
              <a:rPr lang="en-IN" dirty="0"/>
              <a:t>                   │</a:t>
            </a:r>
          </a:p>
          <a:p>
            <a:pPr marL="0" indent="0">
              <a:buNone/>
            </a:pPr>
            <a:r>
              <a:rPr lang="en-IN" dirty="0"/>
              <a:t>                   ↓</a:t>
            </a:r>
          </a:p>
          <a:p>
            <a:pPr marL="0" indent="0">
              <a:buNone/>
            </a:pPr>
            <a:r>
              <a:rPr lang="en-IN" dirty="0"/>
              <a:t>              KEYPOINTS</a:t>
            </a:r>
          </a:p>
          <a:p>
            <a:pPr marL="0" indent="0">
              <a:buNone/>
            </a:pPr>
            <a:r>
              <a:rPr lang="en-IN" dirty="0"/>
              <a:t>                   │</a:t>
            </a:r>
          </a:p>
          <a:p>
            <a:pPr marL="0" indent="0">
              <a:buNone/>
            </a:pPr>
            <a:r>
              <a:rPr lang="en-IN" dirty="0"/>
              <a:t>                   ↓</a:t>
            </a:r>
          </a:p>
          <a:p>
            <a:pPr marL="0" indent="0">
              <a:buNone/>
            </a:pPr>
            <a:r>
              <a:rPr lang="en-IN" dirty="0"/>
              <a:t>        Describe each </a:t>
            </a:r>
            <a:r>
              <a:rPr lang="en-IN" dirty="0" err="1"/>
              <a:t>keypoint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│</a:t>
            </a:r>
          </a:p>
          <a:p>
            <a:pPr marL="0" indent="0">
              <a:buNone/>
            </a:pPr>
            <a:r>
              <a:rPr lang="en-IN" dirty="0"/>
              <a:t>                   ↓</a:t>
            </a:r>
          </a:p>
          <a:p>
            <a:pPr marL="0" indent="0">
              <a:buNone/>
            </a:pPr>
            <a:r>
              <a:rPr lang="en-IN" dirty="0"/>
              <a:t>             DESCRIPTORS</a:t>
            </a:r>
          </a:p>
          <a:p>
            <a:pPr marL="0" indent="0">
              <a:buNone/>
            </a:pPr>
            <a:r>
              <a:rPr lang="en-IN" dirty="0"/>
              <a:t>                   │</a:t>
            </a:r>
          </a:p>
          <a:p>
            <a:pPr marL="0" indent="0">
              <a:buNone/>
            </a:pPr>
            <a:r>
              <a:rPr lang="en-IN" dirty="0"/>
              <a:t>                   ↓</a:t>
            </a:r>
          </a:p>
          <a:p>
            <a:pPr marL="0" indent="0">
              <a:buNone/>
            </a:pPr>
            <a:r>
              <a:rPr lang="en-IN" dirty="0"/>
              <a:t>          Compare descriptors</a:t>
            </a:r>
          </a:p>
          <a:p>
            <a:pPr marL="0" indent="0">
              <a:buNone/>
            </a:pPr>
            <a:r>
              <a:rPr lang="en-IN" dirty="0"/>
              <a:t>                   │</a:t>
            </a:r>
          </a:p>
          <a:p>
            <a:pPr marL="0" indent="0">
              <a:buNone/>
            </a:pPr>
            <a:r>
              <a:rPr lang="en-IN" dirty="0"/>
              <a:t>                   ↓</a:t>
            </a:r>
          </a:p>
          <a:p>
            <a:pPr marL="0" indent="0">
              <a:buNone/>
            </a:pPr>
            <a:r>
              <a:rPr lang="en-IN" dirty="0"/>
              <a:t>              MATCHES</a:t>
            </a:r>
          </a:p>
        </p:txBody>
      </p:sp>
    </p:spTree>
    <p:extLst>
      <p:ext uri="{BB962C8B-B14F-4D97-AF65-F5344CB8AC3E}">
        <p14:creationId xmlns:p14="http://schemas.microsoft.com/office/powerpoint/2010/main" val="305983886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4D88-F13E-6ABF-48EB-410A0403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BF11D-E2E8-12C5-4983-F88D31D76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SIFT and SURF solve a similar problem, but they use different mathematics internally.</a:t>
            </a:r>
          </a:p>
          <a:p>
            <a:r>
              <a:rPr lang="en-IN" dirty="0"/>
              <a:t>What does "Speeded-Up" mean?</a:t>
            </a:r>
          </a:p>
          <a:p>
            <a:r>
              <a:rPr lang="en-IN" dirty="0"/>
              <a:t>This is one of the reasons SURF was created.</a:t>
            </a:r>
          </a:p>
          <a:p>
            <a:r>
              <a:rPr lang="en-IN" dirty="0"/>
              <a:t>Imagine you have a large image:</a:t>
            </a:r>
          </a:p>
          <a:p>
            <a:r>
              <a:rPr lang="en-IN" dirty="0"/>
              <a:t>2000 × 1500 pixels</a:t>
            </a:r>
          </a:p>
          <a:p>
            <a:r>
              <a:rPr lang="en-IN" dirty="0"/>
              <a:t>There are millions of pixels.</a:t>
            </a:r>
          </a:p>
          <a:p>
            <a:r>
              <a:rPr lang="en-IN" dirty="0"/>
              <a:t>If the algorithm performs expensive calculations everywhere, it can become slow.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90801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52FC1-2276-EF84-985A-2FC3E877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40506-8F31-BA28-9DC5-8D0184803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SURF uses a clever technique called an:</a:t>
            </a:r>
          </a:p>
          <a:p>
            <a:r>
              <a:rPr lang="en-IN" b="1" dirty="0"/>
              <a:t>Integral Image</a:t>
            </a:r>
            <a:endParaRPr lang="en-IN" dirty="0"/>
          </a:p>
          <a:p>
            <a:r>
              <a:rPr lang="en-IN" dirty="0"/>
              <a:t>This allows certain calculations to be performed much faster.</a:t>
            </a:r>
          </a:p>
          <a:p>
            <a:r>
              <a:rPr lang="en-IN" dirty="0"/>
              <a:t>Integral Image — simple explanation</a:t>
            </a:r>
          </a:p>
          <a:p>
            <a:r>
              <a:rPr lang="en-IN" dirty="0"/>
              <a:t>Suppose we have this tiny image:</a:t>
            </a:r>
          </a:p>
          <a:p>
            <a:r>
              <a:rPr lang="en-IN" dirty="0"/>
              <a:t>1  2  3</a:t>
            </a:r>
          </a:p>
          <a:p>
            <a:r>
              <a:rPr lang="en-IN" dirty="0"/>
              <a:t>4  5  6</a:t>
            </a:r>
          </a:p>
          <a:p>
            <a:r>
              <a:rPr lang="en-IN" dirty="0"/>
              <a:t>7  8  9</a:t>
            </a:r>
          </a:p>
        </p:txBody>
      </p:sp>
    </p:spTree>
    <p:extLst>
      <p:ext uri="{BB962C8B-B14F-4D97-AF65-F5344CB8AC3E}">
        <p14:creationId xmlns:p14="http://schemas.microsoft.com/office/powerpoint/2010/main" val="120256187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00B59-C0AF-C115-09C2-CDB50EA9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7E505-F394-3F5F-11BA-345C23CA8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Normally, if you want the sum of a rectangular region, you add the pixels individually.</a:t>
            </a:r>
          </a:p>
          <a:p>
            <a:r>
              <a:rPr lang="en-IN" dirty="0"/>
              <a:t>SURF creates another representation called an </a:t>
            </a:r>
            <a:r>
              <a:rPr lang="en-IN" b="1" dirty="0"/>
              <a:t>integral image</a:t>
            </a:r>
            <a:r>
              <a:rPr lang="en-IN" dirty="0"/>
              <a:t>.</a:t>
            </a:r>
          </a:p>
          <a:p>
            <a:r>
              <a:rPr lang="en-IN" dirty="0"/>
              <a:t>1    3     6</a:t>
            </a:r>
          </a:p>
          <a:p>
            <a:r>
              <a:rPr lang="en-IN" dirty="0"/>
              <a:t>5   12    21</a:t>
            </a:r>
          </a:p>
          <a:p>
            <a:r>
              <a:rPr lang="en-IN" dirty="0"/>
              <a:t>12  27    45</a:t>
            </a:r>
          </a:p>
          <a:p>
            <a:endParaRPr lang="en-IN" dirty="0"/>
          </a:p>
          <a:p>
            <a:r>
              <a:rPr lang="en-IN" dirty="0"/>
              <a:t>Each position represents the sum of pixels above and to the left.</a:t>
            </a:r>
          </a:p>
        </p:txBody>
      </p:sp>
    </p:spTree>
    <p:extLst>
      <p:ext uri="{BB962C8B-B14F-4D97-AF65-F5344CB8AC3E}">
        <p14:creationId xmlns:p14="http://schemas.microsoft.com/office/powerpoint/2010/main" val="258567137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0390-C1DB-24BA-60F5-9532DD422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70F26-9F11-B6F6-2D85-6EB758B08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 + 2 + 4 + 5 = 12</a:t>
            </a:r>
          </a:p>
          <a:p>
            <a:r>
              <a:rPr lang="en-IN" dirty="0"/>
              <a:t>So once this table has been created, rectangular sums can be calculated extremely quickly.</a:t>
            </a:r>
          </a:p>
          <a:p>
            <a:r>
              <a:rPr lang="en-IN" dirty="0"/>
              <a:t>This is useful because SURF performs lots of rectangular filter operations.</a:t>
            </a:r>
          </a:p>
          <a:p>
            <a:r>
              <a:rPr lang="en-IN" dirty="0"/>
              <a:t>SURF uses something called the:</a:t>
            </a:r>
          </a:p>
          <a:p>
            <a:r>
              <a:rPr lang="en-IN" b="1" dirty="0"/>
              <a:t>Hessian matrix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65052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EC3C-FB4F-0173-1BE7-E58ADDF52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0728B-9A8D-B3F8-1401-96401420B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</a:t>
            </a:r>
            <a:r>
              <a:rPr lang="en-IN" dirty="0"/>
              <a:t>RF looks for places where the image changes strongly in multiple directions.</a:t>
            </a:r>
          </a:p>
          <a:p>
            <a:r>
              <a:rPr lang="en-IN" dirty="0"/>
              <a:t>Mathematically, the Hessian matrix at a pixel looks like:</a:t>
            </a:r>
          </a:p>
          <a:p>
            <a:r>
              <a:rPr lang="es-ES" dirty="0"/>
              <a:t> [ </a:t>
            </a:r>
            <a:r>
              <a:rPr lang="es-ES" dirty="0" err="1"/>
              <a:t>Ixx</a:t>
            </a:r>
            <a:r>
              <a:rPr lang="es-ES" dirty="0"/>
              <a:t>   </a:t>
            </a:r>
            <a:r>
              <a:rPr lang="es-ES" dirty="0" err="1"/>
              <a:t>Ixy</a:t>
            </a:r>
            <a:r>
              <a:rPr lang="es-ES" dirty="0"/>
              <a:t> ]</a:t>
            </a:r>
          </a:p>
          <a:p>
            <a:r>
              <a:rPr lang="es-ES" dirty="0"/>
              <a:t>H(</a:t>
            </a:r>
            <a:r>
              <a:rPr lang="es-ES" dirty="0" err="1"/>
              <a:t>x,y</a:t>
            </a:r>
            <a:r>
              <a:rPr lang="es-ES" dirty="0"/>
              <a:t>) = [ </a:t>
            </a:r>
            <a:r>
              <a:rPr lang="es-ES" dirty="0" err="1"/>
              <a:t>Ixy</a:t>
            </a:r>
            <a:r>
              <a:rPr lang="es-ES" dirty="0"/>
              <a:t>   </a:t>
            </a:r>
            <a:r>
              <a:rPr lang="es-ES" dirty="0" err="1"/>
              <a:t>Iyy</a:t>
            </a:r>
            <a:r>
              <a:rPr lang="es-ES" dirty="0"/>
              <a:t> ]</a:t>
            </a:r>
          </a:p>
          <a:p>
            <a:r>
              <a:rPr lang="en-IN" dirty="0"/>
              <a:t>where:</a:t>
            </a:r>
          </a:p>
          <a:p>
            <a:pPr lvl="0"/>
            <a:r>
              <a:rPr lang="en-IN" dirty="0" err="1"/>
              <a:t>Ixx</a:t>
            </a:r>
            <a:r>
              <a:rPr lang="en-IN" dirty="0"/>
              <a:t> = second derivative in x direction </a:t>
            </a:r>
          </a:p>
          <a:p>
            <a:pPr lvl="0"/>
            <a:r>
              <a:rPr lang="en-IN" dirty="0" err="1"/>
              <a:t>Iyy</a:t>
            </a:r>
            <a:r>
              <a:rPr lang="en-IN" dirty="0"/>
              <a:t> = second derivative in y direction </a:t>
            </a:r>
          </a:p>
          <a:p>
            <a:pPr lvl="0"/>
            <a:r>
              <a:rPr lang="en-IN" dirty="0" err="1"/>
              <a:t>Ixy</a:t>
            </a:r>
            <a:r>
              <a:rPr lang="en-IN" dirty="0"/>
              <a:t> = mixed derivative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4883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8941F-60B2-B25B-9E86-B39322B8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B26F4-7E71-2503-325D-561971AC2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det(H) = Ixx × Iyy - Ixy²</a:t>
            </a:r>
          </a:p>
          <a:p>
            <a:r>
              <a:rPr lang="en-IN" dirty="0"/>
              <a:t>A strong response indicates a potentially interesting feature.</a:t>
            </a:r>
          </a:p>
          <a:p>
            <a:r>
              <a:rPr lang="en-IN" dirty="0"/>
              <a:t>Hessian matrix → tells SURF whether a location looks like a strong feature.</a:t>
            </a:r>
          </a:p>
          <a:p>
            <a:r>
              <a:rPr lang="en-IN" dirty="0"/>
              <a:t>Why does SURF use a box filter?</a:t>
            </a:r>
          </a:p>
          <a:p>
            <a:r>
              <a:rPr lang="en-IN" dirty="0"/>
              <a:t>Actually calculating Gaussian second derivatives can be expensive.</a:t>
            </a:r>
          </a:p>
          <a:p>
            <a:r>
              <a:rPr lang="en-IN" dirty="0"/>
              <a:t>SURF approximates them using </a:t>
            </a:r>
            <a:r>
              <a:rPr lang="en-IN" b="1" dirty="0"/>
              <a:t>box filters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128403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053DA-09A5-A954-EE00-53DB4064F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4108"/>
            <a:ext cx="10515600" cy="5842855"/>
          </a:xfrm>
        </p:spPr>
        <p:txBody>
          <a:bodyPr/>
          <a:lstStyle/>
          <a:p>
            <a:r>
              <a:rPr lang="en-IN" dirty="0"/>
              <a:t>And because SURF uses integral images, these box-filter calculations become very fast.</a:t>
            </a:r>
          </a:p>
          <a:p>
            <a:r>
              <a:rPr lang="en-IN" dirty="0"/>
              <a:t>That's where the </a:t>
            </a:r>
            <a:r>
              <a:rPr lang="en-IN" b="1" dirty="0"/>
              <a:t>"Speeded Up"</a:t>
            </a:r>
            <a:r>
              <a:rPr lang="en-IN" dirty="0"/>
              <a:t> in SURF comes from.</a:t>
            </a:r>
          </a:p>
          <a:p>
            <a:endParaRPr lang="en-IN" dirty="0"/>
          </a:p>
          <a:p>
            <a:r>
              <a:rPr lang="en-IN" dirty="0"/>
              <a:t>SURF needs to handle different sizes</a:t>
            </a:r>
          </a:p>
          <a:p>
            <a:r>
              <a:rPr lang="en-IN" dirty="0"/>
              <a:t>Suppose we photograph an apple.</a:t>
            </a:r>
          </a:p>
          <a:p>
            <a:r>
              <a:rPr lang="en-IN" dirty="0"/>
              <a:t>The second apple is larger.</a:t>
            </a:r>
          </a:p>
          <a:p>
            <a:r>
              <a:rPr lang="en-IN" dirty="0"/>
              <a:t>A good feature detector should still recognize corresponding points.</a:t>
            </a:r>
          </a:p>
          <a:p>
            <a:r>
              <a:rPr lang="en-IN" dirty="0"/>
              <a:t>SURF therefore works across different </a:t>
            </a:r>
            <a:r>
              <a:rPr lang="en-IN" b="1" dirty="0"/>
              <a:t>scales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83763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EA824-8A96-798B-9959-C241C8DFC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Scale-Space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A271F-5826-1539-7EA1-B4A2B7A69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SURF creates different filter sizes rather than repeatedly creating expensive blurred images like SIFT.</a:t>
            </a:r>
          </a:p>
          <a:p>
            <a:r>
              <a:rPr lang="en-IN" dirty="0"/>
              <a:t>It examines the Hessian response at these different scales.</a:t>
            </a:r>
          </a:p>
          <a:p>
            <a:r>
              <a:rPr lang="en-IN" dirty="0"/>
              <a:t>If a feature produces a strong response at a particular scale, SURF can identify:</a:t>
            </a:r>
          </a:p>
          <a:p>
            <a:r>
              <a:rPr lang="en-IN" dirty="0"/>
              <a:t>"This is an interesting feature at this size."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109421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0C141-D269-C619-9F5F-C0D78361D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2177"/>
            <a:ext cx="10515600" cy="5464786"/>
          </a:xfrm>
        </p:spPr>
        <p:txBody>
          <a:bodyPr/>
          <a:lstStyle/>
          <a:p>
            <a:r>
              <a:rPr lang="en-IN" dirty="0"/>
              <a:t>After finding a </a:t>
            </a:r>
            <a:r>
              <a:rPr lang="en-IN" dirty="0" err="1"/>
              <a:t>keypoint</a:t>
            </a:r>
            <a:r>
              <a:rPr lang="en-IN" dirty="0"/>
              <a:t>, SURF needs a descriptor</a:t>
            </a:r>
          </a:p>
          <a:p>
            <a:r>
              <a:rPr lang="en-IN" dirty="0"/>
              <a:t>Now we arrive at the part you struggled with in SIFT.</a:t>
            </a:r>
          </a:p>
          <a:p>
            <a:r>
              <a:rPr lang="en-IN" dirty="0"/>
              <a:t>SURF also needs a </a:t>
            </a:r>
            <a:r>
              <a:rPr lang="en-IN" b="1" dirty="0"/>
              <a:t>descriptor</a:t>
            </a:r>
            <a:r>
              <a:rPr lang="en-IN" dirty="0"/>
              <a:t>.</a:t>
            </a:r>
          </a:p>
          <a:p>
            <a:r>
              <a:rPr lang="en-IN" dirty="0"/>
              <a:t>Remember:</a:t>
            </a:r>
          </a:p>
          <a:p>
            <a:r>
              <a:rPr lang="en-IN" b="1" dirty="0" err="1"/>
              <a:t>Keypoint</a:t>
            </a:r>
            <a:r>
              <a:rPr lang="en-IN" b="1" dirty="0"/>
              <a:t> = WHERE</a:t>
            </a:r>
            <a:endParaRPr lang="en-IN" dirty="0"/>
          </a:p>
          <a:p>
            <a:r>
              <a:rPr lang="en-IN" dirty="0"/>
              <a:t>and</a:t>
            </a:r>
          </a:p>
          <a:p>
            <a:r>
              <a:rPr lang="en-IN" b="1" dirty="0"/>
              <a:t>Descriptor = WHAT THE AREA AROUND IT LOOKS LIKE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52044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C4B1-266B-0227-1E6B-B71D12266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8261A-5274-2691-6C7D-E46463594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IN" dirty="0" err="1"/>
              <a:t>uppose</a:t>
            </a:r>
            <a:r>
              <a:rPr lang="en-IN" dirty="0"/>
              <a:t> SURF finds a point on an apple:</a:t>
            </a:r>
            <a:br>
              <a:rPr lang="en-IN" dirty="0"/>
            </a:br>
            <a:r>
              <a:rPr lang="en-IN" dirty="0"/>
              <a:t>SURF looks at the </a:t>
            </a:r>
            <a:r>
              <a:rPr lang="en-IN" dirty="0" err="1"/>
              <a:t>neighborhood</a:t>
            </a:r>
            <a:r>
              <a:rPr lang="en-IN" dirty="0"/>
              <a:t> around that point.</a:t>
            </a:r>
          </a:p>
          <a:p>
            <a:r>
              <a:rPr lang="en-IN" dirty="0"/>
              <a:t>It </a:t>
            </a:r>
            <a:r>
              <a:rPr lang="en-IN" dirty="0" err="1"/>
              <a:t>analyzes</a:t>
            </a:r>
            <a:r>
              <a:rPr lang="en-IN" dirty="0"/>
              <a:t> the local pattern.</a:t>
            </a:r>
          </a:p>
        </p:txBody>
      </p:sp>
    </p:spTree>
    <p:extLst>
      <p:ext uri="{BB962C8B-B14F-4D97-AF65-F5344CB8AC3E}">
        <p14:creationId xmlns:p14="http://schemas.microsoft.com/office/powerpoint/2010/main" val="170832390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1E8E-9192-B91B-FCF5-D77C58DC8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05AB1-CC06-0796-FF87-AA2CE503D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nfeatures</a:t>
            </a:r>
            <a:r>
              <a:rPr lang="en-IN" dirty="0"/>
              <a:t>=0</a:t>
            </a:r>
          </a:p>
          <a:p>
            <a:r>
              <a:rPr lang="en-IN" dirty="0"/>
              <a:t>This controls the </a:t>
            </a:r>
            <a:r>
              <a:rPr lang="en-IN" b="1" dirty="0"/>
              <a:t>maximum number of features</a:t>
            </a:r>
            <a:r>
              <a:rPr lang="en-IN" dirty="0"/>
              <a:t> SIFT keeps.</a:t>
            </a:r>
          </a:p>
          <a:p>
            <a:r>
              <a:rPr lang="en-IN" b="1" dirty="0"/>
              <a:t>0 means:</a:t>
            </a:r>
          </a:p>
          <a:p>
            <a:r>
              <a:rPr lang="en-IN" dirty="0"/>
              <a:t>Don't impose a maximum limit.</a:t>
            </a:r>
          </a:p>
          <a:p>
            <a:r>
              <a:rPr lang="en-IN" dirty="0" err="1"/>
              <a:t>contrastThreshold</a:t>
            </a:r>
            <a:r>
              <a:rPr lang="en-IN" dirty="0"/>
              <a:t>=0.04</a:t>
            </a:r>
          </a:p>
          <a:p>
            <a:r>
              <a:rPr lang="en-IN" dirty="0"/>
              <a:t>This controls </a:t>
            </a:r>
            <a:r>
              <a:rPr lang="en-IN" b="1" dirty="0"/>
              <a:t>how strong a feature must be</a:t>
            </a:r>
            <a:r>
              <a:rPr lang="en-IN" dirty="0"/>
              <a:t> before SIFT considers it useful.</a:t>
            </a:r>
          </a:p>
          <a:p>
            <a:r>
              <a:rPr lang="en-IN" dirty="0"/>
              <a:t>Think about these two areas:</a:t>
            </a:r>
          </a:p>
        </p:txBody>
      </p:sp>
    </p:spTree>
    <p:extLst>
      <p:ext uri="{BB962C8B-B14F-4D97-AF65-F5344CB8AC3E}">
        <p14:creationId xmlns:p14="http://schemas.microsoft.com/office/powerpoint/2010/main" val="384643744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9BB67-D5D1-6DC5-4D03-904BB8B79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5269"/>
            <a:ext cx="10515600" cy="5341694"/>
          </a:xfrm>
        </p:spPr>
        <p:txBody>
          <a:bodyPr/>
          <a:lstStyle/>
          <a:p>
            <a:r>
              <a:rPr lang="en-IN" dirty="0"/>
              <a:t>Strong feature: There is a strong difference between </a:t>
            </a:r>
            <a:r>
              <a:rPr lang="en-IN" dirty="0" err="1"/>
              <a:t>neighboring</a:t>
            </a:r>
            <a:r>
              <a:rPr lang="en-IN" dirty="0"/>
              <a:t> pixels.</a:t>
            </a:r>
          </a:p>
          <a:p>
            <a:r>
              <a:rPr lang="en-IN" dirty="0"/>
              <a:t>Weak feature: There isn't much contrast.</a:t>
            </a:r>
          </a:p>
          <a:p>
            <a:r>
              <a:rPr lang="en-IN" dirty="0"/>
              <a:t>SIFT tries to ignore weak/low-contrast points.</a:t>
            </a:r>
          </a:p>
          <a:p>
            <a:r>
              <a:rPr lang="en-IN" dirty="0" err="1"/>
              <a:t>contrastThreshold</a:t>
            </a:r>
            <a:r>
              <a:rPr lang="en-IN" dirty="0"/>
              <a:t>=0.02 SIFT becomes more sensitive.</a:t>
            </a:r>
          </a:p>
          <a:p>
            <a:pPr marL="0" indent="0">
              <a:buNone/>
            </a:pPr>
            <a:r>
              <a:rPr lang="en-US" dirty="0"/>
              <a:t>More </a:t>
            </a:r>
            <a:r>
              <a:rPr lang="en-US" dirty="0" err="1"/>
              <a:t>keypoints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dirty="0"/>
              <a:t>More possible matches</a:t>
            </a:r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dirty="0"/>
              <a:t>More noise/weak features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5608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9138-82E5-721C-E0B4-5AF99306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5A78C-8A25-3CAB-D3EE-3B824674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Higher value</a:t>
            </a:r>
          </a:p>
          <a:p>
            <a:r>
              <a:rPr lang="en-IN" dirty="0" err="1"/>
              <a:t>contrastThreshold</a:t>
            </a:r>
            <a:r>
              <a:rPr lang="en-IN" dirty="0"/>
              <a:t>=0.08</a:t>
            </a:r>
          </a:p>
          <a:p>
            <a:r>
              <a:rPr lang="en-IN" dirty="0"/>
              <a:t>SIFT becomes more selective.</a:t>
            </a:r>
          </a:p>
          <a:p>
            <a:pPr marL="0" indent="0">
              <a:buNone/>
            </a:pPr>
            <a:r>
              <a:rPr lang="en-US" dirty="0"/>
              <a:t>Fewer </a:t>
            </a:r>
            <a:r>
              <a:rPr lang="en-US" dirty="0" err="1"/>
              <a:t>keypoints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dirty="0"/>
              <a:t>Stronger features</a:t>
            </a:r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dirty="0"/>
              <a:t>Potentially fewer matches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6950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01CF5-E9D6-739E-CF05-7A094B8B6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2177"/>
            <a:ext cx="10515600" cy="5464786"/>
          </a:xfrm>
        </p:spPr>
        <p:txBody>
          <a:bodyPr/>
          <a:lstStyle/>
          <a:p>
            <a:r>
              <a:rPr lang="en-US" dirty="0"/>
              <a:t>0.02 → many features</a:t>
            </a:r>
          </a:p>
          <a:p>
            <a:r>
              <a:rPr lang="en-US" dirty="0"/>
              <a:t>0.04 → normal/default-like setting</a:t>
            </a:r>
          </a:p>
          <a:p>
            <a:r>
              <a:rPr lang="en-US" dirty="0"/>
              <a:t>0.08 → fewer, stronger features	</a:t>
            </a:r>
          </a:p>
          <a:p>
            <a:r>
              <a:rPr lang="en-IN" dirty="0"/>
              <a:t>0.04 is a commonly used value.</a:t>
            </a:r>
          </a:p>
          <a:p>
            <a:endParaRPr lang="en-IN" dirty="0"/>
          </a:p>
          <a:p>
            <a:r>
              <a:rPr lang="en-IN" dirty="0" err="1"/>
              <a:t>edgeThreshold</a:t>
            </a:r>
            <a:r>
              <a:rPr lang="en-IN" dirty="0"/>
              <a:t>=10</a:t>
            </a:r>
          </a:p>
          <a:p>
            <a:r>
              <a:rPr lang="en-IN" dirty="0"/>
              <a:t>This controls how SIFT handles </a:t>
            </a:r>
            <a:r>
              <a:rPr lang="en-IN" b="1" dirty="0"/>
              <a:t>features that look like edges</a:t>
            </a:r>
            <a:r>
              <a:rPr lang="en-IN" dirty="0"/>
              <a:t>.</a:t>
            </a:r>
          </a:p>
          <a:p>
            <a:r>
              <a:rPr lang="en-IN" dirty="0"/>
              <a:t>SIFT generally prefers distinctive points such as corners and textured regions.</a:t>
            </a:r>
          </a:p>
          <a:p>
            <a:r>
              <a:rPr lang="en-IN" dirty="0"/>
              <a:t>Consider a simple edge:</a:t>
            </a:r>
          </a:p>
        </p:txBody>
      </p:sp>
    </p:spTree>
    <p:extLst>
      <p:ext uri="{BB962C8B-B14F-4D97-AF65-F5344CB8AC3E}">
        <p14:creationId xmlns:p14="http://schemas.microsoft.com/office/powerpoint/2010/main" val="309889484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3A07E-54AD-DFF3-C88A-7B20625FF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9231"/>
            <a:ext cx="10515600" cy="5297732"/>
          </a:xfrm>
        </p:spPr>
        <p:txBody>
          <a:bodyPr/>
          <a:lstStyle/>
          <a:p>
            <a:r>
              <a:rPr lang="en-IN" dirty="0"/>
              <a:t>There is a strong edge, but not necessarily a distinctive point.</a:t>
            </a:r>
          </a:p>
          <a:p>
            <a:r>
              <a:rPr lang="en-IN" dirty="0"/>
              <a:t>SIFT can reject features that are too much like edges because they may not be reliable for matching.</a:t>
            </a:r>
          </a:p>
          <a:p>
            <a:r>
              <a:rPr lang="en-IN" b="1" dirty="0"/>
              <a:t>bigger value means less strict</a:t>
            </a:r>
          </a:p>
          <a:p>
            <a:r>
              <a:rPr lang="en-IN" dirty="0"/>
              <a:t>more strict about rejecting edge-like features</a:t>
            </a:r>
          </a:p>
          <a:p>
            <a:r>
              <a:rPr lang="en-IN" dirty="0" err="1"/>
              <a:t>edgeThreshold</a:t>
            </a:r>
            <a:r>
              <a:rPr lang="en-IN" dirty="0"/>
              <a:t>=10: standard/common value</a:t>
            </a:r>
          </a:p>
          <a:p>
            <a:r>
              <a:rPr lang="en-IN" dirty="0" err="1"/>
              <a:t>edgeThreshold</a:t>
            </a:r>
            <a:r>
              <a:rPr lang="en-IN" dirty="0"/>
              <a:t>=20: allows more edge-like features</a:t>
            </a:r>
          </a:p>
          <a:p>
            <a:r>
              <a:rPr lang="en-IN" dirty="0"/>
              <a:t>So increasing </a:t>
            </a:r>
            <a:r>
              <a:rPr lang="en-IN" dirty="0" err="1"/>
              <a:t>edgeThreshold</a:t>
            </a:r>
            <a:r>
              <a:rPr lang="en-IN" dirty="0"/>
              <a:t> generally results in </a:t>
            </a:r>
            <a:r>
              <a:rPr lang="en-IN" b="1" dirty="0"/>
              <a:t>more features being retained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88610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0EEC-25CC-FCB9-0FD4-27351AE4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9923C-B0EC-E4B7-C13B-027C045C5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sigma=1.6  : This controls the amount of </a:t>
            </a:r>
            <a:r>
              <a:rPr lang="en-IN" b="1" dirty="0"/>
              <a:t>Gaussian smoothing</a:t>
            </a:r>
            <a:r>
              <a:rPr lang="en-IN" dirty="0"/>
              <a:t> used at the initial stage of SIFT.</a:t>
            </a:r>
          </a:p>
          <a:p>
            <a:r>
              <a:rPr lang="en-IN" dirty="0"/>
              <a:t>You can think of it as controlling how much the image is blurred before SIFT looks for features.</a:t>
            </a:r>
          </a:p>
          <a:p>
            <a:r>
              <a:rPr lang="en-IN" dirty="0"/>
              <a:t>Less smoothing:</a:t>
            </a:r>
          </a:p>
          <a:p>
            <a:r>
              <a:rPr lang="en-IN" dirty="0"/>
              <a:t>More fine details</a:t>
            </a:r>
          </a:p>
          <a:p>
            <a:r>
              <a:rPr lang="en-IN" dirty="0"/>
              <a:t>More small features</a:t>
            </a:r>
          </a:p>
          <a:p>
            <a:r>
              <a:rPr lang="en-IN" dirty="0"/>
              <a:t>Potentially more noise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9776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EE34-D5A2-3704-E67E-AB881A9B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F4313-D720-A414-6B48-A4DAD6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Larger sigma = 2.0</a:t>
            </a:r>
          </a:p>
          <a:p>
            <a:r>
              <a:rPr lang="en-US" dirty="0"/>
              <a:t>Less fine detail</a:t>
            </a:r>
          </a:p>
          <a:p>
            <a:r>
              <a:rPr lang="en-US" dirty="0"/>
              <a:t>More emphasis on larger structures</a:t>
            </a:r>
          </a:p>
          <a:p>
            <a:r>
              <a:rPr lang="en-US" dirty="0"/>
              <a:t>Less sensitivity to tiny noise</a:t>
            </a:r>
          </a:p>
          <a:p>
            <a:r>
              <a:rPr lang="en-IN" dirty="0"/>
              <a:t>1.6 is the standard value used by SIFT's original formulation and is also OpenCV's default.</a:t>
            </a:r>
          </a:p>
          <a:p>
            <a:endParaRPr lang="en-IN" dirty="0"/>
          </a:p>
          <a:p>
            <a:r>
              <a:rPr lang="en-IN" b="1" dirty="0"/>
              <a:t>Find all useful features, reject very low-contrast features, don't be too strict about edge-like features, and use a standard amount of initial smoothing."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92094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41B8-6049-7ADB-4C7A-BA2F8B37B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CC2DE-CEBD-D27A-AB54-25E8AB12B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BFMatcher</a:t>
            </a:r>
            <a:r>
              <a:rPr lang="en-IN" dirty="0"/>
              <a:t>?</a:t>
            </a:r>
          </a:p>
          <a:p>
            <a:r>
              <a:rPr lang="en-IN" dirty="0"/>
              <a:t>Image 1                         Image 2</a:t>
            </a:r>
          </a:p>
          <a:p>
            <a:endParaRPr lang="en-IN" dirty="0"/>
          </a:p>
          <a:p>
            <a:r>
              <a:rPr lang="en-IN" dirty="0"/>
              <a:t>Descriptor 1                    Descriptor 1</a:t>
            </a:r>
          </a:p>
          <a:p>
            <a:r>
              <a:rPr lang="en-IN" dirty="0"/>
              <a:t>Descriptor 2                    Descriptor 2</a:t>
            </a:r>
          </a:p>
          <a:p>
            <a:r>
              <a:rPr lang="en-IN" dirty="0"/>
              <a:t>Descriptor 3                    Descriptor 3</a:t>
            </a:r>
          </a:p>
          <a:p>
            <a:r>
              <a:rPr lang="en-IN" dirty="0"/>
              <a:t>     ...                             ...</a:t>
            </a:r>
          </a:p>
          <a:p>
            <a:r>
              <a:rPr lang="en-IN" dirty="0"/>
              <a:t>Descriptor 500                  Descriptor 600</a:t>
            </a:r>
          </a:p>
        </p:txBody>
      </p:sp>
    </p:spTree>
    <p:extLst>
      <p:ext uri="{BB962C8B-B14F-4D97-AF65-F5344CB8AC3E}">
        <p14:creationId xmlns:p14="http://schemas.microsoft.com/office/powerpoint/2010/main" val="11875105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A1D75-DCF9-EFB1-49C8-6EA65FAE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D82D2-D434-8331-03FA-B8AFC78C9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We want to find:</a:t>
            </a:r>
          </a:p>
          <a:p>
            <a:r>
              <a:rPr lang="en-IN" dirty="0"/>
              <a:t>Which descriptor in Image 2 is most similar to each descriptor in Image 1?</a:t>
            </a:r>
          </a:p>
          <a:p>
            <a:r>
              <a:rPr lang="en-IN" dirty="0"/>
              <a:t>The Brute-Force matcher does this by comparing descriptors against each other.</a:t>
            </a:r>
          </a:p>
          <a:p>
            <a:r>
              <a:rPr lang="en-IN" dirty="0"/>
              <a:t>Image 1                  Image 2</a:t>
            </a:r>
          </a:p>
          <a:p>
            <a:endParaRPr lang="en-IN" dirty="0"/>
          </a:p>
          <a:p>
            <a:r>
              <a:rPr lang="en-IN" dirty="0"/>
              <a:t>D1 ───────────────────→ D37</a:t>
            </a:r>
          </a:p>
          <a:p>
            <a:r>
              <a:rPr lang="en-IN" dirty="0"/>
              <a:t>D2 ───────────────────→ D12</a:t>
            </a:r>
          </a:p>
          <a:p>
            <a:r>
              <a:rPr lang="en-IN" dirty="0"/>
              <a:t>D3 ───────────────────→ D89</a:t>
            </a:r>
          </a:p>
          <a:p>
            <a:r>
              <a:rPr lang="en-IN" dirty="0"/>
              <a:t>D4 ───────────────────→ D21</a:t>
            </a:r>
          </a:p>
        </p:txBody>
      </p:sp>
    </p:spTree>
    <p:extLst>
      <p:ext uri="{BB962C8B-B14F-4D97-AF65-F5344CB8AC3E}">
        <p14:creationId xmlns:p14="http://schemas.microsoft.com/office/powerpoint/2010/main" val="112724575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423F-7136-1EBB-9DDD-2089C2515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7877"/>
            <a:ext cx="10515600" cy="5579086"/>
          </a:xfrm>
        </p:spPr>
        <p:txBody>
          <a:bodyPr/>
          <a:lstStyle/>
          <a:p>
            <a:r>
              <a:rPr lang="en-IN" dirty="0"/>
              <a:t>Why is it called "Brute Force"?</a:t>
            </a:r>
          </a:p>
          <a:p>
            <a:r>
              <a:rPr lang="en-IN" dirty="0"/>
              <a:t>Suppose Image 1 has 500 descriptors and Image 2 has 600 descriptors.</a:t>
            </a:r>
          </a:p>
          <a:p>
            <a:r>
              <a:rPr lang="en-IN" dirty="0"/>
              <a:t>The matcher can compare:500 × 600</a:t>
            </a:r>
          </a:p>
          <a:p>
            <a:r>
              <a:rPr lang="en-IN" dirty="0"/>
              <a:t>That's:</a:t>
            </a:r>
          </a:p>
          <a:p>
            <a:r>
              <a:rPr lang="en-IN" dirty="0"/>
              <a:t>300,000 comparisons</a:t>
            </a:r>
          </a:p>
          <a:p>
            <a:r>
              <a:rPr lang="en-IN" dirty="0"/>
              <a:t>It essentially checks the possibilities and finds the closest ones.</a:t>
            </a:r>
          </a:p>
          <a:p>
            <a:r>
              <a:rPr lang="en-IN" dirty="0"/>
              <a:t>That's why it's called </a:t>
            </a:r>
            <a:r>
              <a:rPr lang="en-IN" b="1" dirty="0"/>
              <a:t>brute force</a:t>
            </a:r>
            <a:r>
              <a:rPr lang="en-IN" dirty="0"/>
              <a:t>.</a:t>
            </a:r>
          </a:p>
          <a:p>
            <a:r>
              <a:rPr lang="en-IN" dirty="0"/>
              <a:t>It's straightforward and often works well for smaller numbers of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86181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2E6B-5E6A-9E4D-62E9-A84740D0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A50AB-1868-5B2E-FA1B-CAEE9A4D3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cv2.NORM_L2?</a:t>
            </a:r>
          </a:p>
          <a:p>
            <a:r>
              <a:rPr lang="en-IN" dirty="0"/>
              <a:t>This tells OpenCV </a:t>
            </a:r>
            <a:r>
              <a:rPr lang="en-IN" b="1" dirty="0"/>
              <a:t>how to measure the distance between two descriptors</a:t>
            </a:r>
            <a:r>
              <a:rPr lang="en-IN" dirty="0"/>
              <a:t>.</a:t>
            </a:r>
          </a:p>
          <a:p>
            <a:r>
              <a:rPr lang="en-IN" dirty="0"/>
              <a:t>means </a:t>
            </a:r>
            <a:r>
              <a:rPr lang="en-IN" b="1" dirty="0"/>
              <a:t>Euclidean distance</a:t>
            </a:r>
            <a:r>
              <a:rPr lang="en-IN" dirty="0"/>
              <a:t>.</a:t>
            </a:r>
          </a:p>
          <a:p>
            <a:r>
              <a:rPr lang="pt-BR" dirty="0"/>
              <a:t>A = [1, 2, 3]</a:t>
            </a:r>
          </a:p>
          <a:p>
            <a:endParaRPr lang="pt-BR" dirty="0"/>
          </a:p>
          <a:p>
            <a:r>
              <a:rPr lang="pt-BR" dirty="0"/>
              <a:t>B = [2, 4, 3]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97526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F28A6-8FA3-8DA4-651A-E9C73235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E3F7A-A189-808C-51D0-44E52D411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Euclidean distance is:</a:t>
            </a:r>
          </a:p>
          <a:p>
            <a:r>
              <a:rPr lang="en-IN" dirty="0"/>
              <a:t>d=(1−2)2+(2−4)2+(3−3)2​ </a:t>
            </a:r>
          </a:p>
          <a:p>
            <a:r>
              <a:rPr lang="en-IN" dirty="0"/>
              <a:t>So:</a:t>
            </a:r>
          </a:p>
          <a:p>
            <a:r>
              <a:rPr lang="en-IN" dirty="0"/>
              <a:t>d=1+4+0​ d=5​</a:t>
            </a:r>
          </a:p>
        </p:txBody>
      </p:sp>
    </p:spTree>
    <p:extLst>
      <p:ext uri="{BB962C8B-B14F-4D97-AF65-F5344CB8AC3E}">
        <p14:creationId xmlns:p14="http://schemas.microsoft.com/office/powerpoint/2010/main" val="952475271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A5AA3-5173-2BDE-CBDF-D402F886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5AD1D-CA80-30D0-7F22-AB23D536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Smaller distance means the descriptors are more similar.</a:t>
            </a:r>
          </a:p>
          <a:p>
            <a:r>
              <a:rPr lang="en-IN" dirty="0"/>
              <a:t>Why do we use NORM_L2 for SIFT?</a:t>
            </a:r>
          </a:p>
          <a:p>
            <a:r>
              <a:rPr lang="en-IN" dirty="0"/>
              <a:t>This is important.</a:t>
            </a:r>
          </a:p>
          <a:p>
            <a:r>
              <a:rPr lang="en-IN" dirty="0"/>
              <a:t>SIFT produces </a:t>
            </a:r>
            <a:r>
              <a:rPr lang="en-IN" b="1" dirty="0"/>
              <a:t>floating-point descriptors</a:t>
            </a:r>
            <a:r>
              <a:rPr lang="en-IN" dirty="0"/>
              <a:t>, typically with 128 values.</a:t>
            </a:r>
          </a:p>
          <a:p>
            <a:r>
              <a:rPr lang="de-DE" dirty="0"/>
              <a:t>SIFT descriptor:</a:t>
            </a:r>
          </a:p>
          <a:p>
            <a:endParaRPr lang="de-DE" dirty="0"/>
          </a:p>
          <a:p>
            <a:r>
              <a:rPr lang="de-DE" dirty="0"/>
              <a:t>[0.12, 0.53, 0.21, 0.87, ...]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32882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9B48-92B0-A4AB-A152-F98F13C2A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53436-6AF3-9541-E6D3-009C62BF2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these descriptors, the appropriate standard distance metric is:</a:t>
            </a:r>
          </a:p>
          <a:p>
            <a:r>
              <a:rPr lang="en-IN" dirty="0"/>
              <a:t>cv2.NORM_L2</a:t>
            </a:r>
          </a:p>
          <a:p>
            <a:r>
              <a:rPr lang="en-IN" dirty="0"/>
              <a:t>So:</a:t>
            </a:r>
          </a:p>
          <a:p>
            <a:r>
              <a:rPr lang="en-IN" dirty="0"/>
              <a:t>bf = cv2.BFMatcher(cv2.NORM_L2)</a:t>
            </a:r>
          </a:p>
          <a:p>
            <a:r>
              <a:rPr lang="en-IN" dirty="0"/>
              <a:t>means:</a:t>
            </a:r>
          </a:p>
          <a:p>
            <a:r>
              <a:rPr lang="en-IN" dirty="0"/>
              <a:t>Create a Brute-Force matcher and use Euclidean (L2) distance to compare SIFT descriptors.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1389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E2F4-75AC-73FC-4B5A-3453ED0A1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1436-584A-6701-C384-BC59C96DC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good_matches</a:t>
            </a:r>
            <a:r>
              <a:rPr lang="en-US" dirty="0"/>
              <a:t> = []</a:t>
            </a:r>
          </a:p>
          <a:p>
            <a:endParaRPr lang="en-US" dirty="0"/>
          </a:p>
          <a:p>
            <a:r>
              <a:rPr lang="en-US" dirty="0"/>
              <a:t>for pair in matches:</a:t>
            </a:r>
          </a:p>
          <a:p>
            <a:endParaRPr lang="en-US" dirty="0"/>
          </a:p>
          <a:p>
            <a:r>
              <a:rPr lang="en-US" dirty="0"/>
              <a:t>    if </a:t>
            </a:r>
            <a:r>
              <a:rPr lang="en-US" dirty="0" err="1"/>
              <a:t>len</a:t>
            </a:r>
            <a:r>
              <a:rPr lang="en-US" dirty="0"/>
              <a:t>(pair) == 2:</a:t>
            </a:r>
          </a:p>
          <a:p>
            <a:endParaRPr lang="en-US" dirty="0"/>
          </a:p>
          <a:p>
            <a:r>
              <a:rPr lang="en-US" dirty="0"/>
              <a:t>        m, n = pair</a:t>
            </a:r>
          </a:p>
          <a:p>
            <a:endParaRPr lang="en-US" dirty="0"/>
          </a:p>
          <a:p>
            <a:r>
              <a:rPr lang="en-US" dirty="0"/>
              <a:t>        if </a:t>
            </a:r>
            <a:r>
              <a:rPr lang="en-US" dirty="0" err="1"/>
              <a:t>m.distance</a:t>
            </a:r>
            <a:r>
              <a:rPr lang="en-US" dirty="0"/>
              <a:t> &lt; 0.7 * </a:t>
            </a:r>
            <a:r>
              <a:rPr lang="en-US" dirty="0" err="1"/>
              <a:t>n.distance</a:t>
            </a:r>
            <a:r>
              <a:rPr lang="en-US" dirty="0"/>
              <a:t>:</a:t>
            </a:r>
          </a:p>
          <a:p>
            <a:r>
              <a:rPr lang="en-US" dirty="0"/>
              <a:t>            </a:t>
            </a:r>
            <a:r>
              <a:rPr lang="en-US" dirty="0" err="1"/>
              <a:t>good_matches.append</a:t>
            </a:r>
            <a:r>
              <a:rPr lang="en-US" dirty="0"/>
              <a:t>(m)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71238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41F07-C974-CBEC-9F0A-0BB640E9B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077"/>
            <a:ext cx="10515600" cy="512188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This part is used to </a:t>
            </a:r>
            <a:r>
              <a:rPr lang="en-IN" b="1" dirty="0"/>
              <a:t>remove bad/uncertain matches</a:t>
            </a:r>
            <a:r>
              <a:rPr lang="en-IN" dirty="0"/>
              <a:t> and keep only the reliable matches between your two images.</a:t>
            </a:r>
          </a:p>
          <a:p>
            <a:r>
              <a:rPr lang="en-IN" dirty="0"/>
              <a:t>Normally, each pair should contain two matches.</a:t>
            </a:r>
          </a:p>
          <a:p>
            <a:r>
              <a:rPr lang="en-IN" dirty="0"/>
              <a:t>m = best match</a:t>
            </a:r>
          </a:p>
          <a:p>
            <a:r>
              <a:rPr lang="en-IN" dirty="0"/>
              <a:t>n = second-best match</a:t>
            </a:r>
          </a:p>
          <a:p>
            <a:r>
              <a:rPr lang="en-US" dirty="0"/>
              <a:t>Match 1 → distance = 40</a:t>
            </a:r>
          </a:p>
          <a:p>
            <a:r>
              <a:rPr lang="en-US" dirty="0"/>
              <a:t>Match 2 → distance = 100</a:t>
            </a:r>
          </a:p>
          <a:p>
            <a:r>
              <a:rPr lang="en-IN" dirty="0"/>
              <a:t>0.7 × 100 = 70</a:t>
            </a:r>
          </a:p>
          <a:p>
            <a:r>
              <a:rPr lang="en-IN" dirty="0"/>
              <a:t>40 &lt; 70</a:t>
            </a:r>
          </a:p>
          <a:p>
            <a:r>
              <a:rPr lang="en-IN" dirty="0"/>
              <a:t>That's True.</a:t>
            </a:r>
          </a:p>
          <a:p>
            <a:r>
              <a:rPr lang="en-IN" dirty="0"/>
              <a:t>So the match is considered </a:t>
            </a:r>
            <a:r>
              <a:rPr lang="en-IN" b="1" dirty="0"/>
              <a:t>good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30768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3A3E7-78DD-6BFB-FFB6-139C1AFC5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552E0-DFA1-CDB4-F6E5-753CB4E91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80 &lt; 70</a:t>
            </a:r>
          </a:p>
          <a:p>
            <a:r>
              <a:rPr lang="en-IN" dirty="0"/>
              <a:t>That's False.</a:t>
            </a:r>
          </a:p>
          <a:p>
            <a:r>
              <a:rPr lang="en-IN" dirty="0"/>
              <a:t>So we reject this match.</a:t>
            </a:r>
          </a:p>
          <a:p>
            <a:r>
              <a:rPr lang="en-US" dirty="0"/>
              <a:t>Feature       Best       2nd Best       Result</a:t>
            </a:r>
          </a:p>
          <a:p>
            <a:r>
              <a:rPr lang="en-US" dirty="0"/>
              <a:t>------------------------------------------------</a:t>
            </a:r>
          </a:p>
          <a:p>
            <a:r>
              <a:rPr lang="en-US" dirty="0"/>
              <a:t>1             30          100           GOOD</a:t>
            </a:r>
          </a:p>
          <a:p>
            <a:r>
              <a:rPr lang="en-US" dirty="0"/>
              <a:t>2             80          100           BAD</a:t>
            </a:r>
          </a:p>
          <a:p>
            <a:r>
              <a:rPr lang="en-US" dirty="0"/>
              <a:t>3             20           90            GOOD</a:t>
            </a:r>
          </a:p>
          <a:p>
            <a:r>
              <a:rPr lang="en-US" dirty="0"/>
              <a:t>4             70          80            BAD</a:t>
            </a:r>
          </a:p>
          <a:p>
            <a:r>
              <a:rPr lang="en-US" dirty="0"/>
              <a:t>5             25          100           GOOD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68351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7D86E-1958-0BAA-DFA9-82CBDF52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B59CF-8AAC-D1E7-AE04-CDF46CAF3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0.5 very strict</a:t>
            </a:r>
          </a:p>
          <a:p>
            <a:r>
              <a:rPr lang="en-IN" dirty="0"/>
              <a:t>Fewer matches</a:t>
            </a:r>
          </a:p>
          <a:p>
            <a:r>
              <a:rPr lang="en-IN" dirty="0"/>
              <a:t>Higher confidence</a:t>
            </a:r>
          </a:p>
          <a:p>
            <a:endParaRPr lang="en-IN" dirty="0"/>
          </a:p>
          <a:p>
            <a:r>
              <a:rPr lang="en-IN" dirty="0"/>
              <a:t>0.7 Good balance</a:t>
            </a:r>
          </a:p>
          <a:p>
            <a:r>
              <a:rPr lang="en-IN" dirty="0"/>
              <a:t>0.9</a:t>
            </a:r>
          </a:p>
          <a:p>
            <a:r>
              <a:rPr lang="en-US" dirty="0"/>
              <a:t>More matches</a:t>
            </a:r>
          </a:p>
          <a:p>
            <a:r>
              <a:rPr lang="en-US" dirty="0"/>
              <a:t>But potentially more incorrect matches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50143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793D-C59E-9042-8A1F-FF0C4C89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GLOH?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51100-059D-20B1-C334-6396ABD2C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IN" dirty="0"/>
              <a:t>LOH = Gradient Location and Orientation Histogram.</a:t>
            </a:r>
          </a:p>
          <a:p>
            <a:r>
              <a:rPr lang="en-IN" dirty="0"/>
              <a:t>Its purpose is:</a:t>
            </a:r>
          </a:p>
          <a:p>
            <a:r>
              <a:rPr lang="en-IN" b="1" dirty="0"/>
              <a:t>Describe what a small region around an interesting point looks like, so that the same point can be recognized in another image.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567418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99BAB-FC28-61B5-6D2D-4732A0DB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EC6BF0-D3EC-1E68-A5BA-E255206A43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764474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71667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894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kp.pt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(x,y)</a:t>
                      </a:r>
                      <a:r>
                        <a:rPr lang="en-IN"/>
                        <a:t> 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076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kp.size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Approximate scale/size of the 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538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kp.angle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Orientation of the 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55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kp.response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Strength/quality of the detected 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754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kp.octave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Scale-space level where it was detected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950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7782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5288-0E03-2786-E42A-2F493C512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F50FF-A84E-76DD-E55B-1207F1293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Imagine the </a:t>
            </a:r>
            <a:r>
              <a:rPr lang="en-IN" dirty="0" err="1"/>
              <a:t>keypoint</a:t>
            </a:r>
            <a:endParaRPr lang="en-IN" dirty="0"/>
          </a:p>
          <a:p>
            <a:r>
              <a:rPr lang="en-IN" dirty="0"/>
              <a:t>x = 152</a:t>
            </a:r>
          </a:p>
          <a:p>
            <a:r>
              <a:rPr lang="en-IN" dirty="0"/>
              <a:t>y = 87</a:t>
            </a:r>
          </a:p>
          <a:p>
            <a:r>
              <a:rPr lang="en-IN" dirty="0"/>
              <a:t>For a grayscale image:</a:t>
            </a:r>
          </a:p>
          <a:p>
            <a:r>
              <a:rPr lang="en-IN" dirty="0" err="1"/>
              <a:t>img</a:t>
            </a:r>
            <a:r>
              <a:rPr lang="en-IN" dirty="0"/>
              <a:t>[y, x]</a:t>
            </a:r>
          </a:p>
          <a:p>
            <a:r>
              <a:rPr lang="en-IN" dirty="0"/>
              <a:t>row y</a:t>
            </a:r>
          </a:p>
          <a:p>
            <a:r>
              <a:rPr lang="en-IN" dirty="0"/>
              <a:t>column x</a:t>
            </a:r>
          </a:p>
        </p:txBody>
      </p:sp>
    </p:spTree>
    <p:extLst>
      <p:ext uri="{BB962C8B-B14F-4D97-AF65-F5344CB8AC3E}">
        <p14:creationId xmlns:p14="http://schemas.microsoft.com/office/powerpoint/2010/main" val="56474166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1FA5-E1EC-4056-E9D0-8B986C2B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F1211-338B-E403-CA34-8D642B884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Calculate the Y range</a:t>
            </a:r>
          </a:p>
          <a:p>
            <a:r>
              <a:rPr lang="en-IN" dirty="0"/>
              <a:t>max(0, y-size)</a:t>
            </a:r>
          </a:p>
          <a:p>
            <a:r>
              <a:rPr lang="en-IN" dirty="0"/>
              <a:t>y = 87</a:t>
            </a:r>
          </a:p>
          <a:p>
            <a:r>
              <a:rPr lang="en-IN" dirty="0"/>
              <a:t>size = 16</a:t>
            </a:r>
          </a:p>
          <a:p>
            <a:r>
              <a:rPr lang="en-IN" dirty="0"/>
              <a:t>max(0, 87-16)=71</a:t>
            </a:r>
          </a:p>
          <a:p>
            <a:r>
              <a:rPr lang="en-IN" dirty="0"/>
              <a:t>The ending is:</a:t>
            </a:r>
          </a:p>
          <a:p>
            <a:r>
              <a:rPr lang="en-IN" dirty="0" err="1"/>
              <a:t>y+size</a:t>
            </a:r>
            <a:endParaRPr lang="en-IN" dirty="0"/>
          </a:p>
          <a:p>
            <a:r>
              <a:rPr lang="en-IN" dirty="0"/>
              <a:t>87 + 16 = 103</a:t>
            </a:r>
          </a:p>
          <a:p>
            <a:r>
              <a:rPr lang="en-IN" dirty="0"/>
              <a:t>So the Y range is:</a:t>
            </a:r>
          </a:p>
          <a:p>
            <a:r>
              <a:rPr lang="en-IN" dirty="0"/>
              <a:t>71 : 103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37404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5C769-5DB0-FCB4-CAAC-8B4ED7331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D8C4-2511-098D-BD9C-A6241DC3E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Calculate the X range</a:t>
            </a:r>
          </a:p>
          <a:p>
            <a:r>
              <a:rPr lang="en-IN" dirty="0"/>
              <a:t>max(0, x-size)</a:t>
            </a:r>
          </a:p>
          <a:p>
            <a:r>
              <a:rPr lang="en-IN" dirty="0"/>
              <a:t>max(0, 152-16)=136</a:t>
            </a:r>
          </a:p>
          <a:p>
            <a:r>
              <a:rPr lang="en-IN" dirty="0" err="1"/>
              <a:t>x+size</a:t>
            </a:r>
            <a:r>
              <a:rPr lang="en-IN" dirty="0"/>
              <a:t>=168</a:t>
            </a:r>
          </a:p>
          <a:p>
            <a:r>
              <a:rPr lang="en-IN" dirty="0"/>
              <a:t>So the X range is:136 : 168</a:t>
            </a:r>
          </a:p>
          <a:p>
            <a:r>
              <a:rPr lang="en-IN" b="1" dirty="0"/>
              <a:t>Therefore the final operation is</a:t>
            </a:r>
          </a:p>
          <a:p>
            <a:r>
              <a:rPr lang="en-IN" dirty="0"/>
              <a:t>Your code is effectively doing:</a:t>
            </a:r>
          </a:p>
          <a:p>
            <a:r>
              <a:rPr lang="en-IN" dirty="0"/>
              <a:t>patch = </a:t>
            </a:r>
            <a:r>
              <a:rPr lang="en-IN" dirty="0" err="1"/>
              <a:t>img</a:t>
            </a:r>
            <a:r>
              <a:rPr lang="en-IN" dirty="0"/>
              <a:t>[71:103, 136:168]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46582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0F0F-5AA5-6069-5569-43FF2389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34479-9894-BB6E-A002-2D01B8467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32 rows×32 columns</a:t>
            </a:r>
          </a:p>
          <a:p>
            <a:r>
              <a:rPr lang="en-IN" dirty="0"/>
              <a:t>Why do we use max(0, ...)?</a:t>
            </a:r>
          </a:p>
          <a:p>
            <a:r>
              <a:rPr lang="en-IN" dirty="0"/>
              <a:t>x = 5    y = 8</a:t>
            </a:r>
          </a:p>
          <a:p>
            <a:r>
              <a:rPr lang="en-IN" dirty="0"/>
              <a:t>size = 16</a:t>
            </a:r>
          </a:p>
          <a:p>
            <a:r>
              <a:rPr lang="en-US" dirty="0"/>
              <a:t>x - size = 5 - 16 = -11</a:t>
            </a:r>
          </a:p>
          <a:p>
            <a:r>
              <a:rPr lang="en-US" dirty="0"/>
              <a:t>y - size = 8 - 16 = -8</a:t>
            </a:r>
          </a:p>
          <a:p>
            <a:r>
              <a:rPr lang="en-IN" dirty="0"/>
              <a:t>We can't use negative image coordinates like that.</a:t>
            </a:r>
          </a:p>
          <a:p>
            <a:r>
              <a:rPr lang="en-IN" dirty="0"/>
              <a:t>max(0, x-size)</a:t>
            </a:r>
          </a:p>
          <a:p>
            <a:r>
              <a:rPr lang="en-IN" dirty="0"/>
              <a:t>max(0, -11) = 0</a:t>
            </a:r>
          </a:p>
        </p:txBody>
      </p:sp>
    </p:spTree>
    <p:extLst>
      <p:ext uri="{BB962C8B-B14F-4D97-AF65-F5344CB8AC3E}">
        <p14:creationId xmlns:p14="http://schemas.microsoft.com/office/powerpoint/2010/main" val="78997251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973C3-7544-996D-004D-31E07432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BA81D-0A83-D7EC-D774-9F1D703A3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magnitude=gx^2+gy^2​</a:t>
            </a:r>
          </a:p>
          <a:p>
            <a:r>
              <a:rPr lang="en-IN" dirty="0" err="1"/>
              <a:t>gx</a:t>
            </a:r>
            <a:r>
              <a:rPr lang="en-IN" dirty="0"/>
              <a:t> = 3</a:t>
            </a:r>
          </a:p>
          <a:p>
            <a:r>
              <a:rPr lang="en-IN" dirty="0" err="1"/>
              <a:t>gy</a:t>
            </a:r>
            <a:r>
              <a:rPr lang="en-IN" dirty="0"/>
              <a:t> = 4</a:t>
            </a:r>
          </a:p>
          <a:p>
            <a:r>
              <a:rPr lang="en-IN" dirty="0"/>
              <a:t>magnitude=3^2+4^2​ =9+16​ =5</a:t>
            </a:r>
          </a:p>
          <a:p>
            <a:r>
              <a:rPr lang="en-IN" dirty="0"/>
              <a:t>So magnitude tells you </a:t>
            </a:r>
            <a:r>
              <a:rPr lang="en-IN" b="1" dirty="0"/>
              <a:t>how strong the edge/change is at that pixel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Large magnitude → strong edge </a:t>
            </a:r>
          </a:p>
          <a:p>
            <a:pPr lvl="0"/>
            <a:r>
              <a:rPr lang="en-IN" dirty="0"/>
              <a:t>Small magnitude → weak/no edge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20551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09AE-2F2B-AC75-2A8F-A9641543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BC37-0802-7A80-E5F4-29B2D0C54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cv2.phase(</a:t>
            </a:r>
            <a:r>
              <a:rPr lang="en-IN" dirty="0" err="1"/>
              <a:t>gx</a:t>
            </a:r>
            <a:r>
              <a:rPr lang="en-IN" dirty="0"/>
              <a:t>, </a:t>
            </a:r>
            <a:r>
              <a:rPr lang="en-IN" dirty="0" err="1"/>
              <a:t>gy</a:t>
            </a:r>
            <a:r>
              <a:rPr lang="en-IN" dirty="0"/>
              <a:t>)</a:t>
            </a:r>
          </a:p>
          <a:p>
            <a:r>
              <a:rPr lang="en-IN" dirty="0"/>
              <a:t>This calculates the </a:t>
            </a:r>
            <a:r>
              <a:rPr lang="en-IN" b="1" dirty="0"/>
              <a:t>direction of the gradient</a:t>
            </a:r>
            <a:r>
              <a:rPr lang="en-IN" dirty="0"/>
              <a:t>.</a:t>
            </a:r>
          </a:p>
          <a:p>
            <a:r>
              <a:rPr lang="en-IN" dirty="0"/>
              <a:t>angle=tan−1(</a:t>
            </a:r>
            <a:r>
              <a:rPr lang="en-IN" dirty="0" err="1"/>
              <a:t>gy</a:t>
            </a:r>
            <a:r>
              <a:rPr lang="en-IN" dirty="0"/>
              <a:t>/</a:t>
            </a:r>
            <a:r>
              <a:rPr lang="en-IN" dirty="0" err="1"/>
              <a:t>gx</a:t>
            </a:r>
            <a:r>
              <a:rPr lang="en-IN" dirty="0"/>
              <a:t>​)</a:t>
            </a:r>
          </a:p>
          <a:p>
            <a:r>
              <a:rPr lang="en-IN" dirty="0"/>
              <a:t>angle=tan−1(4/3) </a:t>
            </a:r>
          </a:p>
          <a:p>
            <a:r>
              <a:rPr lang="en-IN" dirty="0"/>
              <a:t>≈ </a:t>
            </a:r>
            <a:r>
              <a:rPr lang="en-IN" b="1" dirty="0"/>
              <a:t>53.13°</a:t>
            </a:r>
            <a:endParaRPr lang="en-IN" dirty="0"/>
          </a:p>
          <a:p>
            <a:r>
              <a:rPr lang="en-IN" dirty="0"/>
              <a:t>magnitude = 5</a:t>
            </a:r>
          </a:p>
          <a:p>
            <a:r>
              <a:rPr lang="en-IN" dirty="0"/>
              <a:t>angle     = 53.13°</a:t>
            </a:r>
          </a:p>
        </p:txBody>
      </p:sp>
    </p:spTree>
    <p:extLst>
      <p:ext uri="{BB962C8B-B14F-4D97-AF65-F5344CB8AC3E}">
        <p14:creationId xmlns:p14="http://schemas.microsoft.com/office/powerpoint/2010/main" val="204462360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AC34-5ADE-72D2-8BF8-B16054F6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F0422-82BD-A894-454B-1E4ADF2D7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. Create 8 empty bins</a:t>
            </a:r>
          </a:p>
          <a:p>
            <a:r>
              <a:rPr lang="en-IN" dirty="0"/>
              <a:t>[0, 0, 0, 0, 0, 0, 0, 0]</a:t>
            </a:r>
          </a:p>
          <a:p>
            <a:r>
              <a:rPr lang="en-IN" dirty="0"/>
              <a:t>Box 0 → 0°–45°</a:t>
            </a:r>
          </a:p>
          <a:p>
            <a:r>
              <a:rPr lang="en-IN" dirty="0"/>
              <a:t>Box 1 → 45°–90°</a:t>
            </a:r>
          </a:p>
          <a:p>
            <a:r>
              <a:rPr lang="en-IN" dirty="0"/>
              <a:t>Box 2 → 90°–135°</a:t>
            </a:r>
          </a:p>
          <a:p>
            <a:r>
              <a:rPr lang="en-IN" dirty="0"/>
              <a:t>Box 3 → 135°–180°</a:t>
            </a:r>
          </a:p>
          <a:p>
            <a:r>
              <a:rPr lang="en-IN" dirty="0"/>
              <a:t>Box 4 → 180°–225°</a:t>
            </a:r>
          </a:p>
          <a:p>
            <a:r>
              <a:rPr lang="en-IN" dirty="0"/>
              <a:t>Box 5 → 225°–270°</a:t>
            </a:r>
          </a:p>
          <a:p>
            <a:r>
              <a:rPr lang="en-IN" dirty="0"/>
              <a:t>Box 6 → 270°–315°</a:t>
            </a:r>
          </a:p>
          <a:p>
            <a:r>
              <a:rPr lang="en-IN" dirty="0"/>
              <a:t>Box 7 → 315°–360°</a:t>
            </a:r>
          </a:p>
        </p:txBody>
      </p:sp>
    </p:spTree>
    <p:extLst>
      <p:ext uri="{BB962C8B-B14F-4D97-AF65-F5344CB8AC3E}">
        <p14:creationId xmlns:p14="http://schemas.microsoft.com/office/powerpoint/2010/main" val="36357349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96BD-4DDC-4CE5-7C4D-0E9B18EF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FC06B-514F-B073-4D95-7172AF4FD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Now look at ONE pixel</a:t>
            </a:r>
          </a:p>
          <a:p>
            <a:r>
              <a:rPr lang="en-IN" dirty="0"/>
              <a:t>direction = 70</a:t>
            </a:r>
          </a:p>
          <a:p>
            <a:r>
              <a:rPr lang="en-IN" dirty="0"/>
              <a:t>mag = 5</a:t>
            </a:r>
          </a:p>
          <a:p>
            <a:r>
              <a:rPr lang="en-IN" dirty="0"/>
              <a:t>Meaning:</a:t>
            </a:r>
          </a:p>
          <a:p>
            <a:pPr lvl="0"/>
            <a:r>
              <a:rPr lang="en-IN" dirty="0"/>
              <a:t>Direction = </a:t>
            </a:r>
            <a:r>
              <a:rPr lang="en-IN" b="1" dirty="0"/>
              <a:t>70°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Strength = </a:t>
            </a:r>
            <a:r>
              <a:rPr lang="en-IN" b="1" dirty="0"/>
              <a:t>5</a:t>
            </a:r>
            <a:r>
              <a:rPr lang="en-IN" dirty="0"/>
              <a:t> </a:t>
            </a:r>
          </a:p>
          <a:p>
            <a:r>
              <a:rPr lang="en-IN" dirty="0"/>
              <a:t>70° belongs to the </a:t>
            </a:r>
            <a:r>
              <a:rPr lang="en-IN" b="1" dirty="0"/>
              <a:t>45°–90°</a:t>
            </a:r>
            <a:r>
              <a:rPr lang="en-IN" dirty="0"/>
              <a:t> range.</a:t>
            </a:r>
          </a:p>
          <a:p>
            <a:r>
              <a:rPr lang="en-IN" dirty="0"/>
              <a:t>That's </a:t>
            </a:r>
            <a:r>
              <a:rPr lang="en-IN" b="1" dirty="0"/>
              <a:t>Box 1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8664267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7B31-E6C5-A572-C18E-82B54B7A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2FE8D-BF86-2BF5-CD75-74DA14A61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So we do:</a:t>
            </a:r>
          </a:p>
          <a:p>
            <a:r>
              <a:rPr lang="en-IN" dirty="0"/>
              <a:t>histogram[1] += 5</a:t>
            </a:r>
          </a:p>
          <a:p>
            <a:r>
              <a:rPr lang="en-IN" dirty="0"/>
              <a:t>[0, 5, 0, 0, 0, 0, 0, 0]</a:t>
            </a:r>
          </a:p>
          <a:p>
            <a:r>
              <a:rPr lang="en-IN" b="1" dirty="0"/>
              <a:t>Look at another pixel</a:t>
            </a:r>
          </a:p>
          <a:p>
            <a:r>
              <a:rPr lang="en-IN" dirty="0"/>
              <a:t>Suppose:</a:t>
            </a:r>
          </a:p>
          <a:p>
            <a:r>
              <a:rPr lang="en-IN" dirty="0"/>
              <a:t>direction = 110</a:t>
            </a:r>
          </a:p>
          <a:p>
            <a:r>
              <a:rPr lang="en-IN" dirty="0"/>
              <a:t>mag = 8</a:t>
            </a:r>
          </a:p>
          <a:p>
            <a:r>
              <a:rPr lang="en-IN" dirty="0"/>
              <a:t>110° belongs to </a:t>
            </a:r>
            <a:r>
              <a:rPr lang="en-IN" b="1" dirty="0"/>
              <a:t>90°–135°</a:t>
            </a:r>
            <a:r>
              <a:rPr lang="en-IN" dirty="0"/>
              <a:t>.</a:t>
            </a:r>
          </a:p>
          <a:p>
            <a:r>
              <a:rPr lang="en-IN" dirty="0"/>
              <a:t>That's </a:t>
            </a:r>
            <a:r>
              <a:rPr lang="en-IN" b="1" dirty="0"/>
              <a:t>Box 2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56747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D7C-5B26-142A-E11B-4E456668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37D7C-2EE2-23EF-4DBF-FE8F77FA0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histogram[2] += 8</a:t>
            </a:r>
          </a:p>
          <a:p>
            <a:r>
              <a:rPr lang="en-IN" dirty="0"/>
              <a:t>[0, 5, 8, 0, 0, 0, 0, 0]</a:t>
            </a:r>
          </a:p>
          <a:p>
            <a:r>
              <a:rPr lang="en-IN" b="1" dirty="0"/>
              <a:t>Another pixel</a:t>
            </a:r>
          </a:p>
          <a:p>
            <a:r>
              <a:rPr lang="en-IN" dirty="0"/>
              <a:t>Suppose:</a:t>
            </a:r>
          </a:p>
          <a:p>
            <a:r>
              <a:rPr lang="en-IN" dirty="0"/>
              <a:t>direction = 75</a:t>
            </a:r>
          </a:p>
          <a:p>
            <a:r>
              <a:rPr lang="en-IN" dirty="0"/>
              <a:t>mag = 3</a:t>
            </a:r>
          </a:p>
          <a:p>
            <a:r>
              <a:rPr lang="en-IN" dirty="0"/>
              <a:t>75° also belongs to </a:t>
            </a:r>
            <a:r>
              <a:rPr lang="en-IN" b="1" dirty="0"/>
              <a:t>Box 1</a:t>
            </a:r>
            <a:r>
              <a:rPr lang="en-IN" dirty="0"/>
              <a:t>.</a:t>
            </a:r>
          </a:p>
          <a:p>
            <a:r>
              <a:rPr lang="en-IN" dirty="0"/>
              <a:t>So:</a:t>
            </a:r>
          </a:p>
          <a:p>
            <a:r>
              <a:rPr lang="en-IN" dirty="0"/>
              <a:t>histogram[1] += 3</a:t>
            </a:r>
          </a:p>
          <a:p>
            <a:r>
              <a:rPr lang="en-IN" dirty="0"/>
              <a:t>Now:</a:t>
            </a:r>
          </a:p>
          <a:p>
            <a:r>
              <a:rPr lang="en-IN" dirty="0"/>
              <a:t>[0, 8, 8, 0, 0, 0, 0, 0]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71356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F346-E52C-9043-0CA0-0BB9DEDB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A7E91-DFE4-8AB9-9EAF-4FF5D1A21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Because Box 1 already had 5, and we added 3.</a:t>
            </a:r>
          </a:p>
        </p:txBody>
      </p:sp>
    </p:spTree>
    <p:extLst>
      <p:ext uri="{BB962C8B-B14F-4D97-AF65-F5344CB8AC3E}">
        <p14:creationId xmlns:p14="http://schemas.microsoft.com/office/powerpoint/2010/main" val="282303058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32F3-7A35-CCF9-C260-4EC071B73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Scale-Space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70AB4-1756-AE64-17E7-D4B1C2A9F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Scale-space analysis is one of the most important ideas behind </a:t>
            </a:r>
            <a:r>
              <a:rPr lang="en-IN" b="1" dirty="0"/>
              <a:t>SIFT, </a:t>
            </a:r>
            <a:r>
              <a:rPr lang="en-IN" b="1" dirty="0" err="1"/>
              <a:t>DoG</a:t>
            </a:r>
            <a:r>
              <a:rPr lang="en-IN" b="1" dirty="0"/>
              <a:t>, blob detection, and multi-scale feature detection</a:t>
            </a:r>
            <a:r>
              <a:rPr lang="en-IN" dirty="0"/>
              <a:t>.</a:t>
            </a:r>
          </a:p>
          <a:p>
            <a:r>
              <a:rPr lang="en-IN" dirty="0"/>
              <a:t>The basic problem it solves is:</a:t>
            </a:r>
          </a:p>
          <a:p>
            <a:r>
              <a:rPr lang="en-IN" b="1" dirty="0"/>
              <a:t>What if an object or feature appears at different sizes in an image?</a:t>
            </a:r>
            <a:endParaRPr lang="en-IN" dirty="0"/>
          </a:p>
          <a:p>
            <a:r>
              <a:rPr lang="en-IN" dirty="0"/>
              <a:t>For example, a corner may be very small in one image and much larger in another. A detector working at only one image scale may miss one of them</a:t>
            </a:r>
          </a:p>
        </p:txBody>
      </p:sp>
    </p:spTree>
    <p:extLst>
      <p:ext uri="{BB962C8B-B14F-4D97-AF65-F5344CB8AC3E}">
        <p14:creationId xmlns:p14="http://schemas.microsoft.com/office/powerpoint/2010/main" val="59739860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EF3C-37BD-2DB3-4B87-238D7F684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64454-3600-6AE1-5E5D-E1D19AA18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Imagine you have a picture of a </a:t>
            </a:r>
            <a:r>
              <a:rPr lang="en-IN" b="1" dirty="0"/>
              <a:t>car</a:t>
            </a:r>
            <a:r>
              <a:rPr lang="en-IN" dirty="0"/>
              <a:t>.</a:t>
            </a:r>
          </a:p>
          <a:p>
            <a:r>
              <a:rPr lang="en-IN" dirty="0"/>
              <a:t>In one image, the car is very large:</a:t>
            </a:r>
          </a:p>
          <a:p>
            <a:r>
              <a:rPr lang="en-IN" dirty="0"/>
              <a:t>In another image, the same car is far away:</a:t>
            </a:r>
          </a:p>
          <a:p>
            <a:r>
              <a:rPr lang="en-IN" dirty="0"/>
              <a:t>t is the </a:t>
            </a:r>
            <a:r>
              <a:rPr lang="en-IN" b="1" dirty="0"/>
              <a:t>same object</a:t>
            </a:r>
            <a:r>
              <a:rPr lang="en-IN" dirty="0"/>
              <a:t>, but its size is different.</a:t>
            </a:r>
          </a:p>
          <a:p>
            <a:r>
              <a:rPr lang="en-IN" dirty="0"/>
              <a:t>A computer vision algorithm needs to recognize features at both sizes.</a:t>
            </a:r>
          </a:p>
          <a:p>
            <a:r>
              <a:rPr lang="en-IN" dirty="0"/>
              <a:t>That's why we use </a:t>
            </a:r>
            <a:r>
              <a:rPr lang="en-IN" b="1" dirty="0"/>
              <a:t>scale-space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564156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6E42-204A-D2CE-ECE4-3DC21236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Scale-Space?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49267-84E7-C9E0-CF3F-097428609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Scale-space means looking at the same image at different levels of detail.</a:t>
            </a:r>
          </a:p>
          <a:p>
            <a:r>
              <a:rPr lang="en-IN" dirty="0"/>
              <a:t>We create several versions of the image.</a:t>
            </a:r>
          </a:p>
          <a:p>
            <a:pPr marL="0" indent="0">
              <a:buNone/>
            </a:pPr>
            <a:r>
              <a:rPr lang="en-US" dirty="0"/>
              <a:t>Original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Slightly blurred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More blurred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Very blurred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84951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0EB7B-B6A6-48E9-1809-34CB3BA14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06878-1484-6EE5-E28C-8459DEB55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Why blur?</a:t>
            </a:r>
          </a:p>
          <a:p>
            <a:r>
              <a:rPr lang="en-IN" dirty="0"/>
              <a:t>Because when we blur an image, </a:t>
            </a:r>
            <a:r>
              <a:rPr lang="en-IN" b="1" dirty="0"/>
              <a:t>small details disappear first</a:t>
            </a:r>
            <a:r>
              <a:rPr lang="en-IN" dirty="0"/>
              <a:t>, while large structures remain.</a:t>
            </a:r>
          </a:p>
          <a:p>
            <a:pPr lvl="0"/>
            <a:r>
              <a:rPr lang="en-IN" dirty="0"/>
              <a:t>Small scale → see small details </a:t>
            </a:r>
          </a:p>
          <a:p>
            <a:pPr lvl="0"/>
            <a:r>
              <a:rPr lang="en-IN" dirty="0"/>
              <a:t>Large scale → see large structures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18511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9E6E-760B-5CF6-DEA3-B893A8CAB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Image Pyramid?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7EC86-5F9F-6648-5B8C-6E0F7A359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An image pyramid is an easy way of making the image </a:t>
            </a:r>
            <a:r>
              <a:rPr lang="en-IN" b="1" dirty="0"/>
              <a:t>smaller and smaller</a:t>
            </a:r>
            <a:r>
              <a:rPr lang="en-IN" dirty="0"/>
              <a:t>.</a:t>
            </a:r>
          </a:p>
          <a:p>
            <a:r>
              <a:rPr lang="en-IN" dirty="0"/>
              <a:t>For example, suppose your original image is:</a:t>
            </a:r>
          </a:p>
          <a:p>
            <a:r>
              <a:rPr lang="en-IN" dirty="0"/>
              <a:t>800 × 600</a:t>
            </a:r>
          </a:p>
          <a:p>
            <a:r>
              <a:rPr lang="en-IN" dirty="0"/>
              <a:t>We make:</a:t>
            </a:r>
          </a:p>
          <a:p>
            <a:r>
              <a:rPr lang="en-US" dirty="0"/>
              <a:t>Level 0 → 800 × 600</a:t>
            </a:r>
          </a:p>
          <a:p>
            <a:r>
              <a:rPr lang="en-US" dirty="0"/>
              <a:t>Level 1 → 400 × 300</a:t>
            </a:r>
          </a:p>
          <a:p>
            <a:r>
              <a:rPr lang="en-US" dirty="0"/>
              <a:t>Level 2 → 200 × 150</a:t>
            </a:r>
          </a:p>
          <a:p>
            <a:r>
              <a:rPr lang="en-US" dirty="0"/>
              <a:t>Level 3 → 100 × 75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144220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67F0D-A60D-84A0-1EAD-E9D394C78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DB09C-BECC-05FA-8DD6-5E3EAFD46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It looks like a pyramid, so we call it an </a:t>
            </a:r>
            <a:r>
              <a:rPr lang="en-IN" b="1" dirty="0"/>
              <a:t>image pyramid</a:t>
            </a:r>
            <a:r>
              <a:rPr lang="en-IN" dirty="0"/>
              <a:t>.</a:t>
            </a:r>
          </a:p>
          <a:p>
            <a:r>
              <a:rPr lang="en-IN" dirty="0"/>
              <a:t>How do we create it?</a:t>
            </a:r>
          </a:p>
          <a:p>
            <a:r>
              <a:rPr lang="en-IN" dirty="0"/>
              <a:t>We don't simply make the image smaller.</a:t>
            </a:r>
          </a:p>
          <a:p>
            <a:r>
              <a:rPr lang="en-IN" dirty="0"/>
              <a:t>We normally do:</a:t>
            </a:r>
          </a:p>
          <a:p>
            <a:pPr marL="0" indent="0">
              <a:buNone/>
            </a:pPr>
            <a:r>
              <a:rPr lang="en-US" dirty="0"/>
              <a:t>Original image</a:t>
            </a:r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r>
              <a:rPr lang="en-US" dirty="0"/>
              <a:t>Gaussian Blur</a:t>
            </a:r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r>
              <a:rPr lang="en-US" dirty="0"/>
              <a:t>Reduce size</a:t>
            </a:r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r>
              <a:rPr lang="en-US" dirty="0"/>
              <a:t>New image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801253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2DAB6-EF2F-EEC7-78D1-0D4AC1039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562"/>
            <a:ext cx="10515600" cy="590440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Then repeat:</a:t>
            </a:r>
          </a:p>
          <a:p>
            <a:pPr marL="0" indent="0">
              <a:buNone/>
            </a:pPr>
            <a:r>
              <a:rPr lang="en-IN" dirty="0"/>
              <a:t>Level 0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Blur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Reduce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Level 1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Blur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Reduce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290849202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347DE-6D6F-829D-034E-46A609943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02284-EE2A-B2A1-DAF6-C7E587CCA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Why blur before reducing?</a:t>
            </a:r>
          </a:p>
          <a:p>
            <a:r>
              <a:rPr lang="en-IN" dirty="0"/>
              <a:t>Suppose you have a detailed image:</a:t>
            </a:r>
          </a:p>
          <a:p>
            <a:r>
              <a:rPr lang="en-IN" dirty="0"/>
              <a:t>If you immediately make it smaller, you can lose information incorrectly.	</a:t>
            </a:r>
          </a:p>
          <a:p>
            <a:r>
              <a:rPr lang="en-IN" dirty="0"/>
              <a:t>So first:</a:t>
            </a:r>
          </a:p>
          <a:p>
            <a:pPr marL="0" indent="0">
              <a:buNone/>
            </a:pPr>
            <a:r>
              <a:rPr lang="en-IN" dirty="0"/>
              <a:t>Original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Blur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Remove tiny details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Make smaller</a:t>
            </a:r>
          </a:p>
          <a:p>
            <a:pPr marL="0" indent="0">
              <a:buNone/>
            </a:pPr>
            <a:r>
              <a:rPr lang="en-IN" dirty="0"/>
              <a:t>This gives a better smaller image.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181498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7121-E77A-4528-508C-E0A117511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Very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03827-6A2A-A6A1-A05C-F2B1223FD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you have a hexagon:</a:t>
            </a:r>
          </a:p>
          <a:p>
            <a:r>
              <a:rPr lang="en-IN" dirty="0"/>
              <a:t>At the original size, you can clearly see the six corners.</a:t>
            </a:r>
          </a:p>
          <a:p>
            <a:r>
              <a:rPr lang="en-IN" dirty="0"/>
              <a:t>Now make the image smaller:</a:t>
            </a:r>
          </a:p>
          <a:p>
            <a:r>
              <a:rPr lang="en-IN" dirty="0"/>
              <a:t> The image is smaller, but the </a:t>
            </a:r>
            <a:r>
              <a:rPr lang="en-IN" b="1" dirty="0"/>
              <a:t>main shape is still there</a:t>
            </a:r>
            <a:r>
              <a:rPr lang="en-IN" dirty="0"/>
              <a:t>.</a:t>
            </a:r>
          </a:p>
          <a:p>
            <a:r>
              <a:rPr lang="en-IN" dirty="0"/>
              <a:t>If you make it even smaller:</a:t>
            </a:r>
          </a:p>
          <a:p>
            <a:r>
              <a:rPr lang="en-IN" dirty="0"/>
              <a:t>Some small details disappear, but the main structure remains.</a:t>
            </a:r>
          </a:p>
        </p:txBody>
      </p:sp>
    </p:spTree>
    <p:extLst>
      <p:ext uri="{BB962C8B-B14F-4D97-AF65-F5344CB8AC3E}">
        <p14:creationId xmlns:p14="http://schemas.microsoft.com/office/powerpoint/2010/main" val="387554721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53FBF-FE87-3785-EF0B-AA1BC82CF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this useful in Computer Vision?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DA810-17EC-3D44-CF1A-26B3040E7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you are detecting a corner.</a:t>
            </a:r>
          </a:p>
          <a:p>
            <a:r>
              <a:rPr lang="en-IN" dirty="0"/>
              <a:t>At one image scale:</a:t>
            </a:r>
          </a:p>
          <a:p>
            <a:r>
              <a:rPr lang="en-US" dirty="0"/>
              <a:t>small corner → difficult to detect</a:t>
            </a:r>
          </a:p>
          <a:p>
            <a:r>
              <a:rPr lang="en-IN" dirty="0"/>
              <a:t>At another scale:</a:t>
            </a:r>
          </a:p>
          <a:p>
            <a:r>
              <a:rPr lang="en-US" dirty="0"/>
              <a:t>larger corner → easier to detect</a:t>
            </a:r>
          </a:p>
          <a:p>
            <a:r>
              <a:rPr lang="en-IN" dirty="0"/>
              <a:t>So instead of checking only one version:</a:t>
            </a:r>
          </a:p>
        </p:txBody>
      </p:sp>
    </p:spTree>
    <p:extLst>
      <p:ext uri="{BB962C8B-B14F-4D97-AF65-F5344CB8AC3E}">
        <p14:creationId xmlns:p14="http://schemas.microsoft.com/office/powerpoint/2010/main" val="233056454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FDC62-146B-40CB-265C-B5737F2D0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0823"/>
            <a:ext cx="10515600" cy="57461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Image</a:t>
            </a:r>
          </a:p>
          <a:p>
            <a:pPr marL="0" indent="0">
              <a:buNone/>
            </a:pPr>
            <a:r>
              <a:rPr lang="en-IN" dirty="0"/>
              <a:t> ↓</a:t>
            </a:r>
          </a:p>
          <a:p>
            <a:pPr marL="0" indent="0">
              <a:buNone/>
            </a:pPr>
            <a:r>
              <a:rPr lang="en-IN" dirty="0"/>
              <a:t>Harris</a:t>
            </a:r>
          </a:p>
          <a:p>
            <a:pPr marL="0" indent="0">
              <a:buNone/>
            </a:pPr>
            <a:r>
              <a:rPr lang="en-IN" dirty="0"/>
              <a:t>we can check multiple versions:</a:t>
            </a:r>
          </a:p>
          <a:p>
            <a:pPr marL="0" indent="0">
              <a:buNone/>
            </a:pPr>
            <a:r>
              <a:rPr lang="en-IN" dirty="0"/>
              <a:t>Image</a:t>
            </a:r>
          </a:p>
          <a:p>
            <a:pPr marL="0" indent="0">
              <a:buNone/>
            </a:pPr>
            <a:r>
              <a:rPr lang="en-IN" dirty="0"/>
              <a:t> ↓</a:t>
            </a:r>
          </a:p>
          <a:p>
            <a:pPr marL="0" indent="0">
              <a:buNone/>
            </a:pPr>
            <a:r>
              <a:rPr lang="en-IN" dirty="0"/>
              <a:t>Pyramid</a:t>
            </a:r>
          </a:p>
          <a:p>
            <a:pPr marL="0" indent="0">
              <a:buNone/>
            </a:pPr>
            <a:r>
              <a:rPr lang="en-IN" dirty="0"/>
              <a:t> ↓</a:t>
            </a:r>
          </a:p>
          <a:p>
            <a:pPr marL="0" indent="0">
              <a:buNone/>
            </a:pPr>
            <a:r>
              <a:rPr lang="en-IN" dirty="0"/>
              <a:t> ├── Level 0 → Harris</a:t>
            </a:r>
          </a:p>
          <a:p>
            <a:pPr marL="0" indent="0">
              <a:buNone/>
            </a:pPr>
            <a:r>
              <a:rPr lang="en-IN" dirty="0"/>
              <a:t> ├── Level 1 → Harris</a:t>
            </a:r>
          </a:p>
          <a:p>
            <a:pPr marL="0" indent="0">
              <a:buNone/>
            </a:pPr>
            <a:r>
              <a:rPr lang="en-IN" dirty="0"/>
              <a:t> ├── Level 2 → Harris</a:t>
            </a:r>
          </a:p>
          <a:p>
            <a:pPr marL="0" indent="0">
              <a:buNone/>
            </a:pPr>
            <a:r>
              <a:rPr lang="en-IN" dirty="0"/>
              <a:t> └── Level 3 → Harris</a:t>
            </a:r>
          </a:p>
        </p:txBody>
      </p:sp>
    </p:spTree>
    <p:extLst>
      <p:ext uri="{BB962C8B-B14F-4D97-AF65-F5344CB8AC3E}">
        <p14:creationId xmlns:p14="http://schemas.microsoft.com/office/powerpoint/2010/main" val="78316458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B08A-9689-220A-CE91-45FB05AE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6FE91-D7B1-6A72-B775-94F27351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Now we can find corners at different sizes.</a:t>
            </a:r>
          </a:p>
          <a:p>
            <a:r>
              <a:rPr lang="en-IN" dirty="0"/>
              <a:t>Connection to SIFT</a:t>
            </a:r>
          </a:p>
          <a:p>
            <a:r>
              <a:rPr lang="en-IN" dirty="0"/>
              <a:t>This is why </a:t>
            </a:r>
            <a:r>
              <a:rPr lang="en-IN" b="1" dirty="0"/>
              <a:t>SIFT</a:t>
            </a:r>
            <a:r>
              <a:rPr lang="en-IN" dirty="0"/>
              <a:t> is powerful.</a:t>
            </a:r>
          </a:p>
          <a:p>
            <a:r>
              <a:rPr lang="en-IN" dirty="0"/>
              <a:t>Imagine you have: img1 small and </a:t>
            </a:r>
            <a:r>
              <a:rPr lang="en-IN" dirty="0" err="1"/>
              <a:t>img</a:t>
            </a:r>
            <a:r>
              <a:rPr lang="en-IN" dirty="0"/>
              <a:t> 2 big</a:t>
            </a:r>
          </a:p>
          <a:p>
            <a:r>
              <a:rPr lang="en-IN" dirty="0"/>
              <a:t>SIFT looks at different scales and can find that these are corresponding features.</a:t>
            </a:r>
          </a:p>
          <a:p>
            <a:r>
              <a:rPr lang="en-IN" dirty="0"/>
              <a:t>So:</a:t>
            </a:r>
          </a:p>
          <a:p>
            <a:r>
              <a:rPr lang="en-IN" b="1" dirty="0"/>
              <a:t>Scale-space helps computer vision find the same feature even when its size changes.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751526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C52E9-70B3-218E-43EE-28E495D9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D1E7D-AE17-967F-0053-9A7526935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cv2.circle(</a:t>
            </a:r>
          </a:p>
          <a:p>
            <a:r>
              <a:rPr lang="en-US" dirty="0"/>
              <a:t>    </a:t>
            </a:r>
            <a:r>
              <a:rPr lang="en-US" dirty="0" err="1"/>
              <a:t>img</a:t>
            </a:r>
            <a:r>
              <a:rPr lang="en-US" dirty="0"/>
              <a:t>,        # image</a:t>
            </a:r>
          </a:p>
          <a:p>
            <a:r>
              <a:rPr lang="en-US" dirty="0"/>
              <a:t>    (150,150),  # center</a:t>
            </a:r>
          </a:p>
          <a:p>
            <a:r>
              <a:rPr lang="en-US" dirty="0"/>
              <a:t>    40,         # radius</a:t>
            </a:r>
          </a:p>
          <a:p>
            <a:r>
              <a:rPr lang="en-US" dirty="0"/>
              <a:t>    255,        # color</a:t>
            </a:r>
          </a:p>
          <a:p>
            <a:r>
              <a:rPr lang="en-US" dirty="0"/>
              <a:t>    3           # thickness</a:t>
            </a:r>
          </a:p>
          <a:p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719712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5F3A8-2352-AF87-892C-5EDBC0506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0631"/>
            <a:ext cx="10515600" cy="5526332"/>
          </a:xfrm>
        </p:spPr>
        <p:txBody>
          <a:bodyPr/>
          <a:lstStyle/>
          <a:p>
            <a:r>
              <a:rPr lang="fr-FR" dirty="0"/>
              <a:t>cv2.circle(</a:t>
            </a:r>
            <a:r>
              <a:rPr lang="fr-FR" dirty="0" err="1"/>
              <a:t>img</a:t>
            </a:r>
            <a:r>
              <a:rPr lang="fr-FR" dirty="0"/>
              <a:t>, (350, 350), 100, 255, 3)</a:t>
            </a:r>
          </a:p>
          <a:p>
            <a:r>
              <a:rPr lang="en-IN" dirty="0"/>
              <a:t>Draw a large circle</a:t>
            </a:r>
          </a:p>
          <a:p>
            <a:r>
              <a:rPr lang="en-IN" dirty="0"/>
              <a:t>This creates another circle:</a:t>
            </a:r>
          </a:p>
          <a:p>
            <a:pPr lvl="0"/>
            <a:r>
              <a:rPr lang="en-IN" dirty="0" err="1"/>
              <a:t>Center</a:t>
            </a:r>
            <a:r>
              <a:rPr lang="en-IN" dirty="0"/>
              <a:t> = (350,350) </a:t>
            </a:r>
          </a:p>
          <a:p>
            <a:pPr lvl="0"/>
            <a:r>
              <a:rPr lang="en-IN" dirty="0"/>
              <a:t>Radius = 100 </a:t>
            </a:r>
          </a:p>
          <a:p>
            <a:pPr lvl="0"/>
            <a:r>
              <a:rPr lang="en-IN" dirty="0"/>
              <a:t>White </a:t>
            </a:r>
          </a:p>
          <a:p>
            <a:pPr lvl="0"/>
            <a:r>
              <a:rPr lang="en-IN" dirty="0"/>
              <a:t>Thickness = 3</a:t>
            </a:r>
          </a:p>
          <a:p>
            <a:pPr lvl="0"/>
            <a:endParaRPr lang="en-IN" dirty="0"/>
          </a:p>
          <a:p>
            <a:r>
              <a:rPr lang="en-IN" dirty="0"/>
              <a:t>Create the Image Pyramid</a:t>
            </a:r>
          </a:p>
        </p:txBody>
      </p:sp>
    </p:spTree>
    <p:extLst>
      <p:ext uri="{BB962C8B-B14F-4D97-AF65-F5344CB8AC3E}">
        <p14:creationId xmlns:p14="http://schemas.microsoft.com/office/powerpoint/2010/main" val="8124118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BCD44-4BB4-5F6A-0ED4-D496061B3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DE1AD-D935-B531-C262-9E96E323F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0 → 500 × 500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Level 1 → 250 × 250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Level 2 → 125 × 125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Level 3 → 63 × 63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100652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3D4D-C0D5-895F-5704-641751C57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3F774-F03C-F81E-1CEB-197C87517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does </a:t>
            </a:r>
            <a:r>
              <a:rPr lang="en-IN" dirty="0" err="1"/>
              <a:t>pyrDown</a:t>
            </a:r>
            <a:r>
              <a:rPr lang="en-IN" dirty="0"/>
              <a:t>() actually do?</a:t>
            </a:r>
          </a:p>
          <a:p>
            <a:r>
              <a:rPr lang="en-IN" dirty="0"/>
              <a:t>This is important.</a:t>
            </a:r>
          </a:p>
          <a:p>
            <a:r>
              <a:rPr lang="en-IN" dirty="0"/>
              <a:t>It doesn't simply throw away every second pixel.</a:t>
            </a:r>
          </a:p>
          <a:p>
            <a:r>
              <a:rPr lang="en-IN" dirty="0"/>
              <a:t>500 × 500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Blur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250 × 250</a:t>
            </a:r>
          </a:p>
        </p:txBody>
      </p:sp>
    </p:spTree>
    <p:extLst>
      <p:ext uri="{BB962C8B-B14F-4D97-AF65-F5344CB8AC3E}">
        <p14:creationId xmlns:p14="http://schemas.microsoft.com/office/powerpoint/2010/main" val="301987597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059E0-A179-A54A-C40C-C58449D8A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3046"/>
            <a:ext cx="10515600" cy="554391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Now detect circles</a:t>
            </a:r>
          </a:p>
          <a:p>
            <a:r>
              <a:rPr lang="en-IN" dirty="0"/>
              <a:t>Hough Circle Transform</a:t>
            </a:r>
          </a:p>
          <a:p>
            <a:r>
              <a:rPr lang="en-US" dirty="0"/>
              <a:t>circles = cv2.HoughCircles(</a:t>
            </a:r>
          </a:p>
          <a:p>
            <a:r>
              <a:rPr lang="en-US" dirty="0"/>
              <a:t>    image,</a:t>
            </a:r>
          </a:p>
          <a:p>
            <a:r>
              <a:rPr lang="en-US" dirty="0"/>
              <a:t>    cv2.HOUGH_GRADIENT,</a:t>
            </a:r>
          </a:p>
          <a:p>
            <a:r>
              <a:rPr lang="en-US" dirty="0"/>
              <a:t>    </a:t>
            </a:r>
            <a:r>
              <a:rPr lang="en-US" dirty="0" err="1"/>
              <a:t>dp</a:t>
            </a:r>
            <a:r>
              <a:rPr lang="en-US" dirty="0"/>
              <a:t>=1,</a:t>
            </a:r>
          </a:p>
          <a:p>
            <a:r>
              <a:rPr lang="en-US" dirty="0"/>
              <a:t>    </a:t>
            </a:r>
            <a:r>
              <a:rPr lang="en-US" dirty="0" err="1"/>
              <a:t>minDist</a:t>
            </a:r>
            <a:r>
              <a:rPr lang="en-US" dirty="0"/>
              <a:t>=20,</a:t>
            </a:r>
          </a:p>
          <a:p>
            <a:r>
              <a:rPr lang="en-US" dirty="0"/>
              <a:t>    param1=100,</a:t>
            </a:r>
          </a:p>
          <a:p>
            <a:r>
              <a:rPr lang="en-US" dirty="0"/>
              <a:t>    param2=20,</a:t>
            </a:r>
          </a:p>
          <a:p>
            <a:r>
              <a:rPr lang="en-US" dirty="0"/>
              <a:t>    </a:t>
            </a:r>
            <a:r>
              <a:rPr lang="en-US" dirty="0" err="1"/>
              <a:t>minRadius</a:t>
            </a:r>
            <a:r>
              <a:rPr lang="en-US" dirty="0"/>
              <a:t>=5,</a:t>
            </a:r>
          </a:p>
          <a:p>
            <a:r>
              <a:rPr lang="en-US" dirty="0"/>
              <a:t>    </a:t>
            </a:r>
            <a:r>
              <a:rPr lang="en-US" dirty="0" err="1"/>
              <a:t>maxRadius</a:t>
            </a:r>
            <a:r>
              <a:rPr lang="en-US" dirty="0"/>
              <a:t>=100</a:t>
            </a:r>
          </a:p>
          <a:p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212021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2717-F4E0-84A8-B64A-8EA4BD839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AEAA0-BD06-8ECD-1440-BA98A980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cv2.HOUGH_GRADIENT</a:t>
            </a:r>
          </a:p>
          <a:p>
            <a:r>
              <a:rPr lang="en-IN" dirty="0"/>
              <a:t>This tells OpenCV which method to use for detecting circles.</a:t>
            </a:r>
          </a:p>
          <a:p>
            <a:r>
              <a:rPr lang="en-IN" dirty="0"/>
              <a:t>Image → find edges → look for circular patterns → return circle </a:t>
            </a:r>
            <a:r>
              <a:rPr lang="en-IN" dirty="0" err="1"/>
              <a:t>centers</a:t>
            </a:r>
            <a:r>
              <a:rPr lang="en-IN" dirty="0"/>
              <a:t> + radii</a:t>
            </a:r>
          </a:p>
          <a:p>
            <a:r>
              <a:rPr lang="en-IN" dirty="0" err="1"/>
              <a:t>dp</a:t>
            </a:r>
            <a:r>
              <a:rPr lang="en-IN" dirty="0"/>
              <a:t> controls the resolution of the internal accumulator used by the Hough algorithm.</a:t>
            </a:r>
          </a:p>
          <a:p>
            <a:r>
              <a:rPr lang="en-IN" dirty="0"/>
              <a:t>Imagine your image is 1000 × 1000</a:t>
            </a:r>
          </a:p>
        </p:txBody>
      </p:sp>
    </p:spTree>
    <p:extLst>
      <p:ext uri="{BB962C8B-B14F-4D97-AF65-F5344CB8AC3E}">
        <p14:creationId xmlns:p14="http://schemas.microsoft.com/office/powerpoint/2010/main" val="3990219779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9413-4770-2212-A499-33E50524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5C876-9F96-F8F9-C67E-0231EF17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dp</a:t>
            </a:r>
            <a:r>
              <a:rPr lang="en-IN" dirty="0"/>
              <a:t> = 1</a:t>
            </a:r>
          </a:p>
          <a:p>
            <a:r>
              <a:rPr lang="fr-FR" dirty="0"/>
              <a:t>Image:        1000 × 1000</a:t>
            </a:r>
          </a:p>
          <a:p>
            <a:r>
              <a:rPr lang="fr-FR" dirty="0" err="1"/>
              <a:t>Accumulator</a:t>
            </a:r>
            <a:r>
              <a:rPr lang="fr-FR" dirty="0"/>
              <a:t>:  1000 × 1000</a:t>
            </a:r>
          </a:p>
          <a:p>
            <a:r>
              <a:rPr lang="en-IN" dirty="0" err="1"/>
              <a:t>dp</a:t>
            </a:r>
            <a:r>
              <a:rPr lang="en-IN" dirty="0"/>
              <a:t> = 2</a:t>
            </a:r>
          </a:p>
          <a:p>
            <a:r>
              <a:rPr lang="fr-FR" dirty="0"/>
              <a:t>Image:        1000 × 1000</a:t>
            </a:r>
          </a:p>
          <a:p>
            <a:r>
              <a:rPr lang="fr-FR" dirty="0" err="1"/>
              <a:t>Accumulator</a:t>
            </a:r>
            <a:r>
              <a:rPr lang="fr-FR" dirty="0"/>
              <a:t>:   500 × 500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4233453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3418D-3D82-E896-F785-C15CDCEA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21AAE4-9156-876B-FF11-03A9398BD7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346687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528893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28540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dp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Accumulator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920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resolution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precise, more computation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210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Half resolution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Faster, somewhat less precise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249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4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Quarter resolution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Faster, less precise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686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674162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8F2-B66B-4A66-5A7B-CB3C1A1E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DD06C-287F-4851-D2CB-3305BAC64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minDist</a:t>
            </a:r>
            <a:r>
              <a:rPr lang="en-IN" dirty="0"/>
              <a:t>=20 This specifies the </a:t>
            </a:r>
            <a:r>
              <a:rPr lang="en-IN" b="1" dirty="0"/>
              <a:t>minimum distance between detected circle </a:t>
            </a:r>
            <a:r>
              <a:rPr lang="en-IN" b="1" dirty="0" err="1"/>
              <a:t>centers</a:t>
            </a:r>
            <a:r>
              <a:rPr lang="en-IN" dirty="0"/>
              <a:t>.</a:t>
            </a:r>
          </a:p>
          <a:p>
            <a:r>
              <a:rPr lang="fr-FR" dirty="0"/>
              <a:t>Circle 1 center → (150,150)</a:t>
            </a:r>
          </a:p>
          <a:p>
            <a:r>
              <a:rPr lang="fr-FR" dirty="0"/>
              <a:t>Circle 2 center → (152,151)</a:t>
            </a:r>
          </a:p>
          <a:p>
            <a:r>
              <a:rPr lang="fr-FR" dirty="0"/>
              <a:t>Circle 3 center → (149,150)</a:t>
            </a:r>
          </a:p>
          <a:p>
            <a:r>
              <a:rPr lang="en-IN" dirty="0" err="1"/>
              <a:t>minDist</a:t>
            </a:r>
            <a:r>
              <a:rPr lang="en-IN" dirty="0"/>
              <a:t>=20 tells OpenCV not to accept circle </a:t>
            </a:r>
            <a:r>
              <a:rPr lang="en-IN" dirty="0" err="1"/>
              <a:t>centers</a:t>
            </a:r>
            <a:r>
              <a:rPr lang="en-IN" dirty="0"/>
              <a:t> that are too close to each other.</a:t>
            </a:r>
          </a:p>
        </p:txBody>
      </p:sp>
    </p:spTree>
    <p:extLst>
      <p:ext uri="{BB962C8B-B14F-4D97-AF65-F5344CB8AC3E}">
        <p14:creationId xmlns:p14="http://schemas.microsoft.com/office/powerpoint/2010/main" val="2317556155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99829-33CE-3EBD-B57F-BE53DFCFD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9143D-BACA-E83D-E19B-0D75CE269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param1=100	</a:t>
            </a:r>
          </a:p>
          <a:p>
            <a:r>
              <a:rPr lang="en-IN" dirty="0"/>
              <a:t>This is related to </a:t>
            </a:r>
            <a:r>
              <a:rPr lang="en-IN" b="1" dirty="0"/>
              <a:t>edge detection</a:t>
            </a:r>
            <a:r>
              <a:rPr lang="en-IN" dirty="0"/>
              <a:t> inside the Hough Circle algorithm.</a:t>
            </a:r>
          </a:p>
          <a:p>
            <a:r>
              <a:rPr lang="en-IN" dirty="0"/>
              <a:t>A higher value generally makes the edge detection more selective.</a:t>
            </a:r>
          </a:p>
          <a:p>
            <a:r>
              <a:rPr lang="en-IN" dirty="0"/>
              <a:t>param1 controls one of the thresholds used for detecting edges.</a:t>
            </a:r>
          </a:p>
        </p:txBody>
      </p:sp>
    </p:spTree>
    <p:extLst>
      <p:ext uri="{BB962C8B-B14F-4D97-AF65-F5344CB8AC3E}">
        <p14:creationId xmlns:p14="http://schemas.microsoft.com/office/powerpoint/2010/main" val="226817086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F27F-C2BC-4B1D-88AA-9FB56666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EF904-4CA9-22D4-3F0E-437751489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gradient </a:t>
            </a:r>
            <a:r>
              <a:rPr lang="en-IN" b="1" dirty="0"/>
              <a:t>&gt; 50</a:t>
            </a:r>
            <a:r>
              <a:rPr lang="en-IN" dirty="0"/>
              <a:t> → strong edge </a:t>
            </a:r>
          </a:p>
          <a:p>
            <a:pPr lvl="0"/>
            <a:r>
              <a:rPr lang="en-IN" dirty="0"/>
              <a:t>gradient </a:t>
            </a:r>
            <a:r>
              <a:rPr lang="en-IN" b="1" dirty="0"/>
              <a:t>&lt; 25</a:t>
            </a:r>
            <a:r>
              <a:rPr lang="en-IN" dirty="0"/>
              <a:t> → generally rejected </a:t>
            </a:r>
          </a:p>
          <a:p>
            <a:pPr lvl="0"/>
            <a:r>
              <a:rPr lang="en-IN" dirty="0"/>
              <a:t>gradient </a:t>
            </a:r>
            <a:r>
              <a:rPr lang="en-IN" b="1" dirty="0"/>
              <a:t>25–50</a:t>
            </a:r>
            <a:r>
              <a:rPr lang="en-IN" dirty="0"/>
              <a:t> → potentially kept if connected to a strong edge </a:t>
            </a:r>
          </a:p>
          <a:p>
            <a:r>
              <a:rPr lang="en-IN" b="1" dirty="0"/>
              <a:t>Important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9330180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FB5C-187A-6C8D-67DB-9F9A0A728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BFB1C-DFAD-23D0-81B8-732539F4E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param1 = 20  → easier to detect weak edges</a:t>
            </a:r>
          </a:p>
          <a:p>
            <a:r>
              <a:rPr lang="en-US" dirty="0"/>
              <a:t>param1 = 50  → medium threshold</a:t>
            </a:r>
          </a:p>
          <a:p>
            <a:r>
              <a:rPr lang="en-US" dirty="0"/>
              <a:t>param1 = 100 → requires stronger edges</a:t>
            </a:r>
          </a:p>
          <a:p>
            <a:r>
              <a:rPr lang="en-US" dirty="0"/>
              <a:t>param1 = 200 → requires very strong edges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982412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6ADAD-901E-2870-7DF6-E10576E6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AC193B-2856-5E28-BB0C-DB3427F4E7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315494"/>
          <a:ext cx="10515600" cy="1371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6006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509386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84021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Think of it 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032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param1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Edge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"Is this an edge?"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268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param2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Circle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"Is this enough evidence for a circle?"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80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308975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C9F2-8A32-F076-13BE-DB8D985B4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4592"/>
            <a:ext cx="10515600" cy="5482371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Param2 This controls </a:t>
            </a:r>
            <a:r>
              <a:rPr lang="en-IN" b="1" dirty="0"/>
              <a:t>how much evidence/votes are required before OpenCV accepts something as a circle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US" dirty="0"/>
              <a:t>Pixel values</a:t>
            </a:r>
          </a:p>
          <a:p>
            <a:pPr marL="0" indent="0">
              <a:buNone/>
            </a:pPr>
            <a:r>
              <a:rPr lang="en-US" dirty="0"/>
              <a:t>    ↓</a:t>
            </a:r>
          </a:p>
          <a:p>
            <a:pPr marL="0" indent="0">
              <a:buNone/>
            </a:pPr>
            <a:r>
              <a:rPr lang="en-US" dirty="0"/>
              <a:t>Gradient / edges</a:t>
            </a:r>
          </a:p>
          <a:p>
            <a:pPr marL="0" indent="0">
              <a:buNone/>
            </a:pPr>
            <a:r>
              <a:rPr lang="en-US" dirty="0"/>
              <a:t>    ↓</a:t>
            </a:r>
          </a:p>
          <a:p>
            <a:pPr marL="0" indent="0">
              <a:buNone/>
            </a:pPr>
            <a:r>
              <a:rPr lang="en-US" dirty="0"/>
              <a:t>param1 = 50</a:t>
            </a:r>
          </a:p>
          <a:p>
            <a:pPr marL="0" indent="0">
              <a:buNone/>
            </a:pPr>
            <a:r>
              <a:rPr lang="en-US" dirty="0"/>
              <a:t>"Which pixels are edges?"</a:t>
            </a:r>
          </a:p>
          <a:p>
            <a:pPr marL="0" indent="0">
              <a:buNone/>
            </a:pPr>
            <a:r>
              <a:rPr lang="en-US" dirty="0"/>
              <a:t>    ↓</a:t>
            </a:r>
          </a:p>
          <a:p>
            <a:pPr marL="0" indent="0">
              <a:buNone/>
            </a:pPr>
            <a:r>
              <a:rPr lang="en-US" dirty="0"/>
              <a:t>Possible circles</a:t>
            </a:r>
          </a:p>
          <a:p>
            <a:pPr marL="0" indent="0">
              <a:buNone/>
            </a:pPr>
            <a:r>
              <a:rPr lang="en-US" dirty="0"/>
              <a:t>    ↓</a:t>
            </a:r>
          </a:p>
          <a:p>
            <a:pPr marL="0" indent="0">
              <a:buNone/>
            </a:pPr>
            <a:r>
              <a:rPr lang="en-US" dirty="0"/>
              <a:t>param2 = 20</a:t>
            </a:r>
          </a:p>
          <a:p>
            <a:pPr marL="0" indent="0">
              <a:buNone/>
            </a:pPr>
            <a:r>
              <a:rPr lang="en-US" dirty="0"/>
              <a:t>"Does this have enough evidence to be a circle?"</a:t>
            </a:r>
          </a:p>
          <a:p>
            <a:pPr marL="0" indent="0">
              <a:buNone/>
            </a:pPr>
            <a:r>
              <a:rPr lang="en-US" dirty="0"/>
              <a:t>    ↓</a:t>
            </a:r>
          </a:p>
          <a:p>
            <a:pPr marL="0" indent="0">
              <a:buNone/>
            </a:pPr>
            <a:r>
              <a:rPr lang="en-US" dirty="0"/>
              <a:t>Circle detected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13756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4041-5A8F-9C77-E1F1-A4D7AFA27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0124E-4865-4C59-C087-D41FAB6B2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Circle candidate A → 50 votes</a:t>
            </a:r>
          </a:p>
          <a:p>
            <a:r>
              <a:rPr lang="fr-FR" dirty="0"/>
              <a:t>Circle candidate B → 25 votes</a:t>
            </a:r>
          </a:p>
          <a:p>
            <a:r>
              <a:rPr lang="fr-FR" dirty="0"/>
              <a:t>Circle candidate C → 15 votes</a:t>
            </a:r>
          </a:p>
          <a:p>
            <a:r>
              <a:rPr lang="fr-FR" dirty="0"/>
              <a:t>I</a:t>
            </a:r>
            <a:r>
              <a:rPr lang="en-IN" dirty="0"/>
              <a:t>t means the circle candidate needs roughly </a:t>
            </a:r>
            <a:r>
              <a:rPr lang="en-IN" b="1" dirty="0"/>
              <a:t>20 accumulator votes</a:t>
            </a:r>
            <a:r>
              <a:rPr lang="en-IN" dirty="0"/>
              <a:t> to pass the detection threshold.</a:t>
            </a:r>
          </a:p>
          <a:p>
            <a:r>
              <a:rPr lang="en-US" dirty="0"/>
              <a:t>A: 50 ≥ 20  →detected</a:t>
            </a:r>
          </a:p>
          <a:p>
            <a:r>
              <a:rPr lang="en-US" dirty="0"/>
              <a:t>B: 25 ≥ 20  → detected</a:t>
            </a:r>
          </a:p>
          <a:p>
            <a:r>
              <a:rPr lang="en-US" dirty="0"/>
              <a:t>C: 15 &lt; 20  → rejected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731121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6509-9AD1-3F5C-BF16-FBAEBD3D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D065A-150A-FFDE-15F7-196B11477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minRadius</a:t>
            </a:r>
            <a:r>
              <a:rPr lang="en-IN" dirty="0"/>
              <a:t>=5,</a:t>
            </a:r>
          </a:p>
          <a:p>
            <a:r>
              <a:rPr lang="en-IN" dirty="0" err="1"/>
              <a:t>maxRadius</a:t>
            </a:r>
            <a:r>
              <a:rPr lang="en-IN" dirty="0"/>
              <a:t>=100</a:t>
            </a:r>
          </a:p>
          <a:p>
            <a:r>
              <a:rPr lang="en-IN" dirty="0"/>
              <a:t>Radius &lt; 5       → ignore</a:t>
            </a:r>
          </a:p>
          <a:p>
            <a:r>
              <a:rPr lang="en-IN" dirty="0"/>
              <a:t>5 to 100         → possible circle</a:t>
            </a:r>
          </a:p>
          <a:p>
            <a:r>
              <a:rPr lang="en-IN" dirty="0"/>
              <a:t>Radius &gt; 100     → ignore</a:t>
            </a:r>
          </a:p>
          <a:p>
            <a:r>
              <a:rPr lang="en-IN" dirty="0"/>
              <a:t>Only look for circles whose radius is between 5 and 100 pixels.</a:t>
            </a:r>
          </a:p>
        </p:txBody>
      </p:sp>
    </p:spTree>
    <p:extLst>
      <p:ext uri="{BB962C8B-B14F-4D97-AF65-F5344CB8AC3E}">
        <p14:creationId xmlns:p14="http://schemas.microsoft.com/office/powerpoint/2010/main" val="428527671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0184B-85F7-9BC7-31D6-0D0B0A4C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DBA30-F45D-3FD6-ECD3-1CCA4C02B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x, y, r in circles[0]:</a:t>
            </a:r>
          </a:p>
          <a:p>
            <a:r>
              <a:rPr lang="es-ES" dirty="0"/>
              <a:t>x = center x-</a:t>
            </a:r>
            <a:r>
              <a:rPr lang="es-ES" dirty="0" err="1"/>
              <a:t>coordinate</a:t>
            </a:r>
            <a:endParaRPr lang="es-ES" dirty="0"/>
          </a:p>
          <a:p>
            <a:r>
              <a:rPr lang="es-ES" dirty="0"/>
              <a:t>y = center y-</a:t>
            </a:r>
            <a:r>
              <a:rPr lang="es-ES" dirty="0" err="1"/>
              <a:t>coordinate</a:t>
            </a:r>
            <a:endParaRPr lang="es-ES" dirty="0"/>
          </a:p>
          <a:p>
            <a:r>
              <a:rPr lang="es-ES" dirty="0"/>
              <a:t>r = </a:t>
            </a:r>
            <a:r>
              <a:rPr lang="es-ES" dirty="0" err="1"/>
              <a:t>radius</a:t>
            </a:r>
            <a:endParaRPr lang="es-ES" dirty="0"/>
          </a:p>
          <a:p>
            <a:r>
              <a:rPr lang="en-IN" dirty="0"/>
              <a:t>x = 120</a:t>
            </a:r>
          </a:p>
          <a:p>
            <a:r>
              <a:rPr lang="en-IN" dirty="0"/>
              <a:t>y = 150</a:t>
            </a:r>
          </a:p>
          <a:p>
            <a:r>
              <a:rPr lang="en-IN" dirty="0"/>
              <a:t>r = 40</a:t>
            </a:r>
          </a:p>
          <a:p>
            <a:r>
              <a:rPr lang="en-IN" dirty="0"/>
              <a:t>circles[0] is used because </a:t>
            </a:r>
            <a:r>
              <a:rPr lang="en-IN" dirty="0" err="1"/>
              <a:t>HoughCircles</a:t>
            </a:r>
            <a:r>
              <a:rPr lang="en-IN" dirty="0"/>
              <a:t>() typically returns an array shaped like:</a:t>
            </a:r>
          </a:p>
        </p:txBody>
      </p:sp>
    </p:spTree>
    <p:extLst>
      <p:ext uri="{BB962C8B-B14F-4D97-AF65-F5344CB8AC3E}">
        <p14:creationId xmlns:p14="http://schemas.microsoft.com/office/powerpoint/2010/main" val="250260987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8982-9D01-F74B-E9EA-F5840AD0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8C1C-5E25-C80F-5A09-66C70CA87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(1, </a:t>
            </a:r>
            <a:r>
              <a:rPr lang="en-US" dirty="0" err="1"/>
              <a:t>number_of_circles</a:t>
            </a:r>
            <a:r>
              <a:rPr lang="en-US" dirty="0"/>
              <a:t>, 3)</a:t>
            </a:r>
          </a:p>
          <a:p>
            <a:r>
              <a:rPr lang="en-IN" dirty="0"/>
              <a:t>So circles[0] gives you the actual list of circles.</a:t>
            </a:r>
          </a:p>
          <a:p>
            <a:r>
              <a:rPr lang="en-IN" dirty="0"/>
              <a:t>(1, 2, 3)</a:t>
            </a:r>
          </a:p>
          <a:p>
            <a:r>
              <a:rPr lang="en-IN" dirty="0"/>
              <a:t> ↑  ↑  ↑</a:t>
            </a:r>
          </a:p>
          <a:p>
            <a:r>
              <a:rPr lang="en-IN" dirty="0"/>
              <a:t> │  │  └── x, y, radius</a:t>
            </a:r>
          </a:p>
          <a:p>
            <a:r>
              <a:rPr lang="en-IN" dirty="0"/>
              <a:t> │  └───── 2 detected circles</a:t>
            </a:r>
          </a:p>
          <a:p>
            <a:r>
              <a:rPr lang="en-IN" dirty="0"/>
              <a:t> └──────── 1 outer group</a:t>
            </a:r>
          </a:p>
          <a:p>
            <a:r>
              <a:rPr lang="en-IN" dirty="0"/>
              <a:t>It become (2,3) by circle[0]</a:t>
            </a:r>
          </a:p>
        </p:txBody>
      </p:sp>
    </p:spTree>
    <p:extLst>
      <p:ext uri="{BB962C8B-B14F-4D97-AF65-F5344CB8AC3E}">
        <p14:creationId xmlns:p14="http://schemas.microsoft.com/office/powerpoint/2010/main" val="3979495208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57DE-6D0D-C96D-B69D-63EAE689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Gaussian derivative filters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00DE8-864E-3D9A-67B8-FEF1AEB86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Gaussian derivative filters</a:t>
            </a:r>
            <a:r>
              <a:rPr lang="en-IN" dirty="0"/>
              <a:t> are very important in image processing because they help us detect </a:t>
            </a:r>
            <a:r>
              <a:rPr lang="en-IN" b="1" dirty="0"/>
              <a:t>edges, lines, and changes in intensity</a:t>
            </a:r>
            <a:r>
              <a:rPr lang="en-IN" dirty="0"/>
              <a:t> while reducing noise.</a:t>
            </a:r>
          </a:p>
          <a:p>
            <a:r>
              <a:rPr lang="en-IN" dirty="0"/>
              <a:t>First understand what a filter does</a:t>
            </a:r>
          </a:p>
          <a:p>
            <a:r>
              <a:rPr lang="en-IN" dirty="0"/>
              <a:t>An image is basically a matrix of pixel values.</a:t>
            </a:r>
          </a:p>
          <a:p>
            <a:r>
              <a:rPr lang="en-IN" dirty="0"/>
              <a:t>For example, a simple 1D image might look like:</a:t>
            </a:r>
          </a:p>
          <a:p>
            <a:r>
              <a:rPr lang="en-IN" dirty="0"/>
              <a:t>10  10  10  10  10  200  200  200  200</a:t>
            </a:r>
          </a:p>
        </p:txBody>
      </p:sp>
    </p:spTree>
    <p:extLst>
      <p:ext uri="{BB962C8B-B14F-4D97-AF65-F5344CB8AC3E}">
        <p14:creationId xmlns:p14="http://schemas.microsoft.com/office/powerpoint/2010/main" val="4248859954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A5D4-78F4-17FC-AC71-98C88419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EDC95-D907-7E2A-9DD2-6EF3F8E2E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is a sudden change:</a:t>
            </a:r>
          </a:p>
          <a:p>
            <a:pPr marL="0" indent="0">
              <a:buNone/>
            </a:pPr>
            <a:r>
              <a:rPr lang="en-US" dirty="0"/>
              <a:t>10 10 10 10 10 | 200 200 200 200</a:t>
            </a:r>
          </a:p>
          <a:p>
            <a:pPr marL="0" indent="0">
              <a:buNone/>
            </a:pPr>
            <a:r>
              <a:rPr lang="en-US" dirty="0"/>
              <a:t>                              ↑</a:t>
            </a:r>
          </a:p>
          <a:p>
            <a:pPr marL="0" indent="0">
              <a:buNone/>
            </a:pPr>
            <a:r>
              <a:rPr lang="en-US" dirty="0"/>
              <a:t>                           edge</a:t>
            </a:r>
          </a:p>
          <a:p>
            <a:r>
              <a:rPr lang="en-IN" dirty="0"/>
              <a:t>An </a:t>
            </a:r>
            <a:r>
              <a:rPr lang="en-IN" b="1" dirty="0"/>
              <a:t>edge</a:t>
            </a:r>
            <a:r>
              <a:rPr lang="en-IN" dirty="0"/>
              <a:t> occurs where pixel intensity changes rapidly.</a:t>
            </a:r>
          </a:p>
          <a:p>
            <a:r>
              <a:rPr lang="en-IN" dirty="0"/>
              <a:t>So the question is:</a:t>
            </a:r>
          </a:p>
          <a:p>
            <a:r>
              <a:rPr lang="en-IN" dirty="0"/>
              <a:t>How can we mathematically find where the image changes?</a:t>
            </a:r>
          </a:p>
          <a:p>
            <a:r>
              <a:rPr lang="en-IN" dirty="0"/>
              <a:t>The answer is: </a:t>
            </a:r>
            <a:r>
              <a:rPr lang="en-IN" b="1" dirty="0"/>
              <a:t>derivatives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469115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F11D-5FA1-7794-2246-42080621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does a derivative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95AB6-EAC7-BCD8-8599-236871EC8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mathematics, a derivative tells us:</a:t>
            </a:r>
          </a:p>
          <a:p>
            <a:r>
              <a:rPr lang="en-IN" b="1" dirty="0"/>
              <a:t>How quickly something is changing.</a:t>
            </a:r>
            <a:endParaRPr lang="en-IN" dirty="0"/>
          </a:p>
          <a:p>
            <a:r>
              <a:rPr lang="en-IN" dirty="0"/>
              <a:t>For example:</a:t>
            </a:r>
          </a:p>
          <a:p>
            <a:r>
              <a:rPr lang="en-IN" dirty="0"/>
              <a:t>f(x) = x²</a:t>
            </a:r>
          </a:p>
          <a:p>
            <a:r>
              <a:rPr lang="en-IN" dirty="0"/>
              <a:t>Its derivative is:</a:t>
            </a:r>
          </a:p>
          <a:p>
            <a:r>
              <a:rPr lang="en-IN" dirty="0"/>
              <a:t>f'(x) = 2x</a:t>
            </a:r>
          </a:p>
        </p:txBody>
      </p:sp>
    </p:spTree>
    <p:extLst>
      <p:ext uri="{BB962C8B-B14F-4D97-AF65-F5344CB8AC3E}">
        <p14:creationId xmlns:p14="http://schemas.microsoft.com/office/powerpoint/2010/main" val="3362475660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FA28-2B6F-0D80-9C1C-F50364D5B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0ECD2-CF9D-FD21-0C49-A9F73E786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image processing, we can think of:</a:t>
            </a:r>
          </a:p>
          <a:p>
            <a:r>
              <a:rPr lang="de-DE" dirty="0"/>
              <a:t>x → position in image</a:t>
            </a:r>
          </a:p>
          <a:p>
            <a:r>
              <a:rPr lang="de-DE" dirty="0"/>
              <a:t>f(x) → pixel intensity</a:t>
            </a:r>
          </a:p>
          <a:p>
            <a:r>
              <a:rPr lang="en-IN" dirty="0"/>
              <a:t>So the derivative tells us:</a:t>
            </a:r>
          </a:p>
          <a:p>
            <a:r>
              <a:rPr lang="en-IN" b="1" dirty="0"/>
              <a:t>How quickly pixel intensity changes as we move across the image.</a:t>
            </a:r>
            <a:endParaRPr lang="en-IN" dirty="0"/>
          </a:p>
          <a:p>
            <a:r>
              <a:rPr lang="en-IN" dirty="0"/>
              <a:t>That is exactly what we need for edge detection.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73322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CBC3C-3D13-E421-4063-2DAA2E63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example of an image derivative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032F2-0644-907D-1230-6C75848D6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Suppose pixel intensities are:</a:t>
            </a:r>
          </a:p>
          <a:p>
            <a:r>
              <a:rPr lang="en-IN" dirty="0"/>
              <a:t>10  10  10  10  200  200  200  200</a:t>
            </a:r>
          </a:p>
          <a:p>
            <a:r>
              <a:rPr lang="en-IN" dirty="0"/>
              <a:t>Calculate the approximate difference between </a:t>
            </a:r>
            <a:r>
              <a:rPr lang="en-IN" dirty="0" err="1"/>
              <a:t>neighboring</a:t>
            </a:r>
            <a:r>
              <a:rPr lang="en-IN" dirty="0"/>
              <a:t> pixels:</a:t>
            </a:r>
          </a:p>
          <a:p>
            <a:r>
              <a:rPr lang="en-IN" dirty="0"/>
              <a:t>10 → 10      difference = 0</a:t>
            </a:r>
          </a:p>
          <a:p>
            <a:r>
              <a:rPr lang="en-IN" dirty="0"/>
              <a:t>10 → 10      difference = 0</a:t>
            </a:r>
          </a:p>
          <a:p>
            <a:r>
              <a:rPr lang="en-IN" dirty="0"/>
              <a:t>10 → 10      difference = 0</a:t>
            </a:r>
          </a:p>
          <a:p>
            <a:r>
              <a:rPr lang="en-IN" dirty="0"/>
              <a:t>10 → 200     difference = 190  ← BIG CHANGE</a:t>
            </a:r>
          </a:p>
          <a:p>
            <a:r>
              <a:rPr lang="en-IN" dirty="0"/>
              <a:t>200 → 200    difference = 0</a:t>
            </a:r>
          </a:p>
          <a:p>
            <a:r>
              <a:rPr lang="en-IN" dirty="0"/>
              <a:t>200 → 200    difference = 0</a:t>
            </a:r>
          </a:p>
          <a:p>
            <a:r>
              <a:rPr lang="en-IN" dirty="0"/>
              <a:t>200 → 200    difference = 0</a:t>
            </a:r>
          </a:p>
        </p:txBody>
      </p:sp>
    </p:spTree>
    <p:extLst>
      <p:ext uri="{BB962C8B-B14F-4D97-AF65-F5344CB8AC3E}">
        <p14:creationId xmlns:p14="http://schemas.microsoft.com/office/powerpoint/2010/main" val="2196215808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0A77-59DC-AF2F-3819-29FEE6AAE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7A4F6-DC04-9DA2-E47E-E661BCF11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 the derivative will be approximately:</a:t>
            </a:r>
          </a:p>
          <a:p>
            <a:r>
              <a:rPr lang="en-IN" dirty="0"/>
              <a:t>0   0   0   190   0   0   0</a:t>
            </a:r>
          </a:p>
          <a:p>
            <a:r>
              <a:rPr lang="en-IN" dirty="0"/>
              <a:t>The large value tells us:</a:t>
            </a:r>
          </a:p>
          <a:p>
            <a:r>
              <a:rPr lang="en-IN" b="1" dirty="0"/>
              <a:t>There is an edge here.</a:t>
            </a:r>
            <a:endParaRPr lang="en-IN" dirty="0"/>
          </a:p>
          <a:p>
            <a:r>
              <a:rPr lang="en-IN" dirty="0"/>
              <a:t>But there is a problem: noise</a:t>
            </a:r>
          </a:p>
          <a:p>
            <a:r>
              <a:rPr lang="en-IN" dirty="0"/>
              <a:t>Real images aren't perfectly clean.</a:t>
            </a:r>
          </a:p>
          <a:p>
            <a:r>
              <a:rPr lang="en-IN" dirty="0"/>
              <a:t>Imagine:</a:t>
            </a:r>
          </a:p>
        </p:txBody>
      </p:sp>
    </p:spTree>
    <p:extLst>
      <p:ext uri="{BB962C8B-B14F-4D97-AF65-F5344CB8AC3E}">
        <p14:creationId xmlns:p14="http://schemas.microsoft.com/office/powerpoint/2010/main" val="2239987866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BE5A-2D4D-628B-6731-A3C30520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B42EA-F5BA-967D-0A12-FAAC2071A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10  12  9  11  10  200  198  201</a:t>
            </a:r>
          </a:p>
          <a:p>
            <a:r>
              <a:rPr lang="en-IN" dirty="0"/>
              <a:t>There are small random changes:</a:t>
            </a:r>
          </a:p>
          <a:p>
            <a:r>
              <a:rPr lang="en-IN" dirty="0"/>
              <a:t>10 → 12</a:t>
            </a:r>
          </a:p>
          <a:p>
            <a:r>
              <a:rPr lang="en-IN" dirty="0"/>
              <a:t>12 → 9</a:t>
            </a:r>
          </a:p>
          <a:p>
            <a:r>
              <a:rPr lang="en-IN" dirty="0"/>
              <a:t>9 → 11</a:t>
            </a:r>
          </a:p>
          <a:p>
            <a:r>
              <a:rPr lang="en-IN" dirty="0"/>
              <a:t>A derivative sees those changes too.</a:t>
            </a:r>
          </a:p>
          <a:p>
            <a:r>
              <a:rPr lang="en-IN" dirty="0"/>
              <a:t>So we might get:</a:t>
            </a:r>
          </a:p>
          <a:p>
            <a:r>
              <a:rPr lang="en-IN" dirty="0"/>
              <a:t>+2  -3  +2  -1  +190  -2  +3</a:t>
            </a:r>
          </a:p>
        </p:txBody>
      </p:sp>
    </p:spTree>
    <p:extLst>
      <p:ext uri="{BB962C8B-B14F-4D97-AF65-F5344CB8AC3E}">
        <p14:creationId xmlns:p14="http://schemas.microsoft.com/office/powerpoint/2010/main" val="380727754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F9C9-CC17-786F-CEBD-C013507A0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0EA6C-11C8-FEF1-8535-90D6A7D23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real edge is +190, but there are also many small changes caused by </a:t>
            </a:r>
            <a:r>
              <a:rPr lang="en-IN" b="1" dirty="0"/>
              <a:t>noise</a:t>
            </a:r>
            <a:r>
              <a:rPr lang="en-IN" dirty="0"/>
              <a:t>.</a:t>
            </a:r>
          </a:p>
          <a:p>
            <a:r>
              <a:rPr lang="en-IN" dirty="0"/>
              <a:t>This is where the </a:t>
            </a:r>
            <a:r>
              <a:rPr lang="en-IN" b="1" dirty="0"/>
              <a:t>Gaussian filter</a:t>
            </a:r>
            <a:r>
              <a:rPr lang="en-IN" dirty="0"/>
              <a:t> becomes useful.</a:t>
            </a:r>
          </a:p>
          <a:p>
            <a:r>
              <a:rPr lang="en-IN" dirty="0"/>
              <a:t>What is a Gaussian filter?</a:t>
            </a:r>
          </a:p>
          <a:p>
            <a:r>
              <a:rPr lang="en-IN" dirty="0"/>
              <a:t>A Gaussian filter is a </a:t>
            </a:r>
            <a:r>
              <a:rPr lang="en-IN" b="1" dirty="0"/>
              <a:t>smoothing filter</a:t>
            </a:r>
            <a:r>
              <a:rPr lang="en-IN" dirty="0"/>
              <a:t>.</a:t>
            </a:r>
          </a:p>
          <a:p>
            <a:r>
              <a:rPr lang="en-IN" dirty="0"/>
              <a:t>It reduces small variations and noise</a:t>
            </a:r>
          </a:p>
        </p:txBody>
      </p:sp>
    </p:spTree>
    <p:extLst>
      <p:ext uri="{BB962C8B-B14F-4D97-AF65-F5344CB8AC3E}">
        <p14:creationId xmlns:p14="http://schemas.microsoft.com/office/powerpoint/2010/main" val="2099110524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8C605-CB3A-0D21-0ACC-1430F8A5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776095-3B3C-04CD-ED13-EA42BD609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4924" y="1951892"/>
            <a:ext cx="7224299" cy="252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64818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0191-FE04-1688-91D3-9A1BC6E2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9D3E9-7459-5A25-4A41-5D20F7EC8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Gaussian filtering gives more importance to nearby pixels and less importance to distant pixels.</a:t>
            </a:r>
          </a:p>
          <a:p>
            <a:r>
              <a:rPr lang="en-IN" dirty="0"/>
              <a:t>Example of Gaussian smoothing</a:t>
            </a:r>
          </a:p>
          <a:p>
            <a:r>
              <a:rPr lang="en-IN" dirty="0"/>
              <a:t>Suppose we have:</a:t>
            </a:r>
          </a:p>
          <a:p>
            <a:r>
              <a:rPr lang="en-IN" dirty="0"/>
              <a:t>10  10  12  9  11  200  198  201</a:t>
            </a:r>
          </a:p>
          <a:p>
            <a:r>
              <a:rPr lang="en-IN" dirty="0"/>
              <a:t>Gaussian smoothing averages nearby pixels, but gives the </a:t>
            </a:r>
            <a:r>
              <a:rPr lang="en-IN" dirty="0" err="1"/>
              <a:t>center</a:t>
            </a:r>
            <a:r>
              <a:rPr lang="en-IN" dirty="0"/>
              <a:t> pixel more importance.</a:t>
            </a:r>
          </a:p>
        </p:txBody>
      </p:sp>
    </p:spTree>
    <p:extLst>
      <p:ext uri="{BB962C8B-B14F-4D97-AF65-F5344CB8AC3E}">
        <p14:creationId xmlns:p14="http://schemas.microsoft.com/office/powerpoint/2010/main" val="172547883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F674-7D64-09D4-CE3C-74FFCC37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9F5A-7A3F-2304-7DBD-C811F69E3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 instead of:</a:t>
            </a:r>
          </a:p>
          <a:p>
            <a:r>
              <a:rPr lang="en-IN" dirty="0"/>
              <a:t>10  10  12  9  11  200 ...</a:t>
            </a:r>
          </a:p>
          <a:p>
            <a:r>
              <a:rPr lang="en-IN" dirty="0"/>
              <a:t>we get something smoother, approximately:	</a:t>
            </a:r>
          </a:p>
          <a:p>
            <a:r>
              <a:rPr lang="en-IN" dirty="0"/>
              <a:t>10  10  11  11  50  160  195 ...</a:t>
            </a:r>
          </a:p>
          <a:p>
            <a:r>
              <a:rPr lang="en-IN" dirty="0"/>
              <a:t>The exact values depend on the Gaussian's σ.</a:t>
            </a:r>
          </a:p>
        </p:txBody>
      </p:sp>
    </p:spTree>
    <p:extLst>
      <p:ext uri="{BB962C8B-B14F-4D97-AF65-F5344CB8AC3E}">
        <p14:creationId xmlns:p14="http://schemas.microsoft.com/office/powerpoint/2010/main" val="4156519767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EBE4-973E-4238-D8B7-3D412C0F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08055-6548-F3DE-9D5A-22AE5F5AF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10   10   12   9   11   200   198   201</a:t>
            </a:r>
          </a:p>
          <a:p>
            <a:r>
              <a:rPr lang="en-IN" dirty="0"/>
              <a:t>A Gaussian filter doesn't simply take the normal average. It gives </a:t>
            </a:r>
            <a:r>
              <a:rPr lang="en-IN" b="1" dirty="0"/>
              <a:t>more weight to the </a:t>
            </a:r>
            <a:r>
              <a:rPr lang="en-IN" b="1" dirty="0" err="1"/>
              <a:t>center</a:t>
            </a:r>
            <a:r>
              <a:rPr lang="en-IN" dirty="0"/>
              <a:t> and less weight to pixels farther away.</a:t>
            </a:r>
          </a:p>
          <a:p>
            <a:r>
              <a:rPr lang="en-IN" dirty="0"/>
              <a:t>A simple Gaussian-like kernel could be:</a:t>
            </a:r>
          </a:p>
          <a:p>
            <a:r>
              <a:rPr lang="en-IN" dirty="0"/>
              <a:t>1   2   1</a:t>
            </a:r>
          </a:p>
          <a:p>
            <a:r>
              <a:rPr lang="en-IN" dirty="0"/>
              <a:t>---------</a:t>
            </a:r>
          </a:p>
          <a:p>
            <a:r>
              <a:rPr lang="en-IN" dirty="0"/>
              <a:t>  4</a:t>
            </a:r>
          </a:p>
          <a:p>
            <a:r>
              <a:rPr lang="en-IN" dirty="0"/>
              <a:t>0.25   0.50   0.25</a:t>
            </a:r>
          </a:p>
        </p:txBody>
      </p:sp>
    </p:spTree>
    <p:extLst>
      <p:ext uri="{BB962C8B-B14F-4D97-AF65-F5344CB8AC3E}">
        <p14:creationId xmlns:p14="http://schemas.microsoft.com/office/powerpoint/2010/main" val="598077807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9608-49EF-D4C2-7482-CF9F6C1DD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Apply it to one pixel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448EC-72E7-8C11-5770-BDAE21A77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Take this section:</a:t>
            </a:r>
          </a:p>
          <a:p>
            <a:r>
              <a:rPr lang="en-IN" dirty="0"/>
              <a:t>10   10   12</a:t>
            </a:r>
          </a:p>
          <a:p>
            <a:r>
              <a:rPr lang="en-IN" dirty="0"/>
              <a:t>The </a:t>
            </a:r>
            <a:r>
              <a:rPr lang="en-IN" dirty="0" err="1"/>
              <a:t>center</a:t>
            </a:r>
            <a:r>
              <a:rPr lang="en-IN" dirty="0"/>
              <a:t> is 10.</a:t>
            </a:r>
          </a:p>
          <a:p>
            <a:r>
              <a:rPr lang="en-IN" dirty="0"/>
              <a:t>10 × 0.25</a:t>
            </a:r>
          </a:p>
          <a:p>
            <a:r>
              <a:rPr lang="en-IN" dirty="0"/>
              <a:t>+</a:t>
            </a:r>
          </a:p>
          <a:p>
            <a:r>
              <a:rPr lang="en-IN" dirty="0"/>
              <a:t>10 × 0.50</a:t>
            </a:r>
          </a:p>
          <a:p>
            <a:r>
              <a:rPr lang="en-IN" dirty="0"/>
              <a:t>+</a:t>
            </a:r>
          </a:p>
          <a:p>
            <a:r>
              <a:rPr lang="en-IN" dirty="0"/>
              <a:t>12 × 0.25 =11</a:t>
            </a:r>
          </a:p>
        </p:txBody>
      </p:sp>
    </p:spTree>
    <p:extLst>
      <p:ext uri="{BB962C8B-B14F-4D97-AF65-F5344CB8AC3E}">
        <p14:creationId xmlns:p14="http://schemas.microsoft.com/office/powerpoint/2010/main" val="1842759669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B5BF9-8571-F66E-04B8-374C82454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031"/>
            <a:ext cx="10515600" cy="5754932"/>
          </a:xfrm>
        </p:spPr>
        <p:txBody>
          <a:bodyPr/>
          <a:lstStyle/>
          <a:p>
            <a:r>
              <a:rPr lang="en-IN" dirty="0"/>
              <a:t>Now look near the large jump</a:t>
            </a:r>
          </a:p>
          <a:p>
            <a:r>
              <a:rPr lang="en-IN" dirty="0"/>
              <a:t>Our original signal has:</a:t>
            </a:r>
          </a:p>
          <a:p>
            <a:r>
              <a:rPr lang="en-IN" dirty="0"/>
              <a:t>10   11   200</a:t>
            </a:r>
          </a:p>
          <a:p>
            <a:r>
              <a:rPr lang="en-IN" dirty="0"/>
              <a:t>There is a big jump between 11 and 200.</a:t>
            </a:r>
          </a:p>
          <a:p>
            <a:r>
              <a:rPr lang="en-IN" dirty="0"/>
              <a:t>Apply the same kernel:</a:t>
            </a:r>
          </a:p>
          <a:p>
            <a:endParaRPr lang="en-IN" dirty="0"/>
          </a:p>
          <a:p>
            <a:r>
              <a:rPr lang="en-IN" dirty="0"/>
              <a:t>10 × 0.25</a:t>
            </a:r>
          </a:p>
          <a:p>
            <a:r>
              <a:rPr lang="en-IN" dirty="0"/>
              <a:t>+</a:t>
            </a:r>
          </a:p>
          <a:p>
            <a:r>
              <a:rPr lang="en-IN" dirty="0"/>
              <a:t>11 × 0.50</a:t>
            </a:r>
          </a:p>
          <a:p>
            <a:r>
              <a:rPr lang="en-IN" dirty="0"/>
              <a:t>+</a:t>
            </a:r>
          </a:p>
          <a:p>
            <a:r>
              <a:rPr lang="en-IN" dirty="0"/>
              <a:t>200 × 0.25 =58</a:t>
            </a:r>
          </a:p>
        </p:txBody>
      </p:sp>
    </p:spTree>
    <p:extLst>
      <p:ext uri="{BB962C8B-B14F-4D97-AF65-F5344CB8AC3E}">
        <p14:creationId xmlns:p14="http://schemas.microsoft.com/office/powerpoint/2010/main" val="1109043636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B0331-265A-2596-F5BD-19B4951F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9F71C-FAB3-F685-8991-70F1E6DC7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Instead of:</a:t>
            </a:r>
          </a:p>
          <a:p>
            <a:r>
              <a:rPr lang="en-IN" dirty="0"/>
              <a:t>11 → 200</a:t>
            </a:r>
          </a:p>
          <a:p>
            <a:r>
              <a:rPr lang="en-IN" dirty="0"/>
              <a:t>you might get something like:</a:t>
            </a:r>
          </a:p>
          <a:p>
            <a:r>
              <a:rPr lang="en-IN" dirty="0"/>
              <a:t>11 → 58 → 153 → 200</a:t>
            </a:r>
          </a:p>
        </p:txBody>
      </p:sp>
    </p:spTree>
    <p:extLst>
      <p:ext uri="{BB962C8B-B14F-4D97-AF65-F5344CB8AC3E}">
        <p14:creationId xmlns:p14="http://schemas.microsoft.com/office/powerpoint/2010/main" val="3546800244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B45A5-690A-A317-0324-BA1A96576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Now combine Gaussian + derivative</a:t>
            </a:r>
          </a:p>
          <a:p>
            <a:r>
              <a:rPr lang="en-IN" dirty="0"/>
              <a:t>Here's the key idea.</a:t>
            </a:r>
          </a:p>
          <a:p>
            <a:r>
              <a:rPr lang="en-IN" dirty="0"/>
              <a:t>We want to:</a:t>
            </a:r>
          </a:p>
          <a:p>
            <a:pPr lvl="0"/>
            <a:r>
              <a:rPr lang="en-IN" b="1" dirty="0"/>
              <a:t>Remove noise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Find intensity changes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468913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AD0E1-EB7C-AED6-C050-238C4D0F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19AC5-EA32-B420-5F37-FD0F4EA59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Image</a:t>
            </a:r>
          </a:p>
          <a:p>
            <a:r>
              <a:rPr lang="en-IN" dirty="0"/>
              <a:t>  ↓</a:t>
            </a:r>
          </a:p>
          <a:p>
            <a:r>
              <a:rPr lang="en-IN" dirty="0"/>
              <a:t>Gaussian filter</a:t>
            </a:r>
          </a:p>
          <a:p>
            <a:r>
              <a:rPr lang="en-IN" dirty="0"/>
              <a:t>  ↓</a:t>
            </a:r>
          </a:p>
          <a:p>
            <a:r>
              <a:rPr lang="en-IN" dirty="0"/>
              <a:t>Smoothed image</a:t>
            </a:r>
          </a:p>
          <a:p>
            <a:r>
              <a:rPr lang="en-IN" dirty="0"/>
              <a:t>  ↓</a:t>
            </a:r>
          </a:p>
          <a:p>
            <a:r>
              <a:rPr lang="en-IN" dirty="0"/>
              <a:t>Derivative</a:t>
            </a:r>
          </a:p>
          <a:p>
            <a:r>
              <a:rPr lang="en-IN" dirty="0"/>
              <a:t>  ↓</a:t>
            </a:r>
          </a:p>
          <a:p>
            <a:r>
              <a:rPr lang="en-IN" dirty="0"/>
              <a:t>Edges</a:t>
            </a:r>
          </a:p>
        </p:txBody>
      </p:sp>
    </p:spTree>
    <p:extLst>
      <p:ext uri="{BB962C8B-B14F-4D97-AF65-F5344CB8AC3E}">
        <p14:creationId xmlns:p14="http://schemas.microsoft.com/office/powerpoint/2010/main" val="32238451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7FFB-6A33-2DF2-5347-59DC14A24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669"/>
            <a:ext cx="10515600" cy="5570294"/>
          </a:xfrm>
        </p:spPr>
        <p:txBody>
          <a:bodyPr/>
          <a:lstStyle/>
          <a:p>
            <a:r>
              <a:rPr lang="en-IN" dirty="0"/>
              <a:t>This is called a </a:t>
            </a:r>
            <a:r>
              <a:rPr lang="en-IN" b="1" dirty="0"/>
              <a:t>Gaussian derivative filter</a:t>
            </a:r>
            <a:r>
              <a:rPr lang="en-IN" dirty="0"/>
              <a:t>.</a:t>
            </a:r>
          </a:p>
          <a:p>
            <a:r>
              <a:rPr lang="en-IN" dirty="0"/>
              <a:t>But there is an even more useful mathematical property.</a:t>
            </a:r>
          </a:p>
          <a:p>
            <a:r>
              <a:rPr lang="en-IN" dirty="0"/>
              <a:t>Instead of doing:</a:t>
            </a:r>
          </a:p>
          <a:p>
            <a:r>
              <a:rPr lang="en-IN" dirty="0"/>
              <a:t>Gaussian → derivative</a:t>
            </a:r>
          </a:p>
          <a:p>
            <a:r>
              <a:rPr lang="en-IN" dirty="0"/>
              <a:t>we can combine them into:</a:t>
            </a:r>
          </a:p>
          <a:p>
            <a:r>
              <a:rPr lang="en-IN" dirty="0"/>
              <a:t>Derivative of Gaussian</a:t>
            </a:r>
          </a:p>
          <a:p>
            <a:r>
              <a:rPr lang="en-IN" dirty="0"/>
              <a:t>This gives us a single filter.</a:t>
            </a:r>
          </a:p>
        </p:txBody>
      </p:sp>
    </p:spTree>
    <p:extLst>
      <p:ext uri="{BB962C8B-B14F-4D97-AF65-F5344CB8AC3E}">
        <p14:creationId xmlns:p14="http://schemas.microsoft.com/office/powerpoint/2010/main" val="435106649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CA400-F0C8-7E9A-A912-267448FE4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Derivative of Gaussian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E61C4-C048-9A16-C628-409538B04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the Gaussian is:</a:t>
            </a:r>
          </a:p>
          <a:p>
            <a:r>
              <a:rPr lang="en-IN" dirty="0"/>
              <a:t>G(x) </a:t>
            </a:r>
          </a:p>
          <a:p>
            <a:r>
              <a:rPr lang="en-IN" dirty="0"/>
              <a:t>Its derivative is:</a:t>
            </a:r>
          </a:p>
          <a:p>
            <a:r>
              <a:rPr lang="en-IN" dirty="0"/>
              <a:t>G′(x)</a:t>
            </a:r>
          </a:p>
          <a:p>
            <a:r>
              <a:rPr lang="en-IN" dirty="0"/>
              <a:t>The derivative has </a:t>
            </a:r>
            <a:r>
              <a:rPr lang="en-IN" b="1" dirty="0"/>
              <a:t>positive and negative parts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8940007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E2DA-E8B3-0404-D804-375604B1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does it detect edges?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8C980-4033-3419-992C-A3367B494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an image with:</a:t>
            </a:r>
          </a:p>
          <a:p>
            <a:pPr marL="0" indent="0">
              <a:buNone/>
            </a:pPr>
            <a:r>
              <a:rPr lang="en-US" dirty="0"/>
              <a:t>Dark region       Bright region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10 10 10 10 | 200 200 200 200</a:t>
            </a:r>
          </a:p>
          <a:p>
            <a:pPr marL="0" indent="0">
              <a:buNone/>
            </a:pPr>
            <a:r>
              <a:rPr lang="en-US" dirty="0"/>
              <a:t>             ↑</a:t>
            </a:r>
          </a:p>
          <a:p>
            <a:pPr marL="0" indent="0">
              <a:buNone/>
            </a:pPr>
            <a:r>
              <a:rPr lang="en-US" dirty="0"/>
              <a:t>            edge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782929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20F9B-E615-0FEA-D5E2-49908884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22500-61F7-C1BB-6205-038D9C7C7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When we apply the derivative of Gaussian:</a:t>
            </a:r>
          </a:p>
          <a:p>
            <a:r>
              <a:rPr lang="en-IN" dirty="0"/>
              <a:t>What does a derivative do?</a:t>
            </a:r>
          </a:p>
          <a:p>
            <a:r>
              <a:rPr lang="en-IN" dirty="0"/>
              <a:t>derivative basically asks:</a:t>
            </a:r>
          </a:p>
          <a:p>
            <a:r>
              <a:rPr lang="en-IN" b="1" dirty="0"/>
              <a:t>"How quickly is this value changing?"</a:t>
            </a:r>
            <a:endParaRPr lang="en-IN" dirty="0"/>
          </a:p>
          <a:p>
            <a:r>
              <a:rPr lang="en-IN" dirty="0"/>
              <a:t>10 → 10</a:t>
            </a:r>
          </a:p>
          <a:p>
            <a:r>
              <a:rPr lang="en-IN" dirty="0"/>
              <a:t>Change = 0</a:t>
            </a:r>
          </a:p>
          <a:p>
            <a:r>
              <a:rPr lang="en-IN" dirty="0"/>
              <a:t>So derivative ≈ </a:t>
            </a:r>
            <a:r>
              <a:rPr lang="en-IN" b="1" dirty="0"/>
              <a:t>0</a:t>
            </a:r>
            <a:endParaRPr lang="en-IN" dirty="0"/>
          </a:p>
          <a:p>
            <a:r>
              <a:rPr lang="en-IN" dirty="0"/>
              <a:t>But:</a:t>
            </a:r>
          </a:p>
          <a:p>
            <a:r>
              <a:rPr lang="en-IN" dirty="0"/>
              <a:t>10 → 200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866532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4A97-B579-018F-BDCE-C08DE017A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A4533-4C20-ACAA-743C-91840CEAA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Change = 190</a:t>
            </a:r>
          </a:p>
          <a:p>
            <a:r>
              <a:rPr lang="en-IN" dirty="0"/>
              <a:t>So derivative is </a:t>
            </a:r>
            <a:r>
              <a:rPr lang="en-IN" b="1" dirty="0"/>
              <a:t>large</a:t>
            </a:r>
            <a:r>
              <a:rPr lang="en-IN" dirty="0"/>
              <a:t>.</a:t>
            </a:r>
          </a:p>
          <a:p>
            <a:r>
              <a:rPr lang="en-IN" dirty="0"/>
              <a:t>Slow/no change:</a:t>
            </a:r>
          </a:p>
          <a:p>
            <a:r>
              <a:rPr lang="en-IN" dirty="0"/>
              <a:t>10 → 10 → 10 → 10</a:t>
            </a:r>
          </a:p>
          <a:p>
            <a:r>
              <a:rPr lang="en-IN" dirty="0"/>
              <a:t>     derivative ≈ 0</a:t>
            </a:r>
          </a:p>
          <a:p>
            <a:endParaRPr lang="en-IN" dirty="0"/>
          </a:p>
          <a:p>
            <a:r>
              <a:rPr lang="en-IN" dirty="0"/>
              <a:t>Sudden change:</a:t>
            </a:r>
          </a:p>
          <a:p>
            <a:r>
              <a:rPr lang="en-IN" dirty="0"/>
              <a:t>10 → 10 → 200 → 200</a:t>
            </a:r>
          </a:p>
          <a:p>
            <a:r>
              <a:rPr lang="en-IN" dirty="0"/>
              <a:t>          ↑</a:t>
            </a:r>
          </a:p>
          <a:p>
            <a:r>
              <a:rPr lang="en-IN" dirty="0"/>
              <a:t>     derivative = LARGE</a:t>
            </a:r>
          </a:p>
        </p:txBody>
      </p:sp>
    </p:spTree>
    <p:extLst>
      <p:ext uri="{BB962C8B-B14F-4D97-AF65-F5344CB8AC3E}">
        <p14:creationId xmlns:p14="http://schemas.microsoft.com/office/powerpoint/2010/main" val="3420182417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22F1D3-3992-A9D6-6CD1-75D809D7A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2468" y="395654"/>
            <a:ext cx="9750669" cy="578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1111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97E65-2447-DB2E-13AF-D1C496760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not just use the derivative?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8A4F1-16ED-DBA4-8689-CA40C2B67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Why don't we simply calculate the derivative?</a:t>
            </a:r>
          </a:p>
          <a:p>
            <a:r>
              <a:rPr lang="en-IN"/>
              <a:t>Because derivatives amplify noise.</a:t>
            </a:r>
          </a:p>
        </p:txBody>
      </p:sp>
    </p:spTree>
    <p:extLst>
      <p:ext uri="{BB962C8B-B14F-4D97-AF65-F5344CB8AC3E}">
        <p14:creationId xmlns:p14="http://schemas.microsoft.com/office/powerpoint/2010/main" val="1379120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9727</Words>
  <Application>Microsoft Office PowerPoint</Application>
  <PresentationFormat>Widescreen</PresentationFormat>
  <Paragraphs>1663</Paragraphs>
  <Slides>233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233</vt:i4>
      </vt:variant>
    </vt:vector>
  </HeadingPairs>
  <TitlesOfParts>
    <vt:vector size="239" baseType="lpstr">
      <vt:lpstr>Aptos</vt:lpstr>
      <vt:lpstr>Aptos Display</vt:lpstr>
      <vt:lpstr>Arial</vt:lpstr>
      <vt:lpstr>Courier New</vt:lpstr>
      <vt:lpstr>Wingdings</vt:lpstr>
      <vt:lpstr>Office Theme</vt:lpstr>
      <vt:lpstr>Feature Extraction</vt:lpstr>
      <vt:lpstr>PowerPoint Presentation</vt:lpstr>
      <vt:lpstr>What is an Edge? </vt:lpstr>
      <vt:lpstr> Why do we need edges? </vt:lpstr>
      <vt:lpstr>How does a computer know where an edge is?</vt:lpstr>
      <vt:lpstr>Three edge detection methods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 Detection using Hough Transform</vt:lpstr>
      <vt:lpstr>PowerPoint Presentation</vt:lpstr>
      <vt:lpstr>PowerPoint Presentation</vt:lpstr>
      <vt:lpstr>PowerPoint Presentation</vt:lpstr>
      <vt:lpstr>3. What does Hough Transform do?</vt:lpstr>
      <vt:lpstr>4. What happens with many edge points?</vt:lpstr>
      <vt:lpstr>5. How does it represent a line?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Exmaple:</vt:lpstr>
      <vt:lpstr>PowerPoint Presentation</vt:lpstr>
      <vt:lpstr>PowerPoint Presentation</vt:lpstr>
      <vt:lpstr>PowerPoint Presentation</vt:lpstr>
      <vt:lpstr>What is a corner?</vt:lpstr>
      <vt:lpstr>PowerPoint Presentation</vt:lpstr>
      <vt:lpstr>PowerPoint Presentation</vt:lpstr>
      <vt:lpstr>Harris Corner Detector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 </vt:lpstr>
      <vt:lpstr>PowerPoint Presentation</vt:lpstr>
      <vt:lpstr>PowerPoint Presentation</vt:lpstr>
      <vt:lpstr>PowerPoint Presentation</vt:lpstr>
      <vt:lpstr>PowerPoint Presentation</vt:lpstr>
      <vt:lpstr>Hessian-Affine</vt:lpstr>
      <vt:lpstr>PowerPoint Presentation</vt:lpstr>
      <vt:lpstr>PowerPoint Presentation</vt:lpstr>
      <vt:lpstr>PowerPoint Presentation</vt:lpstr>
      <vt:lpstr>Why is it called "Hessian"?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Orientation Histogram</vt:lpstr>
      <vt:lpstr>PowerPoint Presentation</vt:lpstr>
      <vt:lpstr>How does the computer find the direction?</vt:lpstr>
      <vt:lpstr>PowerPoint Presentation</vt:lpstr>
      <vt:lpstr>Small numerical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SIFT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SIFT Practical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Scale-Space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GLOH?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Scale-Space Analysis </vt:lpstr>
      <vt:lpstr>PowerPoint Presentation</vt:lpstr>
      <vt:lpstr>What is Scale-Space?</vt:lpstr>
      <vt:lpstr>PowerPoint Presentation</vt:lpstr>
      <vt:lpstr>What is an Image Pyramid?</vt:lpstr>
      <vt:lpstr>PowerPoint Presentation</vt:lpstr>
      <vt:lpstr>PowerPoint Presentation</vt:lpstr>
      <vt:lpstr>PowerPoint Presentation</vt:lpstr>
      <vt:lpstr>Very simple example</vt:lpstr>
      <vt:lpstr>Why is this useful in Computer Vision?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Gaussian derivative filters </vt:lpstr>
      <vt:lpstr>PowerPoint Presentation</vt:lpstr>
      <vt:lpstr>What does a derivative mean?</vt:lpstr>
      <vt:lpstr>PowerPoint Presentation</vt:lpstr>
      <vt:lpstr>Simple example of an image derivative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Apply it to one pixel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Derivative of Gaussian</vt:lpstr>
      <vt:lpstr>Why does it detect edges?</vt:lpstr>
      <vt:lpstr>PowerPoint Presentation</vt:lpstr>
      <vt:lpstr>PowerPoint Presentation</vt:lpstr>
      <vt:lpstr>PowerPoint Presentation</vt:lpstr>
      <vt:lpstr>Why not just use the derivative?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hiralpadhariya@outlook.com</dc:creator>
  <cp:lastModifiedBy>hiralpadhariya@outlook.com</cp:lastModifiedBy>
  <cp:revision>374</cp:revision>
  <dcterms:created xsi:type="dcterms:W3CDTF">2026-08-12T08:58:05Z</dcterms:created>
  <dcterms:modified xsi:type="dcterms:W3CDTF">2026-08-23T09:58:46Z</dcterms:modified>
</cp:coreProperties>
</file>