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14" r:id="rId3"/>
    <p:sldId id="315"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316" r:id="rId30"/>
    <p:sldId id="317" r:id="rId31"/>
    <p:sldId id="318" r:id="rId32"/>
    <p:sldId id="319" r:id="rId33"/>
    <p:sldId id="320" r:id="rId34"/>
    <p:sldId id="321" r:id="rId35"/>
    <p:sldId id="322" r:id="rId36"/>
    <p:sldId id="323" r:id="rId37"/>
    <p:sldId id="282" r:id="rId38"/>
    <p:sldId id="283" r:id="rId39"/>
    <p:sldId id="284" r:id="rId40"/>
    <p:sldId id="285" r:id="rId41"/>
    <p:sldId id="286" r:id="rId42"/>
    <p:sldId id="287" r:id="rId43"/>
    <p:sldId id="288" r:id="rId44"/>
    <p:sldId id="289" r:id="rId45"/>
    <p:sldId id="290" r:id="rId46"/>
    <p:sldId id="291" r:id="rId47"/>
    <p:sldId id="292" r:id="rId48"/>
    <p:sldId id="293" r:id="rId49"/>
    <p:sldId id="294" r:id="rId50"/>
    <p:sldId id="295" r:id="rId51"/>
    <p:sldId id="296" r:id="rId52"/>
    <p:sldId id="297" r:id="rId53"/>
    <p:sldId id="298" r:id="rId54"/>
    <p:sldId id="299" r:id="rId55"/>
    <p:sldId id="300" r:id="rId56"/>
    <p:sldId id="324" r:id="rId57"/>
    <p:sldId id="325" r:id="rId58"/>
    <p:sldId id="301" r:id="rId59"/>
    <p:sldId id="302" r:id="rId60"/>
    <p:sldId id="303" r:id="rId61"/>
    <p:sldId id="304" r:id="rId62"/>
    <p:sldId id="305" r:id="rId63"/>
    <p:sldId id="306" r:id="rId64"/>
    <p:sldId id="307" r:id="rId65"/>
    <p:sldId id="308" r:id="rId66"/>
    <p:sldId id="309" r:id="rId67"/>
    <p:sldId id="310" r:id="rId68"/>
    <p:sldId id="311" r:id="rId69"/>
    <p:sldId id="312" r:id="rId70"/>
    <p:sldId id="313" r:id="rId71"/>
    <p:sldId id="326" r:id="rId72"/>
    <p:sldId id="327" r:id="rId73"/>
    <p:sldId id="328" r:id="rId74"/>
    <p:sldId id="329" r:id="rId75"/>
    <p:sldId id="332" r:id="rId76"/>
    <p:sldId id="333" r:id="rId77"/>
    <p:sldId id="330" r:id="rId78"/>
    <p:sldId id="331" r:id="rId79"/>
    <p:sldId id="334" r:id="rId80"/>
    <p:sldId id="335" r:id="rId81"/>
    <p:sldId id="336" r:id="rId82"/>
    <p:sldId id="337" r:id="rId83"/>
    <p:sldId id="338" r:id="rId84"/>
    <p:sldId id="339" r:id="rId85"/>
    <p:sldId id="340" r:id="rId86"/>
    <p:sldId id="341" r:id="rId87"/>
    <p:sldId id="342" r:id="rId88"/>
    <p:sldId id="399" r:id="rId89"/>
    <p:sldId id="400" r:id="rId90"/>
    <p:sldId id="401" r:id="rId91"/>
    <p:sldId id="402" r:id="rId92"/>
    <p:sldId id="403" r:id="rId93"/>
    <p:sldId id="404" r:id="rId94"/>
    <p:sldId id="405" r:id="rId95"/>
    <p:sldId id="406" r:id="rId96"/>
    <p:sldId id="407" r:id="rId97"/>
    <p:sldId id="408" r:id="rId98"/>
    <p:sldId id="409" r:id="rId99"/>
    <p:sldId id="410" r:id="rId100"/>
    <p:sldId id="411" r:id="rId101"/>
    <p:sldId id="412" r:id="rId102"/>
    <p:sldId id="413" r:id="rId103"/>
    <p:sldId id="414" r:id="rId104"/>
    <p:sldId id="415" r:id="rId105"/>
    <p:sldId id="416" r:id="rId106"/>
    <p:sldId id="417" r:id="rId107"/>
    <p:sldId id="418" r:id="rId108"/>
    <p:sldId id="419" r:id="rId109"/>
    <p:sldId id="420" r:id="rId110"/>
    <p:sldId id="421" r:id="rId111"/>
    <p:sldId id="343" r:id="rId112"/>
    <p:sldId id="344" r:id="rId113"/>
    <p:sldId id="345" r:id="rId114"/>
    <p:sldId id="346" r:id="rId115"/>
    <p:sldId id="347" r:id="rId116"/>
    <p:sldId id="348" r:id="rId117"/>
    <p:sldId id="349" r:id="rId118"/>
    <p:sldId id="350" r:id="rId119"/>
    <p:sldId id="351" r:id="rId120"/>
    <p:sldId id="352" r:id="rId121"/>
    <p:sldId id="353" r:id="rId122"/>
    <p:sldId id="354" r:id="rId123"/>
    <p:sldId id="355" r:id="rId124"/>
    <p:sldId id="356" r:id="rId125"/>
    <p:sldId id="357" r:id="rId126"/>
    <p:sldId id="375" r:id="rId127"/>
    <p:sldId id="376" r:id="rId128"/>
    <p:sldId id="377" r:id="rId129"/>
    <p:sldId id="378" r:id="rId130"/>
    <p:sldId id="379" r:id="rId131"/>
    <p:sldId id="358" r:id="rId132"/>
    <p:sldId id="380" r:id="rId133"/>
    <p:sldId id="381" r:id="rId134"/>
    <p:sldId id="382" r:id="rId135"/>
    <p:sldId id="383" r:id="rId136"/>
    <p:sldId id="384" r:id="rId137"/>
    <p:sldId id="385" r:id="rId138"/>
    <p:sldId id="386" r:id="rId139"/>
    <p:sldId id="387" r:id="rId140"/>
    <p:sldId id="388" r:id="rId141"/>
    <p:sldId id="389" r:id="rId142"/>
    <p:sldId id="390" r:id="rId143"/>
    <p:sldId id="391" r:id="rId144"/>
    <p:sldId id="392" r:id="rId145"/>
    <p:sldId id="393" r:id="rId146"/>
    <p:sldId id="359" r:id="rId147"/>
    <p:sldId id="360" r:id="rId148"/>
    <p:sldId id="394" r:id="rId149"/>
    <p:sldId id="395" r:id="rId150"/>
    <p:sldId id="396" r:id="rId151"/>
    <p:sldId id="397" r:id="rId152"/>
    <p:sldId id="398" r:id="rId153"/>
    <p:sldId id="361" r:id="rId154"/>
    <p:sldId id="362" r:id="rId155"/>
    <p:sldId id="363" r:id="rId156"/>
    <p:sldId id="364" r:id="rId157"/>
    <p:sldId id="365" r:id="rId158"/>
    <p:sldId id="366" r:id="rId159"/>
    <p:sldId id="367" r:id="rId160"/>
    <p:sldId id="368" r:id="rId161"/>
    <p:sldId id="369" r:id="rId162"/>
    <p:sldId id="370" r:id="rId163"/>
    <p:sldId id="371" r:id="rId164"/>
    <p:sldId id="372" r:id="rId165"/>
    <p:sldId id="373" r:id="rId166"/>
    <p:sldId id="374"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EB5BD42-BF31-49C5-BB67-C82CACF8AA1A}">
          <p14:sldIdLst>
            <p14:sldId id="256"/>
            <p14:sldId id="314"/>
            <p14:sldId id="315"/>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316"/>
            <p14:sldId id="317"/>
            <p14:sldId id="318"/>
            <p14:sldId id="319"/>
            <p14:sldId id="320"/>
            <p14:sldId id="321"/>
            <p14:sldId id="322"/>
            <p14:sldId id="323"/>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24"/>
            <p14:sldId id="325"/>
            <p14:sldId id="301"/>
            <p14:sldId id="302"/>
            <p14:sldId id="303"/>
            <p14:sldId id="304"/>
            <p14:sldId id="305"/>
            <p14:sldId id="306"/>
            <p14:sldId id="307"/>
            <p14:sldId id="308"/>
            <p14:sldId id="309"/>
            <p14:sldId id="310"/>
            <p14:sldId id="311"/>
            <p14:sldId id="312"/>
            <p14:sldId id="313"/>
            <p14:sldId id="326"/>
            <p14:sldId id="327"/>
            <p14:sldId id="328"/>
            <p14:sldId id="329"/>
            <p14:sldId id="332"/>
            <p14:sldId id="333"/>
            <p14:sldId id="330"/>
            <p14:sldId id="331"/>
            <p14:sldId id="334"/>
            <p14:sldId id="335"/>
            <p14:sldId id="336"/>
            <p14:sldId id="337"/>
            <p14:sldId id="338"/>
            <p14:sldId id="339"/>
            <p14:sldId id="340"/>
            <p14:sldId id="341"/>
            <p14:sldId id="342"/>
            <p14:sldId id="399"/>
            <p14:sldId id="400"/>
            <p14:sldId id="401"/>
            <p14:sldId id="402"/>
            <p14:sldId id="403"/>
            <p14:sldId id="404"/>
            <p14:sldId id="405"/>
            <p14:sldId id="406"/>
            <p14:sldId id="407"/>
            <p14:sldId id="408"/>
            <p14:sldId id="409"/>
            <p14:sldId id="410"/>
            <p14:sldId id="411"/>
            <p14:sldId id="412"/>
            <p14:sldId id="413"/>
            <p14:sldId id="414"/>
            <p14:sldId id="415"/>
            <p14:sldId id="416"/>
            <p14:sldId id="417"/>
            <p14:sldId id="418"/>
            <p14:sldId id="419"/>
            <p14:sldId id="420"/>
            <p14:sldId id="421"/>
            <p14:sldId id="343"/>
            <p14:sldId id="344"/>
            <p14:sldId id="345"/>
            <p14:sldId id="346"/>
            <p14:sldId id="347"/>
            <p14:sldId id="348"/>
            <p14:sldId id="349"/>
            <p14:sldId id="350"/>
            <p14:sldId id="351"/>
            <p14:sldId id="352"/>
            <p14:sldId id="353"/>
            <p14:sldId id="354"/>
            <p14:sldId id="355"/>
            <p14:sldId id="356"/>
            <p14:sldId id="357"/>
            <p14:sldId id="375"/>
            <p14:sldId id="376"/>
            <p14:sldId id="377"/>
            <p14:sldId id="378"/>
            <p14:sldId id="379"/>
            <p14:sldId id="358"/>
            <p14:sldId id="380"/>
            <p14:sldId id="381"/>
            <p14:sldId id="382"/>
            <p14:sldId id="383"/>
            <p14:sldId id="384"/>
            <p14:sldId id="385"/>
            <p14:sldId id="386"/>
            <p14:sldId id="387"/>
            <p14:sldId id="388"/>
            <p14:sldId id="389"/>
            <p14:sldId id="390"/>
            <p14:sldId id="391"/>
            <p14:sldId id="392"/>
            <p14:sldId id="393"/>
            <p14:sldId id="359"/>
            <p14:sldId id="360"/>
            <p14:sldId id="394"/>
            <p14:sldId id="395"/>
            <p14:sldId id="396"/>
            <p14:sldId id="397"/>
            <p14:sldId id="398"/>
            <p14:sldId id="361"/>
            <p14:sldId id="362"/>
            <p14:sldId id="363"/>
            <p14:sldId id="364"/>
            <p14:sldId id="365"/>
            <p14:sldId id="366"/>
            <p14:sldId id="367"/>
            <p14:sldId id="368"/>
            <p14:sldId id="369"/>
            <p14:sldId id="370"/>
            <p14:sldId id="371"/>
            <p14:sldId id="372"/>
            <p14:sldId id="373"/>
            <p14:sldId id="374"/>
            <p14:sldId id="422"/>
            <p14:sldId id="423"/>
            <p14:sldId id="424"/>
            <p14:sldId id="425"/>
            <p14:sldId id="426"/>
            <p14:sldId id="427"/>
            <p14:sldId id="428"/>
            <p14:sldId id="429"/>
            <p14:sldId id="430"/>
            <p14:sldId id="431"/>
            <p14:sldId id="432"/>
            <p14:sldId id="433"/>
            <p14:sldId id="434"/>
            <p14:sldId id="435"/>
            <p14:sldId id="436"/>
            <p14:sldId id="437"/>
            <p14:sldId id="438"/>
            <p14:sldId id="439"/>
            <p14:sldId id="440"/>
            <p14:sldId id="441"/>
            <p14:sldId id="442"/>
            <p14:sldId id="443"/>
            <p14:sldId id="444"/>
            <p14:sldId id="445"/>
            <p14:sldId id="446"/>
            <p14:sldId id="447"/>
            <p14:sldId id="448"/>
          </p14:sldIdLst>
        </p14:section>
        <p14:section name="Untitled Section" id="{11BA6DB9-C50C-4A93-99A8-0693FD99F56C}">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263" autoAdjust="0"/>
    <p:restoredTop sz="94660"/>
  </p:normalViewPr>
  <p:slideViewPr>
    <p:cSldViewPr snapToGrid="0">
      <p:cViewPr varScale="1">
        <p:scale>
          <a:sx n="87" d="100"/>
          <a:sy n="87" d="100"/>
        </p:scale>
        <p:origin x="48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presProps" Target="presProps.xml"/><Relationship Id="rId190" Type="http://schemas.openxmlformats.org/officeDocument/2006/relationships/slide" Target="slides/slide189.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viewProps" Target="view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theme" Target="theme/theme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tableStyles" Target="tableStyles.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4F81F-0372-2DEE-B240-0576CA009A9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D5D7575-DA6F-022D-1636-F40AC488B4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133D1C6-AEF8-266A-BF9E-702381328FB8}"/>
              </a:ext>
            </a:extLst>
          </p:cNvPr>
          <p:cNvSpPr>
            <a:spLocks noGrp="1"/>
          </p:cNvSpPr>
          <p:nvPr>
            <p:ph type="dt" sz="half" idx="10"/>
          </p:nvPr>
        </p:nvSpPr>
        <p:spPr/>
        <p:txBody>
          <a:bodyPr/>
          <a:lstStyle/>
          <a:p>
            <a:fld id="{555093D5-1922-4DED-B1C9-DC5814DEC5A7}" type="datetimeFigureOut">
              <a:rPr lang="en-IN" smtClean="0"/>
              <a:t>16-08-2026</a:t>
            </a:fld>
            <a:endParaRPr lang="en-IN"/>
          </a:p>
        </p:txBody>
      </p:sp>
      <p:sp>
        <p:nvSpPr>
          <p:cNvPr id="5" name="Footer Placeholder 4">
            <a:extLst>
              <a:ext uri="{FF2B5EF4-FFF2-40B4-BE49-F238E27FC236}">
                <a16:creationId xmlns:a16="http://schemas.microsoft.com/office/drawing/2014/main" id="{DE184385-883C-BAFA-81BD-B1A696D979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0AB314-0D21-F6B0-7831-7F828EDE3BB8}"/>
              </a:ext>
            </a:extLst>
          </p:cNvPr>
          <p:cNvSpPr>
            <a:spLocks noGrp="1"/>
          </p:cNvSpPr>
          <p:nvPr>
            <p:ph type="sldNum" sz="quarter" idx="12"/>
          </p:nvPr>
        </p:nvSpPr>
        <p:spPr/>
        <p:txBody>
          <a:bodyPr/>
          <a:lstStyle/>
          <a:p>
            <a:fld id="{F13C70D5-6106-410A-8C0B-0282AF250197}" type="slidenum">
              <a:rPr lang="en-IN" smtClean="0"/>
              <a:t>‹#›</a:t>
            </a:fld>
            <a:endParaRPr lang="en-IN"/>
          </a:p>
        </p:txBody>
      </p:sp>
    </p:spTree>
    <p:extLst>
      <p:ext uri="{BB962C8B-B14F-4D97-AF65-F5344CB8AC3E}">
        <p14:creationId xmlns:p14="http://schemas.microsoft.com/office/powerpoint/2010/main" val="4250799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377C1-ECE9-7C04-8FEF-8F3AD497834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491F130-A503-28D7-3FFA-5D26543BB7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A3A964-0D12-0298-1174-E20D7F7BEA1B}"/>
              </a:ext>
            </a:extLst>
          </p:cNvPr>
          <p:cNvSpPr>
            <a:spLocks noGrp="1"/>
          </p:cNvSpPr>
          <p:nvPr>
            <p:ph type="dt" sz="half" idx="10"/>
          </p:nvPr>
        </p:nvSpPr>
        <p:spPr/>
        <p:txBody>
          <a:bodyPr/>
          <a:lstStyle/>
          <a:p>
            <a:fld id="{555093D5-1922-4DED-B1C9-DC5814DEC5A7}" type="datetimeFigureOut">
              <a:rPr lang="en-IN" smtClean="0"/>
              <a:t>16-08-2026</a:t>
            </a:fld>
            <a:endParaRPr lang="en-IN"/>
          </a:p>
        </p:txBody>
      </p:sp>
      <p:sp>
        <p:nvSpPr>
          <p:cNvPr id="5" name="Footer Placeholder 4">
            <a:extLst>
              <a:ext uri="{FF2B5EF4-FFF2-40B4-BE49-F238E27FC236}">
                <a16:creationId xmlns:a16="http://schemas.microsoft.com/office/drawing/2014/main" id="{2104FB27-231E-F30B-0070-19F23D3972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0BE3BA9-70CB-5707-8217-AB3582FF2CAE}"/>
              </a:ext>
            </a:extLst>
          </p:cNvPr>
          <p:cNvSpPr>
            <a:spLocks noGrp="1"/>
          </p:cNvSpPr>
          <p:nvPr>
            <p:ph type="sldNum" sz="quarter" idx="12"/>
          </p:nvPr>
        </p:nvSpPr>
        <p:spPr/>
        <p:txBody>
          <a:bodyPr/>
          <a:lstStyle/>
          <a:p>
            <a:fld id="{F13C70D5-6106-410A-8C0B-0282AF250197}" type="slidenum">
              <a:rPr lang="en-IN" smtClean="0"/>
              <a:t>‹#›</a:t>
            </a:fld>
            <a:endParaRPr lang="en-IN"/>
          </a:p>
        </p:txBody>
      </p:sp>
    </p:spTree>
    <p:extLst>
      <p:ext uri="{BB962C8B-B14F-4D97-AF65-F5344CB8AC3E}">
        <p14:creationId xmlns:p14="http://schemas.microsoft.com/office/powerpoint/2010/main" val="1592910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4FF86-F338-1C61-9F5A-FD7A74D2DFA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F729AA6-47E6-C796-5E88-FC0ED361ADB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CEDDD4F-BE45-29FA-686C-5B51C6DE01D4}"/>
              </a:ext>
            </a:extLst>
          </p:cNvPr>
          <p:cNvSpPr>
            <a:spLocks noGrp="1"/>
          </p:cNvSpPr>
          <p:nvPr>
            <p:ph type="dt" sz="half" idx="10"/>
          </p:nvPr>
        </p:nvSpPr>
        <p:spPr/>
        <p:txBody>
          <a:bodyPr/>
          <a:lstStyle/>
          <a:p>
            <a:fld id="{555093D5-1922-4DED-B1C9-DC5814DEC5A7}" type="datetimeFigureOut">
              <a:rPr lang="en-IN" smtClean="0"/>
              <a:t>16-08-2026</a:t>
            </a:fld>
            <a:endParaRPr lang="en-IN"/>
          </a:p>
        </p:txBody>
      </p:sp>
      <p:sp>
        <p:nvSpPr>
          <p:cNvPr id="5" name="Footer Placeholder 4">
            <a:extLst>
              <a:ext uri="{FF2B5EF4-FFF2-40B4-BE49-F238E27FC236}">
                <a16:creationId xmlns:a16="http://schemas.microsoft.com/office/drawing/2014/main" id="{B9C15791-1992-555E-FE88-16396F0980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864D81-CF40-5CB8-41BA-5B37D1C03368}"/>
              </a:ext>
            </a:extLst>
          </p:cNvPr>
          <p:cNvSpPr>
            <a:spLocks noGrp="1"/>
          </p:cNvSpPr>
          <p:nvPr>
            <p:ph type="sldNum" sz="quarter" idx="12"/>
          </p:nvPr>
        </p:nvSpPr>
        <p:spPr/>
        <p:txBody>
          <a:bodyPr/>
          <a:lstStyle/>
          <a:p>
            <a:fld id="{F13C70D5-6106-410A-8C0B-0282AF250197}" type="slidenum">
              <a:rPr lang="en-IN" smtClean="0"/>
              <a:t>‹#›</a:t>
            </a:fld>
            <a:endParaRPr lang="en-IN"/>
          </a:p>
        </p:txBody>
      </p:sp>
    </p:spTree>
    <p:extLst>
      <p:ext uri="{BB962C8B-B14F-4D97-AF65-F5344CB8AC3E}">
        <p14:creationId xmlns:p14="http://schemas.microsoft.com/office/powerpoint/2010/main" val="2727819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09C35-C7A2-5CA9-BC26-C1420A415A1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F0D9094-DF1A-64E3-434D-5CA9D4BC6C0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CCB889B-F2A5-B2D7-37A1-99EEBDC13F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1C87E36-0DD7-6220-D8FD-2E0D221408EC}"/>
              </a:ext>
            </a:extLst>
          </p:cNvPr>
          <p:cNvSpPr>
            <a:spLocks noGrp="1"/>
          </p:cNvSpPr>
          <p:nvPr>
            <p:ph type="dt" sz="half" idx="10"/>
          </p:nvPr>
        </p:nvSpPr>
        <p:spPr/>
        <p:txBody>
          <a:bodyPr/>
          <a:lstStyle/>
          <a:p>
            <a:fld id="{555093D5-1922-4DED-B1C9-DC5814DEC5A7}" type="datetimeFigureOut">
              <a:rPr lang="en-IN" smtClean="0"/>
              <a:t>16-08-2026</a:t>
            </a:fld>
            <a:endParaRPr lang="en-IN"/>
          </a:p>
        </p:txBody>
      </p:sp>
      <p:sp>
        <p:nvSpPr>
          <p:cNvPr id="6" name="Footer Placeholder 5">
            <a:extLst>
              <a:ext uri="{FF2B5EF4-FFF2-40B4-BE49-F238E27FC236}">
                <a16:creationId xmlns:a16="http://schemas.microsoft.com/office/drawing/2014/main" id="{8A5E6DB1-4C4D-20AC-F7EC-F83FEEBB817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D13EF9D-1CD4-E851-634F-463E98503F45}"/>
              </a:ext>
            </a:extLst>
          </p:cNvPr>
          <p:cNvSpPr>
            <a:spLocks noGrp="1"/>
          </p:cNvSpPr>
          <p:nvPr>
            <p:ph type="sldNum" sz="quarter" idx="12"/>
          </p:nvPr>
        </p:nvSpPr>
        <p:spPr/>
        <p:txBody>
          <a:bodyPr/>
          <a:lstStyle/>
          <a:p>
            <a:fld id="{F13C70D5-6106-410A-8C0B-0282AF250197}" type="slidenum">
              <a:rPr lang="en-IN" smtClean="0"/>
              <a:t>‹#›</a:t>
            </a:fld>
            <a:endParaRPr lang="en-IN"/>
          </a:p>
        </p:txBody>
      </p:sp>
    </p:spTree>
    <p:extLst>
      <p:ext uri="{BB962C8B-B14F-4D97-AF65-F5344CB8AC3E}">
        <p14:creationId xmlns:p14="http://schemas.microsoft.com/office/powerpoint/2010/main" val="2954997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916E9-12AF-CB35-C767-D1EFF6C75AB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B346F57-7D23-65C7-AB75-67C9C5D0B3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5CA6B03-FD05-995B-6C6C-DB660E493FD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B27C30D-5CCE-1FE8-C586-784ED96BB8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5CFBA09-3EBC-F0B5-2F55-497EC1BC9E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7641A09-0FF0-94CF-87E6-5C5099D7F6D6}"/>
              </a:ext>
            </a:extLst>
          </p:cNvPr>
          <p:cNvSpPr>
            <a:spLocks noGrp="1"/>
          </p:cNvSpPr>
          <p:nvPr>
            <p:ph type="dt" sz="half" idx="10"/>
          </p:nvPr>
        </p:nvSpPr>
        <p:spPr/>
        <p:txBody>
          <a:bodyPr/>
          <a:lstStyle/>
          <a:p>
            <a:fld id="{555093D5-1922-4DED-B1C9-DC5814DEC5A7}" type="datetimeFigureOut">
              <a:rPr lang="en-IN" smtClean="0"/>
              <a:t>16-08-2026</a:t>
            </a:fld>
            <a:endParaRPr lang="en-IN"/>
          </a:p>
        </p:txBody>
      </p:sp>
      <p:sp>
        <p:nvSpPr>
          <p:cNvPr id="8" name="Footer Placeholder 7">
            <a:extLst>
              <a:ext uri="{FF2B5EF4-FFF2-40B4-BE49-F238E27FC236}">
                <a16:creationId xmlns:a16="http://schemas.microsoft.com/office/drawing/2014/main" id="{0DB991D7-8B13-26A5-7C17-F77243D1306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B69AF1B-0BA1-EC6E-B5C2-924294C64A49}"/>
              </a:ext>
            </a:extLst>
          </p:cNvPr>
          <p:cNvSpPr>
            <a:spLocks noGrp="1"/>
          </p:cNvSpPr>
          <p:nvPr>
            <p:ph type="sldNum" sz="quarter" idx="12"/>
          </p:nvPr>
        </p:nvSpPr>
        <p:spPr/>
        <p:txBody>
          <a:bodyPr/>
          <a:lstStyle/>
          <a:p>
            <a:fld id="{F13C70D5-6106-410A-8C0B-0282AF250197}" type="slidenum">
              <a:rPr lang="en-IN" smtClean="0"/>
              <a:t>‹#›</a:t>
            </a:fld>
            <a:endParaRPr lang="en-IN"/>
          </a:p>
        </p:txBody>
      </p:sp>
    </p:spTree>
    <p:extLst>
      <p:ext uri="{BB962C8B-B14F-4D97-AF65-F5344CB8AC3E}">
        <p14:creationId xmlns:p14="http://schemas.microsoft.com/office/powerpoint/2010/main" val="1292564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0CD39-FBC1-2B4B-D941-71AC14CBCD8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5B706BE-2914-D89D-F61F-C17E12A764CC}"/>
              </a:ext>
            </a:extLst>
          </p:cNvPr>
          <p:cNvSpPr>
            <a:spLocks noGrp="1"/>
          </p:cNvSpPr>
          <p:nvPr>
            <p:ph type="dt" sz="half" idx="10"/>
          </p:nvPr>
        </p:nvSpPr>
        <p:spPr/>
        <p:txBody>
          <a:bodyPr/>
          <a:lstStyle/>
          <a:p>
            <a:fld id="{555093D5-1922-4DED-B1C9-DC5814DEC5A7}" type="datetimeFigureOut">
              <a:rPr lang="en-IN" smtClean="0"/>
              <a:t>16-08-2026</a:t>
            </a:fld>
            <a:endParaRPr lang="en-IN"/>
          </a:p>
        </p:txBody>
      </p:sp>
      <p:sp>
        <p:nvSpPr>
          <p:cNvPr id="4" name="Footer Placeholder 3">
            <a:extLst>
              <a:ext uri="{FF2B5EF4-FFF2-40B4-BE49-F238E27FC236}">
                <a16:creationId xmlns:a16="http://schemas.microsoft.com/office/drawing/2014/main" id="{DDA61640-FDA0-8FED-4882-4BA145B1247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B747CFA-2FBE-D5CB-6203-F45D77906757}"/>
              </a:ext>
            </a:extLst>
          </p:cNvPr>
          <p:cNvSpPr>
            <a:spLocks noGrp="1"/>
          </p:cNvSpPr>
          <p:nvPr>
            <p:ph type="sldNum" sz="quarter" idx="12"/>
          </p:nvPr>
        </p:nvSpPr>
        <p:spPr/>
        <p:txBody>
          <a:bodyPr/>
          <a:lstStyle/>
          <a:p>
            <a:fld id="{F13C70D5-6106-410A-8C0B-0282AF250197}" type="slidenum">
              <a:rPr lang="en-IN" smtClean="0"/>
              <a:t>‹#›</a:t>
            </a:fld>
            <a:endParaRPr lang="en-IN"/>
          </a:p>
        </p:txBody>
      </p:sp>
    </p:spTree>
    <p:extLst>
      <p:ext uri="{BB962C8B-B14F-4D97-AF65-F5344CB8AC3E}">
        <p14:creationId xmlns:p14="http://schemas.microsoft.com/office/powerpoint/2010/main" val="17756691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59AAA9-8739-9F22-580D-D0BB7B236EAB}"/>
              </a:ext>
            </a:extLst>
          </p:cNvPr>
          <p:cNvSpPr>
            <a:spLocks noGrp="1"/>
          </p:cNvSpPr>
          <p:nvPr>
            <p:ph type="dt" sz="half" idx="10"/>
          </p:nvPr>
        </p:nvSpPr>
        <p:spPr/>
        <p:txBody>
          <a:bodyPr/>
          <a:lstStyle/>
          <a:p>
            <a:fld id="{555093D5-1922-4DED-B1C9-DC5814DEC5A7}" type="datetimeFigureOut">
              <a:rPr lang="en-IN" smtClean="0"/>
              <a:t>16-08-2026</a:t>
            </a:fld>
            <a:endParaRPr lang="en-IN"/>
          </a:p>
        </p:txBody>
      </p:sp>
      <p:sp>
        <p:nvSpPr>
          <p:cNvPr id="3" name="Footer Placeholder 2">
            <a:extLst>
              <a:ext uri="{FF2B5EF4-FFF2-40B4-BE49-F238E27FC236}">
                <a16:creationId xmlns:a16="http://schemas.microsoft.com/office/drawing/2014/main" id="{AE2C7EDF-B291-8F19-C4CA-4C32EA84FB4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36FC82D-66F8-63E2-AE7E-3097BF5C76B2}"/>
              </a:ext>
            </a:extLst>
          </p:cNvPr>
          <p:cNvSpPr>
            <a:spLocks noGrp="1"/>
          </p:cNvSpPr>
          <p:nvPr>
            <p:ph type="sldNum" sz="quarter" idx="12"/>
          </p:nvPr>
        </p:nvSpPr>
        <p:spPr/>
        <p:txBody>
          <a:bodyPr/>
          <a:lstStyle/>
          <a:p>
            <a:fld id="{F13C70D5-6106-410A-8C0B-0282AF250197}" type="slidenum">
              <a:rPr lang="en-IN" smtClean="0"/>
              <a:t>‹#›</a:t>
            </a:fld>
            <a:endParaRPr lang="en-IN"/>
          </a:p>
        </p:txBody>
      </p:sp>
    </p:spTree>
    <p:extLst>
      <p:ext uri="{BB962C8B-B14F-4D97-AF65-F5344CB8AC3E}">
        <p14:creationId xmlns:p14="http://schemas.microsoft.com/office/powerpoint/2010/main" val="34957010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4CF71-2D19-380F-C1E4-B00CEAFF2D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1150F69-3750-66E4-8CFA-FA8388499E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920E1B8-4D24-06F2-D52C-EE1EFA7552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0A37A5-25FD-4B43-5899-D4158FE28444}"/>
              </a:ext>
            </a:extLst>
          </p:cNvPr>
          <p:cNvSpPr>
            <a:spLocks noGrp="1"/>
          </p:cNvSpPr>
          <p:nvPr>
            <p:ph type="dt" sz="half" idx="10"/>
          </p:nvPr>
        </p:nvSpPr>
        <p:spPr/>
        <p:txBody>
          <a:bodyPr/>
          <a:lstStyle/>
          <a:p>
            <a:fld id="{555093D5-1922-4DED-B1C9-DC5814DEC5A7}" type="datetimeFigureOut">
              <a:rPr lang="en-IN" smtClean="0"/>
              <a:t>16-08-2026</a:t>
            </a:fld>
            <a:endParaRPr lang="en-IN"/>
          </a:p>
        </p:txBody>
      </p:sp>
      <p:sp>
        <p:nvSpPr>
          <p:cNvPr id="6" name="Footer Placeholder 5">
            <a:extLst>
              <a:ext uri="{FF2B5EF4-FFF2-40B4-BE49-F238E27FC236}">
                <a16:creationId xmlns:a16="http://schemas.microsoft.com/office/drawing/2014/main" id="{7D0A83E5-F971-4B13-3124-63D520D805A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E4D334E-A585-6ADA-044C-E8672CFC8682}"/>
              </a:ext>
            </a:extLst>
          </p:cNvPr>
          <p:cNvSpPr>
            <a:spLocks noGrp="1"/>
          </p:cNvSpPr>
          <p:nvPr>
            <p:ph type="sldNum" sz="quarter" idx="12"/>
          </p:nvPr>
        </p:nvSpPr>
        <p:spPr/>
        <p:txBody>
          <a:bodyPr/>
          <a:lstStyle/>
          <a:p>
            <a:fld id="{F13C70D5-6106-410A-8C0B-0282AF250197}" type="slidenum">
              <a:rPr lang="en-IN" smtClean="0"/>
              <a:t>‹#›</a:t>
            </a:fld>
            <a:endParaRPr lang="en-IN"/>
          </a:p>
        </p:txBody>
      </p:sp>
    </p:spTree>
    <p:extLst>
      <p:ext uri="{BB962C8B-B14F-4D97-AF65-F5344CB8AC3E}">
        <p14:creationId xmlns:p14="http://schemas.microsoft.com/office/powerpoint/2010/main" val="3807587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289E0-3451-7A31-AEF4-97A7EFAFD4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EC0F375-E29C-C9C9-1FF7-8E1CB96A21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55AEBF2-D3BE-EB29-FDA0-FBF870AA24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0751EA-FB07-EAD4-50D5-2427045D7BA3}"/>
              </a:ext>
            </a:extLst>
          </p:cNvPr>
          <p:cNvSpPr>
            <a:spLocks noGrp="1"/>
          </p:cNvSpPr>
          <p:nvPr>
            <p:ph type="dt" sz="half" idx="10"/>
          </p:nvPr>
        </p:nvSpPr>
        <p:spPr/>
        <p:txBody>
          <a:bodyPr/>
          <a:lstStyle/>
          <a:p>
            <a:fld id="{555093D5-1922-4DED-B1C9-DC5814DEC5A7}" type="datetimeFigureOut">
              <a:rPr lang="en-IN" smtClean="0"/>
              <a:t>16-08-2026</a:t>
            </a:fld>
            <a:endParaRPr lang="en-IN"/>
          </a:p>
        </p:txBody>
      </p:sp>
      <p:sp>
        <p:nvSpPr>
          <p:cNvPr id="6" name="Footer Placeholder 5">
            <a:extLst>
              <a:ext uri="{FF2B5EF4-FFF2-40B4-BE49-F238E27FC236}">
                <a16:creationId xmlns:a16="http://schemas.microsoft.com/office/drawing/2014/main" id="{0B171C16-60BB-21F0-CBD9-553E75AD55D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1227054-B4D7-1466-FD5B-85DE16228831}"/>
              </a:ext>
            </a:extLst>
          </p:cNvPr>
          <p:cNvSpPr>
            <a:spLocks noGrp="1"/>
          </p:cNvSpPr>
          <p:nvPr>
            <p:ph type="sldNum" sz="quarter" idx="12"/>
          </p:nvPr>
        </p:nvSpPr>
        <p:spPr/>
        <p:txBody>
          <a:bodyPr/>
          <a:lstStyle/>
          <a:p>
            <a:fld id="{F13C70D5-6106-410A-8C0B-0282AF250197}" type="slidenum">
              <a:rPr lang="en-IN" smtClean="0"/>
              <a:t>‹#›</a:t>
            </a:fld>
            <a:endParaRPr lang="en-IN"/>
          </a:p>
        </p:txBody>
      </p:sp>
    </p:spTree>
    <p:extLst>
      <p:ext uri="{BB962C8B-B14F-4D97-AF65-F5344CB8AC3E}">
        <p14:creationId xmlns:p14="http://schemas.microsoft.com/office/powerpoint/2010/main" val="18013582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6D708-4EB6-C6E3-18D2-9709D6EFFAA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7AC4832-B7F5-7527-2EC6-0D4D3D1383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464BCEA-4855-2DC6-355B-1C9B5CA26D8C}"/>
              </a:ext>
            </a:extLst>
          </p:cNvPr>
          <p:cNvSpPr>
            <a:spLocks noGrp="1"/>
          </p:cNvSpPr>
          <p:nvPr>
            <p:ph type="dt" sz="half" idx="10"/>
          </p:nvPr>
        </p:nvSpPr>
        <p:spPr/>
        <p:txBody>
          <a:bodyPr/>
          <a:lstStyle/>
          <a:p>
            <a:fld id="{555093D5-1922-4DED-B1C9-DC5814DEC5A7}" type="datetimeFigureOut">
              <a:rPr lang="en-IN" smtClean="0"/>
              <a:t>16-08-2026</a:t>
            </a:fld>
            <a:endParaRPr lang="en-IN"/>
          </a:p>
        </p:txBody>
      </p:sp>
      <p:sp>
        <p:nvSpPr>
          <p:cNvPr id="5" name="Footer Placeholder 4">
            <a:extLst>
              <a:ext uri="{FF2B5EF4-FFF2-40B4-BE49-F238E27FC236}">
                <a16:creationId xmlns:a16="http://schemas.microsoft.com/office/drawing/2014/main" id="{7DD63825-DA18-910C-7B83-27B539F734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9028C4-8BFB-4D66-D0FB-BCE898DA55E7}"/>
              </a:ext>
            </a:extLst>
          </p:cNvPr>
          <p:cNvSpPr>
            <a:spLocks noGrp="1"/>
          </p:cNvSpPr>
          <p:nvPr>
            <p:ph type="sldNum" sz="quarter" idx="12"/>
          </p:nvPr>
        </p:nvSpPr>
        <p:spPr/>
        <p:txBody>
          <a:bodyPr/>
          <a:lstStyle/>
          <a:p>
            <a:fld id="{F13C70D5-6106-410A-8C0B-0282AF250197}" type="slidenum">
              <a:rPr lang="en-IN" smtClean="0"/>
              <a:t>‹#›</a:t>
            </a:fld>
            <a:endParaRPr lang="en-IN"/>
          </a:p>
        </p:txBody>
      </p:sp>
    </p:spTree>
    <p:extLst>
      <p:ext uri="{BB962C8B-B14F-4D97-AF65-F5344CB8AC3E}">
        <p14:creationId xmlns:p14="http://schemas.microsoft.com/office/powerpoint/2010/main" val="10463717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A91AE7-8786-EC51-DF01-62E3DE652CD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449D793-AC06-7808-9041-6FBCB1F3AC0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2832DF-5B4C-8EF9-040C-76057506C6DB}"/>
              </a:ext>
            </a:extLst>
          </p:cNvPr>
          <p:cNvSpPr>
            <a:spLocks noGrp="1"/>
          </p:cNvSpPr>
          <p:nvPr>
            <p:ph type="dt" sz="half" idx="10"/>
          </p:nvPr>
        </p:nvSpPr>
        <p:spPr/>
        <p:txBody>
          <a:bodyPr/>
          <a:lstStyle/>
          <a:p>
            <a:fld id="{555093D5-1922-4DED-B1C9-DC5814DEC5A7}" type="datetimeFigureOut">
              <a:rPr lang="en-IN" smtClean="0"/>
              <a:t>16-08-2026</a:t>
            </a:fld>
            <a:endParaRPr lang="en-IN"/>
          </a:p>
        </p:txBody>
      </p:sp>
      <p:sp>
        <p:nvSpPr>
          <p:cNvPr id="5" name="Footer Placeholder 4">
            <a:extLst>
              <a:ext uri="{FF2B5EF4-FFF2-40B4-BE49-F238E27FC236}">
                <a16:creationId xmlns:a16="http://schemas.microsoft.com/office/drawing/2014/main" id="{DC60D487-D555-9C96-9BEB-4A17EB3E8C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A3A81C-34D6-83B6-DD49-62641271D75C}"/>
              </a:ext>
            </a:extLst>
          </p:cNvPr>
          <p:cNvSpPr>
            <a:spLocks noGrp="1"/>
          </p:cNvSpPr>
          <p:nvPr>
            <p:ph type="sldNum" sz="quarter" idx="12"/>
          </p:nvPr>
        </p:nvSpPr>
        <p:spPr/>
        <p:txBody>
          <a:bodyPr/>
          <a:lstStyle/>
          <a:p>
            <a:fld id="{F13C70D5-6106-410A-8C0B-0282AF250197}" type="slidenum">
              <a:rPr lang="en-IN" smtClean="0"/>
              <a:t>‹#›</a:t>
            </a:fld>
            <a:endParaRPr lang="en-IN"/>
          </a:p>
        </p:txBody>
      </p:sp>
    </p:spTree>
    <p:extLst>
      <p:ext uri="{BB962C8B-B14F-4D97-AF65-F5344CB8AC3E}">
        <p14:creationId xmlns:p14="http://schemas.microsoft.com/office/powerpoint/2010/main" val="11030899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66B75B-7F7D-F300-8768-BF2A0274A3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0649155-7ED9-D8A1-1F9B-AB91EA918B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B7F36B-3FDE-B0EB-FE31-C7FEC1EC6B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55093D5-1922-4DED-B1C9-DC5814DEC5A7}" type="datetimeFigureOut">
              <a:rPr lang="en-IN" smtClean="0"/>
              <a:t>16-08-2026</a:t>
            </a:fld>
            <a:endParaRPr lang="en-IN"/>
          </a:p>
        </p:txBody>
      </p:sp>
      <p:sp>
        <p:nvSpPr>
          <p:cNvPr id="5" name="Footer Placeholder 4">
            <a:extLst>
              <a:ext uri="{FF2B5EF4-FFF2-40B4-BE49-F238E27FC236}">
                <a16:creationId xmlns:a16="http://schemas.microsoft.com/office/drawing/2014/main" id="{4741C624-A800-3538-A6EA-47233948B4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AA87D96-3B6A-BE3A-D407-E571E28672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13C70D5-6106-410A-8C0B-0282AF250197}" type="slidenum">
              <a:rPr lang="en-IN" smtClean="0"/>
              <a:t>‹#›</a:t>
            </a:fld>
            <a:endParaRPr lang="en-IN"/>
          </a:p>
        </p:txBody>
      </p:sp>
    </p:spTree>
    <p:extLst>
      <p:ext uri="{BB962C8B-B14F-4D97-AF65-F5344CB8AC3E}">
        <p14:creationId xmlns:p14="http://schemas.microsoft.com/office/powerpoint/2010/main" val="25014219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4DF6F-68E8-8706-5EFC-B2AC17A19242}"/>
              </a:ext>
            </a:extLst>
          </p:cNvPr>
          <p:cNvSpPr>
            <a:spLocks noGrp="1"/>
          </p:cNvSpPr>
          <p:nvPr>
            <p:ph type="ctrTitle"/>
          </p:nvPr>
        </p:nvSpPr>
        <p:spPr/>
        <p:txBody>
          <a:bodyPr/>
          <a:lstStyle/>
          <a:p>
            <a:r>
              <a:rPr lang="en-IN" dirty="0"/>
              <a:t>IMAGE REPRESENTATION AND PRE PROCESSING</a:t>
            </a:r>
          </a:p>
        </p:txBody>
      </p:sp>
      <p:sp>
        <p:nvSpPr>
          <p:cNvPr id="3" name="Subtitle 2">
            <a:extLst>
              <a:ext uri="{FF2B5EF4-FFF2-40B4-BE49-F238E27FC236}">
                <a16:creationId xmlns:a16="http://schemas.microsoft.com/office/drawing/2014/main" id="{6178914B-64BF-2EA5-5494-E72FCDE8AEB2}"/>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4100282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0F8D8-7E6E-0078-151A-778F19FC717E}"/>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82B6ED43-2309-015E-EB30-A17919B5A7E2}"/>
              </a:ext>
            </a:extLst>
          </p:cNvPr>
          <p:cNvGraphicFramePr>
            <a:graphicFrameLocks noGrp="1"/>
          </p:cNvGraphicFramePr>
          <p:nvPr>
            <p:ph idx="1"/>
          </p:nvPr>
        </p:nvGraphicFramePr>
        <p:xfrm>
          <a:off x="1925968" y="1825626"/>
          <a:ext cx="8340064" cy="4351335"/>
        </p:xfrm>
        <a:graphic>
          <a:graphicData uri="http://schemas.openxmlformats.org/drawingml/2006/table">
            <a:tbl>
              <a:tblPr/>
              <a:tblGrid>
                <a:gridCol w="4170032">
                  <a:extLst>
                    <a:ext uri="{9D8B030D-6E8A-4147-A177-3AD203B41FA5}">
                      <a16:colId xmlns:a16="http://schemas.microsoft.com/office/drawing/2014/main" val="3107988810"/>
                    </a:ext>
                  </a:extLst>
                </a:gridCol>
                <a:gridCol w="4170032">
                  <a:extLst>
                    <a:ext uri="{9D8B030D-6E8A-4147-A177-3AD203B41FA5}">
                      <a16:colId xmlns:a16="http://schemas.microsoft.com/office/drawing/2014/main" val="4040869804"/>
                    </a:ext>
                  </a:extLst>
                </a:gridCol>
              </a:tblGrid>
              <a:tr h="290089">
                <a:tc>
                  <a:txBody>
                    <a:bodyPr/>
                    <a:lstStyle/>
                    <a:p>
                      <a:pPr>
                        <a:buNone/>
                      </a:pPr>
                      <a:r>
                        <a:rPr lang="en-IN" sz="1400"/>
                        <a:t>Pixel Value</a:t>
                      </a:r>
                    </a:p>
                  </a:txBody>
                  <a:tcPr marL="72522" marR="72522" marT="36261" marB="36261" anchor="ctr">
                    <a:lnL>
                      <a:noFill/>
                    </a:lnL>
                    <a:lnR>
                      <a:noFill/>
                    </a:lnR>
                    <a:lnT>
                      <a:noFill/>
                    </a:lnT>
                    <a:lnB>
                      <a:noFill/>
                    </a:lnB>
                    <a:noFill/>
                  </a:tcPr>
                </a:tc>
                <a:tc>
                  <a:txBody>
                    <a:bodyPr/>
                    <a:lstStyle/>
                    <a:p>
                      <a:pPr>
                        <a:buNone/>
                      </a:pPr>
                      <a:r>
                        <a:rPr lang="en-IN" sz="1400"/>
                        <a:t>Pixel // 64</a:t>
                      </a:r>
                    </a:p>
                  </a:txBody>
                  <a:tcPr marL="72522" marR="72522" marT="36261" marB="36261" anchor="ctr">
                    <a:lnL>
                      <a:noFill/>
                    </a:lnL>
                    <a:lnR>
                      <a:noFill/>
                    </a:lnR>
                    <a:lnT>
                      <a:noFill/>
                    </a:lnT>
                    <a:lnB>
                      <a:noFill/>
                    </a:lnB>
                    <a:noFill/>
                  </a:tcPr>
                </a:tc>
                <a:extLst>
                  <a:ext uri="{0D108BD9-81ED-4DB2-BD59-A6C34878D82A}">
                    <a16:rowId xmlns:a16="http://schemas.microsoft.com/office/drawing/2014/main" val="2810807456"/>
                  </a:ext>
                </a:extLst>
              </a:tr>
              <a:tr h="290089">
                <a:tc>
                  <a:txBody>
                    <a:bodyPr/>
                    <a:lstStyle/>
                    <a:p>
                      <a:pPr>
                        <a:buNone/>
                      </a:pPr>
                      <a:r>
                        <a:rPr lang="en-IN" sz="1400"/>
                        <a:t>0</a:t>
                      </a:r>
                    </a:p>
                  </a:txBody>
                  <a:tcPr marL="72522" marR="72522" marT="36261" marB="36261" anchor="ctr">
                    <a:lnL>
                      <a:noFill/>
                    </a:lnL>
                    <a:lnR>
                      <a:noFill/>
                    </a:lnR>
                    <a:lnT>
                      <a:noFill/>
                    </a:lnT>
                    <a:lnB>
                      <a:noFill/>
                    </a:lnB>
                    <a:noFill/>
                  </a:tcPr>
                </a:tc>
                <a:tc>
                  <a:txBody>
                    <a:bodyPr/>
                    <a:lstStyle/>
                    <a:p>
                      <a:pPr>
                        <a:buNone/>
                      </a:pPr>
                      <a:r>
                        <a:rPr lang="en-IN" sz="1400"/>
                        <a:t>0</a:t>
                      </a:r>
                    </a:p>
                  </a:txBody>
                  <a:tcPr marL="72522" marR="72522" marT="36261" marB="36261" anchor="ctr">
                    <a:lnL>
                      <a:noFill/>
                    </a:lnL>
                    <a:lnR>
                      <a:noFill/>
                    </a:lnR>
                    <a:lnT>
                      <a:noFill/>
                    </a:lnT>
                    <a:lnB>
                      <a:noFill/>
                    </a:lnB>
                    <a:noFill/>
                  </a:tcPr>
                </a:tc>
                <a:extLst>
                  <a:ext uri="{0D108BD9-81ED-4DB2-BD59-A6C34878D82A}">
                    <a16:rowId xmlns:a16="http://schemas.microsoft.com/office/drawing/2014/main" val="327244946"/>
                  </a:ext>
                </a:extLst>
              </a:tr>
              <a:tr h="290089">
                <a:tc>
                  <a:txBody>
                    <a:bodyPr/>
                    <a:lstStyle/>
                    <a:p>
                      <a:pPr>
                        <a:buNone/>
                      </a:pPr>
                      <a:r>
                        <a:rPr lang="en-IN" sz="1400"/>
                        <a:t>20</a:t>
                      </a:r>
                    </a:p>
                  </a:txBody>
                  <a:tcPr marL="72522" marR="72522" marT="36261" marB="36261" anchor="ctr">
                    <a:lnL>
                      <a:noFill/>
                    </a:lnL>
                    <a:lnR>
                      <a:noFill/>
                    </a:lnR>
                    <a:lnT>
                      <a:noFill/>
                    </a:lnT>
                    <a:lnB>
                      <a:noFill/>
                    </a:lnB>
                    <a:noFill/>
                  </a:tcPr>
                </a:tc>
                <a:tc>
                  <a:txBody>
                    <a:bodyPr/>
                    <a:lstStyle/>
                    <a:p>
                      <a:pPr>
                        <a:buNone/>
                      </a:pPr>
                      <a:r>
                        <a:rPr lang="en-IN" sz="1400"/>
                        <a:t>0</a:t>
                      </a:r>
                    </a:p>
                  </a:txBody>
                  <a:tcPr marL="72522" marR="72522" marT="36261" marB="36261" anchor="ctr">
                    <a:lnL>
                      <a:noFill/>
                    </a:lnL>
                    <a:lnR>
                      <a:noFill/>
                    </a:lnR>
                    <a:lnT>
                      <a:noFill/>
                    </a:lnT>
                    <a:lnB>
                      <a:noFill/>
                    </a:lnB>
                    <a:noFill/>
                  </a:tcPr>
                </a:tc>
                <a:extLst>
                  <a:ext uri="{0D108BD9-81ED-4DB2-BD59-A6C34878D82A}">
                    <a16:rowId xmlns:a16="http://schemas.microsoft.com/office/drawing/2014/main" val="1970795320"/>
                  </a:ext>
                </a:extLst>
              </a:tr>
              <a:tr h="290089">
                <a:tc>
                  <a:txBody>
                    <a:bodyPr/>
                    <a:lstStyle/>
                    <a:p>
                      <a:pPr>
                        <a:buNone/>
                      </a:pPr>
                      <a:r>
                        <a:rPr lang="en-IN" sz="1400"/>
                        <a:t>50</a:t>
                      </a:r>
                    </a:p>
                  </a:txBody>
                  <a:tcPr marL="72522" marR="72522" marT="36261" marB="36261" anchor="ctr">
                    <a:lnL>
                      <a:noFill/>
                    </a:lnL>
                    <a:lnR>
                      <a:noFill/>
                    </a:lnR>
                    <a:lnT>
                      <a:noFill/>
                    </a:lnT>
                    <a:lnB>
                      <a:noFill/>
                    </a:lnB>
                    <a:noFill/>
                  </a:tcPr>
                </a:tc>
                <a:tc>
                  <a:txBody>
                    <a:bodyPr/>
                    <a:lstStyle/>
                    <a:p>
                      <a:pPr>
                        <a:buNone/>
                      </a:pPr>
                      <a:r>
                        <a:rPr lang="en-IN" sz="1400"/>
                        <a:t>0</a:t>
                      </a:r>
                    </a:p>
                  </a:txBody>
                  <a:tcPr marL="72522" marR="72522" marT="36261" marB="36261" anchor="ctr">
                    <a:lnL>
                      <a:noFill/>
                    </a:lnL>
                    <a:lnR>
                      <a:noFill/>
                    </a:lnR>
                    <a:lnT>
                      <a:noFill/>
                    </a:lnT>
                    <a:lnB>
                      <a:noFill/>
                    </a:lnB>
                    <a:noFill/>
                  </a:tcPr>
                </a:tc>
                <a:extLst>
                  <a:ext uri="{0D108BD9-81ED-4DB2-BD59-A6C34878D82A}">
                    <a16:rowId xmlns:a16="http://schemas.microsoft.com/office/drawing/2014/main" val="3491822956"/>
                  </a:ext>
                </a:extLst>
              </a:tr>
              <a:tr h="290089">
                <a:tc>
                  <a:txBody>
                    <a:bodyPr/>
                    <a:lstStyle/>
                    <a:p>
                      <a:pPr>
                        <a:buNone/>
                      </a:pPr>
                      <a:r>
                        <a:rPr lang="en-IN" sz="1400"/>
                        <a:t>63</a:t>
                      </a:r>
                    </a:p>
                  </a:txBody>
                  <a:tcPr marL="72522" marR="72522" marT="36261" marB="36261" anchor="ctr">
                    <a:lnL>
                      <a:noFill/>
                    </a:lnL>
                    <a:lnR>
                      <a:noFill/>
                    </a:lnR>
                    <a:lnT>
                      <a:noFill/>
                    </a:lnT>
                    <a:lnB>
                      <a:noFill/>
                    </a:lnB>
                    <a:noFill/>
                  </a:tcPr>
                </a:tc>
                <a:tc>
                  <a:txBody>
                    <a:bodyPr/>
                    <a:lstStyle/>
                    <a:p>
                      <a:pPr>
                        <a:buNone/>
                      </a:pPr>
                      <a:r>
                        <a:rPr lang="en-IN" sz="1400"/>
                        <a:t>0</a:t>
                      </a:r>
                    </a:p>
                  </a:txBody>
                  <a:tcPr marL="72522" marR="72522" marT="36261" marB="36261" anchor="ctr">
                    <a:lnL>
                      <a:noFill/>
                    </a:lnL>
                    <a:lnR>
                      <a:noFill/>
                    </a:lnR>
                    <a:lnT>
                      <a:noFill/>
                    </a:lnT>
                    <a:lnB>
                      <a:noFill/>
                    </a:lnB>
                    <a:noFill/>
                  </a:tcPr>
                </a:tc>
                <a:extLst>
                  <a:ext uri="{0D108BD9-81ED-4DB2-BD59-A6C34878D82A}">
                    <a16:rowId xmlns:a16="http://schemas.microsoft.com/office/drawing/2014/main" val="2030908642"/>
                  </a:ext>
                </a:extLst>
              </a:tr>
              <a:tr h="290089">
                <a:tc>
                  <a:txBody>
                    <a:bodyPr/>
                    <a:lstStyle/>
                    <a:p>
                      <a:pPr>
                        <a:buNone/>
                      </a:pPr>
                      <a:r>
                        <a:rPr lang="en-IN" sz="1400"/>
                        <a:t>64</a:t>
                      </a:r>
                    </a:p>
                  </a:txBody>
                  <a:tcPr marL="72522" marR="72522" marT="36261" marB="36261" anchor="ctr">
                    <a:lnL>
                      <a:noFill/>
                    </a:lnL>
                    <a:lnR>
                      <a:noFill/>
                    </a:lnR>
                    <a:lnT>
                      <a:noFill/>
                    </a:lnT>
                    <a:lnB>
                      <a:noFill/>
                    </a:lnB>
                    <a:noFill/>
                  </a:tcPr>
                </a:tc>
                <a:tc>
                  <a:txBody>
                    <a:bodyPr/>
                    <a:lstStyle/>
                    <a:p>
                      <a:pPr>
                        <a:buNone/>
                      </a:pPr>
                      <a:r>
                        <a:rPr lang="en-IN" sz="1400"/>
                        <a:t>1</a:t>
                      </a:r>
                    </a:p>
                  </a:txBody>
                  <a:tcPr marL="72522" marR="72522" marT="36261" marB="36261" anchor="ctr">
                    <a:lnL>
                      <a:noFill/>
                    </a:lnL>
                    <a:lnR>
                      <a:noFill/>
                    </a:lnR>
                    <a:lnT>
                      <a:noFill/>
                    </a:lnT>
                    <a:lnB>
                      <a:noFill/>
                    </a:lnB>
                    <a:noFill/>
                  </a:tcPr>
                </a:tc>
                <a:extLst>
                  <a:ext uri="{0D108BD9-81ED-4DB2-BD59-A6C34878D82A}">
                    <a16:rowId xmlns:a16="http://schemas.microsoft.com/office/drawing/2014/main" val="3165862412"/>
                  </a:ext>
                </a:extLst>
              </a:tr>
              <a:tr h="290089">
                <a:tc>
                  <a:txBody>
                    <a:bodyPr/>
                    <a:lstStyle/>
                    <a:p>
                      <a:pPr>
                        <a:buNone/>
                      </a:pPr>
                      <a:r>
                        <a:rPr lang="en-IN" sz="1400"/>
                        <a:t>80</a:t>
                      </a:r>
                    </a:p>
                  </a:txBody>
                  <a:tcPr marL="72522" marR="72522" marT="36261" marB="36261" anchor="ctr">
                    <a:lnL>
                      <a:noFill/>
                    </a:lnL>
                    <a:lnR>
                      <a:noFill/>
                    </a:lnR>
                    <a:lnT>
                      <a:noFill/>
                    </a:lnT>
                    <a:lnB>
                      <a:noFill/>
                    </a:lnB>
                    <a:noFill/>
                  </a:tcPr>
                </a:tc>
                <a:tc>
                  <a:txBody>
                    <a:bodyPr/>
                    <a:lstStyle/>
                    <a:p>
                      <a:pPr>
                        <a:buNone/>
                      </a:pPr>
                      <a:r>
                        <a:rPr lang="en-IN" sz="1400"/>
                        <a:t>1</a:t>
                      </a:r>
                    </a:p>
                  </a:txBody>
                  <a:tcPr marL="72522" marR="72522" marT="36261" marB="36261" anchor="ctr">
                    <a:lnL>
                      <a:noFill/>
                    </a:lnL>
                    <a:lnR>
                      <a:noFill/>
                    </a:lnR>
                    <a:lnT>
                      <a:noFill/>
                    </a:lnT>
                    <a:lnB>
                      <a:noFill/>
                    </a:lnB>
                    <a:noFill/>
                  </a:tcPr>
                </a:tc>
                <a:extLst>
                  <a:ext uri="{0D108BD9-81ED-4DB2-BD59-A6C34878D82A}">
                    <a16:rowId xmlns:a16="http://schemas.microsoft.com/office/drawing/2014/main" val="2046351315"/>
                  </a:ext>
                </a:extLst>
              </a:tr>
              <a:tr h="290089">
                <a:tc>
                  <a:txBody>
                    <a:bodyPr/>
                    <a:lstStyle/>
                    <a:p>
                      <a:pPr>
                        <a:buNone/>
                      </a:pPr>
                      <a:r>
                        <a:rPr lang="en-IN" sz="1400"/>
                        <a:t>100</a:t>
                      </a:r>
                    </a:p>
                  </a:txBody>
                  <a:tcPr marL="72522" marR="72522" marT="36261" marB="36261" anchor="ctr">
                    <a:lnL>
                      <a:noFill/>
                    </a:lnL>
                    <a:lnR>
                      <a:noFill/>
                    </a:lnR>
                    <a:lnT>
                      <a:noFill/>
                    </a:lnT>
                    <a:lnB>
                      <a:noFill/>
                    </a:lnB>
                    <a:noFill/>
                  </a:tcPr>
                </a:tc>
                <a:tc>
                  <a:txBody>
                    <a:bodyPr/>
                    <a:lstStyle/>
                    <a:p>
                      <a:pPr>
                        <a:buNone/>
                      </a:pPr>
                      <a:r>
                        <a:rPr lang="en-IN" sz="1400"/>
                        <a:t>1</a:t>
                      </a:r>
                    </a:p>
                  </a:txBody>
                  <a:tcPr marL="72522" marR="72522" marT="36261" marB="36261" anchor="ctr">
                    <a:lnL>
                      <a:noFill/>
                    </a:lnL>
                    <a:lnR>
                      <a:noFill/>
                    </a:lnR>
                    <a:lnT>
                      <a:noFill/>
                    </a:lnT>
                    <a:lnB>
                      <a:noFill/>
                    </a:lnB>
                    <a:noFill/>
                  </a:tcPr>
                </a:tc>
                <a:extLst>
                  <a:ext uri="{0D108BD9-81ED-4DB2-BD59-A6C34878D82A}">
                    <a16:rowId xmlns:a16="http://schemas.microsoft.com/office/drawing/2014/main" val="3577200066"/>
                  </a:ext>
                </a:extLst>
              </a:tr>
              <a:tr h="290089">
                <a:tc>
                  <a:txBody>
                    <a:bodyPr/>
                    <a:lstStyle/>
                    <a:p>
                      <a:pPr>
                        <a:buNone/>
                      </a:pPr>
                      <a:r>
                        <a:rPr lang="en-IN" sz="1400"/>
                        <a:t>127</a:t>
                      </a:r>
                    </a:p>
                  </a:txBody>
                  <a:tcPr marL="72522" marR="72522" marT="36261" marB="36261" anchor="ctr">
                    <a:lnL>
                      <a:noFill/>
                    </a:lnL>
                    <a:lnR>
                      <a:noFill/>
                    </a:lnR>
                    <a:lnT>
                      <a:noFill/>
                    </a:lnT>
                    <a:lnB>
                      <a:noFill/>
                    </a:lnB>
                    <a:noFill/>
                  </a:tcPr>
                </a:tc>
                <a:tc>
                  <a:txBody>
                    <a:bodyPr/>
                    <a:lstStyle/>
                    <a:p>
                      <a:pPr>
                        <a:buNone/>
                      </a:pPr>
                      <a:r>
                        <a:rPr lang="en-IN" sz="1400"/>
                        <a:t>1</a:t>
                      </a:r>
                    </a:p>
                  </a:txBody>
                  <a:tcPr marL="72522" marR="72522" marT="36261" marB="36261" anchor="ctr">
                    <a:lnL>
                      <a:noFill/>
                    </a:lnL>
                    <a:lnR>
                      <a:noFill/>
                    </a:lnR>
                    <a:lnT>
                      <a:noFill/>
                    </a:lnT>
                    <a:lnB>
                      <a:noFill/>
                    </a:lnB>
                    <a:noFill/>
                  </a:tcPr>
                </a:tc>
                <a:extLst>
                  <a:ext uri="{0D108BD9-81ED-4DB2-BD59-A6C34878D82A}">
                    <a16:rowId xmlns:a16="http://schemas.microsoft.com/office/drawing/2014/main" val="2981491929"/>
                  </a:ext>
                </a:extLst>
              </a:tr>
              <a:tr h="290089">
                <a:tc>
                  <a:txBody>
                    <a:bodyPr/>
                    <a:lstStyle/>
                    <a:p>
                      <a:pPr>
                        <a:buNone/>
                      </a:pPr>
                      <a:r>
                        <a:rPr lang="en-IN" sz="1400"/>
                        <a:t>128</a:t>
                      </a:r>
                    </a:p>
                  </a:txBody>
                  <a:tcPr marL="72522" marR="72522" marT="36261" marB="36261" anchor="ctr">
                    <a:lnL>
                      <a:noFill/>
                    </a:lnL>
                    <a:lnR>
                      <a:noFill/>
                    </a:lnR>
                    <a:lnT>
                      <a:noFill/>
                    </a:lnT>
                    <a:lnB>
                      <a:noFill/>
                    </a:lnB>
                    <a:noFill/>
                  </a:tcPr>
                </a:tc>
                <a:tc>
                  <a:txBody>
                    <a:bodyPr/>
                    <a:lstStyle/>
                    <a:p>
                      <a:pPr>
                        <a:buNone/>
                      </a:pPr>
                      <a:r>
                        <a:rPr lang="en-IN" sz="1400"/>
                        <a:t>2</a:t>
                      </a:r>
                    </a:p>
                  </a:txBody>
                  <a:tcPr marL="72522" marR="72522" marT="36261" marB="36261" anchor="ctr">
                    <a:lnL>
                      <a:noFill/>
                    </a:lnL>
                    <a:lnR>
                      <a:noFill/>
                    </a:lnR>
                    <a:lnT>
                      <a:noFill/>
                    </a:lnT>
                    <a:lnB>
                      <a:noFill/>
                    </a:lnB>
                    <a:noFill/>
                  </a:tcPr>
                </a:tc>
                <a:extLst>
                  <a:ext uri="{0D108BD9-81ED-4DB2-BD59-A6C34878D82A}">
                    <a16:rowId xmlns:a16="http://schemas.microsoft.com/office/drawing/2014/main" val="3022056882"/>
                  </a:ext>
                </a:extLst>
              </a:tr>
              <a:tr h="290089">
                <a:tc>
                  <a:txBody>
                    <a:bodyPr/>
                    <a:lstStyle/>
                    <a:p>
                      <a:pPr>
                        <a:buNone/>
                      </a:pPr>
                      <a:r>
                        <a:rPr lang="en-IN" sz="1400"/>
                        <a:t>150</a:t>
                      </a:r>
                    </a:p>
                  </a:txBody>
                  <a:tcPr marL="72522" marR="72522" marT="36261" marB="36261" anchor="ctr">
                    <a:lnL>
                      <a:noFill/>
                    </a:lnL>
                    <a:lnR>
                      <a:noFill/>
                    </a:lnR>
                    <a:lnT>
                      <a:noFill/>
                    </a:lnT>
                    <a:lnB>
                      <a:noFill/>
                    </a:lnB>
                    <a:noFill/>
                  </a:tcPr>
                </a:tc>
                <a:tc>
                  <a:txBody>
                    <a:bodyPr/>
                    <a:lstStyle/>
                    <a:p>
                      <a:pPr>
                        <a:buNone/>
                      </a:pPr>
                      <a:r>
                        <a:rPr lang="en-IN" sz="1400"/>
                        <a:t>2</a:t>
                      </a:r>
                    </a:p>
                  </a:txBody>
                  <a:tcPr marL="72522" marR="72522" marT="36261" marB="36261" anchor="ctr">
                    <a:lnL>
                      <a:noFill/>
                    </a:lnL>
                    <a:lnR>
                      <a:noFill/>
                    </a:lnR>
                    <a:lnT>
                      <a:noFill/>
                    </a:lnT>
                    <a:lnB>
                      <a:noFill/>
                    </a:lnB>
                    <a:noFill/>
                  </a:tcPr>
                </a:tc>
                <a:extLst>
                  <a:ext uri="{0D108BD9-81ED-4DB2-BD59-A6C34878D82A}">
                    <a16:rowId xmlns:a16="http://schemas.microsoft.com/office/drawing/2014/main" val="3746440993"/>
                  </a:ext>
                </a:extLst>
              </a:tr>
              <a:tr h="290089">
                <a:tc>
                  <a:txBody>
                    <a:bodyPr/>
                    <a:lstStyle/>
                    <a:p>
                      <a:pPr>
                        <a:buNone/>
                      </a:pPr>
                      <a:r>
                        <a:rPr lang="en-IN" sz="1400"/>
                        <a:t>191</a:t>
                      </a:r>
                    </a:p>
                  </a:txBody>
                  <a:tcPr marL="72522" marR="72522" marT="36261" marB="36261" anchor="ctr">
                    <a:lnL>
                      <a:noFill/>
                    </a:lnL>
                    <a:lnR>
                      <a:noFill/>
                    </a:lnR>
                    <a:lnT>
                      <a:noFill/>
                    </a:lnT>
                    <a:lnB>
                      <a:noFill/>
                    </a:lnB>
                    <a:noFill/>
                  </a:tcPr>
                </a:tc>
                <a:tc>
                  <a:txBody>
                    <a:bodyPr/>
                    <a:lstStyle/>
                    <a:p>
                      <a:pPr>
                        <a:buNone/>
                      </a:pPr>
                      <a:r>
                        <a:rPr lang="en-IN" sz="1400"/>
                        <a:t>2</a:t>
                      </a:r>
                    </a:p>
                  </a:txBody>
                  <a:tcPr marL="72522" marR="72522" marT="36261" marB="36261" anchor="ctr">
                    <a:lnL>
                      <a:noFill/>
                    </a:lnL>
                    <a:lnR>
                      <a:noFill/>
                    </a:lnR>
                    <a:lnT>
                      <a:noFill/>
                    </a:lnT>
                    <a:lnB>
                      <a:noFill/>
                    </a:lnB>
                    <a:noFill/>
                  </a:tcPr>
                </a:tc>
                <a:extLst>
                  <a:ext uri="{0D108BD9-81ED-4DB2-BD59-A6C34878D82A}">
                    <a16:rowId xmlns:a16="http://schemas.microsoft.com/office/drawing/2014/main" val="4029196449"/>
                  </a:ext>
                </a:extLst>
              </a:tr>
              <a:tr h="290089">
                <a:tc>
                  <a:txBody>
                    <a:bodyPr/>
                    <a:lstStyle/>
                    <a:p>
                      <a:pPr>
                        <a:buNone/>
                      </a:pPr>
                      <a:r>
                        <a:rPr lang="en-IN" sz="1400"/>
                        <a:t>192</a:t>
                      </a:r>
                    </a:p>
                  </a:txBody>
                  <a:tcPr marL="72522" marR="72522" marT="36261" marB="36261" anchor="ctr">
                    <a:lnL>
                      <a:noFill/>
                    </a:lnL>
                    <a:lnR>
                      <a:noFill/>
                    </a:lnR>
                    <a:lnT>
                      <a:noFill/>
                    </a:lnT>
                    <a:lnB>
                      <a:noFill/>
                    </a:lnB>
                    <a:noFill/>
                  </a:tcPr>
                </a:tc>
                <a:tc>
                  <a:txBody>
                    <a:bodyPr/>
                    <a:lstStyle/>
                    <a:p>
                      <a:pPr>
                        <a:buNone/>
                      </a:pPr>
                      <a:r>
                        <a:rPr lang="en-IN" sz="1400"/>
                        <a:t>3</a:t>
                      </a:r>
                    </a:p>
                  </a:txBody>
                  <a:tcPr marL="72522" marR="72522" marT="36261" marB="36261" anchor="ctr">
                    <a:lnL>
                      <a:noFill/>
                    </a:lnL>
                    <a:lnR>
                      <a:noFill/>
                    </a:lnR>
                    <a:lnT>
                      <a:noFill/>
                    </a:lnT>
                    <a:lnB>
                      <a:noFill/>
                    </a:lnB>
                    <a:noFill/>
                  </a:tcPr>
                </a:tc>
                <a:extLst>
                  <a:ext uri="{0D108BD9-81ED-4DB2-BD59-A6C34878D82A}">
                    <a16:rowId xmlns:a16="http://schemas.microsoft.com/office/drawing/2014/main" val="1311488210"/>
                  </a:ext>
                </a:extLst>
              </a:tr>
              <a:tr h="290089">
                <a:tc>
                  <a:txBody>
                    <a:bodyPr/>
                    <a:lstStyle/>
                    <a:p>
                      <a:pPr>
                        <a:buNone/>
                      </a:pPr>
                      <a:r>
                        <a:rPr lang="en-IN" sz="1400"/>
                        <a:t>220</a:t>
                      </a:r>
                    </a:p>
                  </a:txBody>
                  <a:tcPr marL="72522" marR="72522" marT="36261" marB="36261" anchor="ctr">
                    <a:lnL>
                      <a:noFill/>
                    </a:lnL>
                    <a:lnR>
                      <a:noFill/>
                    </a:lnR>
                    <a:lnT>
                      <a:noFill/>
                    </a:lnT>
                    <a:lnB>
                      <a:noFill/>
                    </a:lnB>
                    <a:noFill/>
                  </a:tcPr>
                </a:tc>
                <a:tc>
                  <a:txBody>
                    <a:bodyPr/>
                    <a:lstStyle/>
                    <a:p>
                      <a:pPr>
                        <a:buNone/>
                      </a:pPr>
                      <a:r>
                        <a:rPr lang="en-IN" sz="1400"/>
                        <a:t>3</a:t>
                      </a:r>
                    </a:p>
                  </a:txBody>
                  <a:tcPr marL="72522" marR="72522" marT="36261" marB="36261" anchor="ctr">
                    <a:lnL>
                      <a:noFill/>
                    </a:lnL>
                    <a:lnR>
                      <a:noFill/>
                    </a:lnR>
                    <a:lnT>
                      <a:noFill/>
                    </a:lnT>
                    <a:lnB>
                      <a:noFill/>
                    </a:lnB>
                    <a:noFill/>
                  </a:tcPr>
                </a:tc>
                <a:extLst>
                  <a:ext uri="{0D108BD9-81ED-4DB2-BD59-A6C34878D82A}">
                    <a16:rowId xmlns:a16="http://schemas.microsoft.com/office/drawing/2014/main" val="3577338203"/>
                  </a:ext>
                </a:extLst>
              </a:tr>
              <a:tr h="290089">
                <a:tc>
                  <a:txBody>
                    <a:bodyPr/>
                    <a:lstStyle/>
                    <a:p>
                      <a:pPr>
                        <a:buNone/>
                      </a:pPr>
                      <a:r>
                        <a:rPr lang="en-IN" sz="1400"/>
                        <a:t>255</a:t>
                      </a:r>
                    </a:p>
                  </a:txBody>
                  <a:tcPr marL="72522" marR="72522" marT="36261" marB="36261" anchor="ctr">
                    <a:lnL>
                      <a:noFill/>
                    </a:lnL>
                    <a:lnR>
                      <a:noFill/>
                    </a:lnR>
                    <a:lnT>
                      <a:noFill/>
                    </a:lnT>
                    <a:lnB>
                      <a:noFill/>
                    </a:lnB>
                    <a:noFill/>
                  </a:tcPr>
                </a:tc>
                <a:tc>
                  <a:txBody>
                    <a:bodyPr/>
                    <a:lstStyle/>
                    <a:p>
                      <a:pPr>
                        <a:buNone/>
                      </a:pPr>
                      <a:r>
                        <a:rPr lang="en-IN" sz="1400" dirty="0"/>
                        <a:t>3</a:t>
                      </a:r>
                    </a:p>
                  </a:txBody>
                  <a:tcPr marL="72522" marR="72522" marT="36261" marB="36261" anchor="ctr">
                    <a:lnL>
                      <a:noFill/>
                    </a:lnL>
                    <a:lnR>
                      <a:noFill/>
                    </a:lnR>
                    <a:lnT>
                      <a:noFill/>
                    </a:lnT>
                    <a:lnB>
                      <a:noFill/>
                    </a:lnB>
                    <a:noFill/>
                  </a:tcPr>
                </a:tc>
                <a:extLst>
                  <a:ext uri="{0D108BD9-81ED-4DB2-BD59-A6C34878D82A}">
                    <a16:rowId xmlns:a16="http://schemas.microsoft.com/office/drawing/2014/main" val="3905474286"/>
                  </a:ext>
                </a:extLst>
              </a:tr>
            </a:tbl>
          </a:graphicData>
        </a:graphic>
      </p:graphicFrame>
    </p:spTree>
    <p:extLst>
      <p:ext uri="{BB962C8B-B14F-4D97-AF65-F5344CB8AC3E}">
        <p14:creationId xmlns:p14="http://schemas.microsoft.com/office/powerpoint/2010/main" val="42226728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7F8AC-7CFE-C0C9-9239-5D622BCDB78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AFA183F-0DE1-ECA7-9B80-62899898216F}"/>
              </a:ext>
            </a:extLst>
          </p:cNvPr>
          <p:cNvSpPr>
            <a:spLocks noGrp="1"/>
          </p:cNvSpPr>
          <p:nvPr>
            <p:ph idx="1"/>
          </p:nvPr>
        </p:nvSpPr>
        <p:spPr/>
        <p:txBody>
          <a:bodyPr/>
          <a:lstStyle/>
          <a:p>
            <a:r>
              <a:rPr lang="en-IN" dirty="0"/>
              <a:t>0–63 → 0</a:t>
            </a:r>
          </a:p>
          <a:p>
            <a:r>
              <a:rPr lang="en-IN" dirty="0"/>
              <a:t> 64–127 → 1</a:t>
            </a:r>
          </a:p>
          <a:p>
            <a:r>
              <a:rPr lang="en-IN" dirty="0"/>
              <a:t> 128–191 → 2 </a:t>
            </a:r>
          </a:p>
          <a:p>
            <a:r>
              <a:rPr lang="en-IN" dirty="0"/>
              <a:t>192–255 → 3</a:t>
            </a:r>
          </a:p>
          <a:p>
            <a:r>
              <a:rPr lang="en-IN" dirty="0"/>
              <a:t>So dividing by </a:t>
            </a:r>
            <a:r>
              <a:rPr lang="en-IN" b="1" dirty="0"/>
              <a:t>64</a:t>
            </a:r>
            <a:r>
              <a:rPr lang="en-IN" dirty="0"/>
              <a:t> puts every pixel into one of </a:t>
            </a:r>
            <a:r>
              <a:rPr lang="en-IN" b="1" dirty="0"/>
              <a:t>4 groups</a:t>
            </a:r>
            <a:r>
              <a:rPr lang="en-IN" dirty="0"/>
              <a:t>.</a:t>
            </a:r>
          </a:p>
          <a:p>
            <a:r>
              <a:rPr lang="en-IN" dirty="0"/>
              <a:t>256/4=64</a:t>
            </a:r>
          </a:p>
        </p:txBody>
      </p:sp>
    </p:spTree>
    <p:extLst>
      <p:ext uri="{BB962C8B-B14F-4D97-AF65-F5344CB8AC3E}">
        <p14:creationId xmlns:p14="http://schemas.microsoft.com/office/powerpoint/2010/main" val="9230596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FC98E-928C-F6A2-E583-3AE10A16BFE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09E794E-54DC-EA84-461A-DF159ED37039}"/>
              </a:ext>
            </a:extLst>
          </p:cNvPr>
          <p:cNvSpPr>
            <a:spLocks noGrp="1"/>
          </p:cNvSpPr>
          <p:nvPr>
            <p:ph idx="1"/>
          </p:nvPr>
        </p:nvSpPr>
        <p:spPr/>
        <p:txBody>
          <a:bodyPr/>
          <a:lstStyle/>
          <a:p>
            <a:r>
              <a:rPr lang="en-IN" b="1" dirty="0"/>
              <a:t>Image Representation</a:t>
            </a:r>
            <a:r>
              <a:rPr lang="en-IN" dirty="0"/>
              <a:t> is the method of </a:t>
            </a:r>
            <a:r>
              <a:rPr lang="en-IN" b="1" dirty="0"/>
              <a:t>representing an image inside a computer so that it can be stored, processed, and </a:t>
            </a:r>
            <a:r>
              <a:rPr lang="en-IN" b="1" dirty="0" err="1"/>
              <a:t>analyzed</a:t>
            </a:r>
            <a:r>
              <a:rPr lang="en-IN" dirty="0"/>
              <a:t>.</a:t>
            </a:r>
          </a:p>
          <a:p>
            <a:r>
              <a:rPr lang="en-IN" dirty="0"/>
              <a:t>In Computer Vision, images are represented </a:t>
            </a:r>
            <a:r>
              <a:rPr lang="en-IN" b="1" dirty="0"/>
              <a:t>digitally</a:t>
            </a:r>
            <a:r>
              <a:rPr lang="en-IN" dirty="0"/>
              <a:t> as a collection of </a:t>
            </a:r>
            <a:r>
              <a:rPr lang="en-IN" b="1" dirty="0"/>
              <a:t>pixels</a:t>
            </a:r>
            <a:r>
              <a:rPr lang="en-IN" dirty="0"/>
              <a:t>.</a:t>
            </a:r>
          </a:p>
          <a:p>
            <a:endParaRPr lang="en-IN" dirty="0"/>
          </a:p>
        </p:txBody>
      </p:sp>
    </p:spTree>
    <p:extLst>
      <p:ext uri="{BB962C8B-B14F-4D97-AF65-F5344CB8AC3E}">
        <p14:creationId xmlns:p14="http://schemas.microsoft.com/office/powerpoint/2010/main" val="24132316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AE8F3-1242-323A-FA9C-7399D090615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7E22CA9-6C03-0711-2E48-B60BFF04C0D5}"/>
              </a:ext>
            </a:extLst>
          </p:cNvPr>
          <p:cNvSpPr>
            <a:spLocks noGrp="1"/>
          </p:cNvSpPr>
          <p:nvPr>
            <p:ph idx="1"/>
          </p:nvPr>
        </p:nvSpPr>
        <p:spPr/>
        <p:txBody>
          <a:bodyPr>
            <a:normAutofit fontScale="85000" lnSpcReduction="20000"/>
          </a:bodyPr>
          <a:lstStyle/>
          <a:p>
            <a:r>
              <a:rPr lang="en-IN" b="1" dirty="0"/>
              <a:t>Image Representation</a:t>
            </a:r>
            <a:r>
              <a:rPr lang="en-IN" dirty="0"/>
              <a:t> is the process of converting a real-world (continuous) image into a </a:t>
            </a:r>
            <a:r>
              <a:rPr lang="en-IN" b="1" dirty="0"/>
              <a:t>digital image</a:t>
            </a:r>
            <a:r>
              <a:rPr lang="en-IN" dirty="0"/>
              <a:t> made up of pixels, where each pixel stores intensity or </a:t>
            </a:r>
            <a:r>
              <a:rPr lang="en-IN" dirty="0" err="1"/>
              <a:t>color</a:t>
            </a:r>
            <a:r>
              <a:rPr lang="en-IN" dirty="0"/>
              <a:t> information.</a:t>
            </a:r>
          </a:p>
          <a:p>
            <a:r>
              <a:rPr lang="en-IN" dirty="0"/>
              <a:t>How an Image is Represented</a:t>
            </a:r>
          </a:p>
          <a:p>
            <a:r>
              <a:rPr lang="en-IN" dirty="0"/>
              <a:t>Imagine a small grayscale image:</a:t>
            </a:r>
          </a:p>
          <a:p>
            <a:pPr marL="0" indent="0">
              <a:buNone/>
            </a:pPr>
            <a:r>
              <a:rPr lang="en-IN" dirty="0"/>
              <a:t> Columns</a:t>
            </a:r>
          </a:p>
          <a:p>
            <a:pPr marL="0" indent="0">
              <a:buNone/>
            </a:pPr>
            <a:r>
              <a:rPr lang="en-IN" dirty="0"/>
              <a:t>      0    1    2    3</a:t>
            </a:r>
          </a:p>
          <a:p>
            <a:pPr marL="0" indent="0">
              <a:buNone/>
            </a:pPr>
            <a:r>
              <a:rPr lang="en-IN" dirty="0"/>
              <a:t>   -----------------------</a:t>
            </a:r>
          </a:p>
          <a:p>
            <a:pPr marL="0" indent="0">
              <a:buNone/>
            </a:pPr>
            <a:r>
              <a:rPr lang="en-IN" dirty="0"/>
              <a:t>0 | 255  180  120   80</a:t>
            </a:r>
          </a:p>
          <a:p>
            <a:pPr marL="0" indent="0">
              <a:buNone/>
            </a:pPr>
            <a:r>
              <a:rPr lang="en-IN" dirty="0"/>
              <a:t>1 | 200  160  100   60</a:t>
            </a:r>
          </a:p>
          <a:p>
            <a:pPr marL="0" indent="0">
              <a:buNone/>
            </a:pPr>
            <a:r>
              <a:rPr lang="en-IN" dirty="0"/>
              <a:t>2 | 150  110   70   40</a:t>
            </a:r>
          </a:p>
          <a:p>
            <a:pPr marL="0" indent="0">
              <a:buNone/>
            </a:pPr>
            <a:r>
              <a:rPr lang="en-IN" dirty="0"/>
              <a:t>3 | 100   80   50   20</a:t>
            </a:r>
          </a:p>
        </p:txBody>
      </p:sp>
    </p:spTree>
    <p:extLst>
      <p:ext uri="{BB962C8B-B14F-4D97-AF65-F5344CB8AC3E}">
        <p14:creationId xmlns:p14="http://schemas.microsoft.com/office/powerpoint/2010/main" val="699677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E7263-2454-264D-6EA4-B5CE52F8199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EA19BCE-F1AC-D58E-6852-E7D46EF42A95}"/>
              </a:ext>
            </a:extLst>
          </p:cNvPr>
          <p:cNvSpPr>
            <a:spLocks noGrp="1"/>
          </p:cNvSpPr>
          <p:nvPr>
            <p:ph idx="1"/>
          </p:nvPr>
        </p:nvSpPr>
        <p:spPr/>
        <p:txBody>
          <a:bodyPr/>
          <a:lstStyle/>
          <a:p>
            <a:r>
              <a:rPr lang="en-IN" dirty="0"/>
              <a:t>Each number is called a </a:t>
            </a:r>
            <a:r>
              <a:rPr lang="en-IN" b="1" dirty="0"/>
              <a:t>pixel intensity</a:t>
            </a:r>
            <a:r>
              <a:rPr lang="en-IN" dirty="0"/>
              <a:t>.</a:t>
            </a:r>
          </a:p>
          <a:p>
            <a:r>
              <a:rPr lang="en-IN" b="1" dirty="0"/>
              <a:t>0</a:t>
            </a:r>
            <a:r>
              <a:rPr lang="en-IN" dirty="0"/>
              <a:t> → Black </a:t>
            </a:r>
          </a:p>
          <a:p>
            <a:r>
              <a:rPr lang="en-IN" b="1" dirty="0"/>
              <a:t>255</a:t>
            </a:r>
            <a:r>
              <a:rPr lang="en-IN" dirty="0"/>
              <a:t> → White </a:t>
            </a:r>
          </a:p>
          <a:p>
            <a:r>
              <a:rPr lang="en-IN" b="1" dirty="0"/>
              <a:t>Between 0 and 255</a:t>
            </a:r>
            <a:r>
              <a:rPr lang="en-IN" dirty="0"/>
              <a:t> → Shades of </a:t>
            </a:r>
            <a:r>
              <a:rPr lang="en-IN" dirty="0" err="1"/>
              <a:t>gray</a:t>
            </a:r>
            <a:r>
              <a:rPr lang="en-IN" dirty="0"/>
              <a:t> </a:t>
            </a:r>
          </a:p>
          <a:p>
            <a:r>
              <a:rPr lang="en-IN" dirty="0"/>
              <a:t>The computer stores this as a </a:t>
            </a:r>
            <a:r>
              <a:rPr lang="en-IN" b="1" dirty="0"/>
              <a:t>2D matrix</a:t>
            </a:r>
            <a:r>
              <a:rPr lang="en-IN" dirty="0"/>
              <a:t>.</a:t>
            </a:r>
          </a:p>
          <a:p>
            <a:endParaRPr lang="en-IN" dirty="0"/>
          </a:p>
        </p:txBody>
      </p:sp>
    </p:spTree>
    <p:extLst>
      <p:ext uri="{BB962C8B-B14F-4D97-AF65-F5344CB8AC3E}">
        <p14:creationId xmlns:p14="http://schemas.microsoft.com/office/powerpoint/2010/main" val="1977812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8D42E-56F8-EE93-6F41-F70C0092D7F2}"/>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7CC1E66-0400-73D1-4197-0BF2150851FC}"/>
                  </a:ext>
                </a:extLst>
              </p:cNvPr>
              <p:cNvSpPr>
                <a:spLocks noGrp="1"/>
              </p:cNvSpPr>
              <p:nvPr>
                <p:ph idx="1"/>
              </p:nvPr>
            </p:nvSpPr>
            <p:spPr/>
            <p:txBody>
              <a:bodyPr/>
              <a:lstStyle/>
              <a:p>
                <a:r>
                  <a:rPr lang="en-IN" b="1" dirty="0"/>
                  <a:t>Mathematical Representation</a:t>
                </a:r>
              </a:p>
              <a:p>
                <a:r>
                  <a:rPr lang="en-IN" dirty="0"/>
                  <a:t>A digital image is represented as:</a:t>
                </a:r>
              </a:p>
              <a:p>
                <a14:m>
                  <m:oMath xmlns:m="http://schemas.openxmlformats.org/officeDocument/2006/math">
                    <m:r>
                      <a:rPr lang="en-IN" i="1">
                        <a:latin typeface="Cambria Math" panose="02040503050406030204" pitchFamily="18" charset="0"/>
                      </a:rPr>
                      <m:t>𝑓</m:t>
                    </m:r>
                    <m:d>
                      <m:dPr>
                        <m:sepChr m:val=","/>
                        <m:ctrlPr>
                          <a:rPr lang="en-IN" i="1">
                            <a:latin typeface="Cambria Math" panose="02040503050406030204" pitchFamily="18" charset="0"/>
                          </a:rPr>
                        </m:ctrlPr>
                      </m:dPr>
                      <m:e>
                        <m:r>
                          <a:rPr lang="en-IN" i="1">
                            <a:latin typeface="Cambria Math" panose="02040503050406030204" pitchFamily="18" charset="0"/>
                          </a:rPr>
                          <m:t>𝑥</m:t>
                        </m:r>
                      </m:e>
                      <m:e>
                        <m:r>
                          <a:rPr lang="en-IN" i="1">
                            <a:latin typeface="Cambria Math" panose="02040503050406030204" pitchFamily="18" charset="0"/>
                          </a:rPr>
                          <m:t>𝑦</m:t>
                        </m:r>
                      </m:e>
                    </m:d>
                  </m:oMath>
                </a14:m>
                <a:endParaRPr lang="en-IN" dirty="0"/>
              </a:p>
              <a:p>
                <a:r>
                  <a:rPr lang="en-IN" dirty="0"/>
                  <a:t>where:</a:t>
                </a:r>
              </a:p>
              <a:p>
                <a14:m>
                  <m:oMath xmlns:m="http://schemas.openxmlformats.org/officeDocument/2006/math">
                    <m:r>
                      <a:rPr lang="en-IN" i="1">
                        <a:latin typeface="Cambria Math" panose="02040503050406030204" pitchFamily="18" charset="0"/>
                      </a:rPr>
                      <m:t>𝑥</m:t>
                    </m:r>
                  </m:oMath>
                </a14:m>
                <a:r>
                  <a:rPr lang="en-IN" dirty="0"/>
                  <a:t>= row (or x-coordinate) </a:t>
                </a:r>
              </a:p>
              <a:p>
                <a14:m>
                  <m:oMath xmlns:m="http://schemas.openxmlformats.org/officeDocument/2006/math">
                    <m:r>
                      <a:rPr lang="en-IN" i="1">
                        <a:latin typeface="Cambria Math" panose="02040503050406030204" pitchFamily="18" charset="0"/>
                      </a:rPr>
                      <m:t>𝑦</m:t>
                    </m:r>
                  </m:oMath>
                </a14:m>
                <a:r>
                  <a:rPr lang="en-IN" dirty="0"/>
                  <a:t>= column (or y-coordinate) </a:t>
                </a:r>
              </a:p>
              <a:p>
                <a14:m>
                  <m:oMath xmlns:m="http://schemas.openxmlformats.org/officeDocument/2006/math">
                    <m:r>
                      <a:rPr lang="en-IN" i="1">
                        <a:latin typeface="Cambria Math" panose="02040503050406030204" pitchFamily="18" charset="0"/>
                      </a:rPr>
                      <m:t>𝑓</m:t>
                    </m:r>
                    <m:d>
                      <m:dPr>
                        <m:sepChr m:val=","/>
                        <m:ctrlPr>
                          <a:rPr lang="en-IN" i="1">
                            <a:latin typeface="Cambria Math" panose="02040503050406030204" pitchFamily="18" charset="0"/>
                          </a:rPr>
                        </m:ctrlPr>
                      </m:dPr>
                      <m:e>
                        <m:r>
                          <a:rPr lang="en-IN" i="1">
                            <a:latin typeface="Cambria Math" panose="02040503050406030204" pitchFamily="18" charset="0"/>
                          </a:rPr>
                          <m:t>𝑥</m:t>
                        </m:r>
                      </m:e>
                      <m:e>
                        <m:r>
                          <a:rPr lang="en-IN" i="1">
                            <a:latin typeface="Cambria Math" panose="02040503050406030204" pitchFamily="18" charset="0"/>
                          </a:rPr>
                          <m:t>𝑦</m:t>
                        </m:r>
                      </m:e>
                    </m:d>
                  </m:oMath>
                </a14:m>
                <a:r>
                  <a:rPr lang="en-IN" dirty="0"/>
                  <a:t>= intensity (pixel value) </a:t>
                </a:r>
              </a:p>
              <a:p>
                <a:r>
                  <a:rPr lang="en-IN" dirty="0"/>
                  <a:t>Example:</a:t>
                </a:r>
              </a:p>
              <a:p>
                <a:endParaRPr lang="en-IN" dirty="0"/>
              </a:p>
            </p:txBody>
          </p:sp>
        </mc:Choice>
        <mc:Fallback xmlns="">
          <p:sp>
            <p:nvSpPr>
              <p:cNvPr id="3" name="Content Placeholder 2">
                <a:extLst>
                  <a:ext uri="{FF2B5EF4-FFF2-40B4-BE49-F238E27FC236}">
                    <a16:creationId xmlns:a16="http://schemas.microsoft.com/office/drawing/2014/main" id="{07CC1E66-0400-73D1-4197-0BF2150851FC}"/>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IN">
                    <a:noFill/>
                  </a:rPr>
                  <a:t> </a:t>
                </a:r>
              </a:p>
            </p:txBody>
          </p:sp>
        </mc:Fallback>
      </mc:AlternateContent>
    </p:spTree>
    <p:extLst>
      <p:ext uri="{BB962C8B-B14F-4D97-AF65-F5344CB8AC3E}">
        <p14:creationId xmlns:p14="http://schemas.microsoft.com/office/powerpoint/2010/main" val="3757716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33366-376D-9941-25A4-BDE4E8805D2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FAEA75D-9265-0D4E-6FE5-A78C440A61C5}"/>
              </a:ext>
            </a:extLst>
          </p:cNvPr>
          <p:cNvSpPr>
            <a:spLocks noGrp="1"/>
          </p:cNvSpPr>
          <p:nvPr>
            <p:ph idx="1"/>
          </p:nvPr>
        </p:nvSpPr>
        <p:spPr/>
        <p:txBody>
          <a:bodyPr/>
          <a:lstStyle/>
          <a:p>
            <a:r>
              <a:rPr lang="en-IN" dirty="0"/>
              <a:t>f(0,0)=255</a:t>
            </a:r>
          </a:p>
          <a:p>
            <a:r>
              <a:rPr lang="en-IN" dirty="0"/>
              <a:t>f(0,1)=180</a:t>
            </a:r>
          </a:p>
          <a:p>
            <a:r>
              <a:rPr lang="en-IN" dirty="0"/>
              <a:t>f(1,2)=100</a:t>
            </a:r>
          </a:p>
        </p:txBody>
      </p:sp>
    </p:spTree>
    <p:extLst>
      <p:ext uri="{BB962C8B-B14F-4D97-AF65-F5344CB8AC3E}">
        <p14:creationId xmlns:p14="http://schemas.microsoft.com/office/powerpoint/2010/main" val="2454221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838DE-44BD-7C98-53BD-0D0FE4192D32}"/>
              </a:ext>
            </a:extLst>
          </p:cNvPr>
          <p:cNvSpPr>
            <a:spLocks noGrp="1"/>
          </p:cNvSpPr>
          <p:nvPr>
            <p:ph type="title"/>
          </p:nvPr>
        </p:nvSpPr>
        <p:spPr/>
        <p:txBody>
          <a:bodyPr/>
          <a:lstStyle/>
          <a:p>
            <a:r>
              <a:rPr lang="en-IN" dirty="0"/>
              <a:t>Continuous Image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60966B7-25DF-44F9-D65E-EC56B23A0661}"/>
                  </a:ext>
                </a:extLst>
              </p:cNvPr>
              <p:cNvSpPr>
                <a:spLocks noGrp="1"/>
              </p:cNvSpPr>
              <p:nvPr>
                <p:ph idx="1"/>
              </p:nvPr>
            </p:nvSpPr>
            <p:spPr/>
            <p:txBody>
              <a:bodyPr/>
              <a:lstStyle/>
              <a:p>
                <a:r>
                  <a:rPr lang="en-IN" dirty="0"/>
                  <a:t>A </a:t>
                </a:r>
                <a:r>
                  <a:rPr lang="en-IN" b="1" dirty="0"/>
                  <a:t>continuous image</a:t>
                </a:r>
                <a:r>
                  <a:rPr lang="en-IN" dirty="0"/>
                  <a:t> is a real-world image where </a:t>
                </a:r>
                <a:r>
                  <a:rPr lang="en-IN" b="1" dirty="0"/>
                  <a:t>position (x, y)</a:t>
                </a:r>
                <a:r>
                  <a:rPr lang="en-IN" dirty="0"/>
                  <a:t> and </a:t>
                </a:r>
                <a:r>
                  <a:rPr lang="en-IN" b="1" dirty="0"/>
                  <a:t>intensity (brightness/</a:t>
                </a:r>
                <a:r>
                  <a:rPr lang="en-IN" b="1" dirty="0" err="1"/>
                  <a:t>color</a:t>
                </a:r>
                <a:r>
                  <a:rPr lang="en-IN" b="1" dirty="0"/>
                  <a:t>)</a:t>
                </a:r>
                <a:r>
                  <a:rPr lang="en-IN" dirty="0"/>
                  <a:t> can take </a:t>
                </a:r>
                <a:r>
                  <a:rPr lang="en-IN" b="1" dirty="0"/>
                  <a:t>any value</a:t>
                </a:r>
                <a:r>
                  <a:rPr lang="en-IN" dirty="0"/>
                  <a:t>.</a:t>
                </a:r>
              </a:p>
              <a:p>
                <a:r>
                  <a:rPr lang="en-IN" dirty="0"/>
                  <a:t>For example:</a:t>
                </a:r>
              </a:p>
              <a:p>
                <a:r>
                  <a:rPr lang="en-IN" dirty="0"/>
                  <a:t>A real object in front of a camera </a:t>
                </a:r>
              </a:p>
              <a:p>
                <a:r>
                  <a:rPr lang="en-IN" dirty="0"/>
                  <a:t>The light reflected from a tree </a:t>
                </a:r>
              </a:p>
              <a:p>
                <a:r>
                  <a:rPr lang="en-IN" dirty="0"/>
                  <a:t>Human vision</a:t>
                </a:r>
              </a:p>
              <a:p>
                <a:r>
                  <a:rPr lang="en-IN" dirty="0"/>
                  <a:t>Mathematically,</a:t>
                </a:r>
              </a:p>
              <a:p>
                <a:pPr marL="0" indent="0">
                  <a:buNone/>
                </a:pPr>
                <a:r>
                  <a:rPr lang="en-IN" dirty="0"/>
                  <a:t>					</a:t>
                </a:r>
                <a14:m>
                  <m:oMath xmlns:m="http://schemas.openxmlformats.org/officeDocument/2006/math">
                    <m:r>
                      <a:rPr lang="en-IN" i="1">
                        <a:latin typeface="Cambria Math" panose="02040503050406030204" pitchFamily="18" charset="0"/>
                      </a:rPr>
                      <m:t>𝑓</m:t>
                    </m:r>
                    <m:d>
                      <m:dPr>
                        <m:sepChr m:val=","/>
                        <m:ctrlPr>
                          <a:rPr lang="en-IN" i="1">
                            <a:latin typeface="Cambria Math" panose="02040503050406030204" pitchFamily="18" charset="0"/>
                          </a:rPr>
                        </m:ctrlPr>
                      </m:dPr>
                      <m:e>
                        <m:r>
                          <a:rPr lang="en-IN" i="1">
                            <a:latin typeface="Cambria Math" panose="02040503050406030204" pitchFamily="18" charset="0"/>
                          </a:rPr>
                          <m:t>𝑥</m:t>
                        </m:r>
                      </m:e>
                      <m:e>
                        <m:r>
                          <a:rPr lang="en-IN" i="1">
                            <a:latin typeface="Cambria Math" panose="02040503050406030204" pitchFamily="18" charset="0"/>
                          </a:rPr>
                          <m:t>𝑦</m:t>
                        </m:r>
                      </m:e>
                    </m:d>
                  </m:oMath>
                </a14:m>
                <a:endParaRPr lang="en-IN" dirty="0"/>
              </a:p>
              <a:p>
                <a:endParaRPr lang="en-IN" dirty="0"/>
              </a:p>
            </p:txBody>
          </p:sp>
        </mc:Choice>
        <mc:Fallback xmlns="">
          <p:sp>
            <p:nvSpPr>
              <p:cNvPr id="3" name="Content Placeholder 2">
                <a:extLst>
                  <a:ext uri="{FF2B5EF4-FFF2-40B4-BE49-F238E27FC236}">
                    <a16:creationId xmlns:a16="http://schemas.microsoft.com/office/drawing/2014/main" id="{960966B7-25DF-44F9-D65E-EC56B23A0661}"/>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IN">
                    <a:noFill/>
                  </a:rPr>
                  <a:t> </a:t>
                </a:r>
              </a:p>
            </p:txBody>
          </p:sp>
        </mc:Fallback>
      </mc:AlternateContent>
    </p:spTree>
    <p:extLst>
      <p:ext uri="{BB962C8B-B14F-4D97-AF65-F5344CB8AC3E}">
        <p14:creationId xmlns:p14="http://schemas.microsoft.com/office/powerpoint/2010/main" val="36202293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9815D-88ED-BB49-8F7C-077C9687664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085665C-9E67-4F65-11C4-B076C5E02575}"/>
              </a:ext>
            </a:extLst>
          </p:cNvPr>
          <p:cNvSpPr>
            <a:spLocks noGrp="1"/>
          </p:cNvSpPr>
          <p:nvPr>
            <p:ph idx="1"/>
          </p:nvPr>
        </p:nvSpPr>
        <p:spPr/>
        <p:txBody>
          <a:bodyPr/>
          <a:lstStyle/>
          <a:p>
            <a:r>
              <a:rPr lang="en-IN" dirty="0"/>
              <a:t>where:</a:t>
            </a:r>
          </a:p>
          <a:p>
            <a:r>
              <a:rPr lang="en-IN" b="1" dirty="0"/>
              <a:t>x</a:t>
            </a:r>
            <a:r>
              <a:rPr lang="en-IN" dirty="0"/>
              <a:t> = horizontal position (continuous) </a:t>
            </a:r>
          </a:p>
          <a:p>
            <a:r>
              <a:rPr lang="en-IN" b="1" dirty="0"/>
              <a:t>y</a:t>
            </a:r>
            <a:r>
              <a:rPr lang="en-IN" dirty="0"/>
              <a:t> = vertical position (continuous) </a:t>
            </a:r>
          </a:p>
          <a:p>
            <a:r>
              <a:rPr lang="en-IN" b="1" dirty="0"/>
              <a:t>f(</a:t>
            </a:r>
            <a:r>
              <a:rPr lang="en-IN" b="1" dirty="0" err="1"/>
              <a:t>x,y</a:t>
            </a:r>
            <a:r>
              <a:rPr lang="en-IN" b="1" dirty="0"/>
              <a:t>)</a:t>
            </a:r>
            <a:r>
              <a:rPr lang="en-IN" dirty="0"/>
              <a:t> = intensity (continuous)</a:t>
            </a:r>
          </a:p>
          <a:p>
            <a:endParaRPr lang="en-IN" dirty="0"/>
          </a:p>
        </p:txBody>
      </p:sp>
    </p:spTree>
    <p:extLst>
      <p:ext uri="{BB962C8B-B14F-4D97-AF65-F5344CB8AC3E}">
        <p14:creationId xmlns:p14="http://schemas.microsoft.com/office/powerpoint/2010/main" val="3209753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114A2-455E-C30B-A75C-14A3669E379E}"/>
              </a:ext>
            </a:extLst>
          </p:cNvPr>
          <p:cNvSpPr>
            <a:spLocks noGrp="1"/>
          </p:cNvSpPr>
          <p:nvPr>
            <p:ph type="title"/>
          </p:nvPr>
        </p:nvSpPr>
        <p:spPr/>
        <p:txBody>
          <a:bodyPr/>
          <a:lstStyle/>
          <a:p>
            <a:r>
              <a:rPr lang="en-IN" dirty="0"/>
              <a:t>Discrete Image (Digital Image)</a:t>
            </a:r>
          </a:p>
        </p:txBody>
      </p:sp>
      <p:sp>
        <p:nvSpPr>
          <p:cNvPr id="3" name="Content Placeholder 2">
            <a:extLst>
              <a:ext uri="{FF2B5EF4-FFF2-40B4-BE49-F238E27FC236}">
                <a16:creationId xmlns:a16="http://schemas.microsoft.com/office/drawing/2014/main" id="{6A7A5822-AEEA-D29F-C6A1-BC26187A2107}"/>
              </a:ext>
            </a:extLst>
          </p:cNvPr>
          <p:cNvSpPr>
            <a:spLocks noGrp="1"/>
          </p:cNvSpPr>
          <p:nvPr>
            <p:ph idx="1"/>
          </p:nvPr>
        </p:nvSpPr>
        <p:spPr/>
        <p:txBody>
          <a:bodyPr>
            <a:normAutofit lnSpcReduction="10000"/>
          </a:bodyPr>
          <a:lstStyle/>
          <a:p>
            <a:r>
              <a:rPr lang="en-IN" dirty="0"/>
              <a:t>A </a:t>
            </a:r>
            <a:r>
              <a:rPr lang="en-IN" b="1" dirty="0"/>
              <a:t>discrete image</a:t>
            </a:r>
            <a:r>
              <a:rPr lang="en-IN" dirty="0"/>
              <a:t> is obtained by converting the continuous image into </a:t>
            </a:r>
            <a:r>
              <a:rPr lang="en-IN" b="1" dirty="0"/>
              <a:t>pixels</a:t>
            </a:r>
            <a:r>
              <a:rPr lang="en-IN" dirty="0"/>
              <a:t>.</a:t>
            </a:r>
          </a:p>
          <a:p>
            <a:r>
              <a:rPr lang="en-IN" dirty="0"/>
              <a:t>Instead of infinite points, we store only selected positions.</a:t>
            </a:r>
          </a:p>
          <a:p>
            <a:r>
              <a:rPr lang="en-IN" dirty="0"/>
              <a:t>The image is represented by pixels.</a:t>
            </a:r>
          </a:p>
          <a:p>
            <a:pPr marL="0" indent="0">
              <a:buNone/>
            </a:pPr>
            <a:r>
              <a:rPr lang="en-IN" dirty="0"/>
              <a:t>255 240 230 210</a:t>
            </a:r>
          </a:p>
          <a:p>
            <a:pPr marL="0" indent="0">
              <a:buNone/>
            </a:pPr>
            <a:endParaRPr lang="en-IN" dirty="0"/>
          </a:p>
          <a:p>
            <a:pPr marL="0" indent="0">
              <a:buNone/>
            </a:pPr>
            <a:r>
              <a:rPr lang="en-IN" dirty="0"/>
              <a:t>200 180 150 120</a:t>
            </a:r>
          </a:p>
          <a:p>
            <a:pPr marL="0" indent="0">
              <a:buNone/>
            </a:pPr>
            <a:endParaRPr lang="en-IN" dirty="0"/>
          </a:p>
          <a:p>
            <a:pPr marL="0" indent="0">
              <a:buNone/>
            </a:pPr>
            <a:r>
              <a:rPr lang="en-IN" dirty="0"/>
              <a:t>90  70  60  40</a:t>
            </a:r>
          </a:p>
        </p:txBody>
      </p:sp>
    </p:spTree>
    <p:extLst>
      <p:ext uri="{BB962C8B-B14F-4D97-AF65-F5344CB8AC3E}">
        <p14:creationId xmlns:p14="http://schemas.microsoft.com/office/powerpoint/2010/main" val="1914817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D8501-F41F-FC70-FC66-4210C5101BD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8EA15C0-BD9C-9D35-04E7-2C87D534ED83}"/>
              </a:ext>
            </a:extLst>
          </p:cNvPr>
          <p:cNvSpPr>
            <a:spLocks noGrp="1"/>
          </p:cNvSpPr>
          <p:nvPr>
            <p:ph idx="1"/>
          </p:nvPr>
        </p:nvSpPr>
        <p:spPr/>
        <p:txBody>
          <a:bodyPr/>
          <a:lstStyle/>
          <a:p>
            <a:r>
              <a:rPr lang="en-IN" dirty="0"/>
              <a:t>Finite number of pixels </a:t>
            </a:r>
          </a:p>
          <a:p>
            <a:r>
              <a:rPr lang="en-IN" dirty="0"/>
              <a:t>Finite intensity values</a:t>
            </a:r>
          </a:p>
          <a:p>
            <a:r>
              <a:rPr lang="en-IN" dirty="0"/>
              <a:t> Stored in a computer</a:t>
            </a:r>
          </a:p>
          <a:p>
            <a:r>
              <a:rPr lang="en-IN" dirty="0"/>
              <a:t> Can be processed using OpenCV</a:t>
            </a:r>
          </a:p>
        </p:txBody>
      </p:sp>
    </p:spTree>
    <p:extLst>
      <p:ext uri="{BB962C8B-B14F-4D97-AF65-F5344CB8AC3E}">
        <p14:creationId xmlns:p14="http://schemas.microsoft.com/office/powerpoint/2010/main" val="28709030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38934-BB79-8BA6-CD62-D84F7A64098A}"/>
              </a:ext>
            </a:extLst>
          </p:cNvPr>
          <p:cNvSpPr>
            <a:spLocks noGrp="1"/>
          </p:cNvSpPr>
          <p:nvPr>
            <p:ph type="title"/>
          </p:nvPr>
        </p:nvSpPr>
        <p:spPr/>
        <p:txBody>
          <a:bodyPr/>
          <a:lstStyle/>
          <a:p>
            <a:r>
              <a:rPr lang="en-IN" dirty="0"/>
              <a:t>Sampling</a:t>
            </a:r>
          </a:p>
        </p:txBody>
      </p:sp>
      <p:sp>
        <p:nvSpPr>
          <p:cNvPr id="3" name="Content Placeholder 2">
            <a:extLst>
              <a:ext uri="{FF2B5EF4-FFF2-40B4-BE49-F238E27FC236}">
                <a16:creationId xmlns:a16="http://schemas.microsoft.com/office/drawing/2014/main" id="{765441DC-8C56-1496-308F-67A86E605EED}"/>
              </a:ext>
            </a:extLst>
          </p:cNvPr>
          <p:cNvSpPr>
            <a:spLocks noGrp="1"/>
          </p:cNvSpPr>
          <p:nvPr>
            <p:ph idx="1"/>
          </p:nvPr>
        </p:nvSpPr>
        <p:spPr/>
        <p:txBody>
          <a:bodyPr/>
          <a:lstStyle/>
          <a:p>
            <a:r>
              <a:rPr lang="en-IN" dirty="0"/>
              <a:t>Sampling is the process of converting a continuous image into a grid of </a:t>
            </a:r>
            <a:r>
              <a:rPr lang="en-IN" b="1" dirty="0"/>
              <a:t>pixels</a:t>
            </a:r>
            <a:r>
              <a:rPr lang="en-IN" dirty="0"/>
              <a:t>.</a:t>
            </a:r>
          </a:p>
          <a:p>
            <a:r>
              <a:rPr lang="en-IN" dirty="0"/>
              <a:t>It decides </a:t>
            </a:r>
            <a:r>
              <a:rPr lang="en-IN" b="1" dirty="0"/>
              <a:t>how many pixels</a:t>
            </a:r>
            <a:r>
              <a:rPr lang="en-IN" dirty="0"/>
              <a:t> the image will have.</a:t>
            </a:r>
          </a:p>
          <a:p>
            <a:r>
              <a:rPr lang="en-IN" b="1" dirty="0"/>
              <a:t>Example</a:t>
            </a:r>
          </a:p>
          <a:p>
            <a:r>
              <a:rPr lang="en-IN" dirty="0"/>
              <a:t>More squares (high sampling):</a:t>
            </a:r>
            <a:endParaRPr lang="en-IN" b="1" dirty="0"/>
          </a:p>
          <a:p>
            <a:r>
              <a:rPr lang="en-IN" dirty="0"/>
              <a:t>Imagine drawing a smiley face using squares.</a:t>
            </a:r>
          </a:p>
          <a:p>
            <a:r>
              <a:rPr lang="en-IN" dirty="0"/>
              <a:t>Looks clear.</a:t>
            </a:r>
          </a:p>
          <a:p>
            <a:endParaRPr lang="en-IN" dirty="0"/>
          </a:p>
        </p:txBody>
      </p:sp>
    </p:spTree>
    <p:extLst>
      <p:ext uri="{BB962C8B-B14F-4D97-AF65-F5344CB8AC3E}">
        <p14:creationId xmlns:p14="http://schemas.microsoft.com/office/powerpoint/2010/main" val="37228661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A38F40-D55D-53DC-A5AB-5FF3A5EAE14F}"/>
              </a:ext>
            </a:extLst>
          </p:cNvPr>
          <p:cNvSpPr>
            <a:spLocks noGrp="1"/>
          </p:cNvSpPr>
          <p:nvPr>
            <p:ph idx="1"/>
          </p:nvPr>
        </p:nvSpPr>
        <p:spPr>
          <a:xfrm>
            <a:off x="838200" y="492369"/>
            <a:ext cx="10515600" cy="5684594"/>
          </a:xfrm>
        </p:spPr>
        <p:txBody>
          <a:bodyPr/>
          <a:lstStyle/>
          <a:p>
            <a:r>
              <a:rPr lang="en-IN" dirty="0"/>
              <a:t>Looks clear.</a:t>
            </a:r>
          </a:p>
          <a:p>
            <a:r>
              <a:rPr lang="en-IN" b="1" dirty="0"/>
              <a:t>Fewer squares (low sampling):</a:t>
            </a:r>
          </a:p>
          <a:p>
            <a:r>
              <a:rPr lang="en-IN" dirty="0"/>
              <a:t>Looks blurry or blocky.</a:t>
            </a:r>
          </a:p>
          <a:p>
            <a:r>
              <a:rPr lang="en-IN" b="1" dirty="0"/>
              <a:t>Real Example</a:t>
            </a:r>
          </a:p>
          <a:p>
            <a:r>
              <a:rPr lang="en-IN" b="1" dirty="0"/>
              <a:t>1920 × 1080</a:t>
            </a:r>
            <a:r>
              <a:rPr lang="en-IN" dirty="0"/>
              <a:t> → More pixels → Better quality </a:t>
            </a:r>
          </a:p>
          <a:p>
            <a:r>
              <a:rPr lang="en-IN" b="1" dirty="0"/>
              <a:t>320 × 240</a:t>
            </a:r>
            <a:r>
              <a:rPr lang="en-IN" dirty="0"/>
              <a:t> → Fewer pixels → Lower quality </a:t>
            </a:r>
          </a:p>
          <a:p>
            <a:r>
              <a:rPr lang="en-IN" b="1" dirty="0"/>
              <a:t>Sampling changes the number of pixels (resolution).</a:t>
            </a:r>
            <a:endParaRPr lang="en-IN" dirty="0"/>
          </a:p>
          <a:p>
            <a:endParaRPr lang="en-IN" dirty="0"/>
          </a:p>
          <a:p>
            <a:endParaRPr lang="en-IN" dirty="0"/>
          </a:p>
        </p:txBody>
      </p:sp>
    </p:spTree>
    <p:extLst>
      <p:ext uri="{BB962C8B-B14F-4D97-AF65-F5344CB8AC3E}">
        <p14:creationId xmlns:p14="http://schemas.microsoft.com/office/powerpoint/2010/main" val="40203907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60542-3772-FBF7-9D8F-E3725DDFDBE0}"/>
              </a:ext>
            </a:extLst>
          </p:cNvPr>
          <p:cNvSpPr>
            <a:spLocks noGrp="1"/>
          </p:cNvSpPr>
          <p:nvPr>
            <p:ph type="title"/>
          </p:nvPr>
        </p:nvSpPr>
        <p:spPr/>
        <p:txBody>
          <a:bodyPr/>
          <a:lstStyle/>
          <a:p>
            <a:r>
              <a:rPr lang="en-IN" dirty="0"/>
              <a:t>Quantization </a:t>
            </a:r>
          </a:p>
        </p:txBody>
      </p:sp>
      <p:sp>
        <p:nvSpPr>
          <p:cNvPr id="3" name="Content Placeholder 2">
            <a:extLst>
              <a:ext uri="{FF2B5EF4-FFF2-40B4-BE49-F238E27FC236}">
                <a16:creationId xmlns:a16="http://schemas.microsoft.com/office/drawing/2014/main" id="{626AEA1A-9A4C-1BF8-0853-B5E3DAA8171E}"/>
              </a:ext>
            </a:extLst>
          </p:cNvPr>
          <p:cNvSpPr>
            <a:spLocks noGrp="1"/>
          </p:cNvSpPr>
          <p:nvPr>
            <p:ph idx="1"/>
          </p:nvPr>
        </p:nvSpPr>
        <p:spPr/>
        <p:txBody>
          <a:bodyPr/>
          <a:lstStyle/>
          <a:p>
            <a:r>
              <a:rPr lang="en-IN" dirty="0"/>
              <a:t>Quantization is the process of deciding </a:t>
            </a:r>
            <a:r>
              <a:rPr lang="en-IN" b="1" dirty="0"/>
              <a:t>how many brightness (intensity) levels</a:t>
            </a:r>
            <a:r>
              <a:rPr lang="en-IN" dirty="0"/>
              <a:t> each pixel can have.</a:t>
            </a:r>
          </a:p>
          <a:p>
            <a:r>
              <a:rPr lang="en-IN" dirty="0"/>
              <a:t>It changes the </a:t>
            </a:r>
            <a:r>
              <a:rPr lang="en-IN" b="1" dirty="0"/>
              <a:t>quality of brightness</a:t>
            </a:r>
            <a:r>
              <a:rPr lang="en-IN" dirty="0"/>
              <a:t>, not the number of pixels.</a:t>
            </a:r>
          </a:p>
          <a:p>
            <a:r>
              <a:rPr lang="en-IN" dirty="0"/>
              <a:t>Suppose a grayscale image has these intensity values:</a:t>
            </a:r>
          </a:p>
          <a:p>
            <a:r>
              <a:rPr lang="en-IN" dirty="0"/>
              <a:t>25  80  150  240</a:t>
            </a:r>
          </a:p>
          <a:p>
            <a:r>
              <a:rPr lang="en-IN" dirty="0"/>
              <a:t>After quantization to fewer levels:</a:t>
            </a:r>
          </a:p>
          <a:p>
            <a:r>
              <a:rPr lang="en-IN" dirty="0"/>
              <a:t>0   64   128   192</a:t>
            </a:r>
          </a:p>
        </p:txBody>
      </p:sp>
    </p:spTree>
    <p:extLst>
      <p:ext uri="{BB962C8B-B14F-4D97-AF65-F5344CB8AC3E}">
        <p14:creationId xmlns:p14="http://schemas.microsoft.com/office/powerpoint/2010/main" val="8735887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4E858-B44F-3DCB-848A-6D385921A6F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A97DBAA-C482-34B0-874A-08C482B6DBCA}"/>
              </a:ext>
            </a:extLst>
          </p:cNvPr>
          <p:cNvSpPr>
            <a:spLocks noGrp="1"/>
          </p:cNvSpPr>
          <p:nvPr>
            <p:ph idx="1"/>
          </p:nvPr>
        </p:nvSpPr>
        <p:spPr/>
        <p:txBody>
          <a:bodyPr/>
          <a:lstStyle/>
          <a:p>
            <a:r>
              <a:rPr lang="en-IN" dirty="0"/>
              <a:t>Now the image has fewer shades of </a:t>
            </a:r>
            <a:r>
              <a:rPr lang="en-IN" dirty="0" err="1"/>
              <a:t>gray</a:t>
            </a:r>
            <a:r>
              <a:rPr lang="en-IN" dirty="0"/>
              <a:t>.</a:t>
            </a:r>
          </a:p>
          <a:p>
            <a:r>
              <a:rPr lang="en-IN" b="1" dirty="0"/>
              <a:t>Real Example</a:t>
            </a:r>
          </a:p>
          <a:p>
            <a:r>
              <a:rPr lang="en-IN" b="1" dirty="0"/>
              <a:t>8-bit image</a:t>
            </a:r>
            <a:r>
              <a:rPr lang="en-IN" dirty="0"/>
              <a:t> → 256 </a:t>
            </a:r>
            <a:r>
              <a:rPr lang="en-IN" dirty="0" err="1"/>
              <a:t>gray</a:t>
            </a:r>
            <a:r>
              <a:rPr lang="en-IN" dirty="0"/>
              <a:t> levels (0–255) </a:t>
            </a:r>
          </a:p>
          <a:p>
            <a:r>
              <a:rPr lang="en-IN" b="1" dirty="0"/>
              <a:t>4-bit image</a:t>
            </a:r>
            <a:r>
              <a:rPr lang="en-IN" dirty="0"/>
              <a:t> → 16 </a:t>
            </a:r>
            <a:r>
              <a:rPr lang="en-IN" dirty="0" err="1"/>
              <a:t>gray</a:t>
            </a:r>
            <a:r>
              <a:rPr lang="en-IN" dirty="0"/>
              <a:t> levels </a:t>
            </a:r>
          </a:p>
          <a:p>
            <a:r>
              <a:rPr lang="en-IN" b="1" dirty="0"/>
              <a:t>2-bit image</a:t>
            </a:r>
            <a:r>
              <a:rPr lang="en-IN" dirty="0"/>
              <a:t> → 4 </a:t>
            </a:r>
            <a:r>
              <a:rPr lang="en-IN" dirty="0" err="1"/>
              <a:t>gray</a:t>
            </a:r>
            <a:r>
              <a:rPr lang="en-IN" dirty="0"/>
              <a:t> levels </a:t>
            </a:r>
          </a:p>
          <a:p>
            <a:r>
              <a:rPr lang="en-IN" b="1" dirty="0"/>
              <a:t>Quantization changes the number of intensity levels.</a:t>
            </a:r>
            <a:endParaRPr lang="en-IN" dirty="0"/>
          </a:p>
          <a:p>
            <a:endParaRPr lang="en-IN" dirty="0"/>
          </a:p>
        </p:txBody>
      </p:sp>
    </p:spTree>
    <p:extLst>
      <p:ext uri="{BB962C8B-B14F-4D97-AF65-F5344CB8AC3E}">
        <p14:creationId xmlns:p14="http://schemas.microsoft.com/office/powerpoint/2010/main" val="20893463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984DD-9C5C-1014-F7AC-592D3A7A7473}"/>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C706008C-A8C3-0029-4509-446AF58C07B0}"/>
              </a:ext>
            </a:extLst>
          </p:cNvPr>
          <p:cNvGraphicFramePr>
            <a:graphicFrameLocks noGrp="1"/>
          </p:cNvGraphicFramePr>
          <p:nvPr>
            <p:ph idx="1"/>
          </p:nvPr>
        </p:nvGraphicFramePr>
        <p:xfrm>
          <a:off x="838200" y="3086894"/>
          <a:ext cx="10515600" cy="1828800"/>
        </p:xfrm>
        <a:graphic>
          <a:graphicData uri="http://schemas.openxmlformats.org/drawingml/2006/table">
            <a:tbl>
              <a:tblPr/>
              <a:tblGrid>
                <a:gridCol w="5257800">
                  <a:extLst>
                    <a:ext uri="{9D8B030D-6E8A-4147-A177-3AD203B41FA5}">
                      <a16:colId xmlns:a16="http://schemas.microsoft.com/office/drawing/2014/main" val="3872935772"/>
                    </a:ext>
                  </a:extLst>
                </a:gridCol>
                <a:gridCol w="5257800">
                  <a:extLst>
                    <a:ext uri="{9D8B030D-6E8A-4147-A177-3AD203B41FA5}">
                      <a16:colId xmlns:a16="http://schemas.microsoft.com/office/drawing/2014/main" val="2748098987"/>
                    </a:ext>
                  </a:extLst>
                </a:gridCol>
              </a:tblGrid>
              <a:tr h="0">
                <a:tc>
                  <a:txBody>
                    <a:bodyPr/>
                    <a:lstStyle/>
                    <a:p>
                      <a:pPr>
                        <a:buNone/>
                      </a:pPr>
                      <a:r>
                        <a:rPr lang="en-IN"/>
                        <a:t>Bits</a:t>
                      </a:r>
                    </a:p>
                  </a:txBody>
                  <a:tcPr anchor="ctr">
                    <a:lnL>
                      <a:noFill/>
                    </a:lnL>
                    <a:lnR>
                      <a:noFill/>
                    </a:lnR>
                    <a:lnT>
                      <a:noFill/>
                    </a:lnT>
                    <a:lnB>
                      <a:noFill/>
                    </a:lnB>
                    <a:noFill/>
                  </a:tcPr>
                </a:tc>
                <a:tc>
                  <a:txBody>
                    <a:bodyPr/>
                    <a:lstStyle/>
                    <a:p>
                      <a:pPr>
                        <a:buNone/>
                      </a:pPr>
                      <a:r>
                        <a:rPr lang="en-IN"/>
                        <a:t>Number of Gray Levels</a:t>
                      </a:r>
                    </a:p>
                  </a:txBody>
                  <a:tcPr anchor="ctr">
                    <a:lnL>
                      <a:noFill/>
                    </a:lnL>
                    <a:lnR>
                      <a:noFill/>
                    </a:lnR>
                    <a:lnT>
                      <a:noFill/>
                    </a:lnT>
                    <a:lnB>
                      <a:noFill/>
                    </a:lnB>
                    <a:noFill/>
                  </a:tcPr>
                </a:tc>
                <a:extLst>
                  <a:ext uri="{0D108BD9-81ED-4DB2-BD59-A6C34878D82A}">
                    <a16:rowId xmlns:a16="http://schemas.microsoft.com/office/drawing/2014/main" val="1955342312"/>
                  </a:ext>
                </a:extLst>
              </a:tr>
              <a:tr h="0">
                <a:tc>
                  <a:txBody>
                    <a:bodyPr/>
                    <a:lstStyle/>
                    <a:p>
                      <a:pPr>
                        <a:buNone/>
                      </a:pPr>
                      <a:r>
                        <a:rPr lang="en-IN"/>
                        <a:t>1-bit</a:t>
                      </a:r>
                    </a:p>
                  </a:txBody>
                  <a:tcPr anchor="ctr">
                    <a:lnL>
                      <a:noFill/>
                    </a:lnL>
                    <a:lnR>
                      <a:noFill/>
                    </a:lnR>
                    <a:lnT>
                      <a:noFill/>
                    </a:lnT>
                    <a:lnB>
                      <a:noFill/>
                    </a:lnB>
                    <a:noFill/>
                  </a:tcPr>
                </a:tc>
                <a:tc>
                  <a:txBody>
                    <a:bodyPr/>
                    <a:lstStyle/>
                    <a:p>
                      <a:pPr>
                        <a:buNone/>
                      </a:pPr>
                      <a:r>
                        <a:rPr lang="en-IN"/>
                        <a:t>2 (0, 1)</a:t>
                      </a:r>
                    </a:p>
                  </a:txBody>
                  <a:tcPr anchor="ctr">
                    <a:lnL>
                      <a:noFill/>
                    </a:lnL>
                    <a:lnR>
                      <a:noFill/>
                    </a:lnR>
                    <a:lnT>
                      <a:noFill/>
                    </a:lnT>
                    <a:lnB>
                      <a:noFill/>
                    </a:lnB>
                    <a:noFill/>
                  </a:tcPr>
                </a:tc>
                <a:extLst>
                  <a:ext uri="{0D108BD9-81ED-4DB2-BD59-A6C34878D82A}">
                    <a16:rowId xmlns:a16="http://schemas.microsoft.com/office/drawing/2014/main" val="3109223048"/>
                  </a:ext>
                </a:extLst>
              </a:tr>
              <a:tr h="0">
                <a:tc>
                  <a:txBody>
                    <a:bodyPr/>
                    <a:lstStyle/>
                    <a:p>
                      <a:pPr>
                        <a:buNone/>
                      </a:pPr>
                      <a:r>
                        <a:rPr lang="en-IN"/>
                        <a:t>2-bit</a:t>
                      </a:r>
                    </a:p>
                  </a:txBody>
                  <a:tcPr anchor="ctr">
                    <a:lnL>
                      <a:noFill/>
                    </a:lnL>
                    <a:lnR>
                      <a:noFill/>
                    </a:lnR>
                    <a:lnT>
                      <a:noFill/>
                    </a:lnT>
                    <a:lnB>
                      <a:noFill/>
                    </a:lnB>
                    <a:noFill/>
                  </a:tcPr>
                </a:tc>
                <a:tc>
                  <a:txBody>
                    <a:bodyPr/>
                    <a:lstStyle/>
                    <a:p>
                      <a:pPr>
                        <a:buNone/>
                      </a:pPr>
                      <a:r>
                        <a:rPr lang="en-IN"/>
                        <a:t>4 (0, 85, 170, 255)</a:t>
                      </a:r>
                    </a:p>
                  </a:txBody>
                  <a:tcPr anchor="ctr">
                    <a:lnL>
                      <a:noFill/>
                    </a:lnL>
                    <a:lnR>
                      <a:noFill/>
                    </a:lnR>
                    <a:lnT>
                      <a:noFill/>
                    </a:lnT>
                    <a:lnB>
                      <a:noFill/>
                    </a:lnB>
                    <a:noFill/>
                  </a:tcPr>
                </a:tc>
                <a:extLst>
                  <a:ext uri="{0D108BD9-81ED-4DB2-BD59-A6C34878D82A}">
                    <a16:rowId xmlns:a16="http://schemas.microsoft.com/office/drawing/2014/main" val="2865537402"/>
                  </a:ext>
                </a:extLst>
              </a:tr>
              <a:tr h="0">
                <a:tc>
                  <a:txBody>
                    <a:bodyPr/>
                    <a:lstStyle/>
                    <a:p>
                      <a:pPr>
                        <a:buNone/>
                      </a:pPr>
                      <a:r>
                        <a:rPr lang="en-IN"/>
                        <a:t>4-bit</a:t>
                      </a:r>
                    </a:p>
                  </a:txBody>
                  <a:tcPr anchor="ctr">
                    <a:lnL>
                      <a:noFill/>
                    </a:lnL>
                    <a:lnR>
                      <a:noFill/>
                    </a:lnR>
                    <a:lnT>
                      <a:noFill/>
                    </a:lnT>
                    <a:lnB>
                      <a:noFill/>
                    </a:lnB>
                    <a:noFill/>
                  </a:tcPr>
                </a:tc>
                <a:tc>
                  <a:txBody>
                    <a:bodyPr/>
                    <a:lstStyle/>
                    <a:p>
                      <a:pPr>
                        <a:buNone/>
                      </a:pPr>
                      <a:r>
                        <a:rPr lang="en-IN"/>
                        <a:t>16</a:t>
                      </a:r>
                    </a:p>
                  </a:txBody>
                  <a:tcPr anchor="ctr">
                    <a:lnL>
                      <a:noFill/>
                    </a:lnL>
                    <a:lnR>
                      <a:noFill/>
                    </a:lnR>
                    <a:lnT>
                      <a:noFill/>
                    </a:lnT>
                    <a:lnB>
                      <a:noFill/>
                    </a:lnB>
                    <a:noFill/>
                  </a:tcPr>
                </a:tc>
                <a:extLst>
                  <a:ext uri="{0D108BD9-81ED-4DB2-BD59-A6C34878D82A}">
                    <a16:rowId xmlns:a16="http://schemas.microsoft.com/office/drawing/2014/main" val="3749537771"/>
                  </a:ext>
                </a:extLst>
              </a:tr>
              <a:tr h="0">
                <a:tc>
                  <a:txBody>
                    <a:bodyPr/>
                    <a:lstStyle/>
                    <a:p>
                      <a:pPr>
                        <a:buNone/>
                      </a:pPr>
                      <a:r>
                        <a:rPr lang="en-IN"/>
                        <a:t>8-bit</a:t>
                      </a:r>
                    </a:p>
                  </a:txBody>
                  <a:tcPr anchor="ctr">
                    <a:lnL>
                      <a:noFill/>
                    </a:lnL>
                    <a:lnR>
                      <a:noFill/>
                    </a:lnR>
                    <a:lnT>
                      <a:noFill/>
                    </a:lnT>
                    <a:lnB>
                      <a:noFill/>
                    </a:lnB>
                    <a:noFill/>
                  </a:tcPr>
                </a:tc>
                <a:tc>
                  <a:txBody>
                    <a:bodyPr/>
                    <a:lstStyle/>
                    <a:p>
                      <a:pPr>
                        <a:buNone/>
                      </a:pPr>
                      <a:r>
                        <a:rPr lang="en-IN" dirty="0"/>
                        <a:t>256 (0–255)</a:t>
                      </a:r>
                    </a:p>
                  </a:txBody>
                  <a:tcPr anchor="ctr">
                    <a:lnL>
                      <a:noFill/>
                    </a:lnL>
                    <a:lnR>
                      <a:noFill/>
                    </a:lnR>
                    <a:lnT>
                      <a:noFill/>
                    </a:lnT>
                    <a:lnB>
                      <a:noFill/>
                    </a:lnB>
                    <a:noFill/>
                  </a:tcPr>
                </a:tc>
                <a:extLst>
                  <a:ext uri="{0D108BD9-81ED-4DB2-BD59-A6C34878D82A}">
                    <a16:rowId xmlns:a16="http://schemas.microsoft.com/office/drawing/2014/main" val="3791484177"/>
                  </a:ext>
                </a:extLst>
              </a:tr>
            </a:tbl>
          </a:graphicData>
        </a:graphic>
      </p:graphicFrame>
    </p:spTree>
    <p:extLst>
      <p:ext uri="{BB962C8B-B14F-4D97-AF65-F5344CB8AC3E}">
        <p14:creationId xmlns:p14="http://schemas.microsoft.com/office/powerpoint/2010/main" val="39280598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1F5E8-4FF6-B5A9-173B-B07A59F42667}"/>
              </a:ext>
            </a:extLst>
          </p:cNvPr>
          <p:cNvSpPr>
            <a:spLocks noGrp="1"/>
          </p:cNvSpPr>
          <p:nvPr>
            <p:ph type="title"/>
          </p:nvPr>
        </p:nvSpPr>
        <p:spPr/>
        <p:txBody>
          <a:bodyPr/>
          <a:lstStyle/>
          <a:p>
            <a:r>
              <a:rPr lang="en-US" dirty="0"/>
              <a:t>GAUSSIAN BLUR</a:t>
            </a:r>
            <a:endParaRPr lang="en-IN" dirty="0"/>
          </a:p>
        </p:txBody>
      </p:sp>
      <p:sp>
        <p:nvSpPr>
          <p:cNvPr id="3" name="Content Placeholder 2">
            <a:extLst>
              <a:ext uri="{FF2B5EF4-FFF2-40B4-BE49-F238E27FC236}">
                <a16:creationId xmlns:a16="http://schemas.microsoft.com/office/drawing/2014/main" id="{D25AC7E2-CB13-DFBA-B0CE-A9E8A79C0CA6}"/>
              </a:ext>
            </a:extLst>
          </p:cNvPr>
          <p:cNvSpPr>
            <a:spLocks noGrp="1"/>
          </p:cNvSpPr>
          <p:nvPr>
            <p:ph idx="1"/>
          </p:nvPr>
        </p:nvSpPr>
        <p:spPr/>
        <p:txBody>
          <a:bodyPr/>
          <a:lstStyle/>
          <a:p>
            <a:r>
              <a:rPr lang="en-IN" b="1" dirty="0"/>
              <a:t>Imagine this image</a:t>
            </a:r>
          </a:p>
          <a:p>
            <a:r>
              <a:rPr lang="en-IN" dirty="0"/>
              <a:t>Each number is the brightness of one pixel.</a:t>
            </a:r>
          </a:p>
          <a:p>
            <a:pPr marL="0" indent="0">
              <a:buNone/>
            </a:pPr>
            <a:r>
              <a:rPr lang="en-IN" dirty="0"/>
              <a:t>10   20   30</a:t>
            </a:r>
          </a:p>
          <a:p>
            <a:pPr marL="0" indent="0">
              <a:buNone/>
            </a:pPr>
            <a:r>
              <a:rPr lang="en-IN" dirty="0"/>
              <a:t>40   50   60</a:t>
            </a:r>
          </a:p>
          <a:p>
            <a:pPr marL="514350" indent="-514350">
              <a:buAutoNum type="arabicPlain" startAt="70"/>
            </a:pPr>
            <a:r>
              <a:rPr lang="en-IN" dirty="0"/>
              <a:t>80   90</a:t>
            </a:r>
          </a:p>
          <a:p>
            <a:pPr marL="514350" indent="-514350">
              <a:buAutoNum type="arabicPlain" startAt="70"/>
            </a:pPr>
            <a:endParaRPr lang="en-IN" dirty="0"/>
          </a:p>
          <a:p>
            <a:pPr marL="0" indent="0">
              <a:buNone/>
            </a:pPr>
            <a:r>
              <a:rPr lang="en-IN" dirty="0"/>
              <a:t>The </a:t>
            </a:r>
            <a:r>
              <a:rPr lang="en-IN" dirty="0" err="1"/>
              <a:t>center</a:t>
            </a:r>
            <a:r>
              <a:rPr lang="en-IN" dirty="0"/>
              <a:t> pixel is </a:t>
            </a:r>
            <a:r>
              <a:rPr lang="en-IN" b="1" dirty="0"/>
              <a:t>50</a:t>
            </a:r>
            <a:r>
              <a:rPr lang="en-IN" dirty="0"/>
              <a:t>.</a:t>
            </a:r>
          </a:p>
          <a:p>
            <a:pPr marL="514350" indent="-514350">
              <a:buAutoNum type="arabicPlain" startAt="70"/>
            </a:pPr>
            <a:endParaRPr lang="en-IN" dirty="0"/>
          </a:p>
        </p:txBody>
      </p:sp>
    </p:spTree>
    <p:extLst>
      <p:ext uri="{BB962C8B-B14F-4D97-AF65-F5344CB8AC3E}">
        <p14:creationId xmlns:p14="http://schemas.microsoft.com/office/powerpoint/2010/main" val="19302210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9A5A71-BB92-E137-DF9C-46818B37F7AB}"/>
              </a:ext>
            </a:extLst>
          </p:cNvPr>
          <p:cNvSpPr>
            <a:spLocks noGrp="1"/>
          </p:cNvSpPr>
          <p:nvPr>
            <p:ph idx="1"/>
          </p:nvPr>
        </p:nvSpPr>
        <p:spPr>
          <a:xfrm>
            <a:off x="838200" y="474785"/>
            <a:ext cx="10515600" cy="5702178"/>
          </a:xfrm>
        </p:spPr>
        <p:txBody>
          <a:bodyPr/>
          <a:lstStyle/>
          <a:p>
            <a:r>
              <a:rPr lang="en-IN" b="1" dirty="0"/>
              <a:t>Without blur</a:t>
            </a:r>
          </a:p>
          <a:p>
            <a:r>
              <a:rPr lang="en-IN" dirty="0"/>
              <a:t>The </a:t>
            </a:r>
            <a:r>
              <a:rPr lang="en-IN" dirty="0" err="1"/>
              <a:t>center</a:t>
            </a:r>
            <a:r>
              <a:rPr lang="en-IN" dirty="0"/>
              <a:t> pixel stays: 50</a:t>
            </a:r>
          </a:p>
          <a:p>
            <a:endParaRPr lang="en-IN" dirty="0"/>
          </a:p>
          <a:p>
            <a:r>
              <a:rPr lang="en-IN" b="1" dirty="0"/>
              <a:t>With a normal average blur</a:t>
            </a:r>
          </a:p>
          <a:p>
            <a:r>
              <a:rPr lang="en-IN" dirty="0"/>
              <a:t>OpenCV averages all 9 pixels.</a:t>
            </a:r>
          </a:p>
          <a:p>
            <a:r>
              <a:rPr lang="en-IN" dirty="0"/>
              <a:t>10+20+30+40+50+60+70+80+90 = 450 450/9 = 50</a:t>
            </a:r>
          </a:p>
          <a:p>
            <a:r>
              <a:rPr lang="en-IN" dirty="0"/>
              <a:t>So the </a:t>
            </a:r>
            <a:r>
              <a:rPr lang="en-IN" dirty="0" err="1"/>
              <a:t>center</a:t>
            </a:r>
            <a:r>
              <a:rPr lang="en-IN" dirty="0"/>
              <a:t> pixel becomes </a:t>
            </a:r>
            <a:r>
              <a:rPr lang="en-IN" b="1" dirty="0"/>
              <a:t>50</a:t>
            </a:r>
            <a:r>
              <a:rPr lang="en-IN" dirty="0"/>
              <a:t>.</a:t>
            </a:r>
          </a:p>
          <a:p>
            <a:r>
              <a:rPr lang="en-IN" dirty="0"/>
              <a:t>Every </a:t>
            </a:r>
            <a:r>
              <a:rPr lang="en-IN" dirty="0" err="1"/>
              <a:t>neighboring</a:t>
            </a:r>
            <a:r>
              <a:rPr lang="en-IN" dirty="0"/>
              <a:t> pixel is treated equally.</a:t>
            </a:r>
          </a:p>
          <a:p>
            <a:endParaRPr lang="en-IN" dirty="0"/>
          </a:p>
        </p:txBody>
      </p:sp>
    </p:spTree>
    <p:extLst>
      <p:ext uri="{BB962C8B-B14F-4D97-AF65-F5344CB8AC3E}">
        <p14:creationId xmlns:p14="http://schemas.microsoft.com/office/powerpoint/2010/main" val="18482180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F0F4F-00A0-0E17-F59C-6629CE442A39}"/>
              </a:ext>
            </a:extLst>
          </p:cNvPr>
          <p:cNvSpPr>
            <a:spLocks noGrp="1"/>
          </p:cNvSpPr>
          <p:nvPr>
            <p:ph type="title"/>
          </p:nvPr>
        </p:nvSpPr>
        <p:spPr/>
        <p:txBody>
          <a:bodyPr/>
          <a:lstStyle/>
          <a:p>
            <a:r>
              <a:rPr lang="en-IN" dirty="0"/>
              <a:t>With Gaussian Blur</a:t>
            </a:r>
          </a:p>
        </p:txBody>
      </p:sp>
      <p:sp>
        <p:nvSpPr>
          <p:cNvPr id="3" name="Content Placeholder 2">
            <a:extLst>
              <a:ext uri="{FF2B5EF4-FFF2-40B4-BE49-F238E27FC236}">
                <a16:creationId xmlns:a16="http://schemas.microsoft.com/office/drawing/2014/main" id="{6EBF316D-2799-7965-118E-0E721CF7DC19}"/>
              </a:ext>
            </a:extLst>
          </p:cNvPr>
          <p:cNvSpPr>
            <a:spLocks noGrp="1"/>
          </p:cNvSpPr>
          <p:nvPr>
            <p:ph idx="1"/>
          </p:nvPr>
        </p:nvSpPr>
        <p:spPr/>
        <p:txBody>
          <a:bodyPr/>
          <a:lstStyle/>
          <a:p>
            <a:r>
              <a:rPr lang="en-IN" dirty="0"/>
              <a:t>Gaussian blur says:</a:t>
            </a:r>
          </a:p>
          <a:p>
            <a:r>
              <a:rPr lang="en-IN" b="1" dirty="0"/>
              <a:t>Pixels close to the </a:t>
            </a:r>
            <a:r>
              <a:rPr lang="en-IN" b="1" dirty="0" err="1"/>
              <a:t>center</a:t>
            </a:r>
            <a:r>
              <a:rPr lang="en-IN" b="1" dirty="0"/>
              <a:t> are more important than pixels far away.</a:t>
            </a:r>
            <a:endParaRPr lang="en-IN" dirty="0"/>
          </a:p>
          <a:p>
            <a:r>
              <a:rPr lang="en-IN" dirty="0"/>
              <a:t>Imagine these weights:</a:t>
            </a:r>
          </a:p>
          <a:p>
            <a:pPr marL="0" indent="0">
              <a:buNone/>
            </a:pPr>
            <a:r>
              <a:rPr lang="en-IN" dirty="0"/>
              <a:t>1   2   1</a:t>
            </a:r>
          </a:p>
          <a:p>
            <a:pPr marL="0" indent="0">
              <a:buNone/>
            </a:pPr>
            <a:r>
              <a:rPr lang="en-IN" dirty="0"/>
              <a:t>2   4   2</a:t>
            </a:r>
          </a:p>
          <a:p>
            <a:pPr marL="0" indent="0">
              <a:buNone/>
            </a:pPr>
            <a:r>
              <a:rPr lang="en-IN" dirty="0"/>
              <a:t>1   2   1</a:t>
            </a:r>
          </a:p>
        </p:txBody>
      </p:sp>
    </p:spTree>
    <p:extLst>
      <p:ext uri="{BB962C8B-B14F-4D97-AF65-F5344CB8AC3E}">
        <p14:creationId xmlns:p14="http://schemas.microsoft.com/office/powerpoint/2010/main" val="20128680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7B65B-2B1C-BD82-BFB4-DA949AB69D6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DC919A1-3FF0-A92D-51DC-E060A890C3ED}"/>
              </a:ext>
            </a:extLst>
          </p:cNvPr>
          <p:cNvSpPr>
            <a:spLocks noGrp="1"/>
          </p:cNvSpPr>
          <p:nvPr>
            <p:ph idx="1"/>
          </p:nvPr>
        </p:nvSpPr>
        <p:spPr/>
        <p:txBody>
          <a:bodyPr>
            <a:normAutofit lnSpcReduction="10000"/>
          </a:bodyPr>
          <a:lstStyle/>
          <a:p>
            <a:r>
              <a:rPr lang="en-IN" dirty="0"/>
              <a:t>Notice the </a:t>
            </a:r>
            <a:r>
              <a:rPr lang="en-IN" dirty="0" err="1"/>
              <a:t>center</a:t>
            </a:r>
            <a:r>
              <a:rPr lang="en-IN" dirty="0"/>
              <a:t> (</a:t>
            </a:r>
            <a:r>
              <a:rPr lang="en-IN" b="1" dirty="0"/>
              <a:t>4</a:t>
            </a:r>
            <a:r>
              <a:rPr lang="en-IN" dirty="0"/>
              <a:t>) has the highest importance.</a:t>
            </a:r>
          </a:p>
          <a:p>
            <a:r>
              <a:rPr lang="en-IN" dirty="0"/>
              <a:t>Now multiply each pixel by its weight.</a:t>
            </a:r>
          </a:p>
          <a:p>
            <a:pPr marL="0" indent="0">
              <a:buNone/>
            </a:pPr>
            <a:r>
              <a:rPr lang="en-IN" dirty="0"/>
              <a:t>10×1 = 10 </a:t>
            </a:r>
          </a:p>
          <a:p>
            <a:pPr marL="0" indent="0">
              <a:buNone/>
            </a:pPr>
            <a:r>
              <a:rPr lang="en-IN" dirty="0"/>
              <a:t>20×2 = 40</a:t>
            </a:r>
          </a:p>
          <a:p>
            <a:pPr marL="0" indent="0">
              <a:buNone/>
            </a:pPr>
            <a:r>
              <a:rPr lang="en-IN" dirty="0"/>
              <a:t> 30×1 = 30 </a:t>
            </a:r>
          </a:p>
          <a:p>
            <a:pPr marL="0" indent="0">
              <a:buNone/>
            </a:pPr>
            <a:endParaRPr lang="en-IN" dirty="0"/>
          </a:p>
          <a:p>
            <a:pPr marL="0" indent="0">
              <a:buNone/>
            </a:pPr>
            <a:r>
              <a:rPr lang="en-IN" dirty="0"/>
              <a:t>40×2 = 80 </a:t>
            </a:r>
          </a:p>
          <a:p>
            <a:pPr marL="0" indent="0">
              <a:buNone/>
            </a:pPr>
            <a:r>
              <a:rPr lang="en-IN" dirty="0"/>
              <a:t>50×4 = 200</a:t>
            </a:r>
          </a:p>
          <a:p>
            <a:pPr marL="0" indent="0">
              <a:buNone/>
            </a:pPr>
            <a:r>
              <a:rPr lang="en-IN" dirty="0"/>
              <a:t> 60×2 = 120</a:t>
            </a:r>
          </a:p>
        </p:txBody>
      </p:sp>
    </p:spTree>
    <p:extLst>
      <p:ext uri="{BB962C8B-B14F-4D97-AF65-F5344CB8AC3E}">
        <p14:creationId xmlns:p14="http://schemas.microsoft.com/office/powerpoint/2010/main" val="14520252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3B4B6-E4AA-B1F2-F351-BFFEB14AB7A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2343850-FACB-FF4A-C02A-2CE95A0A4A26}"/>
              </a:ext>
            </a:extLst>
          </p:cNvPr>
          <p:cNvSpPr>
            <a:spLocks noGrp="1"/>
          </p:cNvSpPr>
          <p:nvPr>
            <p:ph idx="1"/>
          </p:nvPr>
        </p:nvSpPr>
        <p:spPr/>
        <p:txBody>
          <a:bodyPr/>
          <a:lstStyle/>
          <a:p>
            <a:pPr marL="0" indent="0">
              <a:buNone/>
            </a:pPr>
            <a:r>
              <a:rPr lang="en-IN" dirty="0"/>
              <a:t>70×1 = 70</a:t>
            </a:r>
          </a:p>
          <a:p>
            <a:pPr marL="0" indent="0">
              <a:buNone/>
            </a:pPr>
            <a:r>
              <a:rPr lang="en-IN" dirty="0"/>
              <a:t> 80×2 = 160 </a:t>
            </a:r>
          </a:p>
          <a:p>
            <a:pPr marL="0" indent="0">
              <a:buNone/>
            </a:pPr>
            <a:r>
              <a:rPr lang="en-IN" dirty="0"/>
              <a:t>90×1 = 90</a:t>
            </a:r>
          </a:p>
          <a:p>
            <a:pPr marL="0" indent="0">
              <a:buNone/>
            </a:pPr>
            <a:r>
              <a:rPr lang="en-IN" dirty="0"/>
              <a:t>Add them: 10+40+30+80+200+120+70+160+90 = 800</a:t>
            </a:r>
          </a:p>
          <a:p>
            <a:pPr marL="0" indent="0">
              <a:buNone/>
            </a:pPr>
            <a:r>
              <a:rPr lang="en-IN" dirty="0"/>
              <a:t>Add all weights: 1+2+1+2+4+2+1+2+1 = 16</a:t>
            </a:r>
          </a:p>
          <a:p>
            <a:pPr marL="0" indent="0">
              <a:buNone/>
            </a:pPr>
            <a:r>
              <a:rPr lang="en-IN" dirty="0"/>
              <a:t>New pixel:800/16 =50</a:t>
            </a:r>
          </a:p>
          <a:p>
            <a:pPr marL="0" indent="0">
              <a:buNone/>
            </a:pPr>
            <a:endParaRPr lang="en-IN" dirty="0"/>
          </a:p>
          <a:p>
            <a:pPr marL="0" indent="0">
              <a:buNone/>
            </a:pPr>
            <a:r>
              <a:rPr lang="en-IN" dirty="0"/>
              <a:t>So the </a:t>
            </a:r>
            <a:r>
              <a:rPr lang="en-IN" dirty="0" err="1"/>
              <a:t>center</a:t>
            </a:r>
            <a:r>
              <a:rPr lang="en-IN" dirty="0"/>
              <a:t> pixel becomes </a:t>
            </a:r>
            <a:r>
              <a:rPr lang="en-IN" b="1" dirty="0"/>
              <a:t>50</a:t>
            </a:r>
            <a:r>
              <a:rPr lang="en-IN" dirty="0"/>
              <a:t>.</a:t>
            </a:r>
          </a:p>
        </p:txBody>
      </p:sp>
    </p:spTree>
    <p:extLst>
      <p:ext uri="{BB962C8B-B14F-4D97-AF65-F5344CB8AC3E}">
        <p14:creationId xmlns:p14="http://schemas.microsoft.com/office/powerpoint/2010/main" val="9067836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F3DABE-CB0A-F9D4-4A72-EF8DFFD85B86}"/>
              </a:ext>
            </a:extLst>
          </p:cNvPr>
          <p:cNvSpPr>
            <a:spLocks noGrp="1"/>
          </p:cNvSpPr>
          <p:nvPr>
            <p:ph idx="1"/>
          </p:nvPr>
        </p:nvSpPr>
        <p:spPr>
          <a:xfrm>
            <a:off x="838200" y="422031"/>
            <a:ext cx="10515600" cy="5754932"/>
          </a:xfrm>
        </p:spPr>
        <p:txBody>
          <a:bodyPr/>
          <a:lstStyle/>
          <a:p>
            <a:r>
              <a:rPr lang="en-IN" b="1" dirty="0"/>
              <a:t>Another example</a:t>
            </a:r>
          </a:p>
          <a:p>
            <a:r>
              <a:rPr lang="en-IN" dirty="0"/>
              <a:t>Suppose one noisy pixel exists.</a:t>
            </a:r>
          </a:p>
          <a:p>
            <a:r>
              <a:rPr lang="en-IN" b="1" dirty="0"/>
              <a:t>Average Blur</a:t>
            </a:r>
          </a:p>
          <a:p>
            <a:r>
              <a:rPr lang="en-IN" dirty="0"/>
              <a:t>Average:</a:t>
            </a:r>
          </a:p>
          <a:p>
            <a:r>
              <a:rPr lang="en-IN" dirty="0"/>
              <a:t>10+20+30+40+255+60+70+80+90 = 655 </a:t>
            </a:r>
          </a:p>
          <a:p>
            <a:r>
              <a:rPr lang="en-IN" dirty="0"/>
              <a:t>655/9 = 72</a:t>
            </a:r>
          </a:p>
          <a:p>
            <a:r>
              <a:rPr lang="en-IN" dirty="0"/>
              <a:t>New </a:t>
            </a:r>
            <a:r>
              <a:rPr lang="en-IN" dirty="0" err="1"/>
              <a:t>center</a:t>
            </a:r>
            <a:r>
              <a:rPr lang="en-IN" dirty="0"/>
              <a:t>: 255 → 72</a:t>
            </a:r>
          </a:p>
          <a:p>
            <a:endParaRPr lang="en-IN" dirty="0"/>
          </a:p>
        </p:txBody>
      </p:sp>
    </p:spTree>
    <p:extLst>
      <p:ext uri="{BB962C8B-B14F-4D97-AF65-F5344CB8AC3E}">
        <p14:creationId xmlns:p14="http://schemas.microsoft.com/office/powerpoint/2010/main" val="25542035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549F0-0E97-4E78-CB90-6A8B88A3D1D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2EA1E9A-F9B5-36C1-D35B-656EBC4BC1E7}"/>
              </a:ext>
            </a:extLst>
          </p:cNvPr>
          <p:cNvSpPr>
            <a:spLocks noGrp="1"/>
          </p:cNvSpPr>
          <p:nvPr>
            <p:ph idx="1"/>
          </p:nvPr>
        </p:nvSpPr>
        <p:spPr/>
        <p:txBody>
          <a:bodyPr/>
          <a:lstStyle/>
          <a:p>
            <a:r>
              <a:rPr lang="en-IN" dirty="0"/>
              <a:t>Gaussian Blur</a:t>
            </a:r>
          </a:p>
          <a:p>
            <a:r>
              <a:rPr lang="en-IN" dirty="0"/>
              <a:t>Since the </a:t>
            </a:r>
            <a:r>
              <a:rPr lang="en-IN" dirty="0" err="1"/>
              <a:t>center</a:t>
            </a:r>
            <a:r>
              <a:rPr lang="en-IN" dirty="0"/>
              <a:t> has the highest weight, the result is different.</a:t>
            </a:r>
          </a:p>
          <a:p>
            <a:r>
              <a:rPr lang="en-IN" dirty="0"/>
              <a:t>It might become around:255– 110</a:t>
            </a:r>
          </a:p>
          <a:p>
            <a:r>
              <a:rPr lang="en-IN" dirty="0"/>
              <a:t>It still smooths the image but keeps nearby pixels more influential than distant ones.</a:t>
            </a:r>
          </a:p>
          <a:p>
            <a:endParaRPr lang="en-IN" dirty="0"/>
          </a:p>
        </p:txBody>
      </p:sp>
    </p:spTree>
    <p:extLst>
      <p:ext uri="{BB962C8B-B14F-4D97-AF65-F5344CB8AC3E}">
        <p14:creationId xmlns:p14="http://schemas.microsoft.com/office/powerpoint/2010/main" val="28185322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E94D2-DA11-52F5-5308-DA6BE8C49A60}"/>
              </a:ext>
            </a:extLst>
          </p:cNvPr>
          <p:cNvSpPr>
            <a:spLocks noGrp="1"/>
          </p:cNvSpPr>
          <p:nvPr>
            <p:ph type="title"/>
          </p:nvPr>
        </p:nvSpPr>
        <p:spPr/>
        <p:txBody>
          <a:bodyPr/>
          <a:lstStyle/>
          <a:p>
            <a:r>
              <a:rPr lang="en-IN" dirty="0"/>
              <a:t>Why use Gaussian Blur?</a:t>
            </a:r>
          </a:p>
        </p:txBody>
      </p:sp>
      <p:sp>
        <p:nvSpPr>
          <p:cNvPr id="3" name="Content Placeholder 2">
            <a:extLst>
              <a:ext uri="{FF2B5EF4-FFF2-40B4-BE49-F238E27FC236}">
                <a16:creationId xmlns:a16="http://schemas.microsoft.com/office/drawing/2014/main" id="{32DC03AF-8E6E-36D6-EE66-6599DA7A2959}"/>
              </a:ext>
            </a:extLst>
          </p:cNvPr>
          <p:cNvSpPr>
            <a:spLocks noGrp="1"/>
          </p:cNvSpPr>
          <p:nvPr>
            <p:ph idx="1"/>
          </p:nvPr>
        </p:nvSpPr>
        <p:spPr/>
        <p:txBody>
          <a:bodyPr/>
          <a:lstStyle/>
          <a:p>
            <a:r>
              <a:rPr lang="en-IN" dirty="0"/>
              <a:t>Suppose your image has tiny unwanted dots (noise).</a:t>
            </a:r>
          </a:p>
          <a:p>
            <a:r>
              <a:rPr lang="en-IN" dirty="0"/>
              <a:t>After Gaussian Blur: The tiny white dot gets smoothed out.</a:t>
            </a:r>
          </a:p>
          <a:p>
            <a:endParaRPr lang="en-IN" dirty="0"/>
          </a:p>
          <a:p>
            <a:r>
              <a:rPr lang="en-IN" b="1" dirty="0"/>
              <a:t>Real-life analogy</a:t>
            </a:r>
          </a:p>
          <a:p>
            <a:r>
              <a:rPr lang="en-IN" dirty="0"/>
              <a:t>Imagine you're looking through:</a:t>
            </a:r>
          </a:p>
          <a:p>
            <a:r>
              <a:rPr lang="en-IN" dirty="0"/>
              <a:t>A </a:t>
            </a:r>
            <a:r>
              <a:rPr lang="en-IN" b="1" dirty="0"/>
              <a:t>clean window</a:t>
            </a:r>
            <a:r>
              <a:rPr lang="en-IN" dirty="0"/>
              <a:t> → Image is sharp. </a:t>
            </a:r>
          </a:p>
          <a:p>
            <a:r>
              <a:rPr lang="en-IN" dirty="0"/>
              <a:t>A </a:t>
            </a:r>
            <a:r>
              <a:rPr lang="en-IN" b="1" dirty="0"/>
              <a:t>slightly foggy window</a:t>
            </a:r>
            <a:r>
              <a:rPr lang="en-IN" dirty="0"/>
              <a:t> → Everything looks softer. </a:t>
            </a:r>
          </a:p>
          <a:p>
            <a:r>
              <a:rPr lang="en-IN" dirty="0"/>
              <a:t>Gaussian Blur creates that </a:t>
            </a:r>
            <a:r>
              <a:rPr lang="en-IN" b="1" dirty="0"/>
              <a:t>soft, smooth</a:t>
            </a:r>
            <a:r>
              <a:rPr lang="en-IN" dirty="0"/>
              <a:t> effect.</a:t>
            </a:r>
          </a:p>
          <a:p>
            <a:endParaRPr lang="en-IN" dirty="0"/>
          </a:p>
        </p:txBody>
      </p:sp>
    </p:spTree>
    <p:extLst>
      <p:ext uri="{BB962C8B-B14F-4D97-AF65-F5344CB8AC3E}">
        <p14:creationId xmlns:p14="http://schemas.microsoft.com/office/powerpoint/2010/main" val="37248827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0809F-AB19-C6E4-25CE-B514C9CC7B0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50332C3-B458-1650-0821-200F207A98BF}"/>
              </a:ext>
            </a:extLst>
          </p:cNvPr>
          <p:cNvSpPr>
            <a:spLocks noGrp="1"/>
          </p:cNvSpPr>
          <p:nvPr>
            <p:ph idx="1"/>
          </p:nvPr>
        </p:nvSpPr>
        <p:spPr/>
        <p:txBody>
          <a:bodyPr/>
          <a:lstStyle/>
          <a:p>
            <a:r>
              <a:rPr lang="en-IN" dirty="0"/>
              <a:t>blur = cv2.GaussianBlur(</a:t>
            </a:r>
            <a:r>
              <a:rPr lang="en-IN" dirty="0" err="1"/>
              <a:t>img</a:t>
            </a:r>
            <a:r>
              <a:rPr lang="en-IN" dirty="0"/>
              <a:t>, (5,5), 0)</a:t>
            </a:r>
          </a:p>
          <a:p>
            <a:r>
              <a:rPr lang="en-IN" dirty="0"/>
              <a:t>Look at a </a:t>
            </a:r>
            <a:r>
              <a:rPr lang="en-IN" b="1" dirty="0"/>
              <a:t>5×5 square</a:t>
            </a:r>
            <a:r>
              <a:rPr lang="en-IN" dirty="0"/>
              <a:t> around each pixel.</a:t>
            </a:r>
          </a:p>
          <a:p>
            <a:r>
              <a:rPr lang="en-IN" dirty="0"/>
              <a:t> Give </a:t>
            </a:r>
            <a:r>
              <a:rPr lang="en-IN" b="1" dirty="0"/>
              <a:t>more importance to the </a:t>
            </a:r>
            <a:r>
              <a:rPr lang="en-IN" b="1" dirty="0" err="1"/>
              <a:t>center</a:t>
            </a:r>
            <a:r>
              <a:rPr lang="en-IN" b="1" dirty="0"/>
              <a:t> pixels</a:t>
            </a:r>
            <a:r>
              <a:rPr lang="en-IN" dirty="0"/>
              <a:t>. </a:t>
            </a:r>
          </a:p>
          <a:p>
            <a:r>
              <a:rPr lang="en-IN" dirty="0"/>
              <a:t>Replace the </a:t>
            </a:r>
            <a:r>
              <a:rPr lang="en-IN" dirty="0" err="1"/>
              <a:t>center</a:t>
            </a:r>
            <a:r>
              <a:rPr lang="en-IN" dirty="0"/>
              <a:t> pixel with the weighted average.</a:t>
            </a:r>
          </a:p>
          <a:p>
            <a:r>
              <a:rPr lang="en-IN" dirty="0"/>
              <a:t> Repeat this for every pixel in the image.</a:t>
            </a:r>
          </a:p>
        </p:txBody>
      </p:sp>
    </p:spTree>
    <p:extLst>
      <p:ext uri="{BB962C8B-B14F-4D97-AF65-F5344CB8AC3E}">
        <p14:creationId xmlns:p14="http://schemas.microsoft.com/office/powerpoint/2010/main" val="36409710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16C8E-886A-687C-BBAD-2BFAF41A91A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F3CDD93-D6BD-B47F-0E20-F41960B0049F}"/>
              </a:ext>
            </a:extLst>
          </p:cNvPr>
          <p:cNvSpPr>
            <a:spLocks noGrp="1"/>
          </p:cNvSpPr>
          <p:nvPr>
            <p:ph idx="1"/>
          </p:nvPr>
        </p:nvSpPr>
        <p:spPr/>
        <p:txBody>
          <a:bodyPr/>
          <a:lstStyle/>
          <a:p>
            <a:r>
              <a:rPr lang="en-IN" b="1" dirty="0"/>
              <a:t>Average Blur:</a:t>
            </a:r>
            <a:r>
              <a:rPr lang="en-IN" dirty="0"/>
              <a:t> Every </a:t>
            </a:r>
            <a:r>
              <a:rPr lang="en-IN" dirty="0" err="1"/>
              <a:t>neighboring</a:t>
            </a:r>
            <a:r>
              <a:rPr lang="en-IN" dirty="0"/>
              <a:t> pixel has </a:t>
            </a:r>
            <a:r>
              <a:rPr lang="en-IN" b="1" dirty="0"/>
              <a:t>equal importance</a:t>
            </a:r>
            <a:r>
              <a:rPr lang="en-IN" dirty="0"/>
              <a:t>. </a:t>
            </a:r>
            <a:r>
              <a:rPr lang="en-IN" b="1" dirty="0"/>
              <a:t>Gaussian Blur:</a:t>
            </a:r>
            <a:r>
              <a:rPr lang="en-IN" dirty="0"/>
              <a:t> </a:t>
            </a:r>
            <a:r>
              <a:rPr lang="en-IN" b="1" dirty="0"/>
              <a:t>Closer </a:t>
            </a:r>
            <a:r>
              <a:rPr lang="en-IN" b="1" dirty="0" err="1"/>
              <a:t>neighbors</a:t>
            </a:r>
            <a:r>
              <a:rPr lang="en-IN" b="1" dirty="0"/>
              <a:t> matter more</a:t>
            </a:r>
            <a:r>
              <a:rPr lang="en-IN" dirty="0"/>
              <a:t>, farther </a:t>
            </a:r>
            <a:r>
              <a:rPr lang="en-IN" dirty="0" err="1"/>
              <a:t>neighbors</a:t>
            </a:r>
            <a:r>
              <a:rPr lang="en-IN" dirty="0"/>
              <a:t> matter less, producing a smoother and more natural blur.</a:t>
            </a:r>
          </a:p>
        </p:txBody>
      </p:sp>
    </p:spTree>
    <p:extLst>
      <p:ext uri="{BB962C8B-B14F-4D97-AF65-F5344CB8AC3E}">
        <p14:creationId xmlns:p14="http://schemas.microsoft.com/office/powerpoint/2010/main" val="27775104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15E4C-608C-8C2D-CA80-5E541FD58CB5}"/>
              </a:ext>
            </a:extLst>
          </p:cNvPr>
          <p:cNvSpPr>
            <a:spLocks noGrp="1"/>
          </p:cNvSpPr>
          <p:nvPr>
            <p:ph type="title"/>
          </p:nvPr>
        </p:nvSpPr>
        <p:spPr/>
        <p:txBody>
          <a:bodyPr/>
          <a:lstStyle/>
          <a:p>
            <a:r>
              <a:rPr lang="en-IN" dirty="0"/>
              <a:t>What is Bilateral Filter?</a:t>
            </a:r>
          </a:p>
        </p:txBody>
      </p:sp>
      <p:sp>
        <p:nvSpPr>
          <p:cNvPr id="3" name="Content Placeholder 2">
            <a:extLst>
              <a:ext uri="{FF2B5EF4-FFF2-40B4-BE49-F238E27FC236}">
                <a16:creationId xmlns:a16="http://schemas.microsoft.com/office/drawing/2014/main" id="{23086017-1F22-0F46-DCD9-DC0FB85D99E5}"/>
              </a:ext>
            </a:extLst>
          </p:cNvPr>
          <p:cNvSpPr>
            <a:spLocks noGrp="1"/>
          </p:cNvSpPr>
          <p:nvPr>
            <p:ph idx="1"/>
          </p:nvPr>
        </p:nvSpPr>
        <p:spPr/>
        <p:txBody>
          <a:bodyPr/>
          <a:lstStyle/>
          <a:p>
            <a:r>
              <a:rPr lang="en-IN" dirty="0"/>
              <a:t>Imagine you have a </a:t>
            </a:r>
            <a:r>
              <a:rPr lang="en-IN" b="1" dirty="0"/>
              <a:t>green car</a:t>
            </a:r>
            <a:r>
              <a:rPr lang="en-IN" dirty="0"/>
              <a:t> on a </a:t>
            </a:r>
            <a:r>
              <a:rPr lang="en-IN" b="1" dirty="0"/>
              <a:t>white background</a:t>
            </a:r>
            <a:r>
              <a:rPr lang="en-IN" dirty="0"/>
              <a:t>.</a:t>
            </a:r>
          </a:p>
          <a:p>
            <a:r>
              <a:rPr lang="en-IN" b="1" dirty="0"/>
              <a:t>Gaussian Blur</a:t>
            </a:r>
          </a:p>
          <a:p>
            <a:r>
              <a:rPr lang="en-IN" dirty="0"/>
              <a:t>Gaussian blur mixes </a:t>
            </a:r>
            <a:r>
              <a:rPr lang="en-IN" dirty="0" err="1"/>
              <a:t>neighboring</a:t>
            </a:r>
            <a:r>
              <a:rPr lang="en-IN" dirty="0"/>
              <a:t> pixels.</a:t>
            </a:r>
          </a:p>
          <a:p>
            <a:r>
              <a:rPr lang="en-IN" dirty="0"/>
              <a:t>So the edge becomes blurry.</a:t>
            </a:r>
          </a:p>
          <a:p>
            <a:r>
              <a:rPr lang="en-IN" dirty="0"/>
              <a:t>Notice the green and white </a:t>
            </a:r>
            <a:r>
              <a:rPr lang="en-IN" dirty="0" err="1"/>
              <a:t>colors</a:t>
            </a:r>
            <a:r>
              <a:rPr lang="en-IN" dirty="0"/>
              <a:t> mix into yellowish pixels.</a:t>
            </a:r>
          </a:p>
          <a:p>
            <a:r>
              <a:rPr lang="en-IN" dirty="0"/>
              <a:t>Edges become blurry.</a:t>
            </a:r>
          </a:p>
          <a:p>
            <a:endParaRPr lang="en-IN" dirty="0"/>
          </a:p>
        </p:txBody>
      </p:sp>
    </p:spTree>
    <p:extLst>
      <p:ext uri="{BB962C8B-B14F-4D97-AF65-F5344CB8AC3E}">
        <p14:creationId xmlns:p14="http://schemas.microsoft.com/office/powerpoint/2010/main" val="42625263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1D5FA-D3A4-6AA9-937A-FF249A9ACAEE}"/>
              </a:ext>
            </a:extLst>
          </p:cNvPr>
          <p:cNvSpPr>
            <a:spLocks noGrp="1"/>
          </p:cNvSpPr>
          <p:nvPr>
            <p:ph type="title"/>
          </p:nvPr>
        </p:nvSpPr>
        <p:spPr/>
        <p:txBody>
          <a:bodyPr/>
          <a:lstStyle/>
          <a:p>
            <a:r>
              <a:rPr lang="en-IN" dirty="0"/>
              <a:t>Median Filter</a:t>
            </a:r>
          </a:p>
        </p:txBody>
      </p:sp>
      <p:sp>
        <p:nvSpPr>
          <p:cNvPr id="3" name="Content Placeholder 2">
            <a:extLst>
              <a:ext uri="{FF2B5EF4-FFF2-40B4-BE49-F238E27FC236}">
                <a16:creationId xmlns:a16="http://schemas.microsoft.com/office/drawing/2014/main" id="{D64A4BEA-D18B-7351-84F0-AA413D50B75D}"/>
              </a:ext>
            </a:extLst>
          </p:cNvPr>
          <p:cNvSpPr>
            <a:spLocks noGrp="1"/>
          </p:cNvSpPr>
          <p:nvPr>
            <p:ph idx="1"/>
          </p:nvPr>
        </p:nvSpPr>
        <p:spPr/>
        <p:txBody>
          <a:bodyPr/>
          <a:lstStyle/>
          <a:p>
            <a:r>
              <a:rPr lang="en-IN" b="1" dirty="0"/>
              <a:t>Median Blur</a:t>
            </a:r>
            <a:r>
              <a:rPr lang="en-IN" dirty="0"/>
              <a:t> is an image enhancement/restoration technique used to </a:t>
            </a:r>
            <a:r>
              <a:rPr lang="en-IN" b="1" dirty="0"/>
              <a:t>remove noise</a:t>
            </a:r>
            <a:r>
              <a:rPr lang="en-IN" dirty="0"/>
              <a:t> (especially </a:t>
            </a:r>
            <a:r>
              <a:rPr lang="en-IN" b="1" dirty="0"/>
              <a:t>salt-and-pepper noise</a:t>
            </a:r>
            <a:r>
              <a:rPr lang="en-IN" dirty="0"/>
              <a:t>) while preserving edges.</a:t>
            </a:r>
          </a:p>
          <a:p>
            <a:r>
              <a:rPr lang="en-IN" dirty="0"/>
              <a:t>Unlike average blur, it </a:t>
            </a:r>
            <a:r>
              <a:rPr lang="en-IN" b="1" dirty="0"/>
              <a:t>does not average the pixels</a:t>
            </a:r>
            <a:r>
              <a:rPr lang="en-IN" dirty="0"/>
              <a:t>. Instead, it chooses the </a:t>
            </a:r>
            <a:r>
              <a:rPr lang="en-IN" b="1" dirty="0"/>
              <a:t>middle (median) value</a:t>
            </a:r>
            <a:r>
              <a:rPr lang="en-IN" dirty="0"/>
              <a:t> of the </a:t>
            </a:r>
            <a:r>
              <a:rPr lang="en-IN" dirty="0" err="1"/>
              <a:t>neighboring</a:t>
            </a:r>
            <a:r>
              <a:rPr lang="en-IN" dirty="0"/>
              <a:t> pixels.</a:t>
            </a:r>
          </a:p>
          <a:p>
            <a:r>
              <a:rPr lang="en-IN" dirty="0"/>
              <a:t>cv2.medianBlur(</a:t>
            </a:r>
            <a:r>
              <a:rPr lang="en-IN" dirty="0" err="1"/>
              <a:t>src</a:t>
            </a:r>
            <a:r>
              <a:rPr lang="en-IN" dirty="0"/>
              <a:t>, </a:t>
            </a:r>
            <a:r>
              <a:rPr lang="en-IN" dirty="0" err="1"/>
              <a:t>ksize</a:t>
            </a:r>
            <a:r>
              <a:rPr lang="en-IN" dirty="0"/>
              <a:t>)</a:t>
            </a:r>
          </a:p>
          <a:p>
            <a:endParaRPr lang="en-IN" dirty="0"/>
          </a:p>
        </p:txBody>
      </p:sp>
    </p:spTree>
    <p:extLst>
      <p:ext uri="{BB962C8B-B14F-4D97-AF65-F5344CB8AC3E}">
        <p14:creationId xmlns:p14="http://schemas.microsoft.com/office/powerpoint/2010/main" val="40599349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E5D5D-A88E-7F30-3FF2-8D01DAB56353}"/>
              </a:ext>
            </a:extLst>
          </p:cNvPr>
          <p:cNvSpPr>
            <a:spLocks noGrp="1"/>
          </p:cNvSpPr>
          <p:nvPr>
            <p:ph type="title"/>
          </p:nvPr>
        </p:nvSpPr>
        <p:spPr/>
        <p:txBody>
          <a:bodyPr/>
          <a:lstStyle/>
          <a:p>
            <a:r>
              <a:rPr lang="en-IN" dirty="0"/>
              <a:t>HOW IT WORKS</a:t>
            </a:r>
          </a:p>
        </p:txBody>
      </p:sp>
      <p:sp>
        <p:nvSpPr>
          <p:cNvPr id="3" name="Content Placeholder 2">
            <a:extLst>
              <a:ext uri="{FF2B5EF4-FFF2-40B4-BE49-F238E27FC236}">
                <a16:creationId xmlns:a16="http://schemas.microsoft.com/office/drawing/2014/main" id="{7D430F2F-BBA7-D29F-4AA8-0C94EE314147}"/>
              </a:ext>
            </a:extLst>
          </p:cNvPr>
          <p:cNvSpPr>
            <a:spLocks noGrp="1"/>
          </p:cNvSpPr>
          <p:nvPr>
            <p:ph idx="1"/>
          </p:nvPr>
        </p:nvSpPr>
        <p:spPr/>
        <p:txBody>
          <a:bodyPr/>
          <a:lstStyle/>
          <a:p>
            <a:r>
              <a:rPr lang="en-IN" dirty="0"/>
              <a:t>Suppose the </a:t>
            </a:r>
            <a:r>
              <a:rPr lang="en-IN" dirty="0" err="1"/>
              <a:t>neighboring</a:t>
            </a:r>
            <a:r>
              <a:rPr lang="en-IN" dirty="0"/>
              <a:t> pixel values are:</a:t>
            </a:r>
          </a:p>
          <a:p>
            <a:r>
              <a:rPr lang="en-IN" dirty="0"/>
              <a:t>10   20   30</a:t>
            </a:r>
          </a:p>
          <a:p>
            <a:r>
              <a:rPr lang="en-IN" dirty="0"/>
              <a:t>15  255   25</a:t>
            </a:r>
          </a:p>
          <a:p>
            <a:r>
              <a:rPr lang="en-IN" dirty="0"/>
              <a:t>20   30   35</a:t>
            </a:r>
          </a:p>
          <a:p>
            <a:endParaRPr lang="en-IN" dirty="0"/>
          </a:p>
          <a:p>
            <a:r>
              <a:rPr lang="en-IN" dirty="0"/>
              <a:t>The </a:t>
            </a:r>
            <a:r>
              <a:rPr lang="en-IN" dirty="0" err="1"/>
              <a:t>center</a:t>
            </a:r>
            <a:r>
              <a:rPr lang="en-IN" dirty="0"/>
              <a:t> pixel is </a:t>
            </a:r>
            <a:r>
              <a:rPr lang="en-IN" b="1" dirty="0"/>
              <a:t>255</a:t>
            </a:r>
            <a:r>
              <a:rPr lang="en-IN" dirty="0"/>
              <a:t>, which is noise.</a:t>
            </a:r>
          </a:p>
        </p:txBody>
      </p:sp>
    </p:spTree>
    <p:extLst>
      <p:ext uri="{BB962C8B-B14F-4D97-AF65-F5344CB8AC3E}">
        <p14:creationId xmlns:p14="http://schemas.microsoft.com/office/powerpoint/2010/main" val="2060600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8072BE-F0E6-3F7A-BFE4-789EC7A36EC8}"/>
              </a:ext>
            </a:extLst>
          </p:cNvPr>
          <p:cNvSpPr>
            <a:spLocks noGrp="1"/>
          </p:cNvSpPr>
          <p:nvPr>
            <p:ph idx="1"/>
          </p:nvPr>
        </p:nvSpPr>
        <p:spPr>
          <a:xfrm>
            <a:off x="838200" y="756138"/>
            <a:ext cx="10515600" cy="5420825"/>
          </a:xfrm>
        </p:spPr>
        <p:txBody>
          <a:bodyPr>
            <a:normAutofit/>
          </a:bodyPr>
          <a:lstStyle/>
          <a:p>
            <a:r>
              <a:rPr lang="en-IN" dirty="0"/>
              <a:t>Step 1: Arrange all values</a:t>
            </a:r>
          </a:p>
          <a:p>
            <a:r>
              <a:rPr lang="en-IN" dirty="0"/>
              <a:t>10</a:t>
            </a:r>
          </a:p>
          <a:p>
            <a:r>
              <a:rPr lang="en-IN" dirty="0"/>
              <a:t>15</a:t>
            </a:r>
          </a:p>
          <a:p>
            <a:r>
              <a:rPr lang="en-IN" dirty="0"/>
              <a:t>20</a:t>
            </a:r>
          </a:p>
          <a:p>
            <a:r>
              <a:rPr lang="en-IN" dirty="0"/>
              <a:t>20</a:t>
            </a:r>
          </a:p>
          <a:p>
            <a:r>
              <a:rPr lang="en-IN" dirty="0"/>
              <a:t>25</a:t>
            </a:r>
          </a:p>
          <a:p>
            <a:r>
              <a:rPr lang="en-IN" dirty="0"/>
              <a:t>30</a:t>
            </a:r>
          </a:p>
          <a:p>
            <a:r>
              <a:rPr lang="en-IN" dirty="0"/>
              <a:t>30</a:t>
            </a:r>
          </a:p>
          <a:p>
            <a:r>
              <a:rPr lang="en-IN" dirty="0"/>
              <a:t>35</a:t>
            </a:r>
          </a:p>
          <a:p>
            <a:r>
              <a:rPr lang="en-IN" dirty="0"/>
              <a:t>255</a:t>
            </a:r>
          </a:p>
        </p:txBody>
      </p:sp>
    </p:spTree>
    <p:extLst>
      <p:ext uri="{BB962C8B-B14F-4D97-AF65-F5344CB8AC3E}">
        <p14:creationId xmlns:p14="http://schemas.microsoft.com/office/powerpoint/2010/main" val="33780617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C0ACA-1E8D-CC21-1AF0-68FABED206A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BEF1860-3199-1BED-8689-32965C87313A}"/>
              </a:ext>
            </a:extLst>
          </p:cNvPr>
          <p:cNvSpPr>
            <a:spLocks noGrp="1"/>
          </p:cNvSpPr>
          <p:nvPr>
            <p:ph idx="1"/>
          </p:nvPr>
        </p:nvSpPr>
        <p:spPr/>
        <p:txBody>
          <a:bodyPr/>
          <a:lstStyle/>
          <a:p>
            <a:r>
              <a:rPr lang="en-IN" dirty="0"/>
              <a:t>Step 2: Find the middle value</a:t>
            </a:r>
          </a:p>
          <a:p>
            <a:r>
              <a:rPr lang="en-IN" dirty="0"/>
              <a:t>The median value is 25 </a:t>
            </a:r>
          </a:p>
          <a:p>
            <a:r>
              <a:rPr lang="en-IN" dirty="0"/>
              <a:t>So </a:t>
            </a:r>
            <a:r>
              <a:rPr lang="en-IN" b="1" dirty="0"/>
              <a:t>255 is replaced by 25</a:t>
            </a:r>
            <a:r>
              <a:rPr lang="en-IN" dirty="0"/>
              <a:t>.</a:t>
            </a:r>
          </a:p>
          <a:p>
            <a:r>
              <a:rPr lang="en-IN" dirty="0"/>
              <a:t>The noisy pixel disappears.</a:t>
            </a:r>
          </a:p>
        </p:txBody>
      </p:sp>
    </p:spTree>
    <p:extLst>
      <p:ext uri="{BB962C8B-B14F-4D97-AF65-F5344CB8AC3E}">
        <p14:creationId xmlns:p14="http://schemas.microsoft.com/office/powerpoint/2010/main" val="30462651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FB2A8-4DC0-DC34-81DF-95B87A894977}"/>
              </a:ext>
            </a:extLst>
          </p:cNvPr>
          <p:cNvSpPr>
            <a:spLocks noGrp="1"/>
          </p:cNvSpPr>
          <p:nvPr>
            <p:ph type="title"/>
          </p:nvPr>
        </p:nvSpPr>
        <p:spPr/>
        <p:txBody>
          <a:bodyPr/>
          <a:lstStyle/>
          <a:p>
            <a:r>
              <a:rPr lang="en-IN" dirty="0"/>
              <a:t>Why use Median Blur?</a:t>
            </a:r>
          </a:p>
        </p:txBody>
      </p:sp>
      <p:sp>
        <p:nvSpPr>
          <p:cNvPr id="3" name="Content Placeholder 2">
            <a:extLst>
              <a:ext uri="{FF2B5EF4-FFF2-40B4-BE49-F238E27FC236}">
                <a16:creationId xmlns:a16="http://schemas.microsoft.com/office/drawing/2014/main" id="{8C5A4307-2D04-4AA0-B2CC-4344FD552157}"/>
              </a:ext>
            </a:extLst>
          </p:cNvPr>
          <p:cNvSpPr>
            <a:spLocks noGrp="1"/>
          </p:cNvSpPr>
          <p:nvPr>
            <p:ph idx="1"/>
          </p:nvPr>
        </p:nvSpPr>
        <p:spPr/>
        <p:txBody>
          <a:bodyPr/>
          <a:lstStyle/>
          <a:p>
            <a:r>
              <a:rPr lang="en-IN" dirty="0"/>
              <a:t>It is mainly used to remove:</a:t>
            </a:r>
          </a:p>
          <a:p>
            <a:pPr lvl="0"/>
            <a:r>
              <a:rPr lang="en-IN" dirty="0"/>
              <a:t>Salt noise (white dots) </a:t>
            </a:r>
          </a:p>
          <a:p>
            <a:pPr lvl="0"/>
            <a:r>
              <a:rPr lang="en-IN" dirty="0"/>
              <a:t>Pepper noise (black dots) </a:t>
            </a:r>
          </a:p>
          <a:p>
            <a:pPr lvl="0"/>
            <a:r>
              <a:rPr lang="en-IN" dirty="0"/>
              <a:t>Salt-and-pepper noise </a:t>
            </a:r>
          </a:p>
          <a:p>
            <a:r>
              <a:rPr lang="en-IN" dirty="0"/>
              <a:t>while </a:t>
            </a:r>
            <a:r>
              <a:rPr lang="en-IN" b="1" dirty="0"/>
              <a:t>keeping edges sharp</a:t>
            </a:r>
            <a:r>
              <a:rPr lang="en-IN" dirty="0"/>
              <a:t>.</a:t>
            </a:r>
          </a:p>
          <a:p>
            <a:endParaRPr lang="en-IN" dirty="0"/>
          </a:p>
        </p:txBody>
      </p:sp>
    </p:spTree>
    <p:extLst>
      <p:ext uri="{BB962C8B-B14F-4D97-AF65-F5344CB8AC3E}">
        <p14:creationId xmlns:p14="http://schemas.microsoft.com/office/powerpoint/2010/main" val="28101551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6C100-85A9-B04D-C747-365D3EB88AD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79CA484-0589-71EB-85E6-B4C984EF3C70}"/>
              </a:ext>
            </a:extLst>
          </p:cNvPr>
          <p:cNvSpPr>
            <a:spLocks noGrp="1"/>
          </p:cNvSpPr>
          <p:nvPr>
            <p:ph idx="1"/>
          </p:nvPr>
        </p:nvSpPr>
        <p:spPr/>
        <p:txBody>
          <a:bodyPr/>
          <a:lstStyle/>
          <a:p>
            <a:pPr lvl="0"/>
            <a:r>
              <a:rPr lang="en-IN" dirty="0"/>
              <a:t>3 → Slight smoothing </a:t>
            </a:r>
          </a:p>
          <a:p>
            <a:pPr lvl="0"/>
            <a:r>
              <a:rPr lang="en-IN" dirty="0"/>
              <a:t>5 → Moderate smoothing </a:t>
            </a:r>
          </a:p>
          <a:p>
            <a:pPr lvl="0"/>
            <a:r>
              <a:rPr lang="en-IN" dirty="0"/>
              <a:t>7 → Strong smoothing</a:t>
            </a:r>
          </a:p>
          <a:p>
            <a:r>
              <a:rPr lang="en-IN" dirty="0"/>
              <a:t>Larger kernels remove more noise but may also remove some fine details.</a:t>
            </a:r>
          </a:p>
          <a:p>
            <a:endParaRPr lang="en-IN" dirty="0"/>
          </a:p>
        </p:txBody>
      </p:sp>
      <p:graphicFrame>
        <p:nvGraphicFramePr>
          <p:cNvPr id="4" name="Table 3">
            <a:extLst>
              <a:ext uri="{FF2B5EF4-FFF2-40B4-BE49-F238E27FC236}">
                <a16:creationId xmlns:a16="http://schemas.microsoft.com/office/drawing/2014/main" id="{2B0F3B98-812E-212D-1AFA-FE1B75674F67}"/>
              </a:ext>
            </a:extLst>
          </p:cNvPr>
          <p:cNvGraphicFramePr>
            <a:graphicFrameLocks noGrp="1"/>
          </p:cNvGraphicFramePr>
          <p:nvPr>
            <p:extLst>
              <p:ext uri="{D42A27DB-BD31-4B8C-83A1-F6EECF244321}">
                <p14:modId xmlns:p14="http://schemas.microsoft.com/office/powerpoint/2010/main" val="3174806464"/>
              </p:ext>
            </p:extLst>
          </p:nvPr>
        </p:nvGraphicFramePr>
        <p:xfrm>
          <a:off x="1084384" y="4573771"/>
          <a:ext cx="10515600" cy="1463040"/>
        </p:xfrm>
        <a:graphic>
          <a:graphicData uri="http://schemas.openxmlformats.org/drawingml/2006/table">
            <a:tbl>
              <a:tblPr/>
              <a:tblGrid>
                <a:gridCol w="5257800">
                  <a:extLst>
                    <a:ext uri="{9D8B030D-6E8A-4147-A177-3AD203B41FA5}">
                      <a16:colId xmlns:a16="http://schemas.microsoft.com/office/drawing/2014/main" val="2676040015"/>
                    </a:ext>
                  </a:extLst>
                </a:gridCol>
                <a:gridCol w="5257800">
                  <a:extLst>
                    <a:ext uri="{9D8B030D-6E8A-4147-A177-3AD203B41FA5}">
                      <a16:colId xmlns:a16="http://schemas.microsoft.com/office/drawing/2014/main" val="2867284589"/>
                    </a:ext>
                  </a:extLst>
                </a:gridCol>
              </a:tblGrid>
              <a:tr h="0">
                <a:tc>
                  <a:txBody>
                    <a:bodyPr/>
                    <a:lstStyle/>
                    <a:p>
                      <a:pPr>
                        <a:buNone/>
                      </a:pPr>
                      <a:r>
                        <a:rPr lang="en-IN"/>
                        <a:t>Average Blur</a:t>
                      </a:r>
                    </a:p>
                  </a:txBody>
                  <a:tcPr anchor="ctr">
                    <a:lnL>
                      <a:noFill/>
                    </a:lnL>
                    <a:lnR>
                      <a:noFill/>
                    </a:lnR>
                    <a:lnT>
                      <a:noFill/>
                    </a:lnT>
                    <a:lnB>
                      <a:noFill/>
                    </a:lnB>
                    <a:noFill/>
                  </a:tcPr>
                </a:tc>
                <a:tc>
                  <a:txBody>
                    <a:bodyPr/>
                    <a:lstStyle/>
                    <a:p>
                      <a:pPr>
                        <a:buNone/>
                      </a:pPr>
                      <a:r>
                        <a:rPr lang="en-IN"/>
                        <a:t>Median Blur</a:t>
                      </a:r>
                    </a:p>
                  </a:txBody>
                  <a:tcPr anchor="ctr">
                    <a:lnL>
                      <a:noFill/>
                    </a:lnL>
                    <a:lnR>
                      <a:noFill/>
                    </a:lnR>
                    <a:lnT>
                      <a:noFill/>
                    </a:lnT>
                    <a:lnB>
                      <a:noFill/>
                    </a:lnB>
                    <a:noFill/>
                  </a:tcPr>
                </a:tc>
                <a:extLst>
                  <a:ext uri="{0D108BD9-81ED-4DB2-BD59-A6C34878D82A}">
                    <a16:rowId xmlns:a16="http://schemas.microsoft.com/office/drawing/2014/main" val="4183326749"/>
                  </a:ext>
                </a:extLst>
              </a:tr>
              <a:tr h="0">
                <a:tc>
                  <a:txBody>
                    <a:bodyPr/>
                    <a:lstStyle/>
                    <a:p>
                      <a:pPr>
                        <a:buNone/>
                      </a:pPr>
                      <a:r>
                        <a:rPr lang="en-IN"/>
                        <a:t>Takes the average of neighboring pixels</a:t>
                      </a:r>
                    </a:p>
                  </a:txBody>
                  <a:tcPr anchor="ctr">
                    <a:lnL>
                      <a:noFill/>
                    </a:lnL>
                    <a:lnR>
                      <a:noFill/>
                    </a:lnR>
                    <a:lnT>
                      <a:noFill/>
                    </a:lnT>
                    <a:lnB>
                      <a:noFill/>
                    </a:lnB>
                    <a:noFill/>
                  </a:tcPr>
                </a:tc>
                <a:tc>
                  <a:txBody>
                    <a:bodyPr/>
                    <a:lstStyle/>
                    <a:p>
                      <a:pPr>
                        <a:buNone/>
                      </a:pPr>
                      <a:r>
                        <a:rPr lang="en-IN"/>
                        <a:t>Takes the median (middle) value</a:t>
                      </a:r>
                    </a:p>
                  </a:txBody>
                  <a:tcPr anchor="ctr">
                    <a:lnL>
                      <a:noFill/>
                    </a:lnL>
                    <a:lnR>
                      <a:noFill/>
                    </a:lnR>
                    <a:lnT>
                      <a:noFill/>
                    </a:lnT>
                    <a:lnB>
                      <a:noFill/>
                    </a:lnB>
                    <a:noFill/>
                  </a:tcPr>
                </a:tc>
                <a:extLst>
                  <a:ext uri="{0D108BD9-81ED-4DB2-BD59-A6C34878D82A}">
                    <a16:rowId xmlns:a16="http://schemas.microsoft.com/office/drawing/2014/main" val="360337906"/>
                  </a:ext>
                </a:extLst>
              </a:tr>
              <a:tr h="0">
                <a:tc>
                  <a:txBody>
                    <a:bodyPr/>
                    <a:lstStyle/>
                    <a:p>
                      <a:pPr>
                        <a:buNone/>
                      </a:pPr>
                      <a:r>
                        <a:rPr lang="en-IN"/>
                        <a:t>Can blur edges</a:t>
                      </a:r>
                    </a:p>
                  </a:txBody>
                  <a:tcPr anchor="ctr">
                    <a:lnL>
                      <a:noFill/>
                    </a:lnL>
                    <a:lnR>
                      <a:noFill/>
                    </a:lnR>
                    <a:lnT>
                      <a:noFill/>
                    </a:lnT>
                    <a:lnB>
                      <a:noFill/>
                    </a:lnB>
                    <a:noFill/>
                  </a:tcPr>
                </a:tc>
                <a:tc>
                  <a:txBody>
                    <a:bodyPr/>
                    <a:lstStyle/>
                    <a:p>
                      <a:pPr>
                        <a:buNone/>
                      </a:pPr>
                      <a:r>
                        <a:rPr lang="en-IN"/>
                        <a:t>Preserves edges better</a:t>
                      </a:r>
                    </a:p>
                  </a:txBody>
                  <a:tcPr anchor="ctr">
                    <a:lnL>
                      <a:noFill/>
                    </a:lnL>
                    <a:lnR>
                      <a:noFill/>
                    </a:lnR>
                    <a:lnT>
                      <a:noFill/>
                    </a:lnT>
                    <a:lnB>
                      <a:noFill/>
                    </a:lnB>
                    <a:noFill/>
                  </a:tcPr>
                </a:tc>
                <a:extLst>
                  <a:ext uri="{0D108BD9-81ED-4DB2-BD59-A6C34878D82A}">
                    <a16:rowId xmlns:a16="http://schemas.microsoft.com/office/drawing/2014/main" val="1380871803"/>
                  </a:ext>
                </a:extLst>
              </a:tr>
              <a:tr h="0">
                <a:tc>
                  <a:txBody>
                    <a:bodyPr/>
                    <a:lstStyle/>
                    <a:p>
                      <a:pPr>
                        <a:buNone/>
                      </a:pPr>
                      <a:r>
                        <a:rPr lang="en-IN"/>
                        <a:t>Good for general smoothing</a:t>
                      </a:r>
                    </a:p>
                  </a:txBody>
                  <a:tcPr anchor="ctr">
                    <a:lnL>
                      <a:noFill/>
                    </a:lnL>
                    <a:lnR>
                      <a:noFill/>
                    </a:lnR>
                    <a:lnT>
                      <a:noFill/>
                    </a:lnT>
                    <a:lnB>
                      <a:noFill/>
                    </a:lnB>
                    <a:noFill/>
                  </a:tcPr>
                </a:tc>
                <a:tc>
                  <a:txBody>
                    <a:bodyPr/>
                    <a:lstStyle/>
                    <a:p>
                      <a:pPr>
                        <a:buNone/>
                      </a:pPr>
                      <a:r>
                        <a:rPr lang="en-IN" dirty="0"/>
                        <a:t>Best for salt-and-pepper noise</a:t>
                      </a:r>
                    </a:p>
                  </a:txBody>
                  <a:tcPr anchor="ctr">
                    <a:lnL>
                      <a:noFill/>
                    </a:lnL>
                    <a:lnR>
                      <a:noFill/>
                    </a:lnR>
                    <a:lnT>
                      <a:noFill/>
                    </a:lnT>
                    <a:lnB>
                      <a:noFill/>
                    </a:lnB>
                    <a:noFill/>
                  </a:tcPr>
                </a:tc>
                <a:extLst>
                  <a:ext uri="{0D108BD9-81ED-4DB2-BD59-A6C34878D82A}">
                    <a16:rowId xmlns:a16="http://schemas.microsoft.com/office/drawing/2014/main" val="2699293796"/>
                  </a:ext>
                </a:extLst>
              </a:tr>
            </a:tbl>
          </a:graphicData>
        </a:graphic>
      </p:graphicFrame>
    </p:spTree>
    <p:extLst>
      <p:ext uri="{BB962C8B-B14F-4D97-AF65-F5344CB8AC3E}">
        <p14:creationId xmlns:p14="http://schemas.microsoft.com/office/powerpoint/2010/main" val="6432608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8A970-A7A5-F3D2-03FA-B54AEB1F8B76}"/>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3F5B564C-7981-4264-A0B9-50155DD020BC}"/>
              </a:ext>
            </a:extLst>
          </p:cNvPr>
          <p:cNvGraphicFramePr>
            <a:graphicFrameLocks noGrp="1"/>
          </p:cNvGraphicFramePr>
          <p:nvPr>
            <p:ph idx="1"/>
          </p:nvPr>
        </p:nvGraphicFramePr>
        <p:xfrm>
          <a:off x="838200" y="2949734"/>
          <a:ext cx="10515600" cy="2103120"/>
        </p:xfrm>
        <a:graphic>
          <a:graphicData uri="http://schemas.openxmlformats.org/drawingml/2006/table">
            <a:tbl>
              <a:tblPr/>
              <a:tblGrid>
                <a:gridCol w="5257800">
                  <a:extLst>
                    <a:ext uri="{9D8B030D-6E8A-4147-A177-3AD203B41FA5}">
                      <a16:colId xmlns:a16="http://schemas.microsoft.com/office/drawing/2014/main" val="2999934703"/>
                    </a:ext>
                  </a:extLst>
                </a:gridCol>
                <a:gridCol w="5257800">
                  <a:extLst>
                    <a:ext uri="{9D8B030D-6E8A-4147-A177-3AD203B41FA5}">
                      <a16:colId xmlns:a16="http://schemas.microsoft.com/office/drawing/2014/main" val="2303595519"/>
                    </a:ext>
                  </a:extLst>
                </a:gridCol>
              </a:tblGrid>
              <a:tr h="0">
                <a:tc>
                  <a:txBody>
                    <a:bodyPr/>
                    <a:lstStyle/>
                    <a:p>
                      <a:pPr>
                        <a:buNone/>
                      </a:pPr>
                      <a:r>
                        <a:rPr lang="en-IN"/>
                        <a:t>Situation</a:t>
                      </a:r>
                    </a:p>
                  </a:txBody>
                  <a:tcPr anchor="ctr">
                    <a:lnL>
                      <a:noFill/>
                    </a:lnL>
                    <a:lnR>
                      <a:noFill/>
                    </a:lnR>
                    <a:lnT>
                      <a:noFill/>
                    </a:lnT>
                    <a:lnB>
                      <a:noFill/>
                    </a:lnB>
                    <a:noFill/>
                  </a:tcPr>
                </a:tc>
                <a:tc>
                  <a:txBody>
                    <a:bodyPr/>
                    <a:lstStyle/>
                    <a:p>
                      <a:pPr>
                        <a:buNone/>
                      </a:pPr>
                      <a:r>
                        <a:rPr lang="en-IN"/>
                        <a:t>Best Filter</a:t>
                      </a:r>
                    </a:p>
                  </a:txBody>
                  <a:tcPr anchor="ctr">
                    <a:lnL>
                      <a:noFill/>
                    </a:lnL>
                    <a:lnR>
                      <a:noFill/>
                    </a:lnR>
                    <a:lnT>
                      <a:noFill/>
                    </a:lnT>
                    <a:lnB>
                      <a:noFill/>
                    </a:lnB>
                    <a:noFill/>
                  </a:tcPr>
                </a:tc>
                <a:extLst>
                  <a:ext uri="{0D108BD9-81ED-4DB2-BD59-A6C34878D82A}">
                    <a16:rowId xmlns:a16="http://schemas.microsoft.com/office/drawing/2014/main" val="2694826884"/>
                  </a:ext>
                </a:extLst>
              </a:tr>
              <a:tr h="0">
                <a:tc>
                  <a:txBody>
                    <a:bodyPr/>
                    <a:lstStyle/>
                    <a:p>
                      <a:pPr>
                        <a:buNone/>
                      </a:pPr>
                      <a:r>
                        <a:rPr lang="en-IN"/>
                        <a:t>General smoothing</a:t>
                      </a:r>
                    </a:p>
                  </a:txBody>
                  <a:tcPr anchor="ctr">
                    <a:lnL>
                      <a:noFill/>
                    </a:lnL>
                    <a:lnR>
                      <a:noFill/>
                    </a:lnR>
                    <a:lnT>
                      <a:noFill/>
                    </a:lnT>
                    <a:lnB>
                      <a:noFill/>
                    </a:lnB>
                    <a:noFill/>
                  </a:tcPr>
                </a:tc>
                <a:tc>
                  <a:txBody>
                    <a:bodyPr/>
                    <a:lstStyle/>
                    <a:p>
                      <a:pPr>
                        <a:buNone/>
                      </a:pPr>
                      <a:r>
                        <a:rPr lang="en-IN" b="1"/>
                        <a:t>Average Filter</a:t>
                      </a:r>
                      <a:endParaRPr lang="en-IN"/>
                    </a:p>
                  </a:txBody>
                  <a:tcPr anchor="ctr">
                    <a:lnL>
                      <a:noFill/>
                    </a:lnL>
                    <a:lnR>
                      <a:noFill/>
                    </a:lnR>
                    <a:lnT>
                      <a:noFill/>
                    </a:lnT>
                    <a:lnB>
                      <a:noFill/>
                    </a:lnB>
                    <a:noFill/>
                  </a:tcPr>
                </a:tc>
                <a:extLst>
                  <a:ext uri="{0D108BD9-81ED-4DB2-BD59-A6C34878D82A}">
                    <a16:rowId xmlns:a16="http://schemas.microsoft.com/office/drawing/2014/main" val="2164685222"/>
                  </a:ext>
                </a:extLst>
              </a:tr>
              <a:tr h="0">
                <a:tc>
                  <a:txBody>
                    <a:bodyPr/>
                    <a:lstStyle/>
                    <a:p>
                      <a:pPr>
                        <a:buNone/>
                      </a:pPr>
                      <a:r>
                        <a:rPr lang="en-IN" dirty="0"/>
                        <a:t>Random (Gaussian) noise</a:t>
                      </a:r>
                    </a:p>
                  </a:txBody>
                  <a:tcPr anchor="ctr">
                    <a:lnL>
                      <a:noFill/>
                    </a:lnL>
                    <a:lnR>
                      <a:noFill/>
                    </a:lnR>
                    <a:lnT>
                      <a:noFill/>
                    </a:lnT>
                    <a:lnB>
                      <a:noFill/>
                    </a:lnB>
                    <a:noFill/>
                  </a:tcPr>
                </a:tc>
                <a:tc>
                  <a:txBody>
                    <a:bodyPr/>
                    <a:lstStyle/>
                    <a:p>
                      <a:pPr>
                        <a:buNone/>
                      </a:pPr>
                      <a:r>
                        <a:rPr lang="en-IN" b="1"/>
                        <a:t>Gaussian Filter</a:t>
                      </a:r>
                      <a:endParaRPr lang="en-IN"/>
                    </a:p>
                  </a:txBody>
                  <a:tcPr anchor="ctr">
                    <a:lnL>
                      <a:noFill/>
                    </a:lnL>
                    <a:lnR>
                      <a:noFill/>
                    </a:lnR>
                    <a:lnT>
                      <a:noFill/>
                    </a:lnT>
                    <a:lnB>
                      <a:noFill/>
                    </a:lnB>
                    <a:noFill/>
                  </a:tcPr>
                </a:tc>
                <a:extLst>
                  <a:ext uri="{0D108BD9-81ED-4DB2-BD59-A6C34878D82A}">
                    <a16:rowId xmlns:a16="http://schemas.microsoft.com/office/drawing/2014/main" val="3029693785"/>
                  </a:ext>
                </a:extLst>
              </a:tr>
              <a:tr h="0">
                <a:tc>
                  <a:txBody>
                    <a:bodyPr/>
                    <a:lstStyle/>
                    <a:p>
                      <a:pPr>
                        <a:buNone/>
                      </a:pPr>
                      <a:r>
                        <a:rPr lang="en-IN"/>
                        <a:t>Black &amp; white dot (salt-and-pepper) noise</a:t>
                      </a:r>
                    </a:p>
                  </a:txBody>
                  <a:tcPr anchor="ctr">
                    <a:lnL>
                      <a:noFill/>
                    </a:lnL>
                    <a:lnR>
                      <a:noFill/>
                    </a:lnR>
                    <a:lnT>
                      <a:noFill/>
                    </a:lnT>
                    <a:lnB>
                      <a:noFill/>
                    </a:lnB>
                    <a:noFill/>
                  </a:tcPr>
                </a:tc>
                <a:tc>
                  <a:txBody>
                    <a:bodyPr/>
                    <a:lstStyle/>
                    <a:p>
                      <a:pPr>
                        <a:buNone/>
                      </a:pPr>
                      <a:r>
                        <a:rPr lang="en-IN" b="1"/>
                        <a:t>Median Filter</a:t>
                      </a:r>
                      <a:endParaRPr lang="en-IN"/>
                    </a:p>
                  </a:txBody>
                  <a:tcPr anchor="ctr">
                    <a:lnL>
                      <a:noFill/>
                    </a:lnL>
                    <a:lnR>
                      <a:noFill/>
                    </a:lnR>
                    <a:lnT>
                      <a:noFill/>
                    </a:lnT>
                    <a:lnB>
                      <a:noFill/>
                    </a:lnB>
                    <a:noFill/>
                  </a:tcPr>
                </a:tc>
                <a:extLst>
                  <a:ext uri="{0D108BD9-81ED-4DB2-BD59-A6C34878D82A}">
                    <a16:rowId xmlns:a16="http://schemas.microsoft.com/office/drawing/2014/main" val="2763221190"/>
                  </a:ext>
                </a:extLst>
              </a:tr>
              <a:tr h="0">
                <a:tc>
                  <a:txBody>
                    <a:bodyPr/>
                    <a:lstStyle/>
                    <a:p>
                      <a:pPr>
                        <a:buNone/>
                      </a:pPr>
                      <a:r>
                        <a:rPr lang="en-IN"/>
                        <a:t>Want to preserve edges while removing salt-and-pepper noise</a:t>
                      </a:r>
                    </a:p>
                  </a:txBody>
                  <a:tcPr anchor="ctr">
                    <a:lnL>
                      <a:noFill/>
                    </a:lnL>
                    <a:lnR>
                      <a:noFill/>
                    </a:lnR>
                    <a:lnT>
                      <a:noFill/>
                    </a:lnT>
                    <a:lnB>
                      <a:noFill/>
                    </a:lnB>
                    <a:noFill/>
                  </a:tcPr>
                </a:tc>
                <a:tc>
                  <a:txBody>
                    <a:bodyPr/>
                    <a:lstStyle/>
                    <a:p>
                      <a:pPr>
                        <a:buNone/>
                      </a:pPr>
                      <a:r>
                        <a:rPr lang="en-IN" b="1" dirty="0"/>
                        <a:t>Median Filter</a:t>
                      </a:r>
                      <a:endParaRPr lang="en-IN" dirty="0"/>
                    </a:p>
                  </a:txBody>
                  <a:tcPr anchor="ctr">
                    <a:lnL>
                      <a:noFill/>
                    </a:lnL>
                    <a:lnR>
                      <a:noFill/>
                    </a:lnR>
                    <a:lnT>
                      <a:noFill/>
                    </a:lnT>
                    <a:lnB>
                      <a:noFill/>
                    </a:lnB>
                    <a:noFill/>
                  </a:tcPr>
                </a:tc>
                <a:extLst>
                  <a:ext uri="{0D108BD9-81ED-4DB2-BD59-A6C34878D82A}">
                    <a16:rowId xmlns:a16="http://schemas.microsoft.com/office/drawing/2014/main" val="3883427592"/>
                  </a:ext>
                </a:extLst>
              </a:tr>
            </a:tbl>
          </a:graphicData>
        </a:graphic>
      </p:graphicFrame>
    </p:spTree>
    <p:extLst>
      <p:ext uri="{BB962C8B-B14F-4D97-AF65-F5344CB8AC3E}">
        <p14:creationId xmlns:p14="http://schemas.microsoft.com/office/powerpoint/2010/main" val="9743005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AEC13-BFA0-5F2F-A92E-D83D2CD81577}"/>
              </a:ext>
            </a:extLst>
          </p:cNvPr>
          <p:cNvSpPr>
            <a:spLocks noGrp="1"/>
          </p:cNvSpPr>
          <p:nvPr>
            <p:ph type="title"/>
          </p:nvPr>
        </p:nvSpPr>
        <p:spPr/>
        <p:txBody>
          <a:bodyPr/>
          <a:lstStyle/>
          <a:p>
            <a:endParaRPr lang="en-IN"/>
          </a:p>
        </p:txBody>
      </p:sp>
      <p:pic>
        <p:nvPicPr>
          <p:cNvPr id="4" name="Content Placeholder 3" descr="Image Processing Tutorial Using scikit-image — Noise | by Betul Mescioglu | Medium">
            <a:extLst>
              <a:ext uri="{FF2B5EF4-FFF2-40B4-BE49-F238E27FC236}">
                <a16:creationId xmlns:a16="http://schemas.microsoft.com/office/drawing/2014/main" id="{C2049997-3399-8647-C083-6397678C712C}"/>
              </a:ext>
            </a:extLst>
          </p:cNvPr>
          <p:cNvPicPr>
            <a:picLocks noGrp="1" noChangeAspect="1"/>
          </p:cNvPicPr>
          <p:nvPr>
            <p:ph idx="1"/>
          </p:nvPr>
        </p:nvPicPr>
        <p:blipFill>
          <a:blip r:embed="rId2"/>
          <a:stretch>
            <a:fillRect/>
          </a:stretch>
        </p:blipFill>
        <p:spPr>
          <a:xfrm>
            <a:off x="202223" y="2101056"/>
            <a:ext cx="11034346" cy="4528344"/>
          </a:xfrm>
          <a:prstGeom prst="rect">
            <a:avLst/>
          </a:prstGeom>
        </p:spPr>
      </p:pic>
    </p:spTree>
    <p:extLst>
      <p:ext uri="{BB962C8B-B14F-4D97-AF65-F5344CB8AC3E}">
        <p14:creationId xmlns:p14="http://schemas.microsoft.com/office/powerpoint/2010/main" val="6496480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652CFB-0E9D-6CAE-3552-9EA6D32607A3}"/>
              </a:ext>
            </a:extLst>
          </p:cNvPr>
          <p:cNvSpPr>
            <a:spLocks noGrp="1"/>
          </p:cNvSpPr>
          <p:nvPr>
            <p:ph idx="1"/>
          </p:nvPr>
        </p:nvSpPr>
        <p:spPr>
          <a:xfrm>
            <a:off x="838200" y="439615"/>
            <a:ext cx="10515600" cy="5737348"/>
          </a:xfrm>
        </p:spPr>
        <p:txBody>
          <a:bodyPr/>
          <a:lstStyle/>
          <a:p>
            <a:r>
              <a:rPr lang="en-IN" b="1" dirty="0"/>
              <a:t>Bilateral Filter</a:t>
            </a:r>
          </a:p>
          <a:p>
            <a:r>
              <a:rPr lang="en-IN" dirty="0"/>
              <a:t>Bilateral filter </a:t>
            </a:r>
            <a:r>
              <a:rPr lang="en-IN" b="1" dirty="0"/>
              <a:t>smooths only similar </a:t>
            </a:r>
            <a:r>
              <a:rPr lang="en-IN" b="1" dirty="0" err="1"/>
              <a:t>colors</a:t>
            </a:r>
            <a:r>
              <a:rPr lang="en-IN" dirty="0"/>
              <a:t>.</a:t>
            </a:r>
          </a:p>
          <a:p>
            <a:r>
              <a:rPr lang="en-IN" dirty="0"/>
              <a:t>It says:</a:t>
            </a:r>
          </a:p>
          <a:p>
            <a:r>
              <a:rPr lang="en-IN" dirty="0"/>
              <a:t>"If two </a:t>
            </a:r>
            <a:r>
              <a:rPr lang="en-IN" dirty="0" err="1"/>
              <a:t>neighboring</a:t>
            </a:r>
            <a:r>
              <a:rPr lang="en-IN" dirty="0"/>
              <a:t> pixels have very different </a:t>
            </a:r>
            <a:r>
              <a:rPr lang="en-IN" dirty="0" err="1"/>
              <a:t>colors</a:t>
            </a:r>
            <a:r>
              <a:rPr lang="en-IN" dirty="0"/>
              <a:t>, don't mix them."</a:t>
            </a:r>
          </a:p>
          <a:p>
            <a:r>
              <a:rPr lang="en-IN" dirty="0"/>
              <a:t>Noise inside the green region is removed, but the edge remains sharp.</a:t>
            </a:r>
          </a:p>
          <a:p>
            <a:endParaRPr lang="en-IN" dirty="0"/>
          </a:p>
          <a:p>
            <a:r>
              <a:rPr lang="en-IN" dirty="0"/>
              <a:t>Gaussian Blur Ignores the different Value but Bilateral Filter don’t.</a:t>
            </a:r>
          </a:p>
          <a:p>
            <a:endParaRPr lang="en-IN" dirty="0"/>
          </a:p>
        </p:txBody>
      </p:sp>
    </p:spTree>
    <p:extLst>
      <p:ext uri="{BB962C8B-B14F-4D97-AF65-F5344CB8AC3E}">
        <p14:creationId xmlns:p14="http://schemas.microsoft.com/office/powerpoint/2010/main" val="29132529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FBFC7-E926-BB90-2B5E-DB0CB5FDB5F1}"/>
              </a:ext>
            </a:extLst>
          </p:cNvPr>
          <p:cNvSpPr>
            <a:spLocks noGrp="1"/>
          </p:cNvSpPr>
          <p:nvPr>
            <p:ph type="title"/>
          </p:nvPr>
        </p:nvSpPr>
        <p:spPr/>
        <p:txBody>
          <a:bodyPr/>
          <a:lstStyle/>
          <a:p>
            <a:r>
              <a:rPr lang="en-US" dirty="0"/>
              <a:t>Parameters</a:t>
            </a:r>
            <a:endParaRPr lang="en-IN" dirty="0"/>
          </a:p>
        </p:txBody>
      </p:sp>
      <p:sp>
        <p:nvSpPr>
          <p:cNvPr id="3" name="Content Placeholder 2">
            <a:extLst>
              <a:ext uri="{FF2B5EF4-FFF2-40B4-BE49-F238E27FC236}">
                <a16:creationId xmlns:a16="http://schemas.microsoft.com/office/drawing/2014/main" id="{B5F5D45D-A18E-72AA-EFC4-77058945EDCA}"/>
              </a:ext>
            </a:extLst>
          </p:cNvPr>
          <p:cNvSpPr>
            <a:spLocks noGrp="1"/>
          </p:cNvSpPr>
          <p:nvPr>
            <p:ph idx="1"/>
          </p:nvPr>
        </p:nvSpPr>
        <p:spPr/>
        <p:txBody>
          <a:bodyPr/>
          <a:lstStyle/>
          <a:p>
            <a:pPr marL="0" indent="0">
              <a:buNone/>
            </a:pPr>
            <a:r>
              <a:rPr lang="en-IN" dirty="0"/>
              <a:t>1. Diameter of the </a:t>
            </a:r>
            <a:r>
              <a:rPr lang="en-IN" dirty="0" err="1"/>
              <a:t>neighborhood</a:t>
            </a:r>
            <a:r>
              <a:rPr lang="en-IN" dirty="0"/>
              <a:t>.</a:t>
            </a:r>
          </a:p>
          <a:p>
            <a:r>
              <a:rPr lang="en-IN" dirty="0"/>
              <a:t>It means OpenCV looks at a </a:t>
            </a:r>
            <a:r>
              <a:rPr lang="en-IN" b="1" dirty="0"/>
              <a:t>9×9</a:t>
            </a:r>
            <a:r>
              <a:rPr lang="en-IN" dirty="0"/>
              <a:t> area around each pixel.</a:t>
            </a:r>
          </a:p>
          <a:p>
            <a:r>
              <a:rPr lang="en-IN" dirty="0"/>
              <a:t>Larger value → stronger smoothing.</a:t>
            </a:r>
          </a:p>
          <a:p>
            <a:pPr marL="0" indent="0">
              <a:buNone/>
            </a:pPr>
            <a:r>
              <a:rPr lang="en-IN" b="1" dirty="0"/>
              <a:t>2. 75</a:t>
            </a:r>
          </a:p>
          <a:p>
            <a:r>
              <a:rPr lang="en-IN" dirty="0"/>
              <a:t>This is </a:t>
            </a:r>
            <a:r>
              <a:rPr lang="en-IN" b="1" dirty="0" err="1"/>
              <a:t>sigmaColor</a:t>
            </a:r>
            <a:r>
              <a:rPr lang="en-IN" dirty="0"/>
              <a:t>.</a:t>
            </a:r>
          </a:p>
          <a:p>
            <a:r>
              <a:rPr lang="en-IN" dirty="0"/>
              <a:t>First 75 → "Are you my </a:t>
            </a:r>
            <a:r>
              <a:rPr lang="en-IN" dirty="0" err="1"/>
              <a:t>color</a:t>
            </a:r>
            <a:r>
              <a:rPr lang="en-IN" dirty="0"/>
              <a:t>?"</a:t>
            </a:r>
          </a:p>
        </p:txBody>
      </p:sp>
    </p:spTree>
    <p:extLst>
      <p:ext uri="{BB962C8B-B14F-4D97-AF65-F5344CB8AC3E}">
        <p14:creationId xmlns:p14="http://schemas.microsoft.com/office/powerpoint/2010/main" val="31756672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4C5563-525D-A5DA-AE35-8A63BCE3B164}"/>
              </a:ext>
            </a:extLst>
          </p:cNvPr>
          <p:cNvSpPr>
            <a:spLocks noGrp="1"/>
          </p:cNvSpPr>
          <p:nvPr>
            <p:ph idx="1"/>
          </p:nvPr>
        </p:nvSpPr>
        <p:spPr>
          <a:xfrm>
            <a:off x="838200" y="413238"/>
            <a:ext cx="10515600" cy="5763725"/>
          </a:xfrm>
        </p:spPr>
        <p:txBody>
          <a:bodyPr/>
          <a:lstStyle/>
          <a:p>
            <a:pPr marL="0" indent="0">
              <a:buNone/>
            </a:pPr>
            <a:r>
              <a:rPr lang="en-IN" dirty="0"/>
              <a:t>Suppose the </a:t>
            </a:r>
            <a:r>
              <a:rPr lang="en-IN" dirty="0" err="1"/>
              <a:t>center</a:t>
            </a:r>
            <a:r>
              <a:rPr lang="en-IN" dirty="0"/>
              <a:t> pixel is </a:t>
            </a:r>
            <a:r>
              <a:rPr lang="en-IN" b="1" dirty="0"/>
              <a:t>green</a:t>
            </a:r>
            <a:r>
              <a:rPr lang="en-IN" dirty="0"/>
              <a:t>.</a:t>
            </a:r>
          </a:p>
          <a:p>
            <a:pPr marL="0" indent="0">
              <a:buNone/>
            </a:pPr>
            <a:r>
              <a:rPr lang="en-IN" dirty="0"/>
              <a:t>Nearby pixels: </a:t>
            </a:r>
            <a:r>
              <a:rPr lang="en-IN" dirty="0" err="1"/>
              <a:t>g,g,g,r,b</a:t>
            </a:r>
            <a:endParaRPr lang="en-IN" dirty="0"/>
          </a:p>
          <a:p>
            <a:r>
              <a:rPr lang="en-IN" dirty="0"/>
              <a:t>The </a:t>
            </a:r>
            <a:r>
              <a:rPr lang="en-IN" dirty="0" err="1"/>
              <a:t>center</a:t>
            </a:r>
            <a:r>
              <a:rPr lang="en-IN" dirty="0"/>
              <a:t> asks:</a:t>
            </a:r>
          </a:p>
          <a:p>
            <a:r>
              <a:rPr lang="en-IN" dirty="0"/>
              <a:t>"Who has a </a:t>
            </a:r>
            <a:r>
              <a:rPr lang="en-IN" dirty="0" err="1"/>
              <a:t>color</a:t>
            </a:r>
            <a:r>
              <a:rPr lang="en-IN" dirty="0"/>
              <a:t> similar to mine?"</a:t>
            </a:r>
          </a:p>
          <a:p>
            <a:r>
              <a:rPr lang="en-IN" dirty="0"/>
              <a:t>If a pixel is also green:</a:t>
            </a:r>
          </a:p>
          <a:p>
            <a:r>
              <a:rPr lang="en-IN" dirty="0"/>
              <a:t>It </a:t>
            </a:r>
            <a:r>
              <a:rPr lang="en-IN" dirty="0" err="1"/>
              <a:t>says:"Come</a:t>
            </a:r>
            <a:r>
              <a:rPr lang="en-IN" dirty="0"/>
              <a:t>, let's mix.“</a:t>
            </a:r>
          </a:p>
          <a:p>
            <a:r>
              <a:rPr lang="en-IN" dirty="0"/>
              <a:t>If a pixel is red:</a:t>
            </a:r>
          </a:p>
          <a:p>
            <a:r>
              <a:rPr lang="en-IN" dirty="0"/>
              <a:t>It says:</a:t>
            </a:r>
          </a:p>
          <a:p>
            <a:r>
              <a:rPr lang="en-IN" dirty="0"/>
              <a:t>"No! You're too different."</a:t>
            </a:r>
          </a:p>
          <a:p>
            <a:r>
              <a:rPr lang="en-IN" dirty="0"/>
              <a:t>This first 75 decides </a:t>
            </a:r>
            <a:r>
              <a:rPr lang="en-IN" b="1" dirty="0"/>
              <a:t>how similar the </a:t>
            </a:r>
            <a:r>
              <a:rPr lang="en-IN" b="1" dirty="0" err="1"/>
              <a:t>colors</a:t>
            </a:r>
            <a:r>
              <a:rPr lang="en-IN" b="1" dirty="0"/>
              <a:t> must be</a:t>
            </a:r>
            <a:r>
              <a:rPr lang="en-IN" dirty="0"/>
              <a:t>.</a:t>
            </a:r>
          </a:p>
          <a:p>
            <a:r>
              <a:rPr lang="en-IN" dirty="0"/>
              <a:t>First 75 = </a:t>
            </a:r>
            <a:r>
              <a:rPr lang="en-IN" b="1" dirty="0" err="1"/>
              <a:t>Color</a:t>
            </a:r>
            <a:r>
              <a:rPr lang="en-IN" b="1" dirty="0"/>
              <a:t> friendship.</a:t>
            </a:r>
            <a:endParaRPr lang="en-IN" dirty="0"/>
          </a:p>
          <a:p>
            <a:endParaRPr lang="en-IN" dirty="0"/>
          </a:p>
          <a:p>
            <a:pPr marL="0" indent="0">
              <a:buNone/>
            </a:pPr>
            <a:endParaRPr lang="en-IN" dirty="0"/>
          </a:p>
          <a:p>
            <a:pPr marL="0" indent="0">
              <a:buNone/>
            </a:pPr>
            <a:endParaRPr lang="en-IN" dirty="0"/>
          </a:p>
        </p:txBody>
      </p:sp>
    </p:spTree>
    <p:extLst>
      <p:ext uri="{BB962C8B-B14F-4D97-AF65-F5344CB8AC3E}">
        <p14:creationId xmlns:p14="http://schemas.microsoft.com/office/powerpoint/2010/main" val="15669121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58545-891C-550E-CC86-54D0D6454FB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3300C2E-BA55-4180-BD41-E31E3CFD8973}"/>
              </a:ext>
            </a:extLst>
          </p:cNvPr>
          <p:cNvSpPr>
            <a:spLocks noGrp="1"/>
          </p:cNvSpPr>
          <p:nvPr>
            <p:ph idx="1"/>
          </p:nvPr>
        </p:nvSpPr>
        <p:spPr/>
        <p:txBody>
          <a:bodyPr>
            <a:normAutofit lnSpcReduction="10000"/>
          </a:bodyPr>
          <a:lstStyle/>
          <a:p>
            <a:r>
              <a:rPr lang="en-IN" dirty="0"/>
              <a:t>Second 75 → "Are you close to me?“</a:t>
            </a:r>
          </a:p>
          <a:p>
            <a:r>
              <a:rPr lang="en-IN" dirty="0"/>
              <a:t>Imagine: The </a:t>
            </a:r>
            <a:r>
              <a:rPr lang="en-IN" dirty="0" err="1"/>
              <a:t>center</a:t>
            </a:r>
            <a:r>
              <a:rPr lang="en-IN" dirty="0"/>
              <a:t> pixel asks:</a:t>
            </a:r>
          </a:p>
          <a:p>
            <a:r>
              <a:rPr lang="en-IN" dirty="0"/>
              <a:t>"Are you sitting close to me?"</a:t>
            </a:r>
          </a:p>
          <a:p>
            <a:r>
              <a:rPr lang="en-IN" dirty="0"/>
              <a:t>Nearby pixels: can help</a:t>
            </a:r>
          </a:p>
          <a:p>
            <a:r>
              <a:rPr lang="en-IN" dirty="0"/>
              <a:t>Very far pixels: cannot help much.</a:t>
            </a:r>
          </a:p>
          <a:p>
            <a:endParaRPr lang="en-IN" dirty="0"/>
          </a:p>
          <a:p>
            <a:r>
              <a:rPr lang="en-IN" dirty="0"/>
              <a:t>The second 75 decides </a:t>
            </a:r>
            <a:r>
              <a:rPr lang="en-IN" b="1" dirty="0"/>
              <a:t>how far away a pixel can be and still influence the </a:t>
            </a:r>
            <a:r>
              <a:rPr lang="en-IN" b="1" dirty="0" err="1"/>
              <a:t>center</a:t>
            </a:r>
            <a:r>
              <a:rPr lang="en-IN" dirty="0"/>
              <a:t>.</a:t>
            </a:r>
          </a:p>
          <a:p>
            <a:r>
              <a:rPr lang="en-IN" dirty="0"/>
              <a:t>Second 75 = </a:t>
            </a:r>
            <a:r>
              <a:rPr lang="en-IN" b="1" dirty="0"/>
              <a:t>Distance friendship.</a:t>
            </a:r>
            <a:endParaRPr lang="en-IN" dirty="0"/>
          </a:p>
          <a:p>
            <a:endParaRPr lang="en-IN" dirty="0"/>
          </a:p>
        </p:txBody>
      </p:sp>
    </p:spTree>
    <p:extLst>
      <p:ext uri="{BB962C8B-B14F-4D97-AF65-F5344CB8AC3E}">
        <p14:creationId xmlns:p14="http://schemas.microsoft.com/office/powerpoint/2010/main" val="32364567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D0507-AF50-82FD-715C-8D9EE6D5746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13E30F4-BBA3-B7BC-EDE8-5DA71F173BF8}"/>
              </a:ext>
            </a:extLst>
          </p:cNvPr>
          <p:cNvSpPr>
            <a:spLocks noGrp="1"/>
          </p:cNvSpPr>
          <p:nvPr>
            <p:ph idx="1"/>
          </p:nvPr>
        </p:nvSpPr>
        <p:spPr/>
        <p:txBody>
          <a:bodyPr/>
          <a:lstStyle/>
          <a:p>
            <a:r>
              <a:rPr lang="en-IN" dirty="0"/>
              <a:t>Imagine you're in a classroom.</a:t>
            </a:r>
          </a:p>
          <a:p>
            <a:r>
              <a:rPr lang="en-IN" dirty="0"/>
              <a:t>You want help with homework.</a:t>
            </a:r>
          </a:p>
          <a:p>
            <a:r>
              <a:rPr lang="en-IN" dirty="0"/>
              <a:t>You will ask classmates who are:</a:t>
            </a:r>
          </a:p>
          <a:p>
            <a:r>
              <a:rPr lang="en-IN" dirty="0"/>
              <a:t>Sitting </a:t>
            </a:r>
            <a:r>
              <a:rPr lang="en-IN" b="1" dirty="0"/>
              <a:t>near you</a:t>
            </a:r>
            <a:r>
              <a:rPr lang="en-IN" dirty="0"/>
              <a:t> (distance)</a:t>
            </a:r>
          </a:p>
          <a:p>
            <a:endParaRPr lang="en-IN" dirty="0"/>
          </a:p>
          <a:p>
            <a:r>
              <a:rPr lang="en-IN" dirty="0"/>
              <a:t>AND</a:t>
            </a:r>
          </a:p>
          <a:p>
            <a:r>
              <a:rPr lang="en-IN" dirty="0"/>
              <a:t> Speaking the </a:t>
            </a:r>
            <a:r>
              <a:rPr lang="en-IN" b="1" dirty="0"/>
              <a:t>same language</a:t>
            </a:r>
            <a:r>
              <a:rPr lang="en-IN" dirty="0"/>
              <a:t> (similar </a:t>
            </a:r>
            <a:r>
              <a:rPr lang="en-IN" dirty="0" err="1"/>
              <a:t>color</a:t>
            </a:r>
            <a:r>
              <a:rPr lang="en-IN" dirty="0"/>
              <a:t>)</a:t>
            </a:r>
          </a:p>
          <a:p>
            <a:endParaRPr lang="en-IN" dirty="0"/>
          </a:p>
          <a:p>
            <a:endParaRPr lang="en-IN" dirty="0"/>
          </a:p>
        </p:txBody>
      </p:sp>
    </p:spTree>
    <p:extLst>
      <p:ext uri="{BB962C8B-B14F-4D97-AF65-F5344CB8AC3E}">
        <p14:creationId xmlns:p14="http://schemas.microsoft.com/office/powerpoint/2010/main" val="36249345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C6BF9-C396-574B-540D-CEEBEBC6411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8742A40-63F1-DD98-BA53-2F23AAFAE770}"/>
              </a:ext>
            </a:extLst>
          </p:cNvPr>
          <p:cNvSpPr>
            <a:spLocks noGrp="1"/>
          </p:cNvSpPr>
          <p:nvPr>
            <p:ph idx="1"/>
          </p:nvPr>
        </p:nvSpPr>
        <p:spPr/>
        <p:txBody>
          <a:bodyPr/>
          <a:lstStyle/>
          <a:p>
            <a:r>
              <a:rPr lang="en-IN" dirty="0"/>
              <a:t>You won't ask:</a:t>
            </a:r>
          </a:p>
          <a:p>
            <a:r>
              <a:rPr lang="en-IN" dirty="0"/>
              <a:t>Someone sitting across the room </a:t>
            </a:r>
          </a:p>
          <a:p>
            <a:r>
              <a:rPr lang="en-IN" dirty="0"/>
              <a:t>Someone speaking a completely different language </a:t>
            </a:r>
          </a:p>
          <a:p>
            <a:r>
              <a:rPr lang="en-IN" dirty="0"/>
              <a:t>That's exactly what the bilateral filter does.</a:t>
            </a:r>
          </a:p>
          <a:p>
            <a:endParaRPr lang="en-IN" dirty="0"/>
          </a:p>
        </p:txBody>
      </p:sp>
    </p:spTree>
    <p:extLst>
      <p:ext uri="{BB962C8B-B14F-4D97-AF65-F5344CB8AC3E}">
        <p14:creationId xmlns:p14="http://schemas.microsoft.com/office/powerpoint/2010/main" val="1457357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B4C55-338F-BA7E-9C9F-BB94D4E2D59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4FAFCFD-335C-B586-FB7F-7C2F59E347B2}"/>
              </a:ext>
            </a:extLst>
          </p:cNvPr>
          <p:cNvSpPr>
            <a:spLocks noGrp="1"/>
          </p:cNvSpPr>
          <p:nvPr>
            <p:ph idx="1"/>
          </p:nvPr>
        </p:nvSpPr>
        <p:spPr/>
        <p:txBody>
          <a:bodyPr/>
          <a:lstStyle/>
          <a:p>
            <a:r>
              <a:rPr lang="en-IN" dirty="0"/>
              <a:t>9 → How many </a:t>
            </a:r>
            <a:r>
              <a:rPr lang="en-IN" dirty="0" err="1"/>
              <a:t>neighbors</a:t>
            </a:r>
            <a:r>
              <a:rPr lang="en-IN" dirty="0"/>
              <a:t> should I check? </a:t>
            </a:r>
          </a:p>
          <a:p>
            <a:r>
              <a:rPr lang="en-IN" dirty="0"/>
              <a:t>75 → Are their </a:t>
            </a:r>
            <a:r>
              <a:rPr lang="en-IN" dirty="0" err="1"/>
              <a:t>colors</a:t>
            </a:r>
            <a:r>
              <a:rPr lang="en-IN" dirty="0"/>
              <a:t> similar to mine? </a:t>
            </a:r>
          </a:p>
          <a:p>
            <a:r>
              <a:rPr lang="en-IN" dirty="0"/>
              <a:t>75 → Are they close enough to me?</a:t>
            </a:r>
          </a:p>
        </p:txBody>
      </p:sp>
    </p:spTree>
    <p:extLst>
      <p:ext uri="{BB962C8B-B14F-4D97-AF65-F5344CB8AC3E}">
        <p14:creationId xmlns:p14="http://schemas.microsoft.com/office/powerpoint/2010/main" val="11140438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4C470-74D6-9A59-DDDA-5FA509D07F76}"/>
              </a:ext>
            </a:extLst>
          </p:cNvPr>
          <p:cNvSpPr>
            <a:spLocks noGrp="1"/>
          </p:cNvSpPr>
          <p:nvPr>
            <p:ph type="title"/>
          </p:nvPr>
        </p:nvSpPr>
        <p:spPr/>
        <p:txBody>
          <a:bodyPr/>
          <a:lstStyle/>
          <a:p>
            <a:r>
              <a:rPr lang="en-US" dirty="0"/>
              <a:t>Image Sharpening</a:t>
            </a:r>
            <a:endParaRPr lang="en-IN" dirty="0"/>
          </a:p>
        </p:txBody>
      </p:sp>
      <p:sp>
        <p:nvSpPr>
          <p:cNvPr id="3" name="Content Placeholder 2">
            <a:extLst>
              <a:ext uri="{FF2B5EF4-FFF2-40B4-BE49-F238E27FC236}">
                <a16:creationId xmlns:a16="http://schemas.microsoft.com/office/drawing/2014/main" id="{55FB7715-20A4-B4BB-BB1C-EE412F67F96D}"/>
              </a:ext>
            </a:extLst>
          </p:cNvPr>
          <p:cNvSpPr>
            <a:spLocks noGrp="1"/>
          </p:cNvSpPr>
          <p:nvPr>
            <p:ph idx="1"/>
          </p:nvPr>
        </p:nvSpPr>
        <p:spPr/>
        <p:txBody>
          <a:bodyPr>
            <a:normAutofit lnSpcReduction="10000"/>
          </a:bodyPr>
          <a:lstStyle/>
          <a:p>
            <a:r>
              <a:rPr lang="en-IN" dirty="0"/>
              <a:t>Imagine a blurry image.</a:t>
            </a:r>
          </a:p>
          <a:p>
            <a:r>
              <a:rPr lang="en-IN" dirty="0"/>
              <a:t>After sharpening: Edges become </a:t>
            </a:r>
            <a:r>
              <a:rPr lang="en-IN" b="1" dirty="0"/>
              <a:t>clearer and more defined</a:t>
            </a:r>
            <a:r>
              <a:rPr lang="en-IN" dirty="0"/>
              <a:t>.</a:t>
            </a:r>
          </a:p>
          <a:p>
            <a:r>
              <a:rPr lang="en-IN" dirty="0"/>
              <a:t>Suppose the image is:</a:t>
            </a:r>
          </a:p>
          <a:p>
            <a:pPr marL="0" indent="0">
              <a:buNone/>
            </a:pPr>
            <a:r>
              <a:rPr lang="en-IN" dirty="0"/>
              <a:t>100 100 100</a:t>
            </a:r>
          </a:p>
          <a:p>
            <a:pPr marL="0" indent="0">
              <a:buNone/>
            </a:pPr>
            <a:r>
              <a:rPr lang="en-IN" dirty="0"/>
              <a:t>100 120 100</a:t>
            </a:r>
          </a:p>
          <a:p>
            <a:pPr marL="0" indent="0">
              <a:buNone/>
            </a:pPr>
            <a:r>
              <a:rPr lang="en-IN" dirty="0"/>
              <a:t>100 100 100</a:t>
            </a:r>
          </a:p>
          <a:p>
            <a:pPr marL="0" indent="0">
              <a:buNone/>
            </a:pPr>
            <a:endParaRPr lang="en-IN" dirty="0"/>
          </a:p>
          <a:p>
            <a:r>
              <a:rPr lang="en-IN" dirty="0"/>
              <a:t>The </a:t>
            </a:r>
            <a:r>
              <a:rPr lang="en-IN" dirty="0" err="1"/>
              <a:t>center</a:t>
            </a:r>
            <a:r>
              <a:rPr lang="en-IN" dirty="0"/>
              <a:t> pixel is </a:t>
            </a:r>
            <a:r>
              <a:rPr lang="en-IN" b="1" dirty="0"/>
              <a:t>120</a:t>
            </a:r>
            <a:r>
              <a:rPr lang="en-IN" dirty="0"/>
              <a:t>.</a:t>
            </a:r>
          </a:p>
          <a:p>
            <a:r>
              <a:rPr lang="en-IN" dirty="0"/>
              <a:t>The new value is calculated as:</a:t>
            </a:r>
          </a:p>
          <a:p>
            <a:pPr marL="0" indent="0">
              <a:buNone/>
            </a:pPr>
            <a:endParaRPr lang="en-IN" dirty="0"/>
          </a:p>
        </p:txBody>
      </p:sp>
    </p:spTree>
    <p:extLst>
      <p:ext uri="{BB962C8B-B14F-4D97-AF65-F5344CB8AC3E}">
        <p14:creationId xmlns:p14="http://schemas.microsoft.com/office/powerpoint/2010/main" val="39286717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ED47F-8992-10FF-BFD9-17C6A283F18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53E6675-9CDC-6C46-23BF-568E44FE1AC6}"/>
              </a:ext>
            </a:extLst>
          </p:cNvPr>
          <p:cNvSpPr>
            <a:spLocks noGrp="1"/>
          </p:cNvSpPr>
          <p:nvPr>
            <p:ph idx="1"/>
          </p:nvPr>
        </p:nvSpPr>
        <p:spPr/>
        <p:txBody>
          <a:bodyPr>
            <a:normAutofit lnSpcReduction="10000"/>
          </a:bodyPr>
          <a:lstStyle/>
          <a:p>
            <a:r>
              <a:rPr lang="en-IN" dirty="0"/>
              <a:t>(0×100)</a:t>
            </a:r>
          </a:p>
          <a:p>
            <a:r>
              <a:rPr lang="en-IN" dirty="0"/>
              <a:t>+(-1×100)</a:t>
            </a:r>
          </a:p>
          <a:p>
            <a:r>
              <a:rPr lang="en-IN" dirty="0"/>
              <a:t>+(0×100)</a:t>
            </a:r>
          </a:p>
          <a:p>
            <a:r>
              <a:rPr lang="en-IN" dirty="0"/>
              <a:t>+(-1×100)</a:t>
            </a:r>
          </a:p>
          <a:p>
            <a:r>
              <a:rPr lang="en-IN" dirty="0"/>
              <a:t>+(5×120)</a:t>
            </a:r>
          </a:p>
          <a:p>
            <a:r>
              <a:rPr lang="en-IN" dirty="0"/>
              <a:t>+(-1×100)</a:t>
            </a:r>
          </a:p>
          <a:p>
            <a:r>
              <a:rPr lang="en-IN" dirty="0"/>
              <a:t>+(0×100)</a:t>
            </a:r>
          </a:p>
          <a:p>
            <a:r>
              <a:rPr lang="en-IN" dirty="0"/>
              <a:t>+(-1×100)</a:t>
            </a:r>
          </a:p>
          <a:p>
            <a:r>
              <a:rPr lang="en-IN" dirty="0"/>
              <a:t>+(0×100)</a:t>
            </a:r>
          </a:p>
        </p:txBody>
      </p:sp>
    </p:spTree>
    <p:extLst>
      <p:ext uri="{BB962C8B-B14F-4D97-AF65-F5344CB8AC3E}">
        <p14:creationId xmlns:p14="http://schemas.microsoft.com/office/powerpoint/2010/main" val="23199574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36A1A-7DAF-AB1C-F349-C711BA8C3A5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B28C30F-332E-7269-DEF8-5B35ADD30921}"/>
              </a:ext>
            </a:extLst>
          </p:cNvPr>
          <p:cNvSpPr>
            <a:spLocks noGrp="1"/>
          </p:cNvSpPr>
          <p:nvPr>
            <p:ph idx="1"/>
          </p:nvPr>
        </p:nvSpPr>
        <p:spPr/>
        <p:txBody>
          <a:bodyPr/>
          <a:lstStyle/>
          <a:p>
            <a:r>
              <a:rPr lang="en-IN" dirty="0"/>
              <a:t>Simplify:</a:t>
            </a:r>
          </a:p>
          <a:p>
            <a:r>
              <a:rPr lang="en-IN" dirty="0"/>
              <a:t>= -100 -100 +600 -100 -100= 200</a:t>
            </a:r>
          </a:p>
          <a:p>
            <a:r>
              <a:rPr lang="en-IN" dirty="0"/>
              <a:t>So:</a:t>
            </a:r>
          </a:p>
          <a:p>
            <a:r>
              <a:rPr lang="en-IN" dirty="0"/>
              <a:t>120 → 200</a:t>
            </a:r>
          </a:p>
          <a:p>
            <a:r>
              <a:rPr lang="en-IN" dirty="0"/>
              <a:t>The </a:t>
            </a:r>
            <a:r>
              <a:rPr lang="en-IN" dirty="0" err="1"/>
              <a:t>center</a:t>
            </a:r>
            <a:r>
              <a:rPr lang="en-IN" dirty="0"/>
              <a:t> becomes brighter than its surroundings, making the edge stand out.</a:t>
            </a:r>
          </a:p>
        </p:txBody>
      </p:sp>
    </p:spTree>
    <p:extLst>
      <p:ext uri="{BB962C8B-B14F-4D97-AF65-F5344CB8AC3E}">
        <p14:creationId xmlns:p14="http://schemas.microsoft.com/office/powerpoint/2010/main" val="26463789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4210C-E5E2-7101-BFC5-30401922E3A2}"/>
              </a:ext>
            </a:extLst>
          </p:cNvPr>
          <p:cNvSpPr>
            <a:spLocks noGrp="1"/>
          </p:cNvSpPr>
          <p:nvPr>
            <p:ph type="title"/>
          </p:nvPr>
        </p:nvSpPr>
        <p:spPr/>
        <p:txBody>
          <a:bodyPr/>
          <a:lstStyle/>
          <a:p>
            <a:r>
              <a:rPr lang="en-IN" dirty="0"/>
              <a:t>HISTOGRAM</a:t>
            </a:r>
          </a:p>
        </p:txBody>
      </p:sp>
      <p:sp>
        <p:nvSpPr>
          <p:cNvPr id="3" name="Content Placeholder 2">
            <a:extLst>
              <a:ext uri="{FF2B5EF4-FFF2-40B4-BE49-F238E27FC236}">
                <a16:creationId xmlns:a16="http://schemas.microsoft.com/office/drawing/2014/main" id="{A589FAA8-52D0-A34D-8C11-805B7C6FB9AF}"/>
              </a:ext>
            </a:extLst>
          </p:cNvPr>
          <p:cNvSpPr>
            <a:spLocks noGrp="1"/>
          </p:cNvSpPr>
          <p:nvPr>
            <p:ph idx="1"/>
          </p:nvPr>
        </p:nvSpPr>
        <p:spPr/>
        <p:txBody>
          <a:bodyPr/>
          <a:lstStyle/>
          <a:p>
            <a:r>
              <a:rPr lang="en-IN" dirty="0"/>
              <a:t>A </a:t>
            </a:r>
            <a:r>
              <a:rPr lang="en-IN" b="1" dirty="0"/>
              <a:t>histogram</a:t>
            </a:r>
            <a:r>
              <a:rPr lang="en-IN" dirty="0"/>
              <a:t> is a graph that shows </a:t>
            </a:r>
            <a:r>
              <a:rPr lang="en-IN" b="1" dirty="0"/>
              <a:t>how many times each pixel intensity appears in an image</a:t>
            </a:r>
            <a:r>
              <a:rPr lang="en-IN" dirty="0"/>
              <a:t>.</a:t>
            </a:r>
          </a:p>
          <a:p>
            <a:r>
              <a:rPr lang="en-IN" dirty="0"/>
              <a:t>A histogram tells you </a:t>
            </a:r>
            <a:r>
              <a:rPr lang="en-IN" b="1" dirty="0"/>
              <a:t>how the brightness values are distributed</a:t>
            </a:r>
            <a:r>
              <a:rPr lang="en-IN" dirty="0"/>
              <a:t> in an image.</a:t>
            </a:r>
          </a:p>
          <a:p>
            <a:r>
              <a:rPr lang="en-IN" dirty="0"/>
              <a:t>20   20   50</a:t>
            </a:r>
          </a:p>
          <a:p>
            <a:r>
              <a:rPr lang="en-IN" dirty="0"/>
              <a:t>50  100  100</a:t>
            </a:r>
          </a:p>
          <a:p>
            <a:r>
              <a:rPr lang="en-IN" dirty="0"/>
              <a:t>150 150  255</a:t>
            </a:r>
          </a:p>
        </p:txBody>
      </p:sp>
    </p:spTree>
    <p:extLst>
      <p:ext uri="{BB962C8B-B14F-4D97-AF65-F5344CB8AC3E}">
        <p14:creationId xmlns:p14="http://schemas.microsoft.com/office/powerpoint/2010/main" val="3413819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D001D-5F2F-1EB7-334C-1E86F52659F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C802BAB-296C-9651-DC7F-62FDD79A27CD}"/>
              </a:ext>
            </a:extLst>
          </p:cNvPr>
          <p:cNvSpPr>
            <a:spLocks noGrp="1"/>
          </p:cNvSpPr>
          <p:nvPr>
            <p:ph idx="1"/>
          </p:nvPr>
        </p:nvSpPr>
        <p:spPr/>
        <p:txBody>
          <a:bodyPr/>
          <a:lstStyle/>
          <a:p>
            <a:r>
              <a:rPr lang="en-IN" dirty="0"/>
              <a:t>The histogram would count how many times each intensity occurs:</a:t>
            </a:r>
          </a:p>
          <a:p>
            <a:endParaRPr lang="en-IN" dirty="0"/>
          </a:p>
        </p:txBody>
      </p:sp>
      <p:graphicFrame>
        <p:nvGraphicFramePr>
          <p:cNvPr id="4" name="Table 3">
            <a:extLst>
              <a:ext uri="{FF2B5EF4-FFF2-40B4-BE49-F238E27FC236}">
                <a16:creationId xmlns:a16="http://schemas.microsoft.com/office/drawing/2014/main" id="{8088B396-0947-0097-44D1-EC015E67EA84}"/>
              </a:ext>
            </a:extLst>
          </p:cNvPr>
          <p:cNvGraphicFramePr>
            <a:graphicFrameLocks noGrp="1"/>
          </p:cNvGraphicFramePr>
          <p:nvPr/>
        </p:nvGraphicFramePr>
        <p:xfrm>
          <a:off x="838200" y="2904014"/>
          <a:ext cx="10515600" cy="2194560"/>
        </p:xfrm>
        <a:graphic>
          <a:graphicData uri="http://schemas.openxmlformats.org/drawingml/2006/table">
            <a:tbl>
              <a:tblPr/>
              <a:tblGrid>
                <a:gridCol w="5257800">
                  <a:extLst>
                    <a:ext uri="{9D8B030D-6E8A-4147-A177-3AD203B41FA5}">
                      <a16:colId xmlns:a16="http://schemas.microsoft.com/office/drawing/2014/main" val="3596576302"/>
                    </a:ext>
                  </a:extLst>
                </a:gridCol>
                <a:gridCol w="5257800">
                  <a:extLst>
                    <a:ext uri="{9D8B030D-6E8A-4147-A177-3AD203B41FA5}">
                      <a16:colId xmlns:a16="http://schemas.microsoft.com/office/drawing/2014/main" val="3285671325"/>
                    </a:ext>
                  </a:extLst>
                </a:gridCol>
              </a:tblGrid>
              <a:tr h="0">
                <a:tc>
                  <a:txBody>
                    <a:bodyPr/>
                    <a:lstStyle/>
                    <a:p>
                      <a:pPr>
                        <a:buNone/>
                      </a:pPr>
                      <a:r>
                        <a:rPr lang="en-IN"/>
                        <a:t>Pixel Intensity</a:t>
                      </a:r>
                    </a:p>
                  </a:txBody>
                  <a:tcPr anchor="ctr">
                    <a:lnL>
                      <a:noFill/>
                    </a:lnL>
                    <a:lnR>
                      <a:noFill/>
                    </a:lnR>
                    <a:lnT>
                      <a:noFill/>
                    </a:lnT>
                    <a:lnB>
                      <a:noFill/>
                    </a:lnB>
                    <a:noFill/>
                  </a:tcPr>
                </a:tc>
                <a:tc>
                  <a:txBody>
                    <a:bodyPr/>
                    <a:lstStyle/>
                    <a:p>
                      <a:pPr>
                        <a:buNone/>
                      </a:pPr>
                      <a:r>
                        <a:rPr lang="en-IN"/>
                        <a:t>Number of Pixels</a:t>
                      </a:r>
                    </a:p>
                  </a:txBody>
                  <a:tcPr anchor="ctr">
                    <a:lnL>
                      <a:noFill/>
                    </a:lnL>
                    <a:lnR>
                      <a:noFill/>
                    </a:lnR>
                    <a:lnT>
                      <a:noFill/>
                    </a:lnT>
                    <a:lnB>
                      <a:noFill/>
                    </a:lnB>
                    <a:noFill/>
                  </a:tcPr>
                </a:tc>
                <a:extLst>
                  <a:ext uri="{0D108BD9-81ED-4DB2-BD59-A6C34878D82A}">
                    <a16:rowId xmlns:a16="http://schemas.microsoft.com/office/drawing/2014/main" val="755333388"/>
                  </a:ext>
                </a:extLst>
              </a:tr>
              <a:tr h="0">
                <a:tc>
                  <a:txBody>
                    <a:bodyPr/>
                    <a:lstStyle/>
                    <a:p>
                      <a:pPr>
                        <a:buNone/>
                      </a:pPr>
                      <a:r>
                        <a:rPr lang="en-IN"/>
                        <a:t>20</a:t>
                      </a:r>
                    </a:p>
                  </a:txBody>
                  <a:tcPr anchor="ctr">
                    <a:lnL>
                      <a:noFill/>
                    </a:lnL>
                    <a:lnR>
                      <a:noFill/>
                    </a:lnR>
                    <a:lnT>
                      <a:noFill/>
                    </a:lnT>
                    <a:lnB>
                      <a:noFill/>
                    </a:lnB>
                    <a:noFill/>
                  </a:tcPr>
                </a:tc>
                <a:tc>
                  <a:txBody>
                    <a:bodyPr/>
                    <a:lstStyle/>
                    <a:p>
                      <a:pPr>
                        <a:buNone/>
                      </a:pPr>
                      <a:r>
                        <a:rPr lang="en-IN"/>
                        <a:t>2</a:t>
                      </a:r>
                    </a:p>
                  </a:txBody>
                  <a:tcPr anchor="ctr">
                    <a:lnL>
                      <a:noFill/>
                    </a:lnL>
                    <a:lnR>
                      <a:noFill/>
                    </a:lnR>
                    <a:lnT>
                      <a:noFill/>
                    </a:lnT>
                    <a:lnB>
                      <a:noFill/>
                    </a:lnB>
                    <a:noFill/>
                  </a:tcPr>
                </a:tc>
                <a:extLst>
                  <a:ext uri="{0D108BD9-81ED-4DB2-BD59-A6C34878D82A}">
                    <a16:rowId xmlns:a16="http://schemas.microsoft.com/office/drawing/2014/main" val="2263445348"/>
                  </a:ext>
                </a:extLst>
              </a:tr>
              <a:tr h="0">
                <a:tc>
                  <a:txBody>
                    <a:bodyPr/>
                    <a:lstStyle/>
                    <a:p>
                      <a:pPr>
                        <a:buNone/>
                      </a:pPr>
                      <a:r>
                        <a:rPr lang="en-IN"/>
                        <a:t>50</a:t>
                      </a:r>
                    </a:p>
                  </a:txBody>
                  <a:tcPr anchor="ctr">
                    <a:lnL>
                      <a:noFill/>
                    </a:lnL>
                    <a:lnR>
                      <a:noFill/>
                    </a:lnR>
                    <a:lnT>
                      <a:noFill/>
                    </a:lnT>
                    <a:lnB>
                      <a:noFill/>
                    </a:lnB>
                    <a:noFill/>
                  </a:tcPr>
                </a:tc>
                <a:tc>
                  <a:txBody>
                    <a:bodyPr/>
                    <a:lstStyle/>
                    <a:p>
                      <a:pPr>
                        <a:buNone/>
                      </a:pPr>
                      <a:r>
                        <a:rPr lang="en-IN"/>
                        <a:t>2</a:t>
                      </a:r>
                    </a:p>
                  </a:txBody>
                  <a:tcPr anchor="ctr">
                    <a:lnL>
                      <a:noFill/>
                    </a:lnL>
                    <a:lnR>
                      <a:noFill/>
                    </a:lnR>
                    <a:lnT>
                      <a:noFill/>
                    </a:lnT>
                    <a:lnB>
                      <a:noFill/>
                    </a:lnB>
                    <a:noFill/>
                  </a:tcPr>
                </a:tc>
                <a:extLst>
                  <a:ext uri="{0D108BD9-81ED-4DB2-BD59-A6C34878D82A}">
                    <a16:rowId xmlns:a16="http://schemas.microsoft.com/office/drawing/2014/main" val="2820064952"/>
                  </a:ext>
                </a:extLst>
              </a:tr>
              <a:tr h="0">
                <a:tc>
                  <a:txBody>
                    <a:bodyPr/>
                    <a:lstStyle/>
                    <a:p>
                      <a:pPr>
                        <a:buNone/>
                      </a:pPr>
                      <a:r>
                        <a:rPr lang="en-IN"/>
                        <a:t>100</a:t>
                      </a:r>
                    </a:p>
                  </a:txBody>
                  <a:tcPr anchor="ctr">
                    <a:lnL>
                      <a:noFill/>
                    </a:lnL>
                    <a:lnR>
                      <a:noFill/>
                    </a:lnR>
                    <a:lnT>
                      <a:noFill/>
                    </a:lnT>
                    <a:lnB>
                      <a:noFill/>
                    </a:lnB>
                    <a:noFill/>
                  </a:tcPr>
                </a:tc>
                <a:tc>
                  <a:txBody>
                    <a:bodyPr/>
                    <a:lstStyle/>
                    <a:p>
                      <a:pPr>
                        <a:buNone/>
                      </a:pPr>
                      <a:r>
                        <a:rPr lang="en-IN"/>
                        <a:t>2</a:t>
                      </a:r>
                    </a:p>
                  </a:txBody>
                  <a:tcPr anchor="ctr">
                    <a:lnL>
                      <a:noFill/>
                    </a:lnL>
                    <a:lnR>
                      <a:noFill/>
                    </a:lnR>
                    <a:lnT>
                      <a:noFill/>
                    </a:lnT>
                    <a:lnB>
                      <a:noFill/>
                    </a:lnB>
                    <a:noFill/>
                  </a:tcPr>
                </a:tc>
                <a:extLst>
                  <a:ext uri="{0D108BD9-81ED-4DB2-BD59-A6C34878D82A}">
                    <a16:rowId xmlns:a16="http://schemas.microsoft.com/office/drawing/2014/main" val="996784058"/>
                  </a:ext>
                </a:extLst>
              </a:tr>
              <a:tr h="0">
                <a:tc>
                  <a:txBody>
                    <a:bodyPr/>
                    <a:lstStyle/>
                    <a:p>
                      <a:pPr>
                        <a:buNone/>
                      </a:pPr>
                      <a:r>
                        <a:rPr lang="en-IN"/>
                        <a:t>150</a:t>
                      </a:r>
                    </a:p>
                  </a:txBody>
                  <a:tcPr anchor="ctr">
                    <a:lnL>
                      <a:noFill/>
                    </a:lnL>
                    <a:lnR>
                      <a:noFill/>
                    </a:lnR>
                    <a:lnT>
                      <a:noFill/>
                    </a:lnT>
                    <a:lnB>
                      <a:noFill/>
                    </a:lnB>
                    <a:noFill/>
                  </a:tcPr>
                </a:tc>
                <a:tc>
                  <a:txBody>
                    <a:bodyPr/>
                    <a:lstStyle/>
                    <a:p>
                      <a:pPr>
                        <a:buNone/>
                      </a:pPr>
                      <a:r>
                        <a:rPr lang="en-IN"/>
                        <a:t>2</a:t>
                      </a:r>
                    </a:p>
                  </a:txBody>
                  <a:tcPr anchor="ctr">
                    <a:lnL>
                      <a:noFill/>
                    </a:lnL>
                    <a:lnR>
                      <a:noFill/>
                    </a:lnR>
                    <a:lnT>
                      <a:noFill/>
                    </a:lnT>
                    <a:lnB>
                      <a:noFill/>
                    </a:lnB>
                    <a:noFill/>
                  </a:tcPr>
                </a:tc>
                <a:extLst>
                  <a:ext uri="{0D108BD9-81ED-4DB2-BD59-A6C34878D82A}">
                    <a16:rowId xmlns:a16="http://schemas.microsoft.com/office/drawing/2014/main" val="154581702"/>
                  </a:ext>
                </a:extLst>
              </a:tr>
              <a:tr h="0">
                <a:tc>
                  <a:txBody>
                    <a:bodyPr/>
                    <a:lstStyle/>
                    <a:p>
                      <a:pPr>
                        <a:buNone/>
                      </a:pPr>
                      <a:r>
                        <a:rPr lang="en-IN"/>
                        <a:t>255</a:t>
                      </a:r>
                    </a:p>
                  </a:txBody>
                  <a:tcPr anchor="ctr">
                    <a:lnL>
                      <a:noFill/>
                    </a:lnL>
                    <a:lnR>
                      <a:noFill/>
                    </a:lnR>
                    <a:lnT>
                      <a:noFill/>
                    </a:lnT>
                    <a:lnB>
                      <a:noFill/>
                    </a:lnB>
                    <a:noFill/>
                  </a:tcPr>
                </a:tc>
                <a:tc>
                  <a:txBody>
                    <a:bodyPr/>
                    <a:lstStyle/>
                    <a:p>
                      <a:pPr>
                        <a:buNone/>
                      </a:pPr>
                      <a:r>
                        <a:rPr lang="en-IN" dirty="0"/>
                        <a:t>1</a:t>
                      </a:r>
                    </a:p>
                  </a:txBody>
                  <a:tcPr anchor="ctr">
                    <a:lnL>
                      <a:noFill/>
                    </a:lnL>
                    <a:lnR>
                      <a:noFill/>
                    </a:lnR>
                    <a:lnT>
                      <a:noFill/>
                    </a:lnT>
                    <a:lnB>
                      <a:noFill/>
                    </a:lnB>
                    <a:noFill/>
                  </a:tcPr>
                </a:tc>
                <a:extLst>
                  <a:ext uri="{0D108BD9-81ED-4DB2-BD59-A6C34878D82A}">
                    <a16:rowId xmlns:a16="http://schemas.microsoft.com/office/drawing/2014/main" val="1549478078"/>
                  </a:ext>
                </a:extLst>
              </a:tr>
            </a:tbl>
          </a:graphicData>
        </a:graphic>
      </p:graphicFrame>
    </p:spTree>
    <p:extLst>
      <p:ext uri="{BB962C8B-B14F-4D97-AF65-F5344CB8AC3E}">
        <p14:creationId xmlns:p14="http://schemas.microsoft.com/office/powerpoint/2010/main" val="40557619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87BB7-231C-4A71-7063-2522790604E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EC48EBB4-98B2-7382-88B6-CD178E451ED7}"/>
              </a:ext>
            </a:extLst>
          </p:cNvPr>
          <p:cNvPicPr>
            <a:picLocks noGrp="1" noChangeAspect="1"/>
          </p:cNvPicPr>
          <p:nvPr>
            <p:ph idx="1"/>
          </p:nvPr>
        </p:nvPicPr>
        <p:blipFill>
          <a:blip r:embed="rId2"/>
          <a:stretch>
            <a:fillRect/>
          </a:stretch>
        </p:blipFill>
        <p:spPr>
          <a:xfrm>
            <a:off x="2832496" y="1825625"/>
            <a:ext cx="6527007" cy="4351338"/>
          </a:xfrm>
          <a:prstGeom prst="rect">
            <a:avLst/>
          </a:prstGeom>
        </p:spPr>
      </p:pic>
    </p:spTree>
    <p:extLst>
      <p:ext uri="{BB962C8B-B14F-4D97-AF65-F5344CB8AC3E}">
        <p14:creationId xmlns:p14="http://schemas.microsoft.com/office/powerpoint/2010/main" val="36152897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7370A-88B1-DA7D-06E7-EF458E5DCA6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EBD11BC-9C38-2549-860A-25A1D8FA5139}"/>
              </a:ext>
            </a:extLst>
          </p:cNvPr>
          <p:cNvSpPr>
            <a:spLocks noGrp="1"/>
          </p:cNvSpPr>
          <p:nvPr>
            <p:ph idx="1"/>
          </p:nvPr>
        </p:nvSpPr>
        <p:spPr/>
        <p:txBody>
          <a:bodyPr/>
          <a:lstStyle/>
          <a:p>
            <a:r>
              <a:rPr lang="en-IN" b="1" dirty="0"/>
              <a:t>In Images</a:t>
            </a:r>
          </a:p>
          <a:p>
            <a:r>
              <a:rPr lang="en-IN" dirty="0"/>
              <a:t>A grayscale image has pixel values from:</a:t>
            </a:r>
          </a:p>
          <a:p>
            <a:pPr lvl="0"/>
            <a:r>
              <a:rPr lang="en-IN" b="1" dirty="0"/>
              <a:t>0</a:t>
            </a:r>
            <a:r>
              <a:rPr lang="en-IN" dirty="0"/>
              <a:t> → Black </a:t>
            </a:r>
          </a:p>
          <a:p>
            <a:pPr lvl="0"/>
            <a:r>
              <a:rPr lang="en-IN" b="1" dirty="0"/>
              <a:t>255</a:t>
            </a:r>
            <a:r>
              <a:rPr lang="en-IN" dirty="0"/>
              <a:t> → White </a:t>
            </a:r>
          </a:p>
          <a:p>
            <a:r>
              <a:rPr lang="en-IN" dirty="0"/>
              <a:t>The histogram counts how many pixels have each value between </a:t>
            </a:r>
            <a:r>
              <a:rPr lang="en-IN" b="1" dirty="0"/>
              <a:t>0 and 255</a:t>
            </a:r>
            <a:r>
              <a:rPr lang="en-IN" dirty="0"/>
              <a:t>.</a:t>
            </a:r>
          </a:p>
          <a:p>
            <a:endParaRPr lang="en-IN" dirty="0"/>
          </a:p>
        </p:txBody>
      </p:sp>
    </p:spTree>
    <p:extLst>
      <p:ext uri="{BB962C8B-B14F-4D97-AF65-F5344CB8AC3E}">
        <p14:creationId xmlns:p14="http://schemas.microsoft.com/office/powerpoint/2010/main" val="15477389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F1AB9-0E78-EBD1-9196-6486210CC0C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ED39EAC-D6FB-42EC-420E-FDB41C8D6218}"/>
              </a:ext>
            </a:extLst>
          </p:cNvPr>
          <p:cNvSpPr>
            <a:spLocks noGrp="1"/>
          </p:cNvSpPr>
          <p:nvPr>
            <p:ph idx="1"/>
          </p:nvPr>
        </p:nvSpPr>
        <p:spPr/>
        <p:txBody>
          <a:bodyPr/>
          <a:lstStyle/>
          <a:p>
            <a:r>
              <a:rPr lang="en-IN" dirty="0"/>
              <a:t>For example:</a:t>
            </a:r>
          </a:p>
          <a:p>
            <a:r>
              <a:rPr lang="en-IN" dirty="0"/>
              <a:t>Pixel Value : Count</a:t>
            </a:r>
          </a:p>
          <a:p>
            <a:endParaRPr lang="en-IN" dirty="0"/>
          </a:p>
          <a:p>
            <a:r>
              <a:rPr lang="en-IN" dirty="0"/>
              <a:t>0   → 500 pixels</a:t>
            </a:r>
          </a:p>
          <a:p>
            <a:r>
              <a:rPr lang="en-IN" dirty="0"/>
              <a:t>1   → 450 pixels</a:t>
            </a:r>
          </a:p>
          <a:p>
            <a:r>
              <a:rPr lang="en-IN" dirty="0"/>
              <a:t>2   → 430 pixels</a:t>
            </a:r>
          </a:p>
          <a:p>
            <a:r>
              <a:rPr lang="en-IN" dirty="0"/>
              <a:t>...</a:t>
            </a:r>
          </a:p>
          <a:p>
            <a:r>
              <a:rPr lang="en-IN" dirty="0"/>
              <a:t>255 → 120 pixels</a:t>
            </a:r>
          </a:p>
          <a:p>
            <a:endParaRPr lang="en-IN" dirty="0"/>
          </a:p>
        </p:txBody>
      </p:sp>
    </p:spTree>
    <p:extLst>
      <p:ext uri="{BB962C8B-B14F-4D97-AF65-F5344CB8AC3E}">
        <p14:creationId xmlns:p14="http://schemas.microsoft.com/office/powerpoint/2010/main" val="422021681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8CEB3-F0B2-699C-1DD5-D19D80F5D02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A2D63D9-093A-E7A5-A3D8-2607B11D2F3E}"/>
              </a:ext>
            </a:extLst>
          </p:cNvPr>
          <p:cNvSpPr>
            <a:spLocks noGrp="1"/>
          </p:cNvSpPr>
          <p:nvPr>
            <p:ph idx="1"/>
          </p:nvPr>
        </p:nvSpPr>
        <p:spPr/>
        <p:txBody>
          <a:bodyPr/>
          <a:lstStyle/>
          <a:p>
            <a:r>
              <a:rPr lang="en-IN" b="1" dirty="0"/>
              <a:t>Why is it useful?</a:t>
            </a:r>
          </a:p>
          <a:p>
            <a:r>
              <a:rPr lang="en-IN" dirty="0"/>
              <a:t>A histogram helps you understand an image's brightness.</a:t>
            </a:r>
          </a:p>
          <a:p>
            <a:r>
              <a:rPr lang="en-IN" b="1" dirty="0"/>
              <a:t>1. Dark Image</a:t>
            </a:r>
          </a:p>
          <a:p>
            <a:r>
              <a:rPr lang="en-IN" dirty="0"/>
              <a:t>Most pixels are close to </a:t>
            </a:r>
            <a:r>
              <a:rPr lang="en-IN" b="1" dirty="0"/>
              <a:t>0</a:t>
            </a:r>
            <a:r>
              <a:rPr lang="en-IN" dirty="0"/>
              <a:t>.</a:t>
            </a:r>
          </a:p>
          <a:p>
            <a:r>
              <a:rPr lang="en-IN" dirty="0"/>
              <a:t>The image appears mostly black or dark.</a:t>
            </a:r>
          </a:p>
          <a:p>
            <a:r>
              <a:rPr lang="en-IN" b="1" dirty="0"/>
              <a:t>2. Bright Image</a:t>
            </a:r>
          </a:p>
          <a:p>
            <a:r>
              <a:rPr lang="en-IN" dirty="0"/>
              <a:t>Most pixels are close to </a:t>
            </a:r>
            <a:r>
              <a:rPr lang="en-IN" b="1" dirty="0"/>
              <a:t>255</a:t>
            </a:r>
            <a:r>
              <a:rPr lang="en-IN" dirty="0"/>
              <a:t>.</a:t>
            </a:r>
          </a:p>
          <a:p>
            <a:r>
              <a:rPr lang="en-IN" dirty="0"/>
              <a:t>The image appears mostly white or bright.</a:t>
            </a:r>
          </a:p>
        </p:txBody>
      </p:sp>
    </p:spTree>
    <p:extLst>
      <p:ext uri="{BB962C8B-B14F-4D97-AF65-F5344CB8AC3E}">
        <p14:creationId xmlns:p14="http://schemas.microsoft.com/office/powerpoint/2010/main" val="19260337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57E2C-5B3C-D241-B4A6-5D9720C2467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86AFFD8-F6FD-0B48-0681-2E8CB704503C}"/>
              </a:ext>
            </a:extLst>
          </p:cNvPr>
          <p:cNvSpPr>
            <a:spLocks noGrp="1"/>
          </p:cNvSpPr>
          <p:nvPr>
            <p:ph idx="1"/>
          </p:nvPr>
        </p:nvSpPr>
        <p:spPr/>
        <p:txBody>
          <a:bodyPr/>
          <a:lstStyle/>
          <a:p>
            <a:r>
              <a:rPr lang="en-IN" b="1" dirty="0"/>
              <a:t>3. High Contrast Image</a:t>
            </a:r>
          </a:p>
          <a:p>
            <a:r>
              <a:rPr lang="en-IN" dirty="0"/>
              <a:t>Pixels are spread across the full range.</a:t>
            </a:r>
          </a:p>
          <a:p>
            <a:r>
              <a:rPr lang="en-IN" dirty="0"/>
              <a:t>The image has good contrast with dark, </a:t>
            </a:r>
            <a:r>
              <a:rPr lang="en-IN" dirty="0" err="1"/>
              <a:t>gray</a:t>
            </a:r>
            <a:r>
              <a:rPr lang="en-IN" dirty="0"/>
              <a:t>, and bright regions.</a:t>
            </a:r>
          </a:p>
          <a:p>
            <a:r>
              <a:rPr lang="en-IN" b="1" dirty="0"/>
              <a:t>4. Low Contrast Image</a:t>
            </a:r>
          </a:p>
          <a:p>
            <a:r>
              <a:rPr lang="en-IN" dirty="0"/>
              <a:t>Most pixels are concentrated in the middle.</a:t>
            </a:r>
          </a:p>
          <a:p>
            <a:r>
              <a:rPr lang="en-IN" dirty="0"/>
              <a:t>The image looks dull because it uses only a small range of brightness values.</a:t>
            </a:r>
          </a:p>
        </p:txBody>
      </p:sp>
    </p:spTree>
    <p:extLst>
      <p:ext uri="{BB962C8B-B14F-4D97-AF65-F5344CB8AC3E}">
        <p14:creationId xmlns:p14="http://schemas.microsoft.com/office/powerpoint/2010/main" val="30869834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ADE69-8EAB-3FD6-BAD0-A55434A07246}"/>
              </a:ext>
            </a:extLst>
          </p:cNvPr>
          <p:cNvSpPr>
            <a:spLocks noGrp="1"/>
          </p:cNvSpPr>
          <p:nvPr>
            <p:ph type="title"/>
          </p:nvPr>
        </p:nvSpPr>
        <p:spPr/>
        <p:txBody>
          <a:bodyPr/>
          <a:lstStyle/>
          <a:p>
            <a:r>
              <a:rPr lang="en-IN" dirty="0"/>
              <a:t>How OpenCV calculates it</a:t>
            </a:r>
          </a:p>
        </p:txBody>
      </p:sp>
      <p:sp>
        <p:nvSpPr>
          <p:cNvPr id="3" name="Content Placeholder 2">
            <a:extLst>
              <a:ext uri="{FF2B5EF4-FFF2-40B4-BE49-F238E27FC236}">
                <a16:creationId xmlns:a16="http://schemas.microsoft.com/office/drawing/2014/main" id="{431A1DAA-EEC3-D05E-2448-FD4836556E59}"/>
              </a:ext>
            </a:extLst>
          </p:cNvPr>
          <p:cNvSpPr>
            <a:spLocks noGrp="1"/>
          </p:cNvSpPr>
          <p:nvPr>
            <p:ph idx="1"/>
          </p:nvPr>
        </p:nvSpPr>
        <p:spPr/>
        <p:txBody>
          <a:bodyPr/>
          <a:lstStyle/>
          <a:p>
            <a:r>
              <a:rPr lang="en-US" dirty="0"/>
              <a:t>hist = cv2.calcHist([gray], [0], None, [256], [0, 256])</a:t>
            </a:r>
          </a:p>
          <a:p>
            <a:r>
              <a:rPr lang="en-IN" dirty="0"/>
              <a:t>This counts the number of pixels for every grayscale value from </a:t>
            </a:r>
            <a:r>
              <a:rPr lang="en-IN" b="1" dirty="0"/>
              <a:t>0 to 255</a:t>
            </a:r>
            <a:r>
              <a:rPr lang="en-IN" dirty="0"/>
              <a:t>.</a:t>
            </a:r>
          </a:p>
          <a:p>
            <a:r>
              <a:rPr lang="en-IN" dirty="0"/>
              <a:t>First Arg= Image</a:t>
            </a:r>
          </a:p>
          <a:p>
            <a:r>
              <a:rPr lang="en-IN" dirty="0"/>
              <a:t>Second Arg= </a:t>
            </a:r>
            <a:r>
              <a:rPr lang="en-IN" dirty="0" err="1"/>
              <a:t>Color</a:t>
            </a:r>
            <a:r>
              <a:rPr lang="en-IN" dirty="0"/>
              <a:t> channel</a:t>
            </a:r>
          </a:p>
          <a:p>
            <a:r>
              <a:rPr lang="en-IN" dirty="0"/>
              <a:t>Third argument= None means Use the entire image.</a:t>
            </a:r>
          </a:p>
          <a:p>
            <a:r>
              <a:rPr lang="en-IN" dirty="0"/>
              <a:t>If you wanted only part of the image, you could provide a mask.</a:t>
            </a:r>
          </a:p>
          <a:p>
            <a:endParaRPr lang="en-IN" dirty="0"/>
          </a:p>
        </p:txBody>
      </p:sp>
    </p:spTree>
    <p:extLst>
      <p:ext uri="{BB962C8B-B14F-4D97-AF65-F5344CB8AC3E}">
        <p14:creationId xmlns:p14="http://schemas.microsoft.com/office/powerpoint/2010/main" val="15102197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BA110-7329-F1C4-E630-CEEBDC4A6E3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30676B5-5602-54DD-FDE8-DF0C7B0FE771}"/>
              </a:ext>
            </a:extLst>
          </p:cNvPr>
          <p:cNvSpPr>
            <a:spLocks noGrp="1"/>
          </p:cNvSpPr>
          <p:nvPr>
            <p:ph idx="1"/>
          </p:nvPr>
        </p:nvSpPr>
        <p:spPr/>
        <p:txBody>
          <a:bodyPr/>
          <a:lstStyle/>
          <a:p>
            <a:r>
              <a:rPr lang="en-IN" dirty="0"/>
              <a:t>Fourth argument= [256]</a:t>
            </a:r>
          </a:p>
          <a:p>
            <a:r>
              <a:rPr lang="en-IN" dirty="0"/>
              <a:t>Number of histogram bins.</a:t>
            </a:r>
          </a:p>
          <a:p>
            <a:r>
              <a:rPr lang="en-IN" dirty="0"/>
              <a:t>Since grayscale has intensity value</a:t>
            </a:r>
          </a:p>
          <a:p>
            <a:r>
              <a:rPr lang="en-IN" dirty="0"/>
              <a:t>0–255 so there are 256 bins</a:t>
            </a:r>
          </a:p>
          <a:p>
            <a:r>
              <a:rPr lang="en-IN" dirty="0"/>
              <a:t>One bin for each intensity value.</a:t>
            </a:r>
          </a:p>
          <a:p>
            <a:r>
              <a:rPr lang="en-IN" dirty="0"/>
              <a:t>Fifth argument= [0,256]</a:t>
            </a:r>
          </a:p>
          <a:p>
            <a:r>
              <a:rPr lang="en-IN" dirty="0"/>
              <a:t>(OpenCV uses the upper bound as exclusive, so [0,256] covers all values 0–255.)</a:t>
            </a:r>
          </a:p>
        </p:txBody>
      </p:sp>
    </p:spTree>
    <p:extLst>
      <p:ext uri="{BB962C8B-B14F-4D97-AF65-F5344CB8AC3E}">
        <p14:creationId xmlns:p14="http://schemas.microsoft.com/office/powerpoint/2010/main" val="2533937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84404-9580-2B5E-04E7-B797062FD4B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CA1DBFA-E923-BA07-5825-A60E70825925}"/>
              </a:ext>
            </a:extLst>
          </p:cNvPr>
          <p:cNvSpPr>
            <a:spLocks noGrp="1"/>
          </p:cNvSpPr>
          <p:nvPr>
            <p:ph idx="1"/>
          </p:nvPr>
        </p:nvSpPr>
        <p:spPr/>
        <p:txBody>
          <a:bodyPr/>
          <a:lstStyle/>
          <a:p>
            <a:r>
              <a:rPr lang="en-IN" dirty="0"/>
              <a:t>A </a:t>
            </a:r>
            <a:r>
              <a:rPr lang="en-IN" b="1" dirty="0"/>
              <a:t>histogram bin</a:t>
            </a:r>
            <a:r>
              <a:rPr lang="en-IN" dirty="0"/>
              <a:t> is a </a:t>
            </a:r>
            <a:r>
              <a:rPr lang="en-IN" b="1" dirty="0"/>
              <a:t>container (or bucket)</a:t>
            </a:r>
            <a:r>
              <a:rPr lang="en-IN" dirty="0"/>
              <a:t> that counts how many values fall within a certain range.</a:t>
            </a:r>
          </a:p>
          <a:p>
            <a:r>
              <a:rPr lang="en-IN" dirty="0"/>
              <a:t>For an </a:t>
            </a:r>
            <a:r>
              <a:rPr lang="en-IN" b="1" dirty="0"/>
              <a:t>8-bit grayscale image</a:t>
            </a:r>
            <a:r>
              <a:rPr lang="en-IN" dirty="0"/>
              <a:t>, pixel values range from:</a:t>
            </a:r>
          </a:p>
          <a:p>
            <a:r>
              <a:rPr lang="en-IN" dirty="0"/>
              <a:t>0 -------------------------&gt; 255</a:t>
            </a:r>
          </a:p>
          <a:p>
            <a:r>
              <a:rPr lang="en-IN" dirty="0"/>
              <a:t>Black                                 White</a:t>
            </a:r>
          </a:p>
          <a:p>
            <a:r>
              <a:rPr lang="en-IN" dirty="0"/>
              <a:t>there are </a:t>
            </a:r>
            <a:r>
              <a:rPr lang="en-IN" b="1" dirty="0"/>
              <a:t>256 bins</a:t>
            </a:r>
            <a:r>
              <a:rPr lang="en-IN" dirty="0"/>
              <a:t>.</a:t>
            </a:r>
          </a:p>
        </p:txBody>
      </p:sp>
    </p:spTree>
    <p:extLst>
      <p:ext uri="{BB962C8B-B14F-4D97-AF65-F5344CB8AC3E}">
        <p14:creationId xmlns:p14="http://schemas.microsoft.com/office/powerpoint/2010/main" val="6036400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12FE0-7D74-FF60-851E-203369912A69}"/>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7086E5C8-485E-9E1C-9B35-F321F74A902A}"/>
              </a:ext>
            </a:extLst>
          </p:cNvPr>
          <p:cNvGraphicFramePr>
            <a:graphicFrameLocks noGrp="1"/>
          </p:cNvGraphicFramePr>
          <p:nvPr>
            <p:ph idx="1"/>
          </p:nvPr>
        </p:nvGraphicFramePr>
        <p:xfrm>
          <a:off x="838200" y="2904014"/>
          <a:ext cx="10515600" cy="2194560"/>
        </p:xfrm>
        <a:graphic>
          <a:graphicData uri="http://schemas.openxmlformats.org/drawingml/2006/table">
            <a:tbl>
              <a:tblPr/>
              <a:tblGrid>
                <a:gridCol w="3505200">
                  <a:extLst>
                    <a:ext uri="{9D8B030D-6E8A-4147-A177-3AD203B41FA5}">
                      <a16:colId xmlns:a16="http://schemas.microsoft.com/office/drawing/2014/main" val="1361911681"/>
                    </a:ext>
                  </a:extLst>
                </a:gridCol>
                <a:gridCol w="3505200">
                  <a:extLst>
                    <a:ext uri="{9D8B030D-6E8A-4147-A177-3AD203B41FA5}">
                      <a16:colId xmlns:a16="http://schemas.microsoft.com/office/drawing/2014/main" val="319090098"/>
                    </a:ext>
                  </a:extLst>
                </a:gridCol>
                <a:gridCol w="3505200">
                  <a:extLst>
                    <a:ext uri="{9D8B030D-6E8A-4147-A177-3AD203B41FA5}">
                      <a16:colId xmlns:a16="http://schemas.microsoft.com/office/drawing/2014/main" val="2161885341"/>
                    </a:ext>
                  </a:extLst>
                </a:gridCol>
              </a:tblGrid>
              <a:tr h="0">
                <a:tc>
                  <a:txBody>
                    <a:bodyPr/>
                    <a:lstStyle/>
                    <a:p>
                      <a:pPr>
                        <a:buNone/>
                      </a:pPr>
                      <a:r>
                        <a:rPr lang="en-IN"/>
                        <a:t>Bin Number</a:t>
                      </a:r>
                    </a:p>
                  </a:txBody>
                  <a:tcPr anchor="ctr">
                    <a:lnL>
                      <a:noFill/>
                    </a:lnL>
                    <a:lnR>
                      <a:noFill/>
                    </a:lnR>
                    <a:lnT>
                      <a:noFill/>
                    </a:lnT>
                    <a:lnB>
                      <a:noFill/>
                    </a:lnB>
                    <a:noFill/>
                  </a:tcPr>
                </a:tc>
                <a:tc>
                  <a:txBody>
                    <a:bodyPr/>
                    <a:lstStyle/>
                    <a:p>
                      <a:pPr>
                        <a:buNone/>
                      </a:pPr>
                      <a:r>
                        <a:rPr lang="en-IN"/>
                        <a:t>Pixel Intensity</a:t>
                      </a:r>
                    </a:p>
                  </a:txBody>
                  <a:tcPr anchor="ctr">
                    <a:lnL>
                      <a:noFill/>
                    </a:lnL>
                    <a:lnR>
                      <a:noFill/>
                    </a:lnR>
                    <a:lnT>
                      <a:noFill/>
                    </a:lnT>
                    <a:lnB>
                      <a:noFill/>
                    </a:lnB>
                    <a:noFill/>
                  </a:tcPr>
                </a:tc>
                <a:tc>
                  <a:txBody>
                    <a:bodyPr/>
                    <a:lstStyle/>
                    <a:p>
                      <a:pPr algn="r">
                        <a:buNone/>
                      </a:pPr>
                      <a:r>
                        <a:rPr lang="en-IN"/>
                        <a:t>Count</a:t>
                      </a:r>
                    </a:p>
                  </a:txBody>
                  <a:tcPr anchor="ctr">
                    <a:lnL>
                      <a:noFill/>
                    </a:lnL>
                    <a:lnR>
                      <a:noFill/>
                    </a:lnR>
                    <a:lnT>
                      <a:noFill/>
                    </a:lnT>
                    <a:lnB>
                      <a:noFill/>
                    </a:lnB>
                    <a:noFill/>
                  </a:tcPr>
                </a:tc>
                <a:extLst>
                  <a:ext uri="{0D108BD9-81ED-4DB2-BD59-A6C34878D82A}">
                    <a16:rowId xmlns:a16="http://schemas.microsoft.com/office/drawing/2014/main" val="866615702"/>
                  </a:ext>
                </a:extLst>
              </a:tr>
              <a:tr h="0">
                <a:tc>
                  <a:txBody>
                    <a:bodyPr/>
                    <a:lstStyle/>
                    <a:p>
                      <a:pPr>
                        <a:buNone/>
                      </a:pPr>
                      <a:r>
                        <a:rPr lang="en-IN"/>
                        <a:t>Bin 0</a:t>
                      </a:r>
                    </a:p>
                  </a:txBody>
                  <a:tcPr anchor="ctr">
                    <a:lnL>
                      <a:noFill/>
                    </a:lnL>
                    <a:lnR>
                      <a:noFill/>
                    </a:lnR>
                    <a:lnT>
                      <a:noFill/>
                    </a:lnT>
                    <a:lnB>
                      <a:noFill/>
                    </a:lnB>
                    <a:noFill/>
                  </a:tcPr>
                </a:tc>
                <a:tc>
                  <a:txBody>
                    <a:bodyPr/>
                    <a:lstStyle/>
                    <a:p>
                      <a:pPr>
                        <a:buNone/>
                      </a:pPr>
                      <a:r>
                        <a:rPr lang="en-IN"/>
                        <a:t>0</a:t>
                      </a:r>
                    </a:p>
                  </a:txBody>
                  <a:tcPr anchor="ctr">
                    <a:lnL>
                      <a:noFill/>
                    </a:lnL>
                    <a:lnR>
                      <a:noFill/>
                    </a:lnR>
                    <a:lnT>
                      <a:noFill/>
                    </a:lnT>
                    <a:lnB>
                      <a:noFill/>
                    </a:lnB>
                    <a:noFill/>
                  </a:tcPr>
                </a:tc>
                <a:tc>
                  <a:txBody>
                    <a:bodyPr/>
                    <a:lstStyle/>
                    <a:p>
                      <a:pPr algn="r">
                        <a:buNone/>
                      </a:pPr>
                      <a:r>
                        <a:rPr lang="en-IN" dirty="0"/>
                        <a:t>Number of black pixels</a:t>
                      </a:r>
                    </a:p>
                  </a:txBody>
                  <a:tcPr anchor="ctr">
                    <a:lnL>
                      <a:noFill/>
                    </a:lnL>
                    <a:lnR>
                      <a:noFill/>
                    </a:lnR>
                    <a:lnT>
                      <a:noFill/>
                    </a:lnT>
                    <a:lnB>
                      <a:noFill/>
                    </a:lnB>
                    <a:noFill/>
                  </a:tcPr>
                </a:tc>
                <a:extLst>
                  <a:ext uri="{0D108BD9-81ED-4DB2-BD59-A6C34878D82A}">
                    <a16:rowId xmlns:a16="http://schemas.microsoft.com/office/drawing/2014/main" val="452027665"/>
                  </a:ext>
                </a:extLst>
              </a:tr>
              <a:tr h="0">
                <a:tc>
                  <a:txBody>
                    <a:bodyPr/>
                    <a:lstStyle/>
                    <a:p>
                      <a:pPr>
                        <a:buNone/>
                      </a:pPr>
                      <a:r>
                        <a:rPr lang="en-IN"/>
                        <a:t>Bin 1</a:t>
                      </a:r>
                    </a:p>
                  </a:txBody>
                  <a:tcPr anchor="ctr">
                    <a:lnL>
                      <a:noFill/>
                    </a:lnL>
                    <a:lnR>
                      <a:noFill/>
                    </a:lnR>
                    <a:lnT>
                      <a:noFill/>
                    </a:lnT>
                    <a:lnB>
                      <a:noFill/>
                    </a:lnB>
                    <a:noFill/>
                  </a:tcPr>
                </a:tc>
                <a:tc>
                  <a:txBody>
                    <a:bodyPr/>
                    <a:lstStyle/>
                    <a:p>
                      <a:pPr>
                        <a:buNone/>
                      </a:pPr>
                      <a:r>
                        <a:rPr lang="en-IN"/>
                        <a:t>1</a:t>
                      </a:r>
                    </a:p>
                  </a:txBody>
                  <a:tcPr anchor="ctr">
                    <a:lnL>
                      <a:noFill/>
                    </a:lnL>
                    <a:lnR>
                      <a:noFill/>
                    </a:lnR>
                    <a:lnT>
                      <a:noFill/>
                    </a:lnT>
                    <a:lnB>
                      <a:noFill/>
                    </a:lnB>
                    <a:noFill/>
                  </a:tcPr>
                </a:tc>
                <a:tc>
                  <a:txBody>
                    <a:bodyPr/>
                    <a:lstStyle/>
                    <a:p>
                      <a:pPr algn="r">
                        <a:buNone/>
                      </a:pPr>
                      <a:r>
                        <a:rPr lang="en-IN" dirty="0"/>
                        <a:t>Number of pixels with intensity 1</a:t>
                      </a:r>
                    </a:p>
                  </a:txBody>
                  <a:tcPr anchor="ctr">
                    <a:lnL>
                      <a:noFill/>
                    </a:lnL>
                    <a:lnR>
                      <a:noFill/>
                    </a:lnR>
                    <a:lnT>
                      <a:noFill/>
                    </a:lnT>
                    <a:lnB>
                      <a:noFill/>
                    </a:lnB>
                    <a:noFill/>
                  </a:tcPr>
                </a:tc>
                <a:extLst>
                  <a:ext uri="{0D108BD9-81ED-4DB2-BD59-A6C34878D82A}">
                    <a16:rowId xmlns:a16="http://schemas.microsoft.com/office/drawing/2014/main" val="973872223"/>
                  </a:ext>
                </a:extLst>
              </a:tr>
              <a:tr h="0">
                <a:tc>
                  <a:txBody>
                    <a:bodyPr/>
                    <a:lstStyle/>
                    <a:p>
                      <a:pPr>
                        <a:buNone/>
                      </a:pPr>
                      <a:r>
                        <a:rPr lang="en-IN"/>
                        <a:t>Bin 2</a:t>
                      </a:r>
                    </a:p>
                  </a:txBody>
                  <a:tcPr anchor="ctr">
                    <a:lnL>
                      <a:noFill/>
                    </a:lnL>
                    <a:lnR>
                      <a:noFill/>
                    </a:lnR>
                    <a:lnT>
                      <a:noFill/>
                    </a:lnT>
                    <a:lnB>
                      <a:noFill/>
                    </a:lnB>
                    <a:noFill/>
                  </a:tcPr>
                </a:tc>
                <a:tc>
                  <a:txBody>
                    <a:bodyPr/>
                    <a:lstStyle/>
                    <a:p>
                      <a:pPr>
                        <a:buNone/>
                      </a:pPr>
                      <a:r>
                        <a:rPr lang="en-IN"/>
                        <a:t>2</a:t>
                      </a:r>
                    </a:p>
                  </a:txBody>
                  <a:tcPr anchor="ctr">
                    <a:lnL>
                      <a:noFill/>
                    </a:lnL>
                    <a:lnR>
                      <a:noFill/>
                    </a:lnR>
                    <a:lnT>
                      <a:noFill/>
                    </a:lnT>
                    <a:lnB>
                      <a:noFill/>
                    </a:lnB>
                    <a:noFill/>
                  </a:tcPr>
                </a:tc>
                <a:tc>
                  <a:txBody>
                    <a:bodyPr/>
                    <a:lstStyle/>
                    <a:p>
                      <a:pPr algn="r">
                        <a:buNone/>
                      </a:pPr>
                      <a:r>
                        <a:rPr lang="en-IN" dirty="0"/>
                        <a:t>Number of pixels with intensity 2</a:t>
                      </a:r>
                    </a:p>
                  </a:txBody>
                  <a:tcPr anchor="ctr">
                    <a:lnL>
                      <a:noFill/>
                    </a:lnL>
                    <a:lnR>
                      <a:noFill/>
                    </a:lnR>
                    <a:lnT>
                      <a:noFill/>
                    </a:lnT>
                    <a:lnB>
                      <a:noFill/>
                    </a:lnB>
                    <a:noFill/>
                  </a:tcPr>
                </a:tc>
                <a:extLst>
                  <a:ext uri="{0D108BD9-81ED-4DB2-BD59-A6C34878D82A}">
                    <a16:rowId xmlns:a16="http://schemas.microsoft.com/office/drawing/2014/main" val="4190010869"/>
                  </a:ext>
                </a:extLst>
              </a:tr>
              <a:tr h="0">
                <a:tc>
                  <a:txBody>
                    <a:bodyPr/>
                    <a:lstStyle/>
                    <a:p>
                      <a:pPr>
                        <a:buNone/>
                      </a:pPr>
                      <a:r>
                        <a:rPr lang="en-IN"/>
                        <a:t>...</a:t>
                      </a:r>
                    </a:p>
                  </a:txBody>
                  <a:tcPr anchor="ctr">
                    <a:lnL>
                      <a:noFill/>
                    </a:lnL>
                    <a:lnR>
                      <a:noFill/>
                    </a:lnR>
                    <a:lnT>
                      <a:noFill/>
                    </a:lnT>
                    <a:lnB>
                      <a:noFill/>
                    </a:lnB>
                    <a:noFill/>
                  </a:tcPr>
                </a:tc>
                <a:tc>
                  <a:txBody>
                    <a:bodyPr/>
                    <a:lstStyle/>
                    <a:p>
                      <a:pPr>
                        <a:buNone/>
                      </a:pPr>
                      <a:r>
                        <a:rPr lang="en-IN"/>
                        <a:t>...</a:t>
                      </a:r>
                    </a:p>
                  </a:txBody>
                  <a:tcPr anchor="ctr">
                    <a:lnL>
                      <a:noFill/>
                    </a:lnL>
                    <a:lnR>
                      <a:noFill/>
                    </a:lnR>
                    <a:lnT>
                      <a:noFill/>
                    </a:lnT>
                    <a:lnB>
                      <a:noFill/>
                    </a:lnB>
                    <a:noFill/>
                  </a:tcPr>
                </a:tc>
                <a:tc>
                  <a:txBody>
                    <a:bodyPr/>
                    <a:lstStyle/>
                    <a:p>
                      <a:pPr algn="r">
                        <a:buNone/>
                      </a:pPr>
                      <a:r>
                        <a:rPr lang="en-IN" dirty="0"/>
                        <a:t>...</a:t>
                      </a:r>
                    </a:p>
                  </a:txBody>
                  <a:tcPr anchor="ctr">
                    <a:lnL>
                      <a:noFill/>
                    </a:lnL>
                    <a:lnR>
                      <a:noFill/>
                    </a:lnR>
                    <a:lnT>
                      <a:noFill/>
                    </a:lnT>
                    <a:lnB>
                      <a:noFill/>
                    </a:lnB>
                    <a:noFill/>
                  </a:tcPr>
                </a:tc>
                <a:extLst>
                  <a:ext uri="{0D108BD9-81ED-4DB2-BD59-A6C34878D82A}">
                    <a16:rowId xmlns:a16="http://schemas.microsoft.com/office/drawing/2014/main" val="1246163879"/>
                  </a:ext>
                </a:extLst>
              </a:tr>
              <a:tr h="0">
                <a:tc>
                  <a:txBody>
                    <a:bodyPr/>
                    <a:lstStyle/>
                    <a:p>
                      <a:pPr>
                        <a:buNone/>
                      </a:pPr>
                      <a:r>
                        <a:rPr lang="en-IN"/>
                        <a:t>Bin 255</a:t>
                      </a:r>
                    </a:p>
                  </a:txBody>
                  <a:tcPr anchor="ctr">
                    <a:lnL>
                      <a:noFill/>
                    </a:lnL>
                    <a:lnR>
                      <a:noFill/>
                    </a:lnR>
                    <a:lnT>
                      <a:noFill/>
                    </a:lnT>
                    <a:lnB>
                      <a:noFill/>
                    </a:lnB>
                    <a:noFill/>
                  </a:tcPr>
                </a:tc>
                <a:tc>
                  <a:txBody>
                    <a:bodyPr/>
                    <a:lstStyle/>
                    <a:p>
                      <a:pPr>
                        <a:buNone/>
                      </a:pPr>
                      <a:r>
                        <a:rPr lang="en-IN"/>
                        <a:t>255</a:t>
                      </a:r>
                    </a:p>
                  </a:txBody>
                  <a:tcPr anchor="ctr">
                    <a:lnL>
                      <a:noFill/>
                    </a:lnL>
                    <a:lnR>
                      <a:noFill/>
                    </a:lnR>
                    <a:lnT>
                      <a:noFill/>
                    </a:lnT>
                    <a:lnB>
                      <a:noFill/>
                    </a:lnB>
                    <a:noFill/>
                  </a:tcPr>
                </a:tc>
                <a:tc>
                  <a:txBody>
                    <a:bodyPr/>
                    <a:lstStyle/>
                    <a:p>
                      <a:pPr algn="r">
                        <a:buNone/>
                      </a:pPr>
                      <a:r>
                        <a:rPr lang="en-IN" dirty="0"/>
                        <a:t>Number of white pixels</a:t>
                      </a:r>
                    </a:p>
                  </a:txBody>
                  <a:tcPr anchor="ctr">
                    <a:lnL>
                      <a:noFill/>
                    </a:lnL>
                    <a:lnR>
                      <a:noFill/>
                    </a:lnR>
                    <a:lnT>
                      <a:noFill/>
                    </a:lnT>
                    <a:lnB>
                      <a:noFill/>
                    </a:lnB>
                    <a:noFill/>
                  </a:tcPr>
                </a:tc>
                <a:extLst>
                  <a:ext uri="{0D108BD9-81ED-4DB2-BD59-A6C34878D82A}">
                    <a16:rowId xmlns:a16="http://schemas.microsoft.com/office/drawing/2014/main" val="4075543512"/>
                  </a:ext>
                </a:extLst>
              </a:tr>
            </a:tbl>
          </a:graphicData>
        </a:graphic>
      </p:graphicFrame>
    </p:spTree>
    <p:extLst>
      <p:ext uri="{BB962C8B-B14F-4D97-AF65-F5344CB8AC3E}">
        <p14:creationId xmlns:p14="http://schemas.microsoft.com/office/powerpoint/2010/main" val="6240378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E2C59-ACCF-1C02-A339-B39A47AA359F}"/>
              </a:ext>
            </a:extLst>
          </p:cNvPr>
          <p:cNvSpPr>
            <a:spLocks noGrp="1"/>
          </p:cNvSpPr>
          <p:nvPr>
            <p:ph type="title"/>
          </p:nvPr>
        </p:nvSpPr>
        <p:spPr/>
        <p:txBody>
          <a:bodyPr/>
          <a:lstStyle/>
          <a:p>
            <a:r>
              <a:rPr lang="en-IN" dirty="0"/>
              <a:t>What is Histogram Equalization?</a:t>
            </a:r>
          </a:p>
        </p:txBody>
      </p:sp>
      <p:sp>
        <p:nvSpPr>
          <p:cNvPr id="3" name="Content Placeholder 2">
            <a:extLst>
              <a:ext uri="{FF2B5EF4-FFF2-40B4-BE49-F238E27FC236}">
                <a16:creationId xmlns:a16="http://schemas.microsoft.com/office/drawing/2014/main" id="{1A6C27BA-C236-B88B-8797-7552B8126AE3}"/>
              </a:ext>
            </a:extLst>
          </p:cNvPr>
          <p:cNvSpPr>
            <a:spLocks noGrp="1"/>
          </p:cNvSpPr>
          <p:nvPr>
            <p:ph idx="1"/>
          </p:nvPr>
        </p:nvSpPr>
        <p:spPr/>
        <p:txBody>
          <a:bodyPr/>
          <a:lstStyle/>
          <a:p>
            <a:r>
              <a:rPr lang="en-IN" dirty="0"/>
              <a:t>Suppose your photo is </a:t>
            </a:r>
            <a:r>
              <a:rPr lang="en-IN" b="1" dirty="0"/>
              <a:t>too dark</a:t>
            </a:r>
            <a:r>
              <a:rPr lang="en-IN" dirty="0"/>
              <a:t>.</a:t>
            </a:r>
          </a:p>
          <a:p>
            <a:r>
              <a:rPr lang="en-IN" dirty="0"/>
              <a:t>Everything looks dark.</a:t>
            </a:r>
          </a:p>
          <a:p>
            <a:r>
              <a:rPr lang="en-IN" dirty="0"/>
              <a:t>Histogram Equalization </a:t>
            </a:r>
            <a:r>
              <a:rPr lang="en-IN" b="1" dirty="0"/>
              <a:t>spreads the brightness values</a:t>
            </a:r>
            <a:r>
              <a:rPr lang="en-IN" dirty="0"/>
              <a:t> so the image becomes clearer.</a:t>
            </a:r>
          </a:p>
          <a:p>
            <a:r>
              <a:rPr lang="en-IN" dirty="0"/>
              <a:t>The image now has </a:t>
            </a:r>
            <a:r>
              <a:rPr lang="en-IN" b="1" dirty="0"/>
              <a:t>better contrast</a:t>
            </a:r>
            <a:r>
              <a:rPr lang="en-IN" dirty="0"/>
              <a:t>.</a:t>
            </a:r>
          </a:p>
          <a:p>
            <a:r>
              <a:rPr lang="en-IN" dirty="0"/>
              <a:t>cv2.equalizeHist(</a:t>
            </a:r>
            <a:r>
              <a:rPr lang="en-IN" dirty="0" err="1"/>
              <a:t>gray</a:t>
            </a:r>
            <a:r>
              <a:rPr lang="en-IN" dirty="0"/>
              <a:t>) automatically improves the contrast of a grayscale image by redistributing its pixel intensity values across the full range (0–255), making details easier to see.</a:t>
            </a:r>
          </a:p>
        </p:txBody>
      </p:sp>
    </p:spTree>
    <p:extLst>
      <p:ext uri="{BB962C8B-B14F-4D97-AF65-F5344CB8AC3E}">
        <p14:creationId xmlns:p14="http://schemas.microsoft.com/office/powerpoint/2010/main" val="27462951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420CA-1E9E-AC47-8C2C-2CC6D1C8634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CBBCCED-2610-A2AD-E9D0-CB0B5FA34960}"/>
              </a:ext>
            </a:extLst>
          </p:cNvPr>
          <p:cNvSpPr>
            <a:spLocks noGrp="1"/>
          </p:cNvSpPr>
          <p:nvPr>
            <p:ph idx="1"/>
          </p:nvPr>
        </p:nvSpPr>
        <p:spPr/>
        <p:txBody>
          <a:bodyPr>
            <a:normAutofit/>
          </a:bodyPr>
          <a:lstStyle/>
          <a:p>
            <a:r>
              <a:rPr lang="en-IN" dirty="0"/>
              <a:t>imagine </a:t>
            </a:r>
            <a:r>
              <a:rPr lang="en-IN" b="1" dirty="0"/>
              <a:t>10 students</a:t>
            </a:r>
            <a:r>
              <a:rPr lang="en-IN" dirty="0"/>
              <a:t> standing in one corner of a room.</a:t>
            </a:r>
          </a:p>
          <a:p>
            <a:r>
              <a:rPr lang="en-IN" b="1" dirty="0"/>
              <a:t>Before:</a:t>
            </a:r>
            <a:endParaRPr lang="en-IN" dirty="0"/>
          </a:p>
          <a:p>
            <a:r>
              <a:rPr lang="en-IN" dirty="0"/>
              <a:t>Everything is crowded.</a:t>
            </a:r>
          </a:p>
          <a:p>
            <a:r>
              <a:rPr lang="en-IN" dirty="0"/>
              <a:t>Now ask them to spread across the whole room.</a:t>
            </a:r>
          </a:p>
          <a:p>
            <a:r>
              <a:rPr lang="en-IN" b="1" dirty="0"/>
              <a:t>After:</a:t>
            </a:r>
            <a:endParaRPr lang="en-IN" dirty="0"/>
          </a:p>
          <a:p>
            <a:r>
              <a:rPr lang="en-IN" dirty="0"/>
              <a:t>Now everyone is easier to see.</a:t>
            </a:r>
          </a:p>
          <a:p>
            <a:endParaRPr lang="en-IN" dirty="0"/>
          </a:p>
        </p:txBody>
      </p:sp>
    </p:spTree>
    <p:extLst>
      <p:ext uri="{BB962C8B-B14F-4D97-AF65-F5344CB8AC3E}">
        <p14:creationId xmlns:p14="http://schemas.microsoft.com/office/powerpoint/2010/main" val="122175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CFDBC-B9B7-4BFA-2EC2-522E61FF3A4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FAEC1CD-BCBA-609F-4E7F-A990913601F6}"/>
              </a:ext>
            </a:extLst>
          </p:cNvPr>
          <p:cNvSpPr>
            <a:spLocks noGrp="1"/>
          </p:cNvSpPr>
          <p:nvPr>
            <p:ph idx="1"/>
          </p:nvPr>
        </p:nvSpPr>
        <p:spPr/>
        <p:txBody>
          <a:bodyPr/>
          <a:lstStyle/>
          <a:p>
            <a:r>
              <a:rPr lang="en-IN" b="1" dirty="0"/>
              <a:t>Histogram equalization does the same thing with pixel brightness values.</a:t>
            </a:r>
            <a:endParaRPr lang="en-IN" dirty="0"/>
          </a:p>
          <a:p>
            <a:pPr lvl="0"/>
            <a:r>
              <a:rPr lang="en-IN" dirty="0"/>
              <a:t>Before: brightness values are crowded together. </a:t>
            </a:r>
          </a:p>
          <a:p>
            <a:pPr lvl="0"/>
            <a:r>
              <a:rPr lang="en-IN" dirty="0"/>
              <a:t>After: brightness values are spread out.</a:t>
            </a:r>
          </a:p>
          <a:p>
            <a:endParaRPr lang="en-IN" dirty="0"/>
          </a:p>
        </p:txBody>
      </p:sp>
    </p:spTree>
    <p:extLst>
      <p:ext uri="{BB962C8B-B14F-4D97-AF65-F5344CB8AC3E}">
        <p14:creationId xmlns:p14="http://schemas.microsoft.com/office/powerpoint/2010/main" val="92105337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3E5CC-73F8-E7C8-4A27-B20E1967572E}"/>
              </a:ext>
            </a:extLst>
          </p:cNvPr>
          <p:cNvSpPr>
            <a:spLocks noGrp="1"/>
          </p:cNvSpPr>
          <p:nvPr>
            <p:ph type="title"/>
          </p:nvPr>
        </p:nvSpPr>
        <p:spPr/>
        <p:txBody>
          <a:bodyPr/>
          <a:lstStyle/>
          <a:p>
            <a:r>
              <a:rPr lang="en-IN" b="1" dirty="0"/>
              <a:t>CLAHE (Contrast Limited Adaptive Histogram Equalization)</a:t>
            </a:r>
            <a:r>
              <a:rPr lang="en-IN" dirty="0"/>
              <a:t> </a:t>
            </a:r>
          </a:p>
        </p:txBody>
      </p:sp>
      <p:sp>
        <p:nvSpPr>
          <p:cNvPr id="3" name="Content Placeholder 2">
            <a:extLst>
              <a:ext uri="{FF2B5EF4-FFF2-40B4-BE49-F238E27FC236}">
                <a16:creationId xmlns:a16="http://schemas.microsoft.com/office/drawing/2014/main" id="{A082FD41-C82A-A482-54E8-B2156030C101}"/>
              </a:ext>
            </a:extLst>
          </p:cNvPr>
          <p:cNvSpPr>
            <a:spLocks noGrp="1"/>
          </p:cNvSpPr>
          <p:nvPr>
            <p:ph idx="1"/>
          </p:nvPr>
        </p:nvSpPr>
        <p:spPr/>
        <p:txBody>
          <a:bodyPr/>
          <a:lstStyle/>
          <a:p>
            <a:pPr lvl="0"/>
            <a:r>
              <a:rPr lang="en-IN" b="1" dirty="0"/>
              <a:t>Histogram Equalization:</a:t>
            </a:r>
            <a:r>
              <a:rPr lang="en-IN" dirty="0"/>
              <a:t> The teacher gives the </a:t>
            </a:r>
            <a:r>
              <a:rPr lang="en-IN" b="1" dirty="0"/>
              <a:t>same instruction to the whole class</a:t>
            </a:r>
            <a:r>
              <a:rPr lang="en-IN" dirty="0"/>
              <a:t>. </a:t>
            </a:r>
          </a:p>
          <a:p>
            <a:pPr lvl="0"/>
            <a:r>
              <a:rPr lang="en-IN" b="1" dirty="0"/>
              <a:t>CLAHE:</a:t>
            </a:r>
            <a:r>
              <a:rPr lang="en-IN" dirty="0"/>
              <a:t> The teacher divides the class into </a:t>
            </a:r>
            <a:r>
              <a:rPr lang="en-IN" b="1" dirty="0"/>
              <a:t>8 small groups</a:t>
            </a:r>
            <a:r>
              <a:rPr lang="en-IN" dirty="0"/>
              <a:t> and helps each group individually.</a:t>
            </a:r>
          </a:p>
          <a:p>
            <a:r>
              <a:rPr lang="en-IN" dirty="0"/>
              <a:t>It is a technique used to </a:t>
            </a:r>
            <a:r>
              <a:rPr lang="en-IN" b="1" dirty="0"/>
              <a:t>improve the contrast</a:t>
            </a:r>
            <a:r>
              <a:rPr lang="en-IN" dirty="0"/>
              <a:t> of an image.</a:t>
            </a:r>
          </a:p>
          <a:p>
            <a:endParaRPr lang="en-IN" dirty="0"/>
          </a:p>
        </p:txBody>
      </p:sp>
    </p:spTree>
    <p:extLst>
      <p:ext uri="{BB962C8B-B14F-4D97-AF65-F5344CB8AC3E}">
        <p14:creationId xmlns:p14="http://schemas.microsoft.com/office/powerpoint/2010/main" val="267058143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5D663-C037-3B39-9B3E-752F1E803505}"/>
              </a:ext>
            </a:extLst>
          </p:cNvPr>
          <p:cNvSpPr>
            <a:spLocks noGrp="1"/>
          </p:cNvSpPr>
          <p:nvPr>
            <p:ph type="title"/>
          </p:nvPr>
        </p:nvSpPr>
        <p:spPr/>
        <p:txBody>
          <a:bodyPr/>
          <a:lstStyle/>
          <a:p>
            <a:r>
              <a:rPr lang="en-IN" dirty="0"/>
              <a:t>Problem with Histogram Equalization</a:t>
            </a:r>
          </a:p>
        </p:txBody>
      </p:sp>
      <p:sp>
        <p:nvSpPr>
          <p:cNvPr id="3" name="Content Placeholder 2">
            <a:extLst>
              <a:ext uri="{FF2B5EF4-FFF2-40B4-BE49-F238E27FC236}">
                <a16:creationId xmlns:a16="http://schemas.microsoft.com/office/drawing/2014/main" id="{CB375CBA-BA9E-07B2-A7A3-ADB791EAE032}"/>
              </a:ext>
            </a:extLst>
          </p:cNvPr>
          <p:cNvSpPr>
            <a:spLocks noGrp="1"/>
          </p:cNvSpPr>
          <p:nvPr>
            <p:ph idx="1"/>
          </p:nvPr>
        </p:nvSpPr>
        <p:spPr/>
        <p:txBody>
          <a:bodyPr/>
          <a:lstStyle/>
          <a:p>
            <a:r>
              <a:rPr lang="en-IN" dirty="0"/>
              <a:t>Suppose the image is</a:t>
            </a:r>
          </a:p>
          <a:p>
            <a:r>
              <a:rPr lang="en-IN" dirty="0"/>
              <a:t>Left side is dark.</a:t>
            </a:r>
          </a:p>
          <a:p>
            <a:r>
              <a:rPr lang="en-IN" dirty="0"/>
              <a:t>Right side is already bright.</a:t>
            </a:r>
          </a:p>
          <a:p>
            <a:r>
              <a:rPr lang="en-IN" dirty="0"/>
              <a:t>Histogram Equalization improves </a:t>
            </a:r>
            <a:r>
              <a:rPr lang="en-IN" b="1" dirty="0"/>
              <a:t>the entire image together</a:t>
            </a:r>
            <a:r>
              <a:rPr lang="en-IN" dirty="0"/>
              <a:t>.</a:t>
            </a:r>
          </a:p>
          <a:p>
            <a:r>
              <a:rPr lang="en-IN" dirty="0"/>
              <a:t>Sometimes the bright part becomes </a:t>
            </a:r>
            <a:r>
              <a:rPr lang="en-IN" b="1" dirty="0"/>
              <a:t>too bright</a:t>
            </a:r>
            <a:r>
              <a:rPr lang="en-IN" dirty="0"/>
              <a:t>.</a:t>
            </a:r>
          </a:p>
          <a:p>
            <a:r>
              <a:rPr lang="en-IN" dirty="0"/>
              <a:t>Sometimes the dark part still doesn't look good.</a:t>
            </a:r>
          </a:p>
          <a:p>
            <a:endParaRPr lang="en-IN" dirty="0"/>
          </a:p>
        </p:txBody>
      </p:sp>
    </p:spTree>
    <p:extLst>
      <p:ext uri="{BB962C8B-B14F-4D97-AF65-F5344CB8AC3E}">
        <p14:creationId xmlns:p14="http://schemas.microsoft.com/office/powerpoint/2010/main" val="20303873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22627B-FE99-D513-040A-D2CE82699FF0}"/>
              </a:ext>
            </a:extLst>
          </p:cNvPr>
          <p:cNvSpPr>
            <a:spLocks noGrp="1"/>
          </p:cNvSpPr>
          <p:nvPr>
            <p:ph idx="1"/>
          </p:nvPr>
        </p:nvSpPr>
        <p:spPr>
          <a:xfrm>
            <a:off x="838200" y="219808"/>
            <a:ext cx="10515600" cy="5957155"/>
          </a:xfrm>
        </p:spPr>
        <p:txBody>
          <a:bodyPr>
            <a:normAutofit/>
          </a:bodyPr>
          <a:lstStyle/>
          <a:p>
            <a:r>
              <a:rPr lang="en-IN" b="1" dirty="0"/>
              <a:t>CLAHE solves this problem</a:t>
            </a:r>
          </a:p>
          <a:p>
            <a:r>
              <a:rPr lang="en-IN" dirty="0"/>
              <a:t>Instead of improving the whole image together,</a:t>
            </a:r>
          </a:p>
          <a:p>
            <a:r>
              <a:rPr lang="en-IN" dirty="0"/>
              <a:t>CLAHE divides the image into </a:t>
            </a:r>
            <a:r>
              <a:rPr lang="en-IN" b="1" dirty="0"/>
              <a:t>small pieces</a:t>
            </a:r>
            <a:r>
              <a:rPr lang="en-IN" dirty="0"/>
              <a:t>.</a:t>
            </a:r>
          </a:p>
          <a:p>
            <a:r>
              <a:rPr lang="en-IN" dirty="0" err="1"/>
              <a:t>clahe</a:t>
            </a:r>
            <a:r>
              <a:rPr lang="en-IN" dirty="0"/>
              <a:t> = cv2.createCLAHE(</a:t>
            </a:r>
            <a:r>
              <a:rPr lang="en-IN" dirty="0" err="1"/>
              <a:t>clipLimit</a:t>
            </a:r>
            <a:r>
              <a:rPr lang="en-IN" dirty="0"/>
              <a:t>=2.0)</a:t>
            </a:r>
          </a:p>
          <a:p>
            <a:r>
              <a:rPr lang="en-IN" dirty="0"/>
              <a:t>1. </a:t>
            </a:r>
            <a:r>
              <a:rPr lang="en-IN" dirty="0" err="1"/>
              <a:t>cliplimit</a:t>
            </a:r>
            <a:endParaRPr lang="en-IN" dirty="0"/>
          </a:p>
          <a:p>
            <a:r>
              <a:rPr lang="en-IN" dirty="0"/>
              <a:t>This controls </a:t>
            </a:r>
            <a:r>
              <a:rPr lang="en-IN" b="1" dirty="0"/>
              <a:t>how much contrast is increased</a:t>
            </a:r>
            <a:r>
              <a:rPr lang="en-IN" dirty="0"/>
              <a:t>.</a:t>
            </a:r>
          </a:p>
          <a:p>
            <a:r>
              <a:rPr lang="en-IN" dirty="0"/>
              <a:t>Small value</a:t>
            </a:r>
          </a:p>
          <a:p>
            <a:r>
              <a:rPr lang="en-IN" dirty="0" err="1"/>
              <a:t>clipLimit</a:t>
            </a:r>
            <a:r>
              <a:rPr lang="en-IN" dirty="0"/>
              <a:t>=1</a:t>
            </a:r>
          </a:p>
          <a:p>
            <a:r>
              <a:rPr lang="en-IN" dirty="0"/>
              <a:t>Little improvement.</a:t>
            </a:r>
          </a:p>
          <a:p>
            <a:endParaRPr lang="en-IN" dirty="0"/>
          </a:p>
        </p:txBody>
      </p:sp>
    </p:spTree>
    <p:extLst>
      <p:ext uri="{BB962C8B-B14F-4D97-AF65-F5344CB8AC3E}">
        <p14:creationId xmlns:p14="http://schemas.microsoft.com/office/powerpoint/2010/main" val="16911419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90301-53A6-A8BB-956C-299F6CC61AE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CA3D05F-409E-7827-8A85-166402E3CBD1}"/>
              </a:ext>
            </a:extLst>
          </p:cNvPr>
          <p:cNvSpPr>
            <a:spLocks noGrp="1"/>
          </p:cNvSpPr>
          <p:nvPr>
            <p:ph idx="1"/>
          </p:nvPr>
        </p:nvSpPr>
        <p:spPr/>
        <p:txBody>
          <a:bodyPr/>
          <a:lstStyle/>
          <a:p>
            <a:r>
              <a:rPr lang="en-IN" dirty="0"/>
              <a:t>Medium</a:t>
            </a:r>
          </a:p>
          <a:p>
            <a:r>
              <a:rPr lang="en-IN" dirty="0" err="1"/>
              <a:t>clipLimit</a:t>
            </a:r>
            <a:r>
              <a:rPr lang="en-IN" dirty="0"/>
              <a:t>=2</a:t>
            </a:r>
          </a:p>
          <a:p>
            <a:r>
              <a:rPr lang="en-IN" dirty="0"/>
              <a:t>Balanced improvement.</a:t>
            </a:r>
          </a:p>
          <a:p>
            <a:r>
              <a:rPr lang="en-IN" dirty="0"/>
              <a:t>Large</a:t>
            </a:r>
          </a:p>
          <a:p>
            <a:r>
              <a:rPr lang="en-IN" dirty="0" err="1"/>
              <a:t>clipLimit</a:t>
            </a:r>
            <a:r>
              <a:rPr lang="en-IN" dirty="0"/>
              <a:t>=10</a:t>
            </a:r>
          </a:p>
          <a:p>
            <a:r>
              <a:rPr lang="en-IN" dirty="0"/>
              <a:t>Very strong contrast.</a:t>
            </a:r>
          </a:p>
          <a:p>
            <a:r>
              <a:rPr lang="en-IN" dirty="0"/>
              <a:t>Sometimes too much.</a:t>
            </a:r>
          </a:p>
          <a:p>
            <a:r>
              <a:rPr lang="en-IN" dirty="0"/>
              <a:t>Think of it like adjusting a TV's contrast:</a:t>
            </a:r>
          </a:p>
          <a:p>
            <a:endParaRPr lang="en-IN" dirty="0"/>
          </a:p>
        </p:txBody>
      </p:sp>
    </p:spTree>
    <p:extLst>
      <p:ext uri="{BB962C8B-B14F-4D97-AF65-F5344CB8AC3E}">
        <p14:creationId xmlns:p14="http://schemas.microsoft.com/office/powerpoint/2010/main" val="73656767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9847C-C41D-CE82-9FE5-9EF5CEEA46A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AEF3496-4CBC-AC52-1922-F946330C055F}"/>
              </a:ext>
            </a:extLst>
          </p:cNvPr>
          <p:cNvSpPr>
            <a:spLocks noGrp="1"/>
          </p:cNvSpPr>
          <p:nvPr>
            <p:ph idx="1"/>
          </p:nvPr>
        </p:nvSpPr>
        <p:spPr/>
        <p:txBody>
          <a:bodyPr/>
          <a:lstStyle/>
          <a:p>
            <a:pPr lvl="0"/>
            <a:r>
              <a:rPr lang="en-IN" dirty="0"/>
              <a:t>Low = soft image </a:t>
            </a:r>
          </a:p>
          <a:p>
            <a:pPr lvl="0"/>
            <a:r>
              <a:rPr lang="en-IN" dirty="0"/>
              <a:t>Medium = natural image </a:t>
            </a:r>
          </a:p>
          <a:p>
            <a:pPr lvl="0"/>
            <a:r>
              <a:rPr lang="en-IN" dirty="0"/>
              <a:t>High = very sharp, but may also highlight noise</a:t>
            </a:r>
          </a:p>
          <a:p>
            <a:r>
              <a:rPr lang="en-IN" dirty="0"/>
              <a:t>2. </a:t>
            </a:r>
            <a:r>
              <a:rPr lang="en-IN" dirty="0" err="1"/>
              <a:t>tileGridSize</a:t>
            </a:r>
            <a:endParaRPr lang="en-IN" dirty="0"/>
          </a:p>
          <a:p>
            <a:r>
              <a:rPr lang="en-IN" dirty="0" err="1"/>
              <a:t>tileGridSize</a:t>
            </a:r>
            <a:r>
              <a:rPr lang="en-IN" dirty="0"/>
              <a:t>=(8,8)</a:t>
            </a:r>
          </a:p>
          <a:p>
            <a:r>
              <a:rPr lang="en-IN" dirty="0"/>
              <a:t>This divides the image into</a:t>
            </a:r>
          </a:p>
          <a:p>
            <a:r>
              <a:rPr lang="en-IN" dirty="0"/>
              <a:t>8 × 8 = 64 tiles</a:t>
            </a:r>
          </a:p>
          <a:p>
            <a:endParaRPr lang="en-IN" dirty="0"/>
          </a:p>
        </p:txBody>
      </p:sp>
    </p:spTree>
    <p:extLst>
      <p:ext uri="{BB962C8B-B14F-4D97-AF65-F5344CB8AC3E}">
        <p14:creationId xmlns:p14="http://schemas.microsoft.com/office/powerpoint/2010/main" val="267064415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7838D-A1E7-776C-BC51-ED755FA1509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2D559DB-EBF2-3493-B33B-6C89210AFA67}"/>
              </a:ext>
            </a:extLst>
          </p:cNvPr>
          <p:cNvSpPr>
            <a:spLocks noGrp="1"/>
          </p:cNvSpPr>
          <p:nvPr>
            <p:ph idx="1"/>
          </p:nvPr>
        </p:nvSpPr>
        <p:spPr/>
        <p:txBody>
          <a:bodyPr/>
          <a:lstStyle/>
          <a:p>
            <a:r>
              <a:rPr lang="en-IN" dirty="0"/>
              <a:t>Smaller tiles= larger blocks and vice versa</a:t>
            </a:r>
          </a:p>
          <a:p>
            <a:r>
              <a:rPr lang="en-IN" dirty="0"/>
              <a:t>CLAHE improves image contrast by dividing the image into small tiles, enhancing each tile separately, and limiting excessive contrast so that details become clearer without making the image look unnatural or amplifying too much noise.</a:t>
            </a:r>
          </a:p>
        </p:txBody>
      </p:sp>
    </p:spTree>
    <p:extLst>
      <p:ext uri="{BB962C8B-B14F-4D97-AF65-F5344CB8AC3E}">
        <p14:creationId xmlns:p14="http://schemas.microsoft.com/office/powerpoint/2010/main" val="34492982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D32DE-0F33-DD7F-60EF-D280A4A169B3}"/>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4FB672FF-81F2-EC47-B63C-49022FBBA3D4}"/>
              </a:ext>
            </a:extLst>
          </p:cNvPr>
          <p:cNvPicPr>
            <a:picLocks noGrp="1" noChangeAspect="1"/>
          </p:cNvPicPr>
          <p:nvPr>
            <p:ph idx="1"/>
          </p:nvPr>
        </p:nvPicPr>
        <p:blipFill>
          <a:blip r:embed="rId2"/>
          <a:stretch>
            <a:fillRect/>
          </a:stretch>
        </p:blipFill>
        <p:spPr>
          <a:xfrm>
            <a:off x="2832496" y="1825625"/>
            <a:ext cx="6527007" cy="4351338"/>
          </a:xfrm>
          <a:prstGeom prst="rect">
            <a:avLst/>
          </a:prstGeom>
        </p:spPr>
      </p:pic>
    </p:spTree>
    <p:extLst>
      <p:ext uri="{BB962C8B-B14F-4D97-AF65-F5344CB8AC3E}">
        <p14:creationId xmlns:p14="http://schemas.microsoft.com/office/powerpoint/2010/main" val="69407545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98C24-EAFD-20C8-067A-DE5D1902AC54}"/>
              </a:ext>
            </a:extLst>
          </p:cNvPr>
          <p:cNvSpPr>
            <a:spLocks noGrp="1"/>
          </p:cNvSpPr>
          <p:nvPr>
            <p:ph type="title"/>
          </p:nvPr>
        </p:nvSpPr>
        <p:spPr/>
        <p:txBody>
          <a:bodyPr/>
          <a:lstStyle/>
          <a:p>
            <a:r>
              <a:rPr lang="en-IN" dirty="0"/>
              <a:t>What is a Contour?</a:t>
            </a:r>
          </a:p>
        </p:txBody>
      </p:sp>
      <p:sp>
        <p:nvSpPr>
          <p:cNvPr id="3" name="Content Placeholder 2">
            <a:extLst>
              <a:ext uri="{FF2B5EF4-FFF2-40B4-BE49-F238E27FC236}">
                <a16:creationId xmlns:a16="http://schemas.microsoft.com/office/drawing/2014/main" id="{340A525F-41E0-BB15-3EA3-A8C0ACCC1697}"/>
              </a:ext>
            </a:extLst>
          </p:cNvPr>
          <p:cNvSpPr>
            <a:spLocks noGrp="1"/>
          </p:cNvSpPr>
          <p:nvPr>
            <p:ph idx="1"/>
          </p:nvPr>
        </p:nvSpPr>
        <p:spPr/>
        <p:txBody>
          <a:bodyPr/>
          <a:lstStyle/>
          <a:p>
            <a:r>
              <a:rPr lang="en-IN" dirty="0"/>
              <a:t>A </a:t>
            </a:r>
            <a:r>
              <a:rPr lang="en-IN" b="1" dirty="0"/>
              <a:t>contour</a:t>
            </a:r>
            <a:r>
              <a:rPr lang="en-IN" dirty="0"/>
              <a:t> is simply the </a:t>
            </a:r>
            <a:r>
              <a:rPr lang="en-IN" b="1" dirty="0"/>
              <a:t>boundary (outline)</a:t>
            </a:r>
            <a:r>
              <a:rPr lang="en-IN" dirty="0"/>
              <a:t> of an object.	</a:t>
            </a:r>
          </a:p>
          <a:p>
            <a:r>
              <a:rPr lang="en-IN" b="1" dirty="0"/>
              <a:t>Why threshold?</a:t>
            </a:r>
          </a:p>
          <a:p>
            <a:r>
              <a:rPr lang="en-IN" dirty="0"/>
              <a:t>Because OpenCV detects contours </a:t>
            </a:r>
            <a:r>
              <a:rPr lang="en-IN" b="1" dirty="0"/>
              <a:t>only on binary images</a:t>
            </a:r>
            <a:r>
              <a:rPr lang="en-IN" dirty="0"/>
              <a:t>.</a:t>
            </a:r>
          </a:p>
          <a:p>
            <a:r>
              <a:rPr lang="en-IN" dirty="0"/>
              <a:t>contours, hierarchy = cv2.findContours( </a:t>
            </a:r>
            <a:r>
              <a:rPr lang="en-IN" dirty="0" err="1"/>
              <a:t>th</a:t>
            </a:r>
            <a:r>
              <a:rPr lang="en-IN" dirty="0"/>
              <a:t>, cv2.RETR_TREE, cv2.CHAIN_APPROX_SIMPLE )</a:t>
            </a:r>
          </a:p>
        </p:txBody>
      </p:sp>
    </p:spTree>
    <p:extLst>
      <p:ext uri="{BB962C8B-B14F-4D97-AF65-F5344CB8AC3E}">
        <p14:creationId xmlns:p14="http://schemas.microsoft.com/office/powerpoint/2010/main" val="67343329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FEC07-098F-B70C-DF55-0798321C60C7}"/>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F951D104-2F3C-71D3-EBF9-DC8D3F2D408F}"/>
              </a:ext>
            </a:extLst>
          </p:cNvPr>
          <p:cNvPicPr>
            <a:picLocks noGrp="1" noChangeAspect="1"/>
          </p:cNvPicPr>
          <p:nvPr>
            <p:ph idx="1"/>
          </p:nvPr>
        </p:nvPicPr>
        <p:blipFill>
          <a:blip r:embed="rId2"/>
          <a:stretch>
            <a:fillRect/>
          </a:stretch>
        </p:blipFill>
        <p:spPr>
          <a:xfrm>
            <a:off x="2832496" y="1825625"/>
            <a:ext cx="6527007" cy="4351338"/>
          </a:xfrm>
          <a:prstGeom prst="rect">
            <a:avLst/>
          </a:prstGeom>
        </p:spPr>
      </p:pic>
      <p:pic>
        <p:nvPicPr>
          <p:cNvPr id="7" name="Picture 6">
            <a:extLst>
              <a:ext uri="{FF2B5EF4-FFF2-40B4-BE49-F238E27FC236}">
                <a16:creationId xmlns:a16="http://schemas.microsoft.com/office/drawing/2014/main" id="{92296E3B-BE3B-C6D3-1BFD-CB45A7FB116D}"/>
              </a:ext>
            </a:extLst>
          </p:cNvPr>
          <p:cNvPicPr>
            <a:picLocks noChangeAspect="1"/>
          </p:cNvPicPr>
          <p:nvPr/>
        </p:nvPicPr>
        <p:blipFill>
          <a:blip r:embed="rId2"/>
          <a:stretch>
            <a:fillRect/>
          </a:stretch>
        </p:blipFill>
        <p:spPr>
          <a:xfrm>
            <a:off x="952500" y="1890346"/>
            <a:ext cx="10287000" cy="4967654"/>
          </a:xfrm>
          <a:prstGeom prst="rect">
            <a:avLst/>
          </a:prstGeom>
        </p:spPr>
      </p:pic>
    </p:spTree>
    <p:extLst>
      <p:ext uri="{BB962C8B-B14F-4D97-AF65-F5344CB8AC3E}">
        <p14:creationId xmlns:p14="http://schemas.microsoft.com/office/powerpoint/2010/main" val="314658696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BC046-A9CB-31CF-9C42-0EF3DD9475F8}"/>
              </a:ext>
            </a:extLst>
          </p:cNvPr>
          <p:cNvSpPr>
            <a:spLocks noGrp="1"/>
          </p:cNvSpPr>
          <p:nvPr>
            <p:ph type="title"/>
          </p:nvPr>
        </p:nvSpPr>
        <p:spPr/>
        <p:txBody>
          <a:bodyPr/>
          <a:lstStyle/>
          <a:p>
            <a:r>
              <a:rPr lang="en-IN" b="1" dirty="0"/>
              <a:t>Histogram Matching</a:t>
            </a:r>
            <a:endParaRPr lang="en-IN" dirty="0"/>
          </a:p>
        </p:txBody>
      </p:sp>
      <p:sp>
        <p:nvSpPr>
          <p:cNvPr id="3" name="Content Placeholder 2">
            <a:extLst>
              <a:ext uri="{FF2B5EF4-FFF2-40B4-BE49-F238E27FC236}">
                <a16:creationId xmlns:a16="http://schemas.microsoft.com/office/drawing/2014/main" id="{437D9C38-D255-8599-984A-1051DD93C850}"/>
              </a:ext>
            </a:extLst>
          </p:cNvPr>
          <p:cNvSpPr>
            <a:spLocks noGrp="1"/>
          </p:cNvSpPr>
          <p:nvPr>
            <p:ph idx="1"/>
          </p:nvPr>
        </p:nvSpPr>
        <p:spPr/>
        <p:txBody>
          <a:bodyPr/>
          <a:lstStyle/>
          <a:p>
            <a:r>
              <a:rPr lang="en-IN" dirty="0"/>
              <a:t>Imagine you have </a:t>
            </a:r>
            <a:r>
              <a:rPr lang="en-IN" b="1" dirty="0"/>
              <a:t>two drawings</a:t>
            </a:r>
            <a:r>
              <a:rPr lang="en-IN" dirty="0"/>
              <a:t>.</a:t>
            </a:r>
          </a:p>
          <a:p>
            <a:r>
              <a:rPr lang="en-IN" b="1" dirty="0"/>
              <a:t>Source Image</a:t>
            </a:r>
          </a:p>
          <a:p>
            <a:r>
              <a:rPr lang="en-IN" dirty="0"/>
              <a:t>This is the picture you want to </a:t>
            </a:r>
            <a:r>
              <a:rPr lang="en-IN" b="1" dirty="0"/>
              <a:t>change</a:t>
            </a:r>
            <a:r>
              <a:rPr lang="en-IN" dirty="0"/>
              <a:t>.(dark cat)</a:t>
            </a:r>
          </a:p>
          <a:p>
            <a:r>
              <a:rPr lang="en-IN" dirty="0"/>
              <a:t>Ta</a:t>
            </a:r>
            <a:r>
              <a:rPr lang="en-IN" b="1" dirty="0"/>
              <a:t>rget Image</a:t>
            </a:r>
          </a:p>
          <a:p>
            <a:r>
              <a:rPr lang="en-IN" dirty="0"/>
              <a:t>This is the picture whose </a:t>
            </a:r>
            <a:r>
              <a:rPr lang="en-IN" dirty="0" err="1"/>
              <a:t>colors</a:t>
            </a:r>
            <a:r>
              <a:rPr lang="en-IN" dirty="0"/>
              <a:t> and brightness you </a:t>
            </a:r>
            <a:r>
              <a:rPr lang="en-IN" b="1" dirty="0"/>
              <a:t>like</a:t>
            </a:r>
            <a:r>
              <a:rPr lang="en-IN" dirty="0"/>
              <a:t>. (bright cat)</a:t>
            </a:r>
          </a:p>
          <a:p>
            <a:endParaRPr lang="en-IN" dirty="0"/>
          </a:p>
          <a:p>
            <a:endParaRPr lang="en-IN" dirty="0"/>
          </a:p>
          <a:p>
            <a:endParaRPr lang="en-IN" dirty="0"/>
          </a:p>
        </p:txBody>
      </p:sp>
    </p:spTree>
    <p:extLst>
      <p:ext uri="{BB962C8B-B14F-4D97-AF65-F5344CB8AC3E}">
        <p14:creationId xmlns:p14="http://schemas.microsoft.com/office/powerpoint/2010/main" val="336148080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AC6E7-08B1-400B-6BA4-A3FCF1B6E12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D716DD7-B213-C9FD-91F4-3AA6DDD53CA9}"/>
              </a:ext>
            </a:extLst>
          </p:cNvPr>
          <p:cNvSpPr>
            <a:spLocks noGrp="1"/>
          </p:cNvSpPr>
          <p:nvPr>
            <p:ph idx="1"/>
          </p:nvPr>
        </p:nvSpPr>
        <p:spPr/>
        <p:txBody>
          <a:bodyPr/>
          <a:lstStyle/>
          <a:p>
            <a:r>
              <a:rPr lang="en-IN" b="1" dirty="0"/>
              <a:t>Histogram Matching</a:t>
            </a:r>
          </a:p>
          <a:p>
            <a:r>
              <a:rPr lang="en-IN" dirty="0"/>
              <a:t>The computer says:</a:t>
            </a:r>
          </a:p>
          <a:p>
            <a:r>
              <a:rPr lang="en-IN" b="1" dirty="0"/>
              <a:t>"Make the source image look like the target image."</a:t>
            </a:r>
            <a:endParaRPr lang="en-IN" dirty="0"/>
          </a:p>
          <a:p>
            <a:r>
              <a:rPr lang="en-IN" dirty="0"/>
              <a:t>It changes:</a:t>
            </a:r>
          </a:p>
          <a:p>
            <a:pPr lvl="0"/>
            <a:r>
              <a:rPr lang="en-IN" dirty="0"/>
              <a:t>Brightness </a:t>
            </a:r>
          </a:p>
          <a:p>
            <a:pPr lvl="0"/>
            <a:r>
              <a:rPr lang="en-IN" dirty="0"/>
              <a:t>Darkness  </a:t>
            </a:r>
          </a:p>
          <a:p>
            <a:pPr lvl="0"/>
            <a:r>
              <a:rPr lang="en-IN" dirty="0" err="1"/>
              <a:t>Color</a:t>
            </a:r>
            <a:r>
              <a:rPr lang="en-IN" dirty="0"/>
              <a:t> distribution</a:t>
            </a:r>
          </a:p>
          <a:p>
            <a:pPr marL="457200" lvl="1" indent="0">
              <a:buNone/>
            </a:pPr>
            <a:endParaRPr lang="en-IN" dirty="0"/>
          </a:p>
        </p:txBody>
      </p:sp>
    </p:spTree>
    <p:extLst>
      <p:ext uri="{BB962C8B-B14F-4D97-AF65-F5344CB8AC3E}">
        <p14:creationId xmlns:p14="http://schemas.microsoft.com/office/powerpoint/2010/main" val="61647338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FD67A-F5AD-FF2E-AE6A-8F4E5E8F212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AB17E6F-FC0B-276F-BB66-AFA61CC67D0A}"/>
              </a:ext>
            </a:extLst>
          </p:cNvPr>
          <p:cNvSpPr>
            <a:spLocks noGrp="1"/>
          </p:cNvSpPr>
          <p:nvPr>
            <p:ph idx="1"/>
          </p:nvPr>
        </p:nvSpPr>
        <p:spPr/>
        <p:txBody>
          <a:bodyPr/>
          <a:lstStyle/>
          <a:p>
            <a:r>
              <a:rPr lang="en-IN" dirty="0"/>
              <a:t>The computer wants to know:</a:t>
            </a:r>
          </a:p>
          <a:p>
            <a:pPr lvl="0"/>
            <a:r>
              <a:rPr lang="en-IN" dirty="0"/>
              <a:t>Where is the circle? </a:t>
            </a:r>
          </a:p>
          <a:p>
            <a:pPr lvl="0"/>
            <a:r>
              <a:rPr lang="en-IN" dirty="0"/>
              <a:t>Where is the square? </a:t>
            </a:r>
          </a:p>
          <a:p>
            <a:pPr lvl="0"/>
            <a:r>
              <a:rPr lang="en-IN" dirty="0"/>
              <a:t>Where is the triangle? </a:t>
            </a:r>
          </a:p>
          <a:p>
            <a:r>
              <a:rPr lang="en-IN" dirty="0"/>
              <a:t>First, OpenCV finds the </a:t>
            </a:r>
            <a:r>
              <a:rPr lang="en-IN" b="1" dirty="0"/>
              <a:t>boundary (outline)</a:t>
            </a:r>
            <a:r>
              <a:rPr lang="en-IN" dirty="0"/>
              <a:t> of each shape.</a:t>
            </a:r>
          </a:p>
          <a:p>
            <a:r>
              <a:rPr lang="en-IN" dirty="0"/>
              <a:t>This boundary is called a </a:t>
            </a:r>
            <a:r>
              <a:rPr lang="en-IN" b="1" dirty="0"/>
              <a:t>contour</a:t>
            </a:r>
            <a:r>
              <a:rPr lang="en-IN" dirty="0"/>
              <a:t>.</a:t>
            </a:r>
          </a:p>
        </p:txBody>
      </p:sp>
    </p:spTree>
    <p:extLst>
      <p:ext uri="{BB962C8B-B14F-4D97-AF65-F5344CB8AC3E}">
        <p14:creationId xmlns:p14="http://schemas.microsoft.com/office/powerpoint/2010/main" val="376711542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E98D5-603B-15F4-8918-AA15623BD4B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5885D3B-DAC5-668C-4C7C-761DD590FAA6}"/>
              </a:ext>
            </a:extLst>
          </p:cNvPr>
          <p:cNvSpPr>
            <a:spLocks noGrp="1"/>
          </p:cNvSpPr>
          <p:nvPr>
            <p:ph idx="1"/>
          </p:nvPr>
        </p:nvSpPr>
        <p:spPr/>
        <p:txBody>
          <a:bodyPr/>
          <a:lstStyle/>
          <a:p>
            <a:r>
              <a:rPr lang="en-IN" b="1" dirty="0"/>
              <a:t>Look at each shape one by one.</a:t>
            </a:r>
            <a:endParaRPr lang="en-IN" dirty="0"/>
          </a:p>
          <a:p>
            <a:r>
              <a:rPr lang="en-IN" dirty="0"/>
              <a:t>Suppose there are 3 shapes.</a:t>
            </a:r>
          </a:p>
          <a:p>
            <a:r>
              <a:rPr lang="en-IN" dirty="0"/>
              <a:t>Contour 1 = Circle</a:t>
            </a:r>
          </a:p>
          <a:p>
            <a:endParaRPr lang="en-IN" dirty="0"/>
          </a:p>
          <a:p>
            <a:r>
              <a:rPr lang="en-IN" dirty="0"/>
              <a:t>Contour 2 = Square</a:t>
            </a:r>
          </a:p>
          <a:p>
            <a:endParaRPr lang="en-IN" dirty="0"/>
          </a:p>
          <a:p>
            <a:r>
              <a:rPr lang="en-IN" dirty="0"/>
              <a:t>Contour 3 = Triangle</a:t>
            </a:r>
          </a:p>
          <a:p>
            <a:endParaRPr lang="en-IN" dirty="0"/>
          </a:p>
        </p:txBody>
      </p:sp>
    </p:spTree>
    <p:extLst>
      <p:ext uri="{BB962C8B-B14F-4D97-AF65-F5344CB8AC3E}">
        <p14:creationId xmlns:p14="http://schemas.microsoft.com/office/powerpoint/2010/main" val="69627392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7C26E-27C1-1C7A-9997-0DA29A668FB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6A06EC4-D70B-F125-162B-11C54B4C816C}"/>
              </a:ext>
            </a:extLst>
          </p:cNvPr>
          <p:cNvSpPr>
            <a:spLocks noGrp="1"/>
          </p:cNvSpPr>
          <p:nvPr>
            <p:ph idx="1"/>
          </p:nvPr>
        </p:nvSpPr>
        <p:spPr/>
        <p:txBody>
          <a:bodyPr/>
          <a:lstStyle/>
          <a:p>
            <a:r>
              <a:rPr lang="en-IN" dirty="0"/>
              <a:t>Calculate how much space is inside this shape.</a:t>
            </a:r>
          </a:p>
          <a:p>
            <a:endParaRPr lang="en-IN" dirty="0"/>
          </a:p>
          <a:p>
            <a:r>
              <a:rPr lang="en-IN" dirty="0"/>
              <a:t>Convex Hull:</a:t>
            </a:r>
          </a:p>
          <a:p>
            <a:r>
              <a:rPr lang="en-IN" dirty="0"/>
              <a:t>Imagine you have a </a:t>
            </a:r>
            <a:r>
              <a:rPr lang="en-IN" b="1" dirty="0"/>
              <a:t>rubber band</a:t>
            </a:r>
            <a:r>
              <a:rPr lang="en-IN" dirty="0"/>
              <a:t>.</a:t>
            </a:r>
          </a:p>
          <a:p>
            <a:r>
              <a:rPr lang="en-IN" dirty="0"/>
              <a:t>Suppose your object looks like this:</a:t>
            </a:r>
          </a:p>
          <a:p>
            <a:r>
              <a:rPr lang="en-IN" dirty="0"/>
              <a:t>It has </a:t>
            </a:r>
            <a:r>
              <a:rPr lang="en-IN" b="1" dirty="0"/>
              <a:t>dents</a:t>
            </a:r>
            <a:r>
              <a:rPr lang="en-IN" dirty="0"/>
              <a:t>.</a:t>
            </a:r>
          </a:p>
          <a:p>
            <a:r>
              <a:rPr lang="en-IN" dirty="0"/>
              <a:t>Now stretch a rubber band around it.</a:t>
            </a:r>
          </a:p>
          <a:p>
            <a:r>
              <a:rPr lang="en-IN" dirty="0"/>
              <a:t>The rubber band cannot go inside the dents.</a:t>
            </a:r>
          </a:p>
          <a:p>
            <a:endParaRPr lang="en-IN" dirty="0"/>
          </a:p>
        </p:txBody>
      </p:sp>
    </p:spTree>
    <p:extLst>
      <p:ext uri="{BB962C8B-B14F-4D97-AF65-F5344CB8AC3E}">
        <p14:creationId xmlns:p14="http://schemas.microsoft.com/office/powerpoint/2010/main" val="311069415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24046-9246-26DD-2625-976415BA3D1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0596218-0BD5-989F-760A-F1E535C68C48}"/>
              </a:ext>
            </a:extLst>
          </p:cNvPr>
          <p:cNvSpPr>
            <a:spLocks noGrp="1"/>
          </p:cNvSpPr>
          <p:nvPr>
            <p:ph idx="1"/>
          </p:nvPr>
        </p:nvSpPr>
        <p:spPr/>
        <p:txBody>
          <a:bodyPr/>
          <a:lstStyle/>
          <a:p>
            <a:r>
              <a:rPr lang="en-IN" dirty="0"/>
              <a:t>cv2.convexHull() is useful whenever you want the </a:t>
            </a:r>
            <a:r>
              <a:rPr lang="en-IN" b="1" dirty="0"/>
              <a:t>outer shape</a:t>
            </a:r>
            <a:r>
              <a:rPr lang="en-IN" dirty="0"/>
              <a:t> of an object instead of every tiny detail in its boundary.</a:t>
            </a:r>
          </a:p>
          <a:p>
            <a:r>
              <a:rPr lang="en-IN" dirty="0"/>
              <a:t>Here are the most common uses.</a:t>
            </a:r>
          </a:p>
          <a:p>
            <a:r>
              <a:rPr lang="en-IN" b="1" dirty="0"/>
              <a:t>1. Object Detection</a:t>
            </a:r>
          </a:p>
          <a:p>
            <a:r>
              <a:rPr lang="en-IN" dirty="0"/>
              <a:t>Suppose you detect an apple.</a:t>
            </a:r>
          </a:p>
          <a:p>
            <a:r>
              <a:rPr lang="en-IN" dirty="0"/>
              <a:t>The contour may have many small dents because of noise.</a:t>
            </a:r>
          </a:p>
          <a:p>
            <a:r>
              <a:rPr lang="en-IN" dirty="0"/>
              <a:t>Convex Hull gives a smooth outer boundary.</a:t>
            </a:r>
          </a:p>
        </p:txBody>
      </p:sp>
    </p:spTree>
    <p:extLst>
      <p:ext uri="{BB962C8B-B14F-4D97-AF65-F5344CB8AC3E}">
        <p14:creationId xmlns:p14="http://schemas.microsoft.com/office/powerpoint/2010/main" val="161755127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9C1F5-85EC-1993-DBE2-B57BEA0188B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ED1F3D2-F4BE-05D1-1650-B7073E0DE475}"/>
              </a:ext>
            </a:extLst>
          </p:cNvPr>
          <p:cNvSpPr>
            <a:spLocks noGrp="1"/>
          </p:cNvSpPr>
          <p:nvPr>
            <p:ph idx="1"/>
          </p:nvPr>
        </p:nvSpPr>
        <p:spPr/>
        <p:txBody>
          <a:bodyPr/>
          <a:lstStyle/>
          <a:p>
            <a:r>
              <a:rPr lang="en-IN" b="1" dirty="0"/>
              <a:t>2. Hand Gesture Recognition </a:t>
            </a:r>
          </a:p>
          <a:p>
            <a:r>
              <a:rPr lang="en-IN" dirty="0"/>
              <a:t>This is one of the </a:t>
            </a:r>
            <a:r>
              <a:rPr lang="en-IN" b="1" dirty="0"/>
              <a:t>most common uses</a:t>
            </a:r>
            <a:r>
              <a:rPr lang="en-IN" dirty="0"/>
              <a:t>.</a:t>
            </a:r>
          </a:p>
          <a:p>
            <a:r>
              <a:rPr lang="en-IN" dirty="0"/>
              <a:t>Original hand</a:t>
            </a:r>
          </a:p>
          <a:p>
            <a:r>
              <a:rPr lang="en-IN" dirty="0"/>
              <a:t>The spaces between fingers are dents.</a:t>
            </a:r>
          </a:p>
          <a:p>
            <a:r>
              <a:rPr lang="en-IN" dirty="0"/>
              <a:t>Convex Hull wraps around the hand.</a:t>
            </a:r>
          </a:p>
          <a:p>
            <a:r>
              <a:rPr lang="en-IN" dirty="0"/>
              <a:t>Then OpenCV measures the gaps (called </a:t>
            </a:r>
            <a:r>
              <a:rPr lang="en-IN" b="1" dirty="0"/>
              <a:t>convexity defects</a:t>
            </a:r>
            <a:r>
              <a:rPr lang="en-IN" dirty="0"/>
              <a:t>) to count fingers.</a:t>
            </a:r>
          </a:p>
          <a:p>
            <a:endParaRPr lang="en-IN" dirty="0"/>
          </a:p>
        </p:txBody>
      </p:sp>
    </p:spTree>
    <p:extLst>
      <p:ext uri="{BB962C8B-B14F-4D97-AF65-F5344CB8AC3E}">
        <p14:creationId xmlns:p14="http://schemas.microsoft.com/office/powerpoint/2010/main" val="16860551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33981-FE5B-AA75-57BD-CC53110681E4}"/>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042331DB-C46E-0E55-B365-CF2A962850FF}"/>
              </a:ext>
            </a:extLst>
          </p:cNvPr>
          <p:cNvPicPr>
            <a:picLocks noGrp="1" noChangeAspect="1"/>
          </p:cNvPicPr>
          <p:nvPr>
            <p:ph idx="1"/>
          </p:nvPr>
        </p:nvPicPr>
        <p:blipFill>
          <a:blip r:embed="rId2"/>
          <a:stretch>
            <a:fillRect/>
          </a:stretch>
        </p:blipFill>
        <p:spPr>
          <a:xfrm>
            <a:off x="4043362" y="2062956"/>
            <a:ext cx="4105275" cy="3876675"/>
          </a:xfrm>
          <a:prstGeom prst="rect">
            <a:avLst/>
          </a:prstGeom>
        </p:spPr>
      </p:pic>
    </p:spTree>
    <p:extLst>
      <p:ext uri="{BB962C8B-B14F-4D97-AF65-F5344CB8AC3E}">
        <p14:creationId xmlns:p14="http://schemas.microsoft.com/office/powerpoint/2010/main" val="38272262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CB475-B97C-0C28-A996-A9AE87DB7E47}"/>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FC69DF2D-5E9B-2956-1EE7-2A9DB32F0730}"/>
              </a:ext>
            </a:extLst>
          </p:cNvPr>
          <p:cNvPicPr>
            <a:picLocks noGrp="1" noChangeAspect="1"/>
          </p:cNvPicPr>
          <p:nvPr>
            <p:ph idx="1"/>
          </p:nvPr>
        </p:nvPicPr>
        <p:blipFill>
          <a:blip r:embed="rId2"/>
          <a:stretch>
            <a:fillRect/>
          </a:stretch>
        </p:blipFill>
        <p:spPr>
          <a:xfrm>
            <a:off x="3124200" y="1915319"/>
            <a:ext cx="5943600" cy="4171950"/>
          </a:xfrm>
          <a:prstGeom prst="rect">
            <a:avLst/>
          </a:prstGeom>
        </p:spPr>
      </p:pic>
    </p:spTree>
    <p:extLst>
      <p:ext uri="{BB962C8B-B14F-4D97-AF65-F5344CB8AC3E}">
        <p14:creationId xmlns:p14="http://schemas.microsoft.com/office/powerpoint/2010/main" val="218285181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18723-C9D9-8F6B-D1E5-B8DC1D82885C}"/>
              </a:ext>
            </a:extLst>
          </p:cNvPr>
          <p:cNvSpPr>
            <a:spLocks noGrp="1"/>
          </p:cNvSpPr>
          <p:nvPr>
            <p:ph type="title"/>
          </p:nvPr>
        </p:nvSpPr>
        <p:spPr/>
        <p:txBody>
          <a:bodyPr/>
          <a:lstStyle/>
          <a:p>
            <a:r>
              <a:rPr lang="en-IN" dirty="0"/>
              <a:t>Adaptive threshold </a:t>
            </a:r>
          </a:p>
        </p:txBody>
      </p:sp>
      <p:sp>
        <p:nvSpPr>
          <p:cNvPr id="3" name="Content Placeholder 2">
            <a:extLst>
              <a:ext uri="{FF2B5EF4-FFF2-40B4-BE49-F238E27FC236}">
                <a16:creationId xmlns:a16="http://schemas.microsoft.com/office/drawing/2014/main" id="{C1BABEDE-3505-1D39-5BCF-5B09E8FF8E9A}"/>
              </a:ext>
            </a:extLst>
          </p:cNvPr>
          <p:cNvSpPr>
            <a:spLocks noGrp="1"/>
          </p:cNvSpPr>
          <p:nvPr>
            <p:ph idx="1"/>
          </p:nvPr>
        </p:nvSpPr>
        <p:spPr/>
        <p:txBody>
          <a:bodyPr>
            <a:normAutofit fontScale="92500" lnSpcReduction="10000"/>
          </a:bodyPr>
          <a:lstStyle/>
          <a:p>
            <a:r>
              <a:rPr lang="en-IN" dirty="0"/>
              <a:t>I'll choose a different threshold for different areas of the image.“</a:t>
            </a:r>
          </a:p>
          <a:p>
            <a:r>
              <a:rPr lang="en-IN" dirty="0"/>
              <a:t>This is useful when the image has </a:t>
            </a:r>
            <a:r>
              <a:rPr lang="en-IN" b="1" dirty="0"/>
              <a:t>uneven lighting</a:t>
            </a:r>
            <a:r>
              <a:rPr lang="en-IN" dirty="0"/>
              <a:t>.</a:t>
            </a:r>
          </a:p>
          <a:p>
            <a:r>
              <a:rPr lang="en-IN" dirty="0"/>
              <a:t>One threshold may not work well for both areas.</a:t>
            </a:r>
          </a:p>
          <a:p>
            <a:r>
              <a:rPr lang="en-IN" dirty="0"/>
              <a:t>Adaptive threshold looks at a </a:t>
            </a:r>
            <a:r>
              <a:rPr lang="en-IN" b="1" dirty="0"/>
              <a:t>small </a:t>
            </a:r>
            <a:r>
              <a:rPr lang="en-IN" b="1" dirty="0" err="1"/>
              <a:t>neighborhood</a:t>
            </a:r>
            <a:r>
              <a:rPr lang="en-IN" b="1" dirty="0"/>
              <a:t> around each pixel</a:t>
            </a:r>
            <a:r>
              <a:rPr lang="en-IN" dirty="0"/>
              <a:t> and calculates a suitable threshold for that area.</a:t>
            </a:r>
          </a:p>
          <a:p>
            <a:r>
              <a:rPr lang="en-IN" b="1" dirty="0"/>
              <a:t>Normal threshold:</a:t>
            </a:r>
            <a:endParaRPr lang="en-IN" dirty="0"/>
          </a:p>
          <a:p>
            <a:r>
              <a:rPr lang="en-IN" dirty="0"/>
              <a:t>"Everyone in the whole image uses threshold = 100."</a:t>
            </a:r>
          </a:p>
          <a:p>
            <a:r>
              <a:rPr lang="en-IN" b="1" dirty="0"/>
              <a:t>Adaptive threshold:</a:t>
            </a:r>
            <a:endParaRPr lang="en-IN" dirty="0"/>
          </a:p>
          <a:p>
            <a:r>
              <a:rPr lang="en-IN" dirty="0"/>
              <a:t>"You use the threshold suitable for your </a:t>
            </a:r>
            <a:r>
              <a:rPr lang="en-IN" dirty="0" err="1"/>
              <a:t>neighborhood</a:t>
            </a:r>
            <a:r>
              <a:rPr lang="en-IN" dirty="0"/>
              <a:t>; you use yours; you use yours..."</a:t>
            </a:r>
          </a:p>
          <a:p>
            <a:endParaRPr lang="en-IN" dirty="0"/>
          </a:p>
        </p:txBody>
      </p:sp>
    </p:spTree>
    <p:extLst>
      <p:ext uri="{BB962C8B-B14F-4D97-AF65-F5344CB8AC3E}">
        <p14:creationId xmlns:p14="http://schemas.microsoft.com/office/powerpoint/2010/main" val="273955143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A73A-CC33-66F1-566A-402B42DFFF58}"/>
              </a:ext>
            </a:extLst>
          </p:cNvPr>
          <p:cNvSpPr>
            <a:spLocks noGrp="1"/>
          </p:cNvSpPr>
          <p:nvPr>
            <p:ph type="title"/>
          </p:nvPr>
        </p:nvSpPr>
        <p:spPr/>
        <p:txBody>
          <a:bodyPr/>
          <a:lstStyle/>
          <a:p>
            <a:r>
              <a:rPr lang="en-IN" dirty="0"/>
              <a:t>REGION BASED REPRESENTATION</a:t>
            </a:r>
          </a:p>
        </p:txBody>
      </p:sp>
      <p:sp>
        <p:nvSpPr>
          <p:cNvPr id="3" name="Content Placeholder 2">
            <a:extLst>
              <a:ext uri="{FF2B5EF4-FFF2-40B4-BE49-F238E27FC236}">
                <a16:creationId xmlns:a16="http://schemas.microsoft.com/office/drawing/2014/main" id="{FF6C8A5D-A8FA-FC52-AEF4-30FE88026D8C}"/>
              </a:ext>
            </a:extLst>
          </p:cNvPr>
          <p:cNvSpPr>
            <a:spLocks noGrp="1"/>
          </p:cNvSpPr>
          <p:nvPr>
            <p:ph idx="1"/>
          </p:nvPr>
        </p:nvSpPr>
        <p:spPr/>
        <p:txBody>
          <a:bodyPr/>
          <a:lstStyle/>
          <a:p>
            <a:r>
              <a:rPr lang="en-IN" dirty="0"/>
              <a:t>Imagine your binary image contains separate white objects:</a:t>
            </a:r>
          </a:p>
          <a:p>
            <a:r>
              <a:rPr lang="en-IN" dirty="0"/>
              <a:t>There are </a:t>
            </a:r>
            <a:r>
              <a:rPr lang="en-IN" b="1" dirty="0"/>
              <a:t>2 separate white objects</a:t>
            </a:r>
            <a:r>
              <a:rPr lang="en-IN" dirty="0"/>
              <a:t>.</a:t>
            </a:r>
          </a:p>
          <a:p>
            <a:r>
              <a:rPr lang="en-IN" dirty="0" err="1"/>
              <a:t>connectedComponents</a:t>
            </a:r>
            <a:r>
              <a:rPr lang="en-IN" dirty="0"/>
              <a:t>() finds them.</a:t>
            </a:r>
          </a:p>
          <a:p>
            <a:r>
              <a:rPr lang="en-IN" dirty="0" err="1"/>
              <a:t>num_labels</a:t>
            </a:r>
            <a:r>
              <a:rPr lang="en-IN" dirty="0"/>
              <a:t> tells you how many </a:t>
            </a:r>
            <a:r>
              <a:rPr lang="en-IN" b="1" dirty="0"/>
              <a:t>regions/labels</a:t>
            </a:r>
            <a:r>
              <a:rPr lang="en-IN" dirty="0"/>
              <a:t> were found.</a:t>
            </a:r>
          </a:p>
          <a:p>
            <a:r>
              <a:rPr lang="en-IN" dirty="0"/>
              <a:t>OpenCV also counts the </a:t>
            </a:r>
            <a:r>
              <a:rPr lang="en-IN" b="1" dirty="0"/>
              <a:t>background</a:t>
            </a:r>
            <a:r>
              <a:rPr lang="en-IN" dirty="0"/>
              <a:t> as a component.</a:t>
            </a:r>
          </a:p>
        </p:txBody>
      </p:sp>
    </p:spTree>
    <p:extLst>
      <p:ext uri="{BB962C8B-B14F-4D97-AF65-F5344CB8AC3E}">
        <p14:creationId xmlns:p14="http://schemas.microsoft.com/office/powerpoint/2010/main" val="303315029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EBFDA-29F0-01D5-DE48-6E62E87228D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7DBBEFC-68B6-16E1-303F-5D9B519116B9}"/>
              </a:ext>
            </a:extLst>
          </p:cNvPr>
          <p:cNvSpPr>
            <a:spLocks noGrp="1"/>
          </p:cNvSpPr>
          <p:nvPr>
            <p:ph idx="1"/>
          </p:nvPr>
        </p:nvSpPr>
        <p:spPr/>
        <p:txBody>
          <a:bodyPr/>
          <a:lstStyle/>
          <a:p>
            <a:r>
              <a:rPr lang="en-IN" dirty="0"/>
              <a:t>seed = (100, 100)</a:t>
            </a:r>
          </a:p>
          <a:p>
            <a:r>
              <a:rPr lang="en-IN" dirty="0"/>
              <a:t>This is </a:t>
            </a:r>
            <a:r>
              <a:rPr lang="en-IN" b="1" dirty="0"/>
              <a:t>very important</a:t>
            </a:r>
            <a:r>
              <a:rPr lang="en-IN" dirty="0"/>
              <a:t>.</a:t>
            </a:r>
          </a:p>
          <a:p>
            <a:r>
              <a:rPr lang="en-IN" dirty="0"/>
              <a:t>It means:</a:t>
            </a:r>
          </a:p>
          <a:p>
            <a:r>
              <a:rPr lang="en-IN" dirty="0"/>
              <a:t>Start the flood fill at coordinate (100, 100).</a:t>
            </a:r>
          </a:p>
          <a:p>
            <a:r>
              <a:rPr lang="en-IN" dirty="0"/>
              <a:t>It is an OpenCV function used to </a:t>
            </a:r>
            <a:r>
              <a:rPr lang="en-IN" b="1" dirty="0"/>
              <a:t>fill a connected region with a new </a:t>
            </a:r>
            <a:r>
              <a:rPr lang="en-IN" b="1" dirty="0" err="1"/>
              <a:t>color</a:t>
            </a:r>
            <a:r>
              <a:rPr lang="en-IN" dirty="0"/>
              <a:t>.</a:t>
            </a:r>
          </a:p>
          <a:p>
            <a:endParaRPr lang="en-IN" dirty="0"/>
          </a:p>
        </p:txBody>
      </p:sp>
    </p:spTree>
    <p:extLst>
      <p:ext uri="{BB962C8B-B14F-4D97-AF65-F5344CB8AC3E}">
        <p14:creationId xmlns:p14="http://schemas.microsoft.com/office/powerpoint/2010/main" val="317817305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E5984-CD2B-042C-0968-AB28C89AAE3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704667B-E038-956F-CC18-F3C3DC1F7B76}"/>
              </a:ext>
            </a:extLst>
          </p:cNvPr>
          <p:cNvSpPr>
            <a:spLocks noGrp="1"/>
          </p:cNvSpPr>
          <p:nvPr>
            <p:ph idx="1"/>
          </p:nvPr>
        </p:nvSpPr>
        <p:spPr/>
        <p:txBody>
          <a:bodyPr>
            <a:normAutofit fontScale="92500" lnSpcReduction="20000"/>
          </a:bodyPr>
          <a:lstStyle/>
          <a:p>
            <a:r>
              <a:rPr lang="en-IN" dirty="0"/>
              <a:t>Imagine the image is:</a:t>
            </a:r>
          </a:p>
          <a:p>
            <a:pPr marL="0" indent="0">
              <a:buNone/>
            </a:pPr>
            <a:r>
              <a:rPr lang="en-IN" dirty="0"/>
              <a:t>⬜⬜⬜</a:t>
            </a:r>
          </a:p>
          <a:p>
            <a:pPr marL="0" indent="0">
              <a:buNone/>
            </a:pPr>
            <a:r>
              <a:rPr lang="en-IN" dirty="0"/>
              <a:t>⬜⬜⬜</a:t>
            </a:r>
          </a:p>
          <a:p>
            <a:pPr marL="0" indent="0">
              <a:buNone/>
            </a:pPr>
            <a:r>
              <a:rPr lang="en-IN" dirty="0"/>
              <a:t>⬜⬜⬜</a:t>
            </a:r>
          </a:p>
          <a:p>
            <a:r>
              <a:rPr lang="en-IN" dirty="0"/>
              <a:t>Flood fill's mask needs a </a:t>
            </a:r>
            <a:r>
              <a:rPr lang="en-IN" b="1" dirty="0"/>
              <a:t>1-pixel border around it</a:t>
            </a:r>
            <a:r>
              <a:rPr lang="en-IN" dirty="0"/>
              <a:t>:</a:t>
            </a:r>
          </a:p>
          <a:p>
            <a:pPr marL="0" indent="0">
              <a:buNone/>
            </a:pPr>
            <a:r>
              <a:rPr lang="en-IN" dirty="0"/>
              <a:t>⬛⬛⬛⬛⬛</a:t>
            </a:r>
          </a:p>
          <a:p>
            <a:pPr marL="0" indent="0">
              <a:buNone/>
            </a:pPr>
            <a:r>
              <a:rPr lang="en-IN" dirty="0"/>
              <a:t>⬛⬜⬜⬜⬛</a:t>
            </a:r>
          </a:p>
          <a:p>
            <a:pPr marL="0" indent="0">
              <a:buNone/>
            </a:pPr>
            <a:r>
              <a:rPr lang="en-IN" dirty="0"/>
              <a:t>⬛⬜⬜⬜⬛</a:t>
            </a:r>
          </a:p>
          <a:p>
            <a:pPr marL="0" indent="0">
              <a:buNone/>
            </a:pPr>
            <a:r>
              <a:rPr lang="en-IN" dirty="0"/>
              <a:t>⬛⬜⬜⬜⬛</a:t>
            </a:r>
          </a:p>
          <a:p>
            <a:pPr marL="0" indent="0">
              <a:buNone/>
            </a:pPr>
            <a:r>
              <a:rPr lang="en-IN" dirty="0"/>
              <a:t>⬛⬛⬛⬛⬛</a:t>
            </a:r>
          </a:p>
          <a:p>
            <a:endParaRPr lang="en-IN" dirty="0"/>
          </a:p>
        </p:txBody>
      </p:sp>
    </p:spTree>
    <p:extLst>
      <p:ext uri="{BB962C8B-B14F-4D97-AF65-F5344CB8AC3E}">
        <p14:creationId xmlns:p14="http://schemas.microsoft.com/office/powerpoint/2010/main" val="326621231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4FB2F-3C40-247C-36EA-12E23425B28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423B51A-7DF4-D346-CDBB-86FDE530DD4C}"/>
              </a:ext>
            </a:extLst>
          </p:cNvPr>
          <p:cNvSpPr>
            <a:spLocks noGrp="1"/>
          </p:cNvSpPr>
          <p:nvPr>
            <p:ph idx="1"/>
          </p:nvPr>
        </p:nvSpPr>
        <p:spPr/>
        <p:txBody>
          <a:bodyPr/>
          <a:lstStyle/>
          <a:p>
            <a:r>
              <a:rPr lang="en-IN" dirty="0"/>
              <a:t>There is:</a:t>
            </a:r>
          </a:p>
          <a:p>
            <a:pPr lvl="0"/>
            <a:r>
              <a:rPr lang="en-IN" b="1" dirty="0"/>
              <a:t>1 extra row at the top</a:t>
            </a:r>
            <a:r>
              <a:rPr lang="en-IN" dirty="0"/>
              <a:t> </a:t>
            </a:r>
          </a:p>
          <a:p>
            <a:pPr lvl="0"/>
            <a:r>
              <a:rPr lang="en-IN" b="1" dirty="0"/>
              <a:t>1 extra row at the bottom</a:t>
            </a:r>
            <a:r>
              <a:rPr lang="en-IN" dirty="0"/>
              <a:t> → +2 height </a:t>
            </a:r>
          </a:p>
          <a:p>
            <a:pPr lvl="0"/>
            <a:r>
              <a:rPr lang="en-IN" b="1" dirty="0"/>
              <a:t>1 extra column on the left</a:t>
            </a:r>
            <a:r>
              <a:rPr lang="en-IN" dirty="0"/>
              <a:t> </a:t>
            </a:r>
          </a:p>
          <a:p>
            <a:pPr lvl="0"/>
            <a:r>
              <a:rPr lang="en-IN" b="1" dirty="0"/>
              <a:t>1 extra column on the right</a:t>
            </a:r>
            <a:r>
              <a:rPr lang="en-IN" dirty="0"/>
              <a:t> → +2 width</a:t>
            </a:r>
          </a:p>
          <a:p>
            <a:endParaRPr lang="en-IN" dirty="0"/>
          </a:p>
        </p:txBody>
      </p:sp>
    </p:spTree>
    <p:extLst>
      <p:ext uri="{BB962C8B-B14F-4D97-AF65-F5344CB8AC3E}">
        <p14:creationId xmlns:p14="http://schemas.microsoft.com/office/powerpoint/2010/main" val="16378230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AC133-566C-71D5-EDD4-99EF95293B85}"/>
              </a:ext>
            </a:extLst>
          </p:cNvPr>
          <p:cNvSpPr>
            <a:spLocks noGrp="1"/>
          </p:cNvSpPr>
          <p:nvPr>
            <p:ph type="title"/>
          </p:nvPr>
        </p:nvSpPr>
        <p:spPr/>
        <p:txBody>
          <a:bodyPr/>
          <a:lstStyle/>
          <a:p>
            <a:r>
              <a:rPr lang="en-IN" b="1" dirty="0"/>
              <a:t>Watershed segmentation</a:t>
            </a:r>
            <a:endParaRPr lang="en-IN" dirty="0"/>
          </a:p>
        </p:txBody>
      </p:sp>
      <p:sp>
        <p:nvSpPr>
          <p:cNvPr id="3" name="Content Placeholder 2">
            <a:extLst>
              <a:ext uri="{FF2B5EF4-FFF2-40B4-BE49-F238E27FC236}">
                <a16:creationId xmlns:a16="http://schemas.microsoft.com/office/drawing/2014/main" id="{B6A9A1E7-EF5B-E39F-E0D9-F70E7BF3984E}"/>
              </a:ext>
            </a:extLst>
          </p:cNvPr>
          <p:cNvSpPr>
            <a:spLocks noGrp="1"/>
          </p:cNvSpPr>
          <p:nvPr>
            <p:ph idx="1"/>
          </p:nvPr>
        </p:nvSpPr>
        <p:spPr/>
        <p:txBody>
          <a:bodyPr/>
          <a:lstStyle/>
          <a:p>
            <a:r>
              <a:rPr lang="en-IN" b="1" dirty="0"/>
              <a:t>Watershed segmentation is a technique used to separate objects that are touching each other.</a:t>
            </a:r>
            <a:endParaRPr lang="en-IN" dirty="0"/>
          </a:p>
          <a:p>
            <a:r>
              <a:rPr lang="en-IN" dirty="0"/>
              <a:t>Think about </a:t>
            </a:r>
            <a:r>
              <a:rPr lang="en-IN" b="1" dirty="0"/>
              <a:t>mountains and water</a:t>
            </a:r>
            <a:r>
              <a:rPr lang="en-IN" dirty="0"/>
              <a:t>.</a:t>
            </a:r>
          </a:p>
          <a:p>
            <a:r>
              <a:rPr lang="en-IN" dirty="0"/>
              <a:t>Now imagine </a:t>
            </a:r>
            <a:r>
              <a:rPr lang="en-IN" b="1" dirty="0"/>
              <a:t>rain falling</a:t>
            </a:r>
          </a:p>
          <a:p>
            <a:r>
              <a:rPr lang="en-IN" dirty="0"/>
              <a:t>Water fills the low areas. When water from two different areas is about to meet, we build a </a:t>
            </a:r>
            <a:r>
              <a:rPr lang="en-IN" b="1" dirty="0"/>
              <a:t>boundary</a:t>
            </a:r>
            <a:r>
              <a:rPr lang="en-IN" dirty="0"/>
              <a:t> between them.</a:t>
            </a:r>
          </a:p>
          <a:p>
            <a:r>
              <a:rPr lang="en-IN" dirty="0"/>
              <a:t>That boundary is the </a:t>
            </a:r>
            <a:r>
              <a:rPr lang="en-IN" b="1" dirty="0"/>
              <a:t>watershed line</a:t>
            </a:r>
            <a:r>
              <a:rPr lang="en-IN" dirty="0"/>
              <a:t>.</a:t>
            </a:r>
          </a:p>
          <a:p>
            <a:endParaRPr lang="en-IN" dirty="0"/>
          </a:p>
          <a:p>
            <a:endParaRPr lang="en-IN" dirty="0"/>
          </a:p>
          <a:p>
            <a:endParaRPr lang="en-IN" dirty="0"/>
          </a:p>
        </p:txBody>
      </p:sp>
    </p:spTree>
    <p:extLst>
      <p:ext uri="{BB962C8B-B14F-4D97-AF65-F5344CB8AC3E}">
        <p14:creationId xmlns:p14="http://schemas.microsoft.com/office/powerpoint/2010/main" val="328320470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48129-CD3A-BC23-1C26-B253A13FB27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A9394C7-477A-7753-AB29-0D8804BD0A53}"/>
              </a:ext>
            </a:extLst>
          </p:cNvPr>
          <p:cNvSpPr>
            <a:spLocks noGrp="1"/>
          </p:cNvSpPr>
          <p:nvPr>
            <p:ph idx="1"/>
          </p:nvPr>
        </p:nvSpPr>
        <p:spPr/>
        <p:txBody>
          <a:bodyPr/>
          <a:lstStyle/>
          <a:p>
            <a:r>
              <a:rPr lang="en-IN" b="1" dirty="0"/>
              <a:t>Watershed = separate touching objects by finding boundaries between them.</a:t>
            </a:r>
            <a:endParaRPr lang="en-IN" dirty="0"/>
          </a:p>
          <a:p>
            <a:r>
              <a:rPr lang="en-IN" dirty="0"/>
              <a:t>It's especially useful for </a:t>
            </a:r>
            <a:r>
              <a:rPr lang="en-IN" b="1" dirty="0"/>
              <a:t>counting cells, separating touching coins, separating objects in medical images, etc.</a:t>
            </a:r>
            <a:endParaRPr lang="en-IN" dirty="0"/>
          </a:p>
          <a:p>
            <a:endParaRPr lang="en-IN" dirty="0"/>
          </a:p>
        </p:txBody>
      </p:sp>
    </p:spTree>
    <p:extLst>
      <p:ext uri="{BB962C8B-B14F-4D97-AF65-F5344CB8AC3E}">
        <p14:creationId xmlns:p14="http://schemas.microsoft.com/office/powerpoint/2010/main" val="319262770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E6861-4D22-CEDB-3C5B-4D4F2045B93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BDAE830-CAC1-277D-A6B1-111927136DC5}"/>
              </a:ext>
            </a:extLst>
          </p:cNvPr>
          <p:cNvSpPr>
            <a:spLocks noGrp="1"/>
          </p:cNvSpPr>
          <p:nvPr>
            <p:ph idx="1"/>
          </p:nvPr>
        </p:nvSpPr>
        <p:spPr/>
        <p:txBody>
          <a:bodyPr/>
          <a:lstStyle/>
          <a:p>
            <a:pPr marL="0" indent="0">
              <a:buNone/>
            </a:pPr>
            <a:r>
              <a:rPr lang="en-IN" dirty="0"/>
              <a:t>⬛⬛⬛⬛⬛⬛⬛</a:t>
            </a:r>
          </a:p>
          <a:p>
            <a:pPr marL="0" indent="0">
              <a:buNone/>
            </a:pPr>
            <a:r>
              <a:rPr lang="en-IN" dirty="0"/>
              <a:t>⬛⬜⬜⬛⬛⬜⬛</a:t>
            </a:r>
          </a:p>
          <a:p>
            <a:pPr marL="0" indent="0">
              <a:buNone/>
            </a:pPr>
            <a:r>
              <a:rPr lang="en-IN" dirty="0"/>
              <a:t>⬛⬜⬜⬛⬛⬜⬛</a:t>
            </a:r>
          </a:p>
          <a:p>
            <a:pPr marL="0" indent="0">
              <a:buNone/>
            </a:pPr>
            <a:r>
              <a:rPr lang="en-IN" dirty="0"/>
              <a:t>⬛⬛⬛⬛⬛⬛⬛</a:t>
            </a:r>
          </a:p>
          <a:p>
            <a:pPr marL="0" indent="0">
              <a:buNone/>
            </a:pPr>
            <a:endParaRPr lang="en-IN" dirty="0"/>
          </a:p>
          <a:p>
            <a:pPr marL="0" indent="0">
              <a:buNone/>
            </a:pPr>
            <a:r>
              <a:rPr lang="en-IN" dirty="0"/>
              <a:t>There are </a:t>
            </a:r>
            <a:r>
              <a:rPr lang="en-IN" b="1" dirty="0"/>
              <a:t>2 separate white objects</a:t>
            </a:r>
            <a:r>
              <a:rPr lang="en-IN" dirty="0"/>
              <a:t>.	</a:t>
            </a:r>
          </a:p>
        </p:txBody>
      </p:sp>
    </p:spTree>
    <p:extLst>
      <p:ext uri="{BB962C8B-B14F-4D97-AF65-F5344CB8AC3E}">
        <p14:creationId xmlns:p14="http://schemas.microsoft.com/office/powerpoint/2010/main" val="330123930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86E4D-49E8-2A2B-2B1C-99B4FE44E5E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05672EB-D951-E5B1-AF39-BC8FDAECCA3A}"/>
              </a:ext>
            </a:extLst>
          </p:cNvPr>
          <p:cNvSpPr>
            <a:spLocks noGrp="1"/>
          </p:cNvSpPr>
          <p:nvPr>
            <p:ph idx="1"/>
          </p:nvPr>
        </p:nvSpPr>
        <p:spPr/>
        <p:txBody>
          <a:bodyPr/>
          <a:lstStyle/>
          <a:p>
            <a:r>
              <a:rPr lang="en-IN" dirty="0"/>
              <a:t>0 0 0 0 0 0 0</a:t>
            </a:r>
          </a:p>
          <a:p>
            <a:r>
              <a:rPr lang="en-IN" dirty="0"/>
              <a:t>0 1 1 0 0 2 0</a:t>
            </a:r>
          </a:p>
          <a:p>
            <a:r>
              <a:rPr lang="en-IN" dirty="0"/>
              <a:t>0 1 1 0 0 2 0</a:t>
            </a:r>
          </a:p>
          <a:p>
            <a:r>
              <a:rPr lang="en-IN" dirty="0"/>
              <a:t>0 0 0 0 0 0 0</a:t>
            </a:r>
          </a:p>
          <a:p>
            <a:endParaRPr lang="en-IN" dirty="0"/>
          </a:p>
          <a:p>
            <a:r>
              <a:rPr lang="en-IN" dirty="0"/>
              <a:t>0 → background</a:t>
            </a:r>
          </a:p>
          <a:p>
            <a:r>
              <a:rPr lang="en-IN" dirty="0"/>
              <a:t> 1 → object 1</a:t>
            </a:r>
          </a:p>
          <a:p>
            <a:r>
              <a:rPr lang="en-IN" dirty="0"/>
              <a:t> 2 → object 2</a:t>
            </a:r>
          </a:p>
        </p:txBody>
      </p:sp>
    </p:spTree>
    <p:extLst>
      <p:ext uri="{BB962C8B-B14F-4D97-AF65-F5344CB8AC3E}">
        <p14:creationId xmlns:p14="http://schemas.microsoft.com/office/powerpoint/2010/main" val="183646182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E5756-3DC9-E121-A335-E6CF587DBEC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E6CA36D-AD76-D22F-B0FC-248425928318}"/>
              </a:ext>
            </a:extLst>
          </p:cNvPr>
          <p:cNvSpPr>
            <a:spLocks noGrp="1"/>
          </p:cNvSpPr>
          <p:nvPr>
            <p:ph idx="1"/>
          </p:nvPr>
        </p:nvSpPr>
        <p:spPr/>
        <p:txBody>
          <a:bodyPr/>
          <a:lstStyle/>
          <a:p>
            <a:r>
              <a:rPr lang="en-IN" dirty="0"/>
              <a:t>What is </a:t>
            </a:r>
            <a:r>
              <a:rPr lang="en-IN" dirty="0" err="1"/>
              <a:t>distanceTransform</a:t>
            </a:r>
            <a:r>
              <a:rPr lang="en-IN" dirty="0"/>
              <a:t>()?</a:t>
            </a:r>
          </a:p>
          <a:p>
            <a:r>
              <a:rPr lang="en-IN" dirty="0"/>
              <a:t>cv2.distanceTransform() calculates the </a:t>
            </a:r>
            <a:r>
              <a:rPr lang="en-IN" b="1" dirty="0"/>
              <a:t>distance of each foreground pixel from the nearest background pixel</a:t>
            </a:r>
            <a:r>
              <a:rPr lang="en-IN" dirty="0"/>
              <a:t>.</a:t>
            </a:r>
          </a:p>
          <a:p>
            <a:r>
              <a:rPr lang="en-IN" dirty="0"/>
              <a:t>You have a white circle on a black background:</a:t>
            </a:r>
          </a:p>
          <a:p>
            <a:r>
              <a:rPr lang="en-IN" dirty="0"/>
              <a:t>The pixels near the </a:t>
            </a:r>
            <a:r>
              <a:rPr lang="en-IN" b="1" dirty="0"/>
              <a:t>edge</a:t>
            </a:r>
            <a:r>
              <a:rPr lang="en-IN" dirty="0"/>
              <a:t> are close to the black background.</a:t>
            </a:r>
          </a:p>
          <a:p>
            <a:r>
              <a:rPr lang="en-IN" dirty="0"/>
              <a:t>The pixels in the </a:t>
            </a:r>
            <a:r>
              <a:rPr lang="en-IN" b="1" dirty="0"/>
              <a:t>middle</a:t>
            </a:r>
            <a:r>
              <a:rPr lang="en-IN" dirty="0"/>
              <a:t> are far from the black background.</a:t>
            </a:r>
          </a:p>
          <a:p>
            <a:r>
              <a:rPr lang="en-IN" dirty="0"/>
              <a:t>So OpenCV calculates:</a:t>
            </a:r>
          </a:p>
        </p:txBody>
      </p:sp>
    </p:spTree>
    <p:extLst>
      <p:ext uri="{BB962C8B-B14F-4D97-AF65-F5344CB8AC3E}">
        <p14:creationId xmlns:p14="http://schemas.microsoft.com/office/powerpoint/2010/main" val="299386927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E7B6F4-38D5-BFA8-2CDE-D9F93C020C26}"/>
              </a:ext>
            </a:extLst>
          </p:cNvPr>
          <p:cNvSpPr>
            <a:spLocks noGrp="1"/>
          </p:cNvSpPr>
          <p:nvPr>
            <p:ph idx="1"/>
          </p:nvPr>
        </p:nvSpPr>
        <p:spPr>
          <a:xfrm>
            <a:off x="838200" y="413238"/>
            <a:ext cx="10515600" cy="5763725"/>
          </a:xfrm>
        </p:spPr>
        <p:txBody>
          <a:bodyPr>
            <a:normAutofit fontScale="85000" lnSpcReduction="20000"/>
          </a:bodyPr>
          <a:lstStyle/>
          <a:p>
            <a:r>
              <a:rPr lang="en-IN" dirty="0"/>
              <a:t>Edge → small distance</a:t>
            </a:r>
          </a:p>
          <a:p>
            <a:r>
              <a:rPr lang="en-IN" dirty="0"/>
              <a:t> Middle → large distance</a:t>
            </a:r>
          </a:p>
          <a:p>
            <a:r>
              <a:rPr lang="en-IN" dirty="0"/>
              <a:t>So </a:t>
            </a:r>
            <a:r>
              <a:rPr lang="en-IN" dirty="0" err="1"/>
              <a:t>distanceTransform</a:t>
            </a:r>
            <a:r>
              <a:rPr lang="en-IN" dirty="0"/>
              <a:t>() creates a kind of </a:t>
            </a:r>
            <a:r>
              <a:rPr lang="en-IN" b="1" dirty="0"/>
              <a:t>distance map</a:t>
            </a:r>
            <a:r>
              <a:rPr lang="en-IN" dirty="0"/>
              <a:t>.</a:t>
            </a:r>
          </a:p>
          <a:p>
            <a:r>
              <a:rPr lang="en-US" dirty="0"/>
              <a:t>Black = 0</a:t>
            </a:r>
          </a:p>
          <a:p>
            <a:r>
              <a:rPr lang="en-US" dirty="0"/>
              <a:t>White = 255</a:t>
            </a:r>
          </a:p>
          <a:p>
            <a:endParaRPr lang="en-US" dirty="0"/>
          </a:p>
          <a:p>
            <a:pPr marL="0" indent="0">
              <a:buNone/>
            </a:pPr>
            <a:r>
              <a:rPr lang="en-US" dirty="0"/>
              <a:t>      Object</a:t>
            </a:r>
          </a:p>
          <a:p>
            <a:pPr marL="0" indent="0">
              <a:buNone/>
            </a:pPr>
            <a:r>
              <a:rPr lang="en-US" dirty="0"/>
              <a:t>       ↓</a:t>
            </a:r>
          </a:p>
          <a:p>
            <a:pPr marL="0" indent="0">
              <a:buNone/>
            </a:pPr>
            <a:endParaRPr lang="en-US" dirty="0"/>
          </a:p>
          <a:p>
            <a:pPr marL="0" indent="0">
              <a:buNone/>
            </a:pPr>
            <a:r>
              <a:rPr lang="en-US" dirty="0"/>
              <a:t>000000000</a:t>
            </a:r>
          </a:p>
          <a:p>
            <a:pPr marL="0" indent="0">
              <a:buNone/>
            </a:pPr>
            <a:r>
              <a:rPr lang="en-US" dirty="0"/>
              <a:t>000111000</a:t>
            </a:r>
          </a:p>
          <a:p>
            <a:pPr marL="0" indent="0">
              <a:buNone/>
            </a:pPr>
            <a:r>
              <a:rPr lang="en-US" dirty="0"/>
              <a:t>001111100</a:t>
            </a:r>
          </a:p>
          <a:p>
            <a:pPr marL="0" indent="0">
              <a:buNone/>
            </a:pPr>
            <a:r>
              <a:rPr lang="en-US" dirty="0"/>
              <a:t>001111100</a:t>
            </a:r>
          </a:p>
          <a:p>
            <a:pPr marL="0" indent="0">
              <a:buNone/>
            </a:pPr>
            <a:r>
              <a:rPr lang="en-US" dirty="0"/>
              <a:t>000111000</a:t>
            </a:r>
          </a:p>
          <a:p>
            <a:pPr marL="0" indent="0">
              <a:buNone/>
            </a:pPr>
            <a:r>
              <a:rPr lang="en-US" dirty="0"/>
              <a:t>000000000</a:t>
            </a:r>
            <a:endParaRPr lang="en-IN" dirty="0"/>
          </a:p>
        </p:txBody>
      </p:sp>
    </p:spTree>
    <p:extLst>
      <p:ext uri="{BB962C8B-B14F-4D97-AF65-F5344CB8AC3E}">
        <p14:creationId xmlns:p14="http://schemas.microsoft.com/office/powerpoint/2010/main" val="187919639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E2189-C329-D579-F77C-F04EEC7E5B9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5B2400C-B04E-7294-7668-091E960BD10D}"/>
              </a:ext>
            </a:extLst>
          </p:cNvPr>
          <p:cNvSpPr>
            <a:spLocks noGrp="1"/>
          </p:cNvSpPr>
          <p:nvPr>
            <p:ph idx="1"/>
          </p:nvPr>
        </p:nvSpPr>
        <p:spPr/>
        <p:txBody>
          <a:bodyPr/>
          <a:lstStyle/>
          <a:p>
            <a:r>
              <a:rPr lang="en-IN" dirty="0"/>
              <a:t>Here, the white pixels (1/255) are the </a:t>
            </a:r>
            <a:r>
              <a:rPr lang="en-IN" b="1" dirty="0"/>
              <a:t>foreground</a:t>
            </a:r>
            <a:r>
              <a:rPr lang="en-IN" dirty="0"/>
              <a:t>, and black pixels (0) are the </a:t>
            </a:r>
            <a:r>
              <a:rPr lang="en-IN" b="1" dirty="0"/>
              <a:t>background</a:t>
            </a:r>
            <a:r>
              <a:rPr lang="en-IN" dirty="0"/>
              <a:t>.</a:t>
            </a:r>
          </a:p>
          <a:p>
            <a:r>
              <a:rPr lang="en-IN" dirty="0"/>
              <a:t>The distance transform works on this binary image.</a:t>
            </a:r>
          </a:p>
          <a:p>
            <a:r>
              <a:rPr lang="en-IN" dirty="0"/>
              <a:t>cv2.DIST_L2</a:t>
            </a:r>
          </a:p>
          <a:p>
            <a:r>
              <a:rPr lang="en-IN" dirty="0"/>
              <a:t>specifies </a:t>
            </a:r>
            <a:r>
              <a:rPr lang="en-IN" b="1" dirty="0"/>
              <a:t>how distance should be calculated</a:t>
            </a:r>
            <a:r>
              <a:rPr lang="en-IN" dirty="0"/>
              <a:t>.</a:t>
            </a:r>
          </a:p>
          <a:p>
            <a:r>
              <a:rPr lang="en-IN" dirty="0"/>
              <a:t>L2 means </a:t>
            </a:r>
            <a:r>
              <a:rPr lang="en-IN" b="1" dirty="0"/>
              <a:t>Euclidean distance</a:t>
            </a:r>
            <a:r>
              <a:rPr lang="en-IN" dirty="0"/>
              <a:t>.</a:t>
            </a:r>
          </a:p>
          <a:p>
            <a:endParaRPr lang="en-IN" dirty="0"/>
          </a:p>
        </p:txBody>
      </p:sp>
    </p:spTree>
    <p:extLst>
      <p:ext uri="{BB962C8B-B14F-4D97-AF65-F5344CB8AC3E}">
        <p14:creationId xmlns:p14="http://schemas.microsoft.com/office/powerpoint/2010/main" val="149633653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03687-ECAB-299D-98A2-E28C69E544E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1EFC4F8-1990-B245-1CA7-D4E3CF0451EC}"/>
              </a:ext>
            </a:extLst>
          </p:cNvPr>
          <p:cNvSpPr>
            <a:spLocks noGrp="1"/>
          </p:cNvSpPr>
          <p:nvPr>
            <p:ph idx="1"/>
          </p:nvPr>
        </p:nvSpPr>
        <p:spPr/>
        <p:txBody>
          <a:bodyPr/>
          <a:lstStyle/>
          <a:p>
            <a:r>
              <a:rPr lang="en-IN" dirty="0"/>
              <a:t>For example, suppose we have two pixels:</a:t>
            </a:r>
          </a:p>
          <a:p>
            <a:pPr marL="0" indent="0">
              <a:buNone/>
            </a:pPr>
            <a:r>
              <a:rPr lang="en-IN" dirty="0"/>
              <a:t>A </a:t>
            </a:r>
          </a:p>
          <a:p>
            <a:pPr marL="0" indent="0">
              <a:buNone/>
            </a:pPr>
            <a:r>
              <a:rPr lang="en-IN" dirty="0"/>
              <a:t>  |</a:t>
            </a:r>
          </a:p>
          <a:p>
            <a:pPr marL="0" indent="0">
              <a:buNone/>
            </a:pPr>
            <a:r>
              <a:rPr lang="en-IN" dirty="0"/>
              <a:t>  | 3 pixels</a:t>
            </a:r>
          </a:p>
          <a:p>
            <a:pPr marL="0" indent="0">
              <a:buNone/>
            </a:pPr>
            <a:r>
              <a:rPr lang="en-IN" dirty="0"/>
              <a:t>  |</a:t>
            </a:r>
          </a:p>
          <a:p>
            <a:pPr marL="0" indent="0">
              <a:buNone/>
            </a:pPr>
            <a:r>
              <a:rPr lang="en-IN" dirty="0"/>
              <a:t>  |</a:t>
            </a:r>
          </a:p>
          <a:p>
            <a:pPr marL="0" indent="0">
              <a:buNone/>
            </a:pPr>
            <a:r>
              <a:rPr lang="en-IN" dirty="0"/>
              <a:t>B</a:t>
            </a:r>
          </a:p>
          <a:p>
            <a:pPr marL="0" indent="0">
              <a:buNone/>
            </a:pPr>
            <a:r>
              <a:rPr lang="en-IN" dirty="0"/>
              <a:t>The Euclidean distance is: 3</a:t>
            </a:r>
          </a:p>
        </p:txBody>
      </p:sp>
    </p:spTree>
    <p:extLst>
      <p:ext uri="{BB962C8B-B14F-4D97-AF65-F5344CB8AC3E}">
        <p14:creationId xmlns:p14="http://schemas.microsoft.com/office/powerpoint/2010/main" val="175731798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F17EF-3DF6-41B8-67D6-BB42F921160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77DFAA0-1E01-77C0-72F1-722078361598}"/>
              </a:ext>
            </a:extLst>
          </p:cNvPr>
          <p:cNvSpPr>
            <a:spLocks noGrp="1"/>
          </p:cNvSpPr>
          <p:nvPr>
            <p:ph idx="1"/>
          </p:nvPr>
        </p:nvSpPr>
        <p:spPr/>
        <p:txBody>
          <a:bodyPr>
            <a:normAutofit fontScale="85000" lnSpcReduction="20000"/>
          </a:bodyPr>
          <a:lstStyle/>
          <a:p>
            <a:r>
              <a:rPr lang="en-IN" dirty="0"/>
              <a:t>But imagine diagonal movement:</a:t>
            </a:r>
          </a:p>
          <a:p>
            <a:pPr marL="0" indent="0">
              <a:buNone/>
            </a:pPr>
            <a:r>
              <a:rPr lang="en-IN" dirty="0"/>
              <a:t>A ●</a:t>
            </a:r>
          </a:p>
          <a:p>
            <a:pPr marL="0" indent="0">
              <a:buNone/>
            </a:pPr>
            <a:r>
              <a:rPr lang="en-IN" dirty="0"/>
              <a:t>   \</a:t>
            </a:r>
          </a:p>
          <a:p>
            <a:pPr marL="0" indent="0">
              <a:buNone/>
            </a:pPr>
            <a:r>
              <a:rPr lang="en-IN" dirty="0"/>
              <a:t>    \</a:t>
            </a:r>
          </a:p>
          <a:p>
            <a:pPr marL="0" indent="0">
              <a:buNone/>
            </a:pPr>
            <a:r>
              <a:rPr lang="en-IN" dirty="0"/>
              <a:t>     ● B</a:t>
            </a:r>
          </a:p>
          <a:p>
            <a:r>
              <a:rPr lang="en-IN" dirty="0"/>
              <a:t>Euclidean distance is based on:</a:t>
            </a:r>
          </a:p>
          <a:p>
            <a:r>
              <a:rPr lang="en-IN" dirty="0"/>
              <a:t>d=(x2​−x1​)^2+(y2​−y1​)^2​ </a:t>
            </a:r>
          </a:p>
          <a:p>
            <a:r>
              <a:rPr lang="en-IN" dirty="0"/>
              <a:t>For example:</a:t>
            </a:r>
          </a:p>
          <a:p>
            <a:r>
              <a:rPr lang="en-IN" dirty="0"/>
              <a:t>d=</a:t>
            </a:r>
            <a:r>
              <a:rPr lang="en-IN" dirty="0" err="1"/>
              <a:t>underoot</a:t>
            </a:r>
            <a:r>
              <a:rPr lang="en-IN" dirty="0"/>
              <a:t>(3^2+4^2​) d=5 </a:t>
            </a:r>
          </a:p>
          <a:p>
            <a:r>
              <a:rPr lang="en-IN" dirty="0"/>
              <a:t>So DIST_L2 basically means:</a:t>
            </a:r>
          </a:p>
          <a:p>
            <a:r>
              <a:rPr lang="en-IN" b="1" dirty="0"/>
              <a:t>Use normal geometric/Euclidean distance.</a:t>
            </a:r>
            <a:endParaRPr lang="en-IN" dirty="0"/>
          </a:p>
          <a:p>
            <a:pPr marL="0" indent="0">
              <a:buNone/>
            </a:pPr>
            <a:endParaRPr lang="en-IN" dirty="0"/>
          </a:p>
        </p:txBody>
      </p:sp>
    </p:spTree>
    <p:extLst>
      <p:ext uri="{BB962C8B-B14F-4D97-AF65-F5344CB8AC3E}">
        <p14:creationId xmlns:p14="http://schemas.microsoft.com/office/powerpoint/2010/main" val="403303332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033FC-298E-C250-9294-3238EFD8D1AD}"/>
              </a:ext>
            </a:extLst>
          </p:cNvPr>
          <p:cNvSpPr>
            <a:spLocks noGrp="1"/>
          </p:cNvSpPr>
          <p:nvPr>
            <p:ph type="title"/>
          </p:nvPr>
        </p:nvSpPr>
        <p:spPr/>
        <p:txBody>
          <a:bodyPr/>
          <a:lstStyle/>
          <a:p>
            <a:r>
              <a:rPr lang="en-IN" dirty="0" err="1"/>
              <a:t>Whats</a:t>
            </a:r>
            <a:r>
              <a:rPr lang="en-IN" dirty="0"/>
              <a:t> the need of :</a:t>
            </a:r>
          </a:p>
        </p:txBody>
      </p:sp>
      <p:sp>
        <p:nvSpPr>
          <p:cNvPr id="3" name="Content Placeholder 2">
            <a:extLst>
              <a:ext uri="{FF2B5EF4-FFF2-40B4-BE49-F238E27FC236}">
                <a16:creationId xmlns:a16="http://schemas.microsoft.com/office/drawing/2014/main" id="{215A6C51-C1DC-9835-ED2C-B00DA1A13455}"/>
              </a:ext>
            </a:extLst>
          </p:cNvPr>
          <p:cNvSpPr>
            <a:spLocks noGrp="1"/>
          </p:cNvSpPr>
          <p:nvPr>
            <p:ph idx="1"/>
          </p:nvPr>
        </p:nvSpPr>
        <p:spPr/>
        <p:txBody>
          <a:bodyPr/>
          <a:lstStyle/>
          <a:p>
            <a:r>
              <a:rPr lang="en-IN" dirty="0"/>
              <a:t>Suppose we have </a:t>
            </a:r>
            <a:r>
              <a:rPr lang="en-IN" b="1" dirty="0"/>
              <a:t>two touching coins</a:t>
            </a:r>
            <a:r>
              <a:rPr lang="en-IN" dirty="0"/>
              <a:t>:</a:t>
            </a:r>
          </a:p>
          <a:p>
            <a:r>
              <a:rPr lang="en-IN" dirty="0"/>
              <a:t>The two coins are touching.</a:t>
            </a:r>
          </a:p>
          <a:p>
            <a:r>
              <a:rPr lang="en-IN" dirty="0"/>
              <a:t>After thresholding, they may look like </a:t>
            </a:r>
            <a:r>
              <a:rPr lang="en-IN" b="1" dirty="0"/>
              <a:t>one connected object</a:t>
            </a:r>
            <a:r>
              <a:rPr lang="en-IN" dirty="0"/>
              <a:t>:</a:t>
            </a:r>
          </a:p>
          <a:p>
            <a:r>
              <a:rPr lang="en-IN" dirty="0"/>
              <a:t>We need to tell watershed:</a:t>
            </a:r>
          </a:p>
          <a:p>
            <a:r>
              <a:rPr lang="en-IN" dirty="0"/>
              <a:t>"This area belongs to object 1."</a:t>
            </a:r>
          </a:p>
          <a:p>
            <a:r>
              <a:rPr lang="en-IN" dirty="0"/>
              <a:t>and</a:t>
            </a:r>
          </a:p>
          <a:p>
            <a:r>
              <a:rPr lang="en-IN" dirty="0"/>
              <a:t>"This area belongs to object 2."</a:t>
            </a:r>
          </a:p>
          <a:p>
            <a:r>
              <a:rPr lang="en-IN" dirty="0"/>
              <a:t>The distance transform helps us find the </a:t>
            </a:r>
            <a:r>
              <a:rPr lang="en-IN" b="1" dirty="0" err="1"/>
              <a:t>center</a:t>
            </a:r>
            <a:r>
              <a:rPr lang="en-IN" b="1" dirty="0"/>
              <a:t> of each object</a:t>
            </a:r>
            <a:r>
              <a:rPr lang="en-IN" dirty="0"/>
              <a:t>.</a:t>
            </a:r>
          </a:p>
          <a:p>
            <a:endParaRPr lang="en-IN" dirty="0"/>
          </a:p>
        </p:txBody>
      </p:sp>
    </p:spTree>
    <p:extLst>
      <p:ext uri="{BB962C8B-B14F-4D97-AF65-F5344CB8AC3E}">
        <p14:creationId xmlns:p14="http://schemas.microsoft.com/office/powerpoint/2010/main" val="301945356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0B623-9693-C0E2-69F4-16DB7EF9362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2E0232F-FABE-6022-4FE2-8FA446654495}"/>
              </a:ext>
            </a:extLst>
          </p:cNvPr>
          <p:cNvSpPr>
            <a:spLocks noGrp="1"/>
          </p:cNvSpPr>
          <p:nvPr>
            <p:ph idx="1"/>
          </p:nvPr>
        </p:nvSpPr>
        <p:spPr/>
        <p:txBody>
          <a:bodyPr/>
          <a:lstStyle/>
          <a:p>
            <a:r>
              <a:rPr lang="en-IN" dirty="0"/>
              <a:t>We use </a:t>
            </a:r>
            <a:r>
              <a:rPr lang="en-IN" b="1" dirty="0" err="1"/>
              <a:t>distanceTransform</a:t>
            </a:r>
            <a:r>
              <a:rPr lang="en-IN" b="1" dirty="0"/>
              <a:t>() to find the </a:t>
            </a:r>
            <a:r>
              <a:rPr lang="en-IN" b="1" dirty="0" err="1"/>
              <a:t>center</a:t>
            </a:r>
            <a:r>
              <a:rPr lang="en-IN" b="1" dirty="0"/>
              <a:t>/core of each object</a:t>
            </a:r>
            <a:r>
              <a:rPr lang="en-IN" dirty="0"/>
              <a:t>.</a:t>
            </a:r>
          </a:p>
          <a:p>
            <a:r>
              <a:rPr lang="en-IN" dirty="0"/>
              <a:t>Watershed uses these points to </a:t>
            </a:r>
            <a:r>
              <a:rPr lang="en-IN" b="1" dirty="0"/>
              <a:t>separate the touching objects</a:t>
            </a:r>
            <a:r>
              <a:rPr lang="en-IN" dirty="0"/>
              <a:t>.</a:t>
            </a:r>
          </a:p>
          <a:p>
            <a:r>
              <a:rPr lang="en-IN" dirty="0"/>
              <a:t>Imagine a white object on a black background:</a:t>
            </a:r>
          </a:p>
          <a:p>
            <a:r>
              <a:rPr lang="en-IN" dirty="0"/>
              <a:t>or every white pixel, </a:t>
            </a:r>
            <a:r>
              <a:rPr lang="en-IN" dirty="0" err="1"/>
              <a:t>distanceTransform</a:t>
            </a:r>
            <a:r>
              <a:rPr lang="en-IN" dirty="0"/>
              <a:t>() asks:</a:t>
            </a:r>
          </a:p>
          <a:p>
            <a:r>
              <a:rPr lang="en-IN" b="1" dirty="0"/>
              <a:t>"How far am I from the nearest black pixel (edge)?“</a:t>
            </a:r>
          </a:p>
          <a:p>
            <a:r>
              <a:rPr lang="en-IN"/>
              <a:t>operation </a:t>
            </a:r>
            <a:r>
              <a:rPr lang="en-IN" dirty="0"/>
              <a:t>is "cv2.distanceTransform" which calculates the distance of each white pixel in the binary image to the closest black pixel.</a:t>
            </a:r>
          </a:p>
          <a:p>
            <a:endParaRPr lang="en-IN" dirty="0"/>
          </a:p>
        </p:txBody>
      </p:sp>
    </p:spTree>
    <p:extLst>
      <p:ext uri="{BB962C8B-B14F-4D97-AF65-F5344CB8AC3E}">
        <p14:creationId xmlns:p14="http://schemas.microsoft.com/office/powerpoint/2010/main" val="398477692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2A472-C286-2E1E-392A-317E551218D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565C17E-3418-EB9F-D5D3-BA89D2D965E6}"/>
              </a:ext>
            </a:extLst>
          </p:cNvPr>
          <p:cNvSpPr>
            <a:spLocks noGrp="1"/>
          </p:cNvSpPr>
          <p:nvPr>
            <p:ph idx="1"/>
          </p:nvPr>
        </p:nvSpPr>
        <p:spPr/>
        <p:txBody>
          <a:bodyPr>
            <a:normAutofit fontScale="92500" lnSpcReduction="20000"/>
          </a:bodyPr>
          <a:lstStyle/>
          <a:p>
            <a:r>
              <a:rPr lang="en-IN" dirty="0"/>
              <a:t>The </a:t>
            </a:r>
            <a:r>
              <a:rPr lang="en-IN" b="1" dirty="0" err="1"/>
              <a:t>center</a:t>
            </a:r>
            <a:r>
              <a:rPr lang="en-IN" b="1" dirty="0"/>
              <a:t> gets the biggest number</a:t>
            </a:r>
            <a:r>
              <a:rPr lang="en-IN" dirty="0"/>
              <a:t> because it is </a:t>
            </a:r>
            <a:r>
              <a:rPr lang="en-IN" b="1" dirty="0"/>
              <a:t>farthest from the boundary</a:t>
            </a:r>
            <a:r>
              <a:rPr lang="en-IN" dirty="0"/>
              <a:t>.</a:t>
            </a:r>
          </a:p>
          <a:p>
            <a:pPr marL="0" indent="0">
              <a:buNone/>
            </a:pPr>
            <a:r>
              <a:rPr lang="en-US" dirty="0"/>
              <a:t>Edge → small distance</a:t>
            </a:r>
          </a:p>
          <a:p>
            <a:pPr marL="0" indent="0">
              <a:buNone/>
            </a:pPr>
            <a:r>
              <a:rPr lang="en-US" dirty="0"/>
              <a:t>        ↓</a:t>
            </a:r>
          </a:p>
          <a:p>
            <a:pPr marL="0" indent="0">
              <a:buNone/>
            </a:pPr>
            <a:r>
              <a:rPr lang="en-US" dirty="0"/>
              <a:t>      1 2 3</a:t>
            </a:r>
          </a:p>
          <a:p>
            <a:pPr marL="0" indent="0">
              <a:buNone/>
            </a:pPr>
            <a:r>
              <a:rPr lang="en-US" dirty="0"/>
              <a:t>      2 3 4</a:t>
            </a:r>
          </a:p>
          <a:p>
            <a:pPr marL="0" indent="0">
              <a:buNone/>
            </a:pPr>
            <a:r>
              <a:rPr lang="en-US" dirty="0"/>
              <a:t>      3 4 5  ← center</a:t>
            </a:r>
          </a:p>
          <a:p>
            <a:pPr marL="0" indent="0">
              <a:buNone/>
            </a:pPr>
            <a:r>
              <a:rPr lang="en-US" dirty="0"/>
              <a:t>      2 3 4</a:t>
            </a:r>
          </a:p>
          <a:p>
            <a:pPr marL="0" indent="0">
              <a:buNone/>
            </a:pPr>
            <a:r>
              <a:rPr lang="en-US" dirty="0"/>
              <a:t>      1 2 3</a:t>
            </a:r>
          </a:p>
          <a:p>
            <a:pPr marL="0" indent="0">
              <a:buNone/>
            </a:pPr>
            <a:r>
              <a:rPr lang="en-US" dirty="0"/>
              <a:t>        ↑</a:t>
            </a:r>
          </a:p>
          <a:p>
            <a:pPr marL="0" indent="0">
              <a:buNone/>
            </a:pPr>
            <a:r>
              <a:rPr lang="en-US" dirty="0"/>
              <a:t>Edge → small distance</a:t>
            </a:r>
            <a:endParaRPr lang="en-IN" dirty="0"/>
          </a:p>
        </p:txBody>
      </p:sp>
    </p:spTree>
    <p:extLst>
      <p:ext uri="{BB962C8B-B14F-4D97-AF65-F5344CB8AC3E}">
        <p14:creationId xmlns:p14="http://schemas.microsoft.com/office/powerpoint/2010/main" val="267020588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AD6BB-4B5F-5C0D-0483-DE8EBD6C1BC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2845F75-3B6C-6549-8E84-D69C02013935}"/>
              </a:ext>
            </a:extLst>
          </p:cNvPr>
          <p:cNvSpPr>
            <a:spLocks noGrp="1"/>
          </p:cNvSpPr>
          <p:nvPr>
            <p:ph idx="1"/>
          </p:nvPr>
        </p:nvSpPr>
        <p:spPr/>
        <p:txBody>
          <a:bodyPr>
            <a:normAutofit lnSpcReduction="10000"/>
          </a:bodyPr>
          <a:lstStyle/>
          <a:p>
            <a:r>
              <a:rPr lang="en-IN" dirty="0"/>
              <a:t>So OpenCV doesn't literally say </a:t>
            </a:r>
            <a:r>
              <a:rPr lang="en-IN" b="1" dirty="0"/>
              <a:t>"this is the </a:t>
            </a:r>
            <a:r>
              <a:rPr lang="en-IN" b="1" dirty="0" err="1"/>
              <a:t>center</a:t>
            </a:r>
            <a:r>
              <a:rPr lang="en-IN" b="1" dirty="0"/>
              <a:t>."</a:t>
            </a:r>
            <a:endParaRPr lang="en-IN" dirty="0"/>
          </a:p>
          <a:p>
            <a:r>
              <a:rPr lang="en-IN" dirty="0"/>
              <a:t>Instead, it calculates the distance for every pixel. Then </a:t>
            </a:r>
            <a:r>
              <a:rPr lang="en-IN" b="1" dirty="0"/>
              <a:t>the pixels with the largest distances are considered the </a:t>
            </a:r>
            <a:r>
              <a:rPr lang="en-IN" b="1" dirty="0" err="1"/>
              <a:t>center</a:t>
            </a:r>
            <a:r>
              <a:rPr lang="en-IN" b="1" dirty="0"/>
              <a:t>/core</a:t>
            </a:r>
            <a:r>
              <a:rPr lang="en-IN" dirty="0"/>
              <a:t>.</a:t>
            </a:r>
          </a:p>
          <a:p>
            <a:r>
              <a:rPr lang="en-US" dirty="0"/>
              <a:t>_, </a:t>
            </a:r>
            <a:r>
              <a:rPr lang="en-US" dirty="0" err="1"/>
              <a:t>sure_fg</a:t>
            </a:r>
            <a:r>
              <a:rPr lang="en-US" dirty="0"/>
              <a:t> = cv2.threshold(</a:t>
            </a:r>
          </a:p>
          <a:p>
            <a:r>
              <a:rPr lang="en-US" dirty="0"/>
              <a:t>    </a:t>
            </a:r>
            <a:r>
              <a:rPr lang="en-US" dirty="0" err="1"/>
              <a:t>dist</a:t>
            </a:r>
            <a:r>
              <a:rPr lang="en-US" dirty="0"/>
              <a:t>,</a:t>
            </a:r>
          </a:p>
          <a:p>
            <a:r>
              <a:rPr lang="en-US" dirty="0"/>
              <a:t>    0.5 * </a:t>
            </a:r>
            <a:r>
              <a:rPr lang="en-US" dirty="0" err="1"/>
              <a:t>dist.max</a:t>
            </a:r>
            <a:r>
              <a:rPr lang="en-US" dirty="0"/>
              <a:t>(),</a:t>
            </a:r>
          </a:p>
          <a:p>
            <a:r>
              <a:rPr lang="en-US" dirty="0"/>
              <a:t>    255,</a:t>
            </a:r>
          </a:p>
          <a:p>
            <a:r>
              <a:rPr lang="en-US" dirty="0"/>
              <a:t>    0</a:t>
            </a:r>
          </a:p>
          <a:p>
            <a:r>
              <a:rPr lang="en-US" dirty="0"/>
              <a:t>)</a:t>
            </a:r>
            <a:endParaRPr lang="en-IN" dirty="0"/>
          </a:p>
        </p:txBody>
      </p:sp>
    </p:spTree>
    <p:extLst>
      <p:ext uri="{BB962C8B-B14F-4D97-AF65-F5344CB8AC3E}">
        <p14:creationId xmlns:p14="http://schemas.microsoft.com/office/powerpoint/2010/main" val="404373518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86535-5E21-2295-CA70-1E58F571EB6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D5FC9FC-A7A5-059A-46C5-9559138E2D57}"/>
              </a:ext>
            </a:extLst>
          </p:cNvPr>
          <p:cNvSpPr>
            <a:spLocks noGrp="1"/>
          </p:cNvSpPr>
          <p:nvPr>
            <p:ph idx="1"/>
          </p:nvPr>
        </p:nvSpPr>
        <p:spPr/>
        <p:txBody>
          <a:bodyPr/>
          <a:lstStyle/>
          <a:p>
            <a:r>
              <a:rPr lang="en-IN" dirty="0"/>
              <a:t>Taking the d</a:t>
            </a:r>
            <a:r>
              <a:rPr lang="en-IN" b="1" dirty="0"/>
              <a:t>istance-transform image and keeping only the pixels that are most likely to be the </a:t>
            </a:r>
            <a:r>
              <a:rPr lang="en-IN" b="1" dirty="0" err="1"/>
              <a:t>center</a:t>
            </a:r>
            <a:r>
              <a:rPr lang="en-IN" b="1" dirty="0"/>
              <a:t> of the objects</a:t>
            </a:r>
            <a:r>
              <a:rPr lang="en-IN" dirty="0"/>
              <a:t>.</a:t>
            </a:r>
            <a:br>
              <a:rPr lang="en-IN" dirty="0"/>
            </a:br>
            <a:r>
              <a:rPr lang="en-IN" dirty="0"/>
              <a:t>First, remember </a:t>
            </a:r>
            <a:r>
              <a:rPr lang="en-IN" dirty="0" err="1"/>
              <a:t>dist</a:t>
            </a:r>
            <a:endParaRPr lang="en-IN" dirty="0"/>
          </a:p>
          <a:p>
            <a:r>
              <a:rPr lang="en-IN" dirty="0"/>
              <a:t>1  2  3  2  1</a:t>
            </a:r>
          </a:p>
          <a:p>
            <a:r>
              <a:rPr lang="en-IN" dirty="0"/>
              <a:t>2  3  4  3  2</a:t>
            </a:r>
          </a:p>
          <a:p>
            <a:r>
              <a:rPr lang="en-IN" dirty="0"/>
              <a:t>3  4  5  4  3</a:t>
            </a:r>
          </a:p>
          <a:p>
            <a:r>
              <a:rPr lang="en-IN" dirty="0"/>
              <a:t>2  3  4  3  2</a:t>
            </a:r>
          </a:p>
          <a:p>
            <a:r>
              <a:rPr lang="en-IN" dirty="0"/>
              <a:t>1  2  3  2  1</a:t>
            </a:r>
          </a:p>
        </p:txBody>
      </p:sp>
    </p:spTree>
    <p:extLst>
      <p:ext uri="{BB962C8B-B14F-4D97-AF65-F5344CB8AC3E}">
        <p14:creationId xmlns:p14="http://schemas.microsoft.com/office/powerpoint/2010/main" val="145127296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34550-1DFD-02A2-6EF4-21D32DCDA33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535D52F-AE80-6474-0D20-84EBF40D765E}"/>
              </a:ext>
            </a:extLst>
          </p:cNvPr>
          <p:cNvSpPr>
            <a:spLocks noGrp="1"/>
          </p:cNvSpPr>
          <p:nvPr>
            <p:ph idx="1"/>
          </p:nvPr>
        </p:nvSpPr>
        <p:spPr/>
        <p:txBody>
          <a:bodyPr/>
          <a:lstStyle/>
          <a:p>
            <a:r>
              <a:rPr lang="en-IN" dirty="0"/>
              <a:t>The </a:t>
            </a:r>
            <a:r>
              <a:rPr lang="en-IN" b="1" dirty="0"/>
              <a:t>large numbers are near the </a:t>
            </a:r>
            <a:r>
              <a:rPr lang="en-IN" b="1" dirty="0" err="1"/>
              <a:t>center</a:t>
            </a:r>
            <a:r>
              <a:rPr lang="en-IN" dirty="0"/>
              <a:t>.</a:t>
            </a:r>
            <a:br>
              <a:rPr lang="en-IN" dirty="0"/>
            </a:br>
            <a:r>
              <a:rPr lang="en-IN" dirty="0"/>
              <a:t>his says:</a:t>
            </a:r>
          </a:p>
          <a:p>
            <a:r>
              <a:rPr lang="en-IN" dirty="0"/>
              <a:t>Keep only pixels whose distance is at least </a:t>
            </a:r>
            <a:r>
              <a:rPr lang="en-IN" b="1" dirty="0"/>
              <a:t>50% of the maximum distance</a:t>
            </a:r>
            <a:r>
              <a:rPr lang="en-IN" dirty="0"/>
              <a:t>.</a:t>
            </a:r>
          </a:p>
          <a:p>
            <a:r>
              <a:rPr lang="en-IN" dirty="0" err="1"/>
              <a:t>dist.max</a:t>
            </a:r>
            <a:r>
              <a:rPr lang="en-IN" dirty="0"/>
              <a:t>() = 10</a:t>
            </a:r>
          </a:p>
          <a:p>
            <a:r>
              <a:rPr lang="en-IN" dirty="0"/>
              <a:t>0.5 × 10 = 5</a:t>
            </a:r>
          </a:p>
          <a:p>
            <a:r>
              <a:rPr lang="en-IN" dirty="0"/>
              <a:t>So the threshold is </a:t>
            </a:r>
            <a:r>
              <a:rPr lang="en-IN" b="1" dirty="0"/>
              <a:t>5</a:t>
            </a:r>
            <a:r>
              <a:rPr lang="en-IN" dirty="0"/>
              <a:t>.</a:t>
            </a:r>
          </a:p>
          <a:p>
            <a:r>
              <a:rPr lang="en-IN" dirty="0"/>
              <a:t>Anything below 5 is removed.</a:t>
            </a:r>
          </a:p>
        </p:txBody>
      </p:sp>
    </p:spTree>
    <p:extLst>
      <p:ext uri="{BB962C8B-B14F-4D97-AF65-F5344CB8AC3E}">
        <p14:creationId xmlns:p14="http://schemas.microsoft.com/office/powerpoint/2010/main" val="195143165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85768-EE12-9F8F-BE2E-D8FBCD9092B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4B1BD3E-D7A6-4654-F67B-C66DB2BF9CC7}"/>
              </a:ext>
            </a:extLst>
          </p:cNvPr>
          <p:cNvSpPr>
            <a:spLocks noGrp="1"/>
          </p:cNvSpPr>
          <p:nvPr>
            <p:ph idx="1"/>
          </p:nvPr>
        </p:nvSpPr>
        <p:spPr/>
        <p:txBody>
          <a:bodyPr>
            <a:normAutofit fontScale="40000" lnSpcReduction="20000"/>
          </a:bodyPr>
          <a:lstStyle/>
          <a:p>
            <a:r>
              <a:rPr lang="en-US" dirty="0"/>
              <a:t>Before:</a:t>
            </a:r>
          </a:p>
          <a:p>
            <a:endParaRPr lang="en-US" dirty="0"/>
          </a:p>
          <a:p>
            <a:r>
              <a:rPr lang="en-US" dirty="0"/>
              <a:t>1  2  3  2  1</a:t>
            </a:r>
          </a:p>
          <a:p>
            <a:r>
              <a:rPr lang="en-US" dirty="0"/>
              <a:t>2  3  4  3  2</a:t>
            </a:r>
          </a:p>
          <a:p>
            <a:r>
              <a:rPr lang="en-US" dirty="0"/>
              <a:t>3  4 10  4  3</a:t>
            </a:r>
          </a:p>
          <a:p>
            <a:r>
              <a:rPr lang="en-US" dirty="0"/>
              <a:t>2  3  4  3  2</a:t>
            </a:r>
          </a:p>
          <a:p>
            <a:r>
              <a:rPr lang="en-US" dirty="0"/>
              <a:t>1  2  3  2  1</a:t>
            </a:r>
          </a:p>
          <a:p>
            <a:endParaRPr lang="en-US" dirty="0"/>
          </a:p>
          <a:p>
            <a:r>
              <a:rPr lang="en-US" dirty="0"/>
              <a:t>             ↓ threshold = 5</a:t>
            </a:r>
          </a:p>
          <a:p>
            <a:endParaRPr lang="en-US" dirty="0"/>
          </a:p>
          <a:p>
            <a:r>
              <a:rPr lang="en-US" dirty="0"/>
              <a:t>After:</a:t>
            </a:r>
          </a:p>
          <a:p>
            <a:endParaRPr lang="en-US" dirty="0"/>
          </a:p>
          <a:p>
            <a:r>
              <a:rPr lang="en-US" dirty="0"/>
              <a:t>0  0  0  0  0</a:t>
            </a:r>
          </a:p>
          <a:p>
            <a:r>
              <a:rPr lang="en-US" dirty="0"/>
              <a:t>0  0  0  0  0</a:t>
            </a:r>
          </a:p>
          <a:p>
            <a:r>
              <a:rPr lang="en-US" dirty="0"/>
              <a:t>0  0 255  0  0</a:t>
            </a:r>
          </a:p>
          <a:p>
            <a:r>
              <a:rPr lang="en-US" dirty="0"/>
              <a:t>0  0  0  0  0</a:t>
            </a:r>
          </a:p>
          <a:p>
            <a:r>
              <a:rPr lang="en-US" dirty="0"/>
              <a:t>0  0  0  0  0</a:t>
            </a:r>
            <a:endParaRPr lang="en-IN" dirty="0"/>
          </a:p>
        </p:txBody>
      </p:sp>
    </p:spTree>
    <p:extLst>
      <p:ext uri="{BB962C8B-B14F-4D97-AF65-F5344CB8AC3E}">
        <p14:creationId xmlns:p14="http://schemas.microsoft.com/office/powerpoint/2010/main" val="130378304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00E1A-F0FE-9333-609C-0A7E0BDE99F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2F53C0C-379B-0108-C886-C799FF0E34E1}"/>
              </a:ext>
            </a:extLst>
          </p:cNvPr>
          <p:cNvSpPr>
            <a:spLocks noGrp="1"/>
          </p:cNvSpPr>
          <p:nvPr>
            <p:ph idx="1"/>
          </p:nvPr>
        </p:nvSpPr>
        <p:spPr/>
        <p:txBody>
          <a:bodyPr/>
          <a:lstStyle/>
          <a:p>
            <a:r>
              <a:rPr lang="en-IN" dirty="0"/>
              <a:t>So we keep the </a:t>
            </a:r>
            <a:r>
              <a:rPr lang="en-IN" b="1" dirty="0"/>
              <a:t>central/sure part</a:t>
            </a:r>
            <a:r>
              <a:rPr lang="en-IN" dirty="0"/>
              <a:t> of the object.</a:t>
            </a:r>
          </a:p>
          <a:p>
            <a:endParaRPr lang="en-IN" dirty="0"/>
          </a:p>
        </p:txBody>
      </p:sp>
      <p:pic>
        <p:nvPicPr>
          <p:cNvPr id="5" name="Picture 4">
            <a:extLst>
              <a:ext uri="{FF2B5EF4-FFF2-40B4-BE49-F238E27FC236}">
                <a16:creationId xmlns:a16="http://schemas.microsoft.com/office/drawing/2014/main" id="{A752D4EF-AD32-3FDD-3189-3FF06E6EB645}"/>
              </a:ext>
            </a:extLst>
          </p:cNvPr>
          <p:cNvPicPr>
            <a:picLocks noChangeAspect="1"/>
          </p:cNvPicPr>
          <p:nvPr/>
        </p:nvPicPr>
        <p:blipFill>
          <a:blip r:embed="rId2"/>
          <a:stretch>
            <a:fillRect/>
          </a:stretch>
        </p:blipFill>
        <p:spPr>
          <a:xfrm>
            <a:off x="952500" y="2303584"/>
            <a:ext cx="10287000" cy="4554415"/>
          </a:xfrm>
          <a:prstGeom prst="rect">
            <a:avLst/>
          </a:prstGeom>
        </p:spPr>
      </p:pic>
    </p:spTree>
    <p:extLst>
      <p:ext uri="{BB962C8B-B14F-4D97-AF65-F5344CB8AC3E}">
        <p14:creationId xmlns:p14="http://schemas.microsoft.com/office/powerpoint/2010/main" val="193311713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B0AE7-10BB-3E96-2BA6-B1FB337D1AD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8ADCCC1-B3CB-6DEF-8416-1CB79FE38A64}"/>
              </a:ext>
            </a:extLst>
          </p:cNvPr>
          <p:cNvSpPr>
            <a:spLocks noGrp="1"/>
          </p:cNvSpPr>
          <p:nvPr>
            <p:ph idx="1"/>
          </p:nvPr>
        </p:nvSpPr>
        <p:spPr/>
        <p:txBody>
          <a:bodyPr>
            <a:normAutofit fontScale="92500" lnSpcReduction="20000"/>
          </a:bodyPr>
          <a:lstStyle/>
          <a:p>
            <a:pPr lvl="0"/>
            <a:r>
              <a:rPr lang="en-IN" b="1" dirty="0"/>
              <a:t>opening = complete object</a:t>
            </a:r>
            <a:r>
              <a:rPr lang="en-IN" dirty="0"/>
              <a:t> </a:t>
            </a:r>
          </a:p>
          <a:p>
            <a:pPr lvl="1"/>
            <a:r>
              <a:rPr lang="en-IN" dirty="0"/>
              <a:t>It contains the whole white object. </a:t>
            </a:r>
          </a:p>
          <a:p>
            <a:pPr lvl="0"/>
            <a:r>
              <a:rPr lang="en-IN" b="1" dirty="0" err="1"/>
              <a:t>fg</a:t>
            </a:r>
            <a:r>
              <a:rPr lang="en-IN" b="1" dirty="0"/>
              <a:t> = sure foreground</a:t>
            </a:r>
            <a:r>
              <a:rPr lang="en-IN" dirty="0"/>
              <a:t> </a:t>
            </a:r>
          </a:p>
          <a:p>
            <a:pPr lvl="1"/>
            <a:r>
              <a:rPr lang="en-IN" dirty="0"/>
              <a:t>It contains only the </a:t>
            </a:r>
            <a:r>
              <a:rPr lang="en-IN" b="1" dirty="0" err="1"/>
              <a:t>center</a:t>
            </a:r>
            <a:r>
              <a:rPr lang="en-IN" b="1" dirty="0"/>
              <a:t>/core</a:t>
            </a:r>
            <a:r>
              <a:rPr lang="en-IN" dirty="0"/>
              <a:t> of the object. </a:t>
            </a:r>
          </a:p>
          <a:p>
            <a:pPr lvl="1"/>
            <a:r>
              <a:rPr lang="en-IN" dirty="0"/>
              <a:t>We are very sure these pixels belong to the object. </a:t>
            </a:r>
          </a:p>
          <a:p>
            <a:pPr lvl="0"/>
            <a:r>
              <a:rPr lang="en-IN" b="1" dirty="0"/>
              <a:t>We subtract </a:t>
            </a:r>
            <a:r>
              <a:rPr lang="en-IN" b="1" dirty="0" err="1"/>
              <a:t>fg</a:t>
            </a:r>
            <a:r>
              <a:rPr lang="en-IN" b="1" dirty="0"/>
              <a:t> from opening</a:t>
            </a:r>
            <a:r>
              <a:rPr lang="en-IN" dirty="0"/>
              <a:t> </a:t>
            </a:r>
          </a:p>
          <a:p>
            <a:pPr lvl="1"/>
            <a:r>
              <a:rPr lang="en-IN" dirty="0"/>
              <a:t>This removes the </a:t>
            </a:r>
            <a:r>
              <a:rPr lang="en-IN" dirty="0" err="1"/>
              <a:t>center</a:t>
            </a:r>
            <a:r>
              <a:rPr lang="en-IN" dirty="0"/>
              <a:t>. </a:t>
            </a:r>
          </a:p>
          <a:p>
            <a:pPr lvl="1"/>
            <a:r>
              <a:rPr lang="en-IN" dirty="0"/>
              <a:t>What remains is the </a:t>
            </a:r>
            <a:r>
              <a:rPr lang="en-IN" b="1" dirty="0"/>
              <a:t>uncertain/unknown area</a:t>
            </a:r>
            <a:r>
              <a:rPr lang="en-IN" dirty="0"/>
              <a:t>. </a:t>
            </a:r>
          </a:p>
          <a:p>
            <a:pPr lvl="0"/>
            <a:r>
              <a:rPr lang="en-IN" b="1" dirty="0"/>
              <a:t>Why find the unknown area?</a:t>
            </a:r>
            <a:r>
              <a:rPr lang="en-IN" dirty="0"/>
              <a:t> </a:t>
            </a:r>
          </a:p>
          <a:p>
            <a:pPr lvl="1"/>
            <a:r>
              <a:rPr lang="en-IN" dirty="0"/>
              <a:t>Because watershed needs to know which pixels are </a:t>
            </a:r>
            <a:r>
              <a:rPr lang="en-IN" b="1" dirty="0"/>
              <a:t>uncertain</a:t>
            </a:r>
            <a:r>
              <a:rPr lang="en-IN" dirty="0"/>
              <a:t>. </a:t>
            </a:r>
          </a:p>
          <a:p>
            <a:pPr lvl="1"/>
            <a:r>
              <a:rPr lang="en-IN" dirty="0"/>
              <a:t>Watershed will decide whether those pixels belong to one object or another. </a:t>
            </a:r>
          </a:p>
          <a:p>
            <a:pPr lvl="0"/>
            <a:r>
              <a:rPr lang="en-IN" b="1" dirty="0"/>
              <a:t>This is especially useful for touching objects.</a:t>
            </a:r>
            <a:endParaRPr lang="en-IN" dirty="0"/>
          </a:p>
          <a:p>
            <a:endParaRPr lang="en-IN" dirty="0"/>
          </a:p>
        </p:txBody>
      </p:sp>
    </p:spTree>
    <p:extLst>
      <p:ext uri="{BB962C8B-B14F-4D97-AF65-F5344CB8AC3E}">
        <p14:creationId xmlns:p14="http://schemas.microsoft.com/office/powerpoint/2010/main" val="398833580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C7C00-6C97-FA3C-17BE-E9F573F2317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0000EF8-CC29-98ED-5EF3-7E5A76F25B95}"/>
              </a:ext>
            </a:extLst>
          </p:cNvPr>
          <p:cNvSpPr>
            <a:spLocks noGrp="1"/>
          </p:cNvSpPr>
          <p:nvPr>
            <p:ph idx="1"/>
          </p:nvPr>
        </p:nvSpPr>
        <p:spPr/>
        <p:txBody>
          <a:bodyPr/>
          <a:lstStyle/>
          <a:p>
            <a:r>
              <a:rPr lang="en-IN" dirty="0"/>
              <a:t>Watershed can use the known </a:t>
            </a:r>
            <a:r>
              <a:rPr lang="en-IN" dirty="0" err="1"/>
              <a:t>centers</a:t>
            </a:r>
            <a:r>
              <a:rPr lang="en-IN" dirty="0"/>
              <a:t> as starting points and figure out the boundary.</a:t>
            </a:r>
          </a:p>
          <a:p>
            <a:r>
              <a:rPr lang="en-IN" dirty="0"/>
              <a:t>We do subtraction to </a:t>
            </a:r>
            <a:r>
              <a:rPr lang="en-IN" b="1" dirty="0"/>
              <a:t>remove the part we are already sure about and leave the part that watershed needs to decide.</a:t>
            </a:r>
            <a:endParaRPr lang="en-IN" dirty="0"/>
          </a:p>
        </p:txBody>
      </p:sp>
    </p:spTree>
    <p:extLst>
      <p:ext uri="{BB962C8B-B14F-4D97-AF65-F5344CB8AC3E}">
        <p14:creationId xmlns:p14="http://schemas.microsoft.com/office/powerpoint/2010/main" val="415909379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91099-A3A5-A0EC-EF3B-3AF3782DDC0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9EA5585-5A8E-277D-4EF8-FC1CDFA825B0}"/>
              </a:ext>
            </a:extLst>
          </p:cNvPr>
          <p:cNvSpPr>
            <a:spLocks noGrp="1"/>
          </p:cNvSpPr>
          <p:nvPr>
            <p:ph idx="1"/>
          </p:nvPr>
        </p:nvSpPr>
        <p:spPr/>
        <p:txBody>
          <a:bodyPr/>
          <a:lstStyle/>
          <a:p>
            <a:r>
              <a:rPr lang="en-IN" dirty="0"/>
              <a:t>111111111111</a:t>
            </a:r>
          </a:p>
          <a:p>
            <a:r>
              <a:rPr lang="en-IN" dirty="0"/>
              <a:t>111222221111</a:t>
            </a:r>
          </a:p>
          <a:p>
            <a:r>
              <a:rPr lang="en-IN" dirty="0"/>
              <a:t>1122222222111</a:t>
            </a:r>
          </a:p>
          <a:p>
            <a:r>
              <a:rPr lang="en-IN" dirty="0"/>
              <a:t>111222221111</a:t>
            </a:r>
          </a:p>
          <a:p>
            <a:r>
              <a:rPr lang="en-IN" dirty="0"/>
              <a:t>111111111111</a:t>
            </a:r>
          </a:p>
        </p:txBody>
      </p:sp>
    </p:spTree>
    <p:extLst>
      <p:ext uri="{BB962C8B-B14F-4D97-AF65-F5344CB8AC3E}">
        <p14:creationId xmlns:p14="http://schemas.microsoft.com/office/powerpoint/2010/main" val="316518439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AE975-D7F1-74F4-F2E8-37DDDA43A16D}"/>
              </a:ext>
            </a:extLst>
          </p:cNvPr>
          <p:cNvSpPr>
            <a:spLocks noGrp="1"/>
          </p:cNvSpPr>
          <p:nvPr>
            <p:ph type="title"/>
          </p:nvPr>
        </p:nvSpPr>
        <p:spPr/>
        <p:txBody>
          <a:bodyPr/>
          <a:lstStyle/>
          <a:p>
            <a:r>
              <a:rPr lang="en-IN" dirty="0"/>
              <a:t>Then the unknown region is changed to 0:</a:t>
            </a:r>
          </a:p>
        </p:txBody>
      </p:sp>
      <p:sp>
        <p:nvSpPr>
          <p:cNvPr id="3" name="Content Placeholder 2">
            <a:extLst>
              <a:ext uri="{FF2B5EF4-FFF2-40B4-BE49-F238E27FC236}">
                <a16:creationId xmlns:a16="http://schemas.microsoft.com/office/drawing/2014/main" id="{9835E198-4991-0C94-544E-B279E64633CC}"/>
              </a:ext>
            </a:extLst>
          </p:cNvPr>
          <p:cNvSpPr>
            <a:spLocks noGrp="1"/>
          </p:cNvSpPr>
          <p:nvPr>
            <p:ph idx="1"/>
          </p:nvPr>
        </p:nvSpPr>
        <p:spPr/>
        <p:txBody>
          <a:bodyPr/>
          <a:lstStyle/>
          <a:p>
            <a:r>
              <a:rPr lang="en-IN" dirty="0"/>
              <a:t>111000000111</a:t>
            </a:r>
          </a:p>
          <a:p>
            <a:r>
              <a:rPr lang="en-IN" dirty="0"/>
              <a:t>112222000311</a:t>
            </a:r>
          </a:p>
          <a:p>
            <a:r>
              <a:rPr lang="en-IN" dirty="0"/>
              <a:t>112222000331</a:t>
            </a:r>
          </a:p>
          <a:p>
            <a:r>
              <a:rPr lang="en-IN" dirty="0"/>
              <a:t>111000000111</a:t>
            </a:r>
          </a:p>
          <a:p>
            <a:r>
              <a:rPr lang="en-IN" dirty="0"/>
              <a:t>111111111111</a:t>
            </a:r>
          </a:p>
        </p:txBody>
      </p:sp>
    </p:spTree>
    <p:extLst>
      <p:ext uri="{BB962C8B-B14F-4D97-AF65-F5344CB8AC3E}">
        <p14:creationId xmlns:p14="http://schemas.microsoft.com/office/powerpoint/2010/main" val="396379908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43F9A-DA16-71D0-2ECB-E6D39D517A8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75F3805-8372-E8ED-9221-A1E93AF4D9F4}"/>
              </a:ext>
            </a:extLst>
          </p:cNvPr>
          <p:cNvSpPr>
            <a:spLocks noGrp="1"/>
          </p:cNvSpPr>
          <p:nvPr>
            <p:ph idx="1"/>
          </p:nvPr>
        </p:nvSpPr>
        <p:spPr/>
        <p:txBody>
          <a:bodyPr/>
          <a:lstStyle/>
          <a:p>
            <a:r>
              <a:rPr lang="en-IN" dirty="0"/>
              <a:t>Now watershed knows</a:t>
            </a:r>
          </a:p>
          <a:p>
            <a:r>
              <a:rPr lang="en-US" dirty="0"/>
              <a:t>1 → background</a:t>
            </a:r>
          </a:p>
          <a:p>
            <a:r>
              <a:rPr lang="en-US" dirty="0"/>
              <a:t>2 → object 1</a:t>
            </a:r>
          </a:p>
          <a:p>
            <a:r>
              <a:rPr lang="en-US" dirty="0"/>
              <a:t>3 → object 2</a:t>
            </a:r>
          </a:p>
          <a:p>
            <a:r>
              <a:rPr lang="en-US" dirty="0"/>
              <a:t>0 → unknown</a:t>
            </a:r>
          </a:p>
          <a:p>
            <a:r>
              <a:rPr lang="en-IN" dirty="0"/>
              <a:t>Apply Watershed</a:t>
            </a:r>
          </a:p>
        </p:txBody>
      </p:sp>
    </p:spTree>
    <p:extLst>
      <p:ext uri="{BB962C8B-B14F-4D97-AF65-F5344CB8AC3E}">
        <p14:creationId xmlns:p14="http://schemas.microsoft.com/office/powerpoint/2010/main" val="101054888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F4549C0-6806-F94E-8665-41D253AA70B4}"/>
              </a:ext>
            </a:extLst>
          </p:cNvPr>
          <p:cNvPicPr>
            <a:picLocks noGrp="1" noChangeAspect="1"/>
          </p:cNvPicPr>
          <p:nvPr>
            <p:ph idx="1"/>
          </p:nvPr>
        </p:nvPicPr>
        <p:blipFill>
          <a:blip r:embed="rId2"/>
          <a:stretch>
            <a:fillRect/>
          </a:stretch>
        </p:blipFill>
        <p:spPr>
          <a:xfrm>
            <a:off x="773723" y="-8792"/>
            <a:ext cx="10181491" cy="6168171"/>
          </a:xfrm>
          <a:prstGeom prst="rect">
            <a:avLst/>
          </a:prstGeom>
        </p:spPr>
      </p:pic>
    </p:spTree>
    <p:extLst>
      <p:ext uri="{BB962C8B-B14F-4D97-AF65-F5344CB8AC3E}">
        <p14:creationId xmlns:p14="http://schemas.microsoft.com/office/powerpoint/2010/main" val="358384377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ED9760D-91BB-0EA1-7184-52AE34EACED4}"/>
              </a:ext>
            </a:extLst>
          </p:cNvPr>
          <p:cNvPicPr>
            <a:picLocks noGrp="1" noChangeAspect="1"/>
          </p:cNvPicPr>
          <p:nvPr>
            <p:ph idx="1"/>
          </p:nvPr>
        </p:nvPicPr>
        <p:blipFill>
          <a:blip r:embed="rId2"/>
          <a:stretch>
            <a:fillRect/>
          </a:stretch>
        </p:blipFill>
        <p:spPr>
          <a:xfrm>
            <a:off x="1266092" y="325315"/>
            <a:ext cx="9724293" cy="5851648"/>
          </a:xfrm>
          <a:prstGeom prst="rect">
            <a:avLst/>
          </a:prstGeom>
        </p:spPr>
      </p:pic>
    </p:spTree>
    <p:extLst>
      <p:ext uri="{BB962C8B-B14F-4D97-AF65-F5344CB8AC3E}">
        <p14:creationId xmlns:p14="http://schemas.microsoft.com/office/powerpoint/2010/main" val="127292988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874B1-1273-8D76-CDAC-31A6F718F69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80985AA-C947-6836-2D8B-5E17E1BF1A6D}"/>
              </a:ext>
            </a:extLst>
          </p:cNvPr>
          <p:cNvSpPr>
            <a:spLocks noGrp="1"/>
          </p:cNvSpPr>
          <p:nvPr>
            <p:ph idx="1"/>
          </p:nvPr>
        </p:nvSpPr>
        <p:spPr/>
        <p:txBody>
          <a:bodyPr/>
          <a:lstStyle/>
          <a:p>
            <a:r>
              <a:rPr lang="en-IN" dirty="0"/>
              <a:t>Watershed looks at the pixels around each known object and gradually includes nearby pixels into that object.</a:t>
            </a:r>
          </a:p>
          <a:p>
            <a:r>
              <a:rPr lang="en-US" dirty="0"/>
              <a:t>Object 1        Unknown        Object 2</a:t>
            </a:r>
          </a:p>
          <a:p>
            <a:r>
              <a:rPr lang="en-US" dirty="0"/>
              <a:t>   2              0               3</a:t>
            </a:r>
          </a:p>
          <a:p>
            <a:r>
              <a:rPr lang="en-US" dirty="0"/>
              <a:t>   2              0               3</a:t>
            </a:r>
          </a:p>
          <a:p>
            <a:r>
              <a:rPr lang="en-US" dirty="0"/>
              <a:t>   2              0               3</a:t>
            </a:r>
            <a:endParaRPr lang="en-IN" dirty="0"/>
          </a:p>
        </p:txBody>
      </p:sp>
    </p:spTree>
    <p:extLst>
      <p:ext uri="{BB962C8B-B14F-4D97-AF65-F5344CB8AC3E}">
        <p14:creationId xmlns:p14="http://schemas.microsoft.com/office/powerpoint/2010/main" val="348627930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C56DB-131F-1DA8-7D00-0902F98007A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202F547-26AC-9BFB-38EB-7377569108AF}"/>
              </a:ext>
            </a:extLst>
          </p:cNvPr>
          <p:cNvSpPr>
            <a:spLocks noGrp="1"/>
          </p:cNvSpPr>
          <p:nvPr>
            <p:ph idx="1"/>
          </p:nvPr>
        </p:nvSpPr>
        <p:spPr/>
        <p:txBody>
          <a:bodyPr>
            <a:normAutofit fontScale="92500" lnSpcReduction="20000"/>
          </a:bodyPr>
          <a:lstStyle/>
          <a:p>
            <a:r>
              <a:rPr lang="en-IN" dirty="0"/>
              <a:t>Watershed does:</a:t>
            </a:r>
          </a:p>
          <a:p>
            <a:r>
              <a:rPr lang="en-IN" dirty="0"/>
              <a:t> 2  →  2  3  ←  3</a:t>
            </a:r>
          </a:p>
          <a:p>
            <a:r>
              <a:rPr lang="en-IN" dirty="0"/>
              <a:t>   2  →  2  3  ←  3</a:t>
            </a:r>
          </a:p>
          <a:p>
            <a:r>
              <a:rPr lang="en-IN" dirty="0"/>
              <a:t>   2  →  2  3  ←  3</a:t>
            </a:r>
          </a:p>
          <a:p>
            <a:r>
              <a:rPr lang="en-IN" dirty="0"/>
              <a:t>When both sides meet:</a:t>
            </a:r>
          </a:p>
          <a:p>
            <a:r>
              <a:rPr lang="en-US" dirty="0"/>
              <a:t> 2  2  |  3  3</a:t>
            </a:r>
          </a:p>
          <a:p>
            <a:r>
              <a:rPr lang="en-US" dirty="0"/>
              <a:t>   2  2  |  3  3</a:t>
            </a:r>
          </a:p>
          <a:p>
            <a:r>
              <a:rPr lang="en-US" dirty="0"/>
              <a:t>   2  2  |  3  3</a:t>
            </a:r>
          </a:p>
          <a:p>
            <a:r>
              <a:rPr lang="en-US" dirty="0"/>
              <a:t>          ↑</a:t>
            </a:r>
          </a:p>
          <a:p>
            <a:r>
              <a:rPr lang="en-US" dirty="0"/>
              <a:t>       boundary</a:t>
            </a:r>
            <a:endParaRPr lang="en-IN" dirty="0"/>
          </a:p>
        </p:txBody>
      </p:sp>
    </p:spTree>
    <p:extLst>
      <p:ext uri="{BB962C8B-B14F-4D97-AF65-F5344CB8AC3E}">
        <p14:creationId xmlns:p14="http://schemas.microsoft.com/office/powerpoint/2010/main" val="268670368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32511-E977-21FC-0FC0-7D291ED2EF2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92CD6E1-920F-01AE-9A8F-CBD848F4FFC3}"/>
              </a:ext>
            </a:extLst>
          </p:cNvPr>
          <p:cNvSpPr>
            <a:spLocks noGrp="1"/>
          </p:cNvSpPr>
          <p:nvPr>
            <p:ph idx="1"/>
          </p:nvPr>
        </p:nvSpPr>
        <p:spPr/>
        <p:txBody>
          <a:bodyPr/>
          <a:lstStyle/>
          <a:p>
            <a:r>
              <a:rPr lang="en-IN" b="1" dirty="0"/>
              <a:t>so "region grows" simply means: the computer changes unknown pixels into the label of an object (2 or 3) as it determines which object they belong to.</a:t>
            </a:r>
            <a:endParaRPr lang="en-IN" dirty="0"/>
          </a:p>
          <a:p>
            <a:r>
              <a:rPr lang="en-IN" dirty="0"/>
              <a:t> </a:t>
            </a:r>
            <a:r>
              <a:rPr lang="en-IN" b="1" dirty="0"/>
              <a:t>2 grows toward 3, and 3 grows toward 2. When they meet, the meeting line becomes the boundary.</a:t>
            </a:r>
            <a:endParaRPr lang="en-IN" dirty="0"/>
          </a:p>
          <a:p>
            <a:endParaRPr lang="en-IN" dirty="0"/>
          </a:p>
        </p:txBody>
      </p:sp>
    </p:spTree>
    <p:extLst>
      <p:ext uri="{BB962C8B-B14F-4D97-AF65-F5344CB8AC3E}">
        <p14:creationId xmlns:p14="http://schemas.microsoft.com/office/powerpoint/2010/main" val="160608101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E68C3-7D52-0BDB-C6E7-14A2C71F2D6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3C3D31D-DE96-937E-3CC4-8749BDC21865}"/>
              </a:ext>
            </a:extLst>
          </p:cNvPr>
          <p:cNvSpPr>
            <a:spLocks noGrp="1"/>
          </p:cNvSpPr>
          <p:nvPr>
            <p:ph idx="1"/>
          </p:nvPr>
        </p:nvSpPr>
        <p:spPr/>
        <p:txBody>
          <a:bodyPr/>
          <a:lstStyle/>
          <a:p>
            <a:r>
              <a:rPr lang="en-IN" dirty="0"/>
              <a:t>Threshold segmentation means separating an image into different parts using a cutoff value.</a:t>
            </a:r>
          </a:p>
          <a:p>
            <a:r>
              <a:rPr lang="en-US" dirty="0"/>
              <a:t>Pixel value</a:t>
            </a:r>
          </a:p>
          <a:p>
            <a:endParaRPr lang="en-US" dirty="0"/>
          </a:p>
          <a:p>
            <a:r>
              <a:rPr lang="en-US" dirty="0"/>
              <a:t>0 ---------------- 120 ---------------- 255</a:t>
            </a:r>
          </a:p>
          <a:p>
            <a:r>
              <a:rPr lang="en-US" dirty="0"/>
              <a:t>|                               |                                     |</a:t>
            </a:r>
          </a:p>
          <a:p>
            <a:r>
              <a:rPr lang="en-US" dirty="0"/>
              <a:t>BLACK                 ↑                                  WHITE</a:t>
            </a:r>
          </a:p>
          <a:p>
            <a:pPr marL="0" indent="0">
              <a:buNone/>
            </a:pPr>
            <a:r>
              <a:rPr lang="en-US" dirty="0"/>
              <a:t>                                    cutoff</a:t>
            </a:r>
            <a:endParaRPr lang="en-IN" dirty="0"/>
          </a:p>
        </p:txBody>
      </p:sp>
    </p:spTree>
    <p:extLst>
      <p:ext uri="{BB962C8B-B14F-4D97-AF65-F5344CB8AC3E}">
        <p14:creationId xmlns:p14="http://schemas.microsoft.com/office/powerpoint/2010/main" val="90361120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19EBF-8C74-C74F-2718-658F25C60CC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2EB05C2-1BEF-CD5C-A4B7-E8D8ED9BF987}"/>
              </a:ext>
            </a:extLst>
          </p:cNvPr>
          <p:cNvSpPr>
            <a:spLocks noGrp="1"/>
          </p:cNvSpPr>
          <p:nvPr>
            <p:ph idx="1"/>
          </p:nvPr>
        </p:nvSpPr>
        <p:spPr/>
        <p:txBody>
          <a:bodyPr/>
          <a:lstStyle/>
          <a:p>
            <a:r>
              <a:rPr lang="en-IN" dirty="0"/>
              <a:t>So OpenCV checks </a:t>
            </a:r>
            <a:r>
              <a:rPr lang="en-IN" b="1" dirty="0"/>
              <a:t>every pixel</a:t>
            </a:r>
            <a:r>
              <a:rPr lang="en-IN" dirty="0"/>
              <a:t>:</a:t>
            </a:r>
          </a:p>
          <a:p>
            <a:r>
              <a:rPr lang="en-IN" dirty="0"/>
              <a:t>If pixel ≤ 120  → 0   → BLACK </a:t>
            </a:r>
          </a:p>
          <a:p>
            <a:endParaRPr lang="en-IN" dirty="0"/>
          </a:p>
          <a:p>
            <a:r>
              <a:rPr lang="en-IN" dirty="0"/>
              <a:t>If pixel &gt; 120  → 255 → WHITE </a:t>
            </a:r>
          </a:p>
          <a:p>
            <a:r>
              <a:rPr lang="en-IN" dirty="0"/>
              <a:t>Adaptive threshold is like normal thresholding, but instead of using ONE cutoff for the whole image, it chooses a cutoff separately for different areas.</a:t>
            </a:r>
          </a:p>
          <a:p>
            <a:endParaRPr lang="en-IN" dirty="0"/>
          </a:p>
        </p:txBody>
      </p:sp>
    </p:spTree>
    <p:extLst>
      <p:ext uri="{BB962C8B-B14F-4D97-AF65-F5344CB8AC3E}">
        <p14:creationId xmlns:p14="http://schemas.microsoft.com/office/powerpoint/2010/main" val="236429381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563B6-C525-88B6-7B18-A0BA2003C3E3}"/>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23B15CCC-C760-3724-8210-7FB2F69217B6}"/>
              </a:ext>
            </a:extLst>
          </p:cNvPr>
          <p:cNvSpPr>
            <a:spLocks noGrp="1"/>
          </p:cNvSpPr>
          <p:nvPr>
            <p:ph idx="1"/>
          </p:nvPr>
        </p:nvSpPr>
        <p:spPr/>
        <p:txBody>
          <a:bodyPr>
            <a:normAutofit fontScale="92500" lnSpcReduction="10000"/>
          </a:bodyPr>
          <a:lstStyle/>
          <a:p>
            <a:r>
              <a:rPr lang="en-IN" dirty="0"/>
              <a:t>Otsu is a method that automatically chooses the best threshold value for you.</a:t>
            </a:r>
          </a:p>
          <a:p>
            <a:r>
              <a:rPr lang="en-US" dirty="0"/>
              <a:t>cv2.threshold(gray, 120, 255, cv2.THRESH_BINARY)</a:t>
            </a:r>
          </a:p>
          <a:p>
            <a:r>
              <a:rPr lang="en-IN" dirty="0"/>
              <a:t>With Otsu:</a:t>
            </a:r>
          </a:p>
          <a:p>
            <a:pPr marL="0" indent="0">
              <a:buNone/>
            </a:pPr>
            <a:r>
              <a:rPr lang="en-US" dirty="0"/>
              <a:t>_, </a:t>
            </a:r>
            <a:r>
              <a:rPr lang="en-US" dirty="0" err="1"/>
              <a:t>otsu</a:t>
            </a:r>
            <a:r>
              <a:rPr lang="en-US" dirty="0"/>
              <a:t> = cv2.threshold(</a:t>
            </a:r>
          </a:p>
          <a:p>
            <a:pPr marL="0" indent="0">
              <a:buNone/>
            </a:pPr>
            <a:r>
              <a:rPr lang="en-US" dirty="0"/>
              <a:t>    gray,</a:t>
            </a:r>
          </a:p>
          <a:p>
            <a:pPr marL="0" indent="0">
              <a:buNone/>
            </a:pPr>
            <a:r>
              <a:rPr lang="en-US" dirty="0"/>
              <a:t>    0,</a:t>
            </a:r>
          </a:p>
          <a:p>
            <a:pPr marL="0" indent="0">
              <a:buNone/>
            </a:pPr>
            <a:r>
              <a:rPr lang="en-US" dirty="0"/>
              <a:t>    255,</a:t>
            </a:r>
          </a:p>
          <a:p>
            <a:pPr marL="0" indent="0">
              <a:buNone/>
            </a:pPr>
            <a:r>
              <a:rPr lang="en-US" dirty="0"/>
              <a:t>    cv2.THRESH_BINARY + cv2.THRESH_OTSU</a:t>
            </a:r>
          </a:p>
          <a:p>
            <a:pPr marL="0" indent="0">
              <a:buNone/>
            </a:pPr>
            <a:r>
              <a:rPr lang="en-US" dirty="0"/>
              <a:t>)</a:t>
            </a:r>
            <a:endParaRPr lang="en-IN" dirty="0"/>
          </a:p>
        </p:txBody>
      </p:sp>
    </p:spTree>
    <p:extLst>
      <p:ext uri="{BB962C8B-B14F-4D97-AF65-F5344CB8AC3E}">
        <p14:creationId xmlns:p14="http://schemas.microsoft.com/office/powerpoint/2010/main" val="282054979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5C878-A4BC-C8A4-B9D1-F7A527EAAF4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CC4A24C-B1B6-B367-7210-98A826C3AFBE}"/>
              </a:ext>
            </a:extLst>
          </p:cNvPr>
          <p:cNvSpPr>
            <a:spLocks noGrp="1"/>
          </p:cNvSpPr>
          <p:nvPr>
            <p:ph idx="1"/>
          </p:nvPr>
        </p:nvSpPr>
        <p:spPr/>
        <p:txBody>
          <a:bodyPr/>
          <a:lstStyle/>
          <a:p>
            <a:r>
              <a:rPr lang="en-IN" dirty="0"/>
              <a:t>OpenCV, you choose the best cutoff for me.“</a:t>
            </a:r>
          </a:p>
          <a:p>
            <a:r>
              <a:rPr lang="en-IN" dirty="0"/>
              <a:t>Imagine your image has mostly two groups of pixels:</a:t>
            </a:r>
          </a:p>
          <a:p>
            <a:r>
              <a:rPr lang="en-US" dirty="0"/>
              <a:t>Dark pixels              Bright pixels</a:t>
            </a:r>
          </a:p>
          <a:p>
            <a:endParaRPr lang="en-US" dirty="0"/>
          </a:p>
          <a:p>
            <a:pPr marL="0" indent="0">
              <a:buNone/>
            </a:pPr>
            <a:r>
              <a:rPr lang="en-US" dirty="0"/>
              <a:t>20  30  40  50  60 | 180 190 200 210 220</a:t>
            </a:r>
          </a:p>
          <a:p>
            <a:pPr marL="0" indent="0">
              <a:buNone/>
            </a:pPr>
            <a:r>
              <a:rPr lang="en-US" dirty="0"/>
              <a:t>                                 ↑</a:t>
            </a:r>
          </a:p>
          <a:p>
            <a:pPr marL="0" indent="0">
              <a:buNone/>
            </a:pPr>
            <a:r>
              <a:rPr lang="en-US" dirty="0"/>
              <a:t>                             possible cutoff</a:t>
            </a:r>
            <a:endParaRPr lang="en-IN" dirty="0"/>
          </a:p>
        </p:txBody>
      </p:sp>
    </p:spTree>
    <p:extLst>
      <p:ext uri="{BB962C8B-B14F-4D97-AF65-F5344CB8AC3E}">
        <p14:creationId xmlns:p14="http://schemas.microsoft.com/office/powerpoint/2010/main" val="224172068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C1606-A044-67F2-7FD1-91CDD3CB4E13}"/>
              </a:ext>
            </a:extLst>
          </p:cNvPr>
          <p:cNvSpPr>
            <a:spLocks noGrp="1"/>
          </p:cNvSpPr>
          <p:nvPr>
            <p:ph type="title"/>
          </p:nvPr>
        </p:nvSpPr>
        <p:spPr/>
        <p:txBody>
          <a:bodyPr/>
          <a:lstStyle/>
          <a:p>
            <a:r>
              <a:rPr lang="en-IN" dirty="0"/>
              <a:t>K-Means Segmentation</a:t>
            </a:r>
          </a:p>
        </p:txBody>
      </p:sp>
      <p:sp>
        <p:nvSpPr>
          <p:cNvPr id="3" name="Content Placeholder 2">
            <a:extLst>
              <a:ext uri="{FF2B5EF4-FFF2-40B4-BE49-F238E27FC236}">
                <a16:creationId xmlns:a16="http://schemas.microsoft.com/office/drawing/2014/main" id="{482764AA-D210-5FAC-990C-59B67DF4B600}"/>
              </a:ext>
            </a:extLst>
          </p:cNvPr>
          <p:cNvSpPr>
            <a:spLocks noGrp="1"/>
          </p:cNvSpPr>
          <p:nvPr>
            <p:ph idx="1"/>
          </p:nvPr>
        </p:nvSpPr>
        <p:spPr/>
        <p:txBody>
          <a:bodyPr/>
          <a:lstStyle/>
          <a:p>
            <a:r>
              <a:rPr lang="en-IN" dirty="0"/>
              <a:t>An image has thousands or millions of pixels, and every pixel has a </a:t>
            </a:r>
            <a:r>
              <a:rPr lang="en-IN" dirty="0" err="1"/>
              <a:t>color</a:t>
            </a:r>
            <a:r>
              <a:rPr lang="en-IN" dirty="0"/>
              <a:t>:</a:t>
            </a:r>
          </a:p>
          <a:p>
            <a:r>
              <a:rPr lang="en-IN" dirty="0"/>
              <a:t>Pixel = [Blue, Green, Red]</a:t>
            </a:r>
          </a:p>
          <a:p>
            <a:r>
              <a:rPr lang="en-IN" dirty="0"/>
              <a:t>For example:</a:t>
            </a:r>
          </a:p>
          <a:p>
            <a:r>
              <a:rPr lang="en-IN" dirty="0"/>
              <a:t>[100, 120, 200]</a:t>
            </a:r>
          </a:p>
          <a:p>
            <a:r>
              <a:rPr lang="en-IN" dirty="0"/>
              <a:t>K-Means tries to </a:t>
            </a:r>
            <a:r>
              <a:rPr lang="en-IN" b="1" dirty="0"/>
              <a:t>group pixels with similar </a:t>
            </a:r>
            <a:r>
              <a:rPr lang="en-IN" b="1" dirty="0" err="1"/>
              <a:t>colors</a:t>
            </a:r>
            <a:r>
              <a:rPr lang="en-IN" b="1" dirty="0"/>
              <a:t> together</a:t>
            </a:r>
            <a:r>
              <a:rPr lang="en-IN" dirty="0"/>
              <a:t>.</a:t>
            </a:r>
          </a:p>
        </p:txBody>
      </p:sp>
    </p:spTree>
    <p:extLst>
      <p:ext uri="{BB962C8B-B14F-4D97-AF65-F5344CB8AC3E}">
        <p14:creationId xmlns:p14="http://schemas.microsoft.com/office/powerpoint/2010/main" val="129708424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B07FC-E25A-A09F-EEC3-7B923B95377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BF999E8-F5B9-EA09-2158-0DA5D81ED311}"/>
              </a:ext>
            </a:extLst>
          </p:cNvPr>
          <p:cNvSpPr>
            <a:spLocks noGrp="1"/>
          </p:cNvSpPr>
          <p:nvPr>
            <p:ph idx="1"/>
          </p:nvPr>
        </p:nvSpPr>
        <p:spPr/>
        <p:txBody>
          <a:bodyPr/>
          <a:lstStyle/>
          <a:p>
            <a:r>
              <a:rPr lang="en-IN" dirty="0"/>
              <a:t>If:</a:t>
            </a:r>
          </a:p>
          <a:p>
            <a:r>
              <a:rPr lang="en-IN" dirty="0"/>
              <a:t>K = 4</a:t>
            </a:r>
          </a:p>
          <a:p>
            <a:r>
              <a:rPr lang="en-IN" dirty="0"/>
              <a:t>it means:</a:t>
            </a:r>
          </a:p>
          <a:p>
            <a:r>
              <a:rPr lang="en-IN" dirty="0"/>
              <a:t>"Create 4 groups of similar-</a:t>
            </a:r>
            <a:r>
              <a:rPr lang="en-IN" dirty="0" err="1"/>
              <a:t>colored</a:t>
            </a:r>
            <a:r>
              <a:rPr lang="en-IN" dirty="0"/>
              <a:t> pixels."</a:t>
            </a:r>
          </a:p>
          <a:p>
            <a:r>
              <a:rPr lang="en-IN" dirty="0"/>
              <a:t>Reshape the image:</a:t>
            </a:r>
          </a:p>
          <a:p>
            <a:r>
              <a:rPr lang="en-IN" dirty="0"/>
              <a:t>(height, width, 3) 860 × 1294 × 3</a:t>
            </a:r>
          </a:p>
          <a:p>
            <a:r>
              <a:rPr lang="en-IN" dirty="0"/>
              <a:t>But K-Means wants the data like:</a:t>
            </a:r>
          </a:p>
          <a:p>
            <a:r>
              <a:rPr lang="en-IN" dirty="0" err="1"/>
              <a:t>number_of_pixels</a:t>
            </a:r>
            <a:r>
              <a:rPr lang="en-IN" dirty="0"/>
              <a:t> × 3</a:t>
            </a:r>
          </a:p>
          <a:p>
            <a:endParaRPr lang="en-IN" dirty="0"/>
          </a:p>
        </p:txBody>
      </p:sp>
    </p:spTree>
    <p:extLst>
      <p:ext uri="{BB962C8B-B14F-4D97-AF65-F5344CB8AC3E}">
        <p14:creationId xmlns:p14="http://schemas.microsoft.com/office/powerpoint/2010/main" val="39702754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70826-2FA7-B14B-67B4-D579D46129F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25FBA07-8347-7D45-5174-52C39832888A}"/>
              </a:ext>
            </a:extLst>
          </p:cNvPr>
          <p:cNvSpPr>
            <a:spLocks noGrp="1"/>
          </p:cNvSpPr>
          <p:nvPr>
            <p:ph idx="1"/>
          </p:nvPr>
        </p:nvSpPr>
        <p:spPr/>
        <p:txBody>
          <a:bodyPr/>
          <a:lstStyle/>
          <a:p>
            <a:r>
              <a:rPr lang="en-IN" dirty="0"/>
              <a:t>So:</a:t>
            </a:r>
          </a:p>
          <a:p>
            <a:r>
              <a:rPr lang="en-IN" dirty="0"/>
              <a:t>Z = </a:t>
            </a:r>
            <a:r>
              <a:rPr lang="en-IN" dirty="0" err="1"/>
              <a:t>img.reshape</a:t>
            </a:r>
            <a:r>
              <a:rPr lang="en-IN" dirty="0"/>
              <a:t>((-1, 3))</a:t>
            </a:r>
          </a:p>
          <a:p>
            <a:r>
              <a:rPr lang="en-IN" dirty="0"/>
              <a:t>changes:</a:t>
            </a:r>
          </a:p>
          <a:p>
            <a:r>
              <a:rPr lang="en-IN" dirty="0"/>
              <a:t>860 × 1294 × 3</a:t>
            </a:r>
          </a:p>
          <a:p>
            <a:r>
              <a:rPr lang="en-IN" dirty="0"/>
              <a:t>into:</a:t>
            </a:r>
          </a:p>
          <a:p>
            <a:r>
              <a:rPr lang="en-IN" dirty="0"/>
              <a:t>1,112,840 × 3</a:t>
            </a:r>
          </a:p>
          <a:p>
            <a:r>
              <a:rPr lang="en-IN" dirty="0"/>
              <a:t>The -1 says:</a:t>
            </a:r>
          </a:p>
          <a:p>
            <a:r>
              <a:rPr lang="en-IN" dirty="0"/>
              <a:t>"Python, you calculate how many rows are needed."</a:t>
            </a:r>
          </a:p>
          <a:p>
            <a:endParaRPr lang="en-IN" dirty="0"/>
          </a:p>
        </p:txBody>
      </p:sp>
    </p:spTree>
    <p:extLst>
      <p:ext uri="{BB962C8B-B14F-4D97-AF65-F5344CB8AC3E}">
        <p14:creationId xmlns:p14="http://schemas.microsoft.com/office/powerpoint/2010/main" val="111372480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FCDC6-D203-D755-41F7-A7674AD1640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E71DB47-E4CB-4FD9-AD72-55B335D5C5B5}"/>
              </a:ext>
            </a:extLst>
          </p:cNvPr>
          <p:cNvSpPr>
            <a:spLocks noGrp="1"/>
          </p:cNvSpPr>
          <p:nvPr>
            <p:ph idx="1"/>
          </p:nvPr>
        </p:nvSpPr>
        <p:spPr/>
        <p:txBody>
          <a:bodyPr/>
          <a:lstStyle/>
          <a:p>
            <a:r>
              <a:rPr lang="en-IN" dirty="0"/>
              <a:t>K-Means works with floating-point numbers.</a:t>
            </a:r>
          </a:p>
          <a:p>
            <a:r>
              <a:rPr lang="en-IN" dirty="0"/>
              <a:t>Define stopping criteria</a:t>
            </a:r>
          </a:p>
          <a:p>
            <a:r>
              <a:rPr lang="en-IN" dirty="0"/>
              <a:t>criteria = ( cv2.TERM_CRITERIA_EPS + cv2.TERM_CRITERIA_MAX_ITER, 10, 1.0 )</a:t>
            </a:r>
          </a:p>
          <a:p>
            <a:r>
              <a:rPr lang="en-IN" dirty="0"/>
              <a:t>This tells K-Means:</a:t>
            </a:r>
          </a:p>
          <a:p>
            <a:r>
              <a:rPr lang="en-IN" b="1" dirty="0"/>
              <a:t>"When should you stop calculating?"</a:t>
            </a:r>
            <a:endParaRPr lang="en-IN" dirty="0"/>
          </a:p>
          <a:p>
            <a:r>
              <a:rPr lang="en-IN" dirty="0"/>
              <a:t>EPS means </a:t>
            </a:r>
            <a:r>
              <a:rPr lang="en-IN" b="1" dirty="0"/>
              <a:t>epsilon</a:t>
            </a:r>
            <a:r>
              <a:rPr lang="en-IN" dirty="0"/>
              <a:t>, which basically means:</a:t>
            </a:r>
          </a:p>
          <a:p>
            <a:r>
              <a:rPr lang="en-IN" dirty="0"/>
              <a:t>Stop when the result is no longer changing much.</a:t>
            </a:r>
          </a:p>
          <a:p>
            <a:endParaRPr lang="en-IN" dirty="0"/>
          </a:p>
        </p:txBody>
      </p:sp>
    </p:spTree>
    <p:extLst>
      <p:ext uri="{BB962C8B-B14F-4D97-AF65-F5344CB8AC3E}">
        <p14:creationId xmlns:p14="http://schemas.microsoft.com/office/powerpoint/2010/main" val="48219815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8C2B2-D9D1-6EB9-445D-E1EA324DEFA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4B61E97-2A5C-97FA-B871-144248120008}"/>
              </a:ext>
            </a:extLst>
          </p:cNvPr>
          <p:cNvSpPr>
            <a:spLocks noGrp="1"/>
          </p:cNvSpPr>
          <p:nvPr>
            <p:ph idx="1"/>
          </p:nvPr>
        </p:nvSpPr>
        <p:spPr/>
        <p:txBody>
          <a:bodyPr/>
          <a:lstStyle/>
          <a:p>
            <a:r>
              <a:rPr lang="en-IN" dirty="0"/>
              <a:t>criteria = ( type, </a:t>
            </a:r>
            <a:r>
              <a:rPr lang="en-IN" dirty="0" err="1"/>
              <a:t>maximum_iterations</a:t>
            </a:r>
            <a:r>
              <a:rPr lang="en-IN" dirty="0"/>
              <a:t>, accuracy )</a:t>
            </a:r>
          </a:p>
          <a:p>
            <a:r>
              <a:rPr lang="en-IN" dirty="0"/>
              <a:t>Stop after a maximum number of iterations.</a:t>
            </a:r>
          </a:p>
          <a:p>
            <a:r>
              <a:rPr lang="en-IN" dirty="0"/>
              <a:t>Why use +? Use </a:t>
            </a:r>
            <a:r>
              <a:rPr lang="en-IN" b="1" dirty="0"/>
              <a:t>both</a:t>
            </a:r>
            <a:r>
              <a:rPr lang="en-IN" dirty="0"/>
              <a:t> stopping conditions.</a:t>
            </a:r>
          </a:p>
          <a:p>
            <a:r>
              <a:rPr lang="en-IN" dirty="0"/>
              <a:t>Maximum </a:t>
            </a:r>
            <a:r>
              <a:rPr lang="en-IN" b="1" dirty="0"/>
              <a:t>10 iterations</a:t>
            </a:r>
            <a:r>
              <a:rPr lang="en-IN" dirty="0"/>
              <a:t>.</a:t>
            </a:r>
          </a:p>
          <a:p>
            <a:r>
              <a:rPr lang="en-IN" dirty="0"/>
              <a:t>1 is the epsilon/accuracy condition.</a:t>
            </a:r>
          </a:p>
          <a:p>
            <a:r>
              <a:rPr lang="en-IN" dirty="0"/>
              <a:t>If the K-Means result changes by less than 1, stop</a:t>
            </a:r>
          </a:p>
        </p:txBody>
      </p:sp>
    </p:spTree>
    <p:extLst>
      <p:ext uri="{BB962C8B-B14F-4D97-AF65-F5344CB8AC3E}">
        <p14:creationId xmlns:p14="http://schemas.microsoft.com/office/powerpoint/2010/main" val="228397210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BDC7D-BD9E-9C63-6D7E-392C3FF7F5A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D1A41AC-A0D6-B872-0FF4-D91BD9AB121F}"/>
              </a:ext>
            </a:extLst>
          </p:cNvPr>
          <p:cNvSpPr>
            <a:spLocks noGrp="1"/>
          </p:cNvSpPr>
          <p:nvPr>
            <p:ph idx="1"/>
          </p:nvPr>
        </p:nvSpPr>
        <p:spPr/>
        <p:txBody>
          <a:bodyPr>
            <a:normAutofit lnSpcReduction="10000"/>
          </a:bodyPr>
          <a:lstStyle/>
          <a:p>
            <a:r>
              <a:rPr lang="en-IN" dirty="0"/>
              <a:t>ret, label, </a:t>
            </a:r>
            <a:r>
              <a:rPr lang="en-IN" dirty="0" err="1"/>
              <a:t>center</a:t>
            </a:r>
            <a:r>
              <a:rPr lang="en-IN" dirty="0"/>
              <a:t> = cv2.kmeans( Z, K, None, criteria, 10, cv2.KMEANS_RANDOM_CENTERS )</a:t>
            </a:r>
          </a:p>
          <a:p>
            <a:r>
              <a:rPr lang="en-IN" dirty="0"/>
              <a:t>Z: This contains all your pixels.</a:t>
            </a:r>
          </a:p>
          <a:p>
            <a:r>
              <a:rPr lang="en-IN" dirty="0"/>
              <a:t>[155,152,154]</a:t>
            </a:r>
          </a:p>
          <a:p>
            <a:r>
              <a:rPr lang="en-IN" dirty="0"/>
              <a:t>[155,152,154]</a:t>
            </a:r>
          </a:p>
          <a:p>
            <a:r>
              <a:rPr lang="en-IN" dirty="0"/>
              <a:t>[166,156,168]</a:t>
            </a:r>
          </a:p>
          <a:p>
            <a:r>
              <a:rPr lang="en-IN" dirty="0"/>
              <a:t>[100,120,200]</a:t>
            </a:r>
          </a:p>
          <a:p>
            <a:r>
              <a:rPr lang="en-IN" dirty="0"/>
              <a:t>...</a:t>
            </a:r>
          </a:p>
          <a:p>
            <a:r>
              <a:rPr lang="en-IN" dirty="0"/>
              <a:t>K-Means looks at these pixels and groups similar ones.</a:t>
            </a:r>
          </a:p>
        </p:txBody>
      </p:sp>
    </p:spTree>
    <p:extLst>
      <p:ext uri="{BB962C8B-B14F-4D97-AF65-F5344CB8AC3E}">
        <p14:creationId xmlns:p14="http://schemas.microsoft.com/office/powerpoint/2010/main" val="32331572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FE13A-6EF4-B768-3A4C-747CE4F906B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2B268DE-63FB-D11C-2ECE-E83BAD54FDC3}"/>
              </a:ext>
            </a:extLst>
          </p:cNvPr>
          <p:cNvSpPr>
            <a:spLocks noGrp="1"/>
          </p:cNvSpPr>
          <p:nvPr>
            <p:ph idx="1"/>
          </p:nvPr>
        </p:nvSpPr>
        <p:spPr/>
        <p:txBody>
          <a:bodyPr>
            <a:normAutofit fontScale="92500" lnSpcReduction="10000"/>
          </a:bodyPr>
          <a:lstStyle/>
          <a:p>
            <a:r>
              <a:rPr lang="en-US" dirty="0"/>
              <a:t>K: </a:t>
            </a:r>
            <a:r>
              <a:rPr lang="en-IN" dirty="0"/>
              <a:t>So K-Means creates </a:t>
            </a:r>
            <a:r>
              <a:rPr lang="en-IN" b="1" dirty="0"/>
              <a:t>4 clusters</a:t>
            </a:r>
            <a:r>
              <a:rPr lang="en-IN" dirty="0"/>
              <a:t>.</a:t>
            </a:r>
          </a:p>
          <a:p>
            <a:r>
              <a:rPr lang="en-IN" dirty="0"/>
              <a:t>None: This is used for labels.</a:t>
            </a:r>
          </a:p>
          <a:p>
            <a:r>
              <a:rPr lang="en-IN" dirty="0"/>
              <a:t>You don't need to provide initial labels because K-Means will create them.</a:t>
            </a:r>
          </a:p>
          <a:p>
            <a:r>
              <a:rPr lang="en-IN" dirty="0"/>
              <a:t>Criteria: This means </a:t>
            </a:r>
            <a:r>
              <a:rPr lang="en-IN" b="1" dirty="0"/>
              <a:t>attempt the K-Means process 10 times</a:t>
            </a:r>
            <a:r>
              <a:rPr lang="en-IN" dirty="0"/>
              <a:t> with different random starting </a:t>
            </a:r>
            <a:r>
              <a:rPr lang="en-IN" dirty="0" err="1"/>
              <a:t>centers</a:t>
            </a:r>
            <a:r>
              <a:rPr lang="en-IN" dirty="0"/>
              <a:t>.</a:t>
            </a:r>
          </a:p>
          <a:p>
            <a:r>
              <a:rPr lang="en-IN" dirty="0"/>
              <a:t>Why?</a:t>
            </a:r>
          </a:p>
          <a:p>
            <a:r>
              <a:rPr lang="en-IN" dirty="0"/>
              <a:t>Because K-Means starts with random </a:t>
            </a:r>
            <a:r>
              <a:rPr lang="en-IN" dirty="0" err="1"/>
              <a:t>centers</a:t>
            </a:r>
            <a:r>
              <a:rPr lang="en-IN" dirty="0"/>
              <a:t>.</a:t>
            </a:r>
          </a:p>
          <a:p>
            <a:r>
              <a:rPr lang="en-IN" dirty="0"/>
              <a:t>Different starting points can produce slightly different results.</a:t>
            </a:r>
          </a:p>
          <a:p>
            <a:r>
              <a:rPr lang="en-IN" dirty="0"/>
              <a:t>Doing it 10 times gives OpenCV a chance to find a better result.</a:t>
            </a:r>
          </a:p>
          <a:p>
            <a:endParaRPr lang="en-IN" dirty="0"/>
          </a:p>
        </p:txBody>
      </p:sp>
    </p:spTree>
    <p:extLst>
      <p:ext uri="{BB962C8B-B14F-4D97-AF65-F5344CB8AC3E}">
        <p14:creationId xmlns:p14="http://schemas.microsoft.com/office/powerpoint/2010/main" val="335414029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BB0208-5F13-8F6C-4E80-E43A1E1F818A}"/>
              </a:ext>
            </a:extLst>
          </p:cNvPr>
          <p:cNvSpPr>
            <a:spLocks noGrp="1"/>
          </p:cNvSpPr>
          <p:nvPr>
            <p:ph idx="1"/>
          </p:nvPr>
        </p:nvSpPr>
        <p:spPr>
          <a:xfrm>
            <a:off x="838200" y="597877"/>
            <a:ext cx="10515600" cy="5579086"/>
          </a:xfrm>
        </p:spPr>
        <p:txBody>
          <a:bodyPr>
            <a:normAutofit fontScale="92500" lnSpcReduction="10000"/>
          </a:bodyPr>
          <a:lstStyle/>
          <a:p>
            <a:r>
              <a:rPr lang="en-IN" dirty="0"/>
              <a:t>cv2.KMEANS_RANDOM_CENTERS: This means</a:t>
            </a:r>
          </a:p>
          <a:p>
            <a:r>
              <a:rPr lang="en-IN" dirty="0"/>
              <a:t>Start the cluster </a:t>
            </a:r>
            <a:r>
              <a:rPr lang="en-IN" dirty="0" err="1"/>
              <a:t>centers</a:t>
            </a:r>
            <a:r>
              <a:rPr lang="en-IN" dirty="0"/>
              <a:t> at random positions.</a:t>
            </a:r>
          </a:p>
          <a:p>
            <a:r>
              <a:rPr lang="en-IN" dirty="0"/>
              <a:t>Suppose we have these pixels:</a:t>
            </a:r>
          </a:p>
          <a:p>
            <a:r>
              <a:rPr lang="en-IN" dirty="0"/>
              <a:t>[10,10,10]</a:t>
            </a:r>
          </a:p>
          <a:p>
            <a:r>
              <a:rPr lang="en-IN" dirty="0"/>
              <a:t>[12,11,10]</a:t>
            </a:r>
          </a:p>
          <a:p>
            <a:r>
              <a:rPr lang="en-IN" dirty="0"/>
              <a:t>[15,14,13]</a:t>
            </a:r>
          </a:p>
          <a:p>
            <a:endParaRPr lang="en-IN" dirty="0"/>
          </a:p>
          <a:p>
            <a:r>
              <a:rPr lang="en-IN" dirty="0"/>
              <a:t>[100,100,100]</a:t>
            </a:r>
          </a:p>
          <a:p>
            <a:r>
              <a:rPr lang="en-IN" dirty="0"/>
              <a:t>[105,102,100]</a:t>
            </a:r>
          </a:p>
          <a:p>
            <a:endParaRPr lang="en-IN" dirty="0"/>
          </a:p>
          <a:p>
            <a:r>
              <a:rPr lang="en-IN" dirty="0"/>
              <a:t>[200,200,200]</a:t>
            </a:r>
          </a:p>
          <a:p>
            <a:r>
              <a:rPr lang="en-IN" dirty="0"/>
              <a:t>[210,205,200]</a:t>
            </a:r>
          </a:p>
          <a:p>
            <a:endParaRPr lang="en-IN" dirty="0"/>
          </a:p>
        </p:txBody>
      </p:sp>
    </p:spTree>
    <p:extLst>
      <p:ext uri="{BB962C8B-B14F-4D97-AF65-F5344CB8AC3E}">
        <p14:creationId xmlns:p14="http://schemas.microsoft.com/office/powerpoint/2010/main" val="65808342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5D262-C13F-82E9-DE9E-172900F6ADB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ECD5F1C-DB57-B81E-A46B-2B0D40058B7C}"/>
              </a:ext>
            </a:extLst>
          </p:cNvPr>
          <p:cNvSpPr>
            <a:spLocks noGrp="1"/>
          </p:cNvSpPr>
          <p:nvPr>
            <p:ph idx="1"/>
          </p:nvPr>
        </p:nvSpPr>
        <p:spPr/>
        <p:txBody>
          <a:bodyPr>
            <a:normAutofit fontScale="47500" lnSpcReduction="20000"/>
          </a:bodyPr>
          <a:lstStyle/>
          <a:p>
            <a:r>
              <a:rPr lang="en-US" dirty="0"/>
              <a:t>And k=3</a:t>
            </a:r>
          </a:p>
          <a:p>
            <a:r>
              <a:rPr lang="en-IN" dirty="0"/>
              <a:t>Cluster 1</a:t>
            </a:r>
          </a:p>
          <a:p>
            <a:r>
              <a:rPr lang="en-IN" dirty="0"/>
              <a:t>↓</a:t>
            </a:r>
          </a:p>
          <a:p>
            <a:r>
              <a:rPr lang="en-IN" dirty="0"/>
              <a:t>[10,10,10]</a:t>
            </a:r>
          </a:p>
          <a:p>
            <a:r>
              <a:rPr lang="en-IN" dirty="0"/>
              <a:t>[12,11,10]</a:t>
            </a:r>
          </a:p>
          <a:p>
            <a:r>
              <a:rPr lang="en-IN" dirty="0"/>
              <a:t>[15,14,13]</a:t>
            </a:r>
          </a:p>
          <a:p>
            <a:endParaRPr lang="en-IN" dirty="0"/>
          </a:p>
          <a:p>
            <a:r>
              <a:rPr lang="en-IN" dirty="0"/>
              <a:t>Cluster 2</a:t>
            </a:r>
          </a:p>
          <a:p>
            <a:r>
              <a:rPr lang="en-IN" dirty="0"/>
              <a:t>↓</a:t>
            </a:r>
          </a:p>
          <a:p>
            <a:r>
              <a:rPr lang="en-IN" dirty="0"/>
              <a:t>[100,100,100]</a:t>
            </a:r>
          </a:p>
          <a:p>
            <a:r>
              <a:rPr lang="en-IN" dirty="0"/>
              <a:t>[105,102,100]</a:t>
            </a:r>
          </a:p>
          <a:p>
            <a:endParaRPr lang="en-IN" dirty="0"/>
          </a:p>
          <a:p>
            <a:r>
              <a:rPr lang="en-IN" dirty="0"/>
              <a:t>Cluster 3</a:t>
            </a:r>
          </a:p>
          <a:p>
            <a:r>
              <a:rPr lang="en-IN" dirty="0"/>
              <a:t>↓</a:t>
            </a:r>
          </a:p>
          <a:p>
            <a:r>
              <a:rPr lang="en-IN" dirty="0"/>
              <a:t>[200,200,200]</a:t>
            </a:r>
          </a:p>
          <a:p>
            <a:r>
              <a:rPr lang="en-IN" dirty="0"/>
              <a:t>[210,205,200]</a:t>
            </a:r>
          </a:p>
        </p:txBody>
      </p:sp>
    </p:spTree>
    <p:extLst>
      <p:ext uri="{BB962C8B-B14F-4D97-AF65-F5344CB8AC3E}">
        <p14:creationId xmlns:p14="http://schemas.microsoft.com/office/powerpoint/2010/main" val="200070976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F559C-2175-FCA4-2F7F-2B4E89B27D0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95D7DE0-A336-FED1-F237-72B7DB95F440}"/>
              </a:ext>
            </a:extLst>
          </p:cNvPr>
          <p:cNvSpPr>
            <a:spLocks noGrp="1"/>
          </p:cNvSpPr>
          <p:nvPr>
            <p:ph idx="1"/>
          </p:nvPr>
        </p:nvSpPr>
        <p:spPr/>
        <p:txBody>
          <a:bodyPr/>
          <a:lstStyle/>
          <a:p>
            <a:r>
              <a:rPr lang="en-IN" dirty="0"/>
              <a:t>It calculates a representative </a:t>
            </a:r>
            <a:r>
              <a:rPr lang="en-IN" dirty="0" err="1"/>
              <a:t>color</a:t>
            </a:r>
            <a:r>
              <a:rPr lang="en-IN" dirty="0"/>
              <a:t> for each group.</a:t>
            </a:r>
          </a:p>
          <a:p>
            <a:r>
              <a:rPr lang="en-IN" dirty="0"/>
              <a:t>These representative </a:t>
            </a:r>
            <a:r>
              <a:rPr lang="en-IN" dirty="0" err="1"/>
              <a:t>colors</a:t>
            </a:r>
            <a:r>
              <a:rPr lang="en-IN" dirty="0"/>
              <a:t> are called </a:t>
            </a:r>
            <a:r>
              <a:rPr lang="en-IN" b="1" dirty="0" err="1"/>
              <a:t>centers</a:t>
            </a:r>
            <a:r>
              <a:rPr lang="en-IN" dirty="0"/>
              <a:t>.</a:t>
            </a:r>
          </a:p>
          <a:p>
            <a:r>
              <a:rPr lang="en-IN" dirty="0"/>
              <a:t>ret, label, </a:t>
            </a:r>
            <a:r>
              <a:rPr lang="en-IN" dirty="0" err="1"/>
              <a:t>center</a:t>
            </a:r>
            <a:r>
              <a:rPr lang="en-IN" dirty="0"/>
              <a:t> = cv2.kmeans(...): </a:t>
            </a:r>
            <a:r>
              <a:rPr lang="en-IN" dirty="0" err="1"/>
              <a:t>center</a:t>
            </a:r>
            <a:r>
              <a:rPr lang="en-IN" dirty="0"/>
              <a:t> contains the representative </a:t>
            </a:r>
            <a:r>
              <a:rPr lang="en-IN" dirty="0" err="1"/>
              <a:t>color</a:t>
            </a:r>
            <a:r>
              <a:rPr lang="en-IN" dirty="0"/>
              <a:t> of each cluster. These are the </a:t>
            </a:r>
            <a:r>
              <a:rPr lang="en-IN" b="1" dirty="0"/>
              <a:t>4 main </a:t>
            </a:r>
            <a:r>
              <a:rPr lang="en-IN" b="1" dirty="0" err="1"/>
              <a:t>colors</a:t>
            </a:r>
            <a:r>
              <a:rPr lang="en-IN" dirty="0"/>
              <a:t> found by K-Means.</a:t>
            </a:r>
          </a:p>
          <a:p>
            <a:r>
              <a:rPr lang="en-IN" dirty="0"/>
              <a:t>Eg: </a:t>
            </a:r>
            <a:r>
              <a:rPr lang="pt-BR" dirty="0"/>
              <a:t>center[0] → [B,G,R]</a:t>
            </a:r>
          </a:p>
          <a:p>
            <a:r>
              <a:rPr lang="pt-BR" dirty="0"/>
              <a:t>center[1] → [B,G,R]</a:t>
            </a:r>
          </a:p>
          <a:p>
            <a:r>
              <a:rPr lang="pt-BR" dirty="0"/>
              <a:t>center[2] → [B,G,R]</a:t>
            </a:r>
          </a:p>
          <a:p>
            <a:r>
              <a:rPr lang="pt-BR" dirty="0"/>
              <a:t>center[3] → [B,G,R]</a:t>
            </a:r>
            <a:endParaRPr lang="en-IN" dirty="0"/>
          </a:p>
        </p:txBody>
      </p:sp>
    </p:spTree>
    <p:extLst>
      <p:ext uri="{BB962C8B-B14F-4D97-AF65-F5344CB8AC3E}">
        <p14:creationId xmlns:p14="http://schemas.microsoft.com/office/powerpoint/2010/main" val="359364140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F9731-8601-4609-8311-6DB03100C79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893BE2C-11B7-25FE-4FAA-72317C122458}"/>
              </a:ext>
            </a:extLst>
          </p:cNvPr>
          <p:cNvSpPr>
            <a:spLocks noGrp="1"/>
          </p:cNvSpPr>
          <p:nvPr>
            <p:ph idx="1"/>
          </p:nvPr>
        </p:nvSpPr>
        <p:spPr/>
        <p:txBody>
          <a:bodyPr/>
          <a:lstStyle/>
          <a:p>
            <a:r>
              <a:rPr lang="en-IN" dirty="0"/>
              <a:t>Label tells us:</a:t>
            </a:r>
          </a:p>
          <a:p>
            <a:r>
              <a:rPr lang="en-IN" b="1" dirty="0"/>
              <a:t>Which cluster does each pixel belong to?</a:t>
            </a:r>
            <a:endParaRPr lang="en-IN" dirty="0"/>
          </a:p>
          <a:p>
            <a:endParaRPr lang="en-IN" dirty="0"/>
          </a:p>
        </p:txBody>
      </p:sp>
    </p:spTree>
    <p:extLst>
      <p:ext uri="{BB962C8B-B14F-4D97-AF65-F5344CB8AC3E}">
        <p14:creationId xmlns:p14="http://schemas.microsoft.com/office/powerpoint/2010/main" val="67441701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94E38-7FD2-43D1-80CA-405CC00D2FF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C22176D-E2BB-49A2-0845-8158E4D9B501}"/>
              </a:ext>
            </a:extLst>
          </p:cNvPr>
          <p:cNvSpPr>
            <a:spLocks noGrp="1"/>
          </p:cNvSpPr>
          <p:nvPr>
            <p:ph idx="1"/>
          </p:nvPr>
        </p:nvSpPr>
        <p:spPr/>
        <p:txBody>
          <a:bodyPr>
            <a:normAutofit fontScale="92500" lnSpcReduction="20000"/>
          </a:bodyPr>
          <a:lstStyle/>
          <a:p>
            <a:r>
              <a:rPr lang="en-IN" dirty="0"/>
              <a:t>Suppose your image has these pixel </a:t>
            </a:r>
            <a:r>
              <a:rPr lang="en-IN" dirty="0" err="1"/>
              <a:t>colors</a:t>
            </a:r>
            <a:r>
              <a:rPr lang="en-IN" dirty="0"/>
              <a:t>:</a:t>
            </a:r>
          </a:p>
          <a:p>
            <a:r>
              <a:rPr lang="en-IN" dirty="0"/>
              <a:t>Red-</a:t>
            </a:r>
            <a:r>
              <a:rPr lang="en-IN" dirty="0" err="1"/>
              <a:t>ish</a:t>
            </a:r>
            <a:r>
              <a:rPr lang="en-IN" dirty="0"/>
              <a:t> pixels:</a:t>
            </a:r>
          </a:p>
          <a:p>
            <a:r>
              <a:rPr lang="en-IN" dirty="0"/>
              <a:t>[250, 20, 20]</a:t>
            </a:r>
          </a:p>
          <a:p>
            <a:r>
              <a:rPr lang="en-IN" dirty="0"/>
              <a:t>[245, 25, 22]</a:t>
            </a:r>
          </a:p>
          <a:p>
            <a:r>
              <a:rPr lang="en-IN" dirty="0"/>
              <a:t>[255, 30, 18]</a:t>
            </a:r>
          </a:p>
          <a:p>
            <a:endParaRPr lang="en-IN" dirty="0"/>
          </a:p>
          <a:p>
            <a:r>
              <a:rPr lang="en-IN" dirty="0"/>
              <a:t>Blue-</a:t>
            </a:r>
            <a:r>
              <a:rPr lang="en-IN" dirty="0" err="1"/>
              <a:t>ish</a:t>
            </a:r>
            <a:r>
              <a:rPr lang="en-IN" dirty="0"/>
              <a:t> pixels:</a:t>
            </a:r>
          </a:p>
          <a:p>
            <a:r>
              <a:rPr lang="en-IN" dirty="0"/>
              <a:t>[20, 20, 250]</a:t>
            </a:r>
          </a:p>
          <a:p>
            <a:r>
              <a:rPr lang="en-IN" dirty="0"/>
              <a:t>[25, 25, 245]</a:t>
            </a:r>
          </a:p>
          <a:p>
            <a:r>
              <a:rPr lang="en-IN" dirty="0"/>
              <a:t>[18, 30, 255]</a:t>
            </a:r>
          </a:p>
          <a:p>
            <a:endParaRPr lang="en-IN" dirty="0"/>
          </a:p>
          <a:p>
            <a:endParaRPr lang="en-IN" dirty="0"/>
          </a:p>
        </p:txBody>
      </p:sp>
    </p:spTree>
    <p:extLst>
      <p:ext uri="{BB962C8B-B14F-4D97-AF65-F5344CB8AC3E}">
        <p14:creationId xmlns:p14="http://schemas.microsoft.com/office/powerpoint/2010/main" val="387805637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806E03-760D-F1A2-9F84-28B03EC49D52}"/>
              </a:ext>
            </a:extLst>
          </p:cNvPr>
          <p:cNvSpPr>
            <a:spLocks noGrp="1"/>
          </p:cNvSpPr>
          <p:nvPr>
            <p:ph idx="1"/>
          </p:nvPr>
        </p:nvSpPr>
        <p:spPr>
          <a:xfrm>
            <a:off x="838200" y="237392"/>
            <a:ext cx="10515600" cy="5939571"/>
          </a:xfrm>
        </p:spPr>
        <p:txBody>
          <a:bodyPr>
            <a:normAutofit lnSpcReduction="10000"/>
          </a:bodyPr>
          <a:lstStyle/>
          <a:p>
            <a:r>
              <a:rPr lang="en-IN" dirty="0"/>
              <a:t>Green-</a:t>
            </a:r>
            <a:r>
              <a:rPr lang="en-IN" dirty="0" err="1"/>
              <a:t>ish</a:t>
            </a:r>
            <a:r>
              <a:rPr lang="en-IN" dirty="0"/>
              <a:t> pixels:</a:t>
            </a:r>
          </a:p>
          <a:p>
            <a:r>
              <a:rPr lang="en-IN" dirty="0"/>
              <a:t>[20, 250, 20]</a:t>
            </a:r>
          </a:p>
          <a:p>
            <a:r>
              <a:rPr lang="en-IN" dirty="0"/>
              <a:t>[25, 245, 25]</a:t>
            </a:r>
          </a:p>
          <a:p>
            <a:r>
              <a:rPr lang="en-IN" dirty="0"/>
              <a:t>[18, 255, 30]</a:t>
            </a:r>
          </a:p>
          <a:p>
            <a:r>
              <a:rPr lang="en-IN" dirty="0"/>
              <a:t>If k=3</a:t>
            </a:r>
          </a:p>
          <a:p>
            <a:r>
              <a:rPr lang="en-IN" dirty="0"/>
              <a:t>K-Means says:</a:t>
            </a:r>
          </a:p>
          <a:p>
            <a:r>
              <a:rPr lang="en-IN" dirty="0"/>
              <a:t>"I need to make </a:t>
            </a:r>
            <a:r>
              <a:rPr lang="en-IN" b="1" dirty="0"/>
              <a:t>3 groups</a:t>
            </a:r>
            <a:r>
              <a:rPr lang="en-IN" dirty="0"/>
              <a:t>."</a:t>
            </a:r>
          </a:p>
          <a:p>
            <a:r>
              <a:rPr lang="en-IN" dirty="0"/>
              <a:t>Step 1 — Pick 3 starting </a:t>
            </a:r>
            <a:r>
              <a:rPr lang="en-IN" dirty="0" err="1"/>
              <a:t>centers</a:t>
            </a:r>
            <a:endParaRPr lang="en-IN" dirty="0"/>
          </a:p>
          <a:p>
            <a:r>
              <a:rPr lang="en-IN" dirty="0"/>
              <a:t>It randomly chooses 3 </a:t>
            </a:r>
            <a:r>
              <a:rPr lang="en-IN" dirty="0" err="1"/>
              <a:t>colors</a:t>
            </a:r>
            <a:r>
              <a:rPr lang="en-IN" dirty="0"/>
              <a:t> as starting points.</a:t>
            </a:r>
          </a:p>
          <a:p>
            <a:r>
              <a:rPr lang="en-IN" dirty="0" err="1"/>
              <a:t>Center</a:t>
            </a:r>
            <a:r>
              <a:rPr lang="en-IN" dirty="0"/>
              <a:t> 1 = [250, 20, 20]</a:t>
            </a:r>
          </a:p>
          <a:p>
            <a:r>
              <a:rPr lang="en-IN" dirty="0"/>
              <a:t> </a:t>
            </a:r>
            <a:r>
              <a:rPr lang="en-IN" dirty="0" err="1"/>
              <a:t>Center</a:t>
            </a:r>
            <a:r>
              <a:rPr lang="en-IN" dirty="0"/>
              <a:t> 2 = [20, 20, 250] </a:t>
            </a:r>
          </a:p>
          <a:p>
            <a:r>
              <a:rPr lang="en-IN" dirty="0" err="1"/>
              <a:t>Center</a:t>
            </a:r>
            <a:r>
              <a:rPr lang="en-IN" dirty="0"/>
              <a:t> 3 = [20, 250, 20]</a:t>
            </a:r>
          </a:p>
        </p:txBody>
      </p:sp>
    </p:spTree>
    <p:extLst>
      <p:ext uri="{BB962C8B-B14F-4D97-AF65-F5344CB8AC3E}">
        <p14:creationId xmlns:p14="http://schemas.microsoft.com/office/powerpoint/2010/main" val="275993198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BCD350-F219-D081-F846-11C3EA9B7FA3}"/>
              </a:ext>
            </a:extLst>
          </p:cNvPr>
          <p:cNvSpPr>
            <a:spLocks noGrp="1"/>
          </p:cNvSpPr>
          <p:nvPr>
            <p:ph idx="1"/>
          </p:nvPr>
        </p:nvSpPr>
        <p:spPr>
          <a:xfrm>
            <a:off x="838200" y="439615"/>
            <a:ext cx="10515600" cy="5737348"/>
          </a:xfrm>
        </p:spPr>
        <p:txBody>
          <a:bodyPr>
            <a:normAutofit fontScale="92500" lnSpcReduction="20000"/>
          </a:bodyPr>
          <a:lstStyle/>
          <a:p>
            <a:r>
              <a:rPr lang="en-IN" dirty="0"/>
              <a:t>Step 2 — Give every pixel to the closest </a:t>
            </a:r>
            <a:r>
              <a:rPr lang="en-IN" dirty="0" err="1"/>
              <a:t>center</a:t>
            </a:r>
            <a:endParaRPr lang="en-IN" dirty="0"/>
          </a:p>
          <a:p>
            <a:r>
              <a:rPr lang="en-IN" dirty="0"/>
              <a:t>For example:</a:t>
            </a:r>
          </a:p>
          <a:p>
            <a:r>
              <a:rPr lang="en-IN" dirty="0"/>
              <a:t>[250,20,20] → closest to  → Cluster 1</a:t>
            </a:r>
          </a:p>
          <a:p>
            <a:r>
              <a:rPr lang="en-IN" dirty="0"/>
              <a:t> [20,20,250] → closest to  → Cluster 2</a:t>
            </a:r>
          </a:p>
          <a:p>
            <a:r>
              <a:rPr lang="en-IN" dirty="0"/>
              <a:t> [20,250,20] → closest to  → Cluster 3</a:t>
            </a:r>
          </a:p>
          <a:p>
            <a:endParaRPr lang="en-IN" dirty="0"/>
          </a:p>
          <a:p>
            <a:r>
              <a:rPr lang="en-IN" dirty="0"/>
              <a:t>So each pixel gets a </a:t>
            </a:r>
            <a:r>
              <a:rPr lang="en-IN" b="1" dirty="0"/>
              <a:t>label</a:t>
            </a:r>
            <a:r>
              <a:rPr lang="en-IN" dirty="0"/>
              <a:t>:</a:t>
            </a:r>
          </a:p>
          <a:p>
            <a:r>
              <a:rPr lang="en-IN" dirty="0"/>
              <a:t>Pixel → Cluster</a:t>
            </a:r>
          </a:p>
          <a:p>
            <a:endParaRPr lang="en-IN" dirty="0"/>
          </a:p>
          <a:p>
            <a:r>
              <a:rPr lang="en-IN" dirty="0"/>
              <a:t>Pixel 1 → 1</a:t>
            </a:r>
          </a:p>
          <a:p>
            <a:r>
              <a:rPr lang="en-IN" dirty="0"/>
              <a:t>Pixel 2 → 1</a:t>
            </a:r>
          </a:p>
          <a:p>
            <a:r>
              <a:rPr lang="en-IN" dirty="0"/>
              <a:t>Pixel 3 → 2</a:t>
            </a:r>
          </a:p>
          <a:p>
            <a:r>
              <a:rPr lang="en-IN" dirty="0"/>
              <a:t>Pixel 4 → 3</a:t>
            </a:r>
          </a:p>
          <a:p>
            <a:r>
              <a:rPr lang="en-IN" dirty="0"/>
              <a:t>...</a:t>
            </a:r>
          </a:p>
        </p:txBody>
      </p:sp>
    </p:spTree>
    <p:extLst>
      <p:ext uri="{BB962C8B-B14F-4D97-AF65-F5344CB8AC3E}">
        <p14:creationId xmlns:p14="http://schemas.microsoft.com/office/powerpoint/2010/main" val="266967309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74326-9C33-003D-4C6F-6E2BA5D55C2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181F948-B6A4-0809-8800-D1A94A541A1E}"/>
              </a:ext>
            </a:extLst>
          </p:cNvPr>
          <p:cNvSpPr>
            <a:spLocks noGrp="1"/>
          </p:cNvSpPr>
          <p:nvPr>
            <p:ph idx="1"/>
          </p:nvPr>
        </p:nvSpPr>
        <p:spPr/>
        <p:txBody>
          <a:bodyPr/>
          <a:lstStyle/>
          <a:p>
            <a:r>
              <a:rPr lang="en-IN" dirty="0"/>
              <a:t>Step 3 — Calculate a new </a:t>
            </a:r>
            <a:r>
              <a:rPr lang="en-IN" dirty="0" err="1"/>
              <a:t>center</a:t>
            </a:r>
            <a:endParaRPr lang="en-IN" dirty="0"/>
          </a:p>
          <a:p>
            <a:r>
              <a:rPr lang="en-IN" dirty="0"/>
              <a:t>Now K-Means looks at all pixels in Cluster 1 and calculates their </a:t>
            </a:r>
            <a:r>
              <a:rPr lang="en-IN" b="1" dirty="0"/>
              <a:t>average </a:t>
            </a:r>
            <a:r>
              <a:rPr lang="en-IN" b="1" dirty="0" err="1"/>
              <a:t>color</a:t>
            </a:r>
            <a:r>
              <a:rPr lang="en-IN" dirty="0"/>
              <a:t>.</a:t>
            </a:r>
          </a:p>
          <a:p>
            <a:r>
              <a:rPr lang="en-IN" dirty="0"/>
              <a:t>For example:</a:t>
            </a:r>
          </a:p>
          <a:p>
            <a:r>
              <a:rPr lang="en-IN" dirty="0"/>
              <a:t>[250,20,20]</a:t>
            </a:r>
          </a:p>
          <a:p>
            <a:r>
              <a:rPr lang="en-IN" dirty="0"/>
              <a:t>[245,25,22]</a:t>
            </a:r>
          </a:p>
          <a:p>
            <a:r>
              <a:rPr lang="en-IN" dirty="0"/>
              <a:t>[255,30,18]</a:t>
            </a:r>
          </a:p>
          <a:p>
            <a:endParaRPr lang="en-IN" dirty="0"/>
          </a:p>
        </p:txBody>
      </p:sp>
    </p:spTree>
    <p:extLst>
      <p:ext uri="{BB962C8B-B14F-4D97-AF65-F5344CB8AC3E}">
        <p14:creationId xmlns:p14="http://schemas.microsoft.com/office/powerpoint/2010/main" val="354122212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40B9E4-3768-73E2-ACF5-31D11B476D8A}"/>
              </a:ext>
            </a:extLst>
          </p:cNvPr>
          <p:cNvSpPr>
            <a:spLocks noGrp="1"/>
          </p:cNvSpPr>
          <p:nvPr>
            <p:ph idx="1"/>
          </p:nvPr>
        </p:nvSpPr>
        <p:spPr>
          <a:xfrm>
            <a:off x="838200" y="439615"/>
            <a:ext cx="10515600" cy="5737348"/>
          </a:xfrm>
        </p:spPr>
        <p:txBody>
          <a:bodyPr/>
          <a:lstStyle/>
          <a:p>
            <a:r>
              <a:rPr lang="en-IN" dirty="0"/>
              <a:t>Average ≈ [250,25,20]</a:t>
            </a:r>
          </a:p>
          <a:p>
            <a:r>
              <a:rPr lang="en-IN" dirty="0"/>
              <a:t>That becomes the new </a:t>
            </a:r>
            <a:r>
              <a:rPr lang="en-IN" dirty="0" err="1"/>
              <a:t>center</a:t>
            </a:r>
            <a:r>
              <a:rPr lang="en-IN" dirty="0"/>
              <a:t>.</a:t>
            </a:r>
          </a:p>
          <a:p>
            <a:r>
              <a:rPr lang="en-IN" dirty="0"/>
              <a:t>It does the same for Cluster 2 and Cluster 3.</a:t>
            </a:r>
          </a:p>
          <a:p>
            <a:r>
              <a:rPr lang="en-IN" dirty="0"/>
              <a:t>Step 4 — Repeat</a:t>
            </a:r>
          </a:p>
          <a:p>
            <a:r>
              <a:rPr lang="en-IN" dirty="0"/>
              <a:t>It again asks:</a:t>
            </a:r>
          </a:p>
          <a:p>
            <a:r>
              <a:rPr lang="en-IN" dirty="0"/>
              <a:t>"Is every pixel still closest to its current </a:t>
            </a:r>
            <a:r>
              <a:rPr lang="en-IN" dirty="0" err="1"/>
              <a:t>center</a:t>
            </a:r>
            <a:r>
              <a:rPr lang="en-IN" dirty="0"/>
              <a:t>?"</a:t>
            </a:r>
          </a:p>
          <a:p>
            <a:r>
              <a:rPr lang="en-IN" dirty="0"/>
              <a:t>If not, pixels move to different clusters.</a:t>
            </a:r>
          </a:p>
          <a:p>
            <a:r>
              <a:rPr lang="en-IN" dirty="0"/>
              <a:t>Then it calculates new </a:t>
            </a:r>
            <a:r>
              <a:rPr lang="en-IN" dirty="0" err="1"/>
              <a:t>centers</a:t>
            </a:r>
            <a:r>
              <a:rPr lang="en-IN" dirty="0"/>
              <a:t> again.</a:t>
            </a:r>
          </a:p>
          <a:p>
            <a:r>
              <a:rPr lang="en-IN" dirty="0"/>
              <a:t>It keeps doing:</a:t>
            </a:r>
          </a:p>
          <a:p>
            <a:endParaRPr lang="en-IN" dirty="0"/>
          </a:p>
          <a:p>
            <a:endParaRPr lang="en-IN" dirty="0"/>
          </a:p>
          <a:p>
            <a:endParaRPr lang="en-IN" dirty="0"/>
          </a:p>
        </p:txBody>
      </p:sp>
    </p:spTree>
    <p:extLst>
      <p:ext uri="{BB962C8B-B14F-4D97-AF65-F5344CB8AC3E}">
        <p14:creationId xmlns:p14="http://schemas.microsoft.com/office/powerpoint/2010/main" val="187144030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D179E-2D84-D8C0-3C20-5F47C62D3C9B}"/>
              </a:ext>
            </a:extLst>
          </p:cNvPr>
          <p:cNvSpPr>
            <a:spLocks noGrp="1"/>
          </p:cNvSpPr>
          <p:nvPr>
            <p:ph type="title"/>
          </p:nvPr>
        </p:nvSpPr>
        <p:spPr/>
        <p:txBody>
          <a:bodyPr/>
          <a:lstStyle/>
          <a:p>
            <a:r>
              <a:rPr lang="en-IN" dirty="0"/>
              <a:t>Active Contour (Snake) </a:t>
            </a:r>
          </a:p>
        </p:txBody>
      </p:sp>
      <p:sp>
        <p:nvSpPr>
          <p:cNvPr id="3" name="Content Placeholder 2">
            <a:extLst>
              <a:ext uri="{FF2B5EF4-FFF2-40B4-BE49-F238E27FC236}">
                <a16:creationId xmlns:a16="http://schemas.microsoft.com/office/drawing/2014/main" id="{245FCA96-2D17-E433-A93A-4F0E8A5D35B1}"/>
              </a:ext>
            </a:extLst>
          </p:cNvPr>
          <p:cNvSpPr>
            <a:spLocks noGrp="1"/>
          </p:cNvSpPr>
          <p:nvPr>
            <p:ph idx="1"/>
          </p:nvPr>
        </p:nvSpPr>
        <p:spPr/>
        <p:txBody>
          <a:bodyPr/>
          <a:lstStyle/>
          <a:p>
            <a:r>
              <a:rPr lang="en-IN" dirty="0"/>
              <a:t>Active Contour is a segmentation technique that finds the boundary of an object in an image.</a:t>
            </a:r>
          </a:p>
          <a:p>
            <a:r>
              <a:rPr lang="en-IN" dirty="0"/>
              <a:t>We first put a </a:t>
            </a:r>
            <a:r>
              <a:rPr lang="en-IN" b="1" dirty="0"/>
              <a:t>rough circle/curve around the car</a:t>
            </a:r>
            <a:r>
              <a:rPr lang="en-IN" dirty="0"/>
              <a:t>:</a:t>
            </a:r>
          </a:p>
          <a:p>
            <a:r>
              <a:rPr lang="en-IN" dirty="0"/>
              <a:t>This is called the </a:t>
            </a:r>
            <a:r>
              <a:rPr lang="en-IN" b="1" dirty="0"/>
              <a:t>initial snake</a:t>
            </a:r>
            <a:r>
              <a:rPr lang="en-IN" dirty="0"/>
              <a:t> (</a:t>
            </a:r>
            <a:r>
              <a:rPr lang="en-IN" dirty="0" err="1"/>
              <a:t>init</a:t>
            </a:r>
            <a:r>
              <a:rPr lang="en-IN" dirty="0"/>
              <a:t>).</a:t>
            </a:r>
          </a:p>
          <a:p>
            <a:r>
              <a:rPr lang="en-IN" dirty="0"/>
              <a:t>Then the snake </a:t>
            </a:r>
            <a:r>
              <a:rPr lang="en-IN" b="1" dirty="0"/>
              <a:t>moves and changes its shape</a:t>
            </a:r>
            <a:r>
              <a:rPr lang="en-IN" dirty="0"/>
              <a:t> to reach the actual boundary:</a:t>
            </a:r>
          </a:p>
          <a:p>
            <a:endParaRPr lang="en-IN" dirty="0"/>
          </a:p>
        </p:txBody>
      </p:sp>
    </p:spTree>
    <p:extLst>
      <p:ext uri="{BB962C8B-B14F-4D97-AF65-F5344CB8AC3E}">
        <p14:creationId xmlns:p14="http://schemas.microsoft.com/office/powerpoint/2010/main" val="165774644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7E3D6-66DF-55D6-B2D8-CECC61E66E4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725D021-F932-EE9E-EF9F-56E166071E68}"/>
              </a:ext>
            </a:extLst>
          </p:cNvPr>
          <p:cNvSpPr>
            <a:spLocks noGrp="1"/>
          </p:cNvSpPr>
          <p:nvPr>
            <p:ph idx="1"/>
          </p:nvPr>
        </p:nvSpPr>
        <p:spPr/>
        <p:txBody>
          <a:bodyPr/>
          <a:lstStyle/>
          <a:p>
            <a:r>
              <a:rPr lang="en-IN" dirty="0"/>
              <a:t>It is creating the </a:t>
            </a:r>
            <a:r>
              <a:rPr lang="en-IN" b="1" dirty="0"/>
              <a:t>starting circle for your snake </a:t>
            </a:r>
          </a:p>
          <a:p>
            <a:r>
              <a:rPr lang="en-IN" dirty="0"/>
              <a:t>Suppose your image is:</a:t>
            </a:r>
          </a:p>
          <a:p>
            <a:r>
              <a:rPr lang="en-IN" dirty="0"/>
              <a:t>Height = 800</a:t>
            </a:r>
          </a:p>
          <a:p>
            <a:r>
              <a:rPr lang="en-IN" dirty="0"/>
              <a:t>Width = 1000</a:t>
            </a:r>
          </a:p>
          <a:p>
            <a:r>
              <a:rPr lang="en-IN" dirty="0"/>
              <a:t>Then:</a:t>
            </a:r>
          </a:p>
          <a:p>
            <a:r>
              <a:rPr lang="en-IN" dirty="0"/>
              <a:t>min(800, 1000) = 800</a:t>
            </a:r>
          </a:p>
          <a:p>
            <a:r>
              <a:rPr lang="en-IN" dirty="0"/>
              <a:t>800 // 4 = 200</a:t>
            </a:r>
          </a:p>
          <a:p>
            <a:r>
              <a:rPr lang="en-IN" dirty="0"/>
              <a:t>radius = 200</a:t>
            </a:r>
          </a:p>
        </p:txBody>
      </p:sp>
    </p:spTree>
    <p:extLst>
      <p:ext uri="{BB962C8B-B14F-4D97-AF65-F5344CB8AC3E}">
        <p14:creationId xmlns:p14="http://schemas.microsoft.com/office/powerpoint/2010/main" val="359673150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9199B-9BA5-BC6C-480D-E3DE40B2EEF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BFD2D4D-99B5-98EB-1ED7-BE882504C773}"/>
              </a:ext>
            </a:extLst>
          </p:cNvPr>
          <p:cNvSpPr>
            <a:spLocks noGrp="1"/>
          </p:cNvSpPr>
          <p:nvPr>
            <p:ph idx="1"/>
          </p:nvPr>
        </p:nvSpPr>
        <p:spPr/>
        <p:txBody>
          <a:bodyPr/>
          <a:lstStyle/>
          <a:p>
            <a:r>
              <a:rPr lang="en-IN" dirty="0"/>
              <a:t>The starting circle will have a radius of </a:t>
            </a:r>
            <a:r>
              <a:rPr lang="en-IN" b="1" dirty="0"/>
              <a:t>200 pixels</a:t>
            </a:r>
            <a:r>
              <a:rPr lang="en-IN" dirty="0"/>
              <a:t>.</a:t>
            </a:r>
          </a:p>
          <a:p>
            <a:r>
              <a:rPr lang="en-IN" dirty="0"/>
              <a:t>Why divide by 4?</a:t>
            </a:r>
          </a:p>
          <a:p>
            <a:r>
              <a:rPr lang="en-IN" dirty="0"/>
              <a:t>Because we don't want the starting circle to be </a:t>
            </a:r>
            <a:r>
              <a:rPr lang="en-IN" b="1" dirty="0"/>
              <a:t>too big</a:t>
            </a:r>
            <a:r>
              <a:rPr lang="en-IN" dirty="0"/>
              <a:t> and go outside the image.</a:t>
            </a:r>
          </a:p>
          <a:p>
            <a:r>
              <a:rPr lang="en-IN" dirty="0"/>
              <a:t>//4 gives us a </a:t>
            </a:r>
            <a:r>
              <a:rPr lang="en-IN" b="1" dirty="0"/>
              <a:t>reasonable starting size</a:t>
            </a:r>
            <a:r>
              <a:rPr lang="en-IN" dirty="0"/>
              <a:t>.</a:t>
            </a:r>
          </a:p>
          <a:p>
            <a:r>
              <a:rPr lang="en-IN" dirty="0"/>
              <a:t>But it's </a:t>
            </a:r>
            <a:r>
              <a:rPr lang="en-IN" b="1" dirty="0"/>
              <a:t>not compulsory</a:t>
            </a:r>
            <a:r>
              <a:rPr lang="en-IN" dirty="0"/>
              <a:t>.</a:t>
            </a:r>
          </a:p>
          <a:p>
            <a:r>
              <a:rPr lang="en-IN" dirty="0"/>
              <a:t>//4 is just a practical choice to set the initial snake size. It is not a special rule of Active Contour.</a:t>
            </a:r>
          </a:p>
        </p:txBody>
      </p:sp>
    </p:spTree>
    <p:extLst>
      <p:ext uri="{BB962C8B-B14F-4D97-AF65-F5344CB8AC3E}">
        <p14:creationId xmlns:p14="http://schemas.microsoft.com/office/powerpoint/2010/main" val="365862807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09019-82AB-08EC-17AA-0303D6BAE47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5DE69A9-C824-2797-BA0B-C41D2FAABCDD}"/>
              </a:ext>
            </a:extLst>
          </p:cNvPr>
          <p:cNvSpPr>
            <a:spLocks noGrp="1"/>
          </p:cNvSpPr>
          <p:nvPr>
            <p:ph idx="1"/>
          </p:nvPr>
        </p:nvSpPr>
        <p:spPr/>
        <p:txBody>
          <a:bodyPr>
            <a:normAutofit/>
          </a:bodyPr>
          <a:lstStyle/>
          <a:p>
            <a:r>
              <a:rPr lang="en-IN" dirty="0"/>
              <a:t>Imagine we have:</a:t>
            </a:r>
          </a:p>
          <a:p>
            <a:r>
              <a:rPr lang="en-IN" dirty="0" err="1"/>
              <a:t>center_x</a:t>
            </a:r>
            <a:r>
              <a:rPr lang="en-IN" dirty="0"/>
              <a:t> = 500 </a:t>
            </a:r>
          </a:p>
          <a:p>
            <a:r>
              <a:rPr lang="en-IN" dirty="0" err="1"/>
              <a:t>center_y</a:t>
            </a:r>
            <a:r>
              <a:rPr lang="en-IN" dirty="0"/>
              <a:t> = 400</a:t>
            </a:r>
          </a:p>
          <a:p>
            <a:r>
              <a:rPr lang="en-IN" dirty="0"/>
              <a:t> radius = 200</a:t>
            </a:r>
          </a:p>
          <a:p>
            <a:r>
              <a:rPr lang="en-IN" dirty="0"/>
              <a:t>theta contains 200 different angles around the circle.</a:t>
            </a:r>
          </a:p>
          <a:p>
            <a:r>
              <a:rPr lang="en-IN" dirty="0"/>
              <a:t>For each angle, we calculate a point</a:t>
            </a:r>
          </a:p>
          <a:p>
            <a:r>
              <a:rPr lang="en-IN" dirty="0"/>
              <a:t>So, use those angles to </a:t>
            </a:r>
            <a:r>
              <a:rPr lang="en-IN" b="1" dirty="0"/>
              <a:t>find where each of the 200 points should be placed on the circle</a:t>
            </a:r>
            <a:r>
              <a:rPr lang="en-IN" dirty="0"/>
              <a:t>.</a:t>
            </a:r>
          </a:p>
          <a:p>
            <a:pPr marL="0" indent="0">
              <a:buNone/>
            </a:pPr>
            <a:endParaRPr lang="en-IN" dirty="0"/>
          </a:p>
          <a:p>
            <a:endParaRPr lang="en-IN" dirty="0"/>
          </a:p>
        </p:txBody>
      </p:sp>
    </p:spTree>
    <p:extLst>
      <p:ext uri="{BB962C8B-B14F-4D97-AF65-F5344CB8AC3E}">
        <p14:creationId xmlns:p14="http://schemas.microsoft.com/office/powerpoint/2010/main" val="246424744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30367-4B3A-9038-F9B2-63EC92E7366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6F53C8C-E20D-892E-2228-67CF546AFBA3}"/>
              </a:ext>
            </a:extLst>
          </p:cNvPr>
          <p:cNvSpPr>
            <a:spLocks noGrp="1"/>
          </p:cNvSpPr>
          <p:nvPr>
            <p:ph idx="1"/>
          </p:nvPr>
        </p:nvSpPr>
        <p:spPr/>
        <p:txBody>
          <a:bodyPr/>
          <a:lstStyle/>
          <a:p>
            <a:r>
              <a:rPr lang="en-IN" dirty="0"/>
              <a:t>theta = "Give me 200 positions around the circle.“</a:t>
            </a:r>
          </a:p>
          <a:p>
            <a:r>
              <a:rPr lang="en-IN" dirty="0" err="1"/>
              <a:t>np.sin</a:t>
            </a:r>
            <a:r>
              <a:rPr lang="en-IN" dirty="0"/>
              <a:t>(theta) helps find the position (up/down) for each angle.</a:t>
            </a:r>
          </a:p>
          <a:p>
            <a:r>
              <a:rPr lang="en-IN" dirty="0"/>
              <a:t>sin(theta) tells you how far UP or DOWN the point should be from the </a:t>
            </a:r>
            <a:r>
              <a:rPr lang="en-IN" dirty="0" err="1"/>
              <a:t>center</a:t>
            </a:r>
            <a:r>
              <a:rPr lang="en-IN" dirty="0"/>
              <a:t>.	</a:t>
            </a:r>
          </a:p>
          <a:p>
            <a:r>
              <a:rPr lang="en-IN" dirty="0"/>
              <a:t>cos(theta) tells you how far LEFT or RIGHT the point should be.</a:t>
            </a:r>
          </a:p>
        </p:txBody>
      </p:sp>
    </p:spTree>
    <p:extLst>
      <p:ext uri="{BB962C8B-B14F-4D97-AF65-F5344CB8AC3E}">
        <p14:creationId xmlns:p14="http://schemas.microsoft.com/office/powerpoint/2010/main" val="157737596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7CD4D-5961-012A-9BAC-71F6B0EA872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06439E3-C55A-EA95-A751-DECF842F897D}"/>
              </a:ext>
            </a:extLst>
          </p:cNvPr>
          <p:cNvSpPr>
            <a:spLocks noGrp="1"/>
          </p:cNvSpPr>
          <p:nvPr>
            <p:ph idx="1"/>
          </p:nvPr>
        </p:nvSpPr>
        <p:spPr/>
        <p:txBody>
          <a:bodyPr/>
          <a:lstStyle/>
          <a:p>
            <a:r>
              <a:rPr lang="en-IN" dirty="0" err="1"/>
              <a:t>morphological_chan_vese</a:t>
            </a:r>
            <a:r>
              <a:rPr lang="en-IN" dirty="0"/>
              <a:t>: </a:t>
            </a:r>
            <a:r>
              <a:rPr lang="en-IN" b="1" dirty="0"/>
              <a:t>Morphological Chan-Vese</a:t>
            </a:r>
            <a:r>
              <a:rPr lang="en-IN" dirty="0"/>
              <a:t> is a method for </a:t>
            </a:r>
            <a:r>
              <a:rPr lang="en-IN" b="1" dirty="0"/>
              <a:t>segmenting an image</a:t>
            </a:r>
            <a:r>
              <a:rPr lang="en-IN" dirty="0"/>
              <a:t> — basically, it tries to separate an object from its background.</a:t>
            </a:r>
          </a:p>
          <a:p>
            <a:r>
              <a:rPr lang="en-IN" dirty="0"/>
              <a:t>You have an image:</a:t>
            </a:r>
          </a:p>
          <a:p>
            <a:r>
              <a:rPr lang="en-IN" dirty="0"/>
              <a:t>⬛⬛⬛⬛⬛⬛⬛</a:t>
            </a:r>
          </a:p>
          <a:p>
            <a:r>
              <a:rPr lang="en-IN" dirty="0"/>
              <a:t>⬛⬛🟡🟡⬛⬛⬛</a:t>
            </a:r>
          </a:p>
          <a:p>
            <a:r>
              <a:rPr lang="en-IN" dirty="0"/>
              <a:t>⬛🟡🟡🟡🟡⬛⬛</a:t>
            </a:r>
          </a:p>
          <a:p>
            <a:r>
              <a:rPr lang="en-IN" dirty="0"/>
              <a:t>⬛⬛🟡🟡⬛⬛⬛</a:t>
            </a:r>
          </a:p>
          <a:p>
            <a:r>
              <a:rPr lang="en-IN" dirty="0"/>
              <a:t>⬛⬛⬛⬛⬛⬛⬛</a:t>
            </a:r>
          </a:p>
        </p:txBody>
      </p:sp>
    </p:spTree>
    <p:extLst>
      <p:ext uri="{BB962C8B-B14F-4D97-AF65-F5344CB8AC3E}">
        <p14:creationId xmlns:p14="http://schemas.microsoft.com/office/powerpoint/2010/main" val="2681460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15033-451C-C3C1-011C-314756A5FE8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FC0A109-FE15-3784-27F5-892EAF26D88B}"/>
              </a:ext>
            </a:extLst>
          </p:cNvPr>
          <p:cNvSpPr>
            <a:spLocks noGrp="1"/>
          </p:cNvSpPr>
          <p:nvPr>
            <p:ph idx="1"/>
          </p:nvPr>
        </p:nvSpPr>
        <p:spPr/>
        <p:txBody>
          <a:bodyPr>
            <a:normAutofit lnSpcReduction="10000"/>
          </a:bodyPr>
          <a:lstStyle/>
          <a:p>
            <a:r>
              <a:rPr lang="en-IN" dirty="0"/>
              <a:t>You want to separate the yellow object from the black background.</a:t>
            </a:r>
          </a:p>
          <a:p>
            <a:r>
              <a:rPr lang="en-IN" dirty="0"/>
              <a:t>Step 1 — Make a starting boundary</a:t>
            </a:r>
          </a:p>
          <a:p>
            <a:r>
              <a:rPr lang="en-IN" dirty="0"/>
              <a:t>It doesn't need to be exactly around the object.</a:t>
            </a:r>
          </a:p>
          <a:p>
            <a:r>
              <a:rPr lang="en-IN" dirty="0"/>
              <a:t>Step 2 — Look inside and outside</a:t>
            </a:r>
          </a:p>
          <a:p>
            <a:r>
              <a:rPr lang="en-IN" dirty="0"/>
              <a:t>It asks:</a:t>
            </a:r>
          </a:p>
          <a:p>
            <a:r>
              <a:rPr lang="en-IN" dirty="0"/>
              <a:t>"What is the image like </a:t>
            </a:r>
            <a:r>
              <a:rPr lang="en-IN" b="1" dirty="0"/>
              <a:t>inside</a:t>
            </a:r>
            <a:r>
              <a:rPr lang="en-IN" dirty="0"/>
              <a:t> my boundary?</a:t>
            </a:r>
          </a:p>
          <a:p>
            <a:r>
              <a:rPr lang="en-IN" dirty="0"/>
              <a:t>and:</a:t>
            </a:r>
          </a:p>
          <a:p>
            <a:r>
              <a:rPr lang="en-IN" dirty="0"/>
              <a:t>"What is the image like </a:t>
            </a:r>
            <a:r>
              <a:rPr lang="en-IN" b="1" dirty="0"/>
              <a:t>outside</a:t>
            </a:r>
            <a:r>
              <a:rPr lang="en-IN" dirty="0"/>
              <a:t> my boundary?"</a:t>
            </a:r>
          </a:p>
          <a:p>
            <a:endParaRPr lang="en-IN" dirty="0"/>
          </a:p>
        </p:txBody>
      </p:sp>
    </p:spTree>
    <p:extLst>
      <p:ext uri="{BB962C8B-B14F-4D97-AF65-F5344CB8AC3E}">
        <p14:creationId xmlns:p14="http://schemas.microsoft.com/office/powerpoint/2010/main" val="136681680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E584B-FA9B-E34B-C9EF-706FFDFCBAC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A9EF0AF-FA7B-7471-6BE3-EC4B2A198227}"/>
              </a:ext>
            </a:extLst>
          </p:cNvPr>
          <p:cNvSpPr>
            <a:spLocks noGrp="1"/>
          </p:cNvSpPr>
          <p:nvPr>
            <p:ph idx="1"/>
          </p:nvPr>
        </p:nvSpPr>
        <p:spPr/>
        <p:txBody>
          <a:bodyPr/>
          <a:lstStyle/>
          <a:p>
            <a:r>
              <a:rPr lang="en-IN" dirty="0"/>
              <a:t>If the inside looks different from the outside, the boundary should move.</a:t>
            </a:r>
          </a:p>
          <a:p>
            <a:r>
              <a:rPr lang="en-IN" dirty="0"/>
              <a:t>Step 3 — Move the boundary: The boundary starts changing:</a:t>
            </a:r>
          </a:p>
          <a:p>
            <a:r>
              <a:rPr lang="en-IN" dirty="0"/>
              <a:t>Then: It keeps moving toward the object boundary.</a:t>
            </a:r>
          </a:p>
          <a:p>
            <a:r>
              <a:rPr lang="en-IN" b="1" dirty="0"/>
              <a:t>Step 4 — Repeat </a:t>
            </a:r>
          </a:p>
          <a:p>
            <a:r>
              <a:rPr lang="en-IN" dirty="0"/>
              <a:t>It does this many times:</a:t>
            </a:r>
          </a:p>
          <a:p>
            <a:endParaRPr lang="en-IN" dirty="0"/>
          </a:p>
        </p:txBody>
      </p:sp>
    </p:spTree>
    <p:extLst>
      <p:ext uri="{BB962C8B-B14F-4D97-AF65-F5344CB8AC3E}">
        <p14:creationId xmlns:p14="http://schemas.microsoft.com/office/powerpoint/2010/main" val="1456942639"/>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5882A-49D1-BC11-AFC9-620BC39871E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CCA7B2F-1185-3953-8932-7CDECB2B6694}"/>
              </a:ext>
            </a:extLst>
          </p:cNvPr>
          <p:cNvSpPr>
            <a:spLocks noGrp="1"/>
          </p:cNvSpPr>
          <p:nvPr>
            <p:ph idx="1"/>
          </p:nvPr>
        </p:nvSpPr>
        <p:spPr/>
        <p:txBody>
          <a:bodyPr>
            <a:normAutofit fontScale="62500" lnSpcReduction="20000"/>
          </a:bodyPr>
          <a:lstStyle/>
          <a:p>
            <a:pPr marL="0" indent="0">
              <a:buNone/>
            </a:pPr>
            <a:r>
              <a:rPr lang="en-US" dirty="0"/>
              <a:t>Start boundary</a:t>
            </a:r>
          </a:p>
          <a:p>
            <a:pPr marL="0" indent="0">
              <a:buNone/>
            </a:pPr>
            <a:r>
              <a:rPr lang="en-US" dirty="0"/>
              <a:t>      ↓</a:t>
            </a:r>
          </a:p>
          <a:p>
            <a:pPr marL="0" indent="0">
              <a:buNone/>
            </a:pPr>
            <a:r>
              <a:rPr lang="en-US" dirty="0"/>
              <a:t>Check inside/outside</a:t>
            </a:r>
          </a:p>
          <a:p>
            <a:pPr marL="0" indent="0">
              <a:buNone/>
            </a:pPr>
            <a:r>
              <a:rPr lang="en-US" dirty="0"/>
              <a:t>      ↓</a:t>
            </a:r>
          </a:p>
          <a:p>
            <a:pPr marL="0" indent="0">
              <a:buNone/>
            </a:pPr>
            <a:r>
              <a:rPr lang="en-US" dirty="0"/>
              <a:t>Move boundary</a:t>
            </a:r>
          </a:p>
          <a:p>
            <a:pPr marL="0" indent="0">
              <a:buNone/>
            </a:pPr>
            <a:r>
              <a:rPr lang="en-US" dirty="0"/>
              <a:t>      ↓</a:t>
            </a:r>
          </a:p>
          <a:p>
            <a:pPr marL="0" indent="0">
              <a:buNone/>
            </a:pPr>
            <a:r>
              <a:rPr lang="en-US" dirty="0"/>
              <a:t>Check again</a:t>
            </a:r>
          </a:p>
          <a:p>
            <a:pPr marL="0" indent="0">
              <a:buNone/>
            </a:pPr>
            <a:r>
              <a:rPr lang="en-US" dirty="0"/>
              <a:t>      ↓</a:t>
            </a:r>
          </a:p>
          <a:p>
            <a:pPr marL="0" indent="0">
              <a:buNone/>
            </a:pPr>
            <a:r>
              <a:rPr lang="en-US" dirty="0"/>
              <a:t>Move again</a:t>
            </a:r>
          </a:p>
          <a:p>
            <a:pPr marL="0" indent="0">
              <a:buNone/>
            </a:pPr>
            <a:r>
              <a:rPr lang="en-US" dirty="0"/>
              <a:t>      ↓</a:t>
            </a:r>
          </a:p>
          <a:p>
            <a:pPr marL="0" indent="0">
              <a:buNone/>
            </a:pPr>
            <a:r>
              <a:rPr lang="en-US" dirty="0"/>
              <a:t>...</a:t>
            </a:r>
          </a:p>
          <a:p>
            <a:pPr marL="0" indent="0">
              <a:buNone/>
            </a:pPr>
            <a:r>
              <a:rPr lang="en-US" dirty="0"/>
              <a:t>      ↓</a:t>
            </a:r>
          </a:p>
          <a:p>
            <a:pPr marL="0" indent="0">
              <a:buNone/>
            </a:pPr>
            <a:r>
              <a:rPr lang="en-US" dirty="0"/>
              <a:t>Final segmentation</a:t>
            </a:r>
            <a:endParaRPr lang="en-IN" dirty="0"/>
          </a:p>
        </p:txBody>
      </p:sp>
    </p:spTree>
    <p:extLst>
      <p:ext uri="{BB962C8B-B14F-4D97-AF65-F5344CB8AC3E}">
        <p14:creationId xmlns:p14="http://schemas.microsoft.com/office/powerpoint/2010/main" val="770991589"/>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ABD5B-EBFD-DC7E-1FB6-A2D189B4095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9D40BD3-1019-E54C-B218-51648253B744}"/>
              </a:ext>
            </a:extLst>
          </p:cNvPr>
          <p:cNvSpPr>
            <a:spLocks noGrp="1"/>
          </p:cNvSpPr>
          <p:nvPr>
            <p:ph idx="1"/>
          </p:nvPr>
        </p:nvSpPr>
        <p:spPr/>
        <p:txBody>
          <a:bodyPr/>
          <a:lstStyle/>
          <a:p>
            <a:r>
              <a:rPr lang="en-IN" b="1" dirty="0"/>
              <a:t>Step 5 — Give the result</a:t>
            </a:r>
          </a:p>
          <a:p>
            <a:r>
              <a:rPr lang="en-IN" dirty="0"/>
              <a:t>Finally, it creates a mask:</a:t>
            </a:r>
          </a:p>
          <a:p>
            <a:r>
              <a:rPr lang="en-IN" dirty="0"/>
              <a:t>0 = background</a:t>
            </a:r>
          </a:p>
          <a:p>
            <a:r>
              <a:rPr lang="en-IN" dirty="0"/>
              <a:t>1 = object</a:t>
            </a:r>
          </a:p>
          <a:p>
            <a:endParaRPr lang="en-IN" dirty="0"/>
          </a:p>
        </p:txBody>
      </p:sp>
    </p:spTree>
    <p:extLst>
      <p:ext uri="{BB962C8B-B14F-4D97-AF65-F5344CB8AC3E}">
        <p14:creationId xmlns:p14="http://schemas.microsoft.com/office/powerpoint/2010/main" val="323264185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0FE62-929D-8237-F01E-40AFC403585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44E76C9-D954-0341-3226-3629BC978240}"/>
              </a:ext>
            </a:extLst>
          </p:cNvPr>
          <p:cNvPicPr>
            <a:picLocks noGrp="1" noChangeAspect="1"/>
          </p:cNvPicPr>
          <p:nvPr>
            <p:ph idx="1"/>
          </p:nvPr>
        </p:nvPicPr>
        <p:blipFill>
          <a:blip r:embed="rId2"/>
          <a:stretch>
            <a:fillRect/>
          </a:stretch>
        </p:blipFill>
        <p:spPr>
          <a:xfrm>
            <a:off x="1055078" y="1834416"/>
            <a:ext cx="8304426" cy="4794983"/>
          </a:xfrm>
          <a:prstGeom prst="rect">
            <a:avLst/>
          </a:prstGeom>
        </p:spPr>
      </p:pic>
    </p:spTree>
    <p:extLst>
      <p:ext uri="{BB962C8B-B14F-4D97-AF65-F5344CB8AC3E}">
        <p14:creationId xmlns:p14="http://schemas.microsoft.com/office/powerpoint/2010/main" val="1227279213"/>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7D40E-38B3-B888-168E-A51E5407A6C1}"/>
              </a:ext>
            </a:extLst>
          </p:cNvPr>
          <p:cNvSpPr>
            <a:spLocks noGrp="1"/>
          </p:cNvSpPr>
          <p:nvPr>
            <p:ph type="title"/>
          </p:nvPr>
        </p:nvSpPr>
        <p:spPr/>
        <p:txBody>
          <a:bodyPr/>
          <a:lstStyle/>
          <a:p>
            <a:r>
              <a:rPr lang="en-IN" dirty="0"/>
              <a:t>Fourier Descriptor</a:t>
            </a:r>
          </a:p>
        </p:txBody>
      </p:sp>
      <p:sp>
        <p:nvSpPr>
          <p:cNvPr id="3" name="Content Placeholder 2">
            <a:extLst>
              <a:ext uri="{FF2B5EF4-FFF2-40B4-BE49-F238E27FC236}">
                <a16:creationId xmlns:a16="http://schemas.microsoft.com/office/drawing/2014/main" id="{3A1DA2AA-F4D1-F121-2E8F-6D5CA9F496A9}"/>
              </a:ext>
            </a:extLst>
          </p:cNvPr>
          <p:cNvSpPr>
            <a:spLocks noGrp="1"/>
          </p:cNvSpPr>
          <p:nvPr>
            <p:ph idx="1"/>
          </p:nvPr>
        </p:nvSpPr>
        <p:spPr/>
        <p:txBody>
          <a:bodyPr/>
          <a:lstStyle/>
          <a:p>
            <a:r>
              <a:rPr lang="en-IN" dirty="0"/>
              <a:t>A </a:t>
            </a:r>
            <a:r>
              <a:rPr lang="en-IN" b="1" dirty="0"/>
              <a:t>Fourier Descriptor</a:t>
            </a:r>
            <a:r>
              <a:rPr lang="en-IN" dirty="0"/>
              <a:t> is a set of numbers used to </a:t>
            </a:r>
            <a:r>
              <a:rPr lang="en-IN" b="1" dirty="0"/>
              <a:t>describe the shape of an object</a:t>
            </a:r>
            <a:r>
              <a:rPr lang="en-IN" dirty="0"/>
              <a:t>.</a:t>
            </a:r>
          </a:p>
          <a:p>
            <a:r>
              <a:rPr lang="en-IN" dirty="0"/>
              <a:t>numerical representation of an object's boundary/shape.</a:t>
            </a:r>
          </a:p>
          <a:p>
            <a:r>
              <a:rPr lang="en-IN" b="1" dirty="0"/>
              <a:t>Convert BGR → HSV</a:t>
            </a:r>
          </a:p>
          <a:p>
            <a:r>
              <a:rPr lang="en-IN" dirty="0"/>
              <a:t>HSV means:</a:t>
            </a:r>
          </a:p>
          <a:p>
            <a:r>
              <a:rPr lang="en-IN" dirty="0"/>
              <a:t>H = Hue</a:t>
            </a:r>
          </a:p>
          <a:p>
            <a:r>
              <a:rPr lang="en-IN" dirty="0"/>
              <a:t>S = Saturation</a:t>
            </a:r>
          </a:p>
          <a:p>
            <a:r>
              <a:rPr lang="en-IN" dirty="0"/>
              <a:t>V = Value</a:t>
            </a:r>
          </a:p>
          <a:p>
            <a:endParaRPr lang="en-IN" dirty="0"/>
          </a:p>
        </p:txBody>
      </p:sp>
    </p:spTree>
    <p:extLst>
      <p:ext uri="{BB962C8B-B14F-4D97-AF65-F5344CB8AC3E}">
        <p14:creationId xmlns:p14="http://schemas.microsoft.com/office/powerpoint/2010/main" val="26729563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DA773-95EC-3EC7-D68F-0A643746E56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B7F2810-063F-DCF2-ABC8-A19304E1324E}"/>
              </a:ext>
            </a:extLst>
          </p:cNvPr>
          <p:cNvSpPr>
            <a:spLocks noGrp="1"/>
          </p:cNvSpPr>
          <p:nvPr>
            <p:ph idx="1"/>
          </p:nvPr>
        </p:nvSpPr>
        <p:spPr/>
        <p:txBody>
          <a:bodyPr/>
          <a:lstStyle/>
          <a:p>
            <a:r>
              <a:rPr lang="en-IN" b="1" dirty="0"/>
              <a:t>Why HSV?</a:t>
            </a:r>
          </a:p>
          <a:p>
            <a:r>
              <a:rPr lang="en-IN" dirty="0"/>
              <a:t>Because we want to distinguish the </a:t>
            </a:r>
            <a:r>
              <a:rPr lang="en-IN" b="1" dirty="0" err="1"/>
              <a:t>colored</a:t>
            </a:r>
            <a:r>
              <a:rPr lang="en-IN" b="1" dirty="0"/>
              <a:t> apple</a:t>
            </a:r>
            <a:r>
              <a:rPr lang="en-IN" dirty="0"/>
              <a:t> from the </a:t>
            </a:r>
            <a:r>
              <a:rPr lang="en-IN" b="1" dirty="0"/>
              <a:t>white background</a:t>
            </a:r>
            <a:r>
              <a:rPr lang="en-IN" dirty="0"/>
              <a:t>.</a:t>
            </a:r>
          </a:p>
          <a:p>
            <a:r>
              <a:rPr lang="en-IN" dirty="0"/>
              <a:t>White has very little </a:t>
            </a:r>
            <a:r>
              <a:rPr lang="en-IN" dirty="0" err="1"/>
              <a:t>color</a:t>
            </a:r>
            <a:r>
              <a:rPr lang="en-IN" dirty="0"/>
              <a:t>/saturation.</a:t>
            </a:r>
          </a:p>
          <a:p>
            <a:r>
              <a:rPr lang="en-IN" dirty="0"/>
              <a:t>The red apple has much more saturation.</a:t>
            </a:r>
          </a:p>
          <a:p>
            <a:r>
              <a:rPr lang="en-IN" dirty="0"/>
              <a:t>So HSV makes it easier to say:</a:t>
            </a:r>
          </a:p>
          <a:p>
            <a:r>
              <a:rPr lang="en-IN" dirty="0"/>
              <a:t>"Keep the </a:t>
            </a:r>
            <a:r>
              <a:rPr lang="en-IN" dirty="0" err="1"/>
              <a:t>colored</a:t>
            </a:r>
            <a:r>
              <a:rPr lang="en-IN" dirty="0"/>
              <a:t> pixels and remove the white background."</a:t>
            </a:r>
          </a:p>
          <a:p>
            <a:endParaRPr lang="en-IN" dirty="0"/>
          </a:p>
        </p:txBody>
      </p:sp>
    </p:spTree>
    <p:extLst>
      <p:ext uri="{BB962C8B-B14F-4D97-AF65-F5344CB8AC3E}">
        <p14:creationId xmlns:p14="http://schemas.microsoft.com/office/powerpoint/2010/main" val="159319585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7AB97C-5244-98F8-C6E0-C8B0D290DEF2}"/>
              </a:ext>
            </a:extLst>
          </p:cNvPr>
          <p:cNvSpPr>
            <a:spLocks noGrp="1"/>
          </p:cNvSpPr>
          <p:nvPr>
            <p:ph idx="1"/>
          </p:nvPr>
        </p:nvSpPr>
        <p:spPr>
          <a:xfrm>
            <a:off x="838200" y="483577"/>
            <a:ext cx="10515600" cy="5693386"/>
          </a:xfrm>
        </p:spPr>
        <p:txBody>
          <a:bodyPr>
            <a:normAutofit fontScale="92500" lnSpcReduction="20000"/>
          </a:bodyPr>
          <a:lstStyle/>
          <a:p>
            <a:r>
              <a:rPr lang="en-IN" dirty="0"/>
              <a:t>Define the lower and upper limits</a:t>
            </a:r>
          </a:p>
          <a:p>
            <a:r>
              <a:rPr lang="en-IN" dirty="0"/>
              <a:t>lower = </a:t>
            </a:r>
            <a:r>
              <a:rPr lang="en-IN" dirty="0" err="1"/>
              <a:t>np.array</a:t>
            </a:r>
            <a:r>
              <a:rPr lang="en-IN" dirty="0"/>
              <a:t>([0, 40, 20])</a:t>
            </a:r>
          </a:p>
          <a:p>
            <a:r>
              <a:rPr lang="en-IN" dirty="0"/>
              <a:t> upper = </a:t>
            </a:r>
            <a:r>
              <a:rPr lang="en-IN" dirty="0" err="1"/>
              <a:t>np.array</a:t>
            </a:r>
            <a:r>
              <a:rPr lang="en-IN" dirty="0"/>
              <a:t>([179, 255, 255])</a:t>
            </a:r>
          </a:p>
          <a:p>
            <a:r>
              <a:rPr lang="en-IN" dirty="0"/>
              <a:t>These are the limits for the pixels we want to keep.</a:t>
            </a:r>
          </a:p>
          <a:p>
            <a:r>
              <a:rPr lang="en-US" dirty="0"/>
              <a:t> Keep?</a:t>
            </a:r>
          </a:p>
          <a:p>
            <a:pPr marL="0" indent="0">
              <a:buNone/>
            </a:pPr>
            <a:r>
              <a:rPr lang="en-US" dirty="0"/>
              <a:t>Pixel ────────────────┐</a:t>
            </a:r>
          </a:p>
          <a:p>
            <a:pPr marL="0" indent="0">
              <a:buNone/>
            </a:pPr>
            <a:r>
              <a:rPr lang="en-US" dirty="0"/>
              <a:t>                      ↓		keep</a:t>
            </a:r>
          </a:p>
          <a:p>
            <a:pPr marL="0" indent="0">
              <a:buNone/>
            </a:pPr>
            <a:r>
              <a:rPr lang="en-US" dirty="0"/>
              <a:t>              Is it inside</a:t>
            </a:r>
          </a:p>
          <a:p>
            <a:pPr marL="0" indent="0">
              <a:buNone/>
            </a:pPr>
            <a:r>
              <a:rPr lang="en-US" dirty="0"/>
              <a:t>             our HSV range?</a:t>
            </a:r>
          </a:p>
          <a:p>
            <a:pPr marL="0" indent="0">
              <a:buNone/>
            </a:pPr>
            <a:r>
              <a:rPr lang="en-US" dirty="0"/>
              <a:t>               /       \</a:t>
            </a:r>
          </a:p>
          <a:p>
            <a:pPr marL="0" indent="0">
              <a:buNone/>
            </a:pPr>
            <a:r>
              <a:rPr lang="en-US" dirty="0"/>
              <a:t>             YES        NO</a:t>
            </a:r>
          </a:p>
          <a:p>
            <a:pPr marL="0" indent="0">
              <a:buNone/>
            </a:pPr>
            <a:r>
              <a:rPr lang="en-US" dirty="0"/>
              <a:t>              ↓          ↓</a:t>
            </a:r>
          </a:p>
          <a:p>
            <a:pPr marL="0" indent="0">
              <a:buNone/>
            </a:pPr>
            <a:r>
              <a:rPr lang="en-US" dirty="0"/>
              <a:t>            WHITE       BLACK</a:t>
            </a:r>
            <a:endParaRPr lang="en-IN" dirty="0"/>
          </a:p>
        </p:txBody>
      </p:sp>
    </p:spTree>
    <p:extLst>
      <p:ext uri="{BB962C8B-B14F-4D97-AF65-F5344CB8AC3E}">
        <p14:creationId xmlns:p14="http://schemas.microsoft.com/office/powerpoint/2010/main" val="2391502054"/>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4F5FF8-D18F-397E-491C-8E8A0DD7AB2B}"/>
              </a:ext>
            </a:extLst>
          </p:cNvPr>
          <p:cNvSpPr>
            <a:spLocks noGrp="1"/>
          </p:cNvSpPr>
          <p:nvPr>
            <p:ph idx="1"/>
          </p:nvPr>
        </p:nvSpPr>
        <p:spPr>
          <a:xfrm>
            <a:off x="838200" y="483577"/>
            <a:ext cx="10515600" cy="5693386"/>
          </a:xfrm>
        </p:spPr>
        <p:txBody>
          <a:bodyPr/>
          <a:lstStyle/>
          <a:p>
            <a:r>
              <a:rPr lang="en-IN" b="1" dirty="0"/>
              <a:t>lower = "not below this"</a:t>
            </a:r>
            <a:br>
              <a:rPr lang="en-IN" dirty="0"/>
            </a:br>
            <a:r>
              <a:rPr lang="en-IN" b="1" dirty="0"/>
              <a:t>upper = "not above this“</a:t>
            </a:r>
          </a:p>
          <a:p>
            <a:r>
              <a:rPr lang="en-IN" dirty="0"/>
              <a:t>H ≥ 0 S ≥ 40 V ≥ 20</a:t>
            </a:r>
          </a:p>
          <a:p>
            <a:r>
              <a:rPr lang="en-IN" dirty="0"/>
              <a:t>Upper</a:t>
            </a:r>
          </a:p>
          <a:p>
            <a:r>
              <a:rPr lang="en-IN" dirty="0"/>
              <a:t>H ≤ 179 S ≤ 255 V ≤ 255</a:t>
            </a:r>
          </a:p>
          <a:p>
            <a:r>
              <a:rPr lang="en-IN" dirty="0"/>
              <a:t>White background:</a:t>
            </a:r>
          </a:p>
          <a:p>
            <a:r>
              <a:rPr lang="en-IN" dirty="0"/>
              <a:t>S ≈ 0</a:t>
            </a:r>
          </a:p>
          <a:p>
            <a:r>
              <a:rPr lang="en-IN" dirty="0"/>
              <a:t>Apple:</a:t>
            </a:r>
          </a:p>
          <a:p>
            <a:r>
              <a:rPr lang="en-IN" dirty="0"/>
              <a:t>S &gt; 40</a:t>
            </a:r>
          </a:p>
          <a:p>
            <a:r>
              <a:rPr lang="en-IN" dirty="0"/>
              <a:t>Therefore, much of the white background gets rejected.</a:t>
            </a:r>
          </a:p>
        </p:txBody>
      </p:sp>
    </p:spTree>
    <p:extLst>
      <p:ext uri="{BB962C8B-B14F-4D97-AF65-F5344CB8AC3E}">
        <p14:creationId xmlns:p14="http://schemas.microsoft.com/office/powerpoint/2010/main" val="870453933"/>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891D1-6EB6-A6E9-4C67-F323852D6A03}"/>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7C78B169-EDB4-D5CB-3C10-570CFA2C435D}"/>
              </a:ext>
            </a:extLst>
          </p:cNvPr>
          <p:cNvSpPr>
            <a:spLocks noGrp="1"/>
          </p:cNvSpPr>
          <p:nvPr>
            <p:ph idx="1"/>
          </p:nvPr>
        </p:nvSpPr>
        <p:spPr/>
        <p:txBody>
          <a:bodyPr/>
          <a:lstStyle/>
          <a:p>
            <a:r>
              <a:rPr lang="en-IN" dirty="0"/>
              <a:t>Sobel is an edge detection method.</a:t>
            </a:r>
          </a:p>
          <a:p>
            <a:r>
              <a:rPr lang="en-IN" dirty="0"/>
              <a:t>It looks at </a:t>
            </a:r>
            <a:r>
              <a:rPr lang="en-IN" dirty="0" err="1"/>
              <a:t>neighboring</a:t>
            </a:r>
            <a:r>
              <a:rPr lang="en-IN" dirty="0"/>
              <a:t> pixels and asks:</a:t>
            </a:r>
          </a:p>
          <a:p>
            <a:r>
              <a:rPr lang="en-IN" b="1" dirty="0"/>
              <a:t>"Is the brightness changing a lot here?"</a:t>
            </a:r>
            <a:endParaRPr lang="en-IN" dirty="0"/>
          </a:p>
          <a:p>
            <a:r>
              <a:rPr lang="en-IN" dirty="0"/>
              <a:t>If the brightness changes a lot → </a:t>
            </a:r>
            <a:r>
              <a:rPr lang="en-IN" b="1" dirty="0"/>
              <a:t>there is probably an edge</a:t>
            </a:r>
            <a:r>
              <a:rPr lang="en-IN" dirty="0"/>
              <a:t>.</a:t>
            </a:r>
          </a:p>
          <a:p>
            <a:r>
              <a:rPr lang="en-IN" dirty="0"/>
              <a:t>Imagine pixels like this:</a:t>
            </a:r>
          </a:p>
          <a:p>
            <a:r>
              <a:rPr lang="en-IN" dirty="0"/>
              <a:t>10  10  10</a:t>
            </a:r>
          </a:p>
          <a:p>
            <a:r>
              <a:rPr lang="en-IN" dirty="0"/>
              <a:t>10  10  10</a:t>
            </a:r>
          </a:p>
          <a:p>
            <a:r>
              <a:rPr lang="en-IN" dirty="0"/>
              <a:t>200 200 200</a:t>
            </a:r>
          </a:p>
          <a:p>
            <a:endParaRPr lang="en-IN" dirty="0"/>
          </a:p>
        </p:txBody>
      </p:sp>
    </p:spTree>
    <p:extLst>
      <p:ext uri="{BB962C8B-B14F-4D97-AF65-F5344CB8AC3E}">
        <p14:creationId xmlns:p14="http://schemas.microsoft.com/office/powerpoint/2010/main" val="299143197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B7DF7-9605-766C-2EDE-F749285AFB6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C9169AF-E963-6A58-8726-A3B14A5BE4DF}"/>
              </a:ext>
            </a:extLst>
          </p:cNvPr>
          <p:cNvSpPr>
            <a:spLocks noGrp="1"/>
          </p:cNvSpPr>
          <p:nvPr>
            <p:ph idx="1"/>
          </p:nvPr>
        </p:nvSpPr>
        <p:spPr/>
        <p:txBody>
          <a:bodyPr>
            <a:normAutofit fontScale="92500"/>
          </a:bodyPr>
          <a:lstStyle/>
          <a:p>
            <a:r>
              <a:rPr lang="en-IN" dirty="0"/>
              <a:t>There is a big brightness change:</a:t>
            </a:r>
          </a:p>
          <a:p>
            <a:r>
              <a:rPr lang="en-IN" dirty="0"/>
              <a:t>10 10 ↓ 200</a:t>
            </a:r>
          </a:p>
          <a:p>
            <a:r>
              <a:rPr lang="en-IN" dirty="0"/>
              <a:t>So Sobel detects an </a:t>
            </a:r>
            <a:r>
              <a:rPr lang="en-IN" b="1" dirty="0"/>
              <a:t>edge</a:t>
            </a:r>
            <a:r>
              <a:rPr lang="en-IN" dirty="0"/>
              <a:t> there.</a:t>
            </a:r>
          </a:p>
          <a:p>
            <a:r>
              <a:rPr lang="en-IN" dirty="0" err="1"/>
              <a:t>sobelx</a:t>
            </a:r>
            <a:r>
              <a:rPr lang="en-IN" dirty="0"/>
              <a:t> = cv2.Sobel(</a:t>
            </a:r>
            <a:r>
              <a:rPr lang="en-IN" dirty="0" err="1"/>
              <a:t>gray</a:t>
            </a:r>
            <a:r>
              <a:rPr lang="en-IN" dirty="0"/>
              <a:t>, cv2.CV_64F, 1, 0)</a:t>
            </a:r>
          </a:p>
          <a:p>
            <a:r>
              <a:rPr lang="fr-FR" dirty="0"/>
              <a:t>1 → X direction</a:t>
            </a:r>
          </a:p>
          <a:p>
            <a:r>
              <a:rPr lang="fr-FR" dirty="0"/>
              <a:t>0 → Y direction</a:t>
            </a:r>
          </a:p>
          <a:p>
            <a:r>
              <a:rPr lang="en-IN" dirty="0"/>
              <a:t>it means </a:t>
            </a:r>
            <a:r>
              <a:rPr lang="en-IN" b="1" dirty="0"/>
              <a:t>use 64-bit floating-point numbers</a:t>
            </a:r>
            <a:r>
              <a:rPr lang="en-IN" dirty="0"/>
              <a:t> for the Sobel calculation.</a:t>
            </a:r>
          </a:p>
          <a:p>
            <a:r>
              <a:rPr lang="en-IN" dirty="0"/>
              <a:t>CV_64F = </a:t>
            </a:r>
            <a:r>
              <a:rPr lang="en-IN" b="1" dirty="0"/>
              <a:t>"Give Sobel a type that can handle negative and decimal results."</a:t>
            </a:r>
            <a:endParaRPr lang="en-IN" dirty="0"/>
          </a:p>
        </p:txBody>
      </p:sp>
    </p:spTree>
    <p:extLst>
      <p:ext uri="{BB962C8B-B14F-4D97-AF65-F5344CB8AC3E}">
        <p14:creationId xmlns:p14="http://schemas.microsoft.com/office/powerpoint/2010/main" val="1286551103"/>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9F05F-0152-50CD-4398-92283DDA50C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86E98D8-C00A-747D-5516-BBD45F661939}"/>
              </a:ext>
            </a:extLst>
          </p:cNvPr>
          <p:cNvSpPr>
            <a:spLocks noGrp="1"/>
          </p:cNvSpPr>
          <p:nvPr>
            <p:ph idx="1"/>
          </p:nvPr>
        </p:nvSpPr>
        <p:spPr/>
        <p:txBody>
          <a:bodyPr/>
          <a:lstStyle/>
          <a:p>
            <a:r>
              <a:rPr lang="en-IN" b="1" dirty="0"/>
              <a:t>Take a small 3×3 area</a:t>
            </a:r>
          </a:p>
          <a:p>
            <a:r>
              <a:rPr lang="en-IN" dirty="0"/>
              <a:t>Sobel looks at </a:t>
            </a:r>
            <a:r>
              <a:rPr lang="en-IN" b="1" dirty="0"/>
              <a:t>3×3 pixels at a time</a:t>
            </a:r>
            <a:r>
              <a:rPr lang="en-IN" dirty="0"/>
              <a:t>:</a:t>
            </a:r>
          </a:p>
          <a:p>
            <a:r>
              <a:rPr lang="en-IN" dirty="0"/>
              <a:t>52   55   61</a:t>
            </a:r>
          </a:p>
          <a:p>
            <a:r>
              <a:rPr lang="en-IN" dirty="0"/>
              <a:t>49   50   56</a:t>
            </a:r>
          </a:p>
          <a:p>
            <a:r>
              <a:rPr lang="en-IN" dirty="0"/>
              <a:t>45   48   51</a:t>
            </a:r>
          </a:p>
        </p:txBody>
      </p:sp>
    </p:spTree>
    <p:extLst>
      <p:ext uri="{BB962C8B-B14F-4D97-AF65-F5344CB8AC3E}">
        <p14:creationId xmlns:p14="http://schemas.microsoft.com/office/powerpoint/2010/main" val="655368454"/>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3AACB-DC2B-F7FC-6586-862DAEC112E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62C3417-75E1-7CDC-D895-1E25A638D6C0}"/>
              </a:ext>
            </a:extLst>
          </p:cNvPr>
          <p:cNvSpPr>
            <a:spLocks noGrp="1"/>
          </p:cNvSpPr>
          <p:nvPr>
            <p:ph idx="1"/>
          </p:nvPr>
        </p:nvSpPr>
        <p:spPr/>
        <p:txBody>
          <a:bodyPr/>
          <a:lstStyle/>
          <a:p>
            <a:r>
              <a:rPr lang="en-IN" dirty="0"/>
              <a:t>Use the Sobel X kernel</a:t>
            </a:r>
          </a:p>
          <a:p>
            <a:r>
              <a:rPr lang="en-IN" dirty="0"/>
              <a:t>-1   0   1</a:t>
            </a:r>
          </a:p>
          <a:p>
            <a:r>
              <a:rPr lang="en-IN" dirty="0"/>
              <a:t>-2   0   2</a:t>
            </a:r>
          </a:p>
          <a:p>
            <a:r>
              <a:rPr lang="en-IN" dirty="0"/>
              <a:t>-1   0   1</a:t>
            </a:r>
          </a:p>
          <a:p>
            <a:r>
              <a:rPr lang="en-IN" dirty="0"/>
              <a:t>It looks for changes from left to right</a:t>
            </a:r>
          </a:p>
          <a:p>
            <a:r>
              <a:rPr lang="en-IN" dirty="0"/>
              <a:t>The left side gets negative values and the right side gets positive values.</a:t>
            </a:r>
          </a:p>
          <a:p>
            <a:endParaRPr lang="en-IN" dirty="0"/>
          </a:p>
        </p:txBody>
      </p:sp>
    </p:spTree>
    <p:extLst>
      <p:ext uri="{BB962C8B-B14F-4D97-AF65-F5344CB8AC3E}">
        <p14:creationId xmlns:p14="http://schemas.microsoft.com/office/powerpoint/2010/main" val="290349107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AA08B-8B3B-8797-BCC2-9D434B843F4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313D847-961A-EE43-05F6-77648223DF41}"/>
              </a:ext>
            </a:extLst>
          </p:cNvPr>
          <p:cNvSpPr>
            <a:spLocks noGrp="1"/>
          </p:cNvSpPr>
          <p:nvPr>
            <p:ph idx="1"/>
          </p:nvPr>
        </p:nvSpPr>
        <p:spPr/>
        <p:txBody>
          <a:bodyPr/>
          <a:lstStyle/>
          <a:p>
            <a:r>
              <a:rPr lang="en-IN" dirty="0"/>
              <a:t>Multiply corresponding values</a:t>
            </a:r>
          </a:p>
          <a:p>
            <a:r>
              <a:rPr lang="en-IN" dirty="0"/>
              <a:t>52×-1 55×0 61×1 49×-2 50×0 56×2 45×-1 48×0 51×1</a:t>
            </a:r>
          </a:p>
          <a:p>
            <a:r>
              <a:rPr lang="en-IN" b="1" dirty="0"/>
              <a:t>Add everything</a:t>
            </a:r>
          </a:p>
          <a:p>
            <a:r>
              <a:rPr lang="en-IN" dirty="0"/>
              <a:t>Gx = 29</a:t>
            </a:r>
          </a:p>
          <a:p>
            <a:r>
              <a:rPr lang="en-IN" dirty="0"/>
              <a:t>This tells us there is a </a:t>
            </a:r>
            <a:r>
              <a:rPr lang="en-IN" b="1" dirty="0"/>
              <a:t>horizontal intensity change</a:t>
            </a:r>
            <a:r>
              <a:rPr lang="en-IN" dirty="0"/>
              <a:t> in that area.</a:t>
            </a:r>
          </a:p>
          <a:p>
            <a:r>
              <a:rPr lang="en-IN" dirty="0"/>
              <a:t>Do the same with the Sobel Y kernel</a:t>
            </a:r>
          </a:p>
        </p:txBody>
      </p:sp>
    </p:spTree>
    <p:extLst>
      <p:ext uri="{BB962C8B-B14F-4D97-AF65-F5344CB8AC3E}">
        <p14:creationId xmlns:p14="http://schemas.microsoft.com/office/powerpoint/2010/main" val="1738603077"/>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E3761-47BD-0B8F-D4EB-6DC25BE4C23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B28B9CC-EA4C-7203-E6D8-7D400FBF98FE}"/>
              </a:ext>
            </a:extLst>
          </p:cNvPr>
          <p:cNvSpPr>
            <a:spLocks noGrp="1"/>
          </p:cNvSpPr>
          <p:nvPr>
            <p:ph idx="1"/>
          </p:nvPr>
        </p:nvSpPr>
        <p:spPr/>
        <p:txBody>
          <a:bodyPr/>
          <a:lstStyle/>
          <a:p>
            <a:r>
              <a:rPr lang="en-IN" dirty="0"/>
              <a:t>1 -2 -1</a:t>
            </a:r>
          </a:p>
          <a:p>
            <a:r>
              <a:rPr lang="en-IN" dirty="0"/>
              <a:t> 0 0 0 </a:t>
            </a:r>
          </a:p>
          <a:p>
            <a:r>
              <a:rPr lang="en-IN" dirty="0"/>
              <a:t>1 2 1 </a:t>
            </a:r>
          </a:p>
          <a:p>
            <a:r>
              <a:rPr lang="en-IN" dirty="0"/>
              <a:t>This detects changes from </a:t>
            </a:r>
            <a:r>
              <a:rPr lang="en-IN" b="1" dirty="0"/>
              <a:t>top → bottom</a:t>
            </a:r>
            <a:r>
              <a:rPr lang="en-IN" dirty="0"/>
              <a:t>.</a:t>
            </a:r>
          </a:p>
          <a:p>
            <a:r>
              <a:rPr lang="en-IN" dirty="0"/>
              <a:t>We get Gy</a:t>
            </a:r>
          </a:p>
          <a:p>
            <a:r>
              <a:rPr lang="en-IN" dirty="0"/>
              <a:t>Combine Gx and Gy</a:t>
            </a:r>
          </a:p>
          <a:p>
            <a:r>
              <a:rPr lang="en-IN" dirty="0"/>
              <a:t>G = √(Gx² + Gy²)</a:t>
            </a:r>
          </a:p>
        </p:txBody>
      </p:sp>
    </p:spTree>
    <p:extLst>
      <p:ext uri="{BB962C8B-B14F-4D97-AF65-F5344CB8AC3E}">
        <p14:creationId xmlns:p14="http://schemas.microsoft.com/office/powerpoint/2010/main" val="300025793"/>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E3EC0-3A9A-C176-E881-A32DF8880B7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5FB44BC-C84C-43C3-3595-B10B7D159CA8}"/>
              </a:ext>
            </a:extLst>
          </p:cNvPr>
          <p:cNvSpPr>
            <a:spLocks noGrp="1"/>
          </p:cNvSpPr>
          <p:nvPr>
            <p:ph idx="1"/>
          </p:nvPr>
        </p:nvSpPr>
        <p:spPr/>
        <p:txBody>
          <a:bodyPr/>
          <a:lstStyle/>
          <a:p>
            <a:r>
              <a:rPr lang="en-US" dirty="0"/>
              <a:t>If g is large string edge</a:t>
            </a:r>
          </a:p>
          <a:p>
            <a:r>
              <a:rPr lang="en-US" dirty="0"/>
              <a:t>If g is small little/ no edge</a:t>
            </a:r>
          </a:p>
          <a:p>
            <a:endParaRPr lang="en-IN" dirty="0"/>
          </a:p>
        </p:txBody>
      </p:sp>
    </p:spTree>
    <p:extLst>
      <p:ext uri="{BB962C8B-B14F-4D97-AF65-F5344CB8AC3E}">
        <p14:creationId xmlns:p14="http://schemas.microsoft.com/office/powerpoint/2010/main" val="326820920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0F39A-B0EE-CAD6-6413-E2506A27E20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A090FA8-A897-2513-8246-8273FFEB80FA}"/>
              </a:ext>
            </a:extLst>
          </p:cNvPr>
          <p:cNvSpPr>
            <a:spLocks noGrp="1"/>
          </p:cNvSpPr>
          <p:nvPr>
            <p:ph idx="1"/>
          </p:nvPr>
        </p:nvSpPr>
        <p:spPr/>
        <p:txBody>
          <a:bodyPr>
            <a:normAutofit fontScale="92500" lnSpcReduction="10000"/>
          </a:bodyPr>
          <a:lstStyle/>
          <a:p>
            <a:r>
              <a:rPr lang="en-IN" b="1" dirty="0"/>
              <a:t>Prewitt is an edge detection method.</a:t>
            </a:r>
            <a:endParaRPr lang="en-IN" dirty="0"/>
          </a:p>
          <a:p>
            <a:r>
              <a:rPr lang="en-IN" dirty="0"/>
              <a:t>It looks at a small </a:t>
            </a:r>
            <a:r>
              <a:rPr lang="en-IN" b="1" dirty="0"/>
              <a:t>3×3 group of pixels</a:t>
            </a:r>
            <a:r>
              <a:rPr lang="en-IN" dirty="0"/>
              <a:t> and checks whether brightness changes strongly.</a:t>
            </a:r>
          </a:p>
          <a:p>
            <a:r>
              <a:rPr lang="en-US" dirty="0"/>
              <a:t>Dark area</a:t>
            </a:r>
          </a:p>
          <a:p>
            <a:r>
              <a:rPr lang="en-US" dirty="0"/>
              <a:t>10  10  10</a:t>
            </a:r>
          </a:p>
          <a:p>
            <a:r>
              <a:rPr lang="en-US" dirty="0"/>
              <a:t>10  10  10</a:t>
            </a:r>
          </a:p>
          <a:p>
            <a:endParaRPr lang="en-US" dirty="0"/>
          </a:p>
          <a:p>
            <a:r>
              <a:rPr lang="en-US" dirty="0"/>
              <a:t>Bright area</a:t>
            </a:r>
          </a:p>
          <a:p>
            <a:r>
              <a:rPr lang="en-US" dirty="0"/>
              <a:t>200 200 200</a:t>
            </a:r>
          </a:p>
          <a:p>
            <a:r>
              <a:rPr lang="en-US" dirty="0"/>
              <a:t>200 200 200</a:t>
            </a:r>
            <a:endParaRPr lang="en-IN" dirty="0"/>
          </a:p>
        </p:txBody>
      </p:sp>
    </p:spTree>
    <p:extLst>
      <p:ext uri="{BB962C8B-B14F-4D97-AF65-F5344CB8AC3E}">
        <p14:creationId xmlns:p14="http://schemas.microsoft.com/office/powerpoint/2010/main" val="3266224912"/>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565A3-7965-E84E-7F54-D0974009B46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8EBAA59-76A5-BDAD-8F95-0D14B28A67AF}"/>
              </a:ext>
            </a:extLst>
          </p:cNvPr>
          <p:cNvSpPr>
            <a:spLocks noGrp="1"/>
          </p:cNvSpPr>
          <p:nvPr>
            <p:ph idx="1"/>
          </p:nvPr>
        </p:nvSpPr>
        <p:spPr/>
        <p:txBody>
          <a:bodyPr>
            <a:normAutofit fontScale="92500" lnSpcReduction="20000"/>
          </a:bodyPr>
          <a:lstStyle/>
          <a:p>
            <a:r>
              <a:rPr lang="en-IN" dirty="0"/>
              <a:t>There is a big brightness change → </a:t>
            </a:r>
            <a:r>
              <a:rPr lang="en-IN" b="1" dirty="0"/>
              <a:t>edge</a:t>
            </a:r>
            <a:r>
              <a:rPr lang="en-IN" dirty="0"/>
              <a:t>.</a:t>
            </a:r>
          </a:p>
          <a:p>
            <a:r>
              <a:rPr lang="en-IN" dirty="0"/>
              <a:t>Kernel It compares the </a:t>
            </a:r>
            <a:r>
              <a:rPr lang="en-IN" b="1" dirty="0"/>
              <a:t>top pixels</a:t>
            </a:r>
            <a:r>
              <a:rPr lang="en-IN" dirty="0"/>
              <a:t> with the </a:t>
            </a:r>
            <a:r>
              <a:rPr lang="en-IN" b="1" dirty="0"/>
              <a:t>bottom pixels</a:t>
            </a:r>
            <a:r>
              <a:rPr lang="en-IN" dirty="0"/>
              <a:t>.</a:t>
            </a:r>
          </a:p>
          <a:p>
            <a:r>
              <a:rPr lang="en-IN" dirty="0"/>
              <a:t>If the top is dark: 10 10 10</a:t>
            </a:r>
          </a:p>
          <a:p>
            <a:r>
              <a:rPr lang="en-IN" dirty="0"/>
              <a:t>and bottom is bright: 200 200 200</a:t>
            </a:r>
          </a:p>
          <a:p>
            <a:r>
              <a:rPr lang="en-IN" dirty="0"/>
              <a:t>The calculation is roughly:</a:t>
            </a:r>
          </a:p>
          <a:p>
            <a:r>
              <a:rPr lang="en-IN" dirty="0"/>
              <a:t>(10 + 10 + 10)</a:t>
            </a:r>
          </a:p>
          <a:p>
            <a:r>
              <a:rPr lang="en-IN" dirty="0"/>
              <a:t>-</a:t>
            </a:r>
          </a:p>
          <a:p>
            <a:r>
              <a:rPr lang="en-IN" dirty="0"/>
              <a:t>(200 + 200 + 200)</a:t>
            </a:r>
          </a:p>
          <a:p>
            <a:endParaRPr lang="en-IN" dirty="0"/>
          </a:p>
          <a:p>
            <a:r>
              <a:rPr lang="en-IN" dirty="0"/>
              <a:t>= -570</a:t>
            </a:r>
          </a:p>
          <a:p>
            <a:endParaRPr lang="en-IN" dirty="0"/>
          </a:p>
        </p:txBody>
      </p:sp>
    </p:spTree>
    <p:extLst>
      <p:ext uri="{BB962C8B-B14F-4D97-AF65-F5344CB8AC3E}">
        <p14:creationId xmlns:p14="http://schemas.microsoft.com/office/powerpoint/2010/main" val="4205115877"/>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5C542-AF22-A0A2-E192-8333B083FD5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F16B0C4-6E06-6B63-1F24-8F32D603B261}"/>
              </a:ext>
            </a:extLst>
          </p:cNvPr>
          <p:cNvSpPr>
            <a:spLocks noGrp="1"/>
          </p:cNvSpPr>
          <p:nvPr>
            <p:ph idx="1"/>
          </p:nvPr>
        </p:nvSpPr>
        <p:spPr/>
        <p:txBody>
          <a:bodyPr/>
          <a:lstStyle/>
          <a:p>
            <a:r>
              <a:rPr lang="en-IN" dirty="0"/>
              <a:t>A large value means there is a strong change → </a:t>
            </a:r>
            <a:r>
              <a:rPr lang="en-IN" b="1" dirty="0"/>
              <a:t>edge</a:t>
            </a:r>
            <a:r>
              <a:rPr lang="en-IN" dirty="0"/>
              <a:t>.</a:t>
            </a:r>
          </a:p>
          <a:p>
            <a:r>
              <a:rPr lang="en-IN" dirty="0"/>
              <a:t>filter2D : It takes the kernel and </a:t>
            </a:r>
            <a:r>
              <a:rPr lang="en-IN" b="1" dirty="0"/>
              <a:t>moves it across the entire image</a:t>
            </a:r>
            <a:r>
              <a:rPr lang="en-IN" dirty="0"/>
              <a:t>.</a:t>
            </a:r>
          </a:p>
          <a:p>
            <a:r>
              <a:rPr lang="en-IN" dirty="0"/>
              <a:t>-1 means: Keep the same data type as the input image.</a:t>
            </a:r>
          </a:p>
          <a:p>
            <a:r>
              <a:rPr lang="en-IN" dirty="0"/>
              <a:t>Prewitt is basically a small 3×3 edge detector that slides across the image and finds places where brightness changes sharply.</a:t>
            </a:r>
          </a:p>
        </p:txBody>
      </p:sp>
    </p:spTree>
    <p:extLst>
      <p:ext uri="{BB962C8B-B14F-4D97-AF65-F5344CB8AC3E}">
        <p14:creationId xmlns:p14="http://schemas.microsoft.com/office/powerpoint/2010/main" val="1988496439"/>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B1C1A-17CD-5ED5-4B05-CF8C373816A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1650A93-D7DC-3514-27F7-5BE81D5F9848}"/>
              </a:ext>
            </a:extLst>
          </p:cNvPr>
          <p:cNvSpPr>
            <a:spLocks noGrp="1"/>
          </p:cNvSpPr>
          <p:nvPr>
            <p:ph idx="1"/>
          </p:nvPr>
        </p:nvSpPr>
        <p:spPr/>
        <p:txBody>
          <a:bodyPr/>
          <a:lstStyle/>
          <a:p>
            <a:r>
              <a:rPr lang="en-IN" dirty="0"/>
              <a:t>Erosion makes the white parts of a binary image smaller.</a:t>
            </a:r>
          </a:p>
          <a:p>
            <a:r>
              <a:rPr lang="en-IN" dirty="0"/>
              <a:t>It basically </a:t>
            </a:r>
            <a:r>
              <a:rPr lang="en-IN" b="1" dirty="0"/>
              <a:t>eats away the edges of white objects</a:t>
            </a:r>
            <a:r>
              <a:rPr lang="en-IN" dirty="0"/>
              <a:t>.</a:t>
            </a:r>
          </a:p>
          <a:p>
            <a:r>
              <a:rPr lang="en-IN" dirty="0"/>
              <a:t>Erosion = white objects shrink.</a:t>
            </a:r>
          </a:p>
          <a:p>
            <a:r>
              <a:rPr lang="en-IN" dirty="0"/>
              <a:t>Dilation makes the white parts of a binary image bigger.	</a:t>
            </a:r>
          </a:p>
          <a:p>
            <a:r>
              <a:rPr lang="en-IN" dirty="0"/>
              <a:t>Dilation = white objects grow/expand.</a:t>
            </a:r>
          </a:p>
        </p:txBody>
      </p:sp>
    </p:spTree>
    <p:extLst>
      <p:ext uri="{BB962C8B-B14F-4D97-AF65-F5344CB8AC3E}">
        <p14:creationId xmlns:p14="http://schemas.microsoft.com/office/powerpoint/2010/main" val="2173124931"/>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0A5EE-6098-BDF9-896C-AEB9648955AA}"/>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4FA44BF9-8808-D437-7A5B-71B270845BD5}"/>
              </a:ext>
            </a:extLst>
          </p:cNvPr>
          <p:cNvGraphicFramePr>
            <a:graphicFrameLocks noGrp="1"/>
          </p:cNvGraphicFramePr>
          <p:nvPr>
            <p:ph idx="1"/>
            <p:extLst>
              <p:ext uri="{D42A27DB-BD31-4B8C-83A1-F6EECF244321}">
                <p14:modId xmlns:p14="http://schemas.microsoft.com/office/powerpoint/2010/main" val="2778034400"/>
              </p:ext>
            </p:extLst>
          </p:nvPr>
        </p:nvGraphicFramePr>
        <p:xfrm>
          <a:off x="838200" y="3452654"/>
          <a:ext cx="10515600" cy="1097280"/>
        </p:xfrm>
        <a:graphic>
          <a:graphicData uri="http://schemas.openxmlformats.org/drawingml/2006/table">
            <a:tbl>
              <a:tblPr/>
              <a:tblGrid>
                <a:gridCol w="5257800">
                  <a:extLst>
                    <a:ext uri="{9D8B030D-6E8A-4147-A177-3AD203B41FA5}">
                      <a16:colId xmlns:a16="http://schemas.microsoft.com/office/drawing/2014/main" val="1192449994"/>
                    </a:ext>
                  </a:extLst>
                </a:gridCol>
                <a:gridCol w="5257800">
                  <a:extLst>
                    <a:ext uri="{9D8B030D-6E8A-4147-A177-3AD203B41FA5}">
                      <a16:colId xmlns:a16="http://schemas.microsoft.com/office/drawing/2014/main" val="1981328320"/>
                    </a:ext>
                  </a:extLst>
                </a:gridCol>
              </a:tblGrid>
              <a:tr h="0">
                <a:tc>
                  <a:txBody>
                    <a:bodyPr/>
                    <a:lstStyle/>
                    <a:p>
                      <a:pPr>
                        <a:buNone/>
                      </a:pPr>
                      <a:r>
                        <a:rPr lang="en-IN"/>
                        <a:t>Operation</a:t>
                      </a:r>
                    </a:p>
                  </a:txBody>
                  <a:tcPr anchor="ctr">
                    <a:lnL>
                      <a:noFill/>
                    </a:lnL>
                    <a:lnR>
                      <a:noFill/>
                    </a:lnR>
                    <a:lnT>
                      <a:noFill/>
                    </a:lnT>
                    <a:lnB>
                      <a:noFill/>
                    </a:lnB>
                    <a:noFill/>
                  </a:tcPr>
                </a:tc>
                <a:tc>
                  <a:txBody>
                    <a:bodyPr/>
                    <a:lstStyle/>
                    <a:p>
                      <a:pPr>
                        <a:buNone/>
                      </a:pPr>
                      <a:r>
                        <a:rPr lang="en-IN"/>
                        <a:t>What happens to white object?</a:t>
                      </a:r>
                    </a:p>
                  </a:txBody>
                  <a:tcPr anchor="ctr">
                    <a:lnL>
                      <a:noFill/>
                    </a:lnL>
                    <a:lnR>
                      <a:noFill/>
                    </a:lnR>
                    <a:lnT>
                      <a:noFill/>
                    </a:lnT>
                    <a:lnB>
                      <a:noFill/>
                    </a:lnB>
                    <a:noFill/>
                  </a:tcPr>
                </a:tc>
                <a:extLst>
                  <a:ext uri="{0D108BD9-81ED-4DB2-BD59-A6C34878D82A}">
                    <a16:rowId xmlns:a16="http://schemas.microsoft.com/office/drawing/2014/main" val="3104641081"/>
                  </a:ext>
                </a:extLst>
              </a:tr>
              <a:tr h="0">
                <a:tc>
                  <a:txBody>
                    <a:bodyPr/>
                    <a:lstStyle/>
                    <a:p>
                      <a:pPr>
                        <a:buNone/>
                      </a:pPr>
                      <a:r>
                        <a:rPr lang="en-IN" b="1"/>
                        <a:t>Erosion</a:t>
                      </a:r>
                      <a:endParaRPr lang="en-IN"/>
                    </a:p>
                  </a:txBody>
                  <a:tcPr anchor="ctr">
                    <a:lnL>
                      <a:noFill/>
                    </a:lnL>
                    <a:lnR>
                      <a:noFill/>
                    </a:lnR>
                    <a:lnT>
                      <a:noFill/>
                    </a:lnT>
                    <a:lnB>
                      <a:noFill/>
                    </a:lnB>
                    <a:noFill/>
                  </a:tcPr>
                </a:tc>
                <a:tc>
                  <a:txBody>
                    <a:bodyPr/>
                    <a:lstStyle/>
                    <a:p>
                      <a:pPr>
                        <a:buNone/>
                      </a:pPr>
                      <a:r>
                        <a:rPr lang="en-IN" dirty="0"/>
                        <a:t>Gets smaller </a:t>
                      </a:r>
                    </a:p>
                  </a:txBody>
                  <a:tcPr anchor="ctr">
                    <a:lnL>
                      <a:noFill/>
                    </a:lnL>
                    <a:lnR>
                      <a:noFill/>
                    </a:lnR>
                    <a:lnT>
                      <a:noFill/>
                    </a:lnT>
                    <a:lnB>
                      <a:noFill/>
                    </a:lnB>
                    <a:noFill/>
                  </a:tcPr>
                </a:tc>
                <a:extLst>
                  <a:ext uri="{0D108BD9-81ED-4DB2-BD59-A6C34878D82A}">
                    <a16:rowId xmlns:a16="http://schemas.microsoft.com/office/drawing/2014/main" val="292765851"/>
                  </a:ext>
                </a:extLst>
              </a:tr>
              <a:tr h="0">
                <a:tc>
                  <a:txBody>
                    <a:bodyPr/>
                    <a:lstStyle/>
                    <a:p>
                      <a:pPr>
                        <a:buNone/>
                      </a:pPr>
                      <a:r>
                        <a:rPr lang="en-IN" b="1"/>
                        <a:t>Dilation</a:t>
                      </a:r>
                      <a:endParaRPr lang="en-IN"/>
                    </a:p>
                  </a:txBody>
                  <a:tcPr anchor="ctr">
                    <a:lnL>
                      <a:noFill/>
                    </a:lnL>
                    <a:lnR>
                      <a:noFill/>
                    </a:lnR>
                    <a:lnT>
                      <a:noFill/>
                    </a:lnT>
                    <a:lnB>
                      <a:noFill/>
                    </a:lnB>
                    <a:noFill/>
                  </a:tcPr>
                </a:tc>
                <a:tc>
                  <a:txBody>
                    <a:bodyPr/>
                    <a:lstStyle/>
                    <a:p>
                      <a:pPr>
                        <a:buNone/>
                      </a:pPr>
                      <a:r>
                        <a:rPr lang="en-IN" dirty="0"/>
                        <a:t>Gets bigger </a:t>
                      </a:r>
                    </a:p>
                  </a:txBody>
                  <a:tcPr anchor="ctr">
                    <a:lnL>
                      <a:noFill/>
                    </a:lnL>
                    <a:lnR>
                      <a:noFill/>
                    </a:lnR>
                    <a:lnT>
                      <a:noFill/>
                    </a:lnT>
                    <a:lnB>
                      <a:noFill/>
                    </a:lnB>
                    <a:noFill/>
                  </a:tcPr>
                </a:tc>
                <a:extLst>
                  <a:ext uri="{0D108BD9-81ED-4DB2-BD59-A6C34878D82A}">
                    <a16:rowId xmlns:a16="http://schemas.microsoft.com/office/drawing/2014/main" val="2795743190"/>
                  </a:ext>
                </a:extLst>
              </a:tr>
            </a:tbl>
          </a:graphicData>
        </a:graphic>
      </p:graphicFrame>
      <p:sp>
        <p:nvSpPr>
          <p:cNvPr id="6" name="TextBox 5">
            <a:extLst>
              <a:ext uri="{FF2B5EF4-FFF2-40B4-BE49-F238E27FC236}">
                <a16:creationId xmlns:a16="http://schemas.microsoft.com/office/drawing/2014/main" id="{1DD80EA9-500B-D08A-0B66-E710D3EBABE6}"/>
              </a:ext>
            </a:extLst>
          </p:cNvPr>
          <p:cNvSpPr txBox="1"/>
          <p:nvPr/>
        </p:nvSpPr>
        <p:spPr>
          <a:xfrm>
            <a:off x="3048733" y="3244334"/>
            <a:ext cx="6097464" cy="369332"/>
          </a:xfrm>
          <a:prstGeom prst="rect">
            <a:avLst/>
          </a:prstGeom>
          <a:noFill/>
        </p:spPr>
        <p:txBody>
          <a:bodyPr wrap="square">
            <a:spAutoFit/>
          </a:bodyPr>
          <a:lstStyle/>
          <a:p>
            <a:pPr>
              <a:buNone/>
            </a:pPr>
            <a:r>
              <a:rPr lang="en-IN" b="1" dirty="0"/>
              <a:t>Erosion vs Dilation</a:t>
            </a:r>
          </a:p>
        </p:txBody>
      </p:sp>
      <p:sp>
        <p:nvSpPr>
          <p:cNvPr id="8" name="TextBox 7">
            <a:extLst>
              <a:ext uri="{FF2B5EF4-FFF2-40B4-BE49-F238E27FC236}">
                <a16:creationId xmlns:a16="http://schemas.microsoft.com/office/drawing/2014/main" id="{79E0087A-A2BE-47EB-7B64-AF36D2AA9AE2}"/>
              </a:ext>
            </a:extLst>
          </p:cNvPr>
          <p:cNvSpPr txBox="1"/>
          <p:nvPr/>
        </p:nvSpPr>
        <p:spPr>
          <a:xfrm>
            <a:off x="2204671" y="5052466"/>
            <a:ext cx="6097464" cy="646331"/>
          </a:xfrm>
          <a:prstGeom prst="rect">
            <a:avLst/>
          </a:prstGeom>
          <a:noFill/>
        </p:spPr>
        <p:txBody>
          <a:bodyPr wrap="square">
            <a:spAutoFit/>
          </a:bodyPr>
          <a:lstStyle/>
          <a:p>
            <a:r>
              <a:rPr lang="en-IN" dirty="0"/>
              <a:t>Dilation is also useful for </a:t>
            </a:r>
            <a:r>
              <a:rPr lang="en-IN" b="1" dirty="0"/>
              <a:t>filling small gaps and connecting nearby white regions</a:t>
            </a:r>
            <a:r>
              <a:rPr lang="en-IN" dirty="0"/>
              <a:t>.</a:t>
            </a:r>
          </a:p>
        </p:txBody>
      </p:sp>
    </p:spTree>
    <p:extLst>
      <p:ext uri="{BB962C8B-B14F-4D97-AF65-F5344CB8AC3E}">
        <p14:creationId xmlns:p14="http://schemas.microsoft.com/office/powerpoint/2010/main" val="1224781203"/>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39ED4-B146-34A8-C37F-A010BE1044C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4B687E3-CEBA-376C-75AC-30C4D64E23D1}"/>
              </a:ext>
            </a:extLst>
          </p:cNvPr>
          <p:cNvSpPr>
            <a:spLocks noGrp="1"/>
          </p:cNvSpPr>
          <p:nvPr>
            <p:ph idx="1"/>
          </p:nvPr>
        </p:nvSpPr>
        <p:spPr/>
        <p:txBody>
          <a:bodyPr>
            <a:normAutofit lnSpcReduction="10000"/>
          </a:bodyPr>
          <a:lstStyle/>
          <a:p>
            <a:r>
              <a:rPr lang="en-IN" dirty="0"/>
              <a:t>Opening = Erosion + Dilation</a:t>
            </a:r>
          </a:p>
          <a:p>
            <a:r>
              <a:rPr lang="en-IN" dirty="0"/>
              <a:t>It happens in this order:</a:t>
            </a:r>
          </a:p>
          <a:p>
            <a:r>
              <a:rPr lang="en-IN" dirty="0"/>
              <a:t>Binary image</a:t>
            </a:r>
          </a:p>
          <a:p>
            <a:r>
              <a:rPr lang="en-IN" dirty="0"/>
              <a:t>     ↓</a:t>
            </a:r>
          </a:p>
          <a:p>
            <a:r>
              <a:rPr lang="en-IN" dirty="0"/>
              <a:t>  Erosion</a:t>
            </a:r>
          </a:p>
          <a:p>
            <a:r>
              <a:rPr lang="en-IN" dirty="0"/>
              <a:t>     ↓</a:t>
            </a:r>
          </a:p>
          <a:p>
            <a:r>
              <a:rPr lang="en-IN" dirty="0"/>
              <a:t>  Dilation</a:t>
            </a:r>
          </a:p>
          <a:p>
            <a:r>
              <a:rPr lang="en-IN" dirty="0"/>
              <a:t>     ↓</a:t>
            </a:r>
          </a:p>
          <a:p>
            <a:r>
              <a:rPr lang="en-IN" dirty="0"/>
              <a:t>  Opening</a:t>
            </a:r>
          </a:p>
          <a:p>
            <a:endParaRPr lang="en-IN" dirty="0"/>
          </a:p>
        </p:txBody>
      </p:sp>
    </p:spTree>
    <p:extLst>
      <p:ext uri="{BB962C8B-B14F-4D97-AF65-F5344CB8AC3E}">
        <p14:creationId xmlns:p14="http://schemas.microsoft.com/office/powerpoint/2010/main" val="2036394950"/>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C6B62-32B1-D72E-C4C8-29A86C304C5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EC82D0F-0FF6-4F4C-F641-EA1E1424F578}"/>
              </a:ext>
            </a:extLst>
          </p:cNvPr>
          <p:cNvSpPr>
            <a:spLocks noGrp="1"/>
          </p:cNvSpPr>
          <p:nvPr>
            <p:ph idx="1"/>
          </p:nvPr>
        </p:nvSpPr>
        <p:spPr/>
        <p:txBody>
          <a:bodyPr>
            <a:normAutofit fontScale="92500" lnSpcReduction="20000"/>
          </a:bodyPr>
          <a:lstStyle/>
          <a:p>
            <a:r>
              <a:rPr lang="en-IN" dirty="0"/>
              <a:t>Opening is mainly used to </a:t>
            </a:r>
            <a:r>
              <a:rPr lang="en-IN" b="1" dirty="0"/>
              <a:t>remove small white noise</a:t>
            </a:r>
            <a:r>
              <a:rPr lang="en-IN" dirty="0"/>
              <a:t> from a binary image.</a:t>
            </a:r>
          </a:p>
          <a:p>
            <a:r>
              <a:rPr lang="en-IN" dirty="0"/>
              <a:t>Closing = Dilation + Erosion</a:t>
            </a:r>
          </a:p>
          <a:p>
            <a:r>
              <a:rPr lang="en-IN" dirty="0"/>
              <a:t>The order is important:</a:t>
            </a:r>
          </a:p>
          <a:p>
            <a:r>
              <a:rPr lang="en-IN" dirty="0"/>
              <a:t>Binary image</a:t>
            </a:r>
          </a:p>
          <a:p>
            <a:r>
              <a:rPr lang="en-IN" dirty="0"/>
              <a:t>     ↓</a:t>
            </a:r>
          </a:p>
          <a:p>
            <a:r>
              <a:rPr lang="en-IN" dirty="0"/>
              <a:t>  Dilation</a:t>
            </a:r>
          </a:p>
          <a:p>
            <a:r>
              <a:rPr lang="en-IN" dirty="0"/>
              <a:t>     ↓</a:t>
            </a:r>
          </a:p>
          <a:p>
            <a:r>
              <a:rPr lang="en-IN" dirty="0"/>
              <a:t>  Erosion</a:t>
            </a:r>
          </a:p>
          <a:p>
            <a:r>
              <a:rPr lang="en-IN" dirty="0"/>
              <a:t>     ↓</a:t>
            </a:r>
          </a:p>
          <a:p>
            <a:r>
              <a:rPr lang="en-IN" dirty="0"/>
              <a:t>  Closing</a:t>
            </a:r>
          </a:p>
          <a:p>
            <a:endParaRPr lang="en-IN" dirty="0"/>
          </a:p>
        </p:txBody>
      </p:sp>
    </p:spTree>
    <p:extLst>
      <p:ext uri="{BB962C8B-B14F-4D97-AF65-F5344CB8AC3E}">
        <p14:creationId xmlns:p14="http://schemas.microsoft.com/office/powerpoint/2010/main" val="3384472134"/>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B4420-50C2-C214-D3FA-F1454363128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BEBC31E-FF2D-1371-B7CF-EF531778DC23}"/>
              </a:ext>
            </a:extLst>
          </p:cNvPr>
          <p:cNvSpPr>
            <a:spLocks noGrp="1"/>
          </p:cNvSpPr>
          <p:nvPr>
            <p:ph idx="1"/>
          </p:nvPr>
        </p:nvSpPr>
        <p:spPr/>
        <p:txBody>
          <a:bodyPr/>
          <a:lstStyle/>
          <a:p>
            <a:r>
              <a:rPr lang="en-IN" dirty="0"/>
              <a:t>Closing is mainly used to </a:t>
            </a:r>
            <a:r>
              <a:rPr lang="en-IN" b="1" dirty="0"/>
              <a:t>fill small black holes and gaps inside white objects</a:t>
            </a:r>
            <a:r>
              <a:rPr lang="en-IN" dirty="0"/>
              <a:t>.</a:t>
            </a:r>
          </a:p>
          <a:p>
            <a:r>
              <a:rPr lang="en-IN" dirty="0"/>
              <a:t>Opening = Erosion → Dilation </a:t>
            </a:r>
          </a:p>
          <a:p>
            <a:r>
              <a:rPr lang="en-IN" dirty="0"/>
              <a:t>↓ </a:t>
            </a:r>
          </a:p>
          <a:p>
            <a:r>
              <a:rPr lang="en-IN" dirty="0"/>
              <a:t>removes small white noise</a:t>
            </a:r>
          </a:p>
          <a:p>
            <a:r>
              <a:rPr lang="en-IN" dirty="0"/>
              <a:t> Closing = Dilation → Erosion</a:t>
            </a:r>
          </a:p>
          <a:p>
            <a:r>
              <a:rPr lang="en-IN" dirty="0"/>
              <a:t> ↓ </a:t>
            </a:r>
          </a:p>
          <a:p>
            <a:r>
              <a:rPr lang="en-IN" dirty="0"/>
              <a:t>fills small black gaps</a:t>
            </a:r>
          </a:p>
        </p:txBody>
      </p:sp>
    </p:spTree>
    <p:extLst>
      <p:ext uri="{BB962C8B-B14F-4D97-AF65-F5344CB8AC3E}">
        <p14:creationId xmlns:p14="http://schemas.microsoft.com/office/powerpoint/2010/main" val="1887663108"/>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B5BC07-7659-9BF7-D11C-EF247300F9B3}"/>
              </a:ext>
            </a:extLst>
          </p:cNvPr>
          <p:cNvSpPr>
            <a:spLocks noGrp="1"/>
          </p:cNvSpPr>
          <p:nvPr>
            <p:ph idx="1"/>
          </p:nvPr>
        </p:nvSpPr>
        <p:spPr>
          <a:xfrm>
            <a:off x="838200" y="747401"/>
            <a:ext cx="10515600" cy="5429562"/>
          </a:xfrm>
        </p:spPr>
        <p:txBody>
          <a:bodyPr>
            <a:normAutofit fontScale="92500" lnSpcReduction="20000"/>
          </a:bodyPr>
          <a:lstStyle/>
          <a:p>
            <a:r>
              <a:rPr lang="en-IN" b="1" dirty="0"/>
              <a:t>Opening removes small white objects.</a:t>
            </a:r>
            <a:br>
              <a:rPr lang="en-IN" dirty="0"/>
            </a:br>
            <a:r>
              <a:rPr lang="en-IN" b="1" dirty="0"/>
              <a:t>Closing fills small black holes/gaps.</a:t>
            </a:r>
          </a:p>
          <a:p>
            <a:r>
              <a:rPr lang="en-IN" b="1" dirty="0"/>
              <a:t>What is Morphological Gradient?</a:t>
            </a:r>
          </a:p>
          <a:p>
            <a:r>
              <a:rPr lang="en-IN" dirty="0"/>
              <a:t>It is basically:</a:t>
            </a:r>
          </a:p>
          <a:p>
            <a:r>
              <a:rPr lang="en-IN" b="1" dirty="0"/>
              <a:t>Dilation − Erosion</a:t>
            </a:r>
            <a:endParaRPr lang="en-IN" dirty="0"/>
          </a:p>
          <a:p>
            <a:r>
              <a:rPr lang="en-IN" dirty="0"/>
              <a:t>        Dilation</a:t>
            </a:r>
          </a:p>
          <a:p>
            <a:r>
              <a:rPr lang="en-IN" dirty="0"/>
              <a:t>           ↓</a:t>
            </a:r>
          </a:p>
          <a:p>
            <a:r>
              <a:rPr lang="en-IN" dirty="0"/>
              <a:t>       BIG object</a:t>
            </a:r>
          </a:p>
          <a:p>
            <a:r>
              <a:rPr lang="en-IN" dirty="0"/>
              <a:t>           -</a:t>
            </a:r>
          </a:p>
          <a:p>
            <a:r>
              <a:rPr lang="en-IN" dirty="0"/>
              <a:t>       SMALL object</a:t>
            </a:r>
          </a:p>
          <a:p>
            <a:r>
              <a:rPr lang="en-IN" dirty="0"/>
              <a:t>           ↓</a:t>
            </a:r>
          </a:p>
          <a:p>
            <a:r>
              <a:rPr lang="en-IN" dirty="0"/>
              <a:t>       EDGE/OUTLINE</a:t>
            </a:r>
          </a:p>
          <a:p>
            <a:r>
              <a:rPr lang="en-IN" dirty="0"/>
              <a:t>So it is used to </a:t>
            </a:r>
            <a:r>
              <a:rPr lang="en-IN" b="1" dirty="0"/>
              <a:t>find the outline/</a:t>
            </a:r>
            <a:endParaRPr lang="en-IN" dirty="0"/>
          </a:p>
          <a:p>
            <a:endParaRPr lang="en-IN" dirty="0"/>
          </a:p>
        </p:txBody>
      </p:sp>
    </p:spTree>
    <p:extLst>
      <p:ext uri="{BB962C8B-B14F-4D97-AF65-F5344CB8AC3E}">
        <p14:creationId xmlns:p14="http://schemas.microsoft.com/office/powerpoint/2010/main" val="3441174212"/>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17567-B93C-815A-01E1-CEDADC5431A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6358826-D5D5-7F27-509E-87E0072EF2AD}"/>
              </a:ext>
            </a:extLst>
          </p:cNvPr>
          <p:cNvSpPr>
            <a:spLocks noGrp="1"/>
          </p:cNvSpPr>
          <p:nvPr>
            <p:ph idx="1"/>
          </p:nvPr>
        </p:nvSpPr>
        <p:spPr/>
        <p:txBody>
          <a:bodyPr/>
          <a:lstStyle/>
          <a:p>
            <a:r>
              <a:rPr lang="en-IN" dirty="0"/>
              <a:t>means:</a:t>
            </a:r>
          </a:p>
          <a:p>
            <a:pPr lvl="0"/>
            <a:r>
              <a:rPr lang="en-IN" dirty="0"/>
              <a:t>binary → input binary image </a:t>
            </a:r>
          </a:p>
          <a:p>
            <a:pPr lvl="0"/>
            <a:r>
              <a:rPr lang="en-IN" dirty="0"/>
              <a:t>cv2.MORPH_GRADIENT → calculate the morphological gradient </a:t>
            </a:r>
          </a:p>
          <a:p>
            <a:pPr lvl="0"/>
            <a:r>
              <a:rPr lang="en-IN" dirty="0"/>
              <a:t>kernel → the </a:t>
            </a:r>
            <a:r>
              <a:rPr lang="en-IN" dirty="0" err="1"/>
              <a:t>neighborhood</a:t>
            </a:r>
            <a:r>
              <a:rPr lang="en-IN" dirty="0"/>
              <a:t> used to detect the boundary</a:t>
            </a:r>
          </a:p>
          <a:p>
            <a:r>
              <a:rPr lang="en-IN"/>
              <a:t>Morphological Gradient = find the edges/outline of white objects.</a:t>
            </a:r>
          </a:p>
        </p:txBody>
      </p:sp>
    </p:spTree>
    <p:extLst>
      <p:ext uri="{BB962C8B-B14F-4D97-AF65-F5344CB8AC3E}">
        <p14:creationId xmlns:p14="http://schemas.microsoft.com/office/powerpoint/2010/main" val="155651152"/>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75536-9725-19DA-109E-6CC2C533B05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9CD8EBE-B1FE-E1B9-5B3B-444C9FC1DD15}"/>
              </a:ext>
            </a:extLst>
          </p:cNvPr>
          <p:cNvSpPr>
            <a:spLocks noGrp="1"/>
          </p:cNvSpPr>
          <p:nvPr>
            <p:ph idx="1"/>
          </p:nvPr>
        </p:nvSpPr>
        <p:spPr/>
        <p:txBody>
          <a:bodyPr/>
          <a:lstStyle/>
          <a:p>
            <a:r>
              <a:rPr lang="en-IN" dirty="0"/>
              <a:t>Suppose the white object is:</a:t>
            </a:r>
          </a:p>
          <a:p>
            <a:r>
              <a:rPr lang="en-IN" dirty="0"/>
              <a:t>0 0 0 0 0</a:t>
            </a:r>
          </a:p>
          <a:p>
            <a:r>
              <a:rPr lang="en-IN" dirty="0"/>
              <a:t>0 255 255 0 0</a:t>
            </a:r>
          </a:p>
          <a:p>
            <a:r>
              <a:rPr lang="en-IN" dirty="0"/>
              <a:t>0 255 255 0 0</a:t>
            </a:r>
          </a:p>
          <a:p>
            <a:r>
              <a:rPr lang="en-IN" dirty="0"/>
              <a:t>0 0 0 0 0</a:t>
            </a:r>
          </a:p>
        </p:txBody>
      </p:sp>
    </p:spTree>
    <p:extLst>
      <p:ext uri="{BB962C8B-B14F-4D97-AF65-F5344CB8AC3E}">
        <p14:creationId xmlns:p14="http://schemas.microsoft.com/office/powerpoint/2010/main" val="1922005049"/>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4B0AA-3E94-5DDD-8508-6E87365B17C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73F293C-E1DC-C4D0-22AA-83CA599C4D40}"/>
              </a:ext>
            </a:extLst>
          </p:cNvPr>
          <p:cNvSpPr>
            <a:spLocks noGrp="1"/>
          </p:cNvSpPr>
          <p:nvPr>
            <p:ph idx="1"/>
          </p:nvPr>
        </p:nvSpPr>
        <p:spPr/>
        <p:txBody>
          <a:bodyPr/>
          <a:lstStyle/>
          <a:p>
            <a:r>
              <a:rPr lang="en-IN" dirty="0"/>
              <a:t>After </a:t>
            </a:r>
            <a:r>
              <a:rPr lang="en-IN" b="1" dirty="0"/>
              <a:t>dilation</a:t>
            </a:r>
            <a:r>
              <a:rPr lang="en-IN" dirty="0"/>
              <a:t>, the white object becomes bigger:</a:t>
            </a:r>
          </a:p>
          <a:p>
            <a:r>
              <a:rPr lang="en-IN" dirty="0"/>
              <a:t>0 255 255 255 0</a:t>
            </a:r>
          </a:p>
          <a:p>
            <a:r>
              <a:rPr lang="en-IN" dirty="0"/>
              <a:t>0 255 255 255 0</a:t>
            </a:r>
          </a:p>
          <a:p>
            <a:r>
              <a:rPr lang="en-IN" dirty="0"/>
              <a:t>0 255 255 255 0</a:t>
            </a:r>
          </a:p>
          <a:p>
            <a:r>
              <a:rPr lang="en-IN" dirty="0"/>
              <a:t>0 255 255 255 0</a:t>
            </a:r>
          </a:p>
          <a:p>
            <a:r>
              <a:rPr lang="en-IN" dirty="0"/>
              <a:t>After </a:t>
            </a:r>
            <a:r>
              <a:rPr lang="en-IN" b="1" dirty="0"/>
              <a:t>erosion</a:t>
            </a:r>
            <a:r>
              <a:rPr lang="en-IN" dirty="0"/>
              <a:t>, the white object becomes smaller:</a:t>
            </a:r>
          </a:p>
          <a:p>
            <a:endParaRPr lang="en-IN" dirty="0"/>
          </a:p>
        </p:txBody>
      </p:sp>
    </p:spTree>
    <p:extLst>
      <p:ext uri="{BB962C8B-B14F-4D97-AF65-F5344CB8AC3E}">
        <p14:creationId xmlns:p14="http://schemas.microsoft.com/office/powerpoint/2010/main" val="2143365617"/>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B2303-A1E3-C318-5607-46C411D873C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389B442-C0F1-5D92-D80E-54B7A5256316}"/>
              </a:ext>
            </a:extLst>
          </p:cNvPr>
          <p:cNvSpPr>
            <a:spLocks noGrp="1"/>
          </p:cNvSpPr>
          <p:nvPr>
            <p:ph idx="1"/>
          </p:nvPr>
        </p:nvSpPr>
        <p:spPr/>
        <p:txBody>
          <a:bodyPr>
            <a:normAutofit lnSpcReduction="10000"/>
          </a:bodyPr>
          <a:lstStyle/>
          <a:p>
            <a:r>
              <a:rPr lang="en-IN" dirty="0"/>
              <a:t>0 0 0 0 0</a:t>
            </a:r>
          </a:p>
          <a:p>
            <a:r>
              <a:rPr lang="en-IN" dirty="0"/>
              <a:t>0 0 0 0 0</a:t>
            </a:r>
          </a:p>
          <a:p>
            <a:r>
              <a:rPr lang="en-IN" dirty="0"/>
              <a:t>0 0 0 0 0</a:t>
            </a:r>
          </a:p>
          <a:p>
            <a:r>
              <a:rPr lang="en-IN" dirty="0"/>
              <a:t>0 0 0 0 0</a:t>
            </a:r>
          </a:p>
          <a:p>
            <a:r>
              <a:rPr lang="en-IN" dirty="0"/>
              <a:t>Now:</a:t>
            </a:r>
          </a:p>
          <a:p>
            <a:r>
              <a:rPr lang="en-IN" dirty="0"/>
              <a:t>Gradient = Dilation – Erosion</a:t>
            </a:r>
          </a:p>
          <a:p>
            <a:r>
              <a:rPr lang="en-IN" dirty="0"/>
              <a:t>255 - 0 = 255</a:t>
            </a:r>
          </a:p>
          <a:p>
            <a:r>
              <a:rPr lang="en-IN" dirty="0"/>
              <a:t>around the boundary.</a:t>
            </a:r>
          </a:p>
          <a:p>
            <a:r>
              <a:rPr lang="en-IN" dirty="0"/>
              <a:t>The result highlights the </a:t>
            </a:r>
            <a:r>
              <a:rPr lang="en-IN" b="1" dirty="0"/>
              <a:t>outline</a:t>
            </a:r>
            <a:r>
              <a:rPr lang="en-IN" dirty="0"/>
              <a:t>:</a:t>
            </a:r>
          </a:p>
          <a:p>
            <a:endParaRPr lang="en-IN" dirty="0"/>
          </a:p>
        </p:txBody>
      </p:sp>
    </p:spTree>
    <p:extLst>
      <p:ext uri="{BB962C8B-B14F-4D97-AF65-F5344CB8AC3E}">
        <p14:creationId xmlns:p14="http://schemas.microsoft.com/office/powerpoint/2010/main" val="3641533903"/>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6C7E1-0102-3B6B-8E6C-99F997EC768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A24B0A3-411B-2564-3B13-6BE8E3EF7D42}"/>
              </a:ext>
            </a:extLst>
          </p:cNvPr>
          <p:cNvSpPr>
            <a:spLocks noGrp="1"/>
          </p:cNvSpPr>
          <p:nvPr>
            <p:ph idx="1"/>
          </p:nvPr>
        </p:nvSpPr>
        <p:spPr/>
        <p:txBody>
          <a:bodyPr/>
          <a:lstStyle/>
          <a:p>
            <a:r>
              <a:rPr lang="en-IN" dirty="0"/>
              <a:t>0 255 255 255 0</a:t>
            </a:r>
          </a:p>
          <a:p>
            <a:r>
              <a:rPr lang="en-IN" dirty="0"/>
              <a:t>0 255   0 255 0</a:t>
            </a:r>
          </a:p>
          <a:p>
            <a:r>
              <a:rPr lang="en-IN" dirty="0"/>
              <a:t>0 255   0 255 0</a:t>
            </a:r>
          </a:p>
          <a:p>
            <a:r>
              <a:rPr lang="en-IN"/>
              <a:t>0 255 255 255 0</a:t>
            </a:r>
            <a:endParaRPr lang="en-IN" dirty="0"/>
          </a:p>
        </p:txBody>
      </p:sp>
    </p:spTree>
    <p:extLst>
      <p:ext uri="{BB962C8B-B14F-4D97-AF65-F5344CB8AC3E}">
        <p14:creationId xmlns:p14="http://schemas.microsoft.com/office/powerpoint/2010/main" val="3163330605"/>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C7970A-1A2B-CFAE-257D-E5676625EFDB}"/>
              </a:ext>
            </a:extLst>
          </p:cNvPr>
          <p:cNvSpPr>
            <a:spLocks noGrp="1"/>
          </p:cNvSpPr>
          <p:nvPr>
            <p:ph idx="1"/>
          </p:nvPr>
        </p:nvSpPr>
        <p:spPr>
          <a:xfrm>
            <a:off x="838200" y="501162"/>
            <a:ext cx="10515600" cy="5675801"/>
          </a:xfrm>
        </p:spPr>
        <p:txBody>
          <a:bodyPr/>
          <a:lstStyle/>
          <a:p>
            <a:r>
              <a:rPr lang="en-IN" dirty="0" err="1"/>
              <a:t>hsv</a:t>
            </a:r>
            <a:r>
              <a:rPr lang="en-IN" dirty="0"/>
              <a:t> = cv2.cvtColor(</a:t>
            </a:r>
            <a:r>
              <a:rPr lang="en-IN" dirty="0" err="1"/>
              <a:t>img</a:t>
            </a:r>
            <a:r>
              <a:rPr lang="en-IN" dirty="0"/>
              <a:t>, cv2.COLOR_BGR2HSV)</a:t>
            </a:r>
          </a:p>
          <a:p>
            <a:r>
              <a:rPr lang="en-IN" dirty="0"/>
              <a:t>We change the image to </a:t>
            </a:r>
            <a:r>
              <a:rPr lang="en-IN" b="1" dirty="0"/>
              <a:t>HSV</a:t>
            </a:r>
            <a:r>
              <a:rPr lang="en-IN" dirty="0"/>
              <a:t> because it makes it easier to identify the </a:t>
            </a:r>
            <a:r>
              <a:rPr lang="en-IN" dirty="0" err="1"/>
              <a:t>colored</a:t>
            </a:r>
            <a:r>
              <a:rPr lang="en-IN" dirty="0"/>
              <a:t> apple.</a:t>
            </a:r>
          </a:p>
          <a:p>
            <a:r>
              <a:rPr lang="en-IN" dirty="0"/>
              <a:t>"Find the </a:t>
            </a:r>
            <a:r>
              <a:rPr lang="en-IN" dirty="0" err="1"/>
              <a:t>colored</a:t>
            </a:r>
            <a:r>
              <a:rPr lang="en-IN" dirty="0"/>
              <a:t> part and ignore the white background.</a:t>
            </a:r>
          </a:p>
          <a:p>
            <a:r>
              <a:rPr lang="en-IN" b="1" dirty="0"/>
              <a:t>HSV</a:t>
            </a:r>
            <a:r>
              <a:rPr lang="en-IN" dirty="0"/>
              <a:t> is just another way of describing the </a:t>
            </a:r>
            <a:r>
              <a:rPr lang="en-IN" b="1" dirty="0" err="1"/>
              <a:t>color</a:t>
            </a:r>
            <a:r>
              <a:rPr lang="en-IN" b="1" dirty="0"/>
              <a:t> of a pixel</a:t>
            </a:r>
            <a:r>
              <a:rPr lang="en-IN" dirty="0"/>
              <a:t>.</a:t>
            </a:r>
          </a:p>
          <a:p>
            <a:r>
              <a:rPr lang="en-IN" dirty="0"/>
              <a:t>HSV stands for:</a:t>
            </a:r>
          </a:p>
          <a:p>
            <a:pPr lvl="0"/>
            <a:r>
              <a:rPr lang="en-IN" b="1" dirty="0"/>
              <a:t>H = Hue</a:t>
            </a:r>
            <a:r>
              <a:rPr lang="en-IN" dirty="0"/>
              <a:t> → What </a:t>
            </a:r>
            <a:r>
              <a:rPr lang="en-IN" dirty="0" err="1"/>
              <a:t>color</a:t>
            </a:r>
            <a:r>
              <a:rPr lang="en-IN" dirty="0"/>
              <a:t> is it? </a:t>
            </a:r>
          </a:p>
          <a:p>
            <a:pPr lvl="0"/>
            <a:r>
              <a:rPr lang="en-IN" b="1" dirty="0"/>
              <a:t>S = Saturation</a:t>
            </a:r>
            <a:r>
              <a:rPr lang="en-IN" dirty="0"/>
              <a:t> → How strong/pure is the </a:t>
            </a:r>
            <a:r>
              <a:rPr lang="en-IN" dirty="0" err="1"/>
              <a:t>color</a:t>
            </a:r>
            <a:r>
              <a:rPr lang="en-IN" dirty="0"/>
              <a:t>? </a:t>
            </a:r>
          </a:p>
          <a:p>
            <a:pPr lvl="0"/>
            <a:r>
              <a:rPr lang="en-IN" b="1" dirty="0"/>
              <a:t>V = Value</a:t>
            </a:r>
            <a:r>
              <a:rPr lang="en-IN" dirty="0"/>
              <a:t> → How bright or dark is it?</a:t>
            </a:r>
          </a:p>
          <a:p>
            <a:endParaRPr lang="en-IN" dirty="0"/>
          </a:p>
        </p:txBody>
      </p:sp>
    </p:spTree>
    <p:extLst>
      <p:ext uri="{BB962C8B-B14F-4D97-AF65-F5344CB8AC3E}">
        <p14:creationId xmlns:p14="http://schemas.microsoft.com/office/powerpoint/2010/main" val="2224299034"/>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EB2AE4-5AC5-0244-6F57-0F606E41E802}"/>
              </a:ext>
            </a:extLst>
          </p:cNvPr>
          <p:cNvSpPr>
            <a:spLocks noGrp="1"/>
          </p:cNvSpPr>
          <p:nvPr>
            <p:ph idx="1"/>
          </p:nvPr>
        </p:nvSpPr>
        <p:spPr>
          <a:xfrm>
            <a:off x="838200" y="509954"/>
            <a:ext cx="10515600" cy="5667009"/>
          </a:xfrm>
        </p:spPr>
        <p:txBody>
          <a:bodyPr/>
          <a:lstStyle/>
          <a:p>
            <a:r>
              <a:rPr lang="en-IN" dirty="0"/>
              <a:t>Imagine a red apple:</a:t>
            </a:r>
          </a:p>
          <a:p>
            <a:r>
              <a:rPr lang="en-IN" dirty="0"/>
              <a:t>H </a:t>
            </a:r>
            <a:r>
              <a:rPr lang="en-IN" b="1" dirty="0"/>
              <a:t>(Hue):</a:t>
            </a:r>
            <a:endParaRPr lang="en-IN" dirty="0"/>
          </a:p>
          <a:p>
            <a:r>
              <a:rPr lang="en-IN" dirty="0"/>
              <a:t>"Is this pixel red, green, blue, etc.?"</a:t>
            </a:r>
          </a:p>
          <a:p>
            <a:r>
              <a:rPr lang="en-IN" dirty="0"/>
              <a:t>S </a:t>
            </a:r>
            <a:r>
              <a:rPr lang="en-IN" b="1" dirty="0"/>
              <a:t>(Saturation):</a:t>
            </a:r>
            <a:endParaRPr lang="en-IN" dirty="0"/>
          </a:p>
          <a:p>
            <a:r>
              <a:rPr lang="en-IN" dirty="0"/>
              <a:t>"How strongly red is it?"</a:t>
            </a:r>
          </a:p>
          <a:p>
            <a:pPr lvl="0"/>
            <a:r>
              <a:rPr lang="en-IN" dirty="0"/>
              <a:t>Very red → high saturation </a:t>
            </a:r>
          </a:p>
          <a:p>
            <a:pPr lvl="0"/>
            <a:r>
              <a:rPr lang="en-IN" dirty="0"/>
              <a:t>Pale/light red → low saturation</a:t>
            </a:r>
          </a:p>
          <a:p>
            <a:r>
              <a:rPr lang="en-IN" dirty="0"/>
              <a:t>V </a:t>
            </a:r>
            <a:r>
              <a:rPr lang="en-IN" b="1" dirty="0"/>
              <a:t>(Value):</a:t>
            </a:r>
            <a:endParaRPr lang="en-IN" dirty="0"/>
          </a:p>
          <a:p>
            <a:r>
              <a:rPr lang="en-IN" dirty="0"/>
              <a:t>"How bright is it?"</a:t>
            </a:r>
          </a:p>
          <a:p>
            <a:pPr lvl="0"/>
            <a:r>
              <a:rPr lang="en-IN" dirty="0"/>
              <a:t>Bright red → high value </a:t>
            </a:r>
          </a:p>
          <a:p>
            <a:pPr lvl="0"/>
            <a:r>
              <a:rPr lang="en-IN" dirty="0"/>
              <a:t>Dark red → low value</a:t>
            </a:r>
          </a:p>
          <a:p>
            <a:pPr lvl="0"/>
            <a:endParaRPr lang="en-IN" dirty="0"/>
          </a:p>
          <a:p>
            <a:endParaRPr lang="en-IN" dirty="0"/>
          </a:p>
        </p:txBody>
      </p:sp>
    </p:spTree>
    <p:extLst>
      <p:ext uri="{BB962C8B-B14F-4D97-AF65-F5344CB8AC3E}">
        <p14:creationId xmlns:p14="http://schemas.microsoft.com/office/powerpoint/2010/main" val="962319138"/>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97DAD4C-D6B9-F4BB-5D3E-AA6EA6E4F0F4}"/>
                  </a:ext>
                </a:extLst>
              </p:cNvPr>
              <p:cNvSpPr>
                <a:spLocks noGrp="1"/>
              </p:cNvSpPr>
              <p:nvPr>
                <p:ph idx="1"/>
              </p:nvPr>
            </p:nvSpPr>
            <p:spPr>
              <a:xfrm>
                <a:off x="838200" y="413238"/>
                <a:ext cx="10515600" cy="5763725"/>
              </a:xfrm>
            </p:spPr>
            <p:txBody>
              <a:bodyPr/>
              <a:lstStyle/>
              <a:p>
                <a:r>
                  <a:rPr lang="en-IN" dirty="0"/>
                  <a:t>we can use the </a:t>
                </a:r>
                <a:r>
                  <a:rPr lang="en-IN" dirty="0" err="1"/>
                  <a:t>color</a:t>
                </a:r>
                <a:r>
                  <a:rPr lang="en-IN" dirty="0"/>
                  <a:t> information to separate the apple from the white background.</a:t>
                </a:r>
              </a:p>
              <a:p>
                <a:r>
                  <a:rPr lang="en-IN" b="1" dirty="0"/>
                  <a:t>HSV because it makes it easier to separate the apple from the background based on </a:t>
                </a:r>
                <a:r>
                  <a:rPr lang="en-IN" b="1" dirty="0" err="1"/>
                  <a:t>color</a:t>
                </a:r>
                <a:r>
                  <a:rPr lang="en-IN" dirty="0"/>
                  <a:t>.</a:t>
                </a:r>
              </a:p>
              <a:p>
                <a:r>
                  <a:rPr lang="en-IN" dirty="0"/>
                  <a:t>These two arrays define the </a:t>
                </a:r>
                <a:r>
                  <a:rPr lang="en-IN" b="1" dirty="0"/>
                  <a:t>lower</a:t>
                </a:r>
                <a:r>
                  <a:rPr lang="en-IN" dirty="0"/>
                  <a:t> and </a:t>
                </a:r>
                <a:r>
                  <a:rPr lang="en-IN" b="1" dirty="0"/>
                  <a:t>upper thresholds</a:t>
                </a:r>
                <a:r>
                  <a:rPr lang="en-IN" dirty="0"/>
                  <a:t> for </a:t>
                </a:r>
                <a:r>
                  <a:rPr lang="en-IN" dirty="0" err="1"/>
                  <a:t>color</a:t>
                </a:r>
                <a:r>
                  <a:rPr lang="en-IN" dirty="0"/>
                  <a:t> filtering in the </a:t>
                </a:r>
                <a:r>
                  <a:rPr lang="en-IN" b="1" dirty="0"/>
                  <a:t>HSV (Hue, Saturation, Value)</a:t>
                </a:r>
                <a:r>
                  <a:rPr lang="en-IN" dirty="0"/>
                  <a:t> </a:t>
                </a:r>
                <a:r>
                  <a:rPr lang="en-IN" dirty="0" err="1"/>
                  <a:t>color</a:t>
                </a:r>
                <a:r>
                  <a:rPr lang="en-IN" dirty="0"/>
                  <a:t> space.</a:t>
                </a:r>
              </a:p>
              <a:p>
                <a:r>
                  <a:rPr lang="en-IN" dirty="0"/>
                  <a:t>When passed into cv2.inRange(</a:t>
                </a:r>
                <a:r>
                  <a:rPr lang="en-IN" dirty="0" err="1"/>
                  <a:t>hsv</a:t>
                </a:r>
                <a:r>
                  <a:rPr lang="en-IN" dirty="0"/>
                  <a:t>, lower, upper), OpenCV checks every pixel to see if its </a:t>
                </a:r>
                <a14:m>
                  <m:oMath xmlns:m="http://schemas.openxmlformats.org/officeDocument/2006/math">
                    <m:d>
                      <m:dPr>
                        <m:begChr m:val="["/>
                        <m:endChr m:val="]"/>
                        <m:ctrlPr>
                          <a:rPr lang="en-IN" i="1"/>
                        </m:ctrlPr>
                      </m:dPr>
                      <m:e>
                        <m:r>
                          <a:rPr lang="en-IN" i="1"/>
                          <m:t>𝐻</m:t>
                        </m:r>
                        <m:r>
                          <a:rPr lang="en-IN"/>
                          <m:t>,</m:t>
                        </m:r>
                        <m:r>
                          <a:rPr lang="en-IN" i="1"/>
                          <m:t>𝑆</m:t>
                        </m:r>
                        <m:r>
                          <a:rPr lang="en-IN"/>
                          <m:t>,</m:t>
                        </m:r>
                        <m:r>
                          <a:rPr lang="en-IN" i="1"/>
                          <m:t>𝑉</m:t>
                        </m:r>
                      </m:e>
                    </m:d>
                  </m:oMath>
                </a14:m>
                <a:r>
                  <a:rPr lang="en-IN" dirty="0"/>
                  <a:t>values fall within these boundaries:</a:t>
                </a:r>
              </a:p>
              <a:p>
                <a14:m>
                  <m:oMath xmlns:m="http://schemas.openxmlformats.org/officeDocument/2006/math">
                    <m:r>
                      <m:rPr>
                        <m:nor/>
                      </m:rPr>
                      <a:rPr lang="en-IN"/>
                      <m:t>Pixel is inside mask if: </m:t>
                    </m:r>
                    <m:d>
                      <m:dPr>
                        <m:begChr m:val="{"/>
                        <m:endChr m:val=""/>
                        <m:ctrlPr>
                          <a:rPr lang="en-IN" i="1"/>
                        </m:ctrlPr>
                      </m:dPr>
                      <m:e>
                        <m:m>
                          <m:mPr>
                            <m:mcs>
                              <m:mc>
                                <m:mcPr>
                                  <m:count m:val="1"/>
                                  <m:mcJc m:val="center"/>
                                </m:mcPr>
                              </m:mc>
                            </m:mcs>
                            <m:ctrlPr>
                              <a:rPr lang="en-IN" i="1"/>
                            </m:ctrlPr>
                          </m:mPr>
                          <m:mr>
                            <m:e>
                              <m:r>
                                <a:rPr lang="en-IN"/>
                                <m:t>0≤</m:t>
                              </m:r>
                              <m:r>
                                <a:rPr lang="en-IN" i="1"/>
                                <m:t>𝐻</m:t>
                              </m:r>
                              <m:r>
                                <a:rPr lang="en-IN"/>
                                <m:t>≤179</m:t>
                              </m:r>
                            </m:e>
                          </m:mr>
                          <m:mr>
                            <m:e>
                              <m:r>
                                <a:rPr lang="en-IN"/>
                                <m:t>40≤</m:t>
                              </m:r>
                              <m:r>
                                <a:rPr lang="en-IN" i="1"/>
                                <m:t>𝑆</m:t>
                              </m:r>
                              <m:r>
                                <a:rPr lang="en-IN"/>
                                <m:t>≤255</m:t>
                              </m:r>
                            </m:e>
                          </m:mr>
                          <m:mr>
                            <m:e>
                              <m:r>
                                <a:rPr lang="en-IN"/>
                                <m:t>20≤</m:t>
                              </m:r>
                              <m:r>
                                <a:rPr lang="en-IN" i="1"/>
                                <m:t>𝑉</m:t>
                              </m:r>
                              <m:r>
                                <a:rPr lang="en-IN"/>
                                <m:t>≤255</m:t>
                              </m:r>
                            </m:e>
                          </m:mr>
                        </m:m>
                      </m:e>
                    </m:d>
                  </m:oMath>
                </a14:m>
                <a:endParaRPr lang="en-IN" dirty="0"/>
              </a:p>
              <a:p>
                <a:endParaRPr lang="en-IN" dirty="0"/>
              </a:p>
            </p:txBody>
          </p:sp>
        </mc:Choice>
        <mc:Fallback>
          <p:sp>
            <p:nvSpPr>
              <p:cNvPr id="3" name="Content Placeholder 2">
                <a:extLst>
                  <a:ext uri="{FF2B5EF4-FFF2-40B4-BE49-F238E27FC236}">
                    <a16:creationId xmlns:a16="http://schemas.microsoft.com/office/drawing/2014/main" id="{C97DAD4C-D6B9-F4BB-5D3E-AA6EA6E4F0F4}"/>
                  </a:ext>
                </a:extLst>
              </p:cNvPr>
              <p:cNvSpPr>
                <a:spLocks noGrp="1" noRot="1" noChangeAspect="1" noMove="1" noResize="1" noEditPoints="1" noAdjustHandles="1" noChangeArrowheads="1" noChangeShapeType="1" noTextEdit="1"/>
              </p:cNvSpPr>
              <p:nvPr>
                <p:ph idx="1"/>
              </p:nvPr>
            </p:nvSpPr>
            <p:spPr>
              <a:xfrm>
                <a:off x="838200" y="413238"/>
                <a:ext cx="10515600" cy="5763725"/>
              </a:xfrm>
              <a:blipFill>
                <a:blip r:embed="rId2"/>
                <a:stretch>
                  <a:fillRect l="-1043" t="-1905" r="-58"/>
                </a:stretch>
              </a:blipFill>
            </p:spPr>
            <p:txBody>
              <a:bodyPr/>
              <a:lstStyle/>
              <a:p>
                <a:r>
                  <a:rPr lang="en-IN">
                    <a:noFill/>
                  </a:rPr>
                  <a:t> </a:t>
                </a:r>
              </a:p>
            </p:txBody>
          </p:sp>
        </mc:Fallback>
      </mc:AlternateContent>
    </p:spTree>
    <p:extLst>
      <p:ext uri="{BB962C8B-B14F-4D97-AF65-F5344CB8AC3E}">
        <p14:creationId xmlns:p14="http://schemas.microsoft.com/office/powerpoint/2010/main" val="2342805673"/>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93C95FC-581F-8EC6-FCAD-A401B8C5D572}"/>
                  </a:ext>
                </a:extLst>
              </p:cNvPr>
              <p:cNvSpPr>
                <a:spLocks noGrp="1"/>
              </p:cNvSpPr>
              <p:nvPr>
                <p:ph idx="1"/>
              </p:nvPr>
            </p:nvSpPr>
            <p:spPr>
              <a:xfrm>
                <a:off x="838200" y="0"/>
                <a:ext cx="10515600" cy="6176963"/>
              </a:xfrm>
            </p:spPr>
            <p:txBody>
              <a:bodyPr/>
              <a:lstStyle/>
              <a:p>
                <a:r>
                  <a:rPr lang="en-IN" dirty="0"/>
                  <a:t>Hue (</a:t>
                </a:r>
                <a14:m>
                  <m:oMath xmlns:m="http://schemas.openxmlformats.org/officeDocument/2006/math">
                    <m:r>
                      <a:rPr lang="en-IN" i="1"/>
                      <m:t>𝐻</m:t>
                    </m:r>
                    <m:r>
                      <a:rPr lang="en-IN"/>
                      <m:t>:0→179</m:t>
                    </m:r>
                  </m:oMath>
                </a14:m>
                <a:r>
                  <a:rPr lang="en-IN" dirty="0"/>
                  <a:t>): In OpenCV, Hue is represented on a scale from </a:t>
                </a:r>
                <a14:m>
                  <m:oMath xmlns:m="http://schemas.openxmlformats.org/officeDocument/2006/math">
                    <m:r>
                      <a:rPr lang="en-IN"/>
                      <m:t>0</m:t>
                    </m:r>
                  </m:oMath>
                </a14:m>
                <a:r>
                  <a:rPr lang="en-IN" dirty="0"/>
                  <a:t>to </a:t>
                </a:r>
                <a14:m>
                  <m:oMath xmlns:m="http://schemas.openxmlformats.org/officeDocument/2006/math">
                    <m:r>
                      <a:rPr lang="en-IN"/>
                      <m:t>179</m:t>
                    </m:r>
                  </m:oMath>
                </a14:m>
                <a:r>
                  <a:rPr lang="en-IN" dirty="0"/>
                  <a:t>(covering the full </a:t>
                </a:r>
                <a14:m>
                  <m:oMath xmlns:m="http://schemas.openxmlformats.org/officeDocument/2006/math">
                    <m:sSup>
                      <m:sSupPr>
                        <m:ctrlPr>
                          <a:rPr lang="en-IN"/>
                        </m:ctrlPr>
                      </m:sSupPr>
                      <m:e>
                        <m:r>
                          <a:rPr lang="en-IN"/>
                          <m:t>360</m:t>
                        </m:r>
                      </m:e>
                      <m:sup>
                        <m:r>
                          <a:rPr lang="en-IN"/>
                          <m:t>∘</m:t>
                        </m:r>
                      </m:sup>
                    </m:sSup>
                  </m:oMath>
                </a14:m>
                <a:r>
                  <a:rPr lang="en-IN" dirty="0" err="1"/>
                  <a:t>color</a:t>
                </a:r>
                <a:r>
                  <a:rPr lang="en-IN" dirty="0"/>
                  <a:t> c</a:t>
                </a:r>
              </a:p>
              <a:p>
                <a:r>
                  <a:rPr lang="en-IN" dirty="0"/>
                  <a:t>Setting the range from 0 to 179 means </a:t>
                </a:r>
                <a:r>
                  <a:rPr lang="en-IN" b="1" dirty="0"/>
                  <a:t>all </a:t>
                </a:r>
                <a:r>
                  <a:rPr lang="en-IN" b="1" dirty="0" err="1"/>
                  <a:t>colors</a:t>
                </a:r>
                <a:r>
                  <a:rPr lang="en-IN" b="1" dirty="0"/>
                  <a:t> are allowed</a:t>
                </a:r>
                <a:r>
                  <a:rPr lang="en-IN" dirty="0"/>
                  <a:t> (reds, greens, blues, yellows, etc.). </a:t>
                </a:r>
              </a:p>
              <a:p>
                <a:r>
                  <a:rPr lang="en-IN" dirty="0"/>
                  <a:t>Saturation (</a:t>
                </a:r>
                <a14:m>
                  <m:oMath xmlns:m="http://schemas.openxmlformats.org/officeDocument/2006/math">
                    <m:r>
                      <a:rPr lang="en-IN" i="1"/>
                      <m:t>𝑆</m:t>
                    </m:r>
                    <m:r>
                      <a:rPr lang="en-IN"/>
                      <m:t>:40→255</m:t>
                    </m:r>
                  </m:oMath>
                </a14:m>
                <a:r>
                  <a:rPr lang="en-IN" dirty="0"/>
                  <a:t>):Saturation measures the intensity or purity of a </a:t>
                </a:r>
                <a:r>
                  <a:rPr lang="en-IN" dirty="0" err="1"/>
                  <a:t>color</a:t>
                </a:r>
                <a:r>
                  <a:rPr lang="en-IN" dirty="0"/>
                  <a:t> (</a:t>
                </a:r>
                <a14:m>
                  <m:oMath xmlns:m="http://schemas.openxmlformats.org/officeDocument/2006/math">
                    <m:r>
                      <a:rPr lang="en-IN"/>
                      <m:t>0</m:t>
                    </m:r>
                  </m:oMath>
                </a14:m>
                <a:r>
                  <a:rPr lang="en-IN" dirty="0"/>
                  <a:t> = grayscale/faded, </a:t>
                </a:r>
                <a14:m>
                  <m:oMath xmlns:m="http://schemas.openxmlformats.org/officeDocument/2006/math">
                    <m:r>
                      <a:rPr lang="en-IN"/>
                      <m:t>255</m:t>
                    </m:r>
                  </m:oMath>
                </a14:m>
                <a:r>
                  <a:rPr lang="en-IN" dirty="0"/>
                  <a:t>= fully vibrant).</a:t>
                </a:r>
              </a:p>
              <a:p>
                <a:r>
                  <a:rPr lang="en-IN" dirty="0"/>
                  <a:t>Setting a minimum of 40 filters out </a:t>
                </a:r>
                <a:r>
                  <a:rPr lang="en-IN" b="1" dirty="0"/>
                  <a:t>low-saturation pixels</a:t>
                </a:r>
                <a:r>
                  <a:rPr lang="en-IN" dirty="0"/>
                  <a:t> like pure white, </a:t>
                </a:r>
                <a:r>
                  <a:rPr lang="en-IN" dirty="0" err="1"/>
                  <a:t>gray</a:t>
                </a:r>
                <a:r>
                  <a:rPr lang="en-IN" dirty="0"/>
                  <a:t>, or washed-out background regions, keeping only </a:t>
                </a:r>
                <a:r>
                  <a:rPr lang="en-IN" dirty="0" err="1"/>
                  <a:t>colorful</a:t>
                </a:r>
                <a:r>
                  <a:rPr lang="en-IN" dirty="0"/>
                  <a:t> pixels.</a:t>
                </a:r>
              </a:p>
              <a:p>
                <a:r>
                  <a:rPr lang="en-IN" dirty="0"/>
                  <a:t>Value (</a:t>
                </a:r>
                <a14:m>
                  <m:oMath xmlns:m="http://schemas.openxmlformats.org/officeDocument/2006/math">
                    <m:r>
                      <a:rPr lang="en-IN" i="1"/>
                      <m:t>𝑉</m:t>
                    </m:r>
                    <m:r>
                      <a:rPr lang="en-IN"/>
                      <m:t>:20→255</m:t>
                    </m:r>
                  </m:oMath>
                </a14:m>
                <a:r>
                  <a:rPr lang="en-IN" dirty="0"/>
                  <a:t>): Value represents brightness (</a:t>
                </a:r>
                <a14:m>
                  <m:oMath xmlns:m="http://schemas.openxmlformats.org/officeDocument/2006/math">
                    <m:r>
                      <a:rPr lang="en-IN"/>
                      <m:t>0</m:t>
                    </m:r>
                  </m:oMath>
                </a14:m>
                <a:r>
                  <a:rPr lang="en-IN" dirty="0"/>
                  <a:t> = pitch black, </a:t>
                </a:r>
                <a14:m>
                  <m:oMath xmlns:m="http://schemas.openxmlformats.org/officeDocument/2006/math">
                    <m:r>
                      <a:rPr lang="en-IN"/>
                      <m:t>255</m:t>
                    </m:r>
                  </m:oMath>
                </a14:m>
                <a:r>
                  <a:rPr lang="en-IN" dirty="0"/>
                  <a:t>= bright).</a:t>
                </a:r>
                <a:br>
                  <a:rPr lang="en-IN" dirty="0"/>
                </a:br>
                <a:r>
                  <a:rPr lang="en-IN" dirty="0"/>
                  <a:t>Setting a minimum of 20 filters out </a:t>
                </a:r>
                <a:r>
                  <a:rPr lang="en-IN" b="1" dirty="0"/>
                  <a:t>deep shadows and pitch-black pixels</a:t>
                </a:r>
                <a:r>
                  <a:rPr lang="en-IN" dirty="0"/>
                  <a:t>, keeping everything with moderate to high illumination.</a:t>
                </a:r>
              </a:p>
            </p:txBody>
          </p:sp>
        </mc:Choice>
        <mc:Fallback>
          <p:sp>
            <p:nvSpPr>
              <p:cNvPr id="3" name="Content Placeholder 2">
                <a:extLst>
                  <a:ext uri="{FF2B5EF4-FFF2-40B4-BE49-F238E27FC236}">
                    <a16:creationId xmlns:a16="http://schemas.microsoft.com/office/drawing/2014/main" id="{A93C95FC-581F-8EC6-FCAD-A401B8C5D572}"/>
                  </a:ext>
                </a:extLst>
              </p:cNvPr>
              <p:cNvSpPr>
                <a:spLocks noGrp="1" noRot="1" noChangeAspect="1" noMove="1" noResize="1" noEditPoints="1" noAdjustHandles="1" noChangeArrowheads="1" noChangeShapeType="1" noTextEdit="1"/>
              </p:cNvSpPr>
              <p:nvPr>
                <p:ph idx="1"/>
              </p:nvPr>
            </p:nvSpPr>
            <p:spPr>
              <a:xfrm>
                <a:off x="838200" y="0"/>
                <a:ext cx="10515600" cy="6176963"/>
              </a:xfrm>
              <a:blipFill>
                <a:blip r:embed="rId2"/>
                <a:stretch>
                  <a:fillRect l="-1043" t="-1678" r="-1565"/>
                </a:stretch>
              </a:blipFill>
            </p:spPr>
            <p:txBody>
              <a:bodyPr/>
              <a:lstStyle/>
              <a:p>
                <a:r>
                  <a:rPr lang="en-IN">
                    <a:noFill/>
                  </a:rPr>
                  <a:t> </a:t>
                </a:r>
              </a:p>
            </p:txBody>
          </p:sp>
        </mc:Fallback>
      </mc:AlternateContent>
    </p:spTree>
    <p:extLst>
      <p:ext uri="{BB962C8B-B14F-4D97-AF65-F5344CB8AC3E}">
        <p14:creationId xmlns:p14="http://schemas.microsoft.com/office/powerpoint/2010/main" val="2923410615"/>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67649B-57A2-6485-03DE-B15F27AD7B6F}"/>
              </a:ext>
            </a:extLst>
          </p:cNvPr>
          <p:cNvSpPr>
            <a:spLocks noGrp="1"/>
          </p:cNvSpPr>
          <p:nvPr>
            <p:ph idx="1"/>
          </p:nvPr>
        </p:nvSpPr>
        <p:spPr>
          <a:xfrm>
            <a:off x="838200" y="501162"/>
            <a:ext cx="10515600" cy="5675801"/>
          </a:xfrm>
        </p:spPr>
        <p:txBody>
          <a:bodyPr/>
          <a:lstStyle/>
          <a:p>
            <a:r>
              <a:rPr lang="en-IN" dirty="0"/>
              <a:t>If a spot is too dark to clearly see what </a:t>
            </a:r>
            <a:r>
              <a:rPr lang="en-IN" dirty="0" err="1"/>
              <a:t>color</a:t>
            </a:r>
            <a:r>
              <a:rPr lang="en-IN" dirty="0"/>
              <a:t> it is (under 20), ignore it. If there is enough light to see it (20 or above), keep it.</a:t>
            </a:r>
          </a:p>
          <a:p>
            <a:r>
              <a:rPr lang="en-IN" dirty="0"/>
              <a:t>upper = </a:t>
            </a:r>
            <a:r>
              <a:rPr lang="en-IN" dirty="0" err="1"/>
              <a:t>np.array</a:t>
            </a:r>
            <a:r>
              <a:rPr lang="en-IN" dirty="0"/>
              <a:t>([179, 255, 255]) sets the </a:t>
            </a:r>
            <a:r>
              <a:rPr lang="en-IN" b="1" dirty="0"/>
              <a:t>highest possible limit</a:t>
            </a:r>
            <a:r>
              <a:rPr lang="en-IN" dirty="0"/>
              <a:t> for the </a:t>
            </a:r>
            <a:r>
              <a:rPr lang="en-IN" dirty="0" err="1"/>
              <a:t>color</a:t>
            </a:r>
            <a:r>
              <a:rPr lang="en-IN" dirty="0"/>
              <a:t> filter in OpenCV's HSV system.</a:t>
            </a:r>
          </a:p>
          <a:p>
            <a:r>
              <a:rPr lang="en-IN" dirty="0"/>
              <a:t>It tells the computer: </a:t>
            </a:r>
            <a:r>
              <a:rPr lang="en-IN" b="1" dirty="0"/>
              <a:t>Don't cut off anything at the top—allow the maximum possible of everything.</a:t>
            </a:r>
          </a:p>
          <a:p>
            <a:r>
              <a:rPr lang="en-IN" dirty="0"/>
              <a:t>The Three Numbers Explained</a:t>
            </a:r>
          </a:p>
          <a:p>
            <a:r>
              <a:rPr lang="en-IN" b="1" dirty="0"/>
              <a:t>179 (Hue / </a:t>
            </a:r>
            <a:r>
              <a:rPr lang="en-IN" b="1" dirty="0" err="1"/>
              <a:t>Color</a:t>
            </a:r>
            <a:r>
              <a:rPr lang="en-IN" b="1" dirty="0"/>
              <a:t> Type):</a:t>
            </a:r>
            <a:endParaRPr lang="en-IN" dirty="0"/>
          </a:p>
          <a:p>
            <a:pPr lvl="0"/>
            <a:r>
              <a:rPr lang="en-IN" dirty="0"/>
              <a:t>In OpenCV, all </a:t>
            </a:r>
            <a:r>
              <a:rPr lang="en-IN" dirty="0" err="1"/>
              <a:t>colors</a:t>
            </a:r>
            <a:r>
              <a:rPr lang="en-IN" dirty="0"/>
              <a:t> on the </a:t>
            </a:r>
            <a:r>
              <a:rPr lang="en-IN" dirty="0" err="1"/>
              <a:t>color</a:t>
            </a:r>
            <a:r>
              <a:rPr lang="en-IN" dirty="0"/>
              <a:t> wheel fit between 0 and 179.</a:t>
            </a:r>
          </a:p>
          <a:p>
            <a:pPr lvl="0"/>
            <a:r>
              <a:rPr lang="en-IN" dirty="0"/>
              <a:t>Setting this to </a:t>
            </a:r>
            <a:r>
              <a:rPr lang="en-IN" b="1" dirty="0"/>
              <a:t>179</a:t>
            </a:r>
            <a:r>
              <a:rPr lang="en-IN" dirty="0"/>
              <a:t> means: </a:t>
            </a:r>
            <a:r>
              <a:rPr lang="en-IN" i="1" dirty="0"/>
              <a:t>"Allow every </a:t>
            </a:r>
            <a:r>
              <a:rPr lang="en-IN" i="1" dirty="0" err="1"/>
              <a:t>color</a:t>
            </a:r>
            <a:r>
              <a:rPr lang="en-IN" i="1" dirty="0"/>
              <a:t> up to the very end of the </a:t>
            </a:r>
            <a:r>
              <a:rPr lang="en-IN" i="1" dirty="0" err="1"/>
              <a:t>color</a:t>
            </a:r>
            <a:r>
              <a:rPr lang="en-IN" i="1" dirty="0"/>
              <a:t> wheel."</a:t>
            </a:r>
            <a:endParaRPr lang="en-IN" dirty="0"/>
          </a:p>
          <a:p>
            <a:endParaRPr lang="en-IN" b="1" dirty="0"/>
          </a:p>
          <a:p>
            <a:endParaRPr lang="en-IN" dirty="0"/>
          </a:p>
        </p:txBody>
      </p:sp>
    </p:spTree>
    <p:extLst>
      <p:ext uri="{BB962C8B-B14F-4D97-AF65-F5344CB8AC3E}">
        <p14:creationId xmlns:p14="http://schemas.microsoft.com/office/powerpoint/2010/main" val="2448160323"/>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6A5121-BB97-2434-4FF9-F7DC15736141}"/>
              </a:ext>
            </a:extLst>
          </p:cNvPr>
          <p:cNvSpPr>
            <a:spLocks noGrp="1"/>
          </p:cNvSpPr>
          <p:nvPr>
            <p:ph idx="1"/>
          </p:nvPr>
        </p:nvSpPr>
        <p:spPr>
          <a:xfrm>
            <a:off x="838200" y="624254"/>
            <a:ext cx="10515600" cy="5552709"/>
          </a:xfrm>
        </p:spPr>
        <p:txBody>
          <a:bodyPr/>
          <a:lstStyle/>
          <a:p>
            <a:r>
              <a:rPr lang="en-IN" b="1" dirty="0"/>
              <a:t>255 (Saturation / </a:t>
            </a:r>
            <a:r>
              <a:rPr lang="en-IN" b="1" dirty="0" err="1"/>
              <a:t>Color</a:t>
            </a:r>
            <a:r>
              <a:rPr lang="en-IN" b="1" dirty="0"/>
              <a:t> Richness):</a:t>
            </a:r>
            <a:endParaRPr lang="en-IN" dirty="0"/>
          </a:p>
          <a:p>
            <a:pPr lvl="0"/>
            <a:r>
              <a:rPr lang="en-IN" dirty="0"/>
              <a:t>Saturation goes from 0 (faded/</a:t>
            </a:r>
            <a:r>
              <a:rPr lang="en-IN" dirty="0" err="1"/>
              <a:t>gray</a:t>
            </a:r>
            <a:r>
              <a:rPr lang="en-IN" dirty="0"/>
              <a:t>) to 255 (super rich and vibrant).</a:t>
            </a:r>
          </a:p>
          <a:p>
            <a:pPr lvl="0"/>
            <a:r>
              <a:rPr lang="en-IN" dirty="0"/>
              <a:t>Setting this to </a:t>
            </a:r>
            <a:r>
              <a:rPr lang="en-IN" b="1" dirty="0"/>
              <a:t>255</a:t>
            </a:r>
            <a:r>
              <a:rPr lang="en-IN" dirty="0"/>
              <a:t> means: </a:t>
            </a:r>
            <a:r>
              <a:rPr lang="en-IN" i="1" dirty="0"/>
              <a:t>"Allow the most vibrant, intense </a:t>
            </a:r>
            <a:r>
              <a:rPr lang="en-IN" i="1" dirty="0" err="1"/>
              <a:t>colors</a:t>
            </a:r>
            <a:r>
              <a:rPr lang="en-IN" i="1" dirty="0"/>
              <a:t> possible.“</a:t>
            </a:r>
          </a:p>
          <a:p>
            <a:r>
              <a:rPr lang="en-IN" b="1" dirty="0"/>
              <a:t>255 (Value / Brightness):</a:t>
            </a:r>
            <a:endParaRPr lang="en-IN" dirty="0"/>
          </a:p>
          <a:p>
            <a:pPr lvl="0"/>
            <a:r>
              <a:rPr lang="en-IN" dirty="0"/>
              <a:t>Brightness goes from 0 (pitch black) to 255 (maximum light).</a:t>
            </a:r>
          </a:p>
          <a:p>
            <a:pPr lvl="0"/>
            <a:r>
              <a:rPr lang="en-IN" dirty="0"/>
              <a:t>Setting this to </a:t>
            </a:r>
            <a:r>
              <a:rPr lang="en-IN" b="1" dirty="0"/>
              <a:t>255</a:t>
            </a:r>
            <a:r>
              <a:rPr lang="en-IN" dirty="0"/>
              <a:t> means: </a:t>
            </a:r>
            <a:r>
              <a:rPr lang="en-IN" i="1" dirty="0"/>
              <a:t>"Allow the brightest, most lit-up pixels possible."</a:t>
            </a:r>
            <a:endParaRPr lang="en-IN" dirty="0"/>
          </a:p>
          <a:p>
            <a:pPr lvl="0"/>
            <a:endParaRPr lang="en-IN" dirty="0"/>
          </a:p>
          <a:p>
            <a:endParaRPr lang="en-IN" dirty="0"/>
          </a:p>
        </p:txBody>
      </p:sp>
    </p:spTree>
    <p:extLst>
      <p:ext uri="{BB962C8B-B14F-4D97-AF65-F5344CB8AC3E}">
        <p14:creationId xmlns:p14="http://schemas.microsoft.com/office/powerpoint/2010/main" val="2537720822"/>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C90BCC8-FABF-9EAD-D3FD-C84C2FDBBC6C}"/>
                  </a:ext>
                </a:extLst>
              </p:cNvPr>
              <p:cNvSpPr>
                <a:spLocks noGrp="1"/>
              </p:cNvSpPr>
              <p:nvPr>
                <p:ph idx="1"/>
              </p:nvPr>
            </p:nvSpPr>
            <p:spPr>
              <a:xfrm>
                <a:off x="838200" y="325315"/>
                <a:ext cx="10515600" cy="5851648"/>
              </a:xfrm>
            </p:spPr>
            <p:txBody>
              <a:bodyPr/>
              <a:lstStyle/>
              <a:p>
                <a:r>
                  <a:rPr lang="en-IN" dirty="0"/>
                  <a:t>Do not block anything for being too bright, too </a:t>
                </a:r>
                <a:r>
                  <a:rPr lang="en-IN" dirty="0" err="1"/>
                  <a:t>colorful</a:t>
                </a:r>
                <a:r>
                  <a:rPr lang="en-IN" dirty="0"/>
                  <a:t>, or the wrong shade.</a:t>
                </a:r>
              </a:p>
              <a:p>
                <a:r>
                  <a:rPr lang="en-IN" dirty="0"/>
                  <a:t>cv2.inRange(</a:t>
                </a:r>
                <a:r>
                  <a:rPr lang="en-IN" dirty="0" err="1"/>
                  <a:t>hsv</a:t>
                </a:r>
                <a:r>
                  <a:rPr lang="en-IN" dirty="0"/>
                  <a:t>, lower, upper) acts like a </a:t>
                </a:r>
                <a:r>
                  <a:rPr lang="en-IN" b="1" dirty="0" err="1"/>
                  <a:t>color</a:t>
                </a:r>
                <a:r>
                  <a:rPr lang="en-IN" b="1" dirty="0"/>
                  <a:t> filter</a:t>
                </a:r>
                <a:r>
                  <a:rPr lang="en-IN" dirty="0"/>
                  <a:t> or a </a:t>
                </a:r>
                <a:r>
                  <a:rPr lang="en-IN" b="1" dirty="0"/>
                  <a:t>bouncer at a door</a:t>
                </a:r>
                <a:r>
                  <a:rPr lang="en-IN" dirty="0"/>
                  <a:t>.</a:t>
                </a:r>
              </a:p>
              <a:p>
                <a:r>
                  <a:rPr lang="en-IN" dirty="0"/>
                  <a:t>It looks at every single pixel in your image one by one and asks a simple question:</a:t>
                </a:r>
              </a:p>
              <a:p>
                <a:r>
                  <a:rPr lang="en-IN" dirty="0"/>
                  <a:t>"Is this pixel's </a:t>
                </a:r>
                <a:r>
                  <a:rPr lang="en-IN" dirty="0" err="1"/>
                  <a:t>color</a:t>
                </a:r>
                <a:r>
                  <a:rPr lang="en-IN" dirty="0"/>
                  <a:t> between my lower and upper limits?“</a:t>
                </a:r>
              </a:p>
              <a:p>
                <a:r>
                  <a:rPr lang="en-IN" dirty="0"/>
                  <a:t>How It Works:</a:t>
                </a:r>
              </a:p>
              <a:p>
                <a:r>
                  <a:rPr lang="en-IN" b="1" dirty="0"/>
                  <a:t>YES (Pixel fits inside the range):</a:t>
                </a:r>
                <a:r>
                  <a:rPr lang="en-IN" dirty="0"/>
                  <a:t> The computer turns that pixel </a:t>
                </a:r>
                <a:r>
                  <a:rPr lang="en-IN" b="1" dirty="0"/>
                  <a:t>Pure White</a:t>
                </a:r>
                <a:r>
                  <a:rPr lang="en-IN" dirty="0"/>
                  <a:t> (</a:t>
                </a:r>
                <a14:m>
                  <m:oMath xmlns:m="http://schemas.openxmlformats.org/officeDocument/2006/math">
                    <m:r>
                      <a:rPr lang="en-IN"/>
                      <m:t>255</m:t>
                    </m:r>
                  </m:oMath>
                </a14:m>
                <a:r>
                  <a:rPr lang="en-IN" dirty="0"/>
                  <a:t>). This marks it as part of the apple.</a:t>
                </a:r>
              </a:p>
              <a:p>
                <a:r>
                  <a:rPr lang="en-IN" b="1" dirty="0"/>
                  <a:t>NO (Pixel is outside the range):</a:t>
                </a:r>
                <a:r>
                  <a:rPr lang="en-IN" dirty="0"/>
                  <a:t> The computer turns that pixel </a:t>
                </a:r>
                <a:r>
                  <a:rPr lang="en-IN" b="1" dirty="0"/>
                  <a:t>Pure Black</a:t>
                </a:r>
                <a:r>
                  <a:rPr lang="en-IN" dirty="0"/>
                  <a:t> (</a:t>
                </a:r>
                <a14:m>
                  <m:oMath xmlns:m="http://schemas.openxmlformats.org/officeDocument/2006/math">
                    <m:r>
                      <a:rPr lang="en-IN"/>
                      <m:t>0</m:t>
                    </m:r>
                  </m:oMath>
                </a14:m>
                <a:r>
                  <a:rPr lang="en-IN" dirty="0"/>
                  <a:t>). This marks it as background to ignore.</a:t>
                </a:r>
              </a:p>
            </p:txBody>
          </p:sp>
        </mc:Choice>
        <mc:Fallback>
          <p:sp>
            <p:nvSpPr>
              <p:cNvPr id="3" name="Content Placeholder 2">
                <a:extLst>
                  <a:ext uri="{FF2B5EF4-FFF2-40B4-BE49-F238E27FC236}">
                    <a16:creationId xmlns:a16="http://schemas.microsoft.com/office/drawing/2014/main" id="{CC90BCC8-FABF-9EAD-D3FD-C84C2FDBBC6C}"/>
                  </a:ext>
                </a:extLst>
              </p:cNvPr>
              <p:cNvSpPr>
                <a:spLocks noGrp="1" noRot="1" noChangeAspect="1" noMove="1" noResize="1" noEditPoints="1" noAdjustHandles="1" noChangeArrowheads="1" noChangeShapeType="1" noTextEdit="1"/>
              </p:cNvSpPr>
              <p:nvPr>
                <p:ph idx="1"/>
              </p:nvPr>
            </p:nvSpPr>
            <p:spPr>
              <a:xfrm>
                <a:off x="838200" y="325315"/>
                <a:ext cx="10515600" cy="5851648"/>
              </a:xfrm>
              <a:blipFill>
                <a:blip r:embed="rId2"/>
                <a:stretch>
                  <a:fillRect l="-1043" t="-1771" r="-1739"/>
                </a:stretch>
              </a:blipFill>
            </p:spPr>
            <p:txBody>
              <a:bodyPr/>
              <a:lstStyle/>
              <a:p>
                <a:r>
                  <a:rPr lang="en-IN">
                    <a:noFill/>
                  </a:rPr>
                  <a:t> </a:t>
                </a:r>
              </a:p>
            </p:txBody>
          </p:sp>
        </mc:Fallback>
      </mc:AlternateContent>
    </p:spTree>
    <p:extLst>
      <p:ext uri="{BB962C8B-B14F-4D97-AF65-F5344CB8AC3E}">
        <p14:creationId xmlns:p14="http://schemas.microsoft.com/office/powerpoint/2010/main" val="2443271128"/>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6DA755E-A216-7AB3-9942-6DE7F1A89EF7}"/>
                  </a:ext>
                </a:extLst>
              </p:cNvPr>
              <p:cNvSpPr>
                <a:spLocks noGrp="1"/>
              </p:cNvSpPr>
              <p:nvPr>
                <p:ph idx="1"/>
              </p:nvPr>
            </p:nvSpPr>
            <p:spPr>
              <a:xfrm>
                <a:off x="838200" y="597877"/>
                <a:ext cx="10515600" cy="5579086"/>
              </a:xfrm>
            </p:spPr>
            <p:txBody>
              <a:bodyPr/>
              <a:lstStyle/>
              <a:p>
                <a:r>
                  <a:rPr lang="en-IN" dirty="0"/>
                  <a:t>The Final Result: A "Mask“</a:t>
                </a:r>
              </a:p>
              <a:p>
                <a:r>
                  <a:rPr lang="en-IN" dirty="0"/>
                  <a:t>The output mask is just a simple </a:t>
                </a:r>
                <a:r>
                  <a:rPr lang="en-IN" b="1" dirty="0"/>
                  <a:t>black-and-white picture</a:t>
                </a:r>
                <a:r>
                  <a:rPr lang="en-IN" dirty="0"/>
                  <a:t>:</a:t>
                </a:r>
              </a:p>
              <a:p>
                <a:r>
                  <a:rPr lang="en-IN" dirty="0"/>
                  <a:t>The </a:t>
                </a:r>
                <a:r>
                  <a:rPr lang="en-IN" b="1" dirty="0"/>
                  <a:t>apple</a:t>
                </a:r>
                <a:r>
                  <a:rPr lang="en-IN" dirty="0"/>
                  <a:t> shows up as a bright white shape.</a:t>
                </a:r>
              </a:p>
              <a:p>
                <a:r>
                  <a:rPr lang="en-IN" dirty="0"/>
                  <a:t>The </a:t>
                </a:r>
                <a:r>
                  <a:rPr lang="en-IN" b="1" dirty="0"/>
                  <a:t>background</a:t>
                </a:r>
                <a:r>
                  <a:rPr lang="en-IN" dirty="0"/>
                  <a:t> becomes completely black.</a:t>
                </a:r>
              </a:p>
              <a:p>
                <a:r>
                  <a:rPr lang="en-IN" dirty="0"/>
                  <a:t>This makes it super easy for the next lines of code to find the exact outline of the apple.</a:t>
                </a:r>
              </a:p>
              <a:p>
                <a:r>
                  <a:rPr lang="en-IN" dirty="0"/>
                  <a:t>It is a </a:t>
                </a:r>
                <a:r>
                  <a:rPr lang="en-IN" b="1" dirty="0"/>
                  <a:t>yes-or-no test</a:t>
                </a:r>
                <a:r>
                  <a:rPr lang="en-IN" dirty="0"/>
                  <a:t> for every single pixel in your image:</a:t>
                </a:r>
              </a:p>
              <a:p>
                <a:r>
                  <a:rPr lang="en-IN" b="1" dirty="0"/>
                  <a:t>Is the pixel within the </a:t>
                </a:r>
                <a:r>
                  <a:rPr lang="en-IN" b="1" dirty="0" err="1"/>
                  <a:t>color</a:t>
                </a:r>
                <a:r>
                  <a:rPr lang="en-IN" b="1" dirty="0"/>
                  <a:t> range?</a:t>
                </a:r>
                <a:endParaRPr lang="en-IN" dirty="0"/>
              </a:p>
              <a:p>
                <a:r>
                  <a:rPr lang="en-IN" b="1" dirty="0"/>
                  <a:t>YES</a:t>
                </a:r>
                <a:r>
                  <a:rPr lang="en-IN" dirty="0"/>
                  <a:t> </a:t>
                </a:r>
                <a14:m>
                  <m:oMath xmlns:m="http://schemas.openxmlformats.org/officeDocument/2006/math">
                    <m:r>
                      <a:rPr lang="en-IN"/>
                      <m:t>→</m:t>
                    </m:r>
                  </m:oMath>
                </a14:m>
                <a:r>
                  <a:rPr lang="en-IN" dirty="0"/>
                  <a:t>Turn it </a:t>
                </a:r>
                <a:r>
                  <a:rPr lang="en-IN" b="1" dirty="0"/>
                  <a:t>WHITE</a:t>
                </a:r>
                <a:r>
                  <a:rPr lang="en-IN" dirty="0"/>
                  <a:t> (This is the apple).</a:t>
                </a:r>
              </a:p>
              <a:p>
                <a:r>
                  <a:rPr lang="en-IN" b="1" dirty="0"/>
                  <a:t>NO</a:t>
                </a:r>
                <a:r>
                  <a:rPr lang="en-IN" dirty="0"/>
                  <a:t> </a:t>
                </a:r>
                <a14:m>
                  <m:oMath xmlns:m="http://schemas.openxmlformats.org/officeDocument/2006/math">
                    <m:r>
                      <a:rPr lang="en-IN"/>
                      <m:t>→</m:t>
                    </m:r>
                  </m:oMath>
                </a14:m>
                <a:r>
                  <a:rPr lang="en-IN" dirty="0"/>
                  <a:t>Turn it </a:t>
                </a:r>
                <a:r>
                  <a:rPr lang="en-IN" b="1" dirty="0"/>
                  <a:t>BLACK</a:t>
                </a:r>
                <a:r>
                  <a:rPr lang="en-IN" dirty="0"/>
                  <a:t> (This is the background).</a:t>
                </a:r>
              </a:p>
              <a:p>
                <a:endParaRPr lang="en-IN" dirty="0"/>
              </a:p>
              <a:p>
                <a:endParaRPr lang="en-IN" dirty="0"/>
              </a:p>
            </p:txBody>
          </p:sp>
        </mc:Choice>
        <mc:Fallback>
          <p:sp>
            <p:nvSpPr>
              <p:cNvPr id="3" name="Content Placeholder 2">
                <a:extLst>
                  <a:ext uri="{FF2B5EF4-FFF2-40B4-BE49-F238E27FC236}">
                    <a16:creationId xmlns:a16="http://schemas.microsoft.com/office/drawing/2014/main" id="{56DA755E-A216-7AB3-9942-6DE7F1A89EF7}"/>
                  </a:ext>
                </a:extLst>
              </p:cNvPr>
              <p:cNvSpPr>
                <a:spLocks noGrp="1" noRot="1" noChangeAspect="1" noMove="1" noResize="1" noEditPoints="1" noAdjustHandles="1" noChangeArrowheads="1" noChangeShapeType="1" noTextEdit="1"/>
              </p:cNvSpPr>
              <p:nvPr>
                <p:ph idx="1"/>
              </p:nvPr>
            </p:nvSpPr>
            <p:spPr>
              <a:xfrm>
                <a:off x="838200" y="597877"/>
                <a:ext cx="10515600" cy="5579086"/>
              </a:xfrm>
              <a:blipFill>
                <a:blip r:embed="rId2"/>
                <a:stretch>
                  <a:fillRect l="-1043" t="-1858" r="-1217"/>
                </a:stretch>
              </a:blipFill>
            </p:spPr>
            <p:txBody>
              <a:bodyPr/>
              <a:lstStyle/>
              <a:p>
                <a:r>
                  <a:rPr lang="en-IN">
                    <a:noFill/>
                  </a:rPr>
                  <a:t> </a:t>
                </a:r>
              </a:p>
            </p:txBody>
          </p:sp>
        </mc:Fallback>
      </mc:AlternateContent>
    </p:spTree>
    <p:extLst>
      <p:ext uri="{BB962C8B-B14F-4D97-AF65-F5344CB8AC3E}">
        <p14:creationId xmlns:p14="http://schemas.microsoft.com/office/powerpoint/2010/main" val="4246305274"/>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74D5EC-BEA8-9B03-1015-B6F004B80D1E}"/>
              </a:ext>
            </a:extLst>
          </p:cNvPr>
          <p:cNvSpPr>
            <a:spLocks noGrp="1"/>
          </p:cNvSpPr>
          <p:nvPr>
            <p:ph idx="1"/>
          </p:nvPr>
        </p:nvSpPr>
        <p:spPr>
          <a:xfrm>
            <a:off x="838200" y="386862"/>
            <a:ext cx="10515600" cy="5790101"/>
          </a:xfrm>
        </p:spPr>
        <p:txBody>
          <a:bodyPr/>
          <a:lstStyle/>
          <a:p>
            <a:r>
              <a:rPr lang="en-IN" dirty="0"/>
              <a:t>This creates a </a:t>
            </a:r>
            <a:r>
              <a:rPr lang="en-IN" b="1" dirty="0"/>
              <a:t>tiny 5×5 pixel eraser/paintbrush tool</a:t>
            </a:r>
            <a:r>
              <a:rPr lang="en-IN" dirty="0"/>
              <a:t> made of all 1s.</a:t>
            </a:r>
          </a:p>
          <a:p>
            <a:r>
              <a:rPr lang="en-IN" dirty="0"/>
              <a:t>The computer slides this small square across the image to </a:t>
            </a:r>
            <a:r>
              <a:rPr lang="en-IN" b="1" dirty="0"/>
              <a:t>clean up messy spots</a:t>
            </a:r>
            <a:r>
              <a:rPr lang="en-IN" dirty="0"/>
              <a:t>:</a:t>
            </a:r>
          </a:p>
          <a:p>
            <a:r>
              <a:rPr lang="en-IN" dirty="0"/>
              <a:t>It rubs out tiny specks of dust (dots outside the apple).</a:t>
            </a:r>
          </a:p>
          <a:p>
            <a:r>
              <a:rPr lang="en-IN" dirty="0"/>
              <a:t>It fills in tiny holes or gaps (dots inside the apple).</a:t>
            </a:r>
          </a:p>
          <a:p>
            <a:r>
              <a:rPr lang="en-IN" b="1" dirty="0"/>
              <a:t>In short:</a:t>
            </a:r>
            <a:r>
              <a:rPr lang="en-IN" dirty="0"/>
              <a:t> It is the "brush" size used for cleaning up the black-and-white mask.</a:t>
            </a:r>
          </a:p>
          <a:p>
            <a:r>
              <a:rPr lang="en-IN" dirty="0"/>
              <a:t>cv2.RETR_EXTERNAL: Only find the outermost contours</a:t>
            </a:r>
          </a:p>
          <a:p>
            <a:endParaRPr lang="en-IN" dirty="0"/>
          </a:p>
          <a:p>
            <a:endParaRPr lang="en-IN" dirty="0"/>
          </a:p>
          <a:p>
            <a:endParaRPr lang="en-IN" dirty="0"/>
          </a:p>
        </p:txBody>
      </p:sp>
    </p:spTree>
    <p:extLst>
      <p:ext uri="{BB962C8B-B14F-4D97-AF65-F5344CB8AC3E}">
        <p14:creationId xmlns:p14="http://schemas.microsoft.com/office/powerpoint/2010/main" val="2939095643"/>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304DE-FB3F-DD17-3505-4B0A79EC477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4C31A9F-F9A7-AF10-E5B8-186510AC4DBB}"/>
              </a:ext>
            </a:extLst>
          </p:cNvPr>
          <p:cNvSpPr>
            <a:spLocks noGrp="1"/>
          </p:cNvSpPr>
          <p:nvPr>
            <p:ph idx="1"/>
          </p:nvPr>
        </p:nvSpPr>
        <p:spPr/>
        <p:txBody>
          <a:bodyPr>
            <a:normAutofit lnSpcReduction="10000"/>
          </a:bodyPr>
          <a:lstStyle/>
          <a:p>
            <a:r>
              <a:rPr lang="en-IN" dirty="0"/>
              <a:t>Eg: Imagine a white object with a black hole:</a:t>
            </a:r>
          </a:p>
          <a:p>
            <a:r>
              <a:rPr lang="en-IN" dirty="0"/>
              <a:t>There are </a:t>
            </a:r>
            <a:r>
              <a:rPr lang="en-IN" b="1" dirty="0"/>
              <a:t>two boundaries</a:t>
            </a:r>
            <a:r>
              <a:rPr lang="en-IN" dirty="0"/>
              <a:t>:</a:t>
            </a:r>
          </a:p>
          <a:p>
            <a:pPr lvl="0"/>
            <a:r>
              <a:rPr lang="en-IN" dirty="0"/>
              <a:t>The </a:t>
            </a:r>
            <a:r>
              <a:rPr lang="en-IN" b="1" dirty="0"/>
              <a:t>outer boundary</a:t>
            </a:r>
            <a:r>
              <a:rPr lang="en-IN" dirty="0"/>
              <a:t> of the object </a:t>
            </a:r>
          </a:p>
          <a:p>
            <a:pPr lvl="0"/>
            <a:r>
              <a:rPr lang="en-IN" dirty="0"/>
              <a:t>The </a:t>
            </a:r>
            <a:r>
              <a:rPr lang="en-IN" b="1" dirty="0"/>
              <a:t>inner boundary</a:t>
            </a:r>
            <a:r>
              <a:rPr lang="en-IN" dirty="0"/>
              <a:t> around the hole</a:t>
            </a:r>
          </a:p>
          <a:p>
            <a:r>
              <a:rPr lang="en-IN" dirty="0"/>
              <a:t>111111111</a:t>
            </a:r>
          </a:p>
          <a:p>
            <a:r>
              <a:rPr lang="en-IN" dirty="0"/>
              <a:t>111000111</a:t>
            </a:r>
          </a:p>
          <a:p>
            <a:r>
              <a:rPr lang="en-IN" dirty="0"/>
              <a:t>110000011</a:t>
            </a:r>
          </a:p>
          <a:p>
            <a:r>
              <a:rPr lang="en-IN" dirty="0"/>
              <a:t>111000111</a:t>
            </a:r>
          </a:p>
          <a:p>
            <a:r>
              <a:rPr lang="en-IN" dirty="0"/>
              <a:t>111111111</a:t>
            </a:r>
          </a:p>
        </p:txBody>
      </p:sp>
    </p:spTree>
    <p:extLst>
      <p:ext uri="{BB962C8B-B14F-4D97-AF65-F5344CB8AC3E}">
        <p14:creationId xmlns:p14="http://schemas.microsoft.com/office/powerpoint/2010/main" val="533717545"/>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455FC7-B53D-9AFA-8EE8-B130288F68A0}"/>
              </a:ext>
            </a:extLst>
          </p:cNvPr>
          <p:cNvSpPr>
            <a:spLocks noGrp="1"/>
          </p:cNvSpPr>
          <p:nvPr>
            <p:ph idx="1"/>
          </p:nvPr>
        </p:nvSpPr>
        <p:spPr>
          <a:xfrm>
            <a:off x="838200" y="606669"/>
            <a:ext cx="10515600" cy="5570294"/>
          </a:xfrm>
        </p:spPr>
        <p:txBody>
          <a:bodyPr/>
          <a:lstStyle/>
          <a:p>
            <a:r>
              <a:rPr lang="en-IN" dirty="0"/>
              <a:t>Here 1 = object and 0 = background.</a:t>
            </a:r>
          </a:p>
          <a:p>
            <a:r>
              <a:rPr lang="en-IN" dirty="0"/>
              <a:t>What OpenCV does roughly</a:t>
            </a:r>
          </a:p>
          <a:p>
            <a:r>
              <a:rPr lang="en-IN" dirty="0"/>
              <a:t>It scans the image </a:t>
            </a:r>
            <a:r>
              <a:rPr lang="en-IN" b="1" dirty="0"/>
              <a:t>row by row</a:t>
            </a:r>
            <a:r>
              <a:rPr lang="en-IN" dirty="0"/>
              <a:t>.</a:t>
            </a:r>
          </a:p>
          <a:p>
            <a:r>
              <a:rPr lang="en-IN" dirty="0"/>
              <a:t>When it encounters a transition like:</a:t>
            </a:r>
          </a:p>
          <a:p>
            <a:pPr marL="0" indent="0">
              <a:buNone/>
            </a:pPr>
            <a:r>
              <a:rPr lang="en-US" dirty="0"/>
              <a:t>0 0 0 1 1 1</a:t>
            </a:r>
          </a:p>
          <a:p>
            <a:pPr marL="0" indent="0">
              <a:buNone/>
            </a:pPr>
            <a:r>
              <a:rPr lang="en-US" dirty="0"/>
              <a:t>           ↑</a:t>
            </a:r>
          </a:p>
          <a:p>
            <a:pPr marL="0" indent="0">
              <a:buNone/>
            </a:pPr>
            <a:r>
              <a:rPr lang="en-US" dirty="0"/>
              <a:t>   boundary</a:t>
            </a:r>
          </a:p>
          <a:p>
            <a:r>
              <a:rPr lang="en-IN" dirty="0"/>
              <a:t>it knows:</a:t>
            </a:r>
          </a:p>
          <a:p>
            <a:r>
              <a:rPr lang="en-IN" dirty="0"/>
              <a:t>"I just entered an object. This is an outer boundary."</a:t>
            </a:r>
          </a:p>
          <a:p>
            <a:pPr marL="0" indent="0">
              <a:buNone/>
            </a:pPr>
            <a:endParaRPr lang="en-IN" dirty="0"/>
          </a:p>
        </p:txBody>
      </p:sp>
    </p:spTree>
    <p:extLst>
      <p:ext uri="{BB962C8B-B14F-4D97-AF65-F5344CB8AC3E}">
        <p14:creationId xmlns:p14="http://schemas.microsoft.com/office/powerpoint/2010/main" val="3507634630"/>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B6C59C-0D43-5725-7C28-04A04B672FBC}"/>
              </a:ext>
            </a:extLst>
          </p:cNvPr>
          <p:cNvSpPr>
            <a:spLocks noGrp="1"/>
          </p:cNvSpPr>
          <p:nvPr>
            <p:ph idx="1"/>
          </p:nvPr>
        </p:nvSpPr>
        <p:spPr>
          <a:xfrm>
            <a:off x="838200" y="413238"/>
            <a:ext cx="10515600" cy="5763725"/>
          </a:xfrm>
        </p:spPr>
        <p:txBody>
          <a:bodyPr/>
          <a:lstStyle/>
          <a:p>
            <a:r>
              <a:rPr lang="en-IN" dirty="0"/>
              <a:t>If later it encounters a boundary </a:t>
            </a:r>
            <a:r>
              <a:rPr lang="en-IN" b="1" dirty="0"/>
              <a:t>inside an already detected object</a:t>
            </a:r>
            <a:r>
              <a:rPr lang="en-IN" dirty="0"/>
              <a:t>, that's an inner/nested contour:</a:t>
            </a:r>
          </a:p>
          <a:p>
            <a:pPr marL="0" indent="0">
              <a:buNone/>
            </a:pPr>
            <a:r>
              <a:rPr lang="en-IN" dirty="0"/>
              <a:t>111111111</a:t>
            </a:r>
          </a:p>
          <a:p>
            <a:pPr marL="0" indent="0">
              <a:buNone/>
            </a:pPr>
            <a:r>
              <a:rPr lang="en-IN" dirty="0"/>
              <a:t>111000111</a:t>
            </a:r>
          </a:p>
          <a:p>
            <a:pPr marL="0" indent="0">
              <a:buNone/>
            </a:pPr>
            <a:r>
              <a:rPr lang="en-IN" dirty="0"/>
              <a:t>       ↑</a:t>
            </a:r>
          </a:p>
          <a:p>
            <a:pPr marL="0" indent="0">
              <a:buNone/>
            </a:pPr>
            <a:r>
              <a:rPr lang="en-IN" dirty="0"/>
              <a:t> inner boundary</a:t>
            </a:r>
          </a:p>
          <a:p>
            <a:pPr marL="0" indent="0">
              <a:buNone/>
            </a:pPr>
            <a:r>
              <a:rPr lang="en-IN" dirty="0"/>
              <a:t>OpenCV can detect that relationship while tracing the boundaries.</a:t>
            </a:r>
          </a:p>
          <a:p>
            <a:r>
              <a:rPr lang="en-IN" b="1" dirty="0"/>
              <a:t>So RETR_EXTERNAL basically says:</a:t>
            </a:r>
          </a:p>
          <a:p>
            <a:r>
              <a:rPr lang="en-IN" b="1" dirty="0"/>
              <a:t>"If a contour is inside another contour, don't return it. Only return contours that don't have an outer contour containing them."</a:t>
            </a:r>
            <a:endParaRPr lang="en-IN" dirty="0"/>
          </a:p>
          <a:p>
            <a:pPr marL="0" indent="0">
              <a:buNone/>
            </a:pPr>
            <a:endParaRPr lang="en-IN" dirty="0"/>
          </a:p>
        </p:txBody>
      </p:sp>
    </p:spTree>
    <p:extLst>
      <p:ext uri="{BB962C8B-B14F-4D97-AF65-F5344CB8AC3E}">
        <p14:creationId xmlns:p14="http://schemas.microsoft.com/office/powerpoint/2010/main" val="4202360207"/>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7EE037-029B-4099-27EC-81A8672AD8F4}"/>
              </a:ext>
            </a:extLst>
          </p:cNvPr>
          <p:cNvSpPr>
            <a:spLocks noGrp="1"/>
          </p:cNvSpPr>
          <p:nvPr>
            <p:ph idx="1"/>
          </p:nvPr>
        </p:nvSpPr>
        <p:spPr>
          <a:xfrm>
            <a:off x="838200" y="422031"/>
            <a:ext cx="10515600" cy="5754932"/>
          </a:xfrm>
        </p:spPr>
        <p:txBody>
          <a:bodyPr/>
          <a:lstStyle/>
          <a:p>
            <a:r>
              <a:rPr lang="en-IN" dirty="0"/>
              <a:t>RETR_EXTERNAL then tells it to keep only the top-level contours.</a:t>
            </a:r>
          </a:p>
          <a:p>
            <a:r>
              <a:rPr lang="en-IN" dirty="0"/>
              <a:t>cv2.CHAIN_APPROX_NONE: "Keep every point along the contour.“</a:t>
            </a:r>
          </a:p>
          <a:p>
            <a:r>
              <a:rPr lang="en-IN" dirty="0"/>
              <a:t>So the contour contains lots of points describing the exact boundary.</a:t>
            </a:r>
          </a:p>
          <a:p>
            <a:r>
              <a:rPr lang="en-IN" dirty="0" err="1"/>
              <a:t>i</a:t>
            </a:r>
            <a:r>
              <a:rPr lang="en-US" dirty="0"/>
              <a:t>f </a:t>
            </a:r>
            <a:r>
              <a:rPr lang="en-US" dirty="0" err="1"/>
              <a:t>len</a:t>
            </a:r>
            <a:r>
              <a:rPr lang="en-US" dirty="0"/>
              <a:t>(contours) == 0:    print("No contour found!")    exit()</a:t>
            </a:r>
          </a:p>
          <a:p>
            <a:r>
              <a:rPr lang="en-IN" dirty="0"/>
              <a:t>contours contains all the contours OpenCV found.</a:t>
            </a:r>
          </a:p>
          <a:p>
            <a:r>
              <a:rPr lang="en-IN" dirty="0"/>
              <a:t>Len: How many contours did OpenCV find?</a:t>
            </a:r>
          </a:p>
          <a:p>
            <a:r>
              <a:rPr lang="en-IN" dirty="0"/>
              <a:t>If there are 3:len(contours)   # 3</a:t>
            </a:r>
          </a:p>
          <a:p>
            <a:r>
              <a:rPr lang="en-IN" dirty="0"/>
              <a:t>"If the number of contours is zero.“ </a:t>
            </a:r>
          </a:p>
          <a:p>
            <a:r>
              <a:rPr lang="en-IN" dirty="0"/>
              <a:t>If OpenCV didn't find any object boundary...</a:t>
            </a:r>
          </a:p>
        </p:txBody>
      </p:sp>
    </p:spTree>
    <p:extLst>
      <p:ext uri="{BB962C8B-B14F-4D97-AF65-F5344CB8AC3E}">
        <p14:creationId xmlns:p14="http://schemas.microsoft.com/office/powerpoint/2010/main" val="4167282882"/>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28BEEE-37C0-3605-64A2-D0A6335A6DCF}"/>
              </a:ext>
            </a:extLst>
          </p:cNvPr>
          <p:cNvSpPr>
            <a:spLocks noGrp="1"/>
          </p:cNvSpPr>
          <p:nvPr>
            <p:ph idx="1"/>
          </p:nvPr>
        </p:nvSpPr>
        <p:spPr>
          <a:xfrm>
            <a:off x="838200" y="246185"/>
            <a:ext cx="10515600" cy="5930778"/>
          </a:xfrm>
        </p:spPr>
        <p:txBody>
          <a:bodyPr/>
          <a:lstStyle/>
          <a:p>
            <a:r>
              <a:rPr lang="en-IN" dirty="0" err="1"/>
              <a:t>cnt</a:t>
            </a:r>
            <a:r>
              <a:rPr lang="en-IN" dirty="0"/>
              <a:t> = max(contours, key=cv2.contourArea)</a:t>
            </a:r>
          </a:p>
          <a:p>
            <a:r>
              <a:rPr lang="en-IN" dirty="0"/>
              <a:t>"From all the contours, find the one with the largest area and store it in </a:t>
            </a:r>
            <a:r>
              <a:rPr lang="en-IN" dirty="0" err="1"/>
              <a:t>cnt</a:t>
            </a:r>
            <a:r>
              <a:rPr lang="en-IN" dirty="0"/>
              <a:t>.“</a:t>
            </a:r>
          </a:p>
          <a:p>
            <a:r>
              <a:rPr lang="en-IN" dirty="0"/>
              <a:t>Suppose OpenCV found 3 contours:</a:t>
            </a:r>
          </a:p>
          <a:p>
            <a:r>
              <a:rPr lang="fr-FR" dirty="0"/>
              <a:t>contours = [Contour A, Contour B, Contour C]</a:t>
            </a:r>
          </a:p>
          <a:p>
            <a:endParaRPr lang="fr-FR" dirty="0"/>
          </a:p>
          <a:p>
            <a:r>
              <a:rPr lang="fr-FR" dirty="0"/>
              <a:t>Area:</a:t>
            </a:r>
          </a:p>
          <a:p>
            <a:r>
              <a:rPr lang="fr-FR" dirty="0"/>
              <a:t>A → 100</a:t>
            </a:r>
          </a:p>
          <a:p>
            <a:r>
              <a:rPr lang="fr-FR" dirty="0"/>
              <a:t>B → 500</a:t>
            </a:r>
          </a:p>
          <a:p>
            <a:r>
              <a:rPr lang="fr-FR" dirty="0"/>
              <a:t>C → 250</a:t>
            </a:r>
            <a:endParaRPr lang="en-IN" dirty="0"/>
          </a:p>
        </p:txBody>
      </p:sp>
    </p:spTree>
    <p:extLst>
      <p:ext uri="{BB962C8B-B14F-4D97-AF65-F5344CB8AC3E}">
        <p14:creationId xmlns:p14="http://schemas.microsoft.com/office/powerpoint/2010/main" val="3707843683"/>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F5C433-5E4E-F226-D631-6B40DFA3E383}"/>
              </a:ext>
            </a:extLst>
          </p:cNvPr>
          <p:cNvSpPr>
            <a:spLocks noGrp="1"/>
          </p:cNvSpPr>
          <p:nvPr>
            <p:ph idx="1"/>
          </p:nvPr>
        </p:nvSpPr>
        <p:spPr>
          <a:xfrm>
            <a:off x="838200" y="712177"/>
            <a:ext cx="10515600" cy="5464786"/>
          </a:xfrm>
        </p:spPr>
        <p:txBody>
          <a:bodyPr/>
          <a:lstStyle/>
          <a:p>
            <a:r>
              <a:rPr lang="en-IN" dirty="0"/>
              <a:t>A → 100</a:t>
            </a:r>
          </a:p>
          <a:p>
            <a:r>
              <a:rPr lang="en-IN" dirty="0"/>
              <a:t>B → 500  ← largest</a:t>
            </a:r>
          </a:p>
          <a:p>
            <a:r>
              <a:rPr lang="en-IN" dirty="0"/>
              <a:t>C → 250</a:t>
            </a:r>
          </a:p>
          <a:p>
            <a:r>
              <a:rPr lang="en-IN" dirty="0"/>
              <a:t>So it selects </a:t>
            </a:r>
            <a:r>
              <a:rPr lang="en-IN" b="1" dirty="0"/>
              <a:t>Contour B</a:t>
            </a:r>
            <a:r>
              <a:rPr lang="en-IN" dirty="0"/>
              <a:t>.</a:t>
            </a:r>
          </a:p>
          <a:p>
            <a:r>
              <a:rPr lang="en-IN" dirty="0"/>
              <a:t>key=cv2.contourArea </a:t>
            </a:r>
          </a:p>
          <a:p>
            <a:r>
              <a:rPr lang="en-IN" dirty="0"/>
              <a:t>Don't compare the contours themselves. Compare them based on their area.“</a:t>
            </a:r>
          </a:p>
          <a:p>
            <a:r>
              <a:rPr lang="en-IN" dirty="0"/>
              <a:t>Find the contour with the </a:t>
            </a:r>
            <a:r>
              <a:rPr lang="en-IN" b="1" dirty="0"/>
              <a:t>largest area</a:t>
            </a:r>
            <a:r>
              <a:rPr lang="en-IN" dirty="0"/>
              <a:t>.</a:t>
            </a:r>
          </a:p>
        </p:txBody>
      </p:sp>
    </p:spTree>
    <p:extLst>
      <p:ext uri="{BB962C8B-B14F-4D97-AF65-F5344CB8AC3E}">
        <p14:creationId xmlns:p14="http://schemas.microsoft.com/office/powerpoint/2010/main" val="4226687273"/>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A70624-82D6-27E6-D340-27FD67B78745}"/>
              </a:ext>
            </a:extLst>
          </p:cNvPr>
          <p:cNvSpPr>
            <a:spLocks noGrp="1"/>
          </p:cNvSpPr>
          <p:nvPr>
            <p:ph idx="1"/>
          </p:nvPr>
        </p:nvSpPr>
        <p:spPr>
          <a:xfrm>
            <a:off x="838200" y="386862"/>
            <a:ext cx="10515600" cy="5790101"/>
          </a:xfrm>
        </p:spPr>
        <p:txBody>
          <a:bodyPr>
            <a:normAutofit lnSpcReduction="10000"/>
          </a:bodyPr>
          <a:lstStyle/>
          <a:p>
            <a:r>
              <a:rPr lang="en-IN" dirty="0" err="1"/>
              <a:t>complex_pts</a:t>
            </a:r>
            <a:r>
              <a:rPr lang="en-IN" dirty="0"/>
              <a:t> = (</a:t>
            </a:r>
          </a:p>
          <a:p>
            <a:r>
              <a:rPr lang="en-IN" dirty="0"/>
              <a:t>    </a:t>
            </a:r>
            <a:r>
              <a:rPr lang="en-IN" dirty="0" err="1"/>
              <a:t>cnt</a:t>
            </a:r>
            <a:r>
              <a:rPr lang="en-IN" dirty="0"/>
              <a:t>[:, 0, 0] +</a:t>
            </a:r>
          </a:p>
          <a:p>
            <a:r>
              <a:rPr lang="en-IN" dirty="0"/>
              <a:t>    1j * </a:t>
            </a:r>
            <a:r>
              <a:rPr lang="en-IN" dirty="0" err="1"/>
              <a:t>cnt</a:t>
            </a:r>
            <a:r>
              <a:rPr lang="en-IN" dirty="0"/>
              <a:t>[:, 0, 1]</a:t>
            </a:r>
          </a:p>
          <a:p>
            <a:r>
              <a:rPr lang="en-IN" dirty="0"/>
              <a:t>)</a:t>
            </a:r>
          </a:p>
          <a:p>
            <a:r>
              <a:rPr lang="en-IN" dirty="0"/>
              <a:t>Your contour must look like</a:t>
            </a:r>
          </a:p>
          <a:p>
            <a:r>
              <a:rPr lang="en-IN" dirty="0" err="1"/>
              <a:t>cnt</a:t>
            </a:r>
            <a:r>
              <a:rPr lang="en-IN" dirty="0"/>
              <a:t> =</a:t>
            </a:r>
          </a:p>
          <a:p>
            <a:r>
              <a:rPr lang="en-IN" dirty="0"/>
              <a:t>[</a:t>
            </a:r>
          </a:p>
          <a:p>
            <a:r>
              <a:rPr lang="en-IN" dirty="0"/>
              <a:t>  [[10, 20]],</a:t>
            </a:r>
          </a:p>
          <a:p>
            <a:r>
              <a:rPr lang="en-IN" dirty="0"/>
              <a:t>  [[11, 20]],</a:t>
            </a:r>
          </a:p>
          <a:p>
            <a:r>
              <a:rPr lang="en-IN" dirty="0"/>
              <a:t>  [[12, 21]],</a:t>
            </a:r>
          </a:p>
          <a:p>
            <a:r>
              <a:rPr lang="en-IN" dirty="0"/>
              <a:t>  [[12, 22]]</a:t>
            </a:r>
          </a:p>
          <a:p>
            <a:r>
              <a:rPr lang="en-IN" dirty="0"/>
              <a:t>]</a:t>
            </a:r>
          </a:p>
        </p:txBody>
      </p:sp>
    </p:spTree>
    <p:extLst>
      <p:ext uri="{BB962C8B-B14F-4D97-AF65-F5344CB8AC3E}">
        <p14:creationId xmlns:p14="http://schemas.microsoft.com/office/powerpoint/2010/main" val="3182660575"/>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89CC6-2B2E-A9BB-1D9F-ABC1493135D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6309DFE-59A1-56A0-B8DB-B77726769749}"/>
              </a:ext>
            </a:extLst>
          </p:cNvPr>
          <p:cNvSpPr>
            <a:spLocks noGrp="1"/>
          </p:cNvSpPr>
          <p:nvPr>
            <p:ph idx="1"/>
          </p:nvPr>
        </p:nvSpPr>
        <p:spPr/>
        <p:txBody>
          <a:bodyPr/>
          <a:lstStyle/>
          <a:p>
            <a:r>
              <a:rPr lang="en-IN" dirty="0"/>
              <a:t>Each point is:</a:t>
            </a:r>
          </a:p>
          <a:p>
            <a:r>
              <a:rPr lang="en-IN" dirty="0"/>
              <a:t>[x, y]</a:t>
            </a:r>
          </a:p>
          <a:p>
            <a:r>
              <a:rPr lang="en-IN" dirty="0"/>
              <a:t>So:</a:t>
            </a:r>
          </a:p>
          <a:p>
            <a:r>
              <a:rPr lang="en-IN" dirty="0"/>
              <a:t>Point 1 → x=10, y=20</a:t>
            </a:r>
          </a:p>
          <a:p>
            <a:r>
              <a:rPr lang="en-IN" dirty="0"/>
              <a:t>Point 2 → x=11, y=20</a:t>
            </a:r>
          </a:p>
          <a:p>
            <a:r>
              <a:rPr lang="en-IN" dirty="0"/>
              <a:t>Point 3 → x=12, y=21</a:t>
            </a:r>
          </a:p>
          <a:p>
            <a:endParaRPr lang="en-IN" dirty="0"/>
          </a:p>
        </p:txBody>
      </p:sp>
    </p:spTree>
    <p:extLst>
      <p:ext uri="{BB962C8B-B14F-4D97-AF65-F5344CB8AC3E}">
        <p14:creationId xmlns:p14="http://schemas.microsoft.com/office/powerpoint/2010/main" val="560083301"/>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AE8792-DF3C-B6A3-D13E-7DFCD6E4916C}"/>
              </a:ext>
            </a:extLst>
          </p:cNvPr>
          <p:cNvSpPr>
            <a:spLocks noGrp="1"/>
          </p:cNvSpPr>
          <p:nvPr>
            <p:ph idx="1"/>
          </p:nvPr>
        </p:nvSpPr>
        <p:spPr>
          <a:xfrm>
            <a:off x="838200" y="360485"/>
            <a:ext cx="10515600" cy="5816478"/>
          </a:xfrm>
        </p:spPr>
        <p:txBody>
          <a:bodyPr/>
          <a:lstStyle/>
          <a:p>
            <a:r>
              <a:rPr lang="en-IN" dirty="0" err="1"/>
              <a:t>cnt</a:t>
            </a:r>
            <a:r>
              <a:rPr lang="en-IN" dirty="0"/>
              <a:t>[:, 0, 0]</a:t>
            </a:r>
          </a:p>
          <a:p>
            <a:r>
              <a:rPr lang="en-IN" dirty="0"/>
              <a:t>It extracts </a:t>
            </a:r>
            <a:r>
              <a:rPr lang="en-IN" b="1" dirty="0"/>
              <a:t>all the x coordinates</a:t>
            </a:r>
            <a:r>
              <a:rPr lang="en-IN" dirty="0"/>
              <a:t>:</a:t>
            </a:r>
          </a:p>
          <a:p>
            <a:r>
              <a:rPr lang="en-IN" dirty="0" err="1"/>
              <a:t>cnt</a:t>
            </a:r>
            <a:r>
              <a:rPr lang="en-IN" dirty="0"/>
              <a:t>[:, 0, 1]</a:t>
            </a:r>
          </a:p>
          <a:p>
            <a:r>
              <a:rPr lang="en-IN" dirty="0"/>
              <a:t>extracts </a:t>
            </a:r>
            <a:r>
              <a:rPr lang="en-IN" b="1" dirty="0"/>
              <a:t>all the y coordinates</a:t>
            </a:r>
            <a:r>
              <a:rPr lang="en-IN" dirty="0"/>
              <a:t>:</a:t>
            </a:r>
          </a:p>
          <a:p>
            <a:r>
              <a:rPr lang="en-IN" dirty="0"/>
              <a:t>1j?</a:t>
            </a:r>
          </a:p>
          <a:p>
            <a:r>
              <a:rPr lang="en-IN" dirty="0"/>
              <a:t>1j is Python's way of representing the </a:t>
            </a:r>
            <a:r>
              <a:rPr lang="en-IN" b="1" dirty="0"/>
              <a:t>imaginary number</a:t>
            </a:r>
            <a:r>
              <a:rPr lang="en-IN" dirty="0"/>
              <a:t>.</a:t>
            </a:r>
          </a:p>
          <a:p>
            <a:r>
              <a:rPr lang="en-IN" dirty="0"/>
              <a:t>A complex number looks like:</a:t>
            </a:r>
          </a:p>
          <a:p>
            <a:r>
              <a:rPr lang="en-IN" dirty="0"/>
              <a:t>x + </a:t>
            </a:r>
            <a:r>
              <a:rPr lang="en-IN" dirty="0" err="1"/>
              <a:t>yj</a:t>
            </a:r>
            <a:endParaRPr lang="en-IN" dirty="0"/>
          </a:p>
          <a:p>
            <a:r>
              <a:rPr lang="en-IN" dirty="0"/>
              <a:t>For example:</a:t>
            </a:r>
          </a:p>
          <a:p>
            <a:r>
              <a:rPr lang="en-IN" dirty="0"/>
              <a:t>10 + 20j</a:t>
            </a:r>
          </a:p>
        </p:txBody>
      </p:sp>
    </p:spTree>
    <p:extLst>
      <p:ext uri="{BB962C8B-B14F-4D97-AF65-F5344CB8AC3E}">
        <p14:creationId xmlns:p14="http://schemas.microsoft.com/office/powerpoint/2010/main" val="2821028621"/>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5C4FB-F86F-EDA1-4A65-E502B94A302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6C6F342-6179-CE31-3ED5-0657ACB16263}"/>
              </a:ext>
            </a:extLst>
          </p:cNvPr>
          <p:cNvSpPr>
            <a:spLocks noGrp="1"/>
          </p:cNvSpPr>
          <p:nvPr>
            <p:ph idx="1"/>
          </p:nvPr>
        </p:nvSpPr>
        <p:spPr/>
        <p:txBody>
          <a:bodyPr/>
          <a:lstStyle/>
          <a:p>
            <a:r>
              <a:rPr lang="en-IN" dirty="0" err="1"/>
              <a:t>cnt</a:t>
            </a:r>
            <a:r>
              <a:rPr lang="en-IN" dirty="0"/>
              <a:t>[:, 0, 0] + 1j * </a:t>
            </a:r>
            <a:r>
              <a:rPr lang="en-IN" dirty="0" err="1"/>
              <a:t>cnt</a:t>
            </a:r>
            <a:r>
              <a:rPr lang="en-IN" dirty="0"/>
              <a:t>[:, 0, 1]</a:t>
            </a:r>
          </a:p>
          <a:p>
            <a:r>
              <a:rPr lang="en-IN" dirty="0"/>
              <a:t>combines: x + </a:t>
            </a:r>
            <a:r>
              <a:rPr lang="en-IN" dirty="0" err="1"/>
              <a:t>yj</a:t>
            </a:r>
            <a:endParaRPr lang="en-IN" dirty="0"/>
          </a:p>
          <a:p>
            <a:r>
              <a:rPr lang="en-IN" dirty="0"/>
              <a:t>For our example:</a:t>
            </a:r>
          </a:p>
          <a:p>
            <a:r>
              <a:rPr lang="es-ES" dirty="0"/>
              <a:t>x = [10, 11, 12, 12]</a:t>
            </a:r>
          </a:p>
          <a:p>
            <a:r>
              <a:rPr lang="es-ES" dirty="0"/>
              <a:t>y = [20, 20, 21, 22]</a:t>
            </a:r>
          </a:p>
          <a:p>
            <a:r>
              <a:rPr lang="en-IN" dirty="0"/>
              <a:t>becomes:</a:t>
            </a:r>
          </a:p>
          <a:p>
            <a:r>
              <a:rPr lang="en-IN" dirty="0"/>
              <a:t>[10+20j, 11+20j, 12+21j, 12+22j]</a:t>
            </a:r>
          </a:p>
        </p:txBody>
      </p:sp>
    </p:spTree>
    <p:extLst>
      <p:ext uri="{BB962C8B-B14F-4D97-AF65-F5344CB8AC3E}">
        <p14:creationId xmlns:p14="http://schemas.microsoft.com/office/powerpoint/2010/main" val="1020283062"/>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ACD3-169C-51ED-4759-9C47E2BF4E47}"/>
              </a:ext>
            </a:extLst>
          </p:cNvPr>
          <p:cNvSpPr>
            <a:spLocks noGrp="1"/>
          </p:cNvSpPr>
          <p:nvPr>
            <p:ph type="title"/>
          </p:nvPr>
        </p:nvSpPr>
        <p:spPr/>
        <p:txBody>
          <a:bodyPr/>
          <a:lstStyle/>
          <a:p>
            <a:r>
              <a:rPr lang="en-IN" dirty="0"/>
              <a:t>Why do this?</a:t>
            </a:r>
          </a:p>
        </p:txBody>
      </p:sp>
      <p:sp>
        <p:nvSpPr>
          <p:cNvPr id="3" name="Content Placeholder 2">
            <a:extLst>
              <a:ext uri="{FF2B5EF4-FFF2-40B4-BE49-F238E27FC236}">
                <a16:creationId xmlns:a16="http://schemas.microsoft.com/office/drawing/2014/main" id="{87739662-A617-5328-73AD-AC305A31EC49}"/>
              </a:ext>
            </a:extLst>
          </p:cNvPr>
          <p:cNvSpPr>
            <a:spLocks noGrp="1"/>
          </p:cNvSpPr>
          <p:nvPr>
            <p:ph idx="1"/>
          </p:nvPr>
        </p:nvSpPr>
        <p:spPr/>
        <p:txBody>
          <a:bodyPr>
            <a:normAutofit lnSpcReduction="10000"/>
          </a:bodyPr>
          <a:lstStyle/>
          <a:p>
            <a:r>
              <a:rPr lang="en-IN" dirty="0"/>
              <a:t>It represents each 2D point (x, y) as one complex number:</a:t>
            </a:r>
          </a:p>
          <a:p>
            <a:r>
              <a:rPr lang="en-IN" dirty="0"/>
              <a:t>This is often useful when doing </a:t>
            </a:r>
            <a:r>
              <a:rPr lang="en-IN" b="1" dirty="0"/>
              <a:t>mathematical operations on the contour</a:t>
            </a:r>
            <a:r>
              <a:rPr lang="en-IN" dirty="0"/>
              <a:t>, such as Fourier analysis/descriptors.</a:t>
            </a:r>
          </a:p>
          <a:p>
            <a:r>
              <a:rPr lang="en-IN" dirty="0" err="1"/>
              <a:t>ake</a:t>
            </a:r>
            <a:r>
              <a:rPr lang="en-IN" dirty="0"/>
              <a:t> every contour point's x and y coordinates and combine them into complex numbers.“</a:t>
            </a:r>
          </a:p>
          <a:p>
            <a:r>
              <a:rPr lang="en-IN" dirty="0"/>
              <a:t>1j is a special value used to make a complex number.</a:t>
            </a:r>
          </a:p>
          <a:p>
            <a:r>
              <a:rPr lang="en-IN" dirty="0"/>
              <a:t>j = √(-1)</a:t>
            </a:r>
          </a:p>
          <a:p>
            <a:r>
              <a:rPr lang="en-IN" dirty="0"/>
              <a:t>j is there so that </a:t>
            </a:r>
            <a:r>
              <a:rPr lang="en-IN" b="1" dirty="0"/>
              <a:t>X and Y can be represented together as X + </a:t>
            </a:r>
            <a:r>
              <a:rPr lang="en-IN" b="1" dirty="0" err="1"/>
              <a:t>Yj</a:t>
            </a:r>
            <a:r>
              <a:rPr lang="en-IN" dirty="0"/>
              <a:t>.</a:t>
            </a:r>
          </a:p>
          <a:p>
            <a:r>
              <a:rPr lang="en-IN" b="1" dirty="0"/>
              <a:t>Imaginary</a:t>
            </a:r>
            <a:r>
              <a:rPr lang="en-IN" dirty="0"/>
              <a:t> here means a special type of number used when dealing with the square root of negative numbers.</a:t>
            </a:r>
          </a:p>
        </p:txBody>
      </p:sp>
    </p:spTree>
    <p:extLst>
      <p:ext uri="{BB962C8B-B14F-4D97-AF65-F5344CB8AC3E}">
        <p14:creationId xmlns:p14="http://schemas.microsoft.com/office/powerpoint/2010/main" val="1134075650"/>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5FBB9-A999-0C0A-A4AE-AC2961F758BB}"/>
              </a:ext>
            </a:extLst>
          </p:cNvPr>
          <p:cNvSpPr>
            <a:spLocks noGrp="1"/>
          </p:cNvSpPr>
          <p:nvPr>
            <p:ph type="title"/>
          </p:nvPr>
        </p:nvSpPr>
        <p:spPr/>
        <p:txBody>
          <a:bodyPr/>
          <a:lstStyle/>
          <a:p>
            <a:r>
              <a:rPr lang="en-IN" dirty="0"/>
              <a:t>Program 2</a:t>
            </a:r>
          </a:p>
        </p:txBody>
      </p:sp>
      <p:sp>
        <p:nvSpPr>
          <p:cNvPr id="3" name="Content Placeholder 2">
            <a:extLst>
              <a:ext uri="{FF2B5EF4-FFF2-40B4-BE49-F238E27FC236}">
                <a16:creationId xmlns:a16="http://schemas.microsoft.com/office/drawing/2014/main" id="{DC15E5BE-2ABF-19D5-DAA4-DA5F7C3F322C}"/>
              </a:ext>
            </a:extLst>
          </p:cNvPr>
          <p:cNvSpPr>
            <a:spLocks noGrp="1"/>
          </p:cNvSpPr>
          <p:nvPr>
            <p:ph idx="1"/>
          </p:nvPr>
        </p:nvSpPr>
        <p:spPr/>
        <p:txBody>
          <a:bodyPr/>
          <a:lstStyle/>
          <a:p>
            <a:r>
              <a:rPr lang="en-IN" dirty="0"/>
              <a:t>Set minimum object size</a:t>
            </a:r>
          </a:p>
          <a:p>
            <a:r>
              <a:rPr lang="en-US" dirty="0" err="1"/>
              <a:t>min_area</a:t>
            </a:r>
            <a:r>
              <a:rPr lang="en-US" dirty="0"/>
              <a:t> = 500</a:t>
            </a:r>
          </a:p>
          <a:p>
            <a:r>
              <a:rPr lang="en-US" dirty="0" err="1"/>
              <a:t>object_count</a:t>
            </a:r>
            <a:r>
              <a:rPr lang="en-US" dirty="0"/>
              <a:t> = 0</a:t>
            </a:r>
          </a:p>
          <a:p>
            <a:r>
              <a:rPr lang="en-IN" dirty="0"/>
              <a:t>You don't want tiny objects/noise to be counted.</a:t>
            </a:r>
          </a:p>
          <a:p>
            <a:r>
              <a:rPr lang="en-IN" dirty="0"/>
              <a:t>So:</a:t>
            </a:r>
          </a:p>
          <a:p>
            <a:r>
              <a:rPr lang="en-US" dirty="0"/>
              <a:t>Area &lt; 500 → ignore</a:t>
            </a:r>
          </a:p>
          <a:p>
            <a:r>
              <a:rPr lang="en-US" dirty="0"/>
              <a:t>Area ≥ 500 → object</a:t>
            </a:r>
          </a:p>
          <a:p>
            <a:r>
              <a:rPr lang="en-IN" dirty="0" err="1"/>
              <a:t>object_count</a:t>
            </a:r>
            <a:r>
              <a:rPr lang="en-IN" dirty="0"/>
              <a:t> starts at 0.</a:t>
            </a:r>
          </a:p>
        </p:txBody>
      </p:sp>
    </p:spTree>
    <p:extLst>
      <p:ext uri="{BB962C8B-B14F-4D97-AF65-F5344CB8AC3E}">
        <p14:creationId xmlns:p14="http://schemas.microsoft.com/office/powerpoint/2010/main" val="3085023027"/>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3FC9B6-C355-224A-8EAB-BFFF63344922}"/>
              </a:ext>
            </a:extLst>
          </p:cNvPr>
          <p:cNvSpPr>
            <a:spLocks noGrp="1"/>
          </p:cNvSpPr>
          <p:nvPr>
            <p:ph idx="1"/>
          </p:nvPr>
        </p:nvSpPr>
        <p:spPr>
          <a:xfrm>
            <a:off x="838200" y="465992"/>
            <a:ext cx="10515600" cy="5710971"/>
          </a:xfrm>
        </p:spPr>
        <p:txBody>
          <a:bodyPr/>
          <a:lstStyle/>
          <a:p>
            <a:r>
              <a:rPr lang="en-IN" dirty="0"/>
              <a:t>Look at every contour</a:t>
            </a:r>
          </a:p>
          <a:p>
            <a:r>
              <a:rPr lang="en-IN" dirty="0"/>
              <a:t>for </a:t>
            </a:r>
            <a:r>
              <a:rPr lang="en-IN" dirty="0" err="1"/>
              <a:t>cnt</a:t>
            </a:r>
            <a:r>
              <a:rPr lang="en-IN" dirty="0"/>
              <a:t> in contours:</a:t>
            </a:r>
          </a:p>
          <a:p>
            <a:r>
              <a:rPr lang="en-IN" dirty="0"/>
              <a:t>This means:</a:t>
            </a:r>
          </a:p>
          <a:p>
            <a:r>
              <a:rPr lang="en-IN" b="1" dirty="0"/>
              <a:t>"Take each contour one by one."</a:t>
            </a:r>
            <a:endParaRPr lang="en-IN" dirty="0"/>
          </a:p>
          <a:p>
            <a:r>
              <a:rPr lang="en-IN" dirty="0"/>
              <a:t>Calculate the contour's area</a:t>
            </a:r>
          </a:p>
          <a:p>
            <a:r>
              <a:rPr lang="en-IN" dirty="0"/>
              <a:t>How much area does this contour/object cover?</a:t>
            </a:r>
          </a:p>
          <a:p>
            <a:r>
              <a:rPr lang="en-US" dirty="0"/>
              <a:t>Object 1 → area = 1200</a:t>
            </a:r>
          </a:p>
          <a:p>
            <a:r>
              <a:rPr lang="en-US" dirty="0"/>
              <a:t>Object 2 → area = 50</a:t>
            </a:r>
          </a:p>
          <a:p>
            <a:r>
              <a:rPr lang="en-US" dirty="0"/>
              <a:t>Object 3 → area = 800</a:t>
            </a:r>
            <a:endParaRPr lang="en-IN" dirty="0"/>
          </a:p>
        </p:txBody>
      </p:sp>
    </p:spTree>
    <p:extLst>
      <p:ext uri="{BB962C8B-B14F-4D97-AF65-F5344CB8AC3E}">
        <p14:creationId xmlns:p14="http://schemas.microsoft.com/office/powerpoint/2010/main" val="2489269826"/>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4FC23D-E2F1-9E87-3789-4423104CD403}"/>
              </a:ext>
            </a:extLst>
          </p:cNvPr>
          <p:cNvSpPr>
            <a:spLocks noGrp="1"/>
          </p:cNvSpPr>
          <p:nvPr>
            <p:ph idx="1"/>
          </p:nvPr>
        </p:nvSpPr>
        <p:spPr>
          <a:xfrm>
            <a:off x="838200" y="465992"/>
            <a:ext cx="10515600" cy="5710971"/>
          </a:xfrm>
        </p:spPr>
        <p:txBody>
          <a:bodyPr/>
          <a:lstStyle/>
          <a:p>
            <a:r>
              <a:rPr lang="en-IN" dirty="0"/>
              <a:t>Ignore small objects</a:t>
            </a:r>
          </a:p>
          <a:p>
            <a:r>
              <a:rPr lang="en-US" dirty="0"/>
              <a:t>if area &lt; </a:t>
            </a:r>
            <a:r>
              <a:rPr lang="en-US" dirty="0" err="1"/>
              <a:t>min_area</a:t>
            </a:r>
            <a:r>
              <a:rPr lang="en-US" dirty="0"/>
              <a:t>:</a:t>
            </a:r>
          </a:p>
          <a:p>
            <a:r>
              <a:rPr lang="en-US" dirty="0"/>
              <a:t>    continue</a:t>
            </a:r>
          </a:p>
          <a:p>
            <a:r>
              <a:rPr lang="en-IN" dirty="0"/>
              <a:t>Remember: </a:t>
            </a:r>
            <a:r>
              <a:rPr lang="en-IN" dirty="0" err="1"/>
              <a:t>min_area</a:t>
            </a:r>
            <a:r>
              <a:rPr lang="en-IN" dirty="0"/>
              <a:t> = 500</a:t>
            </a:r>
          </a:p>
          <a:p>
            <a:r>
              <a:rPr lang="en-US" dirty="0"/>
              <a:t>Area = 50</a:t>
            </a:r>
          </a:p>
          <a:p>
            <a:r>
              <a:rPr lang="en-US" dirty="0"/>
              <a:t>↓</a:t>
            </a:r>
          </a:p>
          <a:p>
            <a:r>
              <a:rPr lang="en-US" dirty="0"/>
              <a:t>50 &lt; 500</a:t>
            </a:r>
          </a:p>
          <a:p>
            <a:r>
              <a:rPr lang="en-US" dirty="0"/>
              <a:t>↓</a:t>
            </a:r>
          </a:p>
          <a:p>
            <a:r>
              <a:rPr lang="en-US" dirty="0"/>
              <a:t>Ignore it</a:t>
            </a:r>
          </a:p>
          <a:p>
            <a:r>
              <a:rPr lang="en-IN" dirty="0"/>
              <a:t>continue means:</a:t>
            </a:r>
          </a:p>
          <a:p>
            <a:r>
              <a:rPr lang="en-IN" b="1" dirty="0"/>
              <a:t>Skip this contour and move to the next one.</a:t>
            </a:r>
            <a:endParaRPr lang="en-IN" dirty="0"/>
          </a:p>
          <a:p>
            <a:endParaRPr lang="en-IN" dirty="0"/>
          </a:p>
        </p:txBody>
      </p:sp>
    </p:spTree>
    <p:extLst>
      <p:ext uri="{BB962C8B-B14F-4D97-AF65-F5344CB8AC3E}">
        <p14:creationId xmlns:p14="http://schemas.microsoft.com/office/powerpoint/2010/main" val="534589894"/>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959ED-4D19-0884-81F7-4932395C02B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CD0C870-6299-ECF1-6380-7918B85BB839}"/>
              </a:ext>
            </a:extLst>
          </p:cNvPr>
          <p:cNvSpPr>
            <a:spLocks noGrp="1"/>
          </p:cNvSpPr>
          <p:nvPr>
            <p:ph idx="1"/>
          </p:nvPr>
        </p:nvSpPr>
        <p:spPr/>
        <p:txBody>
          <a:bodyPr/>
          <a:lstStyle/>
          <a:p>
            <a:r>
              <a:rPr lang="en-IN" dirty="0"/>
              <a:t>Count the object</a:t>
            </a:r>
          </a:p>
          <a:p>
            <a:r>
              <a:rPr lang="en-IN" dirty="0" err="1"/>
              <a:t>object_count</a:t>
            </a:r>
            <a:r>
              <a:rPr lang="en-IN" dirty="0"/>
              <a:t> += 1</a:t>
            </a:r>
          </a:p>
          <a:p>
            <a:r>
              <a:rPr lang="en-US" dirty="0"/>
              <a:t>First object → 1</a:t>
            </a:r>
          </a:p>
          <a:p>
            <a:r>
              <a:rPr lang="en-US" dirty="0"/>
              <a:t>Second object → 2</a:t>
            </a:r>
          </a:p>
          <a:p>
            <a:r>
              <a:rPr lang="en-US" dirty="0"/>
              <a:t>Third object → 3</a:t>
            </a:r>
          </a:p>
          <a:p>
            <a:r>
              <a:rPr lang="en-IN" dirty="0"/>
              <a:t>Find the rectangle around the object</a:t>
            </a:r>
          </a:p>
          <a:p>
            <a:r>
              <a:rPr lang="en-US" dirty="0"/>
              <a:t>x, y, w, h = cv2.boundingRect(</a:t>
            </a:r>
            <a:r>
              <a:rPr lang="en-US" dirty="0" err="1"/>
              <a:t>cnt</a:t>
            </a:r>
            <a:r>
              <a:rPr lang="en-US" dirty="0"/>
              <a:t>)</a:t>
            </a:r>
            <a:endParaRPr lang="en-IN" dirty="0"/>
          </a:p>
        </p:txBody>
      </p:sp>
    </p:spTree>
    <p:extLst>
      <p:ext uri="{BB962C8B-B14F-4D97-AF65-F5344CB8AC3E}">
        <p14:creationId xmlns:p14="http://schemas.microsoft.com/office/powerpoint/2010/main" val="4263487173"/>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6BBF70-F1A2-8E80-E6BC-1A7AF2ADCB7D}"/>
              </a:ext>
            </a:extLst>
          </p:cNvPr>
          <p:cNvSpPr>
            <a:spLocks noGrp="1"/>
          </p:cNvSpPr>
          <p:nvPr>
            <p:ph idx="1"/>
          </p:nvPr>
        </p:nvSpPr>
        <p:spPr>
          <a:xfrm>
            <a:off x="838200" y="360485"/>
            <a:ext cx="10515600" cy="5816478"/>
          </a:xfrm>
        </p:spPr>
        <p:txBody>
          <a:bodyPr>
            <a:normAutofit fontScale="92500" lnSpcReduction="10000"/>
          </a:bodyPr>
          <a:lstStyle/>
          <a:p>
            <a:r>
              <a:rPr lang="en-IN" dirty="0"/>
              <a:t>You get:</a:t>
            </a:r>
          </a:p>
          <a:p>
            <a:pPr lvl="0"/>
            <a:r>
              <a:rPr lang="en-IN" dirty="0"/>
              <a:t>x → left position </a:t>
            </a:r>
          </a:p>
          <a:p>
            <a:pPr lvl="0"/>
            <a:r>
              <a:rPr lang="en-IN" dirty="0"/>
              <a:t>y → top position </a:t>
            </a:r>
          </a:p>
          <a:p>
            <a:pPr lvl="0"/>
            <a:r>
              <a:rPr lang="en-IN" dirty="0"/>
              <a:t>w → width </a:t>
            </a:r>
          </a:p>
          <a:p>
            <a:pPr lvl="0"/>
            <a:r>
              <a:rPr lang="en-IN" dirty="0"/>
              <a:t>h → height</a:t>
            </a:r>
          </a:p>
          <a:p>
            <a:pPr lvl="0"/>
            <a:r>
              <a:rPr lang="en-IN" dirty="0"/>
              <a:t>Draw the box</a:t>
            </a:r>
          </a:p>
          <a:p>
            <a:pPr marL="0" lvl="0" indent="0">
              <a:buNone/>
            </a:pPr>
            <a:r>
              <a:rPr lang="es-ES" dirty="0"/>
              <a:t>cv2.rectangle(</a:t>
            </a:r>
          </a:p>
          <a:p>
            <a:pPr marL="0" lvl="0" indent="0">
              <a:buNone/>
            </a:pPr>
            <a:r>
              <a:rPr lang="es-ES" dirty="0"/>
              <a:t>    output,</a:t>
            </a:r>
          </a:p>
          <a:p>
            <a:pPr marL="0" lvl="0" indent="0">
              <a:buNone/>
            </a:pPr>
            <a:r>
              <a:rPr lang="es-ES" dirty="0"/>
              <a:t>    (x, y),</a:t>
            </a:r>
          </a:p>
          <a:p>
            <a:pPr marL="0" lvl="0" indent="0">
              <a:buNone/>
            </a:pPr>
            <a:r>
              <a:rPr lang="es-ES" dirty="0"/>
              <a:t>    (x + w, y + h),</a:t>
            </a:r>
          </a:p>
          <a:p>
            <a:pPr marL="0" lvl="0" indent="0">
              <a:buNone/>
            </a:pPr>
            <a:r>
              <a:rPr lang="es-ES" dirty="0"/>
              <a:t>    (0, 255, 0),</a:t>
            </a:r>
          </a:p>
          <a:p>
            <a:pPr marL="0" lvl="0" indent="0">
              <a:buNone/>
            </a:pPr>
            <a:r>
              <a:rPr lang="es-ES" dirty="0"/>
              <a:t>    2</a:t>
            </a:r>
          </a:p>
          <a:p>
            <a:pPr marL="0" lvl="0" indent="0">
              <a:buNone/>
            </a:pPr>
            <a:r>
              <a:rPr lang="es-ES" dirty="0"/>
              <a:t>)</a:t>
            </a:r>
            <a:endParaRPr lang="en-IN" dirty="0"/>
          </a:p>
          <a:p>
            <a:endParaRPr lang="en-IN" dirty="0"/>
          </a:p>
        </p:txBody>
      </p:sp>
    </p:spTree>
    <p:extLst>
      <p:ext uri="{BB962C8B-B14F-4D97-AF65-F5344CB8AC3E}">
        <p14:creationId xmlns:p14="http://schemas.microsoft.com/office/powerpoint/2010/main" val="233014570"/>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1039A6-8524-BA47-BB6E-F4CD22547590}"/>
              </a:ext>
            </a:extLst>
          </p:cNvPr>
          <p:cNvSpPr>
            <a:spLocks noGrp="1"/>
          </p:cNvSpPr>
          <p:nvPr>
            <p:ph idx="1"/>
          </p:nvPr>
        </p:nvSpPr>
        <p:spPr>
          <a:xfrm>
            <a:off x="838200" y="624254"/>
            <a:ext cx="10515600" cy="5552709"/>
          </a:xfrm>
        </p:spPr>
        <p:txBody>
          <a:bodyPr>
            <a:normAutofit/>
          </a:bodyPr>
          <a:lstStyle/>
          <a:p>
            <a:r>
              <a:rPr lang="pl-PL" dirty="0"/>
              <a:t>x = 100</a:t>
            </a:r>
            <a:endParaRPr lang="en-IN" dirty="0"/>
          </a:p>
          <a:p>
            <a:r>
              <a:rPr lang="pl-PL" dirty="0"/>
              <a:t>y = 50</a:t>
            </a:r>
            <a:endParaRPr lang="en-IN" dirty="0"/>
          </a:p>
          <a:p>
            <a:r>
              <a:rPr lang="pl-PL" dirty="0"/>
              <a:t>w = 200</a:t>
            </a:r>
            <a:endParaRPr lang="en-IN" dirty="0"/>
          </a:p>
          <a:p>
            <a:r>
              <a:rPr lang="pl-PL" dirty="0"/>
              <a:t>h = 150</a:t>
            </a:r>
            <a:endParaRPr lang="en-IN" dirty="0"/>
          </a:p>
          <a:p>
            <a:r>
              <a:rPr lang="en-US" dirty="0"/>
              <a:t>Top-left:</a:t>
            </a:r>
          </a:p>
          <a:p>
            <a:r>
              <a:rPr lang="en-US" dirty="0"/>
              <a:t>(100, 50)</a:t>
            </a:r>
          </a:p>
          <a:p>
            <a:endParaRPr lang="en-US" dirty="0"/>
          </a:p>
          <a:p>
            <a:r>
              <a:rPr lang="en-US" dirty="0"/>
              <a:t>Bottom-right:</a:t>
            </a:r>
          </a:p>
          <a:p>
            <a:r>
              <a:rPr lang="en-US" dirty="0"/>
              <a:t>(100 + 200, 50 + 150)</a:t>
            </a:r>
          </a:p>
          <a:p>
            <a:r>
              <a:rPr lang="en-US" dirty="0"/>
              <a:t>= (300, 200)</a:t>
            </a:r>
            <a:endParaRPr lang="en-IN" dirty="0"/>
          </a:p>
        </p:txBody>
      </p:sp>
    </p:spTree>
    <p:extLst>
      <p:ext uri="{BB962C8B-B14F-4D97-AF65-F5344CB8AC3E}">
        <p14:creationId xmlns:p14="http://schemas.microsoft.com/office/powerpoint/2010/main" val="491806129"/>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C81BB-ABB1-85FB-DB19-A523922FFA8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77B10BB-294B-9F50-0ED7-BE3006D38370}"/>
              </a:ext>
            </a:extLst>
          </p:cNvPr>
          <p:cNvSpPr>
            <a:spLocks noGrp="1"/>
          </p:cNvSpPr>
          <p:nvPr>
            <p:ph idx="1"/>
          </p:nvPr>
        </p:nvSpPr>
        <p:spPr/>
        <p:txBody>
          <a:bodyPr/>
          <a:lstStyle/>
          <a:p>
            <a:r>
              <a:rPr lang="en-IN" dirty="0"/>
              <a:t>So OpenCV draws a rectangle from:</a:t>
            </a:r>
          </a:p>
          <a:p>
            <a:r>
              <a:rPr lang="en-IN" dirty="0"/>
              <a:t>(100, 50) → (300, 200)</a:t>
            </a:r>
          </a:p>
          <a:p>
            <a:r>
              <a:rPr lang="en-IN" b="1" dirty="0"/>
              <a:t>Simple meaning:</a:t>
            </a:r>
            <a:r>
              <a:rPr lang="en-IN" dirty="0"/>
              <a:t> (</a:t>
            </a:r>
            <a:r>
              <a:rPr lang="en-IN" dirty="0" err="1"/>
              <a:t>x,y</a:t>
            </a:r>
            <a:r>
              <a:rPr lang="en-IN" dirty="0"/>
              <a:t>) tells where the box starts, and (</a:t>
            </a:r>
            <a:r>
              <a:rPr lang="en-IN" dirty="0" err="1"/>
              <a:t>x+w</a:t>
            </a:r>
            <a:r>
              <a:rPr lang="en-IN" dirty="0"/>
              <a:t>, </a:t>
            </a:r>
            <a:r>
              <a:rPr lang="en-IN" dirty="0" err="1"/>
              <a:t>y+h</a:t>
            </a:r>
            <a:r>
              <a:rPr lang="en-IN"/>
              <a:t>) tells where the box ends.</a:t>
            </a:r>
          </a:p>
          <a:p>
            <a:endParaRPr lang="en-IN"/>
          </a:p>
        </p:txBody>
      </p:sp>
    </p:spTree>
    <p:extLst>
      <p:ext uri="{BB962C8B-B14F-4D97-AF65-F5344CB8AC3E}">
        <p14:creationId xmlns:p14="http://schemas.microsoft.com/office/powerpoint/2010/main" val="33865399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1898</TotalTime>
  <Words>8712</Words>
  <Application>Microsoft Office PowerPoint</Application>
  <PresentationFormat>Widescreen</PresentationFormat>
  <Paragraphs>1363</Paragraphs>
  <Slides>193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193</vt:i4>
      </vt:variant>
    </vt:vector>
  </HeadingPairs>
  <TitlesOfParts>
    <vt:vector size="198" baseType="lpstr">
      <vt:lpstr>Aptos</vt:lpstr>
      <vt:lpstr>Aptos Display</vt:lpstr>
      <vt:lpstr>Arial</vt:lpstr>
      <vt:lpstr>Cambria Math</vt:lpstr>
      <vt:lpstr>Office Theme</vt:lpstr>
      <vt:lpstr>IMAGE REPRESENTATION AND PRE PROCESSING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Continuous Image</vt:lpstr>
      <vt:lpstr>PowerPoint Presentation</vt:lpstr>
      <vt:lpstr>Discrete Image (Digital Image)</vt:lpstr>
      <vt:lpstr>PowerPoint Presentation</vt:lpstr>
      <vt:lpstr>Sampling</vt:lpstr>
      <vt:lpstr>PowerPoint Presentation</vt:lpstr>
      <vt:lpstr>Quantization </vt:lpstr>
      <vt:lpstr>PowerPoint Presentation</vt:lpstr>
      <vt:lpstr>PowerPoint Presentation</vt:lpstr>
      <vt:lpstr>GAUSSIAN BLUR</vt:lpstr>
      <vt:lpstr>PowerPoint Presentation</vt:lpstr>
      <vt:lpstr>With Gaussian Blur</vt:lpstr>
      <vt:lpstr>PowerPoint Presentation</vt:lpstr>
      <vt:lpstr>PowerPoint Presentation</vt:lpstr>
      <vt:lpstr>PowerPoint Presentation</vt:lpstr>
      <vt:lpstr>PowerPoint Presentation</vt:lpstr>
      <vt:lpstr>Why use Gaussian Blur?</vt:lpstr>
      <vt:lpstr>PowerPoint Presentation</vt:lpstr>
      <vt:lpstr>PowerPoint Presentation</vt:lpstr>
      <vt:lpstr>What is Bilateral Filter?</vt:lpstr>
      <vt:lpstr>Median Filter</vt:lpstr>
      <vt:lpstr>HOW IT WORKS</vt:lpstr>
      <vt:lpstr>PowerPoint Presentation</vt:lpstr>
      <vt:lpstr>PowerPoint Presentation</vt:lpstr>
      <vt:lpstr>Why use Median Blur?</vt:lpstr>
      <vt:lpstr>PowerPoint Presentation</vt:lpstr>
      <vt:lpstr>PowerPoint Presentation</vt:lpstr>
      <vt:lpstr>PowerPoint Presentation</vt:lpstr>
      <vt:lpstr>PowerPoint Presentation</vt:lpstr>
      <vt:lpstr>Parameters</vt:lpstr>
      <vt:lpstr>PowerPoint Presentation</vt:lpstr>
      <vt:lpstr>PowerPoint Presentation</vt:lpstr>
      <vt:lpstr>PowerPoint Presentation</vt:lpstr>
      <vt:lpstr>PowerPoint Presentation</vt:lpstr>
      <vt:lpstr>PowerPoint Presentation</vt:lpstr>
      <vt:lpstr>Image Sharpening</vt:lpstr>
      <vt:lpstr>PowerPoint Presentation</vt:lpstr>
      <vt:lpstr>PowerPoint Presentation</vt:lpstr>
      <vt:lpstr>HISTOGRAM</vt:lpstr>
      <vt:lpstr>PowerPoint Presentation</vt:lpstr>
      <vt:lpstr>PowerPoint Presentation</vt:lpstr>
      <vt:lpstr>PowerPoint Presentation</vt:lpstr>
      <vt:lpstr>PowerPoint Presentation</vt:lpstr>
      <vt:lpstr>PowerPoint Presentation</vt:lpstr>
      <vt:lpstr>PowerPoint Presentation</vt:lpstr>
      <vt:lpstr>How OpenCV calculates it</vt:lpstr>
      <vt:lpstr>PowerPoint Presentation</vt:lpstr>
      <vt:lpstr>PowerPoint Presentation</vt:lpstr>
      <vt:lpstr>PowerPoint Presentation</vt:lpstr>
      <vt:lpstr>What is Histogram Equalization?</vt:lpstr>
      <vt:lpstr>PowerPoint Presentation</vt:lpstr>
      <vt:lpstr>PowerPoint Presentation</vt:lpstr>
      <vt:lpstr>CLAHE (Contrast Limited Adaptive Histogram Equalization) </vt:lpstr>
      <vt:lpstr>Problem with Histogram Equalization</vt:lpstr>
      <vt:lpstr>PowerPoint Presentation</vt:lpstr>
      <vt:lpstr>PowerPoint Presentation</vt:lpstr>
      <vt:lpstr>PowerPoint Presentation</vt:lpstr>
      <vt:lpstr>PowerPoint Presentation</vt:lpstr>
      <vt:lpstr>PowerPoint Presentation</vt:lpstr>
      <vt:lpstr>What is a Contour?</vt:lpstr>
      <vt:lpstr>PowerPoint Presentation</vt:lpstr>
      <vt:lpstr>Histogram Matching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Adaptive threshold </vt:lpstr>
      <vt:lpstr>REGION BASED REPRESENTATION</vt:lpstr>
      <vt:lpstr>PowerPoint Presentation</vt:lpstr>
      <vt:lpstr>PowerPoint Presentation</vt:lpstr>
      <vt:lpstr>PowerPoint Presentation</vt:lpstr>
      <vt:lpstr>Watershed segmentation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Whats the need of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Then the unknown region is changed to 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K-Means Segmentation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Active Contour (Snake)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Fourier Descriptor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Why do this?</vt:lpstr>
      <vt:lpstr>Program 2</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hiralpadhariya@outlook.com</dc:creator>
  <cp:lastModifiedBy>hiralpadhariya@outlook.com</cp:lastModifiedBy>
  <cp:revision>422</cp:revision>
  <dcterms:created xsi:type="dcterms:W3CDTF">2026-07-30T09:20:20Z</dcterms:created>
  <dcterms:modified xsi:type="dcterms:W3CDTF">2026-08-16T14:29:33Z</dcterms:modified>
</cp:coreProperties>
</file>