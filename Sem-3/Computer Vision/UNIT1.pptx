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2" r:id="rId20"/>
    <p:sldId id="283" r:id="rId21"/>
    <p:sldId id="286" r:id="rId22"/>
    <p:sldId id="287" r:id="rId23"/>
    <p:sldId id="292" r:id="rId24"/>
    <p:sldId id="291" r:id="rId25"/>
    <p:sldId id="290" r:id="rId26"/>
    <p:sldId id="289" r:id="rId27"/>
    <p:sldId id="288" r:id="rId28"/>
    <p:sldId id="285" r:id="rId29"/>
    <p:sldId id="284" r:id="rId30"/>
    <p:sldId id="297" r:id="rId31"/>
    <p:sldId id="296" r:id="rId32"/>
    <p:sldId id="295" r:id="rId33"/>
    <p:sldId id="294" r:id="rId34"/>
    <p:sldId id="293" r:id="rId35"/>
    <p:sldId id="298" r:id="rId36"/>
    <p:sldId id="302" r:id="rId37"/>
    <p:sldId id="301" r:id="rId38"/>
    <p:sldId id="300" r:id="rId39"/>
    <p:sldId id="299" r:id="rId40"/>
    <p:sldId id="303" r:id="rId41"/>
    <p:sldId id="304" r:id="rId42"/>
    <p:sldId id="313" r:id="rId43"/>
    <p:sldId id="314" r:id="rId44"/>
    <p:sldId id="312" r:id="rId45"/>
    <p:sldId id="311" r:id="rId46"/>
    <p:sldId id="310" r:id="rId47"/>
    <p:sldId id="315" r:id="rId48"/>
    <p:sldId id="309" r:id="rId49"/>
    <p:sldId id="308" r:id="rId50"/>
    <p:sldId id="307" r:id="rId51"/>
    <p:sldId id="306" r:id="rId52"/>
    <p:sldId id="305" r:id="rId53"/>
    <p:sldId id="316" r:id="rId54"/>
    <p:sldId id="317" r:id="rId55"/>
    <p:sldId id="274" r:id="rId56"/>
    <p:sldId id="278" r:id="rId57"/>
    <p:sldId id="275" r:id="rId58"/>
    <p:sldId id="276" r:id="rId59"/>
    <p:sldId id="277" r:id="rId60"/>
    <p:sldId id="279" r:id="rId61"/>
    <p:sldId id="280" r:id="rId62"/>
    <p:sldId id="332" r:id="rId63"/>
    <p:sldId id="281"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5" r:id="rId139"/>
    <p:sldId id="393" r:id="rId140"/>
    <p:sldId id="394"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4" r:id="rId157"/>
    <p:sldId id="416" r:id="rId158"/>
    <p:sldId id="417" r:id="rId159"/>
    <p:sldId id="418" r:id="rId160"/>
    <p:sldId id="419" r:id="rId161"/>
    <p:sldId id="420" r:id="rId162"/>
    <p:sldId id="421" r:id="rId163"/>
    <p:sldId id="422" r:id="rId164"/>
    <p:sldId id="423" r:id="rId165"/>
    <p:sldId id="424" r:id="rId166"/>
    <p:sldId id="425" r:id="rId167"/>
    <p:sldId id="426" r:id="rId168"/>
    <p:sldId id="427" r:id="rId169"/>
    <p:sldId id="428" r:id="rId170"/>
    <p:sldId id="429" r:id="rId171"/>
    <p:sldId id="430" r:id="rId172"/>
    <p:sldId id="431" r:id="rId173"/>
    <p:sldId id="432" r:id="rId174"/>
    <p:sldId id="433" r:id="rId175"/>
    <p:sldId id="434" r:id="rId176"/>
    <p:sldId id="435" r:id="rId177"/>
    <p:sldId id="436" r:id="rId178"/>
    <p:sldId id="437" r:id="rId179"/>
    <p:sldId id="438" r:id="rId180"/>
    <p:sldId id="439" r:id="rId181"/>
    <p:sldId id="440" r:id="rId182"/>
    <p:sldId id="441" r:id="rId183"/>
    <p:sldId id="442" r:id="rId184"/>
    <p:sldId id="443" r:id="rId185"/>
    <p:sldId id="444" r:id="rId186"/>
    <p:sldId id="445" r:id="rId187"/>
    <p:sldId id="446" r:id="rId188"/>
    <p:sldId id="447" r:id="rId189"/>
    <p:sldId id="448" r:id="rId190"/>
    <p:sldId id="450" r:id="rId191"/>
    <p:sldId id="451" r:id="rId192"/>
    <p:sldId id="452" r:id="rId193"/>
    <p:sldId id="453" r:id="rId194"/>
    <p:sldId id="454" r:id="rId195"/>
    <p:sldId id="455" r:id="rId196"/>
    <p:sldId id="456" r:id="rId197"/>
    <p:sldId id="457" r:id="rId198"/>
    <p:sldId id="458" r:id="rId199"/>
    <p:sldId id="459" r:id="rId200"/>
    <p:sldId id="460" r:id="rId201"/>
    <p:sldId id="461" r:id="rId202"/>
    <p:sldId id="462" r:id="rId203"/>
    <p:sldId id="463" r:id="rId204"/>
    <p:sldId id="449" r:id="rId205"/>
    <p:sldId id="464" r:id="rId206"/>
    <p:sldId id="465" r:id="rId207"/>
    <p:sldId id="466" r:id="rId208"/>
    <p:sldId id="468" r:id="rId209"/>
    <p:sldId id="469" r:id="rId210"/>
    <p:sldId id="467" r:id="rId211"/>
    <p:sldId id="470" r:id="rId212"/>
    <p:sldId id="471" r:id="rId213"/>
    <p:sldId id="472" r:id="rId214"/>
    <p:sldId id="473" r:id="rId215"/>
    <p:sldId id="474" r:id="rId216"/>
    <p:sldId id="475" r:id="rId217"/>
    <p:sldId id="411" r:id="rId218"/>
    <p:sldId id="415" r:id="rId219"/>
    <p:sldId id="412" r:id="rId220"/>
    <p:sldId id="413"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2" r:id="rId237"/>
    <p:sldId id="491"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presProps" Target="presProp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tableStyles" Target="tableStyles.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241DF-108A-1CCD-AD52-D7A10059B5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0CC067-93C7-334F-BAB5-C2B512226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12F95-AE5C-7611-2D2C-B8A438A77D1C}"/>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5" name="Footer Placeholder 4">
            <a:extLst>
              <a:ext uri="{FF2B5EF4-FFF2-40B4-BE49-F238E27FC236}">
                <a16:creationId xmlns:a16="http://schemas.microsoft.com/office/drawing/2014/main" id="{E1BAFAEE-FA12-C60E-3BAC-7DF21CA26F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5A86C9-619A-2408-B0DB-922DF47239B6}"/>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3933455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C89C0-DD7D-AE16-C343-69E88AD78D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EE07F1-6965-B834-DE32-CFD3B1B15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E5F831-55F3-5528-2640-F7113412C78F}"/>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5" name="Footer Placeholder 4">
            <a:extLst>
              <a:ext uri="{FF2B5EF4-FFF2-40B4-BE49-F238E27FC236}">
                <a16:creationId xmlns:a16="http://schemas.microsoft.com/office/drawing/2014/main" id="{8C005C76-FF10-346A-C314-A9EA0514AD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3DD9D7-6A04-61C2-5D66-BD917BADF307}"/>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038316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068C-C407-9889-7C4E-119271541E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3529D0-1D70-E62F-180E-D2E40BE32B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CB6888-1149-0D09-2BC3-EE8C85D0647C}"/>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5" name="Footer Placeholder 4">
            <a:extLst>
              <a:ext uri="{FF2B5EF4-FFF2-40B4-BE49-F238E27FC236}">
                <a16:creationId xmlns:a16="http://schemas.microsoft.com/office/drawing/2014/main" id="{82AF4F94-642E-9D73-AE10-A022F124B2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049BB5-D955-100A-D4C1-72B0D387E658}"/>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2483339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63E8-3EB2-38EF-352F-521139EBF0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E7B116-E608-EDB6-016F-2823BF6FAD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3CCC7E-7B2B-352A-62A1-AB3B968423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AFBF80F-E6B5-7CA3-2F92-6362792FF8D1}"/>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6" name="Footer Placeholder 5">
            <a:extLst>
              <a:ext uri="{FF2B5EF4-FFF2-40B4-BE49-F238E27FC236}">
                <a16:creationId xmlns:a16="http://schemas.microsoft.com/office/drawing/2014/main" id="{C7A7398E-29F0-F518-2FC6-525025C30D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A03372-ADB9-017E-5864-494319C3D377}"/>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2873342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BF30-E039-A911-EB0F-C71AB94089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950809-AE90-7F37-2EEB-DEEF0F642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BB586B-B384-C413-C9DB-D2DE47AAC4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7C50B2-4693-5B58-B2AE-587747553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19CB6B-93E2-59EA-353F-8076BA567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3CD581-1929-2DB9-B0E9-B6FD0A311B3D}"/>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8" name="Footer Placeholder 7">
            <a:extLst>
              <a:ext uri="{FF2B5EF4-FFF2-40B4-BE49-F238E27FC236}">
                <a16:creationId xmlns:a16="http://schemas.microsoft.com/office/drawing/2014/main" id="{E8EFB8AE-3077-859E-A6BD-A48B80ACBB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6D8092-D98B-4CA8-0C27-68C1D0413002}"/>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20469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02A5A-027C-6F8C-AEE3-DDC9D9150D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F9677F-3F27-BBEB-9925-F4C7673AB8C8}"/>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4" name="Footer Placeholder 3">
            <a:extLst>
              <a:ext uri="{FF2B5EF4-FFF2-40B4-BE49-F238E27FC236}">
                <a16:creationId xmlns:a16="http://schemas.microsoft.com/office/drawing/2014/main" id="{D2D103A7-1761-5409-9E54-FDCC0D11D4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A3CB83-94C0-FB05-0278-2547D3409781}"/>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3964965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E478A-B585-2DCC-45C9-1E40D04029C0}"/>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3" name="Footer Placeholder 2">
            <a:extLst>
              <a:ext uri="{FF2B5EF4-FFF2-40B4-BE49-F238E27FC236}">
                <a16:creationId xmlns:a16="http://schemas.microsoft.com/office/drawing/2014/main" id="{0B0E2581-2259-A631-F002-B56F572310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2EDEEA-9DFE-F9CA-16EB-FB6EBA9C45D7}"/>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93416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20DB-6CA9-101C-2BB0-3C8F469563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CA01E4-370E-DEB1-D7E2-239B581216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EC83F1-513A-95EB-8E3E-2BBC1222E2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A86B05-7026-1770-C0A2-F687F3E66AC6}"/>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6" name="Footer Placeholder 5">
            <a:extLst>
              <a:ext uri="{FF2B5EF4-FFF2-40B4-BE49-F238E27FC236}">
                <a16:creationId xmlns:a16="http://schemas.microsoft.com/office/drawing/2014/main" id="{8DAD9181-F74D-512E-9C2F-448F857E8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13DDFE-5167-0C3B-2056-0448DB0CD42E}"/>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53928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EE3A-760E-2B13-0A10-F7055D3E60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47BC92-7CB5-3CEB-8841-F9320DFFAA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F42436-E1A2-870E-07D0-E30A03D8F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5EBC8D-ACB5-0EF5-748C-3DDFAF3F1119}"/>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6" name="Footer Placeholder 5">
            <a:extLst>
              <a:ext uri="{FF2B5EF4-FFF2-40B4-BE49-F238E27FC236}">
                <a16:creationId xmlns:a16="http://schemas.microsoft.com/office/drawing/2014/main" id="{C139709D-67E2-F3A4-D472-02671CB686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F58169-CB58-BFB0-F79A-44D41878C315}"/>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500022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0595-8DB9-817E-5E9C-B940AD3148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79531C-7371-72E6-540A-BA62D56946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83EC3F-8937-E3D8-E92A-BC08DE83D8CB}"/>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5" name="Footer Placeholder 4">
            <a:extLst>
              <a:ext uri="{FF2B5EF4-FFF2-40B4-BE49-F238E27FC236}">
                <a16:creationId xmlns:a16="http://schemas.microsoft.com/office/drawing/2014/main" id="{FBB162C2-07A6-141C-D185-9DBEF5B7FB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DB42B-2BDF-2308-2617-F2F08403EF25}"/>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2660079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271021-7487-77E2-3B38-37EEBC4D56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331F72-9146-C34F-EDD0-4AA200F781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41E754-C84B-F608-319F-765A13D7CB89}"/>
              </a:ext>
            </a:extLst>
          </p:cNvPr>
          <p:cNvSpPr>
            <a:spLocks noGrp="1"/>
          </p:cNvSpPr>
          <p:nvPr>
            <p:ph type="dt" sz="half" idx="10"/>
          </p:nvPr>
        </p:nvSpPr>
        <p:spPr/>
        <p:txBody>
          <a:bodyPr/>
          <a:lstStyle/>
          <a:p>
            <a:fld id="{27EAD542-DF6F-47DB-9611-E865B8C947C9}" type="datetimeFigureOut">
              <a:rPr lang="en-IN" smtClean="0"/>
              <a:t>28-07-2026</a:t>
            </a:fld>
            <a:endParaRPr lang="en-IN"/>
          </a:p>
        </p:txBody>
      </p:sp>
      <p:sp>
        <p:nvSpPr>
          <p:cNvPr id="5" name="Footer Placeholder 4">
            <a:extLst>
              <a:ext uri="{FF2B5EF4-FFF2-40B4-BE49-F238E27FC236}">
                <a16:creationId xmlns:a16="http://schemas.microsoft.com/office/drawing/2014/main" id="{DA4764A1-855B-A7D2-0333-0349A107A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BC08D1-CCF9-26C5-5FEC-290F6D82A095}"/>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910652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104298-C8BE-4FE9-9805-E3701BDA5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C54EF-421C-3690-B986-D8D4F125D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5BBCE9-43C0-1854-EEC8-2B6B670519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EAD542-DF6F-47DB-9611-E865B8C947C9}" type="datetimeFigureOut">
              <a:rPr lang="en-IN" smtClean="0"/>
              <a:t>28-07-2026</a:t>
            </a:fld>
            <a:endParaRPr lang="en-IN"/>
          </a:p>
        </p:txBody>
      </p:sp>
      <p:sp>
        <p:nvSpPr>
          <p:cNvPr id="5" name="Footer Placeholder 4">
            <a:extLst>
              <a:ext uri="{FF2B5EF4-FFF2-40B4-BE49-F238E27FC236}">
                <a16:creationId xmlns:a16="http://schemas.microsoft.com/office/drawing/2014/main" id="{3113E270-8C58-9647-B4CB-7DCBB65DDB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B99C406-25DC-12BE-F831-51DE97B126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82AF9D-7AA5-4D95-84A7-4C087EC41B6A}" type="slidenum">
              <a:rPr lang="en-IN" smtClean="0"/>
              <a:t>‹#›</a:t>
            </a:fld>
            <a:endParaRPr lang="en-IN"/>
          </a:p>
        </p:txBody>
      </p:sp>
    </p:spTree>
    <p:extLst>
      <p:ext uri="{BB962C8B-B14F-4D97-AF65-F5344CB8AC3E}">
        <p14:creationId xmlns:p14="http://schemas.microsoft.com/office/powerpoint/2010/main" val="1103077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9626-09AD-22D9-F0BA-298CB74ADBA2}"/>
              </a:ext>
            </a:extLst>
          </p:cNvPr>
          <p:cNvSpPr>
            <a:spLocks noGrp="1"/>
          </p:cNvSpPr>
          <p:nvPr>
            <p:ph type="ctrTitle"/>
          </p:nvPr>
        </p:nvSpPr>
        <p:spPr/>
        <p:txBody>
          <a:bodyPr/>
          <a:lstStyle/>
          <a:p>
            <a:r>
              <a:rPr lang="en-US" dirty="0"/>
              <a:t>COMPUTER VISION</a:t>
            </a:r>
            <a:endParaRPr lang="en-IN" dirty="0"/>
          </a:p>
        </p:txBody>
      </p:sp>
      <p:sp>
        <p:nvSpPr>
          <p:cNvPr id="3" name="Subtitle 2">
            <a:extLst>
              <a:ext uri="{FF2B5EF4-FFF2-40B4-BE49-F238E27FC236}">
                <a16:creationId xmlns:a16="http://schemas.microsoft.com/office/drawing/2014/main" id="{E96722D0-499A-7E64-06DC-BA287B542A3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13087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0525-AD28-C1C9-D85A-CA48396C4A7B}"/>
              </a:ext>
            </a:extLst>
          </p:cNvPr>
          <p:cNvSpPr>
            <a:spLocks noGrp="1"/>
          </p:cNvSpPr>
          <p:nvPr>
            <p:ph type="title"/>
          </p:nvPr>
        </p:nvSpPr>
        <p:spPr/>
        <p:txBody>
          <a:bodyPr/>
          <a:lstStyle/>
          <a:p>
            <a:r>
              <a:rPr lang="en-US" dirty="0"/>
              <a:t>INTODUCTION TO COMPUTER VISION</a:t>
            </a:r>
            <a:endParaRPr lang="en-IN" dirty="0"/>
          </a:p>
        </p:txBody>
      </p:sp>
      <p:sp>
        <p:nvSpPr>
          <p:cNvPr id="3" name="Content Placeholder 2">
            <a:extLst>
              <a:ext uri="{FF2B5EF4-FFF2-40B4-BE49-F238E27FC236}">
                <a16:creationId xmlns:a16="http://schemas.microsoft.com/office/drawing/2014/main" id="{D1A18A11-BAB9-335E-2A7D-1500BB1616C4}"/>
              </a:ext>
            </a:extLst>
          </p:cNvPr>
          <p:cNvSpPr>
            <a:spLocks noGrp="1"/>
          </p:cNvSpPr>
          <p:nvPr>
            <p:ph idx="1"/>
          </p:nvPr>
        </p:nvSpPr>
        <p:spPr/>
        <p:txBody>
          <a:bodyPr/>
          <a:lstStyle/>
          <a:p>
            <a:r>
              <a:rPr lang="en-IN" b="1" dirty="0"/>
              <a:t>Computer vision</a:t>
            </a:r>
            <a:r>
              <a:rPr lang="en-IN" dirty="0"/>
              <a:t> is a subfield of artificial intelligence that deals with acquiring, processing, </a:t>
            </a:r>
            <a:r>
              <a:rPr lang="en-IN" dirty="0" err="1"/>
              <a:t>analyzing</a:t>
            </a:r>
            <a:r>
              <a:rPr lang="en-IN" dirty="0"/>
              <a:t>, and making sense of visual data such as digital images and videos.</a:t>
            </a:r>
          </a:p>
          <a:p>
            <a:r>
              <a:rPr lang="en-IN" dirty="0"/>
              <a:t>It is one of the most compelling types of artificial intelligence that we regularly implement in our daily routines.</a:t>
            </a:r>
          </a:p>
          <a:p>
            <a:r>
              <a:rPr lang="en-IN" dirty="0"/>
              <a:t>Computer vision helps to understand the complexity of the human vision system and trains computer systems to interpret and gain a high-level understanding of digital images or videos.</a:t>
            </a:r>
          </a:p>
        </p:txBody>
      </p:sp>
    </p:spTree>
    <p:extLst>
      <p:ext uri="{BB962C8B-B14F-4D97-AF65-F5344CB8AC3E}">
        <p14:creationId xmlns:p14="http://schemas.microsoft.com/office/powerpoint/2010/main" val="431560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470C01-A2FF-ECBC-AE23-CDA7E7474926}"/>
              </a:ext>
            </a:extLst>
          </p:cNvPr>
          <p:cNvSpPr>
            <a:spLocks noGrp="1"/>
          </p:cNvSpPr>
          <p:nvPr>
            <p:ph idx="1"/>
          </p:nvPr>
        </p:nvSpPr>
        <p:spPr>
          <a:xfrm>
            <a:off x="838200" y="290146"/>
            <a:ext cx="10515600" cy="5886817"/>
          </a:xfrm>
        </p:spPr>
        <p:txBody>
          <a:bodyPr/>
          <a:lstStyle/>
          <a:p>
            <a:r>
              <a:rPr lang="en-IN" dirty="0"/>
              <a:t>In the early days, developing a machine system having human-like intelligence was just a dream, but with the advancement of artificial intelligence and machine learning, it also became possible. </a:t>
            </a:r>
          </a:p>
          <a:p>
            <a:r>
              <a:rPr lang="en-IN" b="1" i="1" dirty="0"/>
              <a:t>Computer vision is one of the most important fields of artificial intelligence (AI) and computer science engineering that makes computer systems capable of extracting meaningful information from visual data like videos and images.</a:t>
            </a:r>
          </a:p>
          <a:p>
            <a:r>
              <a:rPr lang="en-IN" dirty="0"/>
              <a:t>Further, it also helps to take appropriate actions and make recommendations based on the extracted information.</a:t>
            </a:r>
          </a:p>
        </p:txBody>
      </p:sp>
    </p:spTree>
    <p:extLst>
      <p:ext uri="{BB962C8B-B14F-4D97-AF65-F5344CB8AC3E}">
        <p14:creationId xmlns:p14="http://schemas.microsoft.com/office/powerpoint/2010/main" val="3443437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0DB6-E48E-A50C-AAA5-EE43EB039728}"/>
              </a:ext>
            </a:extLst>
          </p:cNvPr>
          <p:cNvSpPr>
            <a:spLocks noGrp="1"/>
          </p:cNvSpPr>
          <p:nvPr>
            <p:ph type="title"/>
          </p:nvPr>
        </p:nvSpPr>
        <p:spPr/>
        <p:txBody>
          <a:bodyPr>
            <a:normAutofit fontScale="90000"/>
          </a:bodyPr>
          <a:lstStyle/>
          <a:p>
            <a:br>
              <a:rPr lang="en-IN" dirty="0"/>
            </a:br>
            <a:r>
              <a:rPr lang="en-IN" dirty="0"/>
              <a:t>How does Computer Vision Work?</a:t>
            </a:r>
            <a:br>
              <a:rPr lang="en-IN" dirty="0"/>
            </a:br>
            <a:endParaRPr lang="en-IN" dirty="0"/>
          </a:p>
        </p:txBody>
      </p:sp>
      <p:sp>
        <p:nvSpPr>
          <p:cNvPr id="3" name="Content Placeholder 2">
            <a:extLst>
              <a:ext uri="{FF2B5EF4-FFF2-40B4-BE49-F238E27FC236}">
                <a16:creationId xmlns:a16="http://schemas.microsoft.com/office/drawing/2014/main" id="{6B14AECD-88A8-5F8A-F630-F0DEBD6363EA}"/>
              </a:ext>
            </a:extLst>
          </p:cNvPr>
          <p:cNvSpPr>
            <a:spLocks noGrp="1"/>
          </p:cNvSpPr>
          <p:nvPr>
            <p:ph idx="1"/>
          </p:nvPr>
        </p:nvSpPr>
        <p:spPr/>
        <p:txBody>
          <a:bodyPr/>
          <a:lstStyle/>
          <a:p>
            <a:r>
              <a:rPr lang="en-IN" dirty="0"/>
              <a:t>Computer vision is a technique that extracts information from visual data, such as images and videos. Although computer vision works similarly to human eyes with brain work, this is probably one of the biggest open questions for IT professionals: How does the human brain operate and solve visual object recognition?</a:t>
            </a:r>
            <a:br>
              <a:rPr lang="en-IN" dirty="0"/>
            </a:br>
            <a:endParaRPr lang="en-IN" dirty="0"/>
          </a:p>
        </p:txBody>
      </p:sp>
    </p:spTree>
    <p:extLst>
      <p:ext uri="{BB962C8B-B14F-4D97-AF65-F5344CB8AC3E}">
        <p14:creationId xmlns:p14="http://schemas.microsoft.com/office/powerpoint/2010/main" val="54884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mputer Vision">
            <a:extLst>
              <a:ext uri="{FF2B5EF4-FFF2-40B4-BE49-F238E27FC236}">
                <a16:creationId xmlns:a16="http://schemas.microsoft.com/office/drawing/2014/main" id="{324C38C7-0EAC-AF3D-8544-93DABDA69ABD}"/>
              </a:ext>
            </a:extLst>
          </p:cNvPr>
          <p:cNvPicPr>
            <a:picLocks noGrp="1" noChangeAspect="1"/>
          </p:cNvPicPr>
          <p:nvPr>
            <p:ph idx="1"/>
          </p:nvPr>
        </p:nvPicPr>
        <p:blipFill>
          <a:blip r:embed="rId2"/>
          <a:stretch>
            <a:fillRect/>
          </a:stretch>
        </p:blipFill>
        <p:spPr>
          <a:xfrm>
            <a:off x="1292469" y="571500"/>
            <a:ext cx="9381393" cy="5391944"/>
          </a:xfrm>
          <a:prstGeom prst="rect">
            <a:avLst/>
          </a:prstGeom>
        </p:spPr>
      </p:pic>
    </p:spTree>
    <p:extLst>
      <p:ext uri="{BB962C8B-B14F-4D97-AF65-F5344CB8AC3E}">
        <p14:creationId xmlns:p14="http://schemas.microsoft.com/office/powerpoint/2010/main" val="392350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88482B-0F34-8FDD-0804-5FF7F99EB625}"/>
              </a:ext>
            </a:extLst>
          </p:cNvPr>
          <p:cNvSpPr>
            <a:spLocks noGrp="1"/>
          </p:cNvSpPr>
          <p:nvPr>
            <p:ph idx="1"/>
          </p:nvPr>
        </p:nvSpPr>
        <p:spPr>
          <a:xfrm>
            <a:off x="838200" y="501162"/>
            <a:ext cx="10515600" cy="5675801"/>
          </a:xfrm>
        </p:spPr>
        <p:txBody>
          <a:bodyPr/>
          <a:lstStyle/>
          <a:p>
            <a:r>
              <a:rPr lang="en-IN" dirty="0"/>
              <a:t>On a certain level, computer vision is all about pattern recognition which includes the training process of machine systems for understanding the visual data such as images and videos, etc.</a:t>
            </a:r>
          </a:p>
          <a:p>
            <a:r>
              <a:rPr lang="en-IN" dirty="0"/>
              <a:t>a vast amount of visual </a:t>
            </a:r>
            <a:r>
              <a:rPr lang="en-IN" dirty="0" err="1"/>
              <a:t>labeled</a:t>
            </a:r>
            <a:r>
              <a:rPr lang="en-IN" dirty="0"/>
              <a:t> data is provided to machines to train it. This </a:t>
            </a:r>
            <a:r>
              <a:rPr lang="en-IN" dirty="0" err="1"/>
              <a:t>labeled</a:t>
            </a:r>
            <a:r>
              <a:rPr lang="en-IN" dirty="0"/>
              <a:t> data enables the machine to </a:t>
            </a:r>
            <a:r>
              <a:rPr lang="en-IN" dirty="0" err="1"/>
              <a:t>analyze</a:t>
            </a:r>
            <a:r>
              <a:rPr lang="en-IN" dirty="0"/>
              <a:t> different patterns in all the data points and can relate to those labels. </a:t>
            </a:r>
          </a:p>
          <a:p>
            <a:r>
              <a:rPr lang="en-IN" dirty="0"/>
              <a:t> E.g., suppose we provide visual data of millions of dog images. In that case, the computer learns from this data, </a:t>
            </a:r>
            <a:r>
              <a:rPr lang="en-IN" dirty="0" err="1"/>
              <a:t>analyzes</a:t>
            </a:r>
            <a:r>
              <a:rPr lang="en-IN" dirty="0"/>
              <a:t> each photo, shape, the distance between each shape, </a:t>
            </a:r>
            <a:r>
              <a:rPr lang="en-IN" dirty="0" err="1"/>
              <a:t>color</a:t>
            </a:r>
            <a:r>
              <a:rPr lang="en-IN" dirty="0"/>
              <a:t>, etc., and hence identifies patterns similar to dogs and generates a model. </a:t>
            </a:r>
          </a:p>
          <a:p>
            <a:r>
              <a:rPr lang="en-IN" dirty="0"/>
              <a:t>As a result, this computer vision model can now accurately detect whether the image contains a dog or not for each input image.</a:t>
            </a:r>
          </a:p>
        </p:txBody>
      </p:sp>
    </p:spTree>
    <p:extLst>
      <p:ext uri="{BB962C8B-B14F-4D97-AF65-F5344CB8AC3E}">
        <p14:creationId xmlns:p14="http://schemas.microsoft.com/office/powerpoint/2010/main" val="1221405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2AFD-6372-4D9E-1648-BE37A4E6650C}"/>
              </a:ext>
            </a:extLst>
          </p:cNvPr>
          <p:cNvSpPr>
            <a:spLocks noGrp="1"/>
          </p:cNvSpPr>
          <p:nvPr>
            <p:ph type="title"/>
          </p:nvPr>
        </p:nvSpPr>
        <p:spPr/>
        <p:txBody>
          <a:bodyPr/>
          <a:lstStyle/>
          <a:p>
            <a:r>
              <a:rPr lang="en-IN" dirty="0"/>
              <a:t>Task Associated with Computer Vision</a:t>
            </a:r>
            <a:br>
              <a:rPr lang="en-IN" dirty="0"/>
            </a:br>
            <a:endParaRPr lang="en-IN" dirty="0"/>
          </a:p>
        </p:txBody>
      </p:sp>
      <p:sp>
        <p:nvSpPr>
          <p:cNvPr id="3" name="Content Placeholder 2">
            <a:extLst>
              <a:ext uri="{FF2B5EF4-FFF2-40B4-BE49-F238E27FC236}">
                <a16:creationId xmlns:a16="http://schemas.microsoft.com/office/drawing/2014/main" id="{E8085B0F-8807-34BC-DC86-07CFFFCFE597}"/>
              </a:ext>
            </a:extLst>
          </p:cNvPr>
          <p:cNvSpPr>
            <a:spLocks noGrp="1"/>
          </p:cNvSpPr>
          <p:nvPr>
            <p:ph idx="1"/>
          </p:nvPr>
        </p:nvSpPr>
        <p:spPr/>
        <p:txBody>
          <a:bodyPr/>
          <a:lstStyle/>
          <a:p>
            <a:r>
              <a:rPr lang="en-IN" dirty="0"/>
              <a:t>Although computer vision has been utilized in so many fields, there are a few common tasks for computer vision systems. These tasks are given below:</a:t>
            </a:r>
            <a:br>
              <a:rPr lang="en-IN" dirty="0"/>
            </a:br>
            <a:r>
              <a:rPr lang="en-IN" dirty="0"/>
              <a:t>	</a:t>
            </a:r>
          </a:p>
        </p:txBody>
      </p:sp>
      <p:pic>
        <p:nvPicPr>
          <p:cNvPr id="4" name="Picture 3" descr="Computer Vision">
            <a:extLst>
              <a:ext uri="{FF2B5EF4-FFF2-40B4-BE49-F238E27FC236}">
                <a16:creationId xmlns:a16="http://schemas.microsoft.com/office/drawing/2014/main" id="{BCC90137-3ADE-D7E9-C81A-5E374F71C42F}"/>
              </a:ext>
            </a:extLst>
          </p:cNvPr>
          <p:cNvPicPr>
            <a:picLocks noChangeAspect="1"/>
          </p:cNvPicPr>
          <p:nvPr/>
        </p:nvPicPr>
        <p:blipFill>
          <a:blip r:embed="rId2"/>
          <a:stretch>
            <a:fillRect/>
          </a:stretch>
        </p:blipFill>
        <p:spPr>
          <a:xfrm>
            <a:off x="1609724" y="3118704"/>
            <a:ext cx="8686068" cy="3374171"/>
          </a:xfrm>
          <a:prstGeom prst="rect">
            <a:avLst/>
          </a:prstGeom>
        </p:spPr>
      </p:pic>
    </p:spTree>
    <p:extLst>
      <p:ext uri="{BB962C8B-B14F-4D97-AF65-F5344CB8AC3E}">
        <p14:creationId xmlns:p14="http://schemas.microsoft.com/office/powerpoint/2010/main" val="2249678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7547-7BD2-0B4F-CBEC-FD8020CE7448}"/>
              </a:ext>
            </a:extLst>
          </p:cNvPr>
          <p:cNvSpPr>
            <a:spLocks noGrp="1"/>
          </p:cNvSpPr>
          <p:nvPr>
            <p:ph type="title"/>
          </p:nvPr>
        </p:nvSpPr>
        <p:spPr/>
        <p:txBody>
          <a:bodyPr/>
          <a:lstStyle/>
          <a:p>
            <a:r>
              <a:rPr lang="en-IN" dirty="0"/>
              <a:t>Applications of computer vision</a:t>
            </a:r>
            <a:br>
              <a:rPr lang="en-IN" dirty="0"/>
            </a:br>
            <a:endParaRPr lang="en-IN" dirty="0"/>
          </a:p>
        </p:txBody>
      </p:sp>
      <p:sp>
        <p:nvSpPr>
          <p:cNvPr id="3" name="Content Placeholder 2">
            <a:extLst>
              <a:ext uri="{FF2B5EF4-FFF2-40B4-BE49-F238E27FC236}">
                <a16:creationId xmlns:a16="http://schemas.microsoft.com/office/drawing/2014/main" id="{6AB8B197-5353-593D-4348-64D825A04518}"/>
              </a:ext>
            </a:extLst>
          </p:cNvPr>
          <p:cNvSpPr>
            <a:spLocks noGrp="1"/>
          </p:cNvSpPr>
          <p:nvPr>
            <p:ph idx="1"/>
          </p:nvPr>
        </p:nvSpPr>
        <p:spPr/>
        <p:txBody>
          <a:bodyPr/>
          <a:lstStyle/>
          <a:p>
            <a:r>
              <a:rPr lang="en-IN" b="1" dirty="0"/>
              <a:t>Facial recognition:</a:t>
            </a:r>
            <a:r>
              <a:rPr lang="en-IN" dirty="0"/>
              <a:t> Computer vision has enabled machines to detect face images of people to verify their identity. Initially, the machines are given input data images in which computer vision algorithms detect facial features and compare them with databases of fake profiles. Popular social media platforms like Facebook also use facial recognition to detect and tag users. Further, various government spy agencies are employing this feature to identify criminals in video feeds.</a:t>
            </a:r>
          </a:p>
          <a:p>
            <a:endParaRPr lang="en-IN" dirty="0"/>
          </a:p>
        </p:txBody>
      </p:sp>
    </p:spTree>
    <p:extLst>
      <p:ext uri="{BB962C8B-B14F-4D97-AF65-F5344CB8AC3E}">
        <p14:creationId xmlns:p14="http://schemas.microsoft.com/office/powerpoint/2010/main" val="306969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312A6B-CD6F-9AFB-6D67-80602B3CE949}"/>
              </a:ext>
            </a:extLst>
          </p:cNvPr>
          <p:cNvSpPr>
            <a:spLocks noGrp="1"/>
          </p:cNvSpPr>
          <p:nvPr>
            <p:ph idx="1"/>
          </p:nvPr>
        </p:nvSpPr>
        <p:spPr>
          <a:xfrm>
            <a:off x="838200" y="360485"/>
            <a:ext cx="10515600" cy="5816478"/>
          </a:xfrm>
        </p:spPr>
        <p:txBody>
          <a:bodyPr/>
          <a:lstStyle/>
          <a:p>
            <a:r>
              <a:rPr lang="en-IN" b="1" dirty="0"/>
              <a:t>Healthcare and Medicine:</a:t>
            </a:r>
            <a:r>
              <a:rPr lang="en-IN" dirty="0"/>
              <a:t> Computer vision has played an important role in the healthcare and medicine industry. Traditional approaches for evaluating cancerous </a:t>
            </a:r>
            <a:r>
              <a:rPr lang="en-IN" dirty="0" err="1"/>
              <a:t>tumors</a:t>
            </a:r>
            <a:r>
              <a:rPr lang="en-IN" dirty="0"/>
              <a:t> are time-consuming and have less accurate predictions, whereas computer vision technology provides faster and more accurate chemotherapy response assessments; doctors can identify cancer patients who need faster surgery with life-saving precision.</a:t>
            </a:r>
          </a:p>
          <a:p>
            <a:r>
              <a:rPr lang="en-IN" b="1" dirty="0"/>
              <a:t>Self-driving vehicles:</a:t>
            </a:r>
            <a:r>
              <a:rPr lang="en-IN" dirty="0"/>
              <a:t> Computer vision technology has also contributed to its role in self-driving vehicles to make sense of their surroundings by capturing video from different angles around the car and then introducing it into the software. This helps to detect other cars and objects, read traffic signals, pedestrian paths, etc., and safely drive its passengers to their destination.</a:t>
            </a:r>
          </a:p>
          <a:p>
            <a:endParaRPr lang="en-IN" dirty="0"/>
          </a:p>
          <a:p>
            <a:endParaRPr lang="en-IN" dirty="0"/>
          </a:p>
        </p:txBody>
      </p:sp>
    </p:spTree>
    <p:extLst>
      <p:ext uri="{BB962C8B-B14F-4D97-AF65-F5344CB8AC3E}">
        <p14:creationId xmlns:p14="http://schemas.microsoft.com/office/powerpoint/2010/main" val="2952900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8412D7-18CF-7868-E3D0-C4A137D62ED8}"/>
              </a:ext>
            </a:extLst>
          </p:cNvPr>
          <p:cNvSpPr>
            <a:spLocks noGrp="1"/>
          </p:cNvSpPr>
          <p:nvPr>
            <p:ph idx="1"/>
          </p:nvPr>
        </p:nvSpPr>
        <p:spPr>
          <a:xfrm>
            <a:off x="838200" y="457200"/>
            <a:ext cx="10515600" cy="5719763"/>
          </a:xfrm>
        </p:spPr>
        <p:txBody>
          <a:bodyPr/>
          <a:lstStyle/>
          <a:p>
            <a:r>
              <a:rPr lang="en-IN" b="1" dirty="0"/>
              <a:t>Optical character recognition (OCR)</a:t>
            </a:r>
            <a:br>
              <a:rPr lang="en-IN" dirty="0"/>
            </a:br>
            <a:r>
              <a:rPr lang="en-IN" dirty="0"/>
              <a:t>Optical character recognition helps us extract printed or handwritten text from visual data such as images. Further, it also enables us to extract text from documents like invoices, bills, articles, etc.</a:t>
            </a:r>
          </a:p>
          <a:p>
            <a:r>
              <a:rPr lang="en-IN" b="1" dirty="0"/>
              <a:t>Retail (e.g., automated checkouts):</a:t>
            </a:r>
            <a:r>
              <a:rPr lang="en-IN" dirty="0"/>
              <a:t> Computer vision is also being implemented in the retail industries to track products, shelves, wages, record product movements into the store, etc. This AI-based computer vision technique automatically charges the customer for the marked products upon checkout from the retail stores.</a:t>
            </a:r>
            <a:br>
              <a:rPr lang="en-IN" dirty="0"/>
            </a:br>
            <a:endParaRPr lang="en-IN" dirty="0"/>
          </a:p>
        </p:txBody>
      </p:sp>
    </p:spTree>
    <p:extLst>
      <p:ext uri="{BB962C8B-B14F-4D97-AF65-F5344CB8AC3E}">
        <p14:creationId xmlns:p14="http://schemas.microsoft.com/office/powerpoint/2010/main" val="95300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B3FFB-6FFB-BDC7-9E09-099F51AB1151}"/>
              </a:ext>
            </a:extLst>
          </p:cNvPr>
          <p:cNvSpPr>
            <a:spLocks noGrp="1"/>
          </p:cNvSpPr>
          <p:nvPr>
            <p:ph idx="1"/>
          </p:nvPr>
        </p:nvSpPr>
        <p:spPr>
          <a:xfrm>
            <a:off x="838200" y="509954"/>
            <a:ext cx="10515600" cy="5667009"/>
          </a:xfrm>
        </p:spPr>
        <p:txBody>
          <a:bodyPr/>
          <a:lstStyle/>
          <a:p>
            <a:r>
              <a:rPr lang="en-IN" b="1" dirty="0"/>
              <a:t>Medical imaging:</a:t>
            </a:r>
            <a:r>
              <a:rPr lang="en-IN" dirty="0"/>
              <a:t> Computer vision helps medical professionals make better decisions regarding treating patients by developing visualization of specific body parts such as organs and tissues. It helps them get more accurate diagnoses and a better patient care system. E.g., Computed Tomography (CT) or Magnetic Resonance Imaging (MRI) scanner to diagnose pathologies or guide medical interventions such as surgical planning or for research purposes.</a:t>
            </a:r>
          </a:p>
          <a:p>
            <a:r>
              <a:rPr lang="en-IN" b="1" dirty="0"/>
              <a:t>Automotive safety:</a:t>
            </a:r>
            <a:r>
              <a:rPr lang="en-IN" dirty="0"/>
              <a:t> Computer vision has added an important safety feature in automotive industries. E.g., if a vehicle is taught to detect objects and dangers, it could prevent an accident and save thousands of lives and property.</a:t>
            </a:r>
          </a:p>
          <a:p>
            <a:endParaRPr lang="en-IN" dirty="0"/>
          </a:p>
          <a:p>
            <a:endParaRPr lang="en-IN" dirty="0"/>
          </a:p>
        </p:txBody>
      </p:sp>
    </p:spTree>
    <p:extLst>
      <p:ext uri="{BB962C8B-B14F-4D97-AF65-F5344CB8AC3E}">
        <p14:creationId xmlns:p14="http://schemas.microsoft.com/office/powerpoint/2010/main" val="3984789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2EB481-1243-544C-BED5-65C9E537C64A}"/>
              </a:ext>
            </a:extLst>
          </p:cNvPr>
          <p:cNvSpPr>
            <a:spLocks noGrp="1"/>
          </p:cNvSpPr>
          <p:nvPr>
            <p:ph idx="1"/>
          </p:nvPr>
        </p:nvSpPr>
        <p:spPr>
          <a:xfrm>
            <a:off x="838200" y="483577"/>
            <a:ext cx="10515600" cy="5693386"/>
          </a:xfrm>
        </p:spPr>
        <p:txBody>
          <a:bodyPr>
            <a:normAutofit/>
          </a:bodyPr>
          <a:lstStyle/>
          <a:p>
            <a:r>
              <a:rPr lang="en-IN" b="1" dirty="0"/>
              <a:t>Fingerprint recognition and biometrics:</a:t>
            </a:r>
            <a:r>
              <a:rPr lang="en-IN" dirty="0"/>
              <a:t> Computer vision technology detects fingerprints and biometrics to validate a user's identity. Biometrics deals with recognizing persons based on physiological characteristics, such as the face, fingerprint, vascular pattern, or iris, and </a:t>
            </a:r>
            <a:r>
              <a:rPr lang="en-IN" dirty="0" err="1"/>
              <a:t>behavioral</a:t>
            </a:r>
            <a:r>
              <a:rPr lang="en-IN" dirty="0"/>
              <a:t> traits, such as gait or speech. It combines Computer Vision with knowledge of human physiology and </a:t>
            </a:r>
            <a:r>
              <a:rPr lang="en-IN" dirty="0" err="1"/>
              <a:t>behavior</a:t>
            </a:r>
            <a:r>
              <a:rPr lang="en-IN" dirty="0"/>
              <a:t>.</a:t>
            </a:r>
          </a:p>
          <a:p>
            <a:r>
              <a:rPr lang="en-IN" b="1" dirty="0"/>
              <a:t>Surveillance:</a:t>
            </a:r>
            <a:r>
              <a:rPr lang="en-IN" dirty="0"/>
              <a:t> It is one of computer vision technology's most important and beneficial use cases. Nowadays, CCTV cameras are almost fitted in every place, such as streets, roads, highways, shops, stores, etc., to spot various doubtful or criminal activities. It helps provide live footage of public places to identify suspicious </a:t>
            </a:r>
            <a:r>
              <a:rPr lang="en-IN" dirty="0" err="1"/>
              <a:t>behavior</a:t>
            </a:r>
            <a:r>
              <a:rPr lang="en-IN" dirty="0"/>
              <a:t>, identify dangerous objects, and prevent crimes by maintaining law and order.</a:t>
            </a:r>
          </a:p>
          <a:p>
            <a:endParaRPr lang="en-IN" dirty="0"/>
          </a:p>
        </p:txBody>
      </p:sp>
    </p:spTree>
    <p:extLst>
      <p:ext uri="{BB962C8B-B14F-4D97-AF65-F5344CB8AC3E}">
        <p14:creationId xmlns:p14="http://schemas.microsoft.com/office/powerpoint/2010/main" val="4203830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images.openai.com/static-rsc-4/kzJ42SAN_wyz6yeKtbi__tUBX13p_7wP7uwM0APokGg2tdPxYoBzOTcqPaQQvof_aIkSefxnZV_-3XlO7r-dHKmxoGxbn4dZQx0BMXKeIgGxLIMbgXw1JCvzZQDjR7ehscAewe12gVVAa3YVHAFvBr-xLqyxQY0lHt0zBYoE5dQV7m7v5YnJG2aBFzAe081-?purpose=fullsize">
            <a:extLst>
              <a:ext uri="{FF2B5EF4-FFF2-40B4-BE49-F238E27FC236}">
                <a16:creationId xmlns:a16="http://schemas.microsoft.com/office/drawing/2014/main" id="{5537F222-5D51-78B6-227A-04269C4FDCBE}"/>
              </a:ext>
            </a:extLst>
          </p:cNvPr>
          <p:cNvPicPr>
            <a:picLocks noGrp="1" noChangeAspect="1"/>
          </p:cNvPicPr>
          <p:nvPr>
            <p:ph idx="1"/>
          </p:nvPr>
        </p:nvPicPr>
        <p:blipFill>
          <a:blip r:embed="rId2"/>
          <a:stretch>
            <a:fillRect/>
          </a:stretch>
        </p:blipFill>
        <p:spPr>
          <a:xfrm>
            <a:off x="-61546" y="413238"/>
            <a:ext cx="11904784" cy="5763725"/>
          </a:xfrm>
          <a:prstGeom prst="rect">
            <a:avLst/>
          </a:prstGeom>
        </p:spPr>
      </p:pic>
    </p:spTree>
    <p:extLst>
      <p:ext uri="{BB962C8B-B14F-4D97-AF65-F5344CB8AC3E}">
        <p14:creationId xmlns:p14="http://schemas.microsoft.com/office/powerpoint/2010/main" val="3080497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images.openai.com/static-rsc-4/GR_XBFa9yYbbWXHtQejQkGEPLmaEnCa_12SGuPQF1JdzxRM-RSjE03TCLzMqVC8llOzO1SsxQHs_wM5J0Sd11y38MKMH_vZYH1kJtVhMcaEI9FuU3ffx7VP4l4tb3N4u_gkm5FVNgLWtgRTlfCdAc4xrEZy3B1dQ-bz8IHirzAAJA1i532U9CeSsQIhPwKlW?purpose=fullsize">
            <a:extLst>
              <a:ext uri="{FF2B5EF4-FFF2-40B4-BE49-F238E27FC236}">
                <a16:creationId xmlns:a16="http://schemas.microsoft.com/office/drawing/2014/main" id="{9552BFF9-9E48-8B78-C7F7-65653CB6792E}"/>
              </a:ext>
            </a:extLst>
          </p:cNvPr>
          <p:cNvPicPr>
            <a:picLocks noGrp="1" noChangeAspect="1"/>
          </p:cNvPicPr>
          <p:nvPr>
            <p:ph idx="1"/>
          </p:nvPr>
        </p:nvPicPr>
        <p:blipFill>
          <a:blip r:embed="rId2"/>
          <a:stretch>
            <a:fillRect/>
          </a:stretch>
        </p:blipFill>
        <p:spPr>
          <a:xfrm>
            <a:off x="1485900" y="219808"/>
            <a:ext cx="9328638" cy="5957155"/>
          </a:xfrm>
          <a:prstGeom prst="rect">
            <a:avLst/>
          </a:prstGeom>
        </p:spPr>
      </p:pic>
    </p:spTree>
    <p:extLst>
      <p:ext uri="{BB962C8B-B14F-4D97-AF65-F5344CB8AC3E}">
        <p14:creationId xmlns:p14="http://schemas.microsoft.com/office/powerpoint/2010/main" val="271559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images.openai.com/static-rsc-4/091gASVVU9uf5aJm-7fkWkZ-yzCxqW9JpDWybhry8b9pkx8Vn0O784kDXM-clltnmNNwKK8uq6hYXzKDtnDBYOUJV8FUUxvHzWvxO4DYulvUGQK5Frf-27h7rkNNFfteHcKnmcgl4ak4fJ6D5QoV2lWhgRhMFsruA0fXarMzubTRmSaTbGUNX4kmDQrnOuD9?purpose=fullsize">
            <a:extLst>
              <a:ext uri="{FF2B5EF4-FFF2-40B4-BE49-F238E27FC236}">
                <a16:creationId xmlns:a16="http://schemas.microsoft.com/office/drawing/2014/main" id="{E16B0C9E-3B6B-7984-9A01-A72238CF46D7}"/>
              </a:ext>
            </a:extLst>
          </p:cNvPr>
          <p:cNvPicPr>
            <a:picLocks noChangeAspect="1"/>
          </p:cNvPicPr>
          <p:nvPr/>
        </p:nvPicPr>
        <p:blipFill>
          <a:blip r:embed="rId2"/>
          <a:stretch>
            <a:fillRect/>
          </a:stretch>
        </p:blipFill>
        <p:spPr>
          <a:xfrm>
            <a:off x="263769" y="857250"/>
            <a:ext cx="10832123" cy="5143500"/>
          </a:xfrm>
          <a:prstGeom prst="rect">
            <a:avLst/>
          </a:prstGeom>
        </p:spPr>
      </p:pic>
    </p:spTree>
    <p:extLst>
      <p:ext uri="{BB962C8B-B14F-4D97-AF65-F5344CB8AC3E}">
        <p14:creationId xmlns:p14="http://schemas.microsoft.com/office/powerpoint/2010/main" val="128172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CAFAD-498E-4CE9-FED4-4FE21DF2E233}"/>
              </a:ext>
            </a:extLst>
          </p:cNvPr>
          <p:cNvSpPr>
            <a:spLocks noGrp="1"/>
          </p:cNvSpPr>
          <p:nvPr>
            <p:ph type="title"/>
          </p:nvPr>
        </p:nvSpPr>
        <p:spPr/>
        <p:txBody>
          <a:bodyPr/>
          <a:lstStyle/>
          <a:p>
            <a:r>
              <a:rPr lang="en-IN" dirty="0"/>
              <a:t>The basic steps are:</a:t>
            </a:r>
          </a:p>
        </p:txBody>
      </p:sp>
      <p:sp>
        <p:nvSpPr>
          <p:cNvPr id="3" name="Content Placeholder 2">
            <a:extLst>
              <a:ext uri="{FF2B5EF4-FFF2-40B4-BE49-F238E27FC236}">
                <a16:creationId xmlns:a16="http://schemas.microsoft.com/office/drawing/2014/main" id="{ADE0DA17-FA78-09E2-7390-ADF59C687B1C}"/>
              </a:ext>
            </a:extLst>
          </p:cNvPr>
          <p:cNvSpPr>
            <a:spLocks noGrp="1"/>
          </p:cNvSpPr>
          <p:nvPr>
            <p:ph idx="1"/>
          </p:nvPr>
        </p:nvSpPr>
        <p:spPr/>
        <p:txBody>
          <a:bodyPr>
            <a:normAutofit fontScale="92500"/>
          </a:bodyPr>
          <a:lstStyle/>
          <a:p>
            <a:r>
              <a:rPr lang="en-IN" b="1" dirty="0"/>
              <a:t>Image Capture</a:t>
            </a:r>
            <a:r>
              <a:rPr lang="en-IN" dirty="0"/>
              <a:t> A camera captures an image or video. </a:t>
            </a:r>
          </a:p>
          <a:p>
            <a:r>
              <a:rPr lang="en-IN" dirty="0"/>
              <a:t>The image is made up of tiny dots called </a:t>
            </a:r>
            <a:r>
              <a:rPr lang="en-IN" b="1" dirty="0"/>
              <a:t>pixels</a:t>
            </a:r>
            <a:r>
              <a:rPr lang="en-IN" dirty="0"/>
              <a:t>. </a:t>
            </a:r>
          </a:p>
          <a:p>
            <a:r>
              <a:rPr lang="en-IN" b="1" dirty="0"/>
              <a:t>Preprocessing</a:t>
            </a:r>
            <a:r>
              <a:rPr lang="en-IN" dirty="0"/>
              <a:t> The computer cleans the image (removes noise, adjusts brightness, resizes, etc.). </a:t>
            </a:r>
          </a:p>
          <a:p>
            <a:r>
              <a:rPr lang="en-IN" dirty="0"/>
              <a:t>This helps improve accuracy. </a:t>
            </a:r>
          </a:p>
          <a:p>
            <a:r>
              <a:rPr lang="en-IN" b="1" dirty="0"/>
              <a:t>Feature Extraction</a:t>
            </a:r>
            <a:r>
              <a:rPr lang="en-IN" dirty="0"/>
              <a:t> The system looks for important patterns such as: </a:t>
            </a:r>
          </a:p>
          <a:p>
            <a:pPr lvl="1"/>
            <a:r>
              <a:rPr lang="en-IN" dirty="0"/>
              <a:t>Edges </a:t>
            </a:r>
          </a:p>
          <a:p>
            <a:pPr lvl="1"/>
            <a:r>
              <a:rPr lang="en-IN" dirty="0"/>
              <a:t>Shapes </a:t>
            </a:r>
          </a:p>
          <a:p>
            <a:pPr lvl="1"/>
            <a:r>
              <a:rPr lang="en-IN" dirty="0" err="1"/>
              <a:t>Colors</a:t>
            </a:r>
            <a:r>
              <a:rPr lang="en-IN" dirty="0"/>
              <a:t> </a:t>
            </a:r>
          </a:p>
          <a:p>
            <a:pPr lvl="1"/>
            <a:r>
              <a:rPr lang="en-IN" dirty="0"/>
              <a:t>Textures</a:t>
            </a:r>
          </a:p>
          <a:p>
            <a:endParaRPr lang="en-IN" dirty="0"/>
          </a:p>
        </p:txBody>
      </p:sp>
    </p:spTree>
    <p:extLst>
      <p:ext uri="{BB962C8B-B14F-4D97-AF65-F5344CB8AC3E}">
        <p14:creationId xmlns:p14="http://schemas.microsoft.com/office/powerpoint/2010/main" val="459484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D0EC9-C37B-2096-F7C3-C786DBCD970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D2817A-399E-4D6D-1158-F293F313DE07}"/>
              </a:ext>
            </a:extLst>
          </p:cNvPr>
          <p:cNvSpPr>
            <a:spLocks noGrp="1"/>
          </p:cNvSpPr>
          <p:nvPr>
            <p:ph idx="1"/>
          </p:nvPr>
        </p:nvSpPr>
        <p:spPr/>
        <p:txBody>
          <a:bodyPr/>
          <a:lstStyle/>
          <a:p>
            <a:r>
              <a:rPr lang="en-IN" b="1" dirty="0"/>
              <a:t>Analysis with AI Models</a:t>
            </a:r>
            <a:r>
              <a:rPr lang="en-IN" dirty="0"/>
              <a:t> Machine learning or deep learning models </a:t>
            </a:r>
            <a:r>
              <a:rPr lang="en-IN" dirty="0" err="1"/>
              <a:t>analyze</a:t>
            </a:r>
            <a:r>
              <a:rPr lang="en-IN" dirty="0"/>
              <a:t> the features. </a:t>
            </a:r>
          </a:p>
          <a:p>
            <a:r>
              <a:rPr lang="en-IN" dirty="0"/>
              <a:t>The model compares what it sees with patterns learned from thousands or millions of training images. </a:t>
            </a:r>
          </a:p>
          <a:p>
            <a:r>
              <a:rPr lang="en-IN" b="1" dirty="0"/>
              <a:t>Decision/Prediction</a:t>
            </a:r>
            <a:r>
              <a:rPr lang="en-IN" dirty="0"/>
              <a:t> The system outputs a result, such as: </a:t>
            </a:r>
          </a:p>
          <a:p>
            <a:pPr lvl="1"/>
            <a:r>
              <a:rPr lang="en-IN" dirty="0"/>
              <a:t>"This is a cat." </a:t>
            </a:r>
          </a:p>
          <a:p>
            <a:pPr lvl="1"/>
            <a:r>
              <a:rPr lang="en-IN" dirty="0"/>
              <a:t>"There is a pedestrian ahead." </a:t>
            </a:r>
          </a:p>
          <a:p>
            <a:pPr lvl="1"/>
            <a:r>
              <a:rPr lang="en-IN" dirty="0"/>
              <a:t>"The face belongs to John."</a:t>
            </a:r>
          </a:p>
          <a:p>
            <a:endParaRPr lang="en-IN" dirty="0"/>
          </a:p>
        </p:txBody>
      </p:sp>
    </p:spTree>
    <p:extLst>
      <p:ext uri="{BB962C8B-B14F-4D97-AF65-F5344CB8AC3E}">
        <p14:creationId xmlns:p14="http://schemas.microsoft.com/office/powerpoint/2010/main" val="3539043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2C492-B3FC-9116-664F-8CDB38F655D1}"/>
              </a:ext>
            </a:extLst>
          </p:cNvPr>
          <p:cNvSpPr>
            <a:spLocks noGrp="1"/>
          </p:cNvSpPr>
          <p:nvPr>
            <p:ph type="title"/>
          </p:nvPr>
        </p:nvSpPr>
        <p:spPr/>
        <p:txBody>
          <a:bodyPr/>
          <a:lstStyle/>
          <a:p>
            <a:r>
              <a:rPr lang="en-IN" dirty="0"/>
              <a:t>Example: Cat vs. Dog Classification</a:t>
            </a:r>
          </a:p>
        </p:txBody>
      </p:sp>
      <p:sp>
        <p:nvSpPr>
          <p:cNvPr id="3" name="Content Placeholder 2">
            <a:extLst>
              <a:ext uri="{FF2B5EF4-FFF2-40B4-BE49-F238E27FC236}">
                <a16:creationId xmlns:a16="http://schemas.microsoft.com/office/drawing/2014/main" id="{0170CCAC-FF2C-3BBA-E064-59AA0998EF3A}"/>
              </a:ext>
            </a:extLst>
          </p:cNvPr>
          <p:cNvSpPr>
            <a:spLocks noGrp="1"/>
          </p:cNvSpPr>
          <p:nvPr>
            <p:ph idx="1"/>
          </p:nvPr>
        </p:nvSpPr>
        <p:spPr/>
        <p:txBody>
          <a:bodyPr>
            <a:normAutofit fontScale="92500" lnSpcReduction="10000"/>
          </a:bodyPr>
          <a:lstStyle/>
          <a:p>
            <a:r>
              <a:rPr lang="en-IN" dirty="0"/>
              <a:t>Suppose you want a computer to identify whether a picture contains a cat or a dog.</a:t>
            </a:r>
          </a:p>
          <a:p>
            <a:r>
              <a:rPr lang="en-IN" dirty="0"/>
              <a:t>Collect thousands of </a:t>
            </a:r>
            <a:r>
              <a:rPr lang="en-IN" dirty="0" err="1"/>
              <a:t>labeled</a:t>
            </a:r>
            <a:r>
              <a:rPr lang="en-IN" dirty="0"/>
              <a:t> images: </a:t>
            </a:r>
          </a:p>
          <a:p>
            <a:pPr lvl="1"/>
            <a:r>
              <a:rPr lang="en-IN" dirty="0"/>
              <a:t>Cat images → </a:t>
            </a:r>
            <a:r>
              <a:rPr lang="en-IN" dirty="0" err="1"/>
              <a:t>labeled</a:t>
            </a:r>
            <a:r>
              <a:rPr lang="en-IN" dirty="0"/>
              <a:t> "Cat" </a:t>
            </a:r>
          </a:p>
          <a:p>
            <a:pPr lvl="1"/>
            <a:r>
              <a:rPr lang="en-IN" dirty="0"/>
              <a:t>Dog images → </a:t>
            </a:r>
            <a:r>
              <a:rPr lang="en-IN" dirty="0" err="1"/>
              <a:t>labeled</a:t>
            </a:r>
            <a:r>
              <a:rPr lang="en-IN" dirty="0"/>
              <a:t> "Dog" </a:t>
            </a:r>
          </a:p>
          <a:p>
            <a:r>
              <a:rPr lang="en-IN" dirty="0"/>
              <a:t>Train a deep learning model (such as a Convolutional Neural Network). </a:t>
            </a:r>
          </a:p>
          <a:p>
            <a:r>
              <a:rPr lang="en-IN" dirty="0"/>
              <a:t>During training, the model learns: </a:t>
            </a:r>
          </a:p>
          <a:p>
            <a:pPr lvl="1"/>
            <a:r>
              <a:rPr lang="en-IN" dirty="0"/>
              <a:t>Cats usually have certain ear shapes, facial structures, and body patterns. </a:t>
            </a:r>
          </a:p>
          <a:p>
            <a:pPr lvl="1"/>
            <a:r>
              <a:rPr lang="en-IN" dirty="0"/>
              <a:t>Dogs have different features. </a:t>
            </a:r>
          </a:p>
          <a:p>
            <a:r>
              <a:rPr lang="en-IN" dirty="0"/>
              <a:t>When a new image is provided:</a:t>
            </a:r>
          </a:p>
          <a:p>
            <a:r>
              <a:rPr lang="en-IN" b="1" dirty="0"/>
              <a:t>Input Image → AI Model → Output: "Dog (98% confidence)"</a:t>
            </a:r>
            <a:endParaRPr lang="en-IN" dirty="0"/>
          </a:p>
          <a:p>
            <a:endParaRPr lang="en-IN" dirty="0"/>
          </a:p>
        </p:txBody>
      </p:sp>
    </p:spTree>
    <p:extLst>
      <p:ext uri="{BB962C8B-B14F-4D97-AF65-F5344CB8AC3E}">
        <p14:creationId xmlns:p14="http://schemas.microsoft.com/office/powerpoint/2010/main" val="1983819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DCC73-6C3F-9413-D113-2241C7439B90}"/>
              </a:ext>
            </a:extLst>
          </p:cNvPr>
          <p:cNvSpPr>
            <a:spLocks noGrp="1"/>
          </p:cNvSpPr>
          <p:nvPr>
            <p:ph type="title"/>
          </p:nvPr>
        </p:nvSpPr>
        <p:spPr/>
        <p:txBody>
          <a:bodyPr/>
          <a:lstStyle/>
          <a:p>
            <a:r>
              <a:rPr lang="en-IN" dirty="0"/>
              <a:t>DIGITAL IMAGE PROCESSING</a:t>
            </a:r>
          </a:p>
        </p:txBody>
      </p:sp>
      <p:sp>
        <p:nvSpPr>
          <p:cNvPr id="3" name="Content Placeholder 2">
            <a:extLst>
              <a:ext uri="{FF2B5EF4-FFF2-40B4-BE49-F238E27FC236}">
                <a16:creationId xmlns:a16="http://schemas.microsoft.com/office/drawing/2014/main" id="{36518619-0F57-2CA4-11EB-6BEF67025CA6}"/>
              </a:ext>
            </a:extLst>
          </p:cNvPr>
          <p:cNvSpPr>
            <a:spLocks noGrp="1"/>
          </p:cNvSpPr>
          <p:nvPr>
            <p:ph idx="1"/>
          </p:nvPr>
        </p:nvSpPr>
        <p:spPr/>
        <p:txBody>
          <a:bodyPr/>
          <a:lstStyle/>
          <a:p>
            <a:r>
              <a:rPr lang="en-IN" b="1" dirty="0"/>
              <a:t>Digital Image Processing (DIP)</a:t>
            </a:r>
            <a:r>
              <a:rPr lang="en-IN" dirty="0"/>
              <a:t> is the use of computer algorithms to manipulate, </a:t>
            </a:r>
            <a:r>
              <a:rPr lang="en-IN" dirty="0" err="1"/>
              <a:t>analyze</a:t>
            </a:r>
            <a:r>
              <a:rPr lang="en-IN" dirty="0"/>
              <a:t>, enhance, and interpret digital images. It is a branch of computer science, signal processing, and artificial intelligence that converts images into digital form and performs operations on them to improve quality or extract useful information.</a:t>
            </a:r>
          </a:p>
        </p:txBody>
      </p:sp>
    </p:spTree>
    <p:extLst>
      <p:ext uri="{BB962C8B-B14F-4D97-AF65-F5344CB8AC3E}">
        <p14:creationId xmlns:p14="http://schemas.microsoft.com/office/powerpoint/2010/main" val="2871666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DD1F7-BB85-8877-F5D7-A071709D9D71}"/>
              </a:ext>
            </a:extLst>
          </p:cNvPr>
          <p:cNvSpPr>
            <a:spLocks noGrp="1"/>
          </p:cNvSpPr>
          <p:nvPr>
            <p:ph type="title"/>
          </p:nvPr>
        </p:nvSpPr>
        <p:spPr/>
        <p:txBody>
          <a:bodyPr/>
          <a:lstStyle/>
          <a:p>
            <a:r>
              <a:rPr lang="en-IN" dirty="0"/>
              <a:t> What Is a Digital Image?</a:t>
            </a:r>
          </a:p>
        </p:txBody>
      </p:sp>
      <p:sp>
        <p:nvSpPr>
          <p:cNvPr id="3" name="Content Placeholder 2">
            <a:extLst>
              <a:ext uri="{FF2B5EF4-FFF2-40B4-BE49-F238E27FC236}">
                <a16:creationId xmlns:a16="http://schemas.microsoft.com/office/drawing/2014/main" id="{6B540918-B2D6-8F7F-CCAA-CD93C6BCCF2C}"/>
              </a:ext>
            </a:extLst>
          </p:cNvPr>
          <p:cNvSpPr>
            <a:spLocks noGrp="1"/>
          </p:cNvSpPr>
          <p:nvPr>
            <p:ph idx="1"/>
          </p:nvPr>
        </p:nvSpPr>
        <p:spPr/>
        <p:txBody>
          <a:bodyPr/>
          <a:lstStyle/>
          <a:p>
            <a:r>
              <a:rPr lang="en-IN" dirty="0"/>
              <a:t>A digital image is a two-dimensional array of pixels (picture elements).</a:t>
            </a:r>
          </a:p>
          <a:p>
            <a:r>
              <a:rPr lang="en-IN" dirty="0"/>
              <a:t>Each pixel contains intensity or </a:t>
            </a:r>
            <a:r>
              <a:rPr lang="en-IN" dirty="0" err="1"/>
              <a:t>color</a:t>
            </a:r>
            <a:r>
              <a:rPr lang="en-IN" dirty="0"/>
              <a:t> information. </a:t>
            </a:r>
          </a:p>
          <a:p>
            <a:r>
              <a:rPr lang="en-IN" dirty="0"/>
              <a:t>Images are stored as matrices. </a:t>
            </a:r>
          </a:p>
          <a:p>
            <a:r>
              <a:rPr lang="en-IN" dirty="0"/>
              <a:t>The value of each pixel represents brightness or </a:t>
            </a:r>
            <a:r>
              <a:rPr lang="en-IN" dirty="0" err="1"/>
              <a:t>color</a:t>
            </a:r>
            <a:r>
              <a:rPr lang="en-IN" dirty="0"/>
              <a:t>.</a:t>
            </a:r>
          </a:p>
          <a:p>
            <a:endParaRPr lang="en-IN" dirty="0"/>
          </a:p>
        </p:txBody>
      </p:sp>
    </p:spTree>
    <p:extLst>
      <p:ext uri="{BB962C8B-B14F-4D97-AF65-F5344CB8AC3E}">
        <p14:creationId xmlns:p14="http://schemas.microsoft.com/office/powerpoint/2010/main" val="840885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98C34B6-6775-69CE-C9F5-C800F3C17A17}"/>
              </a:ext>
            </a:extLst>
          </p:cNvPr>
          <p:cNvGraphicFramePr>
            <a:graphicFrameLocks noGrp="1"/>
          </p:cNvGraphicFramePr>
          <p:nvPr>
            <p:ph idx="1"/>
            <p:extLst>
              <p:ext uri="{D42A27DB-BD31-4B8C-83A1-F6EECF244321}">
                <p14:modId xmlns:p14="http://schemas.microsoft.com/office/powerpoint/2010/main" val="3118234471"/>
              </p:ext>
            </p:extLst>
          </p:nvPr>
        </p:nvGraphicFramePr>
        <p:xfrm>
          <a:off x="838200" y="2118946"/>
          <a:ext cx="10515600" cy="2430987"/>
        </p:xfrm>
        <a:graphic>
          <a:graphicData uri="http://schemas.openxmlformats.org/drawingml/2006/table">
            <a:tbl>
              <a:tblPr/>
              <a:tblGrid>
                <a:gridCol w="3505200">
                  <a:extLst>
                    <a:ext uri="{9D8B030D-6E8A-4147-A177-3AD203B41FA5}">
                      <a16:colId xmlns:a16="http://schemas.microsoft.com/office/drawing/2014/main" val="386475783"/>
                    </a:ext>
                  </a:extLst>
                </a:gridCol>
                <a:gridCol w="3505200">
                  <a:extLst>
                    <a:ext uri="{9D8B030D-6E8A-4147-A177-3AD203B41FA5}">
                      <a16:colId xmlns:a16="http://schemas.microsoft.com/office/drawing/2014/main" val="935087555"/>
                    </a:ext>
                  </a:extLst>
                </a:gridCol>
                <a:gridCol w="3505200">
                  <a:extLst>
                    <a:ext uri="{9D8B030D-6E8A-4147-A177-3AD203B41FA5}">
                      <a16:colId xmlns:a16="http://schemas.microsoft.com/office/drawing/2014/main" val="3709783145"/>
                    </a:ext>
                  </a:extLst>
                </a:gridCol>
              </a:tblGrid>
              <a:tr h="810329">
                <a:tc>
                  <a:txBody>
                    <a:bodyPr/>
                    <a:lstStyle/>
                    <a:p>
                      <a:pPr>
                        <a:buNone/>
                      </a:pPr>
                      <a:r>
                        <a:rPr lang="en-IN"/>
                        <a:t>120</a:t>
                      </a:r>
                    </a:p>
                  </a:txBody>
                  <a:tcPr anchor="ctr">
                    <a:lnL>
                      <a:noFill/>
                    </a:lnL>
                    <a:lnR>
                      <a:noFill/>
                    </a:lnR>
                    <a:lnT>
                      <a:noFill/>
                    </a:lnT>
                    <a:lnB>
                      <a:noFill/>
                    </a:lnB>
                    <a:noFill/>
                  </a:tcPr>
                </a:tc>
                <a:tc>
                  <a:txBody>
                    <a:bodyPr/>
                    <a:lstStyle/>
                    <a:p>
                      <a:pPr>
                        <a:buNone/>
                      </a:pPr>
                      <a:r>
                        <a:rPr lang="en-IN"/>
                        <a:t>125</a:t>
                      </a:r>
                    </a:p>
                  </a:txBody>
                  <a:tcPr anchor="ctr">
                    <a:lnL>
                      <a:noFill/>
                    </a:lnL>
                    <a:lnR>
                      <a:noFill/>
                    </a:lnR>
                    <a:lnT>
                      <a:noFill/>
                    </a:lnT>
                    <a:lnB>
                      <a:noFill/>
                    </a:lnB>
                    <a:noFill/>
                  </a:tcPr>
                </a:tc>
                <a:tc>
                  <a:txBody>
                    <a:bodyPr/>
                    <a:lstStyle/>
                    <a:p>
                      <a:pPr>
                        <a:buNone/>
                      </a:pPr>
                      <a:r>
                        <a:rPr lang="en-IN"/>
                        <a:t>130</a:t>
                      </a:r>
                    </a:p>
                  </a:txBody>
                  <a:tcPr anchor="ctr">
                    <a:lnL>
                      <a:noFill/>
                    </a:lnL>
                    <a:lnR>
                      <a:noFill/>
                    </a:lnR>
                    <a:lnT>
                      <a:noFill/>
                    </a:lnT>
                    <a:lnB>
                      <a:noFill/>
                    </a:lnB>
                    <a:noFill/>
                  </a:tcPr>
                </a:tc>
                <a:extLst>
                  <a:ext uri="{0D108BD9-81ED-4DB2-BD59-A6C34878D82A}">
                    <a16:rowId xmlns:a16="http://schemas.microsoft.com/office/drawing/2014/main" val="962908537"/>
                  </a:ext>
                </a:extLst>
              </a:tr>
              <a:tr h="810329">
                <a:tc>
                  <a:txBody>
                    <a:bodyPr/>
                    <a:lstStyle/>
                    <a:p>
                      <a:pPr>
                        <a:buNone/>
                      </a:pPr>
                      <a:r>
                        <a:rPr lang="en-IN"/>
                        <a:t>118</a:t>
                      </a:r>
                    </a:p>
                  </a:txBody>
                  <a:tcPr anchor="ctr">
                    <a:lnL>
                      <a:noFill/>
                    </a:lnL>
                    <a:lnR>
                      <a:noFill/>
                    </a:lnR>
                    <a:lnT>
                      <a:noFill/>
                    </a:lnT>
                    <a:lnB>
                      <a:noFill/>
                    </a:lnB>
                    <a:noFill/>
                  </a:tcPr>
                </a:tc>
                <a:tc>
                  <a:txBody>
                    <a:bodyPr/>
                    <a:lstStyle/>
                    <a:p>
                      <a:pPr>
                        <a:buNone/>
                      </a:pPr>
                      <a:r>
                        <a:rPr lang="en-IN"/>
                        <a:t>122</a:t>
                      </a:r>
                    </a:p>
                  </a:txBody>
                  <a:tcPr anchor="ctr">
                    <a:lnL>
                      <a:noFill/>
                    </a:lnL>
                    <a:lnR>
                      <a:noFill/>
                    </a:lnR>
                    <a:lnT>
                      <a:noFill/>
                    </a:lnT>
                    <a:lnB>
                      <a:noFill/>
                    </a:lnB>
                    <a:noFill/>
                  </a:tcPr>
                </a:tc>
                <a:tc>
                  <a:txBody>
                    <a:bodyPr/>
                    <a:lstStyle/>
                    <a:p>
                      <a:pPr>
                        <a:buNone/>
                      </a:pPr>
                      <a:r>
                        <a:rPr lang="en-IN"/>
                        <a:t>128</a:t>
                      </a:r>
                    </a:p>
                  </a:txBody>
                  <a:tcPr anchor="ctr">
                    <a:lnL>
                      <a:noFill/>
                    </a:lnL>
                    <a:lnR>
                      <a:noFill/>
                    </a:lnR>
                    <a:lnT>
                      <a:noFill/>
                    </a:lnT>
                    <a:lnB>
                      <a:noFill/>
                    </a:lnB>
                    <a:noFill/>
                  </a:tcPr>
                </a:tc>
                <a:extLst>
                  <a:ext uri="{0D108BD9-81ED-4DB2-BD59-A6C34878D82A}">
                    <a16:rowId xmlns:a16="http://schemas.microsoft.com/office/drawing/2014/main" val="3626325826"/>
                  </a:ext>
                </a:extLst>
              </a:tr>
              <a:tr h="810329">
                <a:tc>
                  <a:txBody>
                    <a:bodyPr/>
                    <a:lstStyle/>
                    <a:p>
                      <a:pPr>
                        <a:buNone/>
                      </a:pPr>
                      <a:r>
                        <a:rPr lang="en-IN" dirty="0"/>
                        <a:t>115</a:t>
                      </a:r>
                    </a:p>
                  </a:txBody>
                  <a:tcPr anchor="ctr">
                    <a:lnL>
                      <a:noFill/>
                    </a:lnL>
                    <a:lnR>
                      <a:noFill/>
                    </a:lnR>
                    <a:lnT>
                      <a:noFill/>
                    </a:lnT>
                    <a:lnB>
                      <a:noFill/>
                    </a:lnB>
                    <a:noFill/>
                  </a:tcPr>
                </a:tc>
                <a:tc>
                  <a:txBody>
                    <a:bodyPr/>
                    <a:lstStyle/>
                    <a:p>
                      <a:pPr>
                        <a:buNone/>
                      </a:pPr>
                      <a:r>
                        <a:rPr lang="en-IN"/>
                        <a:t>120</a:t>
                      </a:r>
                    </a:p>
                  </a:txBody>
                  <a:tcPr anchor="ctr">
                    <a:lnL>
                      <a:noFill/>
                    </a:lnL>
                    <a:lnR>
                      <a:noFill/>
                    </a:lnR>
                    <a:lnT>
                      <a:noFill/>
                    </a:lnT>
                    <a:lnB>
                      <a:noFill/>
                    </a:lnB>
                    <a:noFill/>
                  </a:tcPr>
                </a:tc>
                <a:tc>
                  <a:txBody>
                    <a:bodyPr/>
                    <a:lstStyle/>
                    <a:p>
                      <a:pPr>
                        <a:buNone/>
                      </a:pPr>
                      <a:r>
                        <a:rPr lang="en-IN" dirty="0"/>
                        <a:t>126</a:t>
                      </a:r>
                    </a:p>
                  </a:txBody>
                  <a:tcPr anchor="ctr">
                    <a:lnL>
                      <a:noFill/>
                    </a:lnL>
                    <a:lnR>
                      <a:noFill/>
                    </a:lnR>
                    <a:lnT>
                      <a:noFill/>
                    </a:lnT>
                    <a:lnB>
                      <a:noFill/>
                    </a:lnB>
                    <a:noFill/>
                  </a:tcPr>
                </a:tc>
                <a:extLst>
                  <a:ext uri="{0D108BD9-81ED-4DB2-BD59-A6C34878D82A}">
                    <a16:rowId xmlns:a16="http://schemas.microsoft.com/office/drawing/2014/main" val="1720980967"/>
                  </a:ext>
                </a:extLst>
              </a:tr>
            </a:tbl>
          </a:graphicData>
        </a:graphic>
      </p:graphicFrame>
      <p:sp>
        <p:nvSpPr>
          <p:cNvPr id="6" name="TextBox 5">
            <a:extLst>
              <a:ext uri="{FF2B5EF4-FFF2-40B4-BE49-F238E27FC236}">
                <a16:creationId xmlns:a16="http://schemas.microsoft.com/office/drawing/2014/main" id="{C26E93E6-2C18-242C-920F-B7F7986EF44F}"/>
              </a:ext>
            </a:extLst>
          </p:cNvPr>
          <p:cNvSpPr txBox="1"/>
          <p:nvPr/>
        </p:nvSpPr>
        <p:spPr>
          <a:xfrm>
            <a:off x="1008918" y="5009329"/>
            <a:ext cx="6097464" cy="1200329"/>
          </a:xfrm>
          <a:prstGeom prst="rect">
            <a:avLst/>
          </a:prstGeom>
          <a:noFill/>
        </p:spPr>
        <p:txBody>
          <a:bodyPr wrap="square">
            <a:spAutoFit/>
          </a:bodyPr>
          <a:lstStyle/>
          <a:p>
            <a:pPr>
              <a:buNone/>
            </a:pPr>
            <a:r>
              <a:rPr lang="en-IN" dirty="0"/>
              <a:t>Each number represents the brightness of a pixel.</a:t>
            </a:r>
          </a:p>
          <a:p>
            <a:pPr>
              <a:buFont typeface="Arial" panose="020B0604020202020204" pitchFamily="34" charset="0"/>
              <a:buChar char="•"/>
            </a:pPr>
            <a:r>
              <a:rPr lang="en-IN" dirty="0"/>
              <a:t>0 = Black </a:t>
            </a:r>
          </a:p>
          <a:p>
            <a:pPr>
              <a:buFont typeface="Arial" panose="020B0604020202020204" pitchFamily="34" charset="0"/>
              <a:buChar char="•"/>
            </a:pPr>
            <a:r>
              <a:rPr lang="en-IN" dirty="0"/>
              <a:t>255 = White </a:t>
            </a:r>
          </a:p>
          <a:p>
            <a:pPr>
              <a:buFont typeface="Arial" panose="020B0604020202020204" pitchFamily="34" charset="0"/>
              <a:buChar char="•"/>
            </a:pPr>
            <a:r>
              <a:rPr lang="en-IN" dirty="0"/>
              <a:t>Values in between represent shades of </a:t>
            </a:r>
            <a:r>
              <a:rPr lang="en-IN" dirty="0" err="1"/>
              <a:t>gray</a:t>
            </a:r>
            <a:r>
              <a:rPr lang="en-IN" dirty="0"/>
              <a:t>.</a:t>
            </a:r>
          </a:p>
        </p:txBody>
      </p:sp>
    </p:spTree>
    <p:extLst>
      <p:ext uri="{BB962C8B-B14F-4D97-AF65-F5344CB8AC3E}">
        <p14:creationId xmlns:p14="http://schemas.microsoft.com/office/powerpoint/2010/main" val="269250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A4A3E-7536-1DF8-781C-FE701ADB1FFA}"/>
              </a:ext>
            </a:extLst>
          </p:cNvPr>
          <p:cNvSpPr>
            <a:spLocks noGrp="1"/>
          </p:cNvSpPr>
          <p:nvPr>
            <p:ph type="title"/>
          </p:nvPr>
        </p:nvSpPr>
        <p:spPr/>
        <p:txBody>
          <a:bodyPr/>
          <a:lstStyle/>
          <a:p>
            <a:r>
              <a:rPr lang="en-IN" dirty="0"/>
              <a:t>Components of Digital Image Processing</a:t>
            </a:r>
          </a:p>
        </p:txBody>
      </p:sp>
      <p:sp>
        <p:nvSpPr>
          <p:cNvPr id="3" name="Content Placeholder 2">
            <a:extLst>
              <a:ext uri="{FF2B5EF4-FFF2-40B4-BE49-F238E27FC236}">
                <a16:creationId xmlns:a16="http://schemas.microsoft.com/office/drawing/2014/main" id="{BC8F7311-1220-9522-8099-7A731823116F}"/>
              </a:ext>
            </a:extLst>
          </p:cNvPr>
          <p:cNvSpPr>
            <a:spLocks noGrp="1"/>
          </p:cNvSpPr>
          <p:nvPr>
            <p:ph idx="1"/>
          </p:nvPr>
        </p:nvSpPr>
        <p:spPr/>
        <p:txBody>
          <a:bodyPr>
            <a:normAutofit lnSpcReduction="10000"/>
          </a:bodyPr>
          <a:lstStyle/>
          <a:p>
            <a:pPr marL="0" indent="0">
              <a:buNone/>
            </a:pPr>
            <a:r>
              <a:rPr lang="en-IN" b="1" dirty="0"/>
              <a:t>A. Image Acquisition</a:t>
            </a:r>
          </a:p>
          <a:p>
            <a:r>
              <a:rPr lang="en-IN" dirty="0"/>
              <a:t>This is the first step.</a:t>
            </a:r>
          </a:p>
          <a:p>
            <a:r>
              <a:rPr lang="en-IN" dirty="0"/>
              <a:t>Process:</a:t>
            </a:r>
          </a:p>
          <a:p>
            <a:r>
              <a:rPr lang="en-IN" dirty="0"/>
              <a:t>Capture image using camera/scanner. </a:t>
            </a:r>
          </a:p>
          <a:p>
            <a:r>
              <a:rPr lang="en-IN" dirty="0"/>
              <a:t>Convert it into digital format. </a:t>
            </a:r>
          </a:p>
          <a:p>
            <a:r>
              <a:rPr lang="en-IN" dirty="0"/>
              <a:t>Store pixel values. </a:t>
            </a:r>
          </a:p>
          <a:p>
            <a:r>
              <a:rPr lang="en-IN" dirty="0"/>
              <a:t>Example:</a:t>
            </a:r>
          </a:p>
          <a:p>
            <a:r>
              <a:rPr lang="en-IN" dirty="0"/>
              <a:t>Mobile phone camera captures a photo. </a:t>
            </a:r>
          </a:p>
          <a:p>
            <a:r>
              <a:rPr lang="en-IN" dirty="0"/>
              <a:t>The photo is converted into a matrix of pixels.</a:t>
            </a:r>
          </a:p>
          <a:p>
            <a:endParaRPr lang="en-IN" dirty="0"/>
          </a:p>
        </p:txBody>
      </p:sp>
    </p:spTree>
    <p:extLst>
      <p:ext uri="{BB962C8B-B14F-4D97-AF65-F5344CB8AC3E}">
        <p14:creationId xmlns:p14="http://schemas.microsoft.com/office/powerpoint/2010/main" val="2619879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8CE38E-40F4-BB8E-D895-A0134B8FDD33}"/>
              </a:ext>
            </a:extLst>
          </p:cNvPr>
          <p:cNvSpPr>
            <a:spLocks noGrp="1"/>
          </p:cNvSpPr>
          <p:nvPr>
            <p:ph idx="1"/>
          </p:nvPr>
        </p:nvSpPr>
        <p:spPr/>
        <p:txBody>
          <a:bodyPr>
            <a:normAutofit fontScale="92500" lnSpcReduction="20000"/>
          </a:bodyPr>
          <a:lstStyle/>
          <a:p>
            <a:pPr marL="0" indent="0">
              <a:buNone/>
            </a:pPr>
            <a:r>
              <a:rPr lang="en-IN" b="1" dirty="0"/>
              <a:t>B. Image Enhancement</a:t>
            </a:r>
          </a:p>
          <a:p>
            <a:r>
              <a:rPr lang="en-IN" dirty="0"/>
              <a:t>Improves image quality for human viewing.</a:t>
            </a:r>
          </a:p>
          <a:p>
            <a:r>
              <a:rPr lang="en-IN" dirty="0"/>
              <a:t>Techniques:</a:t>
            </a:r>
          </a:p>
          <a:p>
            <a:r>
              <a:rPr lang="en-IN" dirty="0"/>
              <a:t>Brightness adjustment </a:t>
            </a:r>
          </a:p>
          <a:p>
            <a:r>
              <a:rPr lang="en-IN" dirty="0"/>
              <a:t>Contrast enhancement </a:t>
            </a:r>
          </a:p>
          <a:p>
            <a:r>
              <a:rPr lang="en-IN" dirty="0"/>
              <a:t>Sharpening </a:t>
            </a:r>
          </a:p>
          <a:p>
            <a:r>
              <a:rPr lang="en-IN" dirty="0"/>
              <a:t>Noise removal </a:t>
            </a:r>
          </a:p>
          <a:p>
            <a:r>
              <a:rPr lang="en-IN" dirty="0"/>
              <a:t>Example:</a:t>
            </a:r>
          </a:p>
          <a:p>
            <a:r>
              <a:rPr lang="en-IN" dirty="0"/>
              <a:t>Improving a dark photograph. </a:t>
            </a:r>
          </a:p>
          <a:p>
            <a:r>
              <a:rPr lang="en-IN" dirty="0"/>
              <a:t>Making an X-ray easier to view.</a:t>
            </a:r>
          </a:p>
          <a:p>
            <a:endParaRPr lang="en-IN" dirty="0"/>
          </a:p>
        </p:txBody>
      </p:sp>
    </p:spTree>
    <p:extLst>
      <p:ext uri="{BB962C8B-B14F-4D97-AF65-F5344CB8AC3E}">
        <p14:creationId xmlns:p14="http://schemas.microsoft.com/office/powerpoint/2010/main" val="1649211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55E5-852D-1F09-32B4-FF714AA96A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D72D205-321F-A5E4-31A4-6BCB1C6F67C7}"/>
              </a:ext>
            </a:extLst>
          </p:cNvPr>
          <p:cNvSpPr>
            <a:spLocks noGrp="1"/>
          </p:cNvSpPr>
          <p:nvPr>
            <p:ph idx="1"/>
          </p:nvPr>
        </p:nvSpPr>
        <p:spPr/>
        <p:txBody>
          <a:bodyPr>
            <a:normAutofit fontScale="92500" lnSpcReduction="20000"/>
          </a:bodyPr>
          <a:lstStyle/>
          <a:p>
            <a:pPr marL="0" indent="0">
              <a:buNone/>
            </a:pPr>
            <a:r>
              <a:rPr lang="en-IN" b="1" dirty="0"/>
              <a:t>C. Image Restoration</a:t>
            </a:r>
          </a:p>
          <a:p>
            <a:r>
              <a:rPr lang="en-IN" dirty="0"/>
              <a:t>Restores a degraded image using mathematical models.</a:t>
            </a:r>
          </a:p>
          <a:p>
            <a:r>
              <a:rPr lang="en-IN" dirty="0"/>
              <a:t>Problems corrected:</a:t>
            </a:r>
          </a:p>
          <a:p>
            <a:r>
              <a:rPr lang="en-IN" dirty="0"/>
              <a:t>Blur </a:t>
            </a:r>
          </a:p>
          <a:p>
            <a:r>
              <a:rPr lang="en-IN" dirty="0"/>
              <a:t>Motion distortion </a:t>
            </a:r>
          </a:p>
          <a:p>
            <a:r>
              <a:rPr lang="en-IN" dirty="0"/>
              <a:t>Camera shake </a:t>
            </a:r>
          </a:p>
          <a:p>
            <a:r>
              <a:rPr lang="en-IN" dirty="0"/>
              <a:t>Noise </a:t>
            </a:r>
          </a:p>
          <a:p>
            <a:r>
              <a:rPr lang="en-IN" dirty="0"/>
              <a:t>Example:</a:t>
            </a:r>
          </a:p>
          <a:p>
            <a:r>
              <a:rPr lang="en-IN" dirty="0"/>
              <a:t>Restoring old photographs. </a:t>
            </a:r>
          </a:p>
          <a:p>
            <a:r>
              <a:rPr lang="en-IN" dirty="0"/>
              <a:t>Removing motion blur from CCTV footage.</a:t>
            </a:r>
          </a:p>
          <a:p>
            <a:endParaRPr lang="en-IN" dirty="0"/>
          </a:p>
        </p:txBody>
      </p:sp>
    </p:spTree>
    <p:extLst>
      <p:ext uri="{BB962C8B-B14F-4D97-AF65-F5344CB8AC3E}">
        <p14:creationId xmlns:p14="http://schemas.microsoft.com/office/powerpoint/2010/main" val="2556212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11266-1E32-5EC0-0066-12565C540085}"/>
              </a:ext>
            </a:extLst>
          </p:cNvPr>
          <p:cNvSpPr>
            <a:spLocks noGrp="1"/>
          </p:cNvSpPr>
          <p:nvPr>
            <p:ph idx="1"/>
          </p:nvPr>
        </p:nvSpPr>
        <p:spPr>
          <a:xfrm>
            <a:off x="838200" y="334108"/>
            <a:ext cx="10515600" cy="6242538"/>
          </a:xfrm>
        </p:spPr>
        <p:txBody>
          <a:bodyPr>
            <a:normAutofit fontScale="85000" lnSpcReduction="20000"/>
          </a:bodyPr>
          <a:lstStyle/>
          <a:p>
            <a:pPr marL="0" indent="0">
              <a:buNone/>
            </a:pPr>
            <a:r>
              <a:rPr lang="en-IN" b="1" dirty="0"/>
              <a:t>D. Image Compression</a:t>
            </a:r>
          </a:p>
          <a:p>
            <a:r>
              <a:rPr lang="en-IN" dirty="0"/>
              <a:t>Reduces image storage size.</a:t>
            </a:r>
          </a:p>
          <a:p>
            <a:r>
              <a:rPr lang="en-IN" dirty="0"/>
              <a:t>Types:</a:t>
            </a:r>
          </a:p>
          <a:p>
            <a:pPr marL="0" indent="0">
              <a:buNone/>
            </a:pPr>
            <a:r>
              <a:rPr lang="en-IN" b="1" dirty="0"/>
              <a:t>Lossless Compression</a:t>
            </a:r>
          </a:p>
          <a:p>
            <a:r>
              <a:rPr lang="en-IN" dirty="0"/>
              <a:t>No information is lost.</a:t>
            </a:r>
          </a:p>
          <a:p>
            <a:r>
              <a:rPr lang="en-IN" dirty="0"/>
              <a:t>Examples:</a:t>
            </a:r>
          </a:p>
          <a:p>
            <a:r>
              <a:rPr lang="en-IN" dirty="0"/>
              <a:t>PNG </a:t>
            </a:r>
          </a:p>
          <a:p>
            <a:r>
              <a:rPr lang="en-IN" dirty="0"/>
              <a:t>TIFF </a:t>
            </a:r>
          </a:p>
          <a:p>
            <a:pPr marL="0" indent="0">
              <a:buNone/>
            </a:pPr>
            <a:r>
              <a:rPr lang="en-IN" b="1" dirty="0"/>
              <a:t>Lossy Compression</a:t>
            </a:r>
          </a:p>
          <a:p>
            <a:r>
              <a:rPr lang="en-IN" dirty="0"/>
              <a:t>Some information is removed.</a:t>
            </a:r>
          </a:p>
          <a:p>
            <a:r>
              <a:rPr lang="en-IN" dirty="0"/>
              <a:t>Examples:</a:t>
            </a:r>
          </a:p>
          <a:p>
            <a:r>
              <a:rPr lang="en-IN" dirty="0"/>
              <a:t>JPEG </a:t>
            </a:r>
          </a:p>
          <a:p>
            <a:r>
              <a:rPr lang="en-IN" dirty="0" err="1"/>
              <a:t>WebP</a:t>
            </a:r>
            <a:r>
              <a:rPr lang="en-IN" dirty="0"/>
              <a:t> </a:t>
            </a:r>
          </a:p>
          <a:p>
            <a:r>
              <a:rPr lang="en-IN" dirty="0"/>
              <a:t>Benefits:</a:t>
            </a:r>
          </a:p>
          <a:p>
            <a:r>
              <a:rPr lang="en-IN" dirty="0"/>
              <a:t>Faster transmission </a:t>
            </a:r>
          </a:p>
          <a:p>
            <a:r>
              <a:rPr lang="en-IN" dirty="0"/>
              <a:t>Less storage requirement</a:t>
            </a:r>
          </a:p>
          <a:p>
            <a:endParaRPr lang="en-IN" dirty="0"/>
          </a:p>
        </p:txBody>
      </p:sp>
    </p:spTree>
    <p:extLst>
      <p:ext uri="{BB962C8B-B14F-4D97-AF65-F5344CB8AC3E}">
        <p14:creationId xmlns:p14="http://schemas.microsoft.com/office/powerpoint/2010/main" val="4193003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2EECF-1A25-56CF-659D-08438FED149F}"/>
              </a:ext>
            </a:extLst>
          </p:cNvPr>
          <p:cNvSpPr>
            <a:spLocks noGrp="1"/>
          </p:cNvSpPr>
          <p:nvPr>
            <p:ph idx="1"/>
          </p:nvPr>
        </p:nvSpPr>
        <p:spPr>
          <a:xfrm>
            <a:off x="838200" y="545123"/>
            <a:ext cx="10515600" cy="5631840"/>
          </a:xfrm>
        </p:spPr>
        <p:txBody>
          <a:bodyPr/>
          <a:lstStyle/>
          <a:p>
            <a:pPr marL="0" indent="0">
              <a:buNone/>
            </a:pPr>
            <a:r>
              <a:rPr lang="en-IN" b="1" dirty="0"/>
              <a:t>E. Image Segmentation</a:t>
            </a:r>
          </a:p>
          <a:p>
            <a:r>
              <a:rPr lang="en-IN" dirty="0"/>
              <a:t>Divides an image into meaningful regions.</a:t>
            </a:r>
          </a:p>
          <a:p>
            <a:r>
              <a:rPr lang="en-IN" dirty="0"/>
              <a:t>Purpose:</a:t>
            </a:r>
          </a:p>
          <a:p>
            <a:r>
              <a:rPr lang="en-IN" dirty="0"/>
              <a:t>Identify objects </a:t>
            </a:r>
          </a:p>
          <a:p>
            <a:r>
              <a:rPr lang="en-IN" dirty="0"/>
              <a:t>Separate foreground from background </a:t>
            </a:r>
          </a:p>
          <a:p>
            <a:r>
              <a:rPr lang="en-IN" dirty="0"/>
              <a:t>Example:</a:t>
            </a:r>
          </a:p>
          <a:p>
            <a:r>
              <a:rPr lang="en-IN" dirty="0"/>
              <a:t>Detecting </a:t>
            </a:r>
            <a:r>
              <a:rPr lang="en-IN" dirty="0" err="1"/>
              <a:t>tumors</a:t>
            </a:r>
            <a:r>
              <a:rPr lang="en-IN" dirty="0"/>
              <a:t> in MRI scans. </a:t>
            </a:r>
          </a:p>
          <a:p>
            <a:r>
              <a:rPr lang="en-IN" dirty="0"/>
              <a:t>Identifying vehicles in traffic images.</a:t>
            </a:r>
          </a:p>
          <a:p>
            <a:endParaRPr lang="en-IN" dirty="0"/>
          </a:p>
        </p:txBody>
      </p:sp>
    </p:spTree>
    <p:extLst>
      <p:ext uri="{BB962C8B-B14F-4D97-AF65-F5344CB8AC3E}">
        <p14:creationId xmlns:p14="http://schemas.microsoft.com/office/powerpoint/2010/main" val="3311447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0BF93F-8838-63ED-ABFA-13D583AC78C2}"/>
              </a:ext>
            </a:extLst>
          </p:cNvPr>
          <p:cNvSpPr>
            <a:spLocks noGrp="1"/>
          </p:cNvSpPr>
          <p:nvPr>
            <p:ph idx="1"/>
          </p:nvPr>
        </p:nvSpPr>
        <p:spPr>
          <a:xfrm>
            <a:off x="838200" y="518746"/>
            <a:ext cx="10515600" cy="5658217"/>
          </a:xfrm>
        </p:spPr>
        <p:txBody>
          <a:bodyPr>
            <a:normAutofit/>
          </a:bodyPr>
          <a:lstStyle/>
          <a:p>
            <a:pPr marL="0" indent="0">
              <a:buNone/>
            </a:pPr>
            <a:r>
              <a:rPr lang="en-IN" b="1" dirty="0"/>
              <a:t>F. Image Representation and Description</a:t>
            </a:r>
          </a:p>
          <a:p>
            <a:r>
              <a:rPr lang="en-IN" dirty="0"/>
              <a:t>After segmentation:</a:t>
            </a:r>
          </a:p>
          <a:p>
            <a:r>
              <a:rPr lang="en-IN" dirty="0"/>
              <a:t>Represent object boundaries. </a:t>
            </a:r>
          </a:p>
          <a:p>
            <a:r>
              <a:rPr lang="en-IN" dirty="0"/>
              <a:t>Extract object features. </a:t>
            </a:r>
          </a:p>
          <a:p>
            <a:r>
              <a:rPr lang="en-IN" dirty="0"/>
              <a:t>Features include:</a:t>
            </a:r>
          </a:p>
          <a:p>
            <a:r>
              <a:rPr lang="en-IN" dirty="0"/>
              <a:t>Shape </a:t>
            </a:r>
          </a:p>
          <a:p>
            <a:r>
              <a:rPr lang="en-IN" dirty="0"/>
              <a:t>Area </a:t>
            </a:r>
          </a:p>
          <a:p>
            <a:r>
              <a:rPr lang="en-IN" dirty="0"/>
              <a:t>Texture </a:t>
            </a:r>
          </a:p>
          <a:p>
            <a:r>
              <a:rPr lang="en-IN" dirty="0" err="1"/>
              <a:t>Color</a:t>
            </a:r>
            <a:r>
              <a:rPr lang="en-IN" dirty="0"/>
              <a:t> </a:t>
            </a:r>
          </a:p>
          <a:p>
            <a:pPr marL="0" indent="0">
              <a:buNone/>
            </a:pPr>
            <a:r>
              <a:rPr lang="en-IN" dirty="0"/>
              <a:t>Example:</a:t>
            </a:r>
          </a:p>
          <a:p>
            <a:r>
              <a:rPr lang="en-IN" dirty="0"/>
              <a:t>Face recognition systems extract facial features.</a:t>
            </a:r>
          </a:p>
          <a:p>
            <a:endParaRPr lang="en-IN" dirty="0"/>
          </a:p>
        </p:txBody>
      </p:sp>
    </p:spTree>
    <p:extLst>
      <p:ext uri="{BB962C8B-B14F-4D97-AF65-F5344CB8AC3E}">
        <p14:creationId xmlns:p14="http://schemas.microsoft.com/office/powerpoint/2010/main" val="4137508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DDF84E-49BB-476F-3A8C-6B1B82046F87}"/>
              </a:ext>
            </a:extLst>
          </p:cNvPr>
          <p:cNvSpPr>
            <a:spLocks noGrp="1"/>
          </p:cNvSpPr>
          <p:nvPr>
            <p:ph idx="1"/>
          </p:nvPr>
        </p:nvSpPr>
        <p:spPr>
          <a:xfrm>
            <a:off x="838200" y="378069"/>
            <a:ext cx="10515600" cy="5798894"/>
          </a:xfrm>
        </p:spPr>
        <p:txBody>
          <a:bodyPr>
            <a:normAutofit/>
          </a:bodyPr>
          <a:lstStyle/>
          <a:p>
            <a:pPr marL="0" indent="0">
              <a:buNone/>
            </a:pPr>
            <a:r>
              <a:rPr lang="en-IN" b="1" dirty="0"/>
              <a:t>G. Object Recognition</a:t>
            </a:r>
          </a:p>
          <a:p>
            <a:r>
              <a:rPr lang="en-IN" dirty="0"/>
              <a:t>Identifies objects present in an image.</a:t>
            </a:r>
          </a:p>
          <a:p>
            <a:r>
              <a:rPr lang="en-IN" dirty="0"/>
              <a:t>Examples:</a:t>
            </a:r>
          </a:p>
          <a:p>
            <a:r>
              <a:rPr lang="en-IN" dirty="0"/>
              <a:t>Face detection </a:t>
            </a:r>
          </a:p>
          <a:p>
            <a:r>
              <a:rPr lang="en-IN" dirty="0"/>
              <a:t>Vehicle detection </a:t>
            </a:r>
          </a:p>
          <a:p>
            <a:r>
              <a:rPr lang="en-IN" dirty="0"/>
              <a:t>Fingerprint recognition </a:t>
            </a:r>
          </a:p>
          <a:p>
            <a:r>
              <a:rPr lang="en-IN" dirty="0"/>
              <a:t>License plate recognition </a:t>
            </a:r>
          </a:p>
          <a:p>
            <a:r>
              <a:rPr lang="en-IN" dirty="0"/>
              <a:t>Modern systems use:</a:t>
            </a:r>
          </a:p>
          <a:p>
            <a:r>
              <a:rPr lang="en-IN" dirty="0"/>
              <a:t>Machine Learning </a:t>
            </a:r>
          </a:p>
          <a:p>
            <a:r>
              <a:rPr lang="en-IN" dirty="0"/>
              <a:t>Deep Learning </a:t>
            </a:r>
          </a:p>
          <a:p>
            <a:r>
              <a:rPr lang="en-IN" dirty="0"/>
              <a:t>Convolutional Neural Networks (CNNs) </a:t>
            </a:r>
          </a:p>
          <a:p>
            <a:endParaRPr lang="en-IN" dirty="0"/>
          </a:p>
        </p:txBody>
      </p:sp>
    </p:spTree>
    <p:extLst>
      <p:ext uri="{BB962C8B-B14F-4D97-AF65-F5344CB8AC3E}">
        <p14:creationId xmlns:p14="http://schemas.microsoft.com/office/powerpoint/2010/main" val="2970401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B4949-2DAD-CFC2-D402-6F3E35899B4D}"/>
              </a:ext>
            </a:extLst>
          </p:cNvPr>
          <p:cNvSpPr>
            <a:spLocks noGrp="1"/>
          </p:cNvSpPr>
          <p:nvPr>
            <p:ph type="title"/>
          </p:nvPr>
        </p:nvSpPr>
        <p:spPr/>
        <p:txBody>
          <a:bodyPr/>
          <a:lstStyle/>
          <a:p>
            <a:r>
              <a:rPr lang="en-IN" dirty="0"/>
              <a:t>Fundamental Steps in Digital Image Processing</a:t>
            </a:r>
          </a:p>
        </p:txBody>
      </p:sp>
      <p:sp>
        <p:nvSpPr>
          <p:cNvPr id="3" name="Content Placeholder 2">
            <a:extLst>
              <a:ext uri="{FF2B5EF4-FFF2-40B4-BE49-F238E27FC236}">
                <a16:creationId xmlns:a16="http://schemas.microsoft.com/office/drawing/2014/main" id="{1742EA8B-69A1-5FFF-9EE4-9313342C7794}"/>
              </a:ext>
            </a:extLst>
          </p:cNvPr>
          <p:cNvSpPr>
            <a:spLocks noGrp="1"/>
          </p:cNvSpPr>
          <p:nvPr>
            <p:ph idx="1"/>
          </p:nvPr>
        </p:nvSpPr>
        <p:spPr/>
        <p:txBody>
          <a:bodyPr>
            <a:normAutofit fontScale="85000" lnSpcReduction="20000"/>
          </a:bodyPr>
          <a:lstStyle/>
          <a:p>
            <a:pPr marL="0" indent="0">
              <a:buNone/>
            </a:pPr>
            <a:r>
              <a:rPr lang="fr-FR" dirty="0"/>
              <a:t>Image Acquisition</a:t>
            </a:r>
          </a:p>
          <a:p>
            <a:pPr marL="0" indent="0">
              <a:buNone/>
            </a:pPr>
            <a:r>
              <a:rPr lang="fr-FR" dirty="0"/>
              <a:t>        ↓</a:t>
            </a:r>
          </a:p>
          <a:p>
            <a:pPr marL="0" indent="0">
              <a:buNone/>
            </a:pPr>
            <a:r>
              <a:rPr lang="fr-FR" dirty="0" err="1"/>
              <a:t>Preprocessing</a:t>
            </a:r>
            <a:endParaRPr lang="fr-FR" dirty="0"/>
          </a:p>
          <a:p>
            <a:pPr marL="0" indent="0">
              <a:buNone/>
            </a:pPr>
            <a:r>
              <a:rPr lang="fr-FR" dirty="0"/>
              <a:t>        ↓</a:t>
            </a:r>
          </a:p>
          <a:p>
            <a:pPr marL="0" indent="0">
              <a:buNone/>
            </a:pPr>
            <a:r>
              <a:rPr lang="fr-FR" dirty="0" err="1"/>
              <a:t>Enhancement</a:t>
            </a:r>
            <a:endParaRPr lang="fr-FR" dirty="0"/>
          </a:p>
          <a:p>
            <a:pPr marL="0" indent="0">
              <a:buNone/>
            </a:pPr>
            <a:r>
              <a:rPr lang="fr-FR" dirty="0"/>
              <a:t>        ↓</a:t>
            </a:r>
          </a:p>
          <a:p>
            <a:pPr marL="0" indent="0">
              <a:buNone/>
            </a:pPr>
            <a:r>
              <a:rPr lang="fr-FR" dirty="0"/>
              <a:t>Segmentation</a:t>
            </a:r>
          </a:p>
          <a:p>
            <a:pPr marL="0" indent="0">
              <a:buNone/>
            </a:pPr>
            <a:r>
              <a:rPr lang="fr-FR" dirty="0"/>
              <a:t>        ↓</a:t>
            </a:r>
          </a:p>
          <a:p>
            <a:pPr marL="0" indent="0">
              <a:buNone/>
            </a:pPr>
            <a:r>
              <a:rPr lang="fr-FR" dirty="0" err="1"/>
              <a:t>Feature</a:t>
            </a:r>
            <a:r>
              <a:rPr lang="fr-FR" dirty="0"/>
              <a:t> Extraction</a:t>
            </a:r>
          </a:p>
          <a:p>
            <a:pPr marL="0" indent="0">
              <a:buNone/>
            </a:pPr>
            <a:r>
              <a:rPr lang="fr-FR" dirty="0"/>
              <a:t>        ↓</a:t>
            </a:r>
          </a:p>
          <a:p>
            <a:pPr marL="0" indent="0">
              <a:buNone/>
            </a:pPr>
            <a:r>
              <a:rPr lang="fr-FR" dirty="0"/>
              <a:t>Recognition &amp; </a:t>
            </a:r>
            <a:r>
              <a:rPr lang="fr-FR" dirty="0" err="1"/>
              <a:t>Interpretation</a:t>
            </a:r>
            <a:endParaRPr lang="en-IN" dirty="0"/>
          </a:p>
        </p:txBody>
      </p:sp>
    </p:spTree>
    <p:extLst>
      <p:ext uri="{BB962C8B-B14F-4D97-AF65-F5344CB8AC3E}">
        <p14:creationId xmlns:p14="http://schemas.microsoft.com/office/powerpoint/2010/main" val="1208518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3AF1-D117-BC95-7DF0-3982953CD7E1}"/>
              </a:ext>
            </a:extLst>
          </p:cNvPr>
          <p:cNvSpPr>
            <a:spLocks noGrp="1"/>
          </p:cNvSpPr>
          <p:nvPr>
            <p:ph type="title"/>
          </p:nvPr>
        </p:nvSpPr>
        <p:spPr/>
        <p:txBody>
          <a:bodyPr/>
          <a:lstStyle/>
          <a:p>
            <a:r>
              <a:rPr lang="en-IN" dirty="0"/>
              <a:t>Image Types</a:t>
            </a:r>
          </a:p>
        </p:txBody>
      </p:sp>
      <p:sp>
        <p:nvSpPr>
          <p:cNvPr id="3" name="Content Placeholder 2">
            <a:extLst>
              <a:ext uri="{FF2B5EF4-FFF2-40B4-BE49-F238E27FC236}">
                <a16:creationId xmlns:a16="http://schemas.microsoft.com/office/drawing/2014/main" id="{2F49B70E-7DD0-B0DF-D924-974AA73A332E}"/>
              </a:ext>
            </a:extLst>
          </p:cNvPr>
          <p:cNvSpPr>
            <a:spLocks noGrp="1"/>
          </p:cNvSpPr>
          <p:nvPr>
            <p:ph idx="1"/>
          </p:nvPr>
        </p:nvSpPr>
        <p:spPr/>
        <p:txBody>
          <a:bodyPr/>
          <a:lstStyle/>
          <a:p>
            <a:pPr marL="0" indent="0">
              <a:buNone/>
            </a:pPr>
            <a:r>
              <a:rPr lang="en-IN" b="1" dirty="0"/>
              <a:t>A. Binary Image</a:t>
            </a:r>
          </a:p>
          <a:p>
            <a:r>
              <a:rPr lang="en-IN" dirty="0"/>
              <a:t>Contains only two pixel values:</a:t>
            </a:r>
          </a:p>
          <a:p>
            <a:r>
              <a:rPr lang="en-IN" dirty="0"/>
              <a:t>0 = Black </a:t>
            </a:r>
          </a:p>
          <a:p>
            <a:r>
              <a:rPr lang="en-IN" dirty="0"/>
              <a:t>1 = White </a:t>
            </a:r>
          </a:p>
          <a:p>
            <a:r>
              <a:rPr lang="en-IN" dirty="0"/>
              <a:t>Example:</a:t>
            </a:r>
          </a:p>
          <a:p>
            <a:r>
              <a:rPr lang="en-IN" dirty="0"/>
              <a:t>1 1 0</a:t>
            </a:r>
          </a:p>
          <a:p>
            <a:r>
              <a:rPr lang="en-IN" dirty="0"/>
              <a:t>0 1 1</a:t>
            </a:r>
          </a:p>
          <a:p>
            <a:r>
              <a:rPr lang="en-IN" dirty="0"/>
              <a:t>1 0 0</a:t>
            </a:r>
          </a:p>
        </p:txBody>
      </p:sp>
    </p:spTree>
    <p:extLst>
      <p:ext uri="{BB962C8B-B14F-4D97-AF65-F5344CB8AC3E}">
        <p14:creationId xmlns:p14="http://schemas.microsoft.com/office/powerpoint/2010/main" val="451408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4B8D-5BCF-6670-96E8-15376D7B2A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EB323B-1D75-D824-5D39-664E5C14CB8E}"/>
              </a:ext>
            </a:extLst>
          </p:cNvPr>
          <p:cNvSpPr>
            <a:spLocks noGrp="1"/>
          </p:cNvSpPr>
          <p:nvPr>
            <p:ph idx="1"/>
          </p:nvPr>
        </p:nvSpPr>
        <p:spPr/>
        <p:txBody>
          <a:bodyPr/>
          <a:lstStyle/>
          <a:p>
            <a:pPr marL="0" indent="0">
              <a:buNone/>
            </a:pPr>
            <a:r>
              <a:rPr lang="en-IN" b="1" dirty="0"/>
              <a:t>B. Grayscale Image</a:t>
            </a:r>
          </a:p>
          <a:p>
            <a:r>
              <a:rPr lang="en-IN" dirty="0"/>
              <a:t>Contains intensity values:</a:t>
            </a:r>
          </a:p>
          <a:p>
            <a:r>
              <a:rPr lang="en-IN" dirty="0"/>
              <a:t>0–255</a:t>
            </a:r>
          </a:p>
          <a:p>
            <a:r>
              <a:rPr lang="en-IN" dirty="0"/>
              <a:t>Example:</a:t>
            </a:r>
          </a:p>
          <a:p>
            <a:r>
              <a:rPr lang="en-IN" dirty="0"/>
              <a:t>X-ray images </a:t>
            </a:r>
          </a:p>
          <a:p>
            <a:r>
              <a:rPr lang="en-IN" dirty="0"/>
              <a:t>Black-and-white photos</a:t>
            </a:r>
          </a:p>
          <a:p>
            <a:endParaRPr lang="en-IN" dirty="0"/>
          </a:p>
        </p:txBody>
      </p:sp>
    </p:spTree>
    <p:extLst>
      <p:ext uri="{BB962C8B-B14F-4D97-AF65-F5344CB8AC3E}">
        <p14:creationId xmlns:p14="http://schemas.microsoft.com/office/powerpoint/2010/main" val="4294389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0F572E-DA17-2AFD-02BA-76113298889F}"/>
              </a:ext>
            </a:extLst>
          </p:cNvPr>
          <p:cNvSpPr>
            <a:spLocks noGrp="1"/>
          </p:cNvSpPr>
          <p:nvPr>
            <p:ph idx="1"/>
          </p:nvPr>
        </p:nvSpPr>
        <p:spPr>
          <a:xfrm>
            <a:off x="838200" y="237392"/>
            <a:ext cx="10515600" cy="5939571"/>
          </a:xfrm>
        </p:spPr>
        <p:txBody>
          <a:bodyPr/>
          <a:lstStyle/>
          <a:p>
            <a:pPr marL="0" indent="0">
              <a:buNone/>
            </a:pPr>
            <a:r>
              <a:rPr lang="en-IN" b="1" dirty="0"/>
              <a:t>C. </a:t>
            </a:r>
            <a:r>
              <a:rPr lang="en-IN" b="1" dirty="0" err="1"/>
              <a:t>Color</a:t>
            </a:r>
            <a:r>
              <a:rPr lang="en-IN" b="1" dirty="0"/>
              <a:t> Image</a:t>
            </a:r>
          </a:p>
          <a:p>
            <a:r>
              <a:rPr lang="en-IN" dirty="0"/>
              <a:t>Uses RGB channels.</a:t>
            </a:r>
          </a:p>
          <a:p>
            <a:r>
              <a:rPr lang="en-IN" dirty="0"/>
              <a:t>Each pixel has:</a:t>
            </a:r>
          </a:p>
          <a:p>
            <a:r>
              <a:rPr lang="en-IN" dirty="0"/>
              <a:t>Red </a:t>
            </a:r>
          </a:p>
          <a:p>
            <a:r>
              <a:rPr lang="en-IN" dirty="0"/>
              <a:t>Green </a:t>
            </a:r>
          </a:p>
          <a:p>
            <a:r>
              <a:rPr lang="en-IN" dirty="0"/>
              <a:t>Blue </a:t>
            </a:r>
          </a:p>
          <a:p>
            <a:r>
              <a:rPr lang="en-IN" dirty="0"/>
              <a:t>Example:</a:t>
            </a:r>
          </a:p>
          <a:p>
            <a:r>
              <a:rPr lang="en-IN" dirty="0"/>
              <a:t>Pixel = (255,0,0)</a:t>
            </a:r>
          </a:p>
          <a:p>
            <a:endParaRPr lang="en-IN" dirty="0"/>
          </a:p>
          <a:p>
            <a:r>
              <a:rPr lang="en-IN" dirty="0"/>
              <a:t>Represents pure red </a:t>
            </a:r>
            <a:r>
              <a:rPr lang="en-IN" dirty="0" err="1"/>
              <a:t>color</a:t>
            </a:r>
            <a:r>
              <a:rPr lang="en-IN" dirty="0"/>
              <a:t>.</a:t>
            </a:r>
          </a:p>
          <a:p>
            <a:endParaRPr lang="en-IN" dirty="0"/>
          </a:p>
        </p:txBody>
      </p:sp>
    </p:spTree>
    <p:extLst>
      <p:ext uri="{BB962C8B-B14F-4D97-AF65-F5344CB8AC3E}">
        <p14:creationId xmlns:p14="http://schemas.microsoft.com/office/powerpoint/2010/main" val="3695503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D935FA-5010-9553-9014-FA256CF2CA2D}"/>
              </a:ext>
            </a:extLst>
          </p:cNvPr>
          <p:cNvSpPr>
            <a:spLocks noGrp="1"/>
          </p:cNvSpPr>
          <p:nvPr>
            <p:ph idx="1"/>
          </p:nvPr>
        </p:nvSpPr>
        <p:spPr>
          <a:xfrm>
            <a:off x="838200" y="509954"/>
            <a:ext cx="10515600" cy="5667009"/>
          </a:xfrm>
        </p:spPr>
        <p:txBody>
          <a:bodyPr/>
          <a:lstStyle/>
          <a:p>
            <a:pPr marL="0" indent="0">
              <a:buNone/>
            </a:pPr>
            <a:r>
              <a:rPr lang="en-IN" b="1" dirty="0"/>
              <a:t>5. Image Processing Levels</a:t>
            </a:r>
          </a:p>
          <a:p>
            <a:r>
              <a:rPr lang="en-IN" b="1" dirty="0"/>
              <a:t>Low-Level Processing</a:t>
            </a:r>
          </a:p>
          <a:p>
            <a:r>
              <a:rPr lang="en-IN" dirty="0"/>
              <a:t>Input: Image</a:t>
            </a:r>
          </a:p>
          <a:p>
            <a:r>
              <a:rPr lang="en-IN" dirty="0"/>
              <a:t>Output: Image</a:t>
            </a:r>
          </a:p>
          <a:p>
            <a:r>
              <a:rPr lang="en-IN" dirty="0"/>
              <a:t>Examples:</a:t>
            </a:r>
          </a:p>
          <a:p>
            <a:r>
              <a:rPr lang="en-IN" dirty="0"/>
              <a:t>Noise removal </a:t>
            </a:r>
          </a:p>
          <a:p>
            <a:r>
              <a:rPr lang="en-IN" dirty="0"/>
              <a:t>Contrast enhancement</a:t>
            </a:r>
          </a:p>
          <a:p>
            <a:endParaRPr lang="en-IN" dirty="0"/>
          </a:p>
        </p:txBody>
      </p:sp>
    </p:spTree>
    <p:extLst>
      <p:ext uri="{BB962C8B-B14F-4D97-AF65-F5344CB8AC3E}">
        <p14:creationId xmlns:p14="http://schemas.microsoft.com/office/powerpoint/2010/main" val="2186799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2CBEED-21AA-AECE-E727-951C60313F14}"/>
              </a:ext>
            </a:extLst>
          </p:cNvPr>
          <p:cNvSpPr>
            <a:spLocks noGrp="1"/>
          </p:cNvSpPr>
          <p:nvPr>
            <p:ph idx="1"/>
          </p:nvPr>
        </p:nvSpPr>
        <p:spPr>
          <a:xfrm>
            <a:off x="838200" y="545123"/>
            <a:ext cx="10515600" cy="5631840"/>
          </a:xfrm>
        </p:spPr>
        <p:txBody>
          <a:bodyPr>
            <a:normAutofit fontScale="92500" lnSpcReduction="20000"/>
          </a:bodyPr>
          <a:lstStyle/>
          <a:p>
            <a:r>
              <a:rPr lang="en-IN" b="1" dirty="0"/>
              <a:t>Mid-Level Processing</a:t>
            </a:r>
          </a:p>
          <a:p>
            <a:r>
              <a:rPr lang="en-IN" dirty="0"/>
              <a:t>Input: Image</a:t>
            </a:r>
          </a:p>
          <a:p>
            <a:r>
              <a:rPr lang="en-IN" dirty="0"/>
              <a:t>Output: Features</a:t>
            </a:r>
          </a:p>
          <a:p>
            <a:r>
              <a:rPr lang="en-IN" dirty="0"/>
              <a:t>Examples:</a:t>
            </a:r>
          </a:p>
          <a:p>
            <a:r>
              <a:rPr lang="en-IN" dirty="0"/>
              <a:t>Segmentation </a:t>
            </a:r>
          </a:p>
          <a:p>
            <a:r>
              <a:rPr lang="en-IN" dirty="0"/>
              <a:t>Edge detection </a:t>
            </a:r>
          </a:p>
          <a:p>
            <a:endParaRPr lang="en-IN" dirty="0"/>
          </a:p>
          <a:p>
            <a:r>
              <a:rPr lang="en-IN" b="1" dirty="0"/>
              <a:t>High-Level Processing</a:t>
            </a:r>
          </a:p>
          <a:p>
            <a:r>
              <a:rPr lang="en-IN" dirty="0"/>
              <a:t>Input: Features</a:t>
            </a:r>
          </a:p>
          <a:p>
            <a:r>
              <a:rPr lang="en-IN" dirty="0"/>
              <a:t>Output: Knowledge</a:t>
            </a:r>
          </a:p>
          <a:p>
            <a:r>
              <a:rPr lang="en-IN" dirty="0"/>
              <a:t>Examples:</a:t>
            </a:r>
          </a:p>
          <a:p>
            <a:r>
              <a:rPr lang="en-IN" dirty="0"/>
              <a:t>Face recognition </a:t>
            </a:r>
          </a:p>
          <a:p>
            <a:r>
              <a:rPr lang="en-IN" dirty="0"/>
              <a:t>Medical diagnosis</a:t>
            </a:r>
          </a:p>
          <a:p>
            <a:endParaRPr lang="en-IN" dirty="0"/>
          </a:p>
        </p:txBody>
      </p:sp>
    </p:spTree>
    <p:extLst>
      <p:ext uri="{BB962C8B-B14F-4D97-AF65-F5344CB8AC3E}">
        <p14:creationId xmlns:p14="http://schemas.microsoft.com/office/powerpoint/2010/main" val="1201803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7F58-C2CA-32CC-8D96-8984F8E97417}"/>
              </a:ext>
            </a:extLst>
          </p:cNvPr>
          <p:cNvSpPr>
            <a:spLocks noGrp="1"/>
          </p:cNvSpPr>
          <p:nvPr>
            <p:ph type="title"/>
          </p:nvPr>
        </p:nvSpPr>
        <p:spPr/>
        <p:txBody>
          <a:bodyPr/>
          <a:lstStyle/>
          <a:p>
            <a:r>
              <a:rPr lang="en-IN" dirty="0"/>
              <a:t>Common Operations in Digital Image Processing</a:t>
            </a:r>
          </a:p>
        </p:txBody>
      </p:sp>
      <p:sp>
        <p:nvSpPr>
          <p:cNvPr id="3" name="Content Placeholder 2">
            <a:extLst>
              <a:ext uri="{FF2B5EF4-FFF2-40B4-BE49-F238E27FC236}">
                <a16:creationId xmlns:a16="http://schemas.microsoft.com/office/drawing/2014/main" id="{E2BDAD81-DBA4-B008-6C90-BB9639479773}"/>
              </a:ext>
            </a:extLst>
          </p:cNvPr>
          <p:cNvSpPr>
            <a:spLocks noGrp="1"/>
          </p:cNvSpPr>
          <p:nvPr>
            <p:ph idx="1"/>
          </p:nvPr>
        </p:nvSpPr>
        <p:spPr/>
        <p:txBody>
          <a:bodyPr/>
          <a:lstStyle/>
          <a:p>
            <a:r>
              <a:rPr lang="en-IN" b="1" dirty="0"/>
              <a:t>Image Smoothing</a:t>
            </a:r>
          </a:p>
          <a:p>
            <a:r>
              <a:rPr lang="en-IN" dirty="0"/>
              <a:t>Reduces noise.</a:t>
            </a:r>
          </a:p>
          <a:p>
            <a:r>
              <a:rPr lang="en-IN" dirty="0"/>
              <a:t>Methods:</a:t>
            </a:r>
          </a:p>
          <a:p>
            <a:r>
              <a:rPr lang="en-IN" dirty="0"/>
              <a:t>Mean Filter </a:t>
            </a:r>
          </a:p>
          <a:p>
            <a:r>
              <a:rPr lang="en-IN" dirty="0"/>
              <a:t>Gaussian Filter </a:t>
            </a:r>
          </a:p>
          <a:p>
            <a:r>
              <a:rPr lang="en-IN" dirty="0"/>
              <a:t>Median Filter </a:t>
            </a:r>
          </a:p>
          <a:p>
            <a:r>
              <a:rPr lang="en-IN" dirty="0"/>
              <a:t>Example:</a:t>
            </a:r>
            <a:br>
              <a:rPr lang="en-IN" dirty="0"/>
            </a:br>
            <a:r>
              <a:rPr lang="en-IN" dirty="0"/>
              <a:t>Removing grainy appearance from photographs.</a:t>
            </a:r>
          </a:p>
          <a:p>
            <a:endParaRPr lang="en-IN" dirty="0"/>
          </a:p>
        </p:txBody>
      </p:sp>
    </p:spTree>
    <p:extLst>
      <p:ext uri="{BB962C8B-B14F-4D97-AF65-F5344CB8AC3E}">
        <p14:creationId xmlns:p14="http://schemas.microsoft.com/office/powerpoint/2010/main" val="4119739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4940-3F85-BB82-4295-112E6BA46B4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F79578-9671-297B-3395-EED90E444904}"/>
              </a:ext>
            </a:extLst>
          </p:cNvPr>
          <p:cNvSpPr>
            <a:spLocks noGrp="1"/>
          </p:cNvSpPr>
          <p:nvPr>
            <p:ph idx="1"/>
          </p:nvPr>
        </p:nvSpPr>
        <p:spPr/>
        <p:txBody>
          <a:bodyPr/>
          <a:lstStyle/>
          <a:p>
            <a:r>
              <a:rPr lang="en-IN" b="1" dirty="0"/>
              <a:t>Image Sharpening</a:t>
            </a:r>
          </a:p>
          <a:p>
            <a:r>
              <a:rPr lang="en-IN" dirty="0"/>
              <a:t>Highlights edges and details.</a:t>
            </a:r>
          </a:p>
          <a:p>
            <a:r>
              <a:rPr lang="en-IN" dirty="0"/>
              <a:t>Methods:</a:t>
            </a:r>
          </a:p>
          <a:p>
            <a:r>
              <a:rPr lang="en-IN" dirty="0"/>
              <a:t>Laplacian Filter </a:t>
            </a:r>
          </a:p>
          <a:p>
            <a:r>
              <a:rPr lang="en-IN" dirty="0"/>
              <a:t>High-Pass Filter </a:t>
            </a:r>
          </a:p>
          <a:p>
            <a:r>
              <a:rPr lang="en-IN" dirty="0"/>
              <a:t>Example:</a:t>
            </a:r>
            <a:br>
              <a:rPr lang="en-IN" dirty="0"/>
            </a:br>
            <a:r>
              <a:rPr lang="en-IN" dirty="0"/>
              <a:t>Improving satellite images.</a:t>
            </a:r>
          </a:p>
          <a:p>
            <a:endParaRPr lang="en-IN" dirty="0"/>
          </a:p>
        </p:txBody>
      </p:sp>
    </p:spTree>
    <p:extLst>
      <p:ext uri="{BB962C8B-B14F-4D97-AF65-F5344CB8AC3E}">
        <p14:creationId xmlns:p14="http://schemas.microsoft.com/office/powerpoint/2010/main" val="386846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8E1D8-16AF-210D-605A-6A99512B9F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6413553-1616-46A2-CA09-31366F8B5C6A}"/>
              </a:ext>
            </a:extLst>
          </p:cNvPr>
          <p:cNvSpPr>
            <a:spLocks noGrp="1"/>
          </p:cNvSpPr>
          <p:nvPr>
            <p:ph idx="1"/>
          </p:nvPr>
        </p:nvSpPr>
        <p:spPr/>
        <p:txBody>
          <a:bodyPr/>
          <a:lstStyle/>
          <a:p>
            <a:r>
              <a:rPr lang="en-IN" b="1" dirty="0"/>
              <a:t>Edge Detection</a:t>
            </a:r>
          </a:p>
          <a:p>
            <a:r>
              <a:rPr lang="en-IN" dirty="0"/>
              <a:t>Detects boundaries of objects.</a:t>
            </a:r>
          </a:p>
          <a:p>
            <a:r>
              <a:rPr lang="en-IN" dirty="0"/>
              <a:t>Popular operators:</a:t>
            </a:r>
          </a:p>
          <a:p>
            <a:r>
              <a:rPr lang="en-IN" dirty="0"/>
              <a:t>Sobel </a:t>
            </a:r>
          </a:p>
          <a:p>
            <a:r>
              <a:rPr lang="en-IN" dirty="0"/>
              <a:t>Prewitt </a:t>
            </a:r>
          </a:p>
          <a:p>
            <a:r>
              <a:rPr lang="en-IN" dirty="0"/>
              <a:t>Canny </a:t>
            </a:r>
          </a:p>
          <a:p>
            <a:r>
              <a:rPr lang="en-IN" dirty="0"/>
              <a:t>Example:</a:t>
            </a:r>
            <a:br>
              <a:rPr lang="en-IN" dirty="0"/>
            </a:br>
            <a:r>
              <a:rPr lang="en-IN" dirty="0"/>
              <a:t>Finding outlines of cars in traffic footage.</a:t>
            </a:r>
          </a:p>
          <a:p>
            <a:endParaRPr lang="en-IN" dirty="0"/>
          </a:p>
        </p:txBody>
      </p:sp>
    </p:spTree>
    <p:extLst>
      <p:ext uri="{BB962C8B-B14F-4D97-AF65-F5344CB8AC3E}">
        <p14:creationId xmlns:p14="http://schemas.microsoft.com/office/powerpoint/2010/main" val="1434856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4090-4955-9425-89FF-941F533760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1154CE-2152-1534-D3C8-3EA6882B980C}"/>
              </a:ext>
            </a:extLst>
          </p:cNvPr>
          <p:cNvSpPr>
            <a:spLocks noGrp="1"/>
          </p:cNvSpPr>
          <p:nvPr>
            <p:ph idx="1"/>
          </p:nvPr>
        </p:nvSpPr>
        <p:spPr/>
        <p:txBody>
          <a:bodyPr/>
          <a:lstStyle/>
          <a:p>
            <a:r>
              <a:rPr lang="en-IN" b="1" dirty="0"/>
              <a:t>Thresholding</a:t>
            </a:r>
          </a:p>
          <a:p>
            <a:r>
              <a:rPr lang="en-IN" dirty="0"/>
              <a:t>Converts grayscale image into binary image.</a:t>
            </a:r>
          </a:p>
          <a:p>
            <a:r>
              <a:rPr lang="en-US" dirty="0"/>
              <a:t>If Pixel &gt; Threshold → White</a:t>
            </a:r>
          </a:p>
          <a:p>
            <a:r>
              <a:rPr lang="en-US" dirty="0"/>
              <a:t>Else → Black</a:t>
            </a:r>
            <a:endParaRPr lang="en-IN" dirty="0"/>
          </a:p>
        </p:txBody>
      </p:sp>
    </p:spTree>
    <p:extLst>
      <p:ext uri="{BB962C8B-B14F-4D97-AF65-F5344CB8AC3E}">
        <p14:creationId xmlns:p14="http://schemas.microsoft.com/office/powerpoint/2010/main" val="4158335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FD6D1-30F6-1F66-CF0E-05F9683D49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F371CF-78F8-4E06-5555-D035887EE83E}"/>
              </a:ext>
            </a:extLst>
          </p:cNvPr>
          <p:cNvSpPr>
            <a:spLocks noGrp="1"/>
          </p:cNvSpPr>
          <p:nvPr>
            <p:ph idx="1"/>
          </p:nvPr>
        </p:nvSpPr>
        <p:spPr/>
        <p:txBody>
          <a:bodyPr/>
          <a:lstStyle/>
          <a:p>
            <a:r>
              <a:rPr lang="en-IN" dirty="0"/>
              <a:t>Image Transformations</a:t>
            </a:r>
          </a:p>
          <a:p>
            <a:endParaRPr lang="en-IN" dirty="0"/>
          </a:p>
          <a:p>
            <a:r>
              <a:rPr lang="en-IN" dirty="0"/>
              <a:t>255 255 255</a:t>
            </a:r>
          </a:p>
          <a:p>
            <a:r>
              <a:rPr lang="en-IN" dirty="0"/>
              <a:t>255   0 255</a:t>
            </a:r>
          </a:p>
          <a:p>
            <a:r>
              <a:rPr lang="en-IN" dirty="0"/>
              <a:t>255 255 255</a:t>
            </a:r>
          </a:p>
          <a:p>
            <a:endParaRPr lang="en-IN" dirty="0"/>
          </a:p>
          <a:p>
            <a:r>
              <a:rPr lang="en-IN" dirty="0"/>
              <a:t>The middle pixel is black and all others are white:</a:t>
            </a:r>
          </a:p>
        </p:txBody>
      </p:sp>
    </p:spTree>
    <p:extLst>
      <p:ext uri="{BB962C8B-B14F-4D97-AF65-F5344CB8AC3E}">
        <p14:creationId xmlns:p14="http://schemas.microsoft.com/office/powerpoint/2010/main" val="2775421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79147-BE8B-CDDE-7D24-30744399B044}"/>
              </a:ext>
            </a:extLst>
          </p:cNvPr>
          <p:cNvSpPr>
            <a:spLocks noGrp="1"/>
          </p:cNvSpPr>
          <p:nvPr>
            <p:ph idx="1"/>
          </p:nvPr>
        </p:nvSpPr>
        <p:spPr>
          <a:xfrm>
            <a:off x="838200" y="720969"/>
            <a:ext cx="10515600" cy="5455994"/>
          </a:xfrm>
        </p:spPr>
        <p:txBody>
          <a:bodyPr>
            <a:normAutofit lnSpcReduction="10000"/>
          </a:bodyPr>
          <a:lstStyle/>
          <a:p>
            <a:r>
              <a:rPr lang="en-US" dirty="0"/>
              <a:t>(255,0,0)   → Red</a:t>
            </a:r>
          </a:p>
          <a:p>
            <a:r>
              <a:rPr lang="en-US" dirty="0"/>
              <a:t>(0,255,0)   → Green</a:t>
            </a:r>
          </a:p>
          <a:p>
            <a:r>
              <a:rPr lang="en-US" dirty="0"/>
              <a:t>(0,0,255)   → Blue</a:t>
            </a:r>
          </a:p>
          <a:p>
            <a:r>
              <a:rPr lang="en-US" dirty="0"/>
              <a:t>(255,255,0) → Yellow</a:t>
            </a:r>
          </a:p>
          <a:p>
            <a:endParaRPr lang="en-US" dirty="0"/>
          </a:p>
          <a:p>
            <a:r>
              <a:rPr lang="en-IN" dirty="0"/>
              <a:t>A 2×2 </a:t>
            </a:r>
            <a:r>
              <a:rPr lang="en-IN" dirty="0" err="1"/>
              <a:t>color</a:t>
            </a:r>
            <a:r>
              <a:rPr lang="en-IN" dirty="0"/>
              <a:t> image might be:	</a:t>
            </a:r>
          </a:p>
          <a:p>
            <a:r>
              <a:rPr lang="en-IN" dirty="0"/>
              <a:t>[(255,0,0),   (0,255,0)]</a:t>
            </a:r>
          </a:p>
          <a:p>
            <a:r>
              <a:rPr lang="en-IN" dirty="0"/>
              <a:t>[(0,0,255), (255,255,255)]</a:t>
            </a:r>
          </a:p>
          <a:p>
            <a:endParaRPr lang="en-IN" dirty="0"/>
          </a:p>
          <a:p>
            <a:r>
              <a:rPr lang="en-IN" dirty="0"/>
              <a:t>🟥 🟩</a:t>
            </a:r>
          </a:p>
          <a:p>
            <a:r>
              <a:rPr lang="en-IN" dirty="0"/>
              <a:t>🟦 ⬜</a:t>
            </a:r>
          </a:p>
        </p:txBody>
      </p:sp>
    </p:spTree>
    <p:extLst>
      <p:ext uri="{BB962C8B-B14F-4D97-AF65-F5344CB8AC3E}">
        <p14:creationId xmlns:p14="http://schemas.microsoft.com/office/powerpoint/2010/main" val="7883150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ED200-AC8F-C4C3-A489-C7D1767410BA}"/>
              </a:ext>
            </a:extLst>
          </p:cNvPr>
          <p:cNvSpPr>
            <a:spLocks noGrp="1"/>
          </p:cNvSpPr>
          <p:nvPr>
            <p:ph type="title"/>
          </p:nvPr>
        </p:nvSpPr>
        <p:spPr/>
        <p:txBody>
          <a:bodyPr/>
          <a:lstStyle/>
          <a:p>
            <a:r>
              <a:rPr lang="en-IN" dirty="0"/>
              <a:t>HOW 3D IMAGES CONVERTED TO 2D</a:t>
            </a:r>
          </a:p>
        </p:txBody>
      </p:sp>
      <p:sp>
        <p:nvSpPr>
          <p:cNvPr id="3" name="Content Placeholder 2">
            <a:extLst>
              <a:ext uri="{FF2B5EF4-FFF2-40B4-BE49-F238E27FC236}">
                <a16:creationId xmlns:a16="http://schemas.microsoft.com/office/drawing/2014/main" id="{1022222F-8F7C-6A98-BDDE-9CAFAC751419}"/>
              </a:ext>
            </a:extLst>
          </p:cNvPr>
          <p:cNvSpPr>
            <a:spLocks noGrp="1"/>
          </p:cNvSpPr>
          <p:nvPr>
            <p:ph idx="1"/>
          </p:nvPr>
        </p:nvSpPr>
        <p:spPr/>
        <p:txBody>
          <a:bodyPr/>
          <a:lstStyle/>
          <a:p>
            <a:r>
              <a:rPr lang="en-IN" dirty="0"/>
              <a:t>A </a:t>
            </a:r>
            <a:r>
              <a:rPr lang="en-IN" b="1" dirty="0"/>
              <a:t>3D image (or 3D object)</a:t>
            </a:r>
            <a:r>
              <a:rPr lang="en-IN" dirty="0"/>
              <a:t> is converted into a </a:t>
            </a:r>
            <a:r>
              <a:rPr lang="en-IN" b="1" dirty="0"/>
              <a:t>2D image</a:t>
            </a:r>
            <a:r>
              <a:rPr lang="en-IN" dirty="0"/>
              <a:t> through a process called </a:t>
            </a:r>
            <a:r>
              <a:rPr lang="en-IN" b="1" dirty="0"/>
              <a:t>projection</a:t>
            </a:r>
            <a:r>
              <a:rPr lang="en-IN" dirty="0"/>
              <a:t>. This is exactly how a camera, the human eye, or a computer graphics system works: a three-dimensional scene is projected onto a two-dimensional surface (camera sensor, screen, or retina).</a:t>
            </a:r>
          </a:p>
          <a:p>
            <a:r>
              <a:rPr lang="en-IN" dirty="0"/>
              <a:t>Imagine a cube in space:</a:t>
            </a:r>
          </a:p>
        </p:txBody>
      </p:sp>
    </p:spTree>
    <p:extLst>
      <p:ext uri="{BB962C8B-B14F-4D97-AF65-F5344CB8AC3E}">
        <p14:creationId xmlns:p14="http://schemas.microsoft.com/office/powerpoint/2010/main" val="2972344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CC7E4-FD31-A854-4C0E-16F298AF5DDE}"/>
              </a:ext>
            </a:extLst>
          </p:cNvPr>
          <p:cNvSpPr>
            <a:spLocks noGrp="1"/>
          </p:cNvSpPr>
          <p:nvPr>
            <p:ph idx="1"/>
          </p:nvPr>
        </p:nvSpPr>
        <p:spPr/>
        <p:txBody>
          <a:bodyPr/>
          <a:lstStyle/>
          <a:p>
            <a:pPr marL="0" indent="0">
              <a:buNone/>
            </a:pPr>
            <a:r>
              <a:rPr lang="en-IN" dirty="0"/>
              <a:t> z</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O------ y</a:t>
            </a:r>
          </a:p>
          <a:p>
            <a:pPr marL="0" indent="0">
              <a:buNone/>
            </a:pPr>
            <a:r>
              <a:rPr lang="en-IN" dirty="0"/>
              <a:t>       /</a:t>
            </a:r>
          </a:p>
          <a:p>
            <a:pPr marL="0" indent="0">
              <a:buNone/>
            </a:pPr>
            <a:r>
              <a:rPr lang="en-IN" dirty="0"/>
              <a:t>      /</a:t>
            </a:r>
          </a:p>
          <a:p>
            <a:pPr marL="0" indent="0">
              <a:buNone/>
            </a:pPr>
            <a:r>
              <a:rPr lang="en-IN" dirty="0"/>
              <a:t>     x</a:t>
            </a:r>
          </a:p>
        </p:txBody>
      </p:sp>
    </p:spTree>
    <p:extLst>
      <p:ext uri="{BB962C8B-B14F-4D97-AF65-F5344CB8AC3E}">
        <p14:creationId xmlns:p14="http://schemas.microsoft.com/office/powerpoint/2010/main" val="2647803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DDA3A-D843-C8D6-C1C1-FDD9A70F996C}"/>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75B475-0D1D-A2D4-E1EF-6EDB478F670A}"/>
                  </a:ext>
                </a:extLst>
              </p:cNvPr>
              <p:cNvSpPr>
                <a:spLocks noGrp="1"/>
              </p:cNvSpPr>
              <p:nvPr>
                <p:ph idx="1"/>
              </p:nvPr>
            </p:nvSpPr>
            <p:spPr/>
            <p:txBody>
              <a:bodyPr/>
              <a:lstStyle/>
              <a:p>
                <a:r>
                  <a:rPr lang="en-IN" dirty="0"/>
                  <a:t>he cube has coordinates:</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e>
                        <m:r>
                          <a:rPr lang="en-IN" i="1">
                            <a:latin typeface="Cambria Math" panose="02040503050406030204" pitchFamily="18" charset="0"/>
                          </a:rPr>
                          <m:t>𝑧</m:t>
                        </m:r>
                      </m:e>
                    </m:d>
                  </m:oMath>
                </a14:m>
                <a:endParaRPr lang="en-IN" dirty="0"/>
              </a:p>
              <a:p>
                <a:r>
                  <a:rPr lang="en-IN" dirty="0"/>
                  <a:t>A computer screen can only display:</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endParaRPr lang="en-IN" dirty="0"/>
              </a:p>
              <a:p>
                <a:r>
                  <a:rPr lang="en-IN" dirty="0"/>
                  <a:t> Therefore, the depth coordinate (</a:t>
                </a:r>
                <a:r>
                  <a:rPr lang="en-IN" b="1" dirty="0"/>
                  <a:t>z</a:t>
                </a:r>
                <a:r>
                  <a:rPr lang="en-IN" dirty="0"/>
                  <a:t>) must be transformed into a 2D representation.</a:t>
                </a:r>
              </a:p>
            </p:txBody>
          </p:sp>
        </mc:Choice>
        <mc:Fallback xmlns="">
          <p:sp>
            <p:nvSpPr>
              <p:cNvPr id="3" name="Content Placeholder 2">
                <a:extLst>
                  <a:ext uri="{FF2B5EF4-FFF2-40B4-BE49-F238E27FC236}">
                    <a16:creationId xmlns:a16="http://schemas.microsoft.com/office/drawing/2014/main" id="{6075B475-0D1D-A2D4-E1EF-6EDB478F670A}"/>
                  </a:ext>
                </a:extLst>
              </p:cNvPr>
              <p:cNvSpPr>
                <a:spLocks noGrp="1" noRot="1" noChangeAspect="1" noMove="1" noResize="1" noEditPoints="1" noAdjustHandles="1" noChangeArrowheads="1" noChangeShapeType="1" noTextEdit="1"/>
              </p:cNvSpPr>
              <p:nvPr>
                <p:ph idx="1"/>
              </p:nvPr>
            </p:nvSpPr>
            <p:spPr>
              <a:blipFill>
                <a:blip r:embed="rId2"/>
                <a:stretch>
                  <a:fillRect l="-1043" t="-2381" r="-1391"/>
                </a:stretch>
              </a:blipFill>
            </p:spPr>
            <p:txBody>
              <a:bodyPr/>
              <a:lstStyle/>
              <a:p>
                <a:r>
                  <a:rPr lang="en-IN">
                    <a:noFill/>
                  </a:rPr>
                  <a:t> </a:t>
                </a:r>
              </a:p>
            </p:txBody>
          </p:sp>
        </mc:Fallback>
      </mc:AlternateContent>
    </p:spTree>
    <p:extLst>
      <p:ext uri="{BB962C8B-B14F-4D97-AF65-F5344CB8AC3E}">
        <p14:creationId xmlns:p14="http://schemas.microsoft.com/office/powerpoint/2010/main" val="3295590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AB44-FCFE-6FFD-E0D1-1DEFAE560708}"/>
              </a:ext>
            </a:extLst>
          </p:cNvPr>
          <p:cNvSpPr>
            <a:spLocks noGrp="1"/>
          </p:cNvSpPr>
          <p:nvPr>
            <p:ph type="title"/>
          </p:nvPr>
        </p:nvSpPr>
        <p:spPr/>
        <p:txBody>
          <a:bodyPr/>
          <a:lstStyle/>
          <a:p>
            <a:r>
              <a:rPr lang="en-IN" dirty="0"/>
              <a:t>Steps in 3D to 2D Conversion</a:t>
            </a:r>
          </a:p>
        </p:txBody>
      </p:sp>
      <p:sp>
        <p:nvSpPr>
          <p:cNvPr id="3" name="Content Placeholder 2">
            <a:extLst>
              <a:ext uri="{FF2B5EF4-FFF2-40B4-BE49-F238E27FC236}">
                <a16:creationId xmlns:a16="http://schemas.microsoft.com/office/drawing/2014/main" id="{F2E27276-1B7F-4619-7476-F0C77AB223DA}"/>
              </a:ext>
            </a:extLst>
          </p:cNvPr>
          <p:cNvSpPr>
            <a:spLocks noGrp="1"/>
          </p:cNvSpPr>
          <p:nvPr>
            <p:ph idx="1"/>
          </p:nvPr>
        </p:nvSpPr>
        <p:spPr>
          <a:xfrm>
            <a:off x="838200" y="1825624"/>
            <a:ext cx="10515600" cy="4812567"/>
          </a:xfrm>
        </p:spPr>
        <p:txBody>
          <a:bodyPr>
            <a:normAutofit lnSpcReduction="10000"/>
          </a:bodyPr>
          <a:lstStyle/>
          <a:p>
            <a:r>
              <a:rPr lang="en-IN" dirty="0"/>
              <a:t>1. Model the 3D Object</a:t>
            </a:r>
          </a:p>
          <a:p>
            <a:r>
              <a:rPr lang="en-IN" dirty="0"/>
              <a:t>The object is represented by vertices:</a:t>
            </a:r>
          </a:p>
          <a:p>
            <a:pPr marL="0" indent="0">
              <a:buNone/>
            </a:pPr>
            <a:r>
              <a:rPr lang="pl-PL" dirty="0"/>
              <a:t>P1 = (x1,y1,z1)</a:t>
            </a:r>
          </a:p>
          <a:p>
            <a:pPr marL="0" indent="0">
              <a:buNone/>
            </a:pPr>
            <a:r>
              <a:rPr lang="pl-PL" dirty="0"/>
              <a:t>P2 = (x2,y2,z2)</a:t>
            </a:r>
          </a:p>
          <a:p>
            <a:pPr marL="0" indent="0">
              <a:buNone/>
            </a:pPr>
            <a:r>
              <a:rPr lang="pl-PL" dirty="0"/>
              <a:t>P3 = (x3,y3,z3)</a:t>
            </a:r>
          </a:p>
          <a:p>
            <a:pPr marL="0" indent="0">
              <a:buNone/>
            </a:pPr>
            <a:r>
              <a:rPr lang="pl-PL" dirty="0"/>
              <a:t>...</a:t>
            </a:r>
            <a:endParaRPr lang="en-IN" dirty="0"/>
          </a:p>
          <a:p>
            <a:pPr marL="0" indent="0">
              <a:buNone/>
            </a:pPr>
            <a:endParaRPr lang="en-IN" dirty="0"/>
          </a:p>
          <a:p>
            <a:pPr marL="0" indent="0">
              <a:buNone/>
            </a:pPr>
            <a:r>
              <a:rPr lang="en-IN" dirty="0"/>
              <a:t>For example:</a:t>
            </a:r>
          </a:p>
          <a:p>
            <a:pPr marL="0" indent="0">
              <a:buNone/>
            </a:pPr>
            <a:r>
              <a:rPr lang="en-IN" dirty="0"/>
              <a:t>A = (2,3,5)</a:t>
            </a:r>
          </a:p>
          <a:p>
            <a:pPr marL="0" indent="0">
              <a:buNone/>
            </a:pPr>
            <a:r>
              <a:rPr lang="en-IN" dirty="0"/>
              <a:t>B = (4,1,8)</a:t>
            </a:r>
          </a:p>
        </p:txBody>
      </p:sp>
    </p:spTree>
    <p:extLst>
      <p:ext uri="{BB962C8B-B14F-4D97-AF65-F5344CB8AC3E}">
        <p14:creationId xmlns:p14="http://schemas.microsoft.com/office/powerpoint/2010/main" val="161617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976A-8CF7-9F37-2016-526B12775BC5}"/>
              </a:ext>
            </a:extLst>
          </p:cNvPr>
          <p:cNvSpPr>
            <a:spLocks noGrp="1"/>
          </p:cNvSpPr>
          <p:nvPr>
            <p:ph type="title"/>
          </p:nvPr>
        </p:nvSpPr>
        <p:spPr/>
        <p:txBody>
          <a:bodyPr/>
          <a:lstStyle/>
          <a:p>
            <a:r>
              <a:rPr lang="en-IN" dirty="0"/>
              <a:t>2. Position the Camera</a:t>
            </a:r>
          </a:p>
        </p:txBody>
      </p:sp>
      <p:sp>
        <p:nvSpPr>
          <p:cNvPr id="3" name="Content Placeholder 2">
            <a:extLst>
              <a:ext uri="{FF2B5EF4-FFF2-40B4-BE49-F238E27FC236}">
                <a16:creationId xmlns:a16="http://schemas.microsoft.com/office/drawing/2014/main" id="{399E9AF8-B133-9B25-9C1C-8BE48D7328B6}"/>
              </a:ext>
            </a:extLst>
          </p:cNvPr>
          <p:cNvSpPr>
            <a:spLocks noGrp="1"/>
          </p:cNvSpPr>
          <p:nvPr>
            <p:ph idx="1"/>
          </p:nvPr>
        </p:nvSpPr>
        <p:spPr/>
        <p:txBody>
          <a:bodyPr/>
          <a:lstStyle/>
          <a:p>
            <a:r>
              <a:rPr lang="en-IN" dirty="0"/>
              <a:t>A virtual camera is placed in the 3D scene.</a:t>
            </a:r>
          </a:p>
          <a:p>
            <a:r>
              <a:rPr lang="en-IN" dirty="0"/>
              <a:t>The camera has:</a:t>
            </a:r>
          </a:p>
          <a:p>
            <a:r>
              <a:rPr lang="en-IN" dirty="0"/>
              <a:t>Position </a:t>
            </a:r>
          </a:p>
          <a:p>
            <a:r>
              <a:rPr lang="en-IN" dirty="0"/>
              <a:t>Direction </a:t>
            </a:r>
          </a:p>
          <a:p>
            <a:r>
              <a:rPr lang="en-IN" dirty="0"/>
              <a:t>Viewing angle</a:t>
            </a:r>
          </a:p>
          <a:p>
            <a:endParaRPr lang="en-IN" dirty="0"/>
          </a:p>
        </p:txBody>
      </p:sp>
    </p:spTree>
    <p:extLst>
      <p:ext uri="{BB962C8B-B14F-4D97-AF65-F5344CB8AC3E}">
        <p14:creationId xmlns:p14="http://schemas.microsoft.com/office/powerpoint/2010/main" val="4038679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9E5C-5875-9F38-6F0B-66CB351BC896}"/>
              </a:ext>
            </a:extLst>
          </p:cNvPr>
          <p:cNvSpPr>
            <a:spLocks noGrp="1"/>
          </p:cNvSpPr>
          <p:nvPr>
            <p:ph type="title"/>
          </p:nvPr>
        </p:nvSpPr>
        <p:spPr/>
        <p:txBody>
          <a:bodyPr/>
          <a:lstStyle/>
          <a:p>
            <a:r>
              <a:rPr lang="en-IN" dirty="0"/>
              <a:t>3. Projection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2036BD-4189-6788-8F6F-B4E5FC27AD06}"/>
                  </a:ext>
                </a:extLst>
              </p:cNvPr>
              <p:cNvSpPr>
                <a:spLocks noGrp="1"/>
              </p:cNvSpPr>
              <p:nvPr>
                <p:ph idx="1"/>
              </p:nvPr>
            </p:nvSpPr>
            <p:spPr/>
            <p:txBody>
              <a:bodyPr/>
              <a:lstStyle/>
              <a:p>
                <a:r>
                  <a:rPr lang="en-IN" dirty="0"/>
                  <a:t>The 3D coordinates are projected onto a 2D plane.</a:t>
                </a:r>
              </a:p>
              <a:p>
                <a:r>
                  <a:rPr lang="en-IN" dirty="0"/>
                  <a:t>There are two major projection methods:</a:t>
                </a:r>
              </a:p>
              <a:p>
                <a:pPr marL="0" indent="0">
                  <a:buNone/>
                </a:pPr>
                <a:endParaRPr lang="en-IN" dirty="0"/>
              </a:p>
              <a:p>
                <a:pPr marL="0" indent="0">
                  <a:buNone/>
                </a:pPr>
                <a:r>
                  <a:rPr lang="en-IN" b="1" dirty="0"/>
                  <a:t>A. Orthographic Projection</a:t>
                </a:r>
              </a:p>
              <a:p>
                <a:r>
                  <a:rPr lang="en-IN" dirty="0"/>
                  <a:t>Objects keep their actual size regardless of distance.</a:t>
                </a:r>
              </a:p>
              <a:p>
                <a:r>
                  <a:rPr lang="en-IN" dirty="0"/>
                  <a:t>Projection simply ignores depth:</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r>
                      <a:rPr lang="en-IN" i="1">
                        <a:latin typeface="Cambria Math" panose="02040503050406030204" pitchFamily="18" charset="0"/>
                      </a:rPr>
                      <m:t>𝑥</m:t>
                    </m:r>
                  </m:oMath>
                </a14:m>
                <a:endParaRPr lang="en-IN" dirty="0"/>
              </a:p>
              <a:p>
                <a:r>
                  <a:rPr lang="en-IN" dirty="0"/>
                  <a:t>y′=y</a:t>
                </a:r>
              </a:p>
            </p:txBody>
          </p:sp>
        </mc:Choice>
        <mc:Fallback xmlns="">
          <p:sp>
            <p:nvSpPr>
              <p:cNvPr id="3" name="Content Placeholder 2">
                <a:extLst>
                  <a:ext uri="{FF2B5EF4-FFF2-40B4-BE49-F238E27FC236}">
                    <a16:creationId xmlns:a16="http://schemas.microsoft.com/office/drawing/2014/main" id="{C02036BD-4189-6788-8F6F-B4E5FC27AD06}"/>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4081638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2E1B0-77BC-CCA2-C3CF-177A64BE53EA}"/>
              </a:ext>
            </a:extLst>
          </p:cNvPr>
          <p:cNvSpPr>
            <a:spLocks noGrp="1"/>
          </p:cNvSpPr>
          <p:nvPr>
            <p:ph idx="1"/>
          </p:nvPr>
        </p:nvSpPr>
        <p:spPr>
          <a:xfrm>
            <a:off x="838200" y="483577"/>
            <a:ext cx="10515600" cy="5693386"/>
          </a:xfrm>
        </p:spPr>
        <p:txBody>
          <a:bodyPr>
            <a:normAutofit lnSpcReduction="10000"/>
          </a:bodyPr>
          <a:lstStyle/>
          <a:p>
            <a:r>
              <a:rPr lang="fr-FR" dirty="0"/>
              <a:t>3D Point: (5,4,10)</a:t>
            </a:r>
          </a:p>
          <a:p>
            <a:r>
              <a:rPr lang="fr-FR" dirty="0"/>
              <a:t>2D Point: (5,4)</a:t>
            </a:r>
          </a:p>
          <a:p>
            <a:endParaRPr lang="fr-FR" dirty="0"/>
          </a:p>
          <a:p>
            <a:r>
              <a:rPr lang="en-IN" dirty="0"/>
              <a:t>Used in:</a:t>
            </a:r>
          </a:p>
          <a:p>
            <a:r>
              <a:rPr lang="en-IN" dirty="0"/>
              <a:t>Engineering drawings </a:t>
            </a:r>
          </a:p>
          <a:p>
            <a:r>
              <a:rPr lang="en-IN" dirty="0"/>
              <a:t>Blueprints</a:t>
            </a:r>
          </a:p>
          <a:p>
            <a:endParaRPr lang="en-IN" dirty="0"/>
          </a:p>
          <a:p>
            <a:pPr marL="0" indent="0">
              <a:buNone/>
            </a:pPr>
            <a:r>
              <a:rPr lang="en-IN" dirty="0"/>
              <a:t>B. Perspective Projection</a:t>
            </a:r>
          </a:p>
          <a:p>
            <a:r>
              <a:rPr lang="en-IN" dirty="0"/>
              <a:t>This is how human vision and cameras work.</a:t>
            </a:r>
          </a:p>
          <a:p>
            <a:r>
              <a:rPr lang="en-IN" dirty="0"/>
              <a:t>Farther objects appear smaller.</a:t>
            </a:r>
          </a:p>
          <a:p>
            <a:r>
              <a:rPr lang="en-IN" dirty="0"/>
              <a:t>Show a 3D object on a flat screen.</a:t>
            </a:r>
          </a:p>
          <a:p>
            <a:r>
              <a:rPr lang="en-IN" dirty="0"/>
              <a:t>The projection equations are:</a:t>
            </a:r>
          </a:p>
          <a:p>
            <a:pPr marL="0" indent="0">
              <a:buNone/>
            </a:pPr>
            <a:endParaRPr lang="en-IN" dirty="0"/>
          </a:p>
          <a:p>
            <a:endParaRPr lang="en-IN" dirty="0"/>
          </a:p>
        </p:txBody>
      </p:sp>
    </p:spTree>
    <p:extLst>
      <p:ext uri="{BB962C8B-B14F-4D97-AF65-F5344CB8AC3E}">
        <p14:creationId xmlns:p14="http://schemas.microsoft.com/office/powerpoint/2010/main" val="31241182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23588C-2860-005A-2B98-528D949C9B1C}"/>
                  </a:ext>
                </a:extLst>
              </p:cNvPr>
              <p:cNvSpPr>
                <a:spLocks noGrp="1"/>
              </p:cNvSpPr>
              <p:nvPr>
                <p:ph idx="1"/>
              </p:nvPr>
            </p:nvSpPr>
            <p:spPr>
              <a:xfrm>
                <a:off x="838200" y="492369"/>
                <a:ext cx="10515600" cy="5684594"/>
              </a:xfrm>
            </p:spPr>
            <p:txBody>
              <a:bodyPr/>
              <a:lstStyle/>
              <a:p>
                <a:r>
                  <a:rPr lang="en-IN" dirty="0"/>
                  <a:t>x′=</a:t>
                </a:r>
                <a:r>
                  <a:rPr lang="en-IN" dirty="0" err="1"/>
                  <a:t>fx</a:t>
                </a:r>
                <a:r>
                  <a:rPr lang="en-IN" dirty="0"/>
                  <a:t>​ /z</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𝑓𝑦</m:t>
                        </m:r>
                      </m:num>
                      <m:den>
                        <m:r>
                          <a:rPr lang="en-IN" i="1">
                            <a:latin typeface="Cambria Math" panose="02040503050406030204" pitchFamily="18" charset="0"/>
                          </a:rPr>
                          <m:t>𝑧</m:t>
                        </m:r>
                      </m:den>
                    </m:f>
                  </m:oMath>
                </a14:m>
                <a:endParaRPr lang="en-IN" dirty="0"/>
              </a:p>
              <a:p>
                <a:r>
                  <a:rPr lang="en-IN" b="1" dirty="0"/>
                  <a:t>Focal length is the camera's zoom power.</a:t>
                </a:r>
                <a:endParaRPr lang="en-IN" dirty="0"/>
              </a:p>
              <a:p>
                <a:r>
                  <a:rPr lang="en-IN" b="1" dirty="0"/>
                  <a:t>Small focal length</a:t>
                </a:r>
                <a:r>
                  <a:rPr lang="en-IN" dirty="0"/>
                  <a:t> = Wide view (you can see more of the scene). </a:t>
                </a:r>
              </a:p>
              <a:p>
                <a:r>
                  <a:rPr lang="en-IN" b="1" dirty="0"/>
                  <a:t>Large focal length</a:t>
                </a:r>
                <a:r>
                  <a:rPr lang="en-IN" dirty="0"/>
                  <a:t> = Zoomed-in view (objects look bigger).</a:t>
                </a:r>
              </a:p>
              <a:p>
                <a:r>
                  <a:rPr lang="en-IN" dirty="0"/>
                  <a:t>So, </a:t>
                </a:r>
                <a:r>
                  <a:rPr lang="en-IN" b="1" dirty="0"/>
                  <a:t>focal length tells the camera how "zoomed in" the final 2D image should look.</a:t>
                </a:r>
              </a:p>
              <a:p>
                <a:r>
                  <a:rPr lang="en-IN" dirty="0"/>
                  <a:t>where:</a:t>
                </a:r>
              </a:p>
              <a:p>
                <a14:m>
                  <m:oMath xmlns:m="http://schemas.openxmlformats.org/officeDocument/2006/math">
                    <m:r>
                      <a:rPr lang="en-IN" i="1">
                        <a:latin typeface="Cambria Math" panose="02040503050406030204" pitchFamily="18" charset="0"/>
                      </a:rPr>
                      <m:t>𝑓</m:t>
                    </m:r>
                  </m:oMath>
                </a14:m>
                <a:r>
                  <a:rPr lang="en-IN" dirty="0"/>
                  <a:t>= focal length </a:t>
                </a:r>
              </a:p>
              <a:p>
                <a14:m>
                  <m:oMath xmlns:m="http://schemas.openxmlformats.org/officeDocument/2006/math">
                    <m:r>
                      <a:rPr lang="en-IN" i="1">
                        <a:latin typeface="Cambria Math" panose="02040503050406030204" pitchFamily="18" charset="0"/>
                      </a:rPr>
                      <m:t>𝑧</m:t>
                    </m:r>
                  </m:oMath>
                </a14:m>
                <a:r>
                  <a:rPr lang="en-IN" dirty="0"/>
                  <a:t>= depth </a:t>
                </a:r>
              </a:p>
              <a:p>
                <a:r>
                  <a:rPr lang="en-IN" dirty="0"/>
                  <a:t>As </a:t>
                </a:r>
                <a14:m>
                  <m:oMath xmlns:m="http://schemas.openxmlformats.org/officeDocument/2006/math">
                    <m:r>
                      <a:rPr lang="en-IN" i="1">
                        <a:latin typeface="Cambria Math" panose="02040503050406030204" pitchFamily="18" charset="0"/>
                      </a:rPr>
                      <m:t>𝑧</m:t>
                    </m:r>
                  </m:oMath>
                </a14:m>
                <a:r>
                  <a:rPr lang="en-IN" dirty="0"/>
                  <a:t>increases, the projected size decreases.</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9A23588C-2860-005A-2B98-528D949C9B1C}"/>
                  </a:ext>
                </a:extLst>
              </p:cNvPr>
              <p:cNvSpPr>
                <a:spLocks noGrp="1" noRot="1" noChangeAspect="1" noMove="1" noResize="1" noEditPoints="1" noAdjustHandles="1" noChangeArrowheads="1" noChangeShapeType="1" noTextEdit="1"/>
              </p:cNvSpPr>
              <p:nvPr>
                <p:ph idx="1"/>
              </p:nvPr>
            </p:nvSpPr>
            <p:spPr>
              <a:xfrm>
                <a:off x="838200" y="492369"/>
                <a:ext cx="10515600" cy="5684594"/>
              </a:xfrm>
              <a:blipFill>
                <a:blip r:embed="rId2"/>
                <a:stretch>
                  <a:fillRect l="-1043" t="-2253" b="-2146"/>
                </a:stretch>
              </a:blipFill>
            </p:spPr>
            <p:txBody>
              <a:bodyPr/>
              <a:lstStyle/>
              <a:p>
                <a:r>
                  <a:rPr lang="en-IN">
                    <a:noFill/>
                  </a:rPr>
                  <a:t> </a:t>
                </a:r>
              </a:p>
            </p:txBody>
          </p:sp>
        </mc:Fallback>
      </mc:AlternateContent>
    </p:spTree>
    <p:extLst>
      <p:ext uri="{BB962C8B-B14F-4D97-AF65-F5344CB8AC3E}">
        <p14:creationId xmlns:p14="http://schemas.microsoft.com/office/powerpoint/2010/main" val="37129882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BC8A37-AB4A-6E2F-D54E-8EAE56C61696}"/>
                  </a:ext>
                </a:extLst>
              </p:cNvPr>
              <p:cNvSpPr>
                <a:spLocks noGrp="1"/>
              </p:cNvSpPr>
              <p:nvPr>
                <p:ph idx="1"/>
              </p:nvPr>
            </p:nvSpPr>
            <p:spPr>
              <a:xfrm>
                <a:off x="838200" y="506778"/>
                <a:ext cx="10515600" cy="6052284"/>
              </a:xfrm>
            </p:spPr>
            <p:txBody>
              <a:bodyPr/>
              <a:lstStyle/>
              <a:p>
                <a:r>
                  <a:rPr lang="en-IN" dirty="0"/>
                  <a:t>Suppose:</a:t>
                </a:r>
              </a:p>
              <a:p>
                <a:r>
                  <a:rPr lang="en-IN" dirty="0"/>
                  <a:t>Point = (4, 6, 2)</a:t>
                </a:r>
              </a:p>
              <a:p>
                <a:r>
                  <a:rPr lang="en-IN" dirty="0"/>
                  <a:t>f = 1</a:t>
                </a:r>
              </a:p>
              <a:p>
                <a:r>
                  <a:rPr lang="en-IN" dirty="0"/>
                  <a:t>Then:</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4</m:t>
                        </m:r>
                      </m:num>
                      <m:den>
                        <m:r>
                          <a:rPr lang="en-IN">
                            <a:latin typeface="Cambria Math" panose="02040503050406030204" pitchFamily="18" charset="0"/>
                          </a:rPr>
                          <m:t>2</m:t>
                        </m:r>
                      </m:den>
                    </m:f>
                    <m:r>
                      <a:rPr lang="en-IN">
                        <a:latin typeface="Cambria Math" panose="02040503050406030204" pitchFamily="18" charset="0"/>
                      </a:rPr>
                      <m:t>=2</m:t>
                    </m:r>
                  </m:oMath>
                </a14:m>
                <a:endParaRPr lang="en-IN" dirty="0"/>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6</m:t>
                        </m:r>
                      </m:num>
                      <m:den>
                        <m:r>
                          <a:rPr lang="en-IN">
                            <a:latin typeface="Cambria Math" panose="02040503050406030204" pitchFamily="18" charset="0"/>
                          </a:rPr>
                          <m:t>2</m:t>
                        </m:r>
                      </m:den>
                    </m:f>
                    <m:r>
                      <a:rPr lang="en-IN">
                        <a:latin typeface="Cambria Math" panose="02040503050406030204" pitchFamily="18" charset="0"/>
                      </a:rPr>
                      <m:t>=3</m:t>
                    </m:r>
                  </m:oMath>
                </a14:m>
                <a:endParaRPr lang="en-IN" dirty="0"/>
              </a:p>
              <a:p>
                <a:r>
                  <a:rPr lang="en-IN" dirty="0"/>
                  <a:t>Projected point:</a:t>
                </a:r>
              </a:p>
              <a:p>
                <a:r>
                  <a:rPr lang="en-IN" dirty="0"/>
                  <a:t>(2,3)</a:t>
                </a:r>
              </a:p>
            </p:txBody>
          </p:sp>
        </mc:Choice>
        <mc:Fallback xmlns="">
          <p:sp>
            <p:nvSpPr>
              <p:cNvPr id="3" name="Content Placeholder 2">
                <a:extLst>
                  <a:ext uri="{FF2B5EF4-FFF2-40B4-BE49-F238E27FC236}">
                    <a16:creationId xmlns:a16="http://schemas.microsoft.com/office/drawing/2014/main" id="{7ABC8A37-AB4A-6E2F-D54E-8EAE56C61696}"/>
                  </a:ext>
                </a:extLst>
              </p:cNvPr>
              <p:cNvSpPr>
                <a:spLocks noGrp="1" noRot="1" noChangeAspect="1" noMove="1" noResize="1" noEditPoints="1" noAdjustHandles="1" noChangeArrowheads="1" noChangeShapeType="1" noTextEdit="1"/>
              </p:cNvSpPr>
              <p:nvPr>
                <p:ph idx="1"/>
              </p:nvPr>
            </p:nvSpPr>
            <p:spPr>
              <a:xfrm>
                <a:off x="838200" y="506778"/>
                <a:ext cx="10515600" cy="6052284"/>
              </a:xfrm>
              <a:blipFill>
                <a:blip r:embed="rId2"/>
                <a:stretch>
                  <a:fillRect l="-1043" t="-1712"/>
                </a:stretch>
              </a:blipFill>
            </p:spPr>
            <p:txBody>
              <a:bodyPr/>
              <a:lstStyle/>
              <a:p>
                <a:r>
                  <a:rPr lang="en-IN">
                    <a:noFill/>
                  </a:rPr>
                  <a:t> </a:t>
                </a:r>
              </a:p>
            </p:txBody>
          </p:sp>
        </mc:Fallback>
      </mc:AlternateContent>
    </p:spTree>
    <p:extLst>
      <p:ext uri="{BB962C8B-B14F-4D97-AF65-F5344CB8AC3E}">
        <p14:creationId xmlns:p14="http://schemas.microsoft.com/office/powerpoint/2010/main" val="581124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B0B56A-C5B2-87ED-A938-98A33A6D41B4}"/>
                  </a:ext>
                </a:extLst>
              </p:cNvPr>
              <p:cNvSpPr>
                <a:spLocks noGrp="1"/>
              </p:cNvSpPr>
              <p:nvPr>
                <p:ph idx="1"/>
              </p:nvPr>
            </p:nvSpPr>
            <p:spPr>
              <a:xfrm>
                <a:off x="838200" y="369277"/>
                <a:ext cx="10515600" cy="5807686"/>
              </a:xfrm>
            </p:spPr>
            <p:txBody>
              <a:bodyPr/>
              <a:lstStyle/>
              <a:p>
                <a:r>
                  <a:rPr lang="en-IN" dirty="0"/>
                  <a:t>Why Distant Objects Look Smaller</a:t>
                </a:r>
              </a:p>
              <a:p>
                <a:r>
                  <a:rPr lang="en-IN" dirty="0"/>
                  <a:t>Perspective projection uses:</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𝑓𝑥</m:t>
                        </m:r>
                      </m:num>
                      <m:den>
                        <m:r>
                          <a:rPr lang="en-IN" i="1">
                            <a:latin typeface="Cambria Math" panose="02040503050406030204" pitchFamily="18" charset="0"/>
                          </a:rPr>
                          <m:t>𝑧</m:t>
                        </m:r>
                      </m:den>
                    </m:f>
                  </m:oMath>
                </a14:m>
                <a:endParaRPr lang="en-IN" dirty="0"/>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𝑓𝑦</m:t>
                        </m:r>
                      </m:num>
                      <m:den>
                        <m:r>
                          <a:rPr lang="en-IN" i="1">
                            <a:latin typeface="Cambria Math" panose="02040503050406030204" pitchFamily="18" charset="0"/>
                          </a:rPr>
                          <m:t>𝑧</m:t>
                        </m:r>
                      </m:den>
                    </m:f>
                  </m:oMath>
                </a14:m>
                <a:endParaRPr lang="en-IN" dirty="0"/>
              </a:p>
              <a:p>
                <a:r>
                  <a:rPr lang="en-IN" dirty="0"/>
                  <a:t>As depth </a:t>
                </a:r>
                <a14:m>
                  <m:oMath xmlns:m="http://schemas.openxmlformats.org/officeDocument/2006/math">
                    <m:r>
                      <a:rPr lang="en-IN" i="1">
                        <a:latin typeface="Cambria Math" panose="02040503050406030204" pitchFamily="18" charset="0"/>
                      </a:rPr>
                      <m:t>𝑧</m:t>
                    </m:r>
                  </m:oMath>
                </a14:m>
                <a:r>
                  <a:rPr lang="en-IN" dirty="0"/>
                  <a:t>increases:</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oMath>
                </a14:m>
                <a:r>
                  <a:rPr lang="en-IN" dirty="0"/>
                  <a:t>becomes smaller </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oMath>
                </a14:m>
                <a:r>
                  <a:rPr lang="en-IN" dirty="0"/>
                  <a:t>becomes smaller </a:t>
                </a:r>
              </a:p>
              <a:p>
                <a:r>
                  <a:rPr lang="en-IN" dirty="0"/>
                  <a:t>This creates realistic depth perception.</a:t>
                </a:r>
              </a:p>
              <a:p>
                <a:endParaRPr lang="en-IN" dirty="0"/>
              </a:p>
            </p:txBody>
          </p:sp>
        </mc:Choice>
        <mc:Fallback xmlns="">
          <p:sp>
            <p:nvSpPr>
              <p:cNvPr id="3" name="Content Placeholder 2">
                <a:extLst>
                  <a:ext uri="{FF2B5EF4-FFF2-40B4-BE49-F238E27FC236}">
                    <a16:creationId xmlns:a16="http://schemas.microsoft.com/office/drawing/2014/main" id="{6EB0B56A-C5B2-87ED-A938-98A33A6D41B4}"/>
                  </a:ext>
                </a:extLst>
              </p:cNvPr>
              <p:cNvSpPr>
                <a:spLocks noGrp="1" noRot="1" noChangeAspect="1" noMove="1" noResize="1" noEditPoints="1" noAdjustHandles="1" noChangeArrowheads="1" noChangeShapeType="1" noTextEdit="1"/>
              </p:cNvSpPr>
              <p:nvPr>
                <p:ph idx="1"/>
              </p:nvPr>
            </p:nvSpPr>
            <p:spPr>
              <a:xfrm>
                <a:off x="838200" y="369277"/>
                <a:ext cx="10515600" cy="5807686"/>
              </a:xfrm>
              <a:blipFill>
                <a:blip r:embed="rId2"/>
                <a:stretch>
                  <a:fillRect l="-1043" t="-1891"/>
                </a:stretch>
              </a:blipFill>
            </p:spPr>
            <p:txBody>
              <a:bodyPr/>
              <a:lstStyle/>
              <a:p>
                <a:r>
                  <a:rPr lang="en-IN">
                    <a:noFill/>
                  </a:rPr>
                  <a:t> </a:t>
                </a:r>
              </a:p>
            </p:txBody>
          </p:sp>
        </mc:Fallback>
      </mc:AlternateContent>
    </p:spTree>
    <p:extLst>
      <p:ext uri="{BB962C8B-B14F-4D97-AF65-F5344CB8AC3E}">
        <p14:creationId xmlns:p14="http://schemas.microsoft.com/office/powerpoint/2010/main" val="15927685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DA511-5132-D3AF-C3AE-4511A3A8DC30}"/>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F3A7660-52A6-A210-5F18-37CB9EBCB2D3}"/>
              </a:ext>
            </a:extLst>
          </p:cNvPr>
          <p:cNvGraphicFramePr>
            <a:graphicFrameLocks noGrp="1"/>
          </p:cNvGraphicFramePr>
          <p:nvPr>
            <p:ph idx="1"/>
            <p:extLst>
              <p:ext uri="{D42A27DB-BD31-4B8C-83A1-F6EECF244321}">
                <p14:modId xmlns:p14="http://schemas.microsoft.com/office/powerpoint/2010/main" val="1690908953"/>
              </p:ext>
            </p:extLst>
          </p:nvPr>
        </p:nvGraphicFramePr>
        <p:xfrm>
          <a:off x="838200" y="2004646"/>
          <a:ext cx="10515600" cy="3851031"/>
        </p:xfrm>
        <a:graphic>
          <a:graphicData uri="http://schemas.openxmlformats.org/drawingml/2006/table">
            <a:tbl>
              <a:tblPr/>
              <a:tblGrid>
                <a:gridCol w="5257800">
                  <a:extLst>
                    <a:ext uri="{9D8B030D-6E8A-4147-A177-3AD203B41FA5}">
                      <a16:colId xmlns:a16="http://schemas.microsoft.com/office/drawing/2014/main" val="2963378302"/>
                    </a:ext>
                  </a:extLst>
                </a:gridCol>
                <a:gridCol w="5257800">
                  <a:extLst>
                    <a:ext uri="{9D8B030D-6E8A-4147-A177-3AD203B41FA5}">
                      <a16:colId xmlns:a16="http://schemas.microsoft.com/office/drawing/2014/main" val="3699062796"/>
                    </a:ext>
                  </a:extLst>
                </a:gridCol>
              </a:tblGrid>
              <a:tr h="1283677">
                <a:tc>
                  <a:txBody>
                    <a:bodyPr/>
                    <a:lstStyle/>
                    <a:p>
                      <a:pPr>
                        <a:buNone/>
                      </a:pPr>
                      <a:r>
                        <a:rPr lang="en-IN"/>
                        <a:t>3D Point</a:t>
                      </a:r>
                    </a:p>
                  </a:txBody>
                  <a:tcPr anchor="ctr">
                    <a:lnL>
                      <a:noFill/>
                    </a:lnL>
                    <a:lnR>
                      <a:noFill/>
                    </a:lnR>
                    <a:lnT>
                      <a:noFill/>
                    </a:lnT>
                    <a:lnB>
                      <a:noFill/>
                    </a:lnB>
                    <a:noFill/>
                  </a:tcPr>
                </a:tc>
                <a:tc>
                  <a:txBody>
                    <a:bodyPr/>
                    <a:lstStyle/>
                    <a:p>
                      <a:pPr>
                        <a:buNone/>
                      </a:pPr>
                      <a:r>
                        <a:rPr lang="en-IN"/>
                        <a:t>Projected 2D Point</a:t>
                      </a:r>
                    </a:p>
                  </a:txBody>
                  <a:tcPr anchor="ctr">
                    <a:lnL>
                      <a:noFill/>
                    </a:lnL>
                    <a:lnR>
                      <a:noFill/>
                    </a:lnR>
                    <a:lnT>
                      <a:noFill/>
                    </a:lnT>
                    <a:lnB>
                      <a:noFill/>
                    </a:lnB>
                    <a:noFill/>
                  </a:tcPr>
                </a:tc>
                <a:extLst>
                  <a:ext uri="{0D108BD9-81ED-4DB2-BD59-A6C34878D82A}">
                    <a16:rowId xmlns:a16="http://schemas.microsoft.com/office/drawing/2014/main" val="3558861877"/>
                  </a:ext>
                </a:extLst>
              </a:tr>
              <a:tr h="1283677">
                <a:tc>
                  <a:txBody>
                    <a:bodyPr/>
                    <a:lstStyle/>
                    <a:p>
                      <a:pPr>
                        <a:buNone/>
                      </a:pPr>
                      <a:r>
                        <a:rPr lang="en-IN" dirty="0"/>
                        <a:t>(10,10,2)</a:t>
                      </a:r>
                    </a:p>
                  </a:txBody>
                  <a:tcPr anchor="ctr">
                    <a:lnL>
                      <a:noFill/>
                    </a:lnL>
                    <a:lnR>
                      <a:noFill/>
                    </a:lnR>
                    <a:lnT>
                      <a:noFill/>
                    </a:lnT>
                    <a:lnB>
                      <a:noFill/>
                    </a:lnB>
                    <a:noFill/>
                  </a:tcPr>
                </a:tc>
                <a:tc>
                  <a:txBody>
                    <a:bodyPr/>
                    <a:lstStyle/>
                    <a:p>
                      <a:pPr>
                        <a:buNone/>
                      </a:pPr>
                      <a:r>
                        <a:rPr lang="en-IN"/>
                        <a:t>(5,5)</a:t>
                      </a:r>
                    </a:p>
                  </a:txBody>
                  <a:tcPr anchor="ctr">
                    <a:lnL>
                      <a:noFill/>
                    </a:lnL>
                    <a:lnR>
                      <a:noFill/>
                    </a:lnR>
                    <a:lnT>
                      <a:noFill/>
                    </a:lnT>
                    <a:lnB>
                      <a:noFill/>
                    </a:lnB>
                    <a:noFill/>
                  </a:tcPr>
                </a:tc>
                <a:extLst>
                  <a:ext uri="{0D108BD9-81ED-4DB2-BD59-A6C34878D82A}">
                    <a16:rowId xmlns:a16="http://schemas.microsoft.com/office/drawing/2014/main" val="2849298793"/>
                  </a:ext>
                </a:extLst>
              </a:tr>
              <a:tr h="1283677">
                <a:tc>
                  <a:txBody>
                    <a:bodyPr/>
                    <a:lstStyle/>
                    <a:p>
                      <a:pPr>
                        <a:buNone/>
                      </a:pPr>
                      <a:r>
                        <a:rPr lang="en-IN"/>
                        <a:t>(10,10,10)</a:t>
                      </a:r>
                    </a:p>
                  </a:txBody>
                  <a:tcPr anchor="ctr">
                    <a:lnL>
                      <a:noFill/>
                    </a:lnL>
                    <a:lnR>
                      <a:noFill/>
                    </a:lnR>
                    <a:lnT>
                      <a:noFill/>
                    </a:lnT>
                    <a:lnB>
                      <a:noFill/>
                    </a:lnB>
                    <a:noFill/>
                  </a:tcPr>
                </a:tc>
                <a:tc>
                  <a:txBody>
                    <a:bodyPr/>
                    <a:lstStyle/>
                    <a:p>
                      <a:pPr>
                        <a:buNone/>
                      </a:pPr>
                      <a:r>
                        <a:rPr lang="en-IN" dirty="0"/>
                        <a:t>(1,1)</a:t>
                      </a:r>
                    </a:p>
                  </a:txBody>
                  <a:tcPr anchor="ctr">
                    <a:lnL>
                      <a:noFill/>
                    </a:lnL>
                    <a:lnR>
                      <a:noFill/>
                    </a:lnR>
                    <a:lnT>
                      <a:noFill/>
                    </a:lnT>
                    <a:lnB>
                      <a:noFill/>
                    </a:lnB>
                    <a:noFill/>
                  </a:tcPr>
                </a:tc>
                <a:extLst>
                  <a:ext uri="{0D108BD9-81ED-4DB2-BD59-A6C34878D82A}">
                    <a16:rowId xmlns:a16="http://schemas.microsoft.com/office/drawing/2014/main" val="965559266"/>
                  </a:ext>
                </a:extLst>
              </a:tr>
            </a:tbl>
          </a:graphicData>
        </a:graphic>
      </p:graphicFrame>
    </p:spTree>
    <p:extLst>
      <p:ext uri="{BB962C8B-B14F-4D97-AF65-F5344CB8AC3E}">
        <p14:creationId xmlns:p14="http://schemas.microsoft.com/office/powerpoint/2010/main" val="1248722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D9813B-E903-C59B-1798-4546997BC7F5}"/>
              </a:ext>
            </a:extLst>
          </p:cNvPr>
          <p:cNvSpPr>
            <a:spLocks noGrp="1"/>
          </p:cNvSpPr>
          <p:nvPr>
            <p:ph idx="1"/>
          </p:nvPr>
        </p:nvSpPr>
        <p:spPr>
          <a:xfrm>
            <a:off x="838200" y="395654"/>
            <a:ext cx="10515600" cy="5781309"/>
          </a:xfrm>
        </p:spPr>
        <p:txBody>
          <a:bodyPr/>
          <a:lstStyle/>
          <a:p>
            <a:pPr marL="0" indent="0">
              <a:buNone/>
            </a:pPr>
            <a:r>
              <a:rPr lang="en-IN" dirty="0"/>
              <a:t>4. Hidden Surface Removal</a:t>
            </a:r>
          </a:p>
          <a:p>
            <a:pPr marL="0" indent="0">
              <a:buNone/>
            </a:pPr>
            <a:r>
              <a:rPr lang="en-IN" dirty="0"/>
              <a:t>After projection, some surfaces may be hidden behind others.</a:t>
            </a:r>
          </a:p>
          <a:p>
            <a:r>
              <a:rPr lang="en-IN" dirty="0"/>
              <a:t>Algorithms used:</a:t>
            </a:r>
          </a:p>
          <a:p>
            <a:r>
              <a:rPr lang="en-IN" dirty="0"/>
              <a:t>Z-buffer </a:t>
            </a:r>
          </a:p>
          <a:p>
            <a:r>
              <a:rPr lang="en-IN" dirty="0"/>
              <a:t>Depth buffer </a:t>
            </a:r>
          </a:p>
          <a:p>
            <a:r>
              <a:rPr lang="en-IN" dirty="0"/>
              <a:t>Painter's algorithm </a:t>
            </a:r>
          </a:p>
          <a:p>
            <a:r>
              <a:rPr lang="en-IN" dirty="0"/>
              <a:t>These ensure only visible surfaces appear in the final image.</a:t>
            </a:r>
          </a:p>
          <a:p>
            <a:pPr marL="0" indent="0">
              <a:buNone/>
            </a:pPr>
            <a:endParaRPr lang="en-IN" dirty="0"/>
          </a:p>
        </p:txBody>
      </p:sp>
    </p:spTree>
    <p:extLst>
      <p:ext uri="{BB962C8B-B14F-4D97-AF65-F5344CB8AC3E}">
        <p14:creationId xmlns:p14="http://schemas.microsoft.com/office/powerpoint/2010/main" val="41972514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AF026C-9F99-EB21-FCB8-F76E5B1C6B3F}"/>
              </a:ext>
            </a:extLst>
          </p:cNvPr>
          <p:cNvSpPr>
            <a:spLocks noGrp="1"/>
          </p:cNvSpPr>
          <p:nvPr>
            <p:ph idx="1"/>
          </p:nvPr>
        </p:nvSpPr>
        <p:spPr>
          <a:xfrm>
            <a:off x="838200" y="553915"/>
            <a:ext cx="10515600" cy="5623048"/>
          </a:xfrm>
        </p:spPr>
        <p:txBody>
          <a:bodyPr/>
          <a:lstStyle/>
          <a:p>
            <a:r>
              <a:rPr lang="en-IN" dirty="0"/>
              <a:t>5. Rendering</a:t>
            </a:r>
          </a:p>
          <a:p>
            <a:r>
              <a:rPr lang="en-IN" dirty="0"/>
              <a:t>The final 2D image is created by:</a:t>
            </a:r>
          </a:p>
          <a:p>
            <a:r>
              <a:rPr lang="en-IN" dirty="0" err="1"/>
              <a:t>Coloring</a:t>
            </a:r>
            <a:r>
              <a:rPr lang="en-IN" dirty="0"/>
              <a:t> pixels </a:t>
            </a:r>
          </a:p>
          <a:p>
            <a:r>
              <a:rPr lang="en-IN" dirty="0"/>
              <a:t>Adding textures </a:t>
            </a:r>
          </a:p>
          <a:p>
            <a:r>
              <a:rPr lang="en-IN" dirty="0"/>
              <a:t>Lighting </a:t>
            </a:r>
          </a:p>
          <a:p>
            <a:r>
              <a:rPr lang="en-IN" dirty="0"/>
              <a:t>Shadows </a:t>
            </a:r>
          </a:p>
          <a:p>
            <a:r>
              <a:rPr lang="en-IN" dirty="0"/>
              <a:t>Reflections </a:t>
            </a:r>
          </a:p>
          <a:p>
            <a:r>
              <a:rPr lang="en-IN" dirty="0"/>
              <a:t>This process is called </a:t>
            </a:r>
            <a:r>
              <a:rPr lang="en-IN" b="1" dirty="0"/>
              <a:t>rendering</a:t>
            </a:r>
            <a:r>
              <a:rPr lang="en-IN" dirty="0"/>
              <a:t>.</a:t>
            </a:r>
          </a:p>
          <a:p>
            <a:endParaRPr lang="en-IN" dirty="0"/>
          </a:p>
        </p:txBody>
      </p:sp>
    </p:spTree>
    <p:extLst>
      <p:ext uri="{BB962C8B-B14F-4D97-AF65-F5344CB8AC3E}">
        <p14:creationId xmlns:p14="http://schemas.microsoft.com/office/powerpoint/2010/main" val="21425664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3C0B70-1030-8D69-7303-63593D8EB6A1}"/>
              </a:ext>
            </a:extLst>
          </p:cNvPr>
          <p:cNvSpPr>
            <a:spLocks noGrp="1"/>
          </p:cNvSpPr>
          <p:nvPr>
            <p:ph idx="1"/>
          </p:nvPr>
        </p:nvSpPr>
        <p:spPr>
          <a:xfrm>
            <a:off x="838200" y="325315"/>
            <a:ext cx="10515600" cy="5851648"/>
          </a:xfrm>
        </p:spPr>
        <p:txBody>
          <a:bodyPr>
            <a:normAutofit/>
          </a:bodyPr>
          <a:lstStyle/>
          <a:p>
            <a:r>
              <a:rPr lang="en-US" dirty="0"/>
              <a:t>3D Model</a:t>
            </a:r>
          </a:p>
          <a:p>
            <a:r>
              <a:rPr lang="en-US" dirty="0"/>
              <a:t>   ↓</a:t>
            </a:r>
          </a:p>
          <a:p>
            <a:r>
              <a:rPr lang="en-US" dirty="0"/>
              <a:t>Projection</a:t>
            </a:r>
          </a:p>
          <a:p>
            <a:r>
              <a:rPr lang="en-US" dirty="0"/>
              <a:t>   ↓</a:t>
            </a:r>
          </a:p>
          <a:p>
            <a:r>
              <a:rPr lang="en-US" dirty="0"/>
              <a:t>Visible Surfaces</a:t>
            </a:r>
          </a:p>
          <a:p>
            <a:r>
              <a:rPr lang="en-US" dirty="0"/>
              <a:t>   ↓</a:t>
            </a:r>
          </a:p>
          <a:p>
            <a:r>
              <a:rPr lang="en-US" dirty="0"/>
              <a:t>Lighting</a:t>
            </a:r>
          </a:p>
          <a:p>
            <a:r>
              <a:rPr lang="en-US" dirty="0"/>
              <a:t>   ↓</a:t>
            </a:r>
          </a:p>
          <a:p>
            <a:r>
              <a:rPr lang="en-US" dirty="0"/>
              <a:t>2D Image</a:t>
            </a:r>
            <a:endParaRPr lang="en-IN" dirty="0"/>
          </a:p>
        </p:txBody>
      </p:sp>
    </p:spTree>
    <p:extLst>
      <p:ext uri="{BB962C8B-B14F-4D97-AF65-F5344CB8AC3E}">
        <p14:creationId xmlns:p14="http://schemas.microsoft.com/office/powerpoint/2010/main" val="39711080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54703-C660-4474-3A71-ADC495CF4952}"/>
              </a:ext>
            </a:extLst>
          </p:cNvPr>
          <p:cNvSpPr>
            <a:spLocks noGrp="1"/>
          </p:cNvSpPr>
          <p:nvPr>
            <p:ph type="title"/>
          </p:nvPr>
        </p:nvSpPr>
        <p:spPr/>
        <p:txBody>
          <a:bodyPr/>
          <a:lstStyle/>
          <a:p>
            <a:r>
              <a:rPr lang="en-IN" dirty="0"/>
              <a:t>Image Formation Models in Computer Vision</a:t>
            </a:r>
          </a:p>
        </p:txBody>
      </p:sp>
      <p:sp>
        <p:nvSpPr>
          <p:cNvPr id="3" name="Content Placeholder 2">
            <a:extLst>
              <a:ext uri="{FF2B5EF4-FFF2-40B4-BE49-F238E27FC236}">
                <a16:creationId xmlns:a16="http://schemas.microsoft.com/office/drawing/2014/main" id="{0593B6CA-C285-9A8A-35B2-897ABF140F3E}"/>
              </a:ext>
            </a:extLst>
          </p:cNvPr>
          <p:cNvSpPr>
            <a:spLocks noGrp="1"/>
          </p:cNvSpPr>
          <p:nvPr>
            <p:ph idx="1"/>
          </p:nvPr>
        </p:nvSpPr>
        <p:spPr/>
        <p:txBody>
          <a:bodyPr/>
          <a:lstStyle/>
          <a:p>
            <a:r>
              <a:rPr lang="en-IN" dirty="0"/>
              <a:t>Image formation is the process by which a </a:t>
            </a:r>
            <a:r>
              <a:rPr lang="en-IN" b="1" dirty="0"/>
              <a:t>3D real-world scene is converted into a 2D digital image</a:t>
            </a:r>
            <a:r>
              <a:rPr lang="en-IN" dirty="0"/>
              <a:t>. Every image captured by a camera is the result of:</a:t>
            </a:r>
          </a:p>
          <a:p>
            <a:r>
              <a:rPr lang="en-IN" dirty="0"/>
              <a:t>Light emission from a source</a:t>
            </a:r>
          </a:p>
          <a:p>
            <a:r>
              <a:rPr lang="en-IN" dirty="0"/>
              <a:t> Light interacting with objects </a:t>
            </a:r>
          </a:p>
          <a:p>
            <a:r>
              <a:rPr lang="en-IN" dirty="0"/>
              <a:t>Reflection from object surfaces</a:t>
            </a:r>
          </a:p>
          <a:p>
            <a:r>
              <a:rPr lang="en-IN" dirty="0"/>
              <a:t> Projection through a camera </a:t>
            </a:r>
          </a:p>
          <a:p>
            <a:r>
              <a:rPr lang="en-IN" dirty="0"/>
              <a:t>Recording by an image sensor</a:t>
            </a:r>
          </a:p>
        </p:txBody>
      </p:sp>
    </p:spTree>
    <p:extLst>
      <p:ext uri="{BB962C8B-B14F-4D97-AF65-F5344CB8AC3E}">
        <p14:creationId xmlns:p14="http://schemas.microsoft.com/office/powerpoint/2010/main" val="4227338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561B-2E0A-DA92-7C58-13CAB74CEC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A22D63-9AE9-F03C-8E12-ED9722D76A00}"/>
              </a:ext>
            </a:extLst>
          </p:cNvPr>
          <p:cNvSpPr>
            <a:spLocks noGrp="1"/>
          </p:cNvSpPr>
          <p:nvPr>
            <p:ph idx="1"/>
          </p:nvPr>
        </p:nvSpPr>
        <p:spPr/>
        <p:txBody>
          <a:bodyPr>
            <a:normAutofit lnSpcReduction="10000"/>
          </a:bodyPr>
          <a:lstStyle/>
          <a:p>
            <a:r>
              <a:rPr lang="en-IN" b="1" dirty="0"/>
              <a:t>What is Image Formation?</a:t>
            </a:r>
          </a:p>
          <a:p>
            <a:r>
              <a:rPr lang="en-IN" dirty="0"/>
              <a:t>Image formation is the process by which a real object becomes a picture inside a camera.</a:t>
            </a:r>
          </a:p>
          <a:p>
            <a:r>
              <a:rPr lang="en-IN" b="1" dirty="0"/>
              <a:t>Example: Taking a Photo of an Apple </a:t>
            </a:r>
          </a:p>
          <a:p>
            <a:r>
              <a:rPr lang="en-IN" dirty="0"/>
              <a:t>Sunlight falls on the apple. </a:t>
            </a:r>
          </a:p>
          <a:p>
            <a:r>
              <a:rPr lang="en-IN" dirty="0"/>
              <a:t>The apple reflects light. </a:t>
            </a:r>
          </a:p>
          <a:p>
            <a:r>
              <a:rPr lang="en-IN" dirty="0"/>
              <a:t>The camera receives that reflected light. </a:t>
            </a:r>
          </a:p>
          <a:p>
            <a:r>
              <a:rPr lang="en-IN" dirty="0"/>
              <a:t>The camera sensor records it. </a:t>
            </a:r>
          </a:p>
          <a:p>
            <a:r>
              <a:rPr lang="en-IN" dirty="0"/>
              <a:t>A digital image is created.</a:t>
            </a:r>
          </a:p>
          <a:p>
            <a:endParaRPr lang="en-IN" dirty="0"/>
          </a:p>
        </p:txBody>
      </p:sp>
    </p:spTree>
    <p:extLst>
      <p:ext uri="{BB962C8B-B14F-4D97-AF65-F5344CB8AC3E}">
        <p14:creationId xmlns:p14="http://schemas.microsoft.com/office/powerpoint/2010/main" val="31089626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CF4EC-40EE-446A-0FF5-BC79E0C4B04C}"/>
              </a:ext>
            </a:extLst>
          </p:cNvPr>
          <p:cNvSpPr>
            <a:spLocks noGrp="1"/>
          </p:cNvSpPr>
          <p:nvPr>
            <p:ph type="title"/>
          </p:nvPr>
        </p:nvSpPr>
        <p:spPr/>
        <p:txBody>
          <a:bodyPr/>
          <a:lstStyle/>
          <a:p>
            <a:r>
              <a:rPr lang="en-IN" dirty="0"/>
              <a:t>1. Monocular Imaging System</a:t>
            </a:r>
          </a:p>
        </p:txBody>
      </p:sp>
      <p:sp>
        <p:nvSpPr>
          <p:cNvPr id="3" name="Content Placeholder 2">
            <a:extLst>
              <a:ext uri="{FF2B5EF4-FFF2-40B4-BE49-F238E27FC236}">
                <a16:creationId xmlns:a16="http://schemas.microsoft.com/office/drawing/2014/main" id="{9BE837FD-69C3-9F63-8010-C11FDE1A6F9E}"/>
              </a:ext>
            </a:extLst>
          </p:cNvPr>
          <p:cNvSpPr>
            <a:spLocks noGrp="1"/>
          </p:cNvSpPr>
          <p:nvPr>
            <p:ph idx="1"/>
          </p:nvPr>
        </p:nvSpPr>
        <p:spPr/>
        <p:txBody>
          <a:bodyPr/>
          <a:lstStyle/>
          <a:p>
            <a:r>
              <a:rPr lang="en-IN" dirty="0"/>
              <a:t>A </a:t>
            </a:r>
            <a:r>
              <a:rPr lang="en-IN" b="1" dirty="0"/>
              <a:t>monocular imaging system</a:t>
            </a:r>
            <a:r>
              <a:rPr lang="en-IN" dirty="0"/>
              <a:t> uses only </a:t>
            </a:r>
            <a:r>
              <a:rPr lang="en-IN" b="1" dirty="0"/>
              <a:t>one camera</a:t>
            </a:r>
            <a:r>
              <a:rPr lang="en-IN" dirty="0"/>
              <a:t> to observe a scene.</a:t>
            </a:r>
          </a:p>
          <a:p>
            <a:r>
              <a:rPr lang="en-IN" b="1" dirty="0"/>
              <a:t>Human Eye Analogy</a:t>
            </a:r>
          </a:p>
          <a:p>
            <a:r>
              <a:rPr lang="en-IN" dirty="0"/>
              <a:t>A monocular camera works similarly to one human eye:</a:t>
            </a:r>
          </a:p>
          <a:p>
            <a:endParaRPr lang="en-IN" dirty="0"/>
          </a:p>
        </p:txBody>
      </p:sp>
      <p:graphicFrame>
        <p:nvGraphicFramePr>
          <p:cNvPr id="4" name="Table 3">
            <a:extLst>
              <a:ext uri="{FF2B5EF4-FFF2-40B4-BE49-F238E27FC236}">
                <a16:creationId xmlns:a16="http://schemas.microsoft.com/office/drawing/2014/main" id="{ED7E4D47-2F61-E0CE-A2BE-39BB5B9E03E6}"/>
              </a:ext>
            </a:extLst>
          </p:cNvPr>
          <p:cNvGraphicFramePr>
            <a:graphicFrameLocks noGrp="1"/>
          </p:cNvGraphicFramePr>
          <p:nvPr>
            <p:extLst>
              <p:ext uri="{D42A27DB-BD31-4B8C-83A1-F6EECF244321}">
                <p14:modId xmlns:p14="http://schemas.microsoft.com/office/powerpoint/2010/main" val="1397548199"/>
              </p:ext>
            </p:extLst>
          </p:nvPr>
        </p:nvGraphicFramePr>
        <p:xfrm>
          <a:off x="1128346" y="3904578"/>
          <a:ext cx="10515600" cy="1828800"/>
        </p:xfrm>
        <a:graphic>
          <a:graphicData uri="http://schemas.openxmlformats.org/drawingml/2006/table">
            <a:tbl>
              <a:tblPr/>
              <a:tblGrid>
                <a:gridCol w="5257800">
                  <a:extLst>
                    <a:ext uri="{9D8B030D-6E8A-4147-A177-3AD203B41FA5}">
                      <a16:colId xmlns:a16="http://schemas.microsoft.com/office/drawing/2014/main" val="1366421949"/>
                    </a:ext>
                  </a:extLst>
                </a:gridCol>
                <a:gridCol w="5257800">
                  <a:extLst>
                    <a:ext uri="{9D8B030D-6E8A-4147-A177-3AD203B41FA5}">
                      <a16:colId xmlns:a16="http://schemas.microsoft.com/office/drawing/2014/main" val="1638191245"/>
                    </a:ext>
                  </a:extLst>
                </a:gridCol>
              </a:tblGrid>
              <a:tr h="0">
                <a:tc>
                  <a:txBody>
                    <a:bodyPr/>
                    <a:lstStyle/>
                    <a:p>
                      <a:pPr>
                        <a:buNone/>
                      </a:pPr>
                      <a:r>
                        <a:rPr lang="en-IN" dirty="0"/>
                        <a:t>Human Eye</a:t>
                      </a:r>
                    </a:p>
                  </a:txBody>
                  <a:tcPr anchor="ctr">
                    <a:lnL>
                      <a:noFill/>
                    </a:lnL>
                    <a:lnR>
                      <a:noFill/>
                    </a:lnR>
                    <a:lnT>
                      <a:noFill/>
                    </a:lnT>
                    <a:lnB>
                      <a:noFill/>
                    </a:lnB>
                    <a:noFill/>
                  </a:tcPr>
                </a:tc>
                <a:tc>
                  <a:txBody>
                    <a:bodyPr/>
                    <a:lstStyle/>
                    <a:p>
                      <a:pPr>
                        <a:buNone/>
                      </a:pPr>
                      <a:r>
                        <a:rPr lang="en-IN"/>
                        <a:t>Camera</a:t>
                      </a:r>
                    </a:p>
                  </a:txBody>
                  <a:tcPr anchor="ctr">
                    <a:lnL>
                      <a:noFill/>
                    </a:lnL>
                    <a:lnR>
                      <a:noFill/>
                    </a:lnR>
                    <a:lnT>
                      <a:noFill/>
                    </a:lnT>
                    <a:lnB>
                      <a:noFill/>
                    </a:lnB>
                    <a:noFill/>
                  </a:tcPr>
                </a:tc>
                <a:extLst>
                  <a:ext uri="{0D108BD9-81ED-4DB2-BD59-A6C34878D82A}">
                    <a16:rowId xmlns:a16="http://schemas.microsoft.com/office/drawing/2014/main" val="2515531363"/>
                  </a:ext>
                </a:extLst>
              </a:tr>
              <a:tr h="0">
                <a:tc>
                  <a:txBody>
                    <a:bodyPr/>
                    <a:lstStyle/>
                    <a:p>
                      <a:pPr>
                        <a:buNone/>
                      </a:pPr>
                      <a:r>
                        <a:rPr lang="en-IN"/>
                        <a:t>Retina</a:t>
                      </a:r>
                    </a:p>
                  </a:txBody>
                  <a:tcPr anchor="ctr">
                    <a:lnL>
                      <a:noFill/>
                    </a:lnL>
                    <a:lnR>
                      <a:noFill/>
                    </a:lnR>
                    <a:lnT>
                      <a:noFill/>
                    </a:lnT>
                    <a:lnB>
                      <a:noFill/>
                    </a:lnB>
                    <a:noFill/>
                  </a:tcPr>
                </a:tc>
                <a:tc>
                  <a:txBody>
                    <a:bodyPr/>
                    <a:lstStyle/>
                    <a:p>
                      <a:pPr>
                        <a:buNone/>
                      </a:pPr>
                      <a:r>
                        <a:rPr lang="en-IN"/>
                        <a:t>Image Sensor</a:t>
                      </a:r>
                    </a:p>
                  </a:txBody>
                  <a:tcPr anchor="ctr">
                    <a:lnL>
                      <a:noFill/>
                    </a:lnL>
                    <a:lnR>
                      <a:noFill/>
                    </a:lnR>
                    <a:lnT>
                      <a:noFill/>
                    </a:lnT>
                    <a:lnB>
                      <a:noFill/>
                    </a:lnB>
                    <a:noFill/>
                  </a:tcPr>
                </a:tc>
                <a:extLst>
                  <a:ext uri="{0D108BD9-81ED-4DB2-BD59-A6C34878D82A}">
                    <a16:rowId xmlns:a16="http://schemas.microsoft.com/office/drawing/2014/main" val="330624411"/>
                  </a:ext>
                </a:extLst>
              </a:tr>
              <a:tr h="0">
                <a:tc>
                  <a:txBody>
                    <a:bodyPr/>
                    <a:lstStyle/>
                    <a:p>
                      <a:pPr>
                        <a:buNone/>
                      </a:pPr>
                      <a:r>
                        <a:rPr lang="en-IN"/>
                        <a:t>Pupil</a:t>
                      </a:r>
                    </a:p>
                  </a:txBody>
                  <a:tcPr anchor="ctr">
                    <a:lnL>
                      <a:noFill/>
                    </a:lnL>
                    <a:lnR>
                      <a:noFill/>
                    </a:lnR>
                    <a:lnT>
                      <a:noFill/>
                    </a:lnT>
                    <a:lnB>
                      <a:noFill/>
                    </a:lnB>
                    <a:noFill/>
                  </a:tcPr>
                </a:tc>
                <a:tc>
                  <a:txBody>
                    <a:bodyPr/>
                    <a:lstStyle/>
                    <a:p>
                      <a:pPr>
                        <a:buNone/>
                      </a:pPr>
                      <a:r>
                        <a:rPr lang="en-IN"/>
                        <a:t>Aperture</a:t>
                      </a:r>
                    </a:p>
                  </a:txBody>
                  <a:tcPr anchor="ctr">
                    <a:lnL>
                      <a:noFill/>
                    </a:lnL>
                    <a:lnR>
                      <a:noFill/>
                    </a:lnR>
                    <a:lnT>
                      <a:noFill/>
                    </a:lnT>
                    <a:lnB>
                      <a:noFill/>
                    </a:lnB>
                    <a:noFill/>
                  </a:tcPr>
                </a:tc>
                <a:extLst>
                  <a:ext uri="{0D108BD9-81ED-4DB2-BD59-A6C34878D82A}">
                    <a16:rowId xmlns:a16="http://schemas.microsoft.com/office/drawing/2014/main" val="445792536"/>
                  </a:ext>
                </a:extLst>
              </a:tr>
              <a:tr h="0">
                <a:tc>
                  <a:txBody>
                    <a:bodyPr/>
                    <a:lstStyle/>
                    <a:p>
                      <a:pPr>
                        <a:buNone/>
                      </a:pPr>
                      <a:r>
                        <a:rPr lang="en-IN"/>
                        <a:t>Lens</a:t>
                      </a:r>
                    </a:p>
                  </a:txBody>
                  <a:tcPr anchor="ctr">
                    <a:lnL>
                      <a:noFill/>
                    </a:lnL>
                    <a:lnR>
                      <a:noFill/>
                    </a:lnR>
                    <a:lnT>
                      <a:noFill/>
                    </a:lnT>
                    <a:lnB>
                      <a:noFill/>
                    </a:lnB>
                    <a:noFill/>
                  </a:tcPr>
                </a:tc>
                <a:tc>
                  <a:txBody>
                    <a:bodyPr/>
                    <a:lstStyle/>
                    <a:p>
                      <a:pPr>
                        <a:buNone/>
                      </a:pPr>
                      <a:r>
                        <a:rPr lang="en-IN"/>
                        <a:t>Camera Lens</a:t>
                      </a:r>
                    </a:p>
                  </a:txBody>
                  <a:tcPr anchor="ctr">
                    <a:lnL>
                      <a:noFill/>
                    </a:lnL>
                    <a:lnR>
                      <a:noFill/>
                    </a:lnR>
                    <a:lnT>
                      <a:noFill/>
                    </a:lnT>
                    <a:lnB>
                      <a:noFill/>
                    </a:lnB>
                    <a:noFill/>
                  </a:tcPr>
                </a:tc>
                <a:extLst>
                  <a:ext uri="{0D108BD9-81ED-4DB2-BD59-A6C34878D82A}">
                    <a16:rowId xmlns:a16="http://schemas.microsoft.com/office/drawing/2014/main" val="4225427959"/>
                  </a:ext>
                </a:extLst>
              </a:tr>
              <a:tr h="0">
                <a:tc>
                  <a:txBody>
                    <a:bodyPr/>
                    <a:lstStyle/>
                    <a:p>
                      <a:pPr>
                        <a:buNone/>
                      </a:pPr>
                      <a:r>
                        <a:rPr lang="en-IN"/>
                        <a:t>Brain</a:t>
                      </a:r>
                    </a:p>
                  </a:txBody>
                  <a:tcPr anchor="ctr">
                    <a:lnL>
                      <a:noFill/>
                    </a:lnL>
                    <a:lnR>
                      <a:noFill/>
                    </a:lnR>
                    <a:lnT>
                      <a:noFill/>
                    </a:lnT>
                    <a:lnB>
                      <a:noFill/>
                    </a:lnB>
                    <a:noFill/>
                  </a:tcPr>
                </a:tc>
                <a:tc>
                  <a:txBody>
                    <a:bodyPr/>
                    <a:lstStyle/>
                    <a:p>
                      <a:pPr>
                        <a:buNone/>
                      </a:pPr>
                      <a:r>
                        <a:rPr lang="en-IN" dirty="0"/>
                        <a:t>Computer Vision Algorithm</a:t>
                      </a:r>
                    </a:p>
                  </a:txBody>
                  <a:tcPr anchor="ctr">
                    <a:lnL>
                      <a:noFill/>
                    </a:lnL>
                    <a:lnR>
                      <a:noFill/>
                    </a:lnR>
                    <a:lnT>
                      <a:noFill/>
                    </a:lnT>
                    <a:lnB>
                      <a:noFill/>
                    </a:lnB>
                    <a:noFill/>
                  </a:tcPr>
                </a:tc>
                <a:extLst>
                  <a:ext uri="{0D108BD9-81ED-4DB2-BD59-A6C34878D82A}">
                    <a16:rowId xmlns:a16="http://schemas.microsoft.com/office/drawing/2014/main" val="3500720543"/>
                  </a:ext>
                </a:extLst>
              </a:tr>
            </a:tbl>
          </a:graphicData>
        </a:graphic>
      </p:graphicFrame>
    </p:spTree>
    <p:extLst>
      <p:ext uri="{BB962C8B-B14F-4D97-AF65-F5344CB8AC3E}">
        <p14:creationId xmlns:p14="http://schemas.microsoft.com/office/powerpoint/2010/main" val="40981894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68643-0CB3-F961-9C3E-219020176922}"/>
              </a:ext>
            </a:extLst>
          </p:cNvPr>
          <p:cNvSpPr>
            <a:spLocks noGrp="1"/>
          </p:cNvSpPr>
          <p:nvPr>
            <p:ph type="title"/>
          </p:nvPr>
        </p:nvSpPr>
        <p:spPr/>
        <p:txBody>
          <a:bodyPr/>
          <a:lstStyle/>
          <a:p>
            <a:r>
              <a:rPr lang="en-IN" dirty="0"/>
              <a:t>Components of a Monocular Camera</a:t>
            </a:r>
          </a:p>
        </p:txBody>
      </p:sp>
      <p:sp>
        <p:nvSpPr>
          <p:cNvPr id="3" name="Content Placeholder 2">
            <a:extLst>
              <a:ext uri="{FF2B5EF4-FFF2-40B4-BE49-F238E27FC236}">
                <a16:creationId xmlns:a16="http://schemas.microsoft.com/office/drawing/2014/main" id="{7CD75A10-BFA0-81E1-8221-765CB80BF985}"/>
              </a:ext>
            </a:extLst>
          </p:cNvPr>
          <p:cNvSpPr>
            <a:spLocks noGrp="1"/>
          </p:cNvSpPr>
          <p:nvPr>
            <p:ph idx="1"/>
          </p:nvPr>
        </p:nvSpPr>
        <p:spPr/>
        <p:txBody>
          <a:bodyPr/>
          <a:lstStyle/>
          <a:p>
            <a:r>
              <a:rPr lang="en-IN" b="1" dirty="0"/>
              <a:t>1. Lens</a:t>
            </a:r>
          </a:p>
          <a:p>
            <a:r>
              <a:rPr lang="en-IN" dirty="0"/>
              <a:t>Collects light from the scene.</a:t>
            </a:r>
          </a:p>
          <a:p>
            <a:r>
              <a:rPr lang="en-IN" b="1" dirty="0"/>
              <a:t>2. Aperture</a:t>
            </a:r>
          </a:p>
          <a:p>
            <a:r>
              <a:rPr lang="en-IN" dirty="0"/>
              <a:t>Controls amount of light entering.</a:t>
            </a:r>
          </a:p>
          <a:p>
            <a:r>
              <a:rPr lang="en-IN" b="1" dirty="0"/>
              <a:t>3. Image Sensor</a:t>
            </a:r>
          </a:p>
          <a:p>
            <a:r>
              <a:rPr lang="en-IN" dirty="0"/>
              <a:t>Converts light into electrical signals.</a:t>
            </a:r>
          </a:p>
          <a:p>
            <a:r>
              <a:rPr lang="en-IN" b="1" dirty="0"/>
              <a:t>4. Processor</a:t>
            </a:r>
          </a:p>
          <a:p>
            <a:r>
              <a:rPr lang="en-IN" dirty="0"/>
              <a:t>Creates the digital image.</a:t>
            </a:r>
          </a:p>
          <a:p>
            <a:endParaRPr lang="en-IN" dirty="0"/>
          </a:p>
        </p:txBody>
      </p:sp>
    </p:spTree>
    <p:extLst>
      <p:ext uri="{BB962C8B-B14F-4D97-AF65-F5344CB8AC3E}">
        <p14:creationId xmlns:p14="http://schemas.microsoft.com/office/powerpoint/2010/main" val="18386972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FB1B-9604-D3F6-1F16-C6D8EFED11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A38332-0A02-A2BB-57C3-BBA3DB3B74F4}"/>
              </a:ext>
            </a:extLst>
          </p:cNvPr>
          <p:cNvSpPr>
            <a:spLocks noGrp="1"/>
          </p:cNvSpPr>
          <p:nvPr>
            <p:ph idx="1"/>
          </p:nvPr>
        </p:nvSpPr>
        <p:spPr/>
        <p:txBody>
          <a:bodyPr>
            <a:normAutofit lnSpcReduction="10000"/>
          </a:bodyPr>
          <a:lstStyle/>
          <a:p>
            <a:r>
              <a:rPr lang="en-IN" dirty="0"/>
              <a:t>Example:</a:t>
            </a:r>
          </a:p>
          <a:p>
            <a:r>
              <a:rPr lang="en-IN" dirty="0"/>
              <a:t>Imagine two cars:</a:t>
            </a:r>
          </a:p>
          <a:p>
            <a:r>
              <a:rPr lang="en-IN" dirty="0"/>
              <a:t>Car A is 5 meters away.</a:t>
            </a:r>
          </a:p>
          <a:p>
            <a:r>
              <a:rPr lang="en-IN" dirty="0"/>
              <a:t>Car B is 50 meters away.</a:t>
            </a:r>
          </a:p>
          <a:p>
            <a:r>
              <a:rPr lang="en-IN" dirty="0"/>
              <a:t>In the image:</a:t>
            </a:r>
          </a:p>
          <a:p>
            <a:r>
              <a:rPr lang="en-IN" dirty="0"/>
              <a:t>Car A looks large. </a:t>
            </a:r>
          </a:p>
          <a:p>
            <a:r>
              <a:rPr lang="en-IN" dirty="0"/>
              <a:t>Car B looks small.</a:t>
            </a:r>
          </a:p>
          <a:p>
            <a:r>
              <a:rPr lang="en-IN" dirty="0"/>
              <a:t>Even though both cars may be the same size.</a:t>
            </a:r>
          </a:p>
          <a:p>
            <a:r>
              <a:rPr lang="en-IN" dirty="0"/>
              <a:t>This happens because the camera uses </a:t>
            </a:r>
            <a:r>
              <a:rPr lang="en-IN" b="1" dirty="0"/>
              <a:t>perspective projection</a:t>
            </a:r>
            <a:r>
              <a:rPr lang="en-IN" dirty="0"/>
              <a:t>.</a:t>
            </a:r>
          </a:p>
          <a:p>
            <a:endParaRPr lang="en-IN" dirty="0"/>
          </a:p>
          <a:p>
            <a:endParaRPr lang="en-IN" dirty="0"/>
          </a:p>
        </p:txBody>
      </p:sp>
    </p:spTree>
    <p:extLst>
      <p:ext uri="{BB962C8B-B14F-4D97-AF65-F5344CB8AC3E}">
        <p14:creationId xmlns:p14="http://schemas.microsoft.com/office/powerpoint/2010/main" val="32351476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A20E33-0E9D-E93E-BFDF-4CBE2B68AEBC}"/>
                  </a:ext>
                </a:extLst>
              </p:cNvPr>
              <p:cNvSpPr>
                <a:spLocks noGrp="1"/>
              </p:cNvSpPr>
              <p:nvPr>
                <p:ph idx="1"/>
              </p:nvPr>
            </p:nvSpPr>
            <p:spPr>
              <a:xfrm>
                <a:off x="838200" y="536331"/>
                <a:ext cx="10515600" cy="5640632"/>
              </a:xfrm>
            </p:spPr>
            <p:txBody>
              <a:bodyPr>
                <a:normAutofit fontScale="70000" lnSpcReduction="20000"/>
              </a:bodyPr>
              <a:lstStyle/>
              <a:p>
                <a:r>
                  <a:rPr lang="en-IN" b="1" dirty="0"/>
                  <a:t>Perspective projection</a:t>
                </a:r>
                <a:r>
                  <a:rPr lang="en-IN" dirty="0"/>
                  <a:t> is the method by which a camera converts a </a:t>
                </a:r>
                <a:r>
                  <a:rPr lang="en-IN" b="1" dirty="0"/>
                  <a:t>3D scene into a 2D image</a:t>
                </a:r>
                <a:r>
                  <a:rPr lang="en-IN" dirty="0"/>
                  <a:t>.</a:t>
                </a:r>
              </a:p>
              <a:p>
                <a:r>
                  <a:rPr lang="en-IN" dirty="0"/>
                  <a:t>It creates the same effect that we see with our eyes:</a:t>
                </a:r>
              </a:p>
              <a:p>
                <a:r>
                  <a:rPr lang="en-IN" dirty="0"/>
                  <a:t>Near objects look </a:t>
                </a:r>
                <a:r>
                  <a:rPr lang="en-IN" b="1" dirty="0"/>
                  <a:t>larger</a:t>
                </a:r>
                <a:r>
                  <a:rPr lang="en-IN" dirty="0"/>
                  <a:t> </a:t>
                </a:r>
              </a:p>
              <a:p>
                <a:r>
                  <a:rPr lang="en-IN" dirty="0"/>
                  <a:t>Far objects look </a:t>
                </a:r>
                <a:r>
                  <a:rPr lang="en-IN" b="1" dirty="0"/>
                  <a:t>smaller</a:t>
                </a:r>
                <a:r>
                  <a:rPr lang="en-IN" dirty="0"/>
                  <a:t> </a:t>
                </a:r>
              </a:p>
              <a:p>
                <a:r>
                  <a:rPr lang="en-IN" b="1" dirty="0"/>
                  <a:t>Why Do We Need Perspective Projection?</a:t>
                </a:r>
              </a:p>
              <a:p>
                <a:r>
                  <a:rPr lang="en-IN" dirty="0"/>
                  <a:t>The real world is </a:t>
                </a:r>
                <a:r>
                  <a:rPr lang="en-IN" b="1" dirty="0"/>
                  <a:t>3D</a:t>
                </a:r>
                <a:r>
                  <a:rPr lang="en-IN" dirty="0"/>
                  <a:t>:</a:t>
                </a:r>
              </a:p>
              <a:p>
                <a:r>
                  <a:rPr lang="en-IN" dirty="0"/>
                  <a:t>Width (X) </a:t>
                </a:r>
              </a:p>
              <a:p>
                <a:r>
                  <a:rPr lang="en-IN" dirty="0"/>
                  <a:t>Height (Y) </a:t>
                </a:r>
              </a:p>
              <a:p>
                <a:r>
                  <a:rPr lang="en-IN" dirty="0"/>
                  <a:t>Depth (Z) </a:t>
                </a:r>
              </a:p>
              <a:p>
                <a:r>
                  <a:rPr lang="en-IN" dirty="0"/>
                  <a:t>But an image is </a:t>
                </a:r>
                <a:r>
                  <a:rPr lang="en-IN" b="1" dirty="0"/>
                  <a:t>2D</a:t>
                </a:r>
                <a:r>
                  <a:rPr lang="en-IN" dirty="0"/>
                  <a:t>:</a:t>
                </a:r>
              </a:p>
              <a:p>
                <a:r>
                  <a:rPr lang="en-IN" dirty="0"/>
                  <a:t>Width </a:t>
                </a:r>
              </a:p>
              <a:p>
                <a:r>
                  <a:rPr lang="en-IN" dirty="0"/>
                  <a:t>Height </a:t>
                </a:r>
              </a:p>
              <a:p>
                <a:r>
                  <a:rPr lang="en-IN" dirty="0"/>
                  <a:t>A camera must convert:</a:t>
                </a:r>
              </a:p>
              <a:p>
                <a14:m>
                  <m:oMath xmlns:m="http://schemas.openxmlformats.org/officeDocument/2006/math">
                    <m:r>
                      <a:rPr lang="en-IN">
                        <a:latin typeface="Cambria Math" panose="02040503050406030204" pitchFamily="18" charset="0"/>
                      </a:rPr>
                      <m:t>3</m:t>
                    </m:r>
                    <m:r>
                      <a:rPr lang="en-IN" i="1">
                        <a:latin typeface="Cambria Math" panose="02040503050406030204" pitchFamily="18" charset="0"/>
                      </a:rPr>
                      <m:t>𝐷</m:t>
                    </m:r>
                    <m:r>
                      <a:rPr lang="en-IN">
                        <a:latin typeface="Cambria Math" panose="02040503050406030204" pitchFamily="18" charset="0"/>
                      </a:rPr>
                      <m:t>→2</m:t>
                    </m:r>
                    <m:r>
                      <a:rPr lang="en-IN" i="1">
                        <a:latin typeface="Cambria Math" panose="02040503050406030204" pitchFamily="18" charset="0"/>
                      </a:rPr>
                      <m:t>𝐷</m:t>
                    </m:r>
                  </m:oMath>
                </a14:m>
                <a:endParaRPr lang="en-IN" dirty="0"/>
              </a:p>
              <a:p>
                <a:r>
                  <a:rPr lang="en-IN" dirty="0"/>
                  <a:t>Perspective projection performs this conversion.</a:t>
                </a:r>
              </a:p>
              <a:p>
                <a:endParaRPr lang="en-IN" dirty="0"/>
              </a:p>
            </p:txBody>
          </p:sp>
        </mc:Choice>
        <mc:Fallback xmlns="">
          <p:sp>
            <p:nvSpPr>
              <p:cNvPr id="3" name="Content Placeholder 2">
                <a:extLst>
                  <a:ext uri="{FF2B5EF4-FFF2-40B4-BE49-F238E27FC236}">
                    <a16:creationId xmlns:a16="http://schemas.microsoft.com/office/drawing/2014/main" id="{21A20E33-0E9D-E93E-BFDF-4CBE2B68AEBC}"/>
                  </a:ext>
                </a:extLst>
              </p:cNvPr>
              <p:cNvSpPr>
                <a:spLocks noGrp="1" noRot="1" noChangeAspect="1" noMove="1" noResize="1" noEditPoints="1" noAdjustHandles="1" noChangeArrowheads="1" noChangeShapeType="1" noTextEdit="1"/>
              </p:cNvSpPr>
              <p:nvPr>
                <p:ph idx="1"/>
              </p:nvPr>
            </p:nvSpPr>
            <p:spPr>
              <a:xfrm>
                <a:off x="838200" y="536331"/>
                <a:ext cx="10515600" cy="5640632"/>
              </a:xfrm>
              <a:blipFill>
                <a:blip r:embed="rId2"/>
                <a:stretch>
                  <a:fillRect l="-522" t="-1946"/>
                </a:stretch>
              </a:blipFill>
            </p:spPr>
            <p:txBody>
              <a:bodyPr/>
              <a:lstStyle/>
              <a:p>
                <a:r>
                  <a:rPr lang="en-IN">
                    <a:noFill/>
                  </a:rPr>
                  <a:t> </a:t>
                </a:r>
              </a:p>
            </p:txBody>
          </p:sp>
        </mc:Fallback>
      </mc:AlternateContent>
    </p:spTree>
    <p:extLst>
      <p:ext uri="{BB962C8B-B14F-4D97-AF65-F5344CB8AC3E}">
        <p14:creationId xmlns:p14="http://schemas.microsoft.com/office/powerpoint/2010/main" val="1764848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61ADC1-1560-87C7-9EE0-BDB715EF1B5B}"/>
              </a:ext>
            </a:extLst>
          </p:cNvPr>
          <p:cNvSpPr>
            <a:spLocks noGrp="1"/>
          </p:cNvSpPr>
          <p:nvPr>
            <p:ph idx="1"/>
          </p:nvPr>
        </p:nvSpPr>
        <p:spPr>
          <a:xfrm>
            <a:off x="838200" y="246185"/>
            <a:ext cx="10515600" cy="5930778"/>
          </a:xfrm>
        </p:spPr>
        <p:txBody>
          <a:bodyPr/>
          <a:lstStyle/>
          <a:p>
            <a:r>
              <a:rPr lang="en-IN" dirty="0"/>
              <a:t>A </a:t>
            </a:r>
            <a:r>
              <a:rPr lang="en-IN" b="1" dirty="0"/>
              <a:t>Monocular Imaging System</a:t>
            </a:r>
            <a:r>
              <a:rPr lang="en-IN" dirty="0"/>
              <a:t> is a vision system that uses </a:t>
            </a:r>
            <a:r>
              <a:rPr lang="en-IN" b="1" dirty="0"/>
              <a:t>one camera</a:t>
            </a:r>
            <a:r>
              <a:rPr lang="en-IN" dirty="0"/>
              <a:t> to capture images of the world.</a:t>
            </a:r>
          </a:p>
          <a:p>
            <a:r>
              <a:rPr lang="en-IN" b="1" dirty="0"/>
              <a:t>Mono</a:t>
            </a:r>
            <a:r>
              <a:rPr lang="en-IN" dirty="0"/>
              <a:t> = One </a:t>
            </a:r>
          </a:p>
          <a:p>
            <a:r>
              <a:rPr lang="en-IN" b="1" dirty="0"/>
              <a:t>Ocular</a:t>
            </a:r>
            <a:r>
              <a:rPr lang="en-IN" dirty="0"/>
              <a:t> = Eye </a:t>
            </a:r>
          </a:p>
          <a:p>
            <a:r>
              <a:rPr lang="en-IN" dirty="0"/>
              <a:t>So, monocular means </a:t>
            </a:r>
            <a:r>
              <a:rPr lang="en-IN" b="1" dirty="0"/>
              <a:t>one eye</a:t>
            </a:r>
            <a:r>
              <a:rPr lang="en-IN" dirty="0"/>
              <a:t> or </a:t>
            </a:r>
            <a:r>
              <a:rPr lang="en-IN" b="1" dirty="0"/>
              <a:t>single camera</a:t>
            </a:r>
            <a:r>
              <a:rPr lang="en-IN" dirty="0"/>
              <a:t>.</a:t>
            </a:r>
          </a:p>
          <a:p>
            <a:endParaRPr lang="en-IN" dirty="0"/>
          </a:p>
        </p:txBody>
      </p:sp>
    </p:spTree>
    <p:extLst>
      <p:ext uri="{BB962C8B-B14F-4D97-AF65-F5344CB8AC3E}">
        <p14:creationId xmlns:p14="http://schemas.microsoft.com/office/powerpoint/2010/main" val="4553179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987D48-9610-DAD5-A8DB-9DD58E5DED29}"/>
              </a:ext>
            </a:extLst>
          </p:cNvPr>
          <p:cNvPicPr>
            <a:picLocks noGrp="1" noChangeAspect="1"/>
          </p:cNvPicPr>
          <p:nvPr>
            <p:ph idx="1"/>
          </p:nvPr>
        </p:nvPicPr>
        <p:blipFill>
          <a:blip r:embed="rId2"/>
          <a:stretch>
            <a:fillRect/>
          </a:stretch>
        </p:blipFill>
        <p:spPr>
          <a:xfrm>
            <a:off x="1406769" y="0"/>
            <a:ext cx="9091246" cy="6857999"/>
          </a:xfrm>
          <a:prstGeom prst="rect">
            <a:avLst/>
          </a:prstGeom>
        </p:spPr>
      </p:pic>
    </p:spTree>
    <p:extLst>
      <p:ext uri="{BB962C8B-B14F-4D97-AF65-F5344CB8AC3E}">
        <p14:creationId xmlns:p14="http://schemas.microsoft.com/office/powerpoint/2010/main" val="30906462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7B2E-8D36-237B-5365-56CB488F1C59}"/>
              </a:ext>
            </a:extLst>
          </p:cNvPr>
          <p:cNvSpPr>
            <a:spLocks noGrp="1"/>
          </p:cNvSpPr>
          <p:nvPr>
            <p:ph type="title"/>
          </p:nvPr>
        </p:nvSpPr>
        <p:spPr/>
        <p:txBody>
          <a:bodyPr/>
          <a:lstStyle/>
          <a:p>
            <a:r>
              <a:rPr lang="en-IN" dirty="0"/>
              <a:t>2. Why is it Important?</a:t>
            </a:r>
          </a:p>
        </p:txBody>
      </p:sp>
      <p:sp>
        <p:nvSpPr>
          <p:cNvPr id="3" name="Content Placeholder 2">
            <a:extLst>
              <a:ext uri="{FF2B5EF4-FFF2-40B4-BE49-F238E27FC236}">
                <a16:creationId xmlns:a16="http://schemas.microsoft.com/office/drawing/2014/main" id="{A069C397-C97F-8C39-445E-560AF55D5CEC}"/>
              </a:ext>
            </a:extLst>
          </p:cNvPr>
          <p:cNvSpPr>
            <a:spLocks noGrp="1"/>
          </p:cNvSpPr>
          <p:nvPr>
            <p:ph idx="1"/>
          </p:nvPr>
        </p:nvSpPr>
        <p:spPr/>
        <p:txBody>
          <a:bodyPr/>
          <a:lstStyle/>
          <a:p>
            <a:r>
              <a:rPr lang="en-IN" dirty="0"/>
              <a:t>Computer Vision systems need images to understand the world.</a:t>
            </a:r>
          </a:p>
          <a:p>
            <a:r>
              <a:rPr lang="en-IN" dirty="0"/>
              <a:t>Before a computer can:</a:t>
            </a:r>
          </a:p>
          <a:p>
            <a:r>
              <a:rPr lang="en-IN" dirty="0"/>
              <a:t>Detect faces</a:t>
            </a:r>
          </a:p>
          <a:p>
            <a:r>
              <a:rPr lang="en-IN" dirty="0"/>
              <a:t> Recognize objects</a:t>
            </a:r>
          </a:p>
          <a:p>
            <a:r>
              <a:rPr lang="en-IN" dirty="0"/>
              <a:t> Read number plates</a:t>
            </a:r>
          </a:p>
          <a:p>
            <a:r>
              <a:rPr lang="en-IN" dirty="0"/>
              <a:t> Count people</a:t>
            </a:r>
          </a:p>
          <a:p>
            <a:r>
              <a:rPr lang="en-IN" dirty="0"/>
              <a:t>It must first </a:t>
            </a:r>
            <a:r>
              <a:rPr lang="en-IN" b="1" dirty="0"/>
              <a:t>capture an image</a:t>
            </a:r>
            <a:r>
              <a:rPr lang="en-IN" dirty="0"/>
              <a:t>.</a:t>
            </a:r>
          </a:p>
          <a:p>
            <a:r>
              <a:rPr lang="en-IN" dirty="0"/>
              <a:t>A monocular camera is often the first step.</a:t>
            </a:r>
          </a:p>
          <a:p>
            <a:endParaRPr lang="en-IN" dirty="0"/>
          </a:p>
        </p:txBody>
      </p:sp>
    </p:spTree>
    <p:extLst>
      <p:ext uri="{BB962C8B-B14F-4D97-AF65-F5344CB8AC3E}">
        <p14:creationId xmlns:p14="http://schemas.microsoft.com/office/powerpoint/2010/main" val="20781161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CBA59-D3B9-94F8-0556-3DD2004443E0}"/>
              </a:ext>
            </a:extLst>
          </p:cNvPr>
          <p:cNvSpPr>
            <a:spLocks noGrp="1"/>
          </p:cNvSpPr>
          <p:nvPr>
            <p:ph type="title"/>
          </p:nvPr>
        </p:nvSpPr>
        <p:spPr/>
        <p:txBody>
          <a:bodyPr/>
          <a:lstStyle/>
          <a:p>
            <a:r>
              <a:rPr lang="en-IN" dirty="0"/>
              <a:t>How Does a Monocular Imaging System Work?</a:t>
            </a:r>
          </a:p>
        </p:txBody>
      </p:sp>
      <p:sp>
        <p:nvSpPr>
          <p:cNvPr id="3" name="Content Placeholder 2">
            <a:extLst>
              <a:ext uri="{FF2B5EF4-FFF2-40B4-BE49-F238E27FC236}">
                <a16:creationId xmlns:a16="http://schemas.microsoft.com/office/drawing/2014/main" id="{FAE3C804-A75C-1A3C-635E-FEF8D031B1FE}"/>
              </a:ext>
            </a:extLst>
          </p:cNvPr>
          <p:cNvSpPr>
            <a:spLocks noGrp="1"/>
          </p:cNvSpPr>
          <p:nvPr>
            <p:ph idx="1"/>
          </p:nvPr>
        </p:nvSpPr>
        <p:spPr/>
        <p:txBody>
          <a:bodyPr>
            <a:normAutofit fontScale="92500" lnSpcReduction="20000"/>
          </a:bodyPr>
          <a:lstStyle/>
          <a:p>
            <a:r>
              <a:rPr lang="en-IN" dirty="0"/>
              <a:t>Imagine taking a photo of an apple.</a:t>
            </a:r>
          </a:p>
          <a:p>
            <a:pPr marL="0" indent="0">
              <a:buNone/>
            </a:pPr>
            <a:r>
              <a:rPr lang="en-IN" dirty="0"/>
              <a:t>Sunlight</a:t>
            </a:r>
          </a:p>
          <a:p>
            <a:pPr marL="0" indent="0">
              <a:buNone/>
            </a:pPr>
            <a:r>
              <a:rPr lang="en-IN" dirty="0"/>
              <a:t>   ↓</a:t>
            </a:r>
          </a:p>
          <a:p>
            <a:pPr marL="0" indent="0">
              <a:buNone/>
            </a:pPr>
            <a:r>
              <a:rPr lang="en-IN" dirty="0"/>
              <a:t> Apple</a:t>
            </a:r>
          </a:p>
          <a:p>
            <a:pPr marL="0" indent="0">
              <a:buNone/>
            </a:pPr>
            <a:r>
              <a:rPr lang="en-IN" dirty="0"/>
              <a:t>   ↓ (reflected light)</a:t>
            </a:r>
          </a:p>
          <a:p>
            <a:pPr marL="0" indent="0">
              <a:buNone/>
            </a:pPr>
            <a:r>
              <a:rPr lang="en-IN" dirty="0"/>
              <a:t> Camera Lens</a:t>
            </a:r>
          </a:p>
          <a:p>
            <a:pPr marL="0" indent="0">
              <a:buNone/>
            </a:pPr>
            <a:r>
              <a:rPr lang="en-IN" dirty="0"/>
              <a:t>   ↓</a:t>
            </a:r>
          </a:p>
          <a:p>
            <a:pPr marL="0" indent="0">
              <a:buNone/>
            </a:pPr>
            <a:r>
              <a:rPr lang="en-IN" dirty="0"/>
              <a:t> Image Sensor</a:t>
            </a:r>
          </a:p>
          <a:p>
            <a:pPr marL="0" indent="0">
              <a:buNone/>
            </a:pPr>
            <a:r>
              <a:rPr lang="en-IN" dirty="0"/>
              <a:t>   ↓</a:t>
            </a:r>
          </a:p>
          <a:p>
            <a:pPr marL="0" indent="0">
              <a:buNone/>
            </a:pPr>
            <a:r>
              <a:rPr lang="en-IN" dirty="0"/>
              <a:t> Digital Image</a:t>
            </a:r>
          </a:p>
        </p:txBody>
      </p:sp>
    </p:spTree>
    <p:extLst>
      <p:ext uri="{BB962C8B-B14F-4D97-AF65-F5344CB8AC3E}">
        <p14:creationId xmlns:p14="http://schemas.microsoft.com/office/powerpoint/2010/main" val="23999374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8124B6-B2EE-AA32-F734-8FC412B6D991}"/>
              </a:ext>
            </a:extLst>
          </p:cNvPr>
          <p:cNvSpPr>
            <a:spLocks noGrp="1"/>
          </p:cNvSpPr>
          <p:nvPr>
            <p:ph idx="1"/>
          </p:nvPr>
        </p:nvSpPr>
        <p:spPr>
          <a:xfrm>
            <a:off x="838200" y="263769"/>
            <a:ext cx="10515600" cy="5913194"/>
          </a:xfrm>
        </p:spPr>
        <p:txBody>
          <a:bodyPr/>
          <a:lstStyle/>
          <a:p>
            <a:pPr marL="0" indent="0">
              <a:buNone/>
            </a:pPr>
            <a:r>
              <a:rPr lang="en-IN" b="1" dirty="0"/>
              <a:t>Step 1: Light Source</a:t>
            </a:r>
          </a:p>
          <a:p>
            <a:r>
              <a:rPr lang="en-IN" dirty="0"/>
              <a:t>The Sun or a bulb produces light.</a:t>
            </a:r>
          </a:p>
          <a:p>
            <a:pPr marL="0" indent="0">
              <a:buNone/>
            </a:pPr>
            <a:r>
              <a:rPr lang="en-IN" b="1" dirty="0"/>
              <a:t>Step 2: Object Reflects Light</a:t>
            </a:r>
          </a:p>
          <a:p>
            <a:r>
              <a:rPr lang="en-IN" dirty="0"/>
              <a:t>The apple reflects some of the incoming light.</a:t>
            </a:r>
          </a:p>
          <a:p>
            <a:r>
              <a:rPr lang="en-IN" dirty="0"/>
              <a:t>For a red apple:</a:t>
            </a:r>
          </a:p>
          <a:p>
            <a:r>
              <a:rPr lang="en-IN" dirty="0"/>
              <a:t>Reflects red light </a:t>
            </a:r>
          </a:p>
          <a:p>
            <a:r>
              <a:rPr lang="en-IN" dirty="0"/>
              <a:t>Absorbs many other </a:t>
            </a:r>
            <a:r>
              <a:rPr lang="en-IN" dirty="0" err="1"/>
              <a:t>colors</a:t>
            </a:r>
            <a:endParaRPr lang="en-IN" dirty="0"/>
          </a:p>
          <a:p>
            <a:pPr marL="0" indent="0">
              <a:buNone/>
            </a:pPr>
            <a:r>
              <a:rPr lang="en-IN" b="1" dirty="0"/>
              <a:t>Step 3:</a:t>
            </a:r>
            <a:r>
              <a:rPr lang="en-IN" dirty="0"/>
              <a:t> </a:t>
            </a:r>
            <a:r>
              <a:rPr lang="en-IN" b="1" dirty="0"/>
              <a:t>Light Enters the Camera</a:t>
            </a:r>
          </a:p>
          <a:p>
            <a:pPr marL="0" indent="0">
              <a:buNone/>
            </a:pPr>
            <a:r>
              <a:rPr lang="en-IN" dirty="0"/>
              <a:t>The reflected light enters the camera lens.</a:t>
            </a:r>
          </a:p>
          <a:p>
            <a:pPr marL="0" indent="0">
              <a:buNone/>
            </a:pPr>
            <a:r>
              <a:rPr lang="en-IN" b="1" dirty="0"/>
              <a:t>Step 4: Lens Focuses the Light</a:t>
            </a:r>
          </a:p>
          <a:p>
            <a:r>
              <a:rPr lang="en-IN" dirty="0"/>
              <a:t>The lens bends the light rays and focuses them onto the sensor.</a:t>
            </a:r>
          </a:p>
          <a:p>
            <a:pPr marL="0" indent="0">
              <a:buNone/>
            </a:pPr>
            <a:endParaRPr lang="en-IN" b="1" dirty="0"/>
          </a:p>
          <a:p>
            <a:pPr marL="0" indent="0">
              <a:buNone/>
            </a:pPr>
            <a:endParaRPr lang="en-IN" b="1" dirty="0"/>
          </a:p>
          <a:p>
            <a:endParaRPr lang="en-IN" dirty="0"/>
          </a:p>
        </p:txBody>
      </p:sp>
    </p:spTree>
    <p:extLst>
      <p:ext uri="{BB962C8B-B14F-4D97-AF65-F5344CB8AC3E}">
        <p14:creationId xmlns:p14="http://schemas.microsoft.com/office/powerpoint/2010/main" val="32751136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E18408-47AB-CEFD-7706-A0408F4C5AF9}"/>
              </a:ext>
            </a:extLst>
          </p:cNvPr>
          <p:cNvSpPr>
            <a:spLocks noGrp="1"/>
          </p:cNvSpPr>
          <p:nvPr>
            <p:ph idx="1"/>
          </p:nvPr>
        </p:nvSpPr>
        <p:spPr>
          <a:xfrm>
            <a:off x="838200" y="395654"/>
            <a:ext cx="10515600" cy="5781309"/>
          </a:xfrm>
        </p:spPr>
        <p:txBody>
          <a:bodyPr/>
          <a:lstStyle/>
          <a:p>
            <a:pPr marL="0" indent="0">
              <a:buNone/>
            </a:pPr>
            <a:r>
              <a:rPr lang="en-IN" b="1" dirty="0"/>
              <a:t>Step 5: Sensor Records the Image</a:t>
            </a:r>
          </a:p>
          <a:p>
            <a:r>
              <a:rPr lang="en-IN" dirty="0"/>
              <a:t>The image sensor converts light into digital values called pixels.</a:t>
            </a:r>
          </a:p>
          <a:p>
            <a:pPr marL="0" indent="0">
              <a:buNone/>
            </a:pPr>
            <a:r>
              <a:rPr lang="en-IN" b="1" dirty="0"/>
              <a:t>Step 6: Computer Creates the Image</a:t>
            </a:r>
          </a:p>
          <a:p>
            <a:r>
              <a:rPr lang="en-IN" dirty="0"/>
              <a:t>Millions of pixels are combined to form the final image.</a:t>
            </a:r>
          </a:p>
          <a:p>
            <a:pPr marL="0" indent="0">
              <a:buNone/>
            </a:pPr>
            <a:endParaRPr lang="en-IN" dirty="0"/>
          </a:p>
          <a:p>
            <a:pPr marL="0" indent="0">
              <a:buNone/>
            </a:pPr>
            <a:r>
              <a:rPr lang="en-IN" dirty="0"/>
              <a:t> Components of a Monocular Imaging System</a:t>
            </a:r>
          </a:p>
          <a:p>
            <a:pPr marL="0" indent="0">
              <a:buNone/>
            </a:pPr>
            <a:r>
              <a:rPr lang="en-IN" b="1" dirty="0"/>
              <a:t>A) Lens</a:t>
            </a:r>
          </a:p>
          <a:p>
            <a:r>
              <a:rPr lang="en-IN" dirty="0"/>
              <a:t>The lens collects and focuses light.</a:t>
            </a:r>
          </a:p>
          <a:p>
            <a:r>
              <a:rPr lang="en-IN" b="1" dirty="0"/>
              <a:t>Example</a:t>
            </a:r>
          </a:p>
          <a:p>
            <a:r>
              <a:rPr lang="en-IN" dirty="0"/>
              <a:t>Like spectacles help your eyes focus, the camera lens focuses light onto the sensor.</a:t>
            </a:r>
          </a:p>
          <a:p>
            <a:pPr marL="0" indent="0">
              <a:buNone/>
            </a:pPr>
            <a:endParaRPr lang="en-IN" dirty="0"/>
          </a:p>
          <a:p>
            <a:endParaRPr lang="en-IN" dirty="0"/>
          </a:p>
        </p:txBody>
      </p:sp>
    </p:spTree>
    <p:extLst>
      <p:ext uri="{BB962C8B-B14F-4D97-AF65-F5344CB8AC3E}">
        <p14:creationId xmlns:p14="http://schemas.microsoft.com/office/powerpoint/2010/main" val="7492516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4E2F8-E7BD-9B08-DB6A-F893053EF511}"/>
              </a:ext>
            </a:extLst>
          </p:cNvPr>
          <p:cNvSpPr>
            <a:spLocks noGrp="1"/>
          </p:cNvSpPr>
          <p:nvPr>
            <p:ph idx="1"/>
          </p:nvPr>
        </p:nvSpPr>
        <p:spPr>
          <a:xfrm>
            <a:off x="838200" y="342900"/>
            <a:ext cx="10515600" cy="6207369"/>
          </a:xfrm>
        </p:spPr>
        <p:txBody>
          <a:bodyPr>
            <a:normAutofit/>
          </a:bodyPr>
          <a:lstStyle/>
          <a:p>
            <a:pPr marL="0" indent="0">
              <a:buNone/>
            </a:pPr>
            <a:r>
              <a:rPr lang="en-IN" b="1" dirty="0"/>
              <a:t>B) Aperture</a:t>
            </a:r>
          </a:p>
          <a:p>
            <a:r>
              <a:rPr lang="en-IN" dirty="0"/>
              <a:t>The aperture controls how much light enters.</a:t>
            </a:r>
          </a:p>
          <a:p>
            <a:r>
              <a:rPr lang="en-IN" b="1" dirty="0"/>
              <a:t>Example</a:t>
            </a:r>
          </a:p>
          <a:p>
            <a:r>
              <a:rPr lang="en-IN" dirty="0"/>
              <a:t>Bright day → small aperture </a:t>
            </a:r>
          </a:p>
          <a:p>
            <a:r>
              <a:rPr lang="en-IN" dirty="0"/>
              <a:t>Dark room → large aperture </a:t>
            </a:r>
          </a:p>
          <a:p>
            <a:r>
              <a:rPr lang="en-IN" dirty="0"/>
              <a:t>It works like the pupil of the human eye.</a:t>
            </a:r>
          </a:p>
          <a:p>
            <a:pPr marL="0" indent="0">
              <a:buNone/>
            </a:pPr>
            <a:r>
              <a:rPr lang="en-IN" b="1" dirty="0"/>
              <a:t>C) Image Sensor</a:t>
            </a:r>
          </a:p>
          <a:p>
            <a:r>
              <a:rPr lang="en-IN" dirty="0"/>
              <a:t>The sensor captures light.</a:t>
            </a:r>
          </a:p>
          <a:p>
            <a:r>
              <a:rPr lang="en-IN" dirty="0"/>
              <a:t>Common types:</a:t>
            </a:r>
          </a:p>
          <a:p>
            <a:r>
              <a:rPr lang="en-IN" dirty="0"/>
              <a:t>CCD </a:t>
            </a:r>
          </a:p>
          <a:p>
            <a:r>
              <a:rPr lang="en-IN" dirty="0"/>
              <a:t>CMOS </a:t>
            </a:r>
          </a:p>
          <a:p>
            <a:r>
              <a:rPr lang="en-IN" dirty="0"/>
              <a:t>Every smartphone camera contains a CMOS sensor.</a:t>
            </a:r>
          </a:p>
          <a:p>
            <a:endParaRPr lang="en-IN" dirty="0"/>
          </a:p>
          <a:p>
            <a:endParaRPr lang="en-IN" dirty="0"/>
          </a:p>
        </p:txBody>
      </p:sp>
    </p:spTree>
    <p:extLst>
      <p:ext uri="{BB962C8B-B14F-4D97-AF65-F5344CB8AC3E}">
        <p14:creationId xmlns:p14="http://schemas.microsoft.com/office/powerpoint/2010/main" val="41275978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020A6-07EA-9120-276F-034B101644E8}"/>
              </a:ext>
            </a:extLst>
          </p:cNvPr>
          <p:cNvSpPr>
            <a:spLocks noGrp="1"/>
          </p:cNvSpPr>
          <p:nvPr>
            <p:ph idx="1"/>
          </p:nvPr>
        </p:nvSpPr>
        <p:spPr>
          <a:xfrm>
            <a:off x="838200" y="307731"/>
            <a:ext cx="10515600" cy="5869232"/>
          </a:xfrm>
        </p:spPr>
        <p:txBody>
          <a:bodyPr/>
          <a:lstStyle/>
          <a:p>
            <a:pPr marL="0" indent="0">
              <a:buNone/>
            </a:pPr>
            <a:r>
              <a:rPr lang="en-IN" b="1" dirty="0"/>
              <a:t>D) Processor</a:t>
            </a:r>
          </a:p>
          <a:p>
            <a:r>
              <a:rPr lang="en-IN" dirty="0"/>
              <a:t>The processor converts sensor data into a digital image.</a:t>
            </a:r>
          </a:p>
          <a:p>
            <a:endParaRPr lang="en-IN" dirty="0"/>
          </a:p>
          <a:p>
            <a:r>
              <a:rPr lang="en-IN" dirty="0"/>
              <a:t>Monocular Camera Sees a 3D World</a:t>
            </a:r>
          </a:p>
          <a:p>
            <a:r>
              <a:rPr lang="en-IN" dirty="0"/>
              <a:t>The real world has:</a:t>
            </a:r>
          </a:p>
          <a:p>
            <a:pPr marL="457200" lvl="1" indent="0">
              <a:buNone/>
            </a:pPr>
            <a:r>
              <a:rPr lang="en-IN" dirty="0"/>
              <a:t>Width (X) </a:t>
            </a:r>
          </a:p>
          <a:p>
            <a:pPr marL="457200" lvl="1" indent="0">
              <a:buNone/>
            </a:pPr>
            <a:r>
              <a:rPr lang="en-IN" dirty="0"/>
              <a:t>Height (Y) </a:t>
            </a:r>
          </a:p>
          <a:p>
            <a:pPr marL="457200" lvl="1" indent="0">
              <a:buNone/>
            </a:pPr>
            <a:r>
              <a:rPr lang="en-IN" dirty="0"/>
              <a:t>Depth (Z)</a:t>
            </a:r>
          </a:p>
          <a:p>
            <a:pPr marL="0" indent="0">
              <a:buNone/>
            </a:pPr>
            <a:r>
              <a:rPr lang="en-IN" dirty="0"/>
              <a:t>3D World</a:t>
            </a:r>
          </a:p>
          <a:p>
            <a:pPr marL="0" indent="0">
              <a:buNone/>
            </a:pPr>
            <a:r>
              <a:rPr lang="en-IN" dirty="0"/>
              <a:t>(X, Y, Z)</a:t>
            </a:r>
          </a:p>
          <a:p>
            <a:endParaRPr lang="en-IN" dirty="0"/>
          </a:p>
        </p:txBody>
      </p:sp>
    </p:spTree>
    <p:extLst>
      <p:ext uri="{BB962C8B-B14F-4D97-AF65-F5344CB8AC3E}">
        <p14:creationId xmlns:p14="http://schemas.microsoft.com/office/powerpoint/2010/main" val="31228918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A6A2D-F9E2-4189-1461-26977EF37431}"/>
              </a:ext>
            </a:extLst>
          </p:cNvPr>
          <p:cNvSpPr>
            <a:spLocks noGrp="1"/>
          </p:cNvSpPr>
          <p:nvPr>
            <p:ph idx="1"/>
          </p:nvPr>
        </p:nvSpPr>
        <p:spPr>
          <a:xfrm>
            <a:off x="838200" y="167054"/>
            <a:ext cx="10515600" cy="6009909"/>
          </a:xfrm>
        </p:spPr>
        <p:txBody>
          <a:bodyPr/>
          <a:lstStyle/>
          <a:p>
            <a:r>
              <a:rPr lang="en-IN" dirty="0"/>
              <a:t>But the image has only:</a:t>
            </a:r>
          </a:p>
          <a:p>
            <a:pPr marL="457200" lvl="1" indent="0">
              <a:buNone/>
            </a:pPr>
            <a:r>
              <a:rPr lang="en-IN" dirty="0"/>
              <a:t>Width </a:t>
            </a:r>
          </a:p>
          <a:p>
            <a:pPr marL="457200" lvl="1" indent="0">
              <a:buNone/>
            </a:pPr>
            <a:r>
              <a:rPr lang="en-IN" dirty="0"/>
              <a:t>Height</a:t>
            </a:r>
          </a:p>
          <a:p>
            <a:pPr marL="0" indent="0">
              <a:buNone/>
            </a:pPr>
            <a:r>
              <a:rPr lang="en-IN" dirty="0"/>
              <a:t>Therefore:</a:t>
            </a:r>
          </a:p>
          <a:p>
            <a:pPr marL="0" indent="0">
              <a:buNone/>
            </a:pPr>
            <a:r>
              <a:rPr lang="en-IN" dirty="0"/>
              <a:t>	3D → 2D</a:t>
            </a:r>
          </a:p>
          <a:p>
            <a:pPr marL="0" indent="0">
              <a:buNone/>
            </a:pPr>
            <a:r>
              <a:rPr lang="en-IN" dirty="0"/>
              <a:t>This conversion is called </a:t>
            </a:r>
            <a:r>
              <a:rPr lang="en-IN" b="1" dirty="0"/>
              <a:t>projection</a:t>
            </a:r>
            <a:r>
              <a:rPr lang="en-IN" dirty="0"/>
              <a:t>.</a:t>
            </a:r>
          </a:p>
          <a:p>
            <a:pPr marL="0" indent="0">
              <a:buNone/>
            </a:pPr>
            <a:endParaRPr lang="en-IN" dirty="0"/>
          </a:p>
          <a:p>
            <a:pPr marL="0" indent="0">
              <a:buNone/>
            </a:pPr>
            <a:r>
              <a:rPr lang="en-IN" dirty="0"/>
              <a:t>Perspective Projection</a:t>
            </a:r>
          </a:p>
          <a:p>
            <a:r>
              <a:rPr lang="en-IN" dirty="0"/>
              <a:t>Imagine two identical cars.</a:t>
            </a:r>
          </a:p>
          <a:p>
            <a:r>
              <a:rPr lang="en-IN" dirty="0"/>
              <a:t>Car A = 5 meters away</a:t>
            </a:r>
          </a:p>
          <a:p>
            <a:r>
              <a:rPr lang="en-IN" dirty="0"/>
              <a:t> Car B = 50 meters away</a:t>
            </a:r>
          </a:p>
          <a:p>
            <a:pPr marL="457200" lvl="1" indent="0">
              <a:buNone/>
            </a:pPr>
            <a:endParaRPr lang="en-IN" dirty="0"/>
          </a:p>
          <a:p>
            <a:endParaRPr lang="en-IN" dirty="0"/>
          </a:p>
        </p:txBody>
      </p:sp>
    </p:spTree>
    <p:extLst>
      <p:ext uri="{BB962C8B-B14F-4D97-AF65-F5344CB8AC3E}">
        <p14:creationId xmlns:p14="http://schemas.microsoft.com/office/powerpoint/2010/main" val="1937394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FE4882-104E-F878-CB30-B95E76A082E2}"/>
              </a:ext>
            </a:extLst>
          </p:cNvPr>
          <p:cNvSpPr>
            <a:spLocks noGrp="1"/>
          </p:cNvSpPr>
          <p:nvPr>
            <p:ph idx="1"/>
          </p:nvPr>
        </p:nvSpPr>
        <p:spPr>
          <a:xfrm>
            <a:off x="838200" y="474785"/>
            <a:ext cx="10515600" cy="5702178"/>
          </a:xfrm>
        </p:spPr>
        <p:txBody>
          <a:bodyPr/>
          <a:lstStyle/>
          <a:p>
            <a:r>
              <a:rPr lang="en-IN" dirty="0"/>
              <a:t>In reality:</a:t>
            </a:r>
          </a:p>
          <a:p>
            <a:r>
              <a:rPr lang="en-IN" dirty="0"/>
              <a:t>Both cars are the same size.</a:t>
            </a:r>
          </a:p>
          <a:p>
            <a:r>
              <a:rPr lang="en-IN" dirty="0"/>
              <a:t>In the image:</a:t>
            </a:r>
          </a:p>
          <a:p>
            <a:r>
              <a:rPr lang="en-IN" dirty="0"/>
              <a:t>Car A looks large </a:t>
            </a:r>
          </a:p>
          <a:p>
            <a:r>
              <a:rPr lang="en-IN" dirty="0"/>
              <a:t>Car B looks small</a:t>
            </a:r>
          </a:p>
          <a:p>
            <a:r>
              <a:rPr lang="en-IN" dirty="0"/>
              <a:t>Why?</a:t>
            </a:r>
          </a:p>
          <a:p>
            <a:r>
              <a:rPr lang="en-IN" dirty="0"/>
              <a:t>Because of </a:t>
            </a:r>
            <a:r>
              <a:rPr lang="en-IN" b="1" dirty="0"/>
              <a:t>perspective projection</a:t>
            </a:r>
            <a:r>
              <a:rPr lang="en-IN" dirty="0"/>
              <a:t>.</a:t>
            </a:r>
          </a:p>
          <a:p>
            <a:r>
              <a:rPr lang="en-IN" b="1" dirty="0"/>
              <a:t>Easy Rule</a:t>
            </a:r>
          </a:p>
          <a:p>
            <a:r>
              <a:rPr lang="en-IN" b="1" dirty="0"/>
              <a:t>Near objects appear bigger.</a:t>
            </a:r>
            <a:endParaRPr lang="en-IN" dirty="0"/>
          </a:p>
          <a:p>
            <a:r>
              <a:rPr lang="en-IN" b="1" dirty="0"/>
              <a:t>Far objects appear smaller.</a:t>
            </a:r>
            <a:endParaRPr lang="en-IN" dirty="0"/>
          </a:p>
          <a:p>
            <a:endParaRPr lang="en-IN" dirty="0"/>
          </a:p>
          <a:p>
            <a:endParaRPr lang="en-IN" dirty="0"/>
          </a:p>
        </p:txBody>
      </p:sp>
    </p:spTree>
    <p:extLst>
      <p:ext uri="{BB962C8B-B14F-4D97-AF65-F5344CB8AC3E}">
        <p14:creationId xmlns:p14="http://schemas.microsoft.com/office/powerpoint/2010/main" val="8567840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C8E9-FD75-7B0B-F0C2-1DCBDC67246F}"/>
              </a:ext>
            </a:extLst>
          </p:cNvPr>
          <p:cNvSpPr>
            <a:spLocks noGrp="1"/>
          </p:cNvSpPr>
          <p:nvPr>
            <p:ph type="title"/>
          </p:nvPr>
        </p:nvSpPr>
        <p:spPr/>
        <p:txBody>
          <a:bodyPr/>
          <a:lstStyle/>
          <a:p>
            <a:r>
              <a:rPr lang="en-IN" dirty="0"/>
              <a:t>Radiosity: The "Physics" of Image Formation</a:t>
            </a:r>
          </a:p>
        </p:txBody>
      </p:sp>
      <p:sp>
        <p:nvSpPr>
          <p:cNvPr id="3" name="Content Placeholder 2">
            <a:extLst>
              <a:ext uri="{FF2B5EF4-FFF2-40B4-BE49-F238E27FC236}">
                <a16:creationId xmlns:a16="http://schemas.microsoft.com/office/drawing/2014/main" id="{61651443-922D-3DE7-BC7A-5EC936C31F36}"/>
              </a:ext>
            </a:extLst>
          </p:cNvPr>
          <p:cNvSpPr>
            <a:spLocks noGrp="1"/>
          </p:cNvSpPr>
          <p:nvPr>
            <p:ph idx="1"/>
          </p:nvPr>
        </p:nvSpPr>
        <p:spPr/>
        <p:txBody>
          <a:bodyPr/>
          <a:lstStyle/>
          <a:p>
            <a:r>
              <a:rPr lang="en-IN" dirty="0"/>
              <a:t>Radiosity is one of the concepts used to explain </a:t>
            </a:r>
            <a:r>
              <a:rPr lang="en-IN" b="1" dirty="0"/>
              <a:t>how light interacts with objects before an image is formed</a:t>
            </a:r>
            <a:r>
              <a:rPr lang="en-IN" dirty="0"/>
              <a:t>.</a:t>
            </a:r>
          </a:p>
          <a:p>
            <a:r>
              <a:rPr lang="en-IN" dirty="0"/>
              <a:t>In simple words:</a:t>
            </a:r>
          </a:p>
          <a:p>
            <a:r>
              <a:rPr lang="en-IN" b="1" dirty="0"/>
              <a:t>Radiosity is the total amount of light leaving a surface after it receives light.</a:t>
            </a:r>
            <a:endParaRPr lang="en-IN" dirty="0"/>
          </a:p>
          <a:p>
            <a:r>
              <a:rPr lang="en-IN" dirty="0"/>
              <a:t>It helps us understand why objects appear bright, dark, or </a:t>
            </a:r>
            <a:r>
              <a:rPr lang="en-IN" dirty="0" err="1"/>
              <a:t>colored</a:t>
            </a:r>
            <a:r>
              <a:rPr lang="en-IN" dirty="0"/>
              <a:t> in an image.</a:t>
            </a:r>
          </a:p>
        </p:txBody>
      </p:sp>
    </p:spTree>
    <p:extLst>
      <p:ext uri="{BB962C8B-B14F-4D97-AF65-F5344CB8AC3E}">
        <p14:creationId xmlns:p14="http://schemas.microsoft.com/office/powerpoint/2010/main" val="24390855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DF89E-3D36-E4D2-9E82-B7BE6D494F61}"/>
              </a:ext>
            </a:extLst>
          </p:cNvPr>
          <p:cNvSpPr>
            <a:spLocks noGrp="1"/>
          </p:cNvSpPr>
          <p:nvPr>
            <p:ph type="title"/>
          </p:nvPr>
        </p:nvSpPr>
        <p:spPr/>
        <p:txBody>
          <a:bodyPr/>
          <a:lstStyle/>
          <a:p>
            <a:r>
              <a:rPr lang="en-IN" dirty="0"/>
              <a:t>Why Do We Need Radiosity?</a:t>
            </a:r>
          </a:p>
        </p:txBody>
      </p:sp>
      <p:sp>
        <p:nvSpPr>
          <p:cNvPr id="3" name="Content Placeholder 2">
            <a:extLst>
              <a:ext uri="{FF2B5EF4-FFF2-40B4-BE49-F238E27FC236}">
                <a16:creationId xmlns:a16="http://schemas.microsoft.com/office/drawing/2014/main" id="{BEDD2B61-732F-B79F-3DCA-DB08196E58D3}"/>
              </a:ext>
            </a:extLst>
          </p:cNvPr>
          <p:cNvSpPr>
            <a:spLocks noGrp="1"/>
          </p:cNvSpPr>
          <p:nvPr>
            <p:ph idx="1"/>
          </p:nvPr>
        </p:nvSpPr>
        <p:spPr/>
        <p:txBody>
          <a:bodyPr>
            <a:normAutofit fontScale="92500"/>
          </a:bodyPr>
          <a:lstStyle/>
          <a:p>
            <a:r>
              <a:rPr lang="en-IN" dirty="0"/>
              <a:t>Imagine you take a photo of a room</a:t>
            </a:r>
          </a:p>
          <a:p>
            <a:r>
              <a:rPr lang="en-IN" dirty="0"/>
              <a:t>he camera does not see the objects directly.</a:t>
            </a:r>
          </a:p>
          <a:p>
            <a:r>
              <a:rPr lang="en-IN" dirty="0"/>
              <a:t>Instead:</a:t>
            </a:r>
          </a:p>
          <a:p>
            <a:r>
              <a:rPr lang="en-IN" dirty="0"/>
              <a:t>A light source (Sun, bulb) emits light. </a:t>
            </a:r>
          </a:p>
          <a:p>
            <a:r>
              <a:rPr lang="en-IN" dirty="0"/>
              <a:t>Light falls on objects. </a:t>
            </a:r>
          </a:p>
          <a:p>
            <a:r>
              <a:rPr lang="en-IN" dirty="0"/>
              <a:t>Objects reflect light. </a:t>
            </a:r>
          </a:p>
          <a:p>
            <a:r>
              <a:rPr lang="en-IN" dirty="0"/>
              <a:t>Reflected light reaches the camera. </a:t>
            </a:r>
          </a:p>
          <a:p>
            <a:r>
              <a:rPr lang="en-IN" dirty="0"/>
              <a:t>The camera forms an image.</a:t>
            </a:r>
          </a:p>
          <a:p>
            <a:r>
              <a:rPr lang="en-IN" dirty="0"/>
              <a:t>Radiosity </a:t>
            </a:r>
            <a:r>
              <a:rPr lang="en-IN"/>
              <a:t>describes how </a:t>
            </a:r>
            <a:r>
              <a:rPr lang="en-IN" dirty="0"/>
              <a:t>much light leaves the object after reflection.</a:t>
            </a:r>
          </a:p>
          <a:p>
            <a:endParaRPr lang="en-IN" dirty="0"/>
          </a:p>
        </p:txBody>
      </p:sp>
    </p:spTree>
    <p:extLst>
      <p:ext uri="{BB962C8B-B14F-4D97-AF65-F5344CB8AC3E}">
        <p14:creationId xmlns:p14="http://schemas.microsoft.com/office/powerpoint/2010/main" val="30421681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F9ADD-9681-4381-345B-25C0B218BEAA}"/>
              </a:ext>
            </a:extLst>
          </p:cNvPr>
          <p:cNvSpPr>
            <a:spLocks noGrp="1"/>
          </p:cNvSpPr>
          <p:nvPr>
            <p:ph idx="1"/>
          </p:nvPr>
        </p:nvSpPr>
        <p:spPr>
          <a:xfrm>
            <a:off x="838200" y="202223"/>
            <a:ext cx="10515600" cy="5974740"/>
          </a:xfrm>
        </p:spPr>
        <p:txBody>
          <a:bodyPr/>
          <a:lstStyle/>
          <a:p>
            <a:r>
              <a:rPr lang="en-IN" dirty="0"/>
              <a:t>Suppose a lamp shines on a white wall.</a:t>
            </a:r>
          </a:p>
          <a:p>
            <a:pPr marL="0" indent="0">
              <a:buNone/>
            </a:pPr>
            <a:r>
              <a:rPr lang="en-US" dirty="0"/>
              <a:t>Lamp</a:t>
            </a:r>
          </a:p>
          <a:p>
            <a:pPr marL="0" indent="0">
              <a:buNone/>
            </a:pPr>
            <a:r>
              <a:rPr lang="en-US" dirty="0"/>
              <a:t>  ↓</a:t>
            </a:r>
          </a:p>
          <a:p>
            <a:pPr marL="0" indent="0">
              <a:buNone/>
            </a:pPr>
            <a:r>
              <a:rPr lang="en-US" dirty="0"/>
              <a:t>White Wall</a:t>
            </a:r>
          </a:p>
          <a:p>
            <a:pPr marL="0" indent="0">
              <a:buNone/>
            </a:pPr>
            <a:r>
              <a:rPr lang="en-US" dirty="0"/>
              <a:t>  ↓</a:t>
            </a:r>
          </a:p>
          <a:p>
            <a:pPr marL="0" indent="0">
              <a:buNone/>
            </a:pPr>
            <a:r>
              <a:rPr lang="en-US" dirty="0"/>
              <a:t>Light reflected in all directions</a:t>
            </a:r>
          </a:p>
          <a:p>
            <a:r>
              <a:rPr lang="en-IN" dirty="0"/>
              <a:t>The wall receives light and reflects most of it.</a:t>
            </a:r>
          </a:p>
          <a:p>
            <a:r>
              <a:rPr lang="en-IN" dirty="0"/>
              <a:t>The total reflected light leaving the wall is called </a:t>
            </a:r>
            <a:r>
              <a:rPr lang="en-IN" b="1" dirty="0"/>
              <a:t>radiosity</a:t>
            </a:r>
            <a:r>
              <a:rPr lang="en-IN" dirty="0"/>
              <a:t>.</a:t>
            </a:r>
          </a:p>
          <a:p>
            <a:pPr marL="0" indent="0">
              <a:buNone/>
            </a:pPr>
            <a:r>
              <a:rPr lang="en-IN" dirty="0"/>
              <a:t>In simple words, it is the </a:t>
            </a:r>
            <a:r>
              <a:rPr lang="en-IN" b="1" dirty="0"/>
              <a:t>total brightness</a:t>
            </a:r>
            <a:r>
              <a:rPr lang="en-IN" dirty="0"/>
              <a:t> coming off a surface that your eyes can see.</a:t>
            </a:r>
          </a:p>
        </p:txBody>
      </p:sp>
    </p:spTree>
    <p:extLst>
      <p:ext uri="{BB962C8B-B14F-4D97-AF65-F5344CB8AC3E}">
        <p14:creationId xmlns:p14="http://schemas.microsoft.com/office/powerpoint/2010/main" val="20739001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9C77D6-9EA0-091F-F172-C8CF7BFA5AC7}"/>
              </a:ext>
            </a:extLst>
          </p:cNvPr>
          <p:cNvSpPr>
            <a:spLocks noGrp="1"/>
          </p:cNvSpPr>
          <p:nvPr>
            <p:ph idx="1"/>
          </p:nvPr>
        </p:nvSpPr>
        <p:spPr>
          <a:xfrm>
            <a:off x="838200" y="298938"/>
            <a:ext cx="10515600" cy="6383216"/>
          </a:xfrm>
        </p:spPr>
        <p:txBody>
          <a:bodyPr>
            <a:normAutofit fontScale="92500" lnSpcReduction="10000"/>
          </a:bodyPr>
          <a:lstStyle/>
          <a:p>
            <a:r>
              <a:rPr lang="en-IN" dirty="0"/>
              <a:t>Suppose the same bulb shines on two walls.</a:t>
            </a:r>
          </a:p>
          <a:p>
            <a:r>
              <a:rPr lang="en-IN" b="1" dirty="0"/>
              <a:t>White Wall</a:t>
            </a:r>
          </a:p>
          <a:p>
            <a:r>
              <a:rPr lang="en-IN" dirty="0"/>
              <a:t>Receives 100 units of light. </a:t>
            </a:r>
          </a:p>
          <a:p>
            <a:r>
              <a:rPr lang="en-IN" dirty="0"/>
              <a:t>Reflects 90 units.</a:t>
            </a:r>
          </a:p>
          <a:p>
            <a:r>
              <a:rPr lang="en-IN" dirty="0"/>
              <a:t>High radiosity.</a:t>
            </a:r>
          </a:p>
          <a:p>
            <a:r>
              <a:rPr lang="en-IN" dirty="0"/>
              <a:t>Therefore:</a:t>
            </a:r>
          </a:p>
          <a:p>
            <a:r>
              <a:rPr lang="en-IN" dirty="0"/>
              <a:t>Wall appears bright.</a:t>
            </a:r>
          </a:p>
          <a:p>
            <a:endParaRPr lang="en-IN" dirty="0"/>
          </a:p>
          <a:p>
            <a:r>
              <a:rPr lang="en-IN" b="1" dirty="0"/>
              <a:t>Black Wall</a:t>
            </a:r>
          </a:p>
          <a:p>
            <a:r>
              <a:rPr lang="en-IN" dirty="0"/>
              <a:t>Receives 100 units of light. </a:t>
            </a:r>
          </a:p>
          <a:p>
            <a:r>
              <a:rPr lang="en-IN" dirty="0"/>
              <a:t>Reflects only 10 units.</a:t>
            </a:r>
          </a:p>
          <a:p>
            <a:r>
              <a:rPr lang="en-IN" dirty="0"/>
              <a:t>Low radiosity.</a:t>
            </a:r>
          </a:p>
          <a:p>
            <a:r>
              <a:rPr lang="en-IN" dirty="0"/>
              <a:t>Therefore:</a:t>
            </a:r>
          </a:p>
          <a:p>
            <a:r>
              <a:rPr lang="en-IN" dirty="0"/>
              <a:t>Wall appears dark.</a:t>
            </a:r>
          </a:p>
          <a:p>
            <a:endParaRPr lang="en-IN" dirty="0"/>
          </a:p>
          <a:p>
            <a:endParaRPr lang="en-IN" dirty="0"/>
          </a:p>
        </p:txBody>
      </p:sp>
    </p:spTree>
    <p:extLst>
      <p:ext uri="{BB962C8B-B14F-4D97-AF65-F5344CB8AC3E}">
        <p14:creationId xmlns:p14="http://schemas.microsoft.com/office/powerpoint/2010/main" val="14307884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ED2AB-7FBA-E436-5916-EB3AB59C843F}"/>
              </a:ext>
            </a:extLst>
          </p:cNvPr>
          <p:cNvSpPr>
            <a:spLocks noGrp="1"/>
          </p:cNvSpPr>
          <p:nvPr>
            <p:ph idx="1"/>
          </p:nvPr>
        </p:nvSpPr>
        <p:spPr>
          <a:xfrm>
            <a:off x="838200" y="325316"/>
            <a:ext cx="10515600" cy="5851648"/>
          </a:xfrm>
        </p:spPr>
        <p:txBody>
          <a:bodyPr>
            <a:normAutofit lnSpcReduction="10000"/>
          </a:bodyPr>
          <a:lstStyle/>
          <a:p>
            <a:r>
              <a:rPr lang="en-IN" dirty="0"/>
              <a:t>Sunlight falls on a red apple.</a:t>
            </a:r>
          </a:p>
          <a:p>
            <a:r>
              <a:rPr lang="en-IN" dirty="0"/>
              <a:t>Sunlight contains:</a:t>
            </a:r>
          </a:p>
          <a:p>
            <a:r>
              <a:rPr lang="en-IN" dirty="0"/>
              <a:t>Red light </a:t>
            </a:r>
          </a:p>
          <a:p>
            <a:r>
              <a:rPr lang="en-IN" dirty="0"/>
              <a:t>Green light </a:t>
            </a:r>
          </a:p>
          <a:p>
            <a:r>
              <a:rPr lang="en-IN" dirty="0"/>
              <a:t>Blue light </a:t>
            </a:r>
          </a:p>
          <a:p>
            <a:r>
              <a:rPr lang="en-IN" dirty="0"/>
              <a:t>The apple:</a:t>
            </a:r>
          </a:p>
          <a:p>
            <a:r>
              <a:rPr lang="en-IN" dirty="0"/>
              <a:t>Reflects most red light. </a:t>
            </a:r>
          </a:p>
          <a:p>
            <a:r>
              <a:rPr lang="en-IN" dirty="0"/>
              <a:t>Absorbs much of the green and blue light.</a:t>
            </a:r>
          </a:p>
          <a:p>
            <a:pPr marL="457200" lvl="1" indent="0">
              <a:buNone/>
            </a:pPr>
            <a:r>
              <a:rPr lang="en-US" dirty="0"/>
              <a:t>Sunlight</a:t>
            </a:r>
          </a:p>
          <a:p>
            <a:pPr marL="457200" lvl="1" indent="0">
              <a:buNone/>
            </a:pPr>
            <a:r>
              <a:rPr lang="en-US" dirty="0"/>
              <a:t>    ↓</a:t>
            </a:r>
          </a:p>
          <a:p>
            <a:pPr marL="457200" lvl="1" indent="0">
              <a:buNone/>
            </a:pPr>
            <a:r>
              <a:rPr lang="en-US" dirty="0"/>
              <a:t> Red Apple</a:t>
            </a:r>
          </a:p>
          <a:p>
            <a:pPr marL="457200" lvl="1" indent="0">
              <a:buNone/>
            </a:pPr>
            <a:r>
              <a:rPr lang="en-US" dirty="0"/>
              <a:t>    ↓</a:t>
            </a:r>
          </a:p>
          <a:p>
            <a:pPr marL="457200" lvl="1" indent="0">
              <a:buNone/>
            </a:pPr>
            <a:r>
              <a:rPr lang="en-US" dirty="0"/>
              <a:t> Mostly Red Light</a:t>
            </a:r>
            <a:endParaRPr lang="en-IN" dirty="0"/>
          </a:p>
        </p:txBody>
      </p:sp>
    </p:spTree>
    <p:extLst>
      <p:ext uri="{BB962C8B-B14F-4D97-AF65-F5344CB8AC3E}">
        <p14:creationId xmlns:p14="http://schemas.microsoft.com/office/powerpoint/2010/main" val="877099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C3EAB-125B-E877-9441-F30ADCEDC2D7}"/>
              </a:ext>
            </a:extLst>
          </p:cNvPr>
          <p:cNvSpPr>
            <a:spLocks noGrp="1"/>
          </p:cNvSpPr>
          <p:nvPr>
            <p:ph idx="1"/>
          </p:nvPr>
        </p:nvSpPr>
        <p:spPr>
          <a:xfrm>
            <a:off x="838200" y="360486"/>
            <a:ext cx="10515600" cy="5816478"/>
          </a:xfrm>
        </p:spPr>
        <p:txBody>
          <a:bodyPr>
            <a:normAutofit lnSpcReduction="10000"/>
          </a:bodyPr>
          <a:lstStyle/>
          <a:p>
            <a:r>
              <a:rPr lang="en-IN" dirty="0"/>
              <a:t>The reflected light leaving the apple contributes to its radiosity.</a:t>
            </a:r>
          </a:p>
          <a:p>
            <a:r>
              <a:rPr lang="en-IN" dirty="0"/>
              <a:t>That is why the camera sees the apple as red.</a:t>
            </a:r>
          </a:p>
          <a:p>
            <a:pPr marL="0" indent="0">
              <a:buNone/>
            </a:pPr>
            <a:endParaRPr lang="en-IN" dirty="0"/>
          </a:p>
          <a:p>
            <a:pPr marL="0" indent="0">
              <a:buNone/>
            </a:pPr>
            <a:r>
              <a:rPr lang="en-IN" dirty="0"/>
              <a:t>Radiosity in Image Formation</a:t>
            </a:r>
          </a:p>
          <a:p>
            <a:r>
              <a:rPr lang="en-IN" dirty="0"/>
              <a:t>Image formation process:</a:t>
            </a:r>
          </a:p>
          <a:p>
            <a:pPr marL="457200" lvl="1" indent="0">
              <a:buNone/>
            </a:pPr>
            <a:r>
              <a:rPr lang="en-US" dirty="0"/>
              <a:t>Light Source</a:t>
            </a:r>
          </a:p>
          <a:p>
            <a:pPr marL="457200" lvl="1" indent="0">
              <a:buNone/>
            </a:pPr>
            <a:r>
              <a:rPr lang="en-US" dirty="0"/>
              <a:t>      ↓</a:t>
            </a:r>
          </a:p>
          <a:p>
            <a:pPr marL="457200" lvl="1" indent="0">
              <a:buNone/>
            </a:pPr>
            <a:r>
              <a:rPr lang="en-US" dirty="0"/>
              <a:t>Object Surface</a:t>
            </a:r>
          </a:p>
          <a:p>
            <a:pPr marL="457200" lvl="1" indent="0">
              <a:buNone/>
            </a:pPr>
            <a:r>
              <a:rPr lang="en-US" dirty="0"/>
              <a:t>      ↓</a:t>
            </a:r>
          </a:p>
          <a:p>
            <a:pPr marL="457200" lvl="1" indent="0">
              <a:buNone/>
            </a:pPr>
            <a:r>
              <a:rPr lang="en-US" dirty="0"/>
              <a:t>Reflected Light (Radiosity)</a:t>
            </a:r>
          </a:p>
          <a:p>
            <a:pPr marL="457200" lvl="1" indent="0">
              <a:buNone/>
            </a:pPr>
            <a:r>
              <a:rPr lang="en-US" dirty="0"/>
              <a:t>      ↓</a:t>
            </a:r>
          </a:p>
          <a:p>
            <a:pPr marL="457200" lvl="1" indent="0">
              <a:buNone/>
            </a:pPr>
            <a:r>
              <a:rPr lang="en-US" dirty="0"/>
              <a:t>Camera</a:t>
            </a:r>
          </a:p>
          <a:p>
            <a:pPr marL="457200" lvl="1" indent="0">
              <a:buNone/>
            </a:pPr>
            <a:r>
              <a:rPr lang="en-US" dirty="0"/>
              <a:t>      ↓</a:t>
            </a:r>
          </a:p>
          <a:p>
            <a:pPr marL="457200" lvl="1" indent="0">
              <a:buNone/>
            </a:pPr>
            <a:r>
              <a:rPr lang="en-US" dirty="0"/>
              <a:t>Image</a:t>
            </a:r>
            <a:endParaRPr lang="en-IN" dirty="0"/>
          </a:p>
        </p:txBody>
      </p:sp>
    </p:spTree>
    <p:extLst>
      <p:ext uri="{BB962C8B-B14F-4D97-AF65-F5344CB8AC3E}">
        <p14:creationId xmlns:p14="http://schemas.microsoft.com/office/powerpoint/2010/main" val="29782816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137471-8543-D183-FB9B-D3870FCBD091}"/>
                  </a:ext>
                </a:extLst>
              </p:cNvPr>
              <p:cNvSpPr>
                <a:spLocks noGrp="1"/>
              </p:cNvSpPr>
              <p:nvPr>
                <p:ph idx="1"/>
              </p:nvPr>
            </p:nvSpPr>
            <p:spPr>
              <a:xfrm>
                <a:off x="838200" y="571500"/>
                <a:ext cx="10515600" cy="5605463"/>
              </a:xfrm>
            </p:spPr>
            <p:txBody>
              <a:bodyPr/>
              <a:lstStyle/>
              <a:p>
                <a:r>
                  <a:rPr lang="en-IN" dirty="0"/>
                  <a:t>Without reflected light, the camera would see nothing.</a:t>
                </a:r>
              </a:p>
              <a:p>
                <a:r>
                  <a:rPr lang="en-IN" dirty="0"/>
                  <a:t>Light illuminates an object, the object reflects the light, the camera captures the reflected light, and an image is formed.</a:t>
                </a:r>
              </a:p>
              <a:p>
                <a:pPr marL="0" indent="0">
                  <a:buNone/>
                </a:pPr>
                <a:endParaRPr lang="en-IN" dirty="0"/>
              </a:p>
              <a:p>
                <a:pPr marL="0" indent="0">
                  <a:buNone/>
                </a:pPr>
                <a:r>
                  <a:rPr lang="en-IN" dirty="0"/>
                  <a:t>Radiosity Equation:</a:t>
                </a:r>
              </a:p>
              <a:p>
                <a:pPr marL="0" indent="0">
                  <a:buNone/>
                </a:pPr>
                <a:r>
                  <a:rPr lang="en-IN" dirty="0"/>
                  <a:t>A simple radiosity equation is:</a:t>
                </a:r>
              </a:p>
              <a:p>
                <a:pPr marL="0" indent="0">
                  <a:buNone/>
                </a:pPr>
                <a:r>
                  <a:rPr lang="en-IN" dirty="0"/>
                  <a:t>B=</a:t>
                </a:r>
                <a:r>
                  <a:rPr lang="en-IN" dirty="0" err="1"/>
                  <a:t>ρE</a:t>
                </a:r>
                <a:endParaRPr lang="en-IN" dirty="0"/>
              </a:p>
              <a:p>
                <a:r>
                  <a:rPr lang="en-IN" dirty="0"/>
                  <a:t>where:</a:t>
                </a:r>
              </a:p>
              <a:p>
                <a14:m>
                  <m:oMath xmlns:m="http://schemas.openxmlformats.org/officeDocument/2006/math">
                    <m:r>
                      <a:rPr lang="en-IN" i="1">
                        <a:latin typeface="Cambria Math" panose="02040503050406030204" pitchFamily="18" charset="0"/>
                      </a:rPr>
                      <m:t>𝐵</m:t>
                    </m:r>
                  </m:oMath>
                </a14:m>
                <a:r>
                  <a:rPr lang="en-IN" dirty="0"/>
                  <a:t>= Radiosity </a:t>
                </a:r>
              </a:p>
              <a:p>
                <a14:m>
                  <m:oMath xmlns:m="http://schemas.openxmlformats.org/officeDocument/2006/math">
                    <m:r>
                      <a:rPr lang="en-IN" i="1">
                        <a:latin typeface="Cambria Math" panose="02040503050406030204" pitchFamily="18" charset="0"/>
                      </a:rPr>
                      <m:t>𝜌</m:t>
                    </m:r>
                  </m:oMath>
                </a14:m>
                <a:r>
                  <a:rPr lang="en-IN" dirty="0"/>
                  <a:t>= Reflectivity of surface </a:t>
                </a:r>
              </a:p>
              <a:p>
                <a14:m>
                  <m:oMath xmlns:m="http://schemas.openxmlformats.org/officeDocument/2006/math">
                    <m:r>
                      <a:rPr lang="en-IN" i="1">
                        <a:latin typeface="Cambria Math" panose="02040503050406030204" pitchFamily="18" charset="0"/>
                      </a:rPr>
                      <m:t>𝐸</m:t>
                    </m:r>
                  </m:oMath>
                </a14:m>
                <a:r>
                  <a:rPr lang="en-IN" dirty="0"/>
                  <a:t>= Irradiance (incoming light)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F0137471-8543-D183-FB9B-D3870FCBD091}"/>
                  </a:ext>
                </a:extLst>
              </p:cNvPr>
              <p:cNvSpPr>
                <a:spLocks noGrp="1" noRot="1" noChangeAspect="1" noMove="1" noResize="1" noEditPoints="1" noAdjustHandles="1" noChangeArrowheads="1" noChangeShapeType="1" noTextEdit="1"/>
              </p:cNvSpPr>
              <p:nvPr>
                <p:ph idx="1"/>
              </p:nvPr>
            </p:nvSpPr>
            <p:spPr>
              <a:xfrm>
                <a:off x="838200" y="571500"/>
                <a:ext cx="10515600" cy="5605463"/>
              </a:xfrm>
              <a:blipFill>
                <a:blip r:embed="rId2"/>
                <a:stretch>
                  <a:fillRect l="-1217" t="-1959" b="-544"/>
                </a:stretch>
              </a:blipFill>
            </p:spPr>
            <p:txBody>
              <a:bodyPr/>
              <a:lstStyle/>
              <a:p>
                <a:r>
                  <a:rPr lang="en-IN">
                    <a:noFill/>
                  </a:rPr>
                  <a:t> </a:t>
                </a:r>
              </a:p>
            </p:txBody>
          </p:sp>
        </mc:Fallback>
      </mc:AlternateContent>
    </p:spTree>
    <p:extLst>
      <p:ext uri="{BB962C8B-B14F-4D97-AF65-F5344CB8AC3E}">
        <p14:creationId xmlns:p14="http://schemas.microsoft.com/office/powerpoint/2010/main" val="19324050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E637D-2D60-4237-7623-FBC626D049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F5D4C2-733E-C4D2-8B19-6A903969087B}"/>
              </a:ext>
            </a:extLst>
          </p:cNvPr>
          <p:cNvSpPr>
            <a:spLocks noGrp="1"/>
          </p:cNvSpPr>
          <p:nvPr>
            <p:ph idx="1"/>
          </p:nvPr>
        </p:nvSpPr>
        <p:spPr/>
        <p:txBody>
          <a:bodyPr/>
          <a:lstStyle/>
          <a:p>
            <a:r>
              <a:rPr lang="en-IN" dirty="0"/>
              <a:t>Understanding Each Term</a:t>
            </a:r>
          </a:p>
          <a:p>
            <a:r>
              <a:rPr lang="en-IN" b="1" dirty="0"/>
              <a:t>1. Irradiance (E)</a:t>
            </a:r>
          </a:p>
          <a:p>
            <a:r>
              <a:rPr lang="en-IN" dirty="0"/>
              <a:t>Irradiance means:</a:t>
            </a:r>
          </a:p>
          <a:p>
            <a:r>
              <a:rPr lang="en-IN" dirty="0"/>
              <a:t>How much light falls on the surface.</a:t>
            </a:r>
          </a:p>
          <a:p>
            <a:r>
              <a:rPr lang="en-IN" b="1" dirty="0"/>
              <a:t>Example</a:t>
            </a:r>
          </a:p>
          <a:p>
            <a:r>
              <a:rPr lang="en-IN" dirty="0"/>
              <a:t>A lamp shines on a wall.</a:t>
            </a:r>
          </a:p>
          <a:p>
            <a:r>
              <a:rPr lang="en-IN" dirty="0"/>
              <a:t>E=100 </a:t>
            </a:r>
          </a:p>
          <a:p>
            <a:r>
              <a:rPr lang="en-IN" dirty="0"/>
              <a:t>This means 100 units of light arrive at the wall.</a:t>
            </a:r>
          </a:p>
          <a:p>
            <a:endParaRPr lang="en-IN" dirty="0"/>
          </a:p>
        </p:txBody>
      </p:sp>
    </p:spTree>
    <p:extLst>
      <p:ext uri="{BB962C8B-B14F-4D97-AF65-F5344CB8AC3E}">
        <p14:creationId xmlns:p14="http://schemas.microsoft.com/office/powerpoint/2010/main" val="36250732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71632-8FE9-E30A-7FBC-162F9069DA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CC6C4C-904E-5754-BB2F-A8EEE21227E8}"/>
              </a:ext>
            </a:extLst>
          </p:cNvPr>
          <p:cNvSpPr>
            <a:spLocks noGrp="1"/>
          </p:cNvSpPr>
          <p:nvPr>
            <p:ph idx="1"/>
          </p:nvPr>
        </p:nvSpPr>
        <p:spPr/>
        <p:txBody>
          <a:bodyPr/>
          <a:lstStyle/>
          <a:p>
            <a:r>
              <a:rPr lang="en-IN" dirty="0"/>
              <a:t>2. Reflectivity (ρ)</a:t>
            </a:r>
          </a:p>
          <a:p>
            <a:r>
              <a:rPr lang="en-IN" dirty="0"/>
              <a:t>Reflectivity tells us:</a:t>
            </a:r>
          </a:p>
          <a:p>
            <a:r>
              <a:rPr lang="en-IN" dirty="0"/>
              <a:t>What fraction of the incoming light is reflected.</a:t>
            </a:r>
          </a:p>
          <a:p>
            <a:r>
              <a:rPr lang="en-IN" dirty="0"/>
              <a:t>Its value is between 0 and 1.</a:t>
            </a:r>
          </a:p>
          <a:p>
            <a:r>
              <a:rPr lang="en-IN" dirty="0"/>
              <a:t>ρ=0.8 </a:t>
            </a:r>
          </a:p>
          <a:p>
            <a:r>
              <a:rPr lang="en-IN" dirty="0"/>
              <a:t>means:</a:t>
            </a:r>
          </a:p>
          <a:p>
            <a:r>
              <a:rPr lang="en-IN" dirty="0"/>
              <a:t>80% of light is reflected.</a:t>
            </a:r>
          </a:p>
          <a:p>
            <a:r>
              <a:rPr lang="en-IN" dirty="0"/>
              <a:t>20% is absorbed.</a:t>
            </a:r>
          </a:p>
          <a:p>
            <a:endParaRPr lang="en-IN" dirty="0"/>
          </a:p>
        </p:txBody>
      </p:sp>
    </p:spTree>
    <p:extLst>
      <p:ext uri="{BB962C8B-B14F-4D97-AF65-F5344CB8AC3E}">
        <p14:creationId xmlns:p14="http://schemas.microsoft.com/office/powerpoint/2010/main" val="12194724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4C05F-0D9B-6D7F-E136-F98173E401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0EED47E-BC50-6C0C-F9B5-00F4564B500F}"/>
              </a:ext>
            </a:extLst>
          </p:cNvPr>
          <p:cNvSpPr>
            <a:spLocks noGrp="1"/>
          </p:cNvSpPr>
          <p:nvPr>
            <p:ph idx="1"/>
          </p:nvPr>
        </p:nvSpPr>
        <p:spPr/>
        <p:txBody>
          <a:bodyPr/>
          <a:lstStyle/>
          <a:p>
            <a:r>
              <a:rPr lang="en-IN" b="1" dirty="0"/>
              <a:t>3. Radiosity (B)</a:t>
            </a:r>
          </a:p>
          <a:p>
            <a:r>
              <a:rPr lang="en-IN" dirty="0"/>
              <a:t>Radiosity means:</a:t>
            </a:r>
          </a:p>
          <a:p>
            <a:r>
              <a:rPr lang="en-IN" dirty="0"/>
              <a:t>Total reflected light leaving the surface.</a:t>
            </a:r>
          </a:p>
          <a:p>
            <a:r>
              <a:rPr lang="en-IN" dirty="0"/>
              <a:t>This is the light that travels to:</a:t>
            </a:r>
          </a:p>
          <a:p>
            <a:r>
              <a:rPr lang="en-IN" dirty="0"/>
              <a:t>Your eyes </a:t>
            </a:r>
          </a:p>
          <a:p>
            <a:r>
              <a:rPr lang="en-IN" dirty="0"/>
              <a:t>A camera</a:t>
            </a:r>
          </a:p>
          <a:p>
            <a:endParaRPr lang="en-IN" dirty="0"/>
          </a:p>
        </p:txBody>
      </p:sp>
    </p:spTree>
    <p:extLst>
      <p:ext uri="{BB962C8B-B14F-4D97-AF65-F5344CB8AC3E}">
        <p14:creationId xmlns:p14="http://schemas.microsoft.com/office/powerpoint/2010/main" val="42072040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0D3354-8CD3-B90A-CED2-EDE1F6E9E90C}"/>
                  </a:ext>
                </a:extLst>
              </p:cNvPr>
              <p:cNvSpPr>
                <a:spLocks noGrp="1"/>
              </p:cNvSpPr>
              <p:nvPr>
                <p:ph idx="1"/>
              </p:nvPr>
            </p:nvSpPr>
            <p:spPr>
              <a:xfrm>
                <a:off x="838200" y="518746"/>
                <a:ext cx="10515600" cy="5658217"/>
              </a:xfrm>
            </p:spPr>
            <p:txBody>
              <a:bodyPr>
                <a:normAutofit fontScale="92500" lnSpcReduction="10000"/>
              </a:bodyPr>
              <a:lstStyle/>
              <a:p>
                <a:r>
                  <a:rPr lang="en-IN" dirty="0"/>
                  <a:t>Example : White Wall</a:t>
                </a:r>
              </a:p>
              <a:p>
                <a:r>
                  <a:rPr lang="en-IN" dirty="0"/>
                  <a:t>Incoming light:</a:t>
                </a:r>
              </a:p>
              <a:p>
                <a14:m>
                  <m:oMath xmlns:m="http://schemas.openxmlformats.org/officeDocument/2006/math">
                    <m:r>
                      <a:rPr lang="en-IN" i="1">
                        <a:latin typeface="Cambria Math" panose="02040503050406030204" pitchFamily="18" charset="0"/>
                      </a:rPr>
                      <m:t>𝐸</m:t>
                    </m:r>
                    <m:r>
                      <a:rPr lang="en-IN">
                        <a:latin typeface="Cambria Math" panose="02040503050406030204" pitchFamily="18" charset="0"/>
                      </a:rPr>
                      <m:t>=100</m:t>
                    </m:r>
                  </m:oMath>
                </a14:m>
                <a:endParaRPr lang="en-IN" dirty="0"/>
              </a:p>
              <a:p>
                <a:r>
                  <a:rPr lang="en-IN" dirty="0"/>
                  <a:t>Reflectivity:</a:t>
                </a:r>
              </a:p>
              <a:p>
                <a14:m>
                  <m:oMath xmlns:m="http://schemas.openxmlformats.org/officeDocument/2006/math">
                    <m:r>
                      <a:rPr lang="en-IN" i="1">
                        <a:latin typeface="Cambria Math" panose="02040503050406030204" pitchFamily="18" charset="0"/>
                      </a:rPr>
                      <m:t>𝜌</m:t>
                    </m:r>
                    <m:r>
                      <a:rPr lang="en-IN">
                        <a:latin typeface="Cambria Math" panose="02040503050406030204" pitchFamily="18" charset="0"/>
                      </a:rPr>
                      <m:t>=0.9</m:t>
                    </m:r>
                  </m:oMath>
                </a14:m>
                <a:endParaRPr lang="en-IN" dirty="0"/>
              </a:p>
              <a:p>
                <a:r>
                  <a:rPr lang="en-IN" dirty="0"/>
                  <a:t>Using:</a:t>
                </a:r>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m:t>
                    </m:r>
                    <m:r>
                      <a:rPr lang="en-IN" i="1">
                        <a:latin typeface="Cambria Math" panose="02040503050406030204" pitchFamily="18" charset="0"/>
                      </a:rPr>
                      <m:t>𝜌</m:t>
                    </m:r>
                    <m:r>
                      <a:rPr lang="en-IN" i="1">
                        <a:latin typeface="Cambria Math" panose="02040503050406030204" pitchFamily="18" charset="0"/>
                      </a:rPr>
                      <m:t>𝐸</m:t>
                    </m:r>
                  </m:oMath>
                </a14:m>
                <a:endParaRPr lang="en-IN" dirty="0"/>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=0.9×100</m:t>
                    </m:r>
                  </m:oMath>
                </a14:m>
                <a:endParaRPr lang="en-IN" dirty="0"/>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=90</m:t>
                    </m:r>
                  </m:oMath>
                </a14:m>
                <a:endParaRPr lang="en-IN" dirty="0"/>
              </a:p>
              <a:p>
                <a:r>
                  <a:rPr lang="en-IN" b="1" dirty="0"/>
                  <a:t>Result</a:t>
                </a:r>
              </a:p>
              <a:p>
                <a:r>
                  <a:rPr lang="en-US" dirty="0"/>
                  <a:t>100 units arrive</a:t>
                </a:r>
              </a:p>
              <a:p>
                <a:r>
                  <a:rPr lang="en-US" dirty="0"/>
                  <a:t>90 units leave</a:t>
                </a:r>
                <a:endParaRPr lang="en-IN" dirty="0"/>
              </a:p>
            </p:txBody>
          </p:sp>
        </mc:Choice>
        <mc:Fallback xmlns="">
          <p:sp>
            <p:nvSpPr>
              <p:cNvPr id="3" name="Content Placeholder 2">
                <a:extLst>
                  <a:ext uri="{FF2B5EF4-FFF2-40B4-BE49-F238E27FC236}">
                    <a16:creationId xmlns:a16="http://schemas.microsoft.com/office/drawing/2014/main" id="{7C0D3354-8CD3-B90A-CED2-EDE1F6E9E90C}"/>
                  </a:ext>
                </a:extLst>
              </p:cNvPr>
              <p:cNvSpPr>
                <a:spLocks noGrp="1" noRot="1" noChangeAspect="1" noMove="1" noResize="1" noEditPoints="1" noAdjustHandles="1" noChangeArrowheads="1" noChangeShapeType="1" noTextEdit="1"/>
              </p:cNvSpPr>
              <p:nvPr>
                <p:ph idx="1"/>
              </p:nvPr>
            </p:nvSpPr>
            <p:spPr>
              <a:xfrm>
                <a:off x="838200" y="518746"/>
                <a:ext cx="10515600" cy="5658217"/>
              </a:xfrm>
              <a:blipFill>
                <a:blip r:embed="rId2"/>
                <a:stretch>
                  <a:fillRect l="-928" t="-2155" b="-108"/>
                </a:stretch>
              </a:blipFill>
            </p:spPr>
            <p:txBody>
              <a:bodyPr/>
              <a:lstStyle/>
              <a:p>
                <a:r>
                  <a:rPr lang="en-IN">
                    <a:noFill/>
                  </a:rPr>
                  <a:t> </a:t>
                </a:r>
              </a:p>
            </p:txBody>
          </p:sp>
        </mc:Fallback>
      </mc:AlternateContent>
    </p:spTree>
    <p:extLst>
      <p:ext uri="{BB962C8B-B14F-4D97-AF65-F5344CB8AC3E}">
        <p14:creationId xmlns:p14="http://schemas.microsoft.com/office/powerpoint/2010/main" val="31178587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96077E-3118-54FC-CB1B-FB02C3D629D3}"/>
              </a:ext>
            </a:extLst>
          </p:cNvPr>
          <p:cNvSpPr>
            <a:spLocks noGrp="1"/>
          </p:cNvSpPr>
          <p:nvPr>
            <p:ph idx="1"/>
          </p:nvPr>
        </p:nvSpPr>
        <p:spPr>
          <a:xfrm>
            <a:off x="838200" y="571500"/>
            <a:ext cx="10515600" cy="5605463"/>
          </a:xfrm>
        </p:spPr>
        <p:txBody>
          <a:bodyPr/>
          <a:lstStyle/>
          <a:p>
            <a:r>
              <a:rPr lang="en-IN" dirty="0"/>
              <a:t>A camera only sees the reflected light.</a:t>
            </a:r>
          </a:p>
          <a:p>
            <a:pPr marL="0" indent="0">
              <a:buNone/>
            </a:pPr>
            <a:endParaRPr lang="en-IN" dirty="0"/>
          </a:p>
          <a:p>
            <a:pPr marL="0" indent="0">
              <a:buNone/>
            </a:pPr>
            <a:endParaRPr lang="en-IN" dirty="0"/>
          </a:p>
          <a:p>
            <a:pPr marL="0" indent="0">
              <a:buNone/>
            </a:pPr>
            <a:r>
              <a:rPr lang="en-IN" dirty="0"/>
              <a:t>Radiosity vs Irradiance</a:t>
            </a:r>
          </a:p>
          <a:p>
            <a:r>
              <a:rPr lang="en-IN" b="1" dirty="0"/>
              <a:t>Irradiance</a:t>
            </a:r>
          </a:p>
          <a:p>
            <a:r>
              <a:rPr lang="en-IN" dirty="0"/>
              <a:t>Light arriving at a surface.</a:t>
            </a:r>
          </a:p>
          <a:p>
            <a:pPr marL="457200" lvl="1" indent="0">
              <a:buNone/>
            </a:pPr>
            <a:r>
              <a:rPr lang="en-IN" dirty="0"/>
              <a:t>Sun</a:t>
            </a:r>
          </a:p>
          <a:p>
            <a:pPr marL="457200" lvl="1" indent="0">
              <a:buNone/>
            </a:pPr>
            <a:r>
              <a:rPr lang="en-IN" dirty="0"/>
              <a:t> ↓</a:t>
            </a:r>
          </a:p>
          <a:p>
            <a:pPr marL="457200" lvl="1" indent="0">
              <a:buNone/>
            </a:pPr>
            <a:r>
              <a:rPr lang="en-IN" dirty="0"/>
              <a:t>Wall</a:t>
            </a:r>
          </a:p>
          <a:p>
            <a:pPr marL="0" indent="0">
              <a:buNone/>
            </a:pPr>
            <a:r>
              <a:rPr lang="en-IN" dirty="0"/>
              <a:t>Incoming light.</a:t>
            </a:r>
          </a:p>
        </p:txBody>
      </p:sp>
    </p:spTree>
    <p:extLst>
      <p:ext uri="{BB962C8B-B14F-4D97-AF65-F5344CB8AC3E}">
        <p14:creationId xmlns:p14="http://schemas.microsoft.com/office/powerpoint/2010/main" val="38273223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E63727-4F94-6E70-77E3-6B5E776AE886}"/>
              </a:ext>
            </a:extLst>
          </p:cNvPr>
          <p:cNvSpPr>
            <a:spLocks noGrp="1"/>
          </p:cNvSpPr>
          <p:nvPr>
            <p:ph idx="1"/>
          </p:nvPr>
        </p:nvSpPr>
        <p:spPr>
          <a:xfrm>
            <a:off x="838200" y="413238"/>
            <a:ext cx="10515600" cy="5763725"/>
          </a:xfrm>
        </p:spPr>
        <p:txBody>
          <a:bodyPr/>
          <a:lstStyle/>
          <a:p>
            <a:r>
              <a:rPr lang="en-IN" dirty="0"/>
              <a:t>Radiosity</a:t>
            </a:r>
          </a:p>
          <a:p>
            <a:r>
              <a:rPr lang="en-IN" dirty="0"/>
              <a:t>Light leaving the surface.</a:t>
            </a:r>
          </a:p>
          <a:p>
            <a:pPr marL="457200" lvl="1" indent="0">
              <a:buNone/>
            </a:pPr>
            <a:r>
              <a:rPr lang="en-IN" dirty="0"/>
              <a:t>Wall</a:t>
            </a:r>
          </a:p>
          <a:p>
            <a:pPr marL="457200" lvl="1" indent="0">
              <a:buNone/>
            </a:pPr>
            <a:r>
              <a:rPr lang="en-IN" dirty="0"/>
              <a:t> ↓</a:t>
            </a:r>
          </a:p>
          <a:p>
            <a:pPr marL="457200" lvl="1" indent="0">
              <a:buNone/>
            </a:pPr>
            <a:r>
              <a:rPr lang="en-IN" dirty="0"/>
              <a:t>Reflected Light</a:t>
            </a:r>
          </a:p>
          <a:p>
            <a:pPr marL="457200" lvl="1" indent="0">
              <a:buNone/>
            </a:pPr>
            <a:endParaRPr lang="en-IN" dirty="0"/>
          </a:p>
          <a:p>
            <a:pPr marL="176213" lvl="1" indent="280988"/>
            <a:r>
              <a:rPr lang="en-IN" dirty="0"/>
              <a:t>Outgoing light.</a:t>
            </a:r>
          </a:p>
          <a:p>
            <a:pPr marL="176213" lvl="1" indent="280988"/>
            <a:endParaRPr lang="en-IN" dirty="0"/>
          </a:p>
          <a:p>
            <a:r>
              <a:rPr lang="en-IN" b="1" dirty="0"/>
              <a:t>Easy Trick</a:t>
            </a:r>
          </a:p>
          <a:p>
            <a:r>
              <a:rPr lang="en-IN" b="1" dirty="0"/>
              <a:t>Irradiance = In</a:t>
            </a:r>
            <a:endParaRPr lang="en-IN" dirty="0"/>
          </a:p>
          <a:p>
            <a:r>
              <a:rPr lang="en-IN" b="1" dirty="0"/>
              <a:t>Radiosity = Out</a:t>
            </a:r>
            <a:endParaRPr lang="en-IN" dirty="0"/>
          </a:p>
          <a:p>
            <a:pPr marL="176213" lvl="1" indent="280988"/>
            <a:endParaRPr lang="en-IN" dirty="0"/>
          </a:p>
        </p:txBody>
      </p:sp>
    </p:spTree>
    <p:extLst>
      <p:ext uri="{BB962C8B-B14F-4D97-AF65-F5344CB8AC3E}">
        <p14:creationId xmlns:p14="http://schemas.microsoft.com/office/powerpoint/2010/main" val="11594525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0E263-FBE5-7F90-2A6A-95B337EF4AC9}"/>
              </a:ext>
            </a:extLst>
          </p:cNvPr>
          <p:cNvSpPr>
            <a:spLocks noGrp="1"/>
          </p:cNvSpPr>
          <p:nvPr>
            <p:ph type="title"/>
          </p:nvPr>
        </p:nvSpPr>
        <p:spPr/>
        <p:txBody>
          <a:bodyPr/>
          <a:lstStyle/>
          <a:p>
            <a:r>
              <a:rPr lang="en-IN" dirty="0"/>
              <a:t>Why Is Radiosity Important in Computer Vision?</a:t>
            </a:r>
          </a:p>
        </p:txBody>
      </p:sp>
      <p:sp>
        <p:nvSpPr>
          <p:cNvPr id="3" name="Content Placeholder 2">
            <a:extLst>
              <a:ext uri="{FF2B5EF4-FFF2-40B4-BE49-F238E27FC236}">
                <a16:creationId xmlns:a16="http://schemas.microsoft.com/office/drawing/2014/main" id="{1822D1AB-00D4-6214-AEE0-335622EA53E3}"/>
              </a:ext>
            </a:extLst>
          </p:cNvPr>
          <p:cNvSpPr>
            <a:spLocks noGrp="1"/>
          </p:cNvSpPr>
          <p:nvPr>
            <p:ph idx="1"/>
          </p:nvPr>
        </p:nvSpPr>
        <p:spPr/>
        <p:txBody>
          <a:bodyPr/>
          <a:lstStyle/>
          <a:p>
            <a:r>
              <a:rPr lang="en-IN" dirty="0"/>
              <a:t>Computer vision systems </a:t>
            </a:r>
            <a:r>
              <a:rPr lang="en-IN" dirty="0" err="1"/>
              <a:t>analyze</a:t>
            </a:r>
            <a:r>
              <a:rPr lang="en-IN" dirty="0"/>
              <a:t> images.</a:t>
            </a:r>
          </a:p>
          <a:p>
            <a:pPr marL="0" indent="0">
              <a:buNone/>
            </a:pPr>
            <a:r>
              <a:rPr lang="en-IN" dirty="0"/>
              <a:t>	Images depend on:</a:t>
            </a:r>
          </a:p>
          <a:p>
            <a:r>
              <a:rPr lang="en-IN" dirty="0"/>
              <a:t>Lighting conditions </a:t>
            </a:r>
          </a:p>
          <a:p>
            <a:r>
              <a:rPr lang="en-IN" dirty="0"/>
              <a:t>Surface properties </a:t>
            </a:r>
          </a:p>
          <a:p>
            <a:r>
              <a:rPr lang="en-IN" dirty="0"/>
              <a:t>Reflected light</a:t>
            </a:r>
          </a:p>
          <a:p>
            <a:endParaRPr lang="en-IN" dirty="0"/>
          </a:p>
        </p:txBody>
      </p:sp>
    </p:spTree>
    <p:extLst>
      <p:ext uri="{BB962C8B-B14F-4D97-AF65-F5344CB8AC3E}">
        <p14:creationId xmlns:p14="http://schemas.microsoft.com/office/powerpoint/2010/main" val="40659685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4EC64-BA9F-FA36-7B69-2AAF7182B01D}"/>
              </a:ext>
            </a:extLst>
          </p:cNvPr>
          <p:cNvSpPr>
            <a:spLocks noGrp="1"/>
          </p:cNvSpPr>
          <p:nvPr>
            <p:ph idx="1"/>
          </p:nvPr>
        </p:nvSpPr>
        <p:spPr>
          <a:xfrm>
            <a:off x="838200" y="430823"/>
            <a:ext cx="10515600" cy="5746140"/>
          </a:xfrm>
        </p:spPr>
        <p:txBody>
          <a:bodyPr/>
          <a:lstStyle/>
          <a:p>
            <a:r>
              <a:rPr lang="en-IN" dirty="0"/>
              <a:t>Radiosity helps explain:</a:t>
            </a:r>
          </a:p>
          <a:p>
            <a:pPr lvl="1"/>
            <a:r>
              <a:rPr lang="en-IN" dirty="0"/>
              <a:t>Why objects look bright or dark. </a:t>
            </a:r>
          </a:p>
          <a:p>
            <a:pPr lvl="1"/>
            <a:r>
              <a:rPr lang="en-IN" dirty="0"/>
              <a:t>Why shadows appear. </a:t>
            </a:r>
          </a:p>
          <a:p>
            <a:pPr lvl="1"/>
            <a:r>
              <a:rPr lang="en-IN" dirty="0"/>
              <a:t>Why </a:t>
            </a:r>
            <a:r>
              <a:rPr lang="en-IN" dirty="0" err="1"/>
              <a:t>colors</a:t>
            </a:r>
            <a:r>
              <a:rPr lang="en-IN" dirty="0"/>
              <a:t> are visible. </a:t>
            </a:r>
          </a:p>
          <a:p>
            <a:pPr lvl="1"/>
            <a:r>
              <a:rPr lang="en-IN" dirty="0"/>
              <a:t>How realistic images are formed.</a:t>
            </a:r>
          </a:p>
          <a:p>
            <a:endParaRPr lang="en-IN" dirty="0"/>
          </a:p>
        </p:txBody>
      </p:sp>
    </p:spTree>
    <p:extLst>
      <p:ext uri="{BB962C8B-B14F-4D97-AF65-F5344CB8AC3E}">
        <p14:creationId xmlns:p14="http://schemas.microsoft.com/office/powerpoint/2010/main" val="29778598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4F7E60-BF80-1A2D-A938-FC62D22684E5}"/>
              </a:ext>
            </a:extLst>
          </p:cNvPr>
          <p:cNvPicPr>
            <a:picLocks noGrp="1" noChangeAspect="1"/>
          </p:cNvPicPr>
          <p:nvPr>
            <p:ph idx="1"/>
          </p:nvPr>
        </p:nvPicPr>
        <p:blipFill>
          <a:blip r:embed="rId2"/>
          <a:stretch>
            <a:fillRect/>
          </a:stretch>
        </p:blipFill>
        <p:spPr>
          <a:xfrm>
            <a:off x="870438" y="202222"/>
            <a:ext cx="9249508" cy="6418385"/>
          </a:xfrm>
          <a:prstGeom prst="rect">
            <a:avLst/>
          </a:prstGeom>
        </p:spPr>
      </p:pic>
    </p:spTree>
    <p:extLst>
      <p:ext uri="{BB962C8B-B14F-4D97-AF65-F5344CB8AC3E}">
        <p14:creationId xmlns:p14="http://schemas.microsoft.com/office/powerpoint/2010/main" val="18390685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5F72-C7A8-0330-22A0-879A6F7237C9}"/>
              </a:ext>
            </a:extLst>
          </p:cNvPr>
          <p:cNvSpPr>
            <a:spLocks noGrp="1"/>
          </p:cNvSpPr>
          <p:nvPr>
            <p:ph type="title"/>
          </p:nvPr>
        </p:nvSpPr>
        <p:spPr/>
        <p:txBody>
          <a:bodyPr/>
          <a:lstStyle/>
          <a:p>
            <a:r>
              <a:rPr lang="en-IN" dirty="0"/>
              <a:t>Radiance, Irradiance, BRDF, and </a:t>
            </a:r>
            <a:r>
              <a:rPr lang="en-IN" dirty="0" err="1"/>
              <a:t>Color</a:t>
            </a:r>
            <a:endParaRPr lang="en-IN" dirty="0"/>
          </a:p>
        </p:txBody>
      </p:sp>
      <p:sp>
        <p:nvSpPr>
          <p:cNvPr id="3" name="Content Placeholder 2">
            <a:extLst>
              <a:ext uri="{FF2B5EF4-FFF2-40B4-BE49-F238E27FC236}">
                <a16:creationId xmlns:a16="http://schemas.microsoft.com/office/drawing/2014/main" id="{EF32D6F7-79EE-E6DF-6177-03374AC5971A}"/>
              </a:ext>
            </a:extLst>
          </p:cNvPr>
          <p:cNvSpPr>
            <a:spLocks noGrp="1"/>
          </p:cNvSpPr>
          <p:nvPr>
            <p:ph idx="1"/>
          </p:nvPr>
        </p:nvSpPr>
        <p:spPr>
          <a:xfrm>
            <a:off x="838200" y="1450730"/>
            <a:ext cx="10515600" cy="5231423"/>
          </a:xfrm>
        </p:spPr>
        <p:txBody>
          <a:bodyPr>
            <a:normAutofit/>
          </a:bodyPr>
          <a:lstStyle/>
          <a:p>
            <a:r>
              <a:rPr lang="en-IN" dirty="0"/>
              <a:t>These concepts explain </a:t>
            </a:r>
            <a:r>
              <a:rPr lang="en-IN" b="1" dirty="0"/>
              <a:t>how light travels, reflects, and finally forms an image in a camera</a:t>
            </a:r>
            <a:r>
              <a:rPr lang="en-IN" dirty="0"/>
              <a:t>.</a:t>
            </a:r>
          </a:p>
          <a:p>
            <a:pPr marL="457200" lvl="1" indent="0">
              <a:buNone/>
            </a:pPr>
            <a:r>
              <a:rPr lang="en-IN" dirty="0"/>
              <a:t>Sun/Bulb</a:t>
            </a:r>
          </a:p>
          <a:p>
            <a:pPr marL="457200" lvl="1" indent="0">
              <a:buNone/>
            </a:pPr>
            <a:r>
              <a:rPr lang="en-IN" dirty="0"/>
              <a:t>   ↓</a:t>
            </a:r>
          </a:p>
          <a:p>
            <a:pPr marL="457200" lvl="1" indent="0">
              <a:buNone/>
            </a:pPr>
            <a:r>
              <a:rPr lang="en-IN" dirty="0"/>
              <a:t>Irradiance (light falls on object)</a:t>
            </a:r>
          </a:p>
          <a:p>
            <a:pPr marL="457200" lvl="1" indent="0">
              <a:buNone/>
            </a:pPr>
            <a:r>
              <a:rPr lang="en-IN" dirty="0"/>
              <a:t>   ↓</a:t>
            </a:r>
          </a:p>
          <a:p>
            <a:pPr marL="457200" lvl="1" indent="0">
              <a:buNone/>
            </a:pPr>
            <a:r>
              <a:rPr lang="en-IN" dirty="0"/>
              <a:t>BRDF (object reflects light)</a:t>
            </a:r>
          </a:p>
          <a:p>
            <a:pPr marL="457200" lvl="1" indent="0">
              <a:buNone/>
            </a:pPr>
            <a:r>
              <a:rPr lang="en-IN" dirty="0"/>
              <a:t>   ↓</a:t>
            </a:r>
          </a:p>
          <a:p>
            <a:pPr marL="457200" lvl="1" indent="0">
              <a:buNone/>
            </a:pPr>
            <a:r>
              <a:rPr lang="en-IN" dirty="0"/>
              <a:t>Radiance (light leaves object)</a:t>
            </a:r>
          </a:p>
          <a:p>
            <a:pPr marL="457200" lvl="1" indent="0">
              <a:buNone/>
            </a:pPr>
            <a:r>
              <a:rPr lang="en-IN" dirty="0"/>
              <a:t>   ↓</a:t>
            </a:r>
          </a:p>
          <a:p>
            <a:pPr marL="457200" lvl="1" indent="0">
              <a:buNone/>
            </a:pPr>
            <a:r>
              <a:rPr lang="en-IN" dirty="0"/>
              <a:t>Camera</a:t>
            </a:r>
          </a:p>
          <a:p>
            <a:pPr marL="457200" lvl="1" indent="0">
              <a:buNone/>
            </a:pPr>
            <a:r>
              <a:rPr lang="en-IN" dirty="0"/>
              <a:t>   ↓</a:t>
            </a:r>
          </a:p>
          <a:p>
            <a:pPr marL="457200" lvl="1" indent="0">
              <a:buNone/>
            </a:pPr>
            <a:r>
              <a:rPr lang="en-IN" dirty="0" err="1"/>
              <a:t>Color</a:t>
            </a:r>
            <a:r>
              <a:rPr lang="en-IN" dirty="0"/>
              <a:t> Image</a:t>
            </a:r>
          </a:p>
        </p:txBody>
      </p:sp>
    </p:spTree>
    <p:extLst>
      <p:ext uri="{BB962C8B-B14F-4D97-AF65-F5344CB8AC3E}">
        <p14:creationId xmlns:p14="http://schemas.microsoft.com/office/powerpoint/2010/main" val="14922804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67156-2B75-7DA5-DD63-B8937957E985}"/>
              </a:ext>
            </a:extLst>
          </p:cNvPr>
          <p:cNvSpPr>
            <a:spLocks noGrp="1"/>
          </p:cNvSpPr>
          <p:nvPr>
            <p:ph idx="1"/>
          </p:nvPr>
        </p:nvSpPr>
        <p:spPr>
          <a:xfrm>
            <a:off x="838200" y="316523"/>
            <a:ext cx="10515600" cy="5860440"/>
          </a:xfrm>
        </p:spPr>
        <p:txBody>
          <a:bodyPr/>
          <a:lstStyle/>
          <a:p>
            <a:r>
              <a:rPr lang="en-IN" b="1" dirty="0"/>
              <a:t>1. Irradiance (E)</a:t>
            </a:r>
          </a:p>
          <a:p>
            <a:pPr marL="0" indent="0">
              <a:buNone/>
            </a:pPr>
            <a:r>
              <a:rPr lang="en-IN" b="1" dirty="0"/>
              <a:t>Simple Definition</a:t>
            </a:r>
          </a:p>
          <a:p>
            <a:r>
              <a:rPr lang="en-IN" b="1" dirty="0"/>
              <a:t>Irradiance is the amount of light falling on a surface.</a:t>
            </a:r>
          </a:p>
          <a:p>
            <a:r>
              <a:rPr lang="en-IN" dirty="0"/>
              <a:t>Light Coming IN</a:t>
            </a:r>
          </a:p>
          <a:p>
            <a:r>
              <a:rPr lang="en-IN" dirty="0"/>
              <a:t>Suppose sunlight falls on a table.</a:t>
            </a:r>
          </a:p>
          <a:p>
            <a:r>
              <a:rPr lang="en-IN" dirty="0"/>
              <a:t>The light reaching the table is called </a:t>
            </a:r>
            <a:r>
              <a:rPr lang="en-IN" b="1" dirty="0"/>
              <a:t>irradiance</a:t>
            </a:r>
            <a:r>
              <a:rPr lang="en-IN" dirty="0"/>
              <a:t>.</a:t>
            </a:r>
          </a:p>
          <a:p>
            <a:endParaRPr lang="en-IN" dirty="0"/>
          </a:p>
          <a:p>
            <a:endParaRPr lang="en-IN" dirty="0"/>
          </a:p>
        </p:txBody>
      </p:sp>
    </p:spTree>
    <p:extLst>
      <p:ext uri="{BB962C8B-B14F-4D97-AF65-F5344CB8AC3E}">
        <p14:creationId xmlns:p14="http://schemas.microsoft.com/office/powerpoint/2010/main" val="12018968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B8A7D-5C1F-1A8E-B068-CFD5E8889489}"/>
              </a:ext>
            </a:extLst>
          </p:cNvPr>
          <p:cNvSpPr>
            <a:spLocks noGrp="1"/>
          </p:cNvSpPr>
          <p:nvPr>
            <p:ph idx="1"/>
          </p:nvPr>
        </p:nvSpPr>
        <p:spPr>
          <a:xfrm>
            <a:off x="838200" y="422030"/>
            <a:ext cx="10515600" cy="5934807"/>
          </a:xfrm>
        </p:spPr>
        <p:txBody>
          <a:bodyPr/>
          <a:lstStyle/>
          <a:p>
            <a:r>
              <a:rPr lang="en-IN" b="1" dirty="0"/>
              <a:t>Everyday Example</a:t>
            </a:r>
          </a:p>
          <a:p>
            <a:r>
              <a:rPr lang="en-IN" dirty="0"/>
              <a:t>Sunny Day</a:t>
            </a:r>
          </a:p>
          <a:p>
            <a:r>
              <a:rPr lang="en-IN" dirty="0"/>
              <a:t>A lot of sunlight falls on the road. </a:t>
            </a:r>
          </a:p>
          <a:p>
            <a:r>
              <a:rPr lang="en-IN" dirty="0"/>
              <a:t>High irradiance. </a:t>
            </a:r>
          </a:p>
          <a:p>
            <a:r>
              <a:rPr lang="en-IN" dirty="0"/>
              <a:t>Cloudy Day</a:t>
            </a:r>
          </a:p>
          <a:p>
            <a:r>
              <a:rPr lang="en-IN" dirty="0"/>
              <a:t>Less sunlight falls on the road. </a:t>
            </a:r>
          </a:p>
          <a:p>
            <a:r>
              <a:rPr lang="en-IN" dirty="0"/>
              <a:t>Low irradiance. </a:t>
            </a:r>
          </a:p>
          <a:p>
            <a:r>
              <a:rPr lang="en-IN" dirty="0"/>
              <a:t>Therefore the road looks darker.</a:t>
            </a:r>
          </a:p>
          <a:p>
            <a:endParaRPr lang="en-IN" dirty="0"/>
          </a:p>
        </p:txBody>
      </p:sp>
    </p:spTree>
    <p:extLst>
      <p:ext uri="{BB962C8B-B14F-4D97-AF65-F5344CB8AC3E}">
        <p14:creationId xmlns:p14="http://schemas.microsoft.com/office/powerpoint/2010/main" val="27354946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59C1-BFC4-D2EF-273E-15F2251F6FD3}"/>
              </a:ext>
            </a:extLst>
          </p:cNvPr>
          <p:cNvSpPr>
            <a:spLocks noGrp="1"/>
          </p:cNvSpPr>
          <p:nvPr>
            <p:ph type="title"/>
          </p:nvPr>
        </p:nvSpPr>
        <p:spPr/>
        <p:txBody>
          <a:bodyPr/>
          <a:lstStyle/>
          <a:p>
            <a:r>
              <a:rPr lang="en-IN" dirty="0"/>
              <a:t>. Radiance (L)</a:t>
            </a:r>
          </a:p>
        </p:txBody>
      </p:sp>
      <p:sp>
        <p:nvSpPr>
          <p:cNvPr id="3" name="Content Placeholder 2">
            <a:extLst>
              <a:ext uri="{FF2B5EF4-FFF2-40B4-BE49-F238E27FC236}">
                <a16:creationId xmlns:a16="http://schemas.microsoft.com/office/drawing/2014/main" id="{3BF807F0-B638-C538-9472-F5F0FF6FB174}"/>
              </a:ext>
            </a:extLst>
          </p:cNvPr>
          <p:cNvSpPr>
            <a:spLocks noGrp="1"/>
          </p:cNvSpPr>
          <p:nvPr>
            <p:ph idx="1"/>
          </p:nvPr>
        </p:nvSpPr>
        <p:spPr/>
        <p:txBody>
          <a:bodyPr/>
          <a:lstStyle/>
          <a:p>
            <a:r>
              <a:rPr lang="en-IN" b="1" dirty="0"/>
              <a:t>Simple Definition</a:t>
            </a:r>
          </a:p>
          <a:p>
            <a:r>
              <a:rPr lang="en-IN" b="1" dirty="0"/>
              <a:t>Radiance is the amount of light leaving a surface in a particular direction.</a:t>
            </a:r>
            <a:endParaRPr lang="en-IN" dirty="0"/>
          </a:p>
          <a:p>
            <a:r>
              <a:rPr lang="en-IN" dirty="0"/>
              <a:t>Think:</a:t>
            </a:r>
          </a:p>
          <a:p>
            <a:r>
              <a:rPr lang="en-IN" dirty="0"/>
              <a:t>Light Going OUT toward the camera or your eyes.</a:t>
            </a:r>
          </a:p>
          <a:p>
            <a:r>
              <a:rPr lang="en-IN" dirty="0"/>
              <a:t>Your camera captures only the light traveling toward it.</a:t>
            </a:r>
          </a:p>
          <a:p>
            <a:r>
              <a:rPr lang="en-IN" dirty="0"/>
              <a:t>That light is called </a:t>
            </a:r>
            <a:r>
              <a:rPr lang="en-IN" b="1" dirty="0"/>
              <a:t>radiance</a:t>
            </a:r>
            <a:r>
              <a:rPr lang="en-IN" dirty="0"/>
              <a:t>.</a:t>
            </a:r>
          </a:p>
          <a:p>
            <a:endParaRPr lang="en-IN" dirty="0"/>
          </a:p>
        </p:txBody>
      </p:sp>
    </p:spTree>
    <p:extLst>
      <p:ext uri="{BB962C8B-B14F-4D97-AF65-F5344CB8AC3E}">
        <p14:creationId xmlns:p14="http://schemas.microsoft.com/office/powerpoint/2010/main" val="32510327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A1E2A-0E13-44B7-BAC7-209B107F94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285A4C-4D20-C119-8A3A-302E63396E26}"/>
              </a:ext>
            </a:extLst>
          </p:cNvPr>
          <p:cNvSpPr>
            <a:spLocks noGrp="1"/>
          </p:cNvSpPr>
          <p:nvPr>
            <p:ph idx="1"/>
          </p:nvPr>
        </p:nvSpPr>
        <p:spPr/>
        <p:txBody>
          <a:bodyPr/>
          <a:lstStyle/>
          <a:p>
            <a:r>
              <a:rPr lang="en-IN" dirty="0"/>
              <a:t>Suppose a red apple is on a table.</a:t>
            </a:r>
          </a:p>
          <a:p>
            <a:pPr marL="457200" lvl="1" indent="0">
              <a:buNone/>
            </a:pPr>
            <a:r>
              <a:rPr lang="en-IN" dirty="0"/>
              <a:t>Sun</a:t>
            </a:r>
          </a:p>
          <a:p>
            <a:pPr marL="457200" lvl="1" indent="0">
              <a:buNone/>
            </a:pPr>
            <a:r>
              <a:rPr lang="en-IN" dirty="0"/>
              <a:t> ↓</a:t>
            </a:r>
          </a:p>
          <a:p>
            <a:pPr marL="457200" lvl="1" indent="0">
              <a:buNone/>
            </a:pPr>
            <a:r>
              <a:rPr lang="en-IN" dirty="0"/>
              <a:t>Apple</a:t>
            </a:r>
          </a:p>
          <a:p>
            <a:pPr marL="457200" lvl="1" indent="0">
              <a:buNone/>
            </a:pPr>
            <a:r>
              <a:rPr lang="en-IN" dirty="0"/>
              <a:t> ↓</a:t>
            </a:r>
          </a:p>
          <a:p>
            <a:pPr marL="457200" lvl="1" indent="0">
              <a:buNone/>
            </a:pPr>
            <a:r>
              <a:rPr lang="en-IN" dirty="0"/>
              <a:t>Camera</a:t>
            </a:r>
          </a:p>
          <a:p>
            <a:r>
              <a:rPr lang="en-IN" dirty="0"/>
              <a:t>The light reflected from the apple toward the camera is radiance.</a:t>
            </a:r>
          </a:p>
          <a:p>
            <a:endParaRPr lang="en-IN" dirty="0"/>
          </a:p>
        </p:txBody>
      </p:sp>
    </p:spTree>
    <p:extLst>
      <p:ext uri="{BB962C8B-B14F-4D97-AF65-F5344CB8AC3E}">
        <p14:creationId xmlns:p14="http://schemas.microsoft.com/office/powerpoint/2010/main" val="3255586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E4831-177D-772D-5342-AFD56C7C2D49}"/>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174558B0-B81A-4855-5594-9774EA0A6901}"/>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2254213096"/>
                    </a:ext>
                  </a:extLst>
                </a:gridCol>
                <a:gridCol w="5257800">
                  <a:extLst>
                    <a:ext uri="{9D8B030D-6E8A-4147-A177-3AD203B41FA5}">
                      <a16:colId xmlns:a16="http://schemas.microsoft.com/office/drawing/2014/main" val="156264999"/>
                    </a:ext>
                  </a:extLst>
                </a:gridCol>
              </a:tblGrid>
              <a:tr h="0">
                <a:tc>
                  <a:txBody>
                    <a:bodyPr/>
                    <a:lstStyle/>
                    <a:p>
                      <a:pPr>
                        <a:buNone/>
                      </a:pPr>
                      <a:r>
                        <a:rPr lang="en-IN"/>
                        <a:t>Irradiance</a:t>
                      </a:r>
                    </a:p>
                  </a:txBody>
                  <a:tcPr anchor="ctr">
                    <a:lnL>
                      <a:noFill/>
                    </a:lnL>
                    <a:lnR>
                      <a:noFill/>
                    </a:lnR>
                    <a:lnT>
                      <a:noFill/>
                    </a:lnT>
                    <a:lnB>
                      <a:noFill/>
                    </a:lnB>
                    <a:noFill/>
                  </a:tcPr>
                </a:tc>
                <a:tc>
                  <a:txBody>
                    <a:bodyPr/>
                    <a:lstStyle/>
                    <a:p>
                      <a:pPr>
                        <a:buNone/>
                      </a:pPr>
                      <a:r>
                        <a:rPr lang="en-IN"/>
                        <a:t>Radiance</a:t>
                      </a:r>
                    </a:p>
                  </a:txBody>
                  <a:tcPr anchor="ctr">
                    <a:lnL>
                      <a:noFill/>
                    </a:lnL>
                    <a:lnR>
                      <a:noFill/>
                    </a:lnR>
                    <a:lnT>
                      <a:noFill/>
                    </a:lnT>
                    <a:lnB>
                      <a:noFill/>
                    </a:lnB>
                    <a:noFill/>
                  </a:tcPr>
                </a:tc>
                <a:extLst>
                  <a:ext uri="{0D108BD9-81ED-4DB2-BD59-A6C34878D82A}">
                    <a16:rowId xmlns:a16="http://schemas.microsoft.com/office/drawing/2014/main" val="1450819811"/>
                  </a:ext>
                </a:extLst>
              </a:tr>
              <a:tr h="0">
                <a:tc>
                  <a:txBody>
                    <a:bodyPr/>
                    <a:lstStyle/>
                    <a:p>
                      <a:pPr>
                        <a:buNone/>
                      </a:pPr>
                      <a:r>
                        <a:rPr lang="en-IN"/>
                        <a:t>Incoming light</a:t>
                      </a:r>
                    </a:p>
                  </a:txBody>
                  <a:tcPr anchor="ctr">
                    <a:lnL>
                      <a:noFill/>
                    </a:lnL>
                    <a:lnR>
                      <a:noFill/>
                    </a:lnR>
                    <a:lnT>
                      <a:noFill/>
                    </a:lnT>
                    <a:lnB>
                      <a:noFill/>
                    </a:lnB>
                    <a:noFill/>
                  </a:tcPr>
                </a:tc>
                <a:tc>
                  <a:txBody>
                    <a:bodyPr/>
                    <a:lstStyle/>
                    <a:p>
                      <a:pPr>
                        <a:buNone/>
                      </a:pPr>
                      <a:r>
                        <a:rPr lang="en-IN"/>
                        <a:t>Outgoing light</a:t>
                      </a:r>
                    </a:p>
                  </a:txBody>
                  <a:tcPr anchor="ctr">
                    <a:lnL>
                      <a:noFill/>
                    </a:lnL>
                    <a:lnR>
                      <a:noFill/>
                    </a:lnR>
                    <a:lnT>
                      <a:noFill/>
                    </a:lnT>
                    <a:lnB>
                      <a:noFill/>
                    </a:lnB>
                    <a:noFill/>
                  </a:tcPr>
                </a:tc>
                <a:extLst>
                  <a:ext uri="{0D108BD9-81ED-4DB2-BD59-A6C34878D82A}">
                    <a16:rowId xmlns:a16="http://schemas.microsoft.com/office/drawing/2014/main" val="2758952229"/>
                  </a:ext>
                </a:extLst>
              </a:tr>
              <a:tr h="0">
                <a:tc>
                  <a:txBody>
                    <a:bodyPr/>
                    <a:lstStyle/>
                    <a:p>
                      <a:pPr>
                        <a:buNone/>
                      </a:pPr>
                      <a:r>
                        <a:rPr lang="en-IN"/>
                        <a:t>Falls on object</a:t>
                      </a:r>
                    </a:p>
                  </a:txBody>
                  <a:tcPr anchor="ctr">
                    <a:lnL>
                      <a:noFill/>
                    </a:lnL>
                    <a:lnR>
                      <a:noFill/>
                    </a:lnR>
                    <a:lnT>
                      <a:noFill/>
                    </a:lnT>
                    <a:lnB>
                      <a:noFill/>
                    </a:lnB>
                    <a:noFill/>
                  </a:tcPr>
                </a:tc>
                <a:tc>
                  <a:txBody>
                    <a:bodyPr/>
                    <a:lstStyle/>
                    <a:p>
                      <a:pPr>
                        <a:buNone/>
                      </a:pPr>
                      <a:r>
                        <a:rPr lang="en-IN"/>
                        <a:t>Leaves object</a:t>
                      </a:r>
                    </a:p>
                  </a:txBody>
                  <a:tcPr anchor="ctr">
                    <a:lnL>
                      <a:noFill/>
                    </a:lnL>
                    <a:lnR>
                      <a:noFill/>
                    </a:lnR>
                    <a:lnT>
                      <a:noFill/>
                    </a:lnT>
                    <a:lnB>
                      <a:noFill/>
                    </a:lnB>
                    <a:noFill/>
                  </a:tcPr>
                </a:tc>
                <a:extLst>
                  <a:ext uri="{0D108BD9-81ED-4DB2-BD59-A6C34878D82A}">
                    <a16:rowId xmlns:a16="http://schemas.microsoft.com/office/drawing/2014/main" val="2713426499"/>
                  </a:ext>
                </a:extLst>
              </a:tr>
              <a:tr h="0">
                <a:tc>
                  <a:txBody>
                    <a:bodyPr/>
                    <a:lstStyle/>
                    <a:p>
                      <a:pPr>
                        <a:buNone/>
                      </a:pPr>
                      <a:r>
                        <a:rPr lang="en-IN"/>
                        <a:t>Before reflection</a:t>
                      </a:r>
                    </a:p>
                  </a:txBody>
                  <a:tcPr anchor="ctr">
                    <a:lnL>
                      <a:noFill/>
                    </a:lnL>
                    <a:lnR>
                      <a:noFill/>
                    </a:lnR>
                    <a:lnT>
                      <a:noFill/>
                    </a:lnT>
                    <a:lnB>
                      <a:noFill/>
                    </a:lnB>
                    <a:noFill/>
                  </a:tcPr>
                </a:tc>
                <a:tc>
                  <a:txBody>
                    <a:bodyPr/>
                    <a:lstStyle/>
                    <a:p>
                      <a:pPr>
                        <a:buNone/>
                      </a:pPr>
                      <a:r>
                        <a:rPr lang="en-IN" dirty="0"/>
                        <a:t>After reflection</a:t>
                      </a:r>
                    </a:p>
                  </a:txBody>
                  <a:tcPr anchor="ctr">
                    <a:lnL>
                      <a:noFill/>
                    </a:lnL>
                    <a:lnR>
                      <a:noFill/>
                    </a:lnR>
                    <a:lnT>
                      <a:noFill/>
                    </a:lnT>
                    <a:lnB>
                      <a:noFill/>
                    </a:lnB>
                    <a:noFill/>
                  </a:tcPr>
                </a:tc>
                <a:extLst>
                  <a:ext uri="{0D108BD9-81ED-4DB2-BD59-A6C34878D82A}">
                    <a16:rowId xmlns:a16="http://schemas.microsoft.com/office/drawing/2014/main" val="3203100210"/>
                  </a:ext>
                </a:extLst>
              </a:tr>
            </a:tbl>
          </a:graphicData>
        </a:graphic>
      </p:graphicFrame>
    </p:spTree>
    <p:extLst>
      <p:ext uri="{BB962C8B-B14F-4D97-AF65-F5344CB8AC3E}">
        <p14:creationId xmlns:p14="http://schemas.microsoft.com/office/powerpoint/2010/main" val="17271087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D721-3BBD-AFB6-C5FC-EE96EAA4D345}"/>
              </a:ext>
            </a:extLst>
          </p:cNvPr>
          <p:cNvSpPr>
            <a:spLocks noGrp="1"/>
          </p:cNvSpPr>
          <p:nvPr>
            <p:ph type="title"/>
          </p:nvPr>
        </p:nvSpPr>
        <p:spPr/>
        <p:txBody>
          <a:bodyPr/>
          <a:lstStyle/>
          <a:p>
            <a:r>
              <a:rPr lang="en-IN" dirty="0"/>
              <a:t>BRDF (Bidirectional Reflectance Distribution Function)</a:t>
            </a:r>
          </a:p>
        </p:txBody>
      </p:sp>
      <p:sp>
        <p:nvSpPr>
          <p:cNvPr id="3" name="Content Placeholder 2">
            <a:extLst>
              <a:ext uri="{FF2B5EF4-FFF2-40B4-BE49-F238E27FC236}">
                <a16:creationId xmlns:a16="http://schemas.microsoft.com/office/drawing/2014/main" id="{9E084475-E219-1957-DFE3-83A04A3516A0}"/>
              </a:ext>
            </a:extLst>
          </p:cNvPr>
          <p:cNvSpPr>
            <a:spLocks noGrp="1"/>
          </p:cNvSpPr>
          <p:nvPr>
            <p:ph idx="1"/>
          </p:nvPr>
        </p:nvSpPr>
        <p:spPr/>
        <p:txBody>
          <a:bodyPr/>
          <a:lstStyle/>
          <a:p>
            <a:r>
              <a:rPr lang="en-IN" b="1" dirty="0"/>
              <a:t>BRDF describes how a surface reflects light.</a:t>
            </a:r>
            <a:endParaRPr lang="en-IN" dirty="0"/>
          </a:p>
          <a:p>
            <a:r>
              <a:rPr lang="en-IN" dirty="0"/>
              <a:t>Different materials reflect light differently.</a:t>
            </a:r>
          </a:p>
          <a:p>
            <a:pPr marL="0" indent="0">
              <a:buNone/>
            </a:pPr>
            <a:r>
              <a:rPr lang="en-US" dirty="0"/>
              <a:t>Light</a:t>
            </a:r>
          </a:p>
          <a:p>
            <a:pPr marL="0" indent="0">
              <a:buNone/>
            </a:pPr>
            <a:r>
              <a:rPr lang="en-US" dirty="0"/>
              <a:t> ↓</a:t>
            </a:r>
          </a:p>
          <a:p>
            <a:pPr marL="0" indent="0">
              <a:buNone/>
            </a:pPr>
            <a:r>
              <a:rPr lang="en-US" dirty="0"/>
              <a:t>Mirror</a:t>
            </a:r>
          </a:p>
          <a:p>
            <a:pPr marL="0" indent="0">
              <a:buNone/>
            </a:pPr>
            <a:r>
              <a:rPr lang="en-US" dirty="0"/>
              <a:t> ↓</a:t>
            </a:r>
          </a:p>
          <a:p>
            <a:pPr marL="0" indent="0">
              <a:buNone/>
            </a:pPr>
            <a:r>
              <a:rPr lang="en-US" dirty="0"/>
              <a:t>Reflection in one direction</a:t>
            </a:r>
          </a:p>
          <a:p>
            <a:pPr marL="0" indent="0">
              <a:buNone/>
            </a:pPr>
            <a:r>
              <a:rPr lang="en-IN" dirty="0"/>
              <a:t>Mirror reflects light strongly in a specific direction.</a:t>
            </a:r>
          </a:p>
        </p:txBody>
      </p:sp>
    </p:spTree>
    <p:extLst>
      <p:ext uri="{BB962C8B-B14F-4D97-AF65-F5344CB8AC3E}">
        <p14:creationId xmlns:p14="http://schemas.microsoft.com/office/powerpoint/2010/main" val="29535859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832C1-4E3E-1CEE-B01D-18B2BD511A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8253BB1-1B6A-63BE-F819-ED8FE6A352AD}"/>
              </a:ext>
            </a:extLst>
          </p:cNvPr>
          <p:cNvSpPr>
            <a:spLocks noGrp="1"/>
          </p:cNvSpPr>
          <p:nvPr>
            <p:ph idx="1"/>
          </p:nvPr>
        </p:nvSpPr>
        <p:spPr/>
        <p:txBody>
          <a:bodyPr/>
          <a:lstStyle/>
          <a:p>
            <a:r>
              <a:rPr lang="en-IN" dirty="0"/>
              <a:t>White Wall</a:t>
            </a:r>
          </a:p>
          <a:p>
            <a:r>
              <a:rPr lang="en-IN" dirty="0"/>
              <a:t>A wall spreads light in many directions.</a:t>
            </a:r>
          </a:p>
          <a:p>
            <a:endParaRPr lang="en-IN" dirty="0"/>
          </a:p>
          <a:p>
            <a:pPr marL="0" indent="0">
              <a:buNone/>
            </a:pPr>
            <a:endParaRPr lang="en-IN" dirty="0"/>
          </a:p>
          <a:p>
            <a:r>
              <a:rPr lang="en-IN" dirty="0"/>
              <a:t>Car Paint</a:t>
            </a:r>
          </a:p>
          <a:p>
            <a:r>
              <a:rPr lang="en-IN" dirty="0"/>
              <a:t>Partly scattered and partly shiny.</a:t>
            </a:r>
          </a:p>
        </p:txBody>
      </p:sp>
    </p:spTree>
    <p:extLst>
      <p:ext uri="{BB962C8B-B14F-4D97-AF65-F5344CB8AC3E}">
        <p14:creationId xmlns:p14="http://schemas.microsoft.com/office/powerpoint/2010/main" val="35531141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38AF8-8D55-1439-204F-D2809458EF13}"/>
              </a:ext>
            </a:extLst>
          </p:cNvPr>
          <p:cNvSpPr>
            <a:spLocks noGrp="1"/>
          </p:cNvSpPr>
          <p:nvPr>
            <p:ph idx="1"/>
          </p:nvPr>
        </p:nvSpPr>
        <p:spPr>
          <a:xfrm>
            <a:off x="838200" y="483577"/>
            <a:ext cx="10515600" cy="5693386"/>
          </a:xfrm>
        </p:spPr>
        <p:txBody>
          <a:bodyPr/>
          <a:lstStyle/>
          <a:p>
            <a:r>
              <a:rPr lang="en-IN" dirty="0"/>
              <a:t>Why BRDF Is Important</a:t>
            </a:r>
          </a:p>
          <a:p>
            <a:pPr marL="0" indent="0">
              <a:buNone/>
            </a:pPr>
            <a:endParaRPr lang="en-IN" dirty="0"/>
          </a:p>
          <a:p>
            <a:pPr marL="0" indent="0">
              <a:buNone/>
            </a:pPr>
            <a:r>
              <a:rPr lang="en-IN" dirty="0"/>
              <a:t>BRDF tells the computer:</a:t>
            </a:r>
          </a:p>
          <a:p>
            <a:r>
              <a:rPr lang="en-IN" dirty="0"/>
              <a:t>Is this a mirror? </a:t>
            </a:r>
          </a:p>
          <a:p>
            <a:r>
              <a:rPr lang="en-IN" dirty="0"/>
              <a:t>Is this metal? </a:t>
            </a:r>
          </a:p>
          <a:p>
            <a:r>
              <a:rPr lang="en-IN" dirty="0"/>
              <a:t>Is this plastic? </a:t>
            </a:r>
          </a:p>
          <a:p>
            <a:r>
              <a:rPr lang="en-IN" dirty="0"/>
              <a:t>Is this paper? </a:t>
            </a:r>
          </a:p>
          <a:p>
            <a:r>
              <a:rPr lang="en-IN" dirty="0"/>
              <a:t>Different materials have different BRDFs.</a:t>
            </a:r>
          </a:p>
          <a:p>
            <a:endParaRPr lang="en-IN" dirty="0"/>
          </a:p>
          <a:p>
            <a:endParaRPr lang="en-IN" dirty="0"/>
          </a:p>
        </p:txBody>
      </p:sp>
    </p:spTree>
    <p:extLst>
      <p:ext uri="{BB962C8B-B14F-4D97-AF65-F5344CB8AC3E}">
        <p14:creationId xmlns:p14="http://schemas.microsoft.com/office/powerpoint/2010/main" val="30570715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0B0E1-CA57-A145-7FB0-B051394C3A5A}"/>
              </a:ext>
            </a:extLst>
          </p:cNvPr>
          <p:cNvSpPr>
            <a:spLocks noGrp="1"/>
          </p:cNvSpPr>
          <p:nvPr>
            <p:ph type="title"/>
          </p:nvPr>
        </p:nvSpPr>
        <p:spPr/>
        <p:txBody>
          <a:bodyPr/>
          <a:lstStyle/>
          <a:p>
            <a:r>
              <a:rPr lang="en-IN" dirty="0"/>
              <a:t>Types of Reflection (BRDF Examples)</a:t>
            </a:r>
          </a:p>
        </p:txBody>
      </p:sp>
      <p:sp>
        <p:nvSpPr>
          <p:cNvPr id="3" name="Content Placeholder 2">
            <a:extLst>
              <a:ext uri="{FF2B5EF4-FFF2-40B4-BE49-F238E27FC236}">
                <a16:creationId xmlns:a16="http://schemas.microsoft.com/office/drawing/2014/main" id="{885BF1AA-AF86-0597-2997-BB8446D05241}"/>
              </a:ext>
            </a:extLst>
          </p:cNvPr>
          <p:cNvSpPr>
            <a:spLocks noGrp="1"/>
          </p:cNvSpPr>
          <p:nvPr>
            <p:ph idx="1"/>
          </p:nvPr>
        </p:nvSpPr>
        <p:spPr/>
        <p:txBody>
          <a:bodyPr/>
          <a:lstStyle/>
          <a:p>
            <a:r>
              <a:rPr lang="en-IN" b="1" dirty="0"/>
              <a:t>Diffuse Reflection</a:t>
            </a:r>
          </a:p>
          <a:p>
            <a:r>
              <a:rPr lang="en-IN" dirty="0"/>
              <a:t>Light scatters in all directions.</a:t>
            </a:r>
          </a:p>
          <a:p>
            <a:r>
              <a:rPr lang="en-IN" b="1" dirty="0"/>
              <a:t>Example</a:t>
            </a:r>
          </a:p>
          <a:p>
            <a:r>
              <a:rPr lang="en-IN" dirty="0"/>
              <a:t>Chalk </a:t>
            </a:r>
          </a:p>
          <a:p>
            <a:r>
              <a:rPr lang="en-IN" dirty="0"/>
              <a:t>White paper </a:t>
            </a:r>
          </a:p>
          <a:p>
            <a:r>
              <a:rPr lang="en-IN" dirty="0"/>
              <a:t>Wall</a:t>
            </a:r>
          </a:p>
          <a:p>
            <a:endParaRPr lang="en-IN" dirty="0"/>
          </a:p>
        </p:txBody>
      </p:sp>
    </p:spTree>
    <p:extLst>
      <p:ext uri="{BB962C8B-B14F-4D97-AF65-F5344CB8AC3E}">
        <p14:creationId xmlns:p14="http://schemas.microsoft.com/office/powerpoint/2010/main" val="33636907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285EF-B5A6-60EB-C6D1-946B3A2172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747AB0-3DF2-9426-62E2-4656F87CD87B}"/>
              </a:ext>
            </a:extLst>
          </p:cNvPr>
          <p:cNvSpPr>
            <a:spLocks noGrp="1"/>
          </p:cNvSpPr>
          <p:nvPr>
            <p:ph idx="1"/>
          </p:nvPr>
        </p:nvSpPr>
        <p:spPr/>
        <p:txBody>
          <a:bodyPr/>
          <a:lstStyle/>
          <a:p>
            <a:r>
              <a:rPr lang="en-IN" b="1" dirty="0"/>
              <a:t>B. Specular Reflection</a:t>
            </a:r>
          </a:p>
          <a:p>
            <a:r>
              <a:rPr lang="en-IN" dirty="0"/>
              <a:t>Mirror-like reflection.</a:t>
            </a:r>
          </a:p>
          <a:p>
            <a:r>
              <a:rPr lang="en-IN" b="1" dirty="0"/>
              <a:t>Example</a:t>
            </a:r>
          </a:p>
          <a:p>
            <a:r>
              <a:rPr lang="en-IN" dirty="0"/>
              <a:t>Mirror </a:t>
            </a:r>
          </a:p>
          <a:p>
            <a:r>
              <a:rPr lang="en-IN" dirty="0"/>
              <a:t>Glass </a:t>
            </a:r>
          </a:p>
          <a:p>
            <a:r>
              <a:rPr lang="en-IN" dirty="0"/>
              <a:t>Polished steel</a:t>
            </a:r>
          </a:p>
          <a:p>
            <a:endParaRPr lang="en-IN" dirty="0"/>
          </a:p>
        </p:txBody>
      </p:sp>
    </p:spTree>
    <p:extLst>
      <p:ext uri="{BB962C8B-B14F-4D97-AF65-F5344CB8AC3E}">
        <p14:creationId xmlns:p14="http://schemas.microsoft.com/office/powerpoint/2010/main" val="5743960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0D2DD-1EC7-B02F-E161-813CE65920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CD7F70-C090-C799-59AC-3467937219A0}"/>
              </a:ext>
            </a:extLst>
          </p:cNvPr>
          <p:cNvSpPr>
            <a:spLocks noGrp="1"/>
          </p:cNvSpPr>
          <p:nvPr>
            <p:ph idx="1"/>
          </p:nvPr>
        </p:nvSpPr>
        <p:spPr/>
        <p:txBody>
          <a:bodyPr/>
          <a:lstStyle/>
          <a:p>
            <a:r>
              <a:rPr lang="en-IN" b="1" dirty="0"/>
              <a:t>C. Glossy Reflection</a:t>
            </a:r>
          </a:p>
          <a:p>
            <a:r>
              <a:rPr lang="en-IN" dirty="0"/>
              <a:t>Between diffuse and specular.</a:t>
            </a:r>
          </a:p>
          <a:p>
            <a:r>
              <a:rPr lang="en-IN" b="1" dirty="0"/>
              <a:t>Example</a:t>
            </a:r>
          </a:p>
          <a:p>
            <a:r>
              <a:rPr lang="en-IN" dirty="0"/>
              <a:t>Car paint </a:t>
            </a:r>
          </a:p>
          <a:p>
            <a:r>
              <a:rPr lang="en-IN" dirty="0"/>
              <a:t>Plastic </a:t>
            </a:r>
          </a:p>
          <a:p>
            <a:r>
              <a:rPr lang="en-IN" dirty="0"/>
              <a:t>Produces shiny spots.</a:t>
            </a:r>
          </a:p>
          <a:p>
            <a:endParaRPr lang="en-IN" dirty="0"/>
          </a:p>
        </p:txBody>
      </p:sp>
    </p:spTree>
    <p:extLst>
      <p:ext uri="{BB962C8B-B14F-4D97-AF65-F5344CB8AC3E}">
        <p14:creationId xmlns:p14="http://schemas.microsoft.com/office/powerpoint/2010/main" val="26820805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D5CF76-287A-3204-2484-B63E6FB04305}"/>
              </a:ext>
            </a:extLst>
          </p:cNvPr>
          <p:cNvSpPr>
            <a:spLocks noGrp="1"/>
          </p:cNvSpPr>
          <p:nvPr>
            <p:ph idx="1"/>
          </p:nvPr>
        </p:nvSpPr>
        <p:spPr>
          <a:xfrm>
            <a:off x="838200" y="342900"/>
            <a:ext cx="10515600" cy="5834063"/>
          </a:xfrm>
        </p:spPr>
        <p:txBody>
          <a:bodyPr>
            <a:normAutofit lnSpcReduction="10000"/>
          </a:bodyPr>
          <a:lstStyle/>
          <a:p>
            <a:r>
              <a:rPr lang="en-IN" b="1" dirty="0" err="1"/>
              <a:t>Color</a:t>
            </a:r>
            <a:r>
              <a:rPr lang="en-IN" b="1" dirty="0"/>
              <a:t> Formation</a:t>
            </a:r>
          </a:p>
          <a:p>
            <a:r>
              <a:rPr lang="en-IN" b="1" dirty="0"/>
              <a:t>Why Do Objects Have </a:t>
            </a:r>
            <a:r>
              <a:rPr lang="en-IN" b="1" dirty="0" err="1"/>
              <a:t>Color</a:t>
            </a:r>
            <a:r>
              <a:rPr lang="en-IN" b="1" dirty="0"/>
              <a:t>?</a:t>
            </a:r>
          </a:p>
          <a:p>
            <a:r>
              <a:rPr lang="en-IN" dirty="0"/>
              <a:t>Objects reflect some </a:t>
            </a:r>
            <a:r>
              <a:rPr lang="en-IN" dirty="0" err="1"/>
              <a:t>colors</a:t>
            </a:r>
            <a:r>
              <a:rPr lang="en-IN" dirty="0"/>
              <a:t> and absorb others.</a:t>
            </a:r>
          </a:p>
          <a:p>
            <a:r>
              <a:rPr lang="en-IN" dirty="0"/>
              <a:t>Example: Red Apple</a:t>
            </a:r>
          </a:p>
          <a:p>
            <a:endParaRPr lang="en-IN" dirty="0"/>
          </a:p>
          <a:p>
            <a:r>
              <a:rPr lang="en-IN" dirty="0"/>
              <a:t>The apple:</a:t>
            </a:r>
          </a:p>
          <a:p>
            <a:r>
              <a:rPr lang="en-IN" dirty="0"/>
              <a:t>Reflects red </a:t>
            </a:r>
          </a:p>
          <a:p>
            <a:r>
              <a:rPr lang="en-IN" dirty="0"/>
              <a:t>Absorbs green </a:t>
            </a:r>
          </a:p>
          <a:p>
            <a:r>
              <a:rPr lang="en-IN" dirty="0"/>
              <a:t>Absorbs blue </a:t>
            </a:r>
          </a:p>
          <a:p>
            <a:endParaRPr lang="en-IN" dirty="0"/>
          </a:p>
          <a:p>
            <a:pPr marL="0" indent="0">
              <a:buNone/>
            </a:pPr>
            <a:r>
              <a:rPr lang="en-IN" dirty="0"/>
              <a:t>Therefore:</a:t>
            </a:r>
          </a:p>
          <a:p>
            <a:r>
              <a:rPr lang="en-IN" dirty="0"/>
              <a:t> We see red.</a:t>
            </a:r>
          </a:p>
          <a:p>
            <a:endParaRPr lang="en-IN" dirty="0"/>
          </a:p>
        </p:txBody>
      </p:sp>
    </p:spTree>
    <p:extLst>
      <p:ext uri="{BB962C8B-B14F-4D97-AF65-F5344CB8AC3E}">
        <p14:creationId xmlns:p14="http://schemas.microsoft.com/office/powerpoint/2010/main" val="3802560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CDE4-D026-F4EF-024E-49EF5F3EF448}"/>
              </a:ext>
            </a:extLst>
          </p:cNvPr>
          <p:cNvSpPr>
            <a:spLocks noGrp="1"/>
          </p:cNvSpPr>
          <p:nvPr>
            <p:ph type="title"/>
          </p:nvPr>
        </p:nvSpPr>
        <p:spPr/>
        <p:txBody>
          <a:bodyPr/>
          <a:lstStyle/>
          <a:p>
            <a:endParaRPr lang="en-IN"/>
          </a:p>
        </p:txBody>
      </p:sp>
      <p:pic>
        <p:nvPicPr>
          <p:cNvPr id="4" name="Content Placeholder 3" descr="https://images.openai.com/static-rsc-4/QQaDqiB0f1hYQnMu3X0Dod8WhevppFMZd8hMEhHVcPdCAkNJ9mwFYPYNkavqNbKYOCE3AUGhbDSblx2PzavhF0uBmHnQVa_wQDY_1sEsj7Pjd3o2uOGZDfyY1XgBk49cSlX4djsPUjNHQh6IskDhGPybXubXiv6mLZshQsZm4wYnYgHHOK_ZYGwWG39XtmbJ?purpose=fullsize">
            <a:extLst>
              <a:ext uri="{FF2B5EF4-FFF2-40B4-BE49-F238E27FC236}">
                <a16:creationId xmlns:a16="http://schemas.microsoft.com/office/drawing/2014/main" id="{8928ECCA-3234-EB5E-009E-C18DD36BE8E9}"/>
              </a:ext>
            </a:extLst>
          </p:cNvPr>
          <p:cNvPicPr>
            <a:picLocks noGrp="1" noChangeAspect="1"/>
          </p:cNvPicPr>
          <p:nvPr>
            <p:ph idx="1"/>
          </p:nvPr>
        </p:nvPicPr>
        <p:blipFill>
          <a:blip r:embed="rId2"/>
          <a:stretch>
            <a:fillRect/>
          </a:stretch>
        </p:blipFill>
        <p:spPr>
          <a:xfrm>
            <a:off x="1635370" y="1825625"/>
            <a:ext cx="8379068" cy="4351338"/>
          </a:xfrm>
          <a:prstGeom prst="rect">
            <a:avLst/>
          </a:prstGeom>
        </p:spPr>
      </p:pic>
    </p:spTree>
    <p:extLst>
      <p:ext uri="{BB962C8B-B14F-4D97-AF65-F5344CB8AC3E}">
        <p14:creationId xmlns:p14="http://schemas.microsoft.com/office/powerpoint/2010/main" val="28123741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images.openai.com/static-rsc-4/dlmMucvm5-5-8uF3G3fDpMWr-hw8MElb92-9wjF4aCX5nkxjxUjKWm0gu2C4Lja3TWXl8RYdSxBoaflglwQjnKNa5PsSGz8lND8o6ETbrWjRR_X4yxpjosvkiIoZ9TTrulS7eABZIoU6DIc_1fj6960mlbgDlCEx2fnXk5JNHGYoTTmGkh18JVszrJCXvhd_?purpose=fullsize">
            <a:extLst>
              <a:ext uri="{FF2B5EF4-FFF2-40B4-BE49-F238E27FC236}">
                <a16:creationId xmlns:a16="http://schemas.microsoft.com/office/drawing/2014/main" id="{6E99084C-2598-C79F-ADAC-5D51192855CC}"/>
              </a:ext>
            </a:extLst>
          </p:cNvPr>
          <p:cNvPicPr>
            <a:picLocks noGrp="1" noChangeAspect="1"/>
          </p:cNvPicPr>
          <p:nvPr>
            <p:ph idx="1"/>
          </p:nvPr>
        </p:nvPicPr>
        <p:blipFill>
          <a:blip r:embed="rId2"/>
          <a:stretch>
            <a:fillRect/>
          </a:stretch>
        </p:blipFill>
        <p:spPr>
          <a:xfrm>
            <a:off x="1072662" y="369277"/>
            <a:ext cx="9108830" cy="6339254"/>
          </a:xfrm>
          <a:prstGeom prst="rect">
            <a:avLst/>
          </a:prstGeom>
        </p:spPr>
      </p:pic>
    </p:spTree>
    <p:extLst>
      <p:ext uri="{BB962C8B-B14F-4D97-AF65-F5344CB8AC3E}">
        <p14:creationId xmlns:p14="http://schemas.microsoft.com/office/powerpoint/2010/main" val="6890018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9EBDF-E2D2-BA4C-B268-F1AD9426F98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5396AD4E-C01F-CE04-2686-B77E81D8965C}"/>
              </a:ext>
            </a:extLst>
          </p:cNvPr>
          <p:cNvGraphicFramePr>
            <a:graphicFrameLocks noGrp="1"/>
          </p:cNvGraphicFramePr>
          <p:nvPr>
            <p:ph idx="1"/>
          </p:nvPr>
        </p:nvGraphicFramePr>
        <p:xfrm>
          <a:off x="838200" y="2721134"/>
          <a:ext cx="10515600" cy="2560320"/>
        </p:xfrm>
        <a:graphic>
          <a:graphicData uri="http://schemas.openxmlformats.org/drawingml/2006/table">
            <a:tbl>
              <a:tblPr/>
              <a:tblGrid>
                <a:gridCol w="5257800">
                  <a:extLst>
                    <a:ext uri="{9D8B030D-6E8A-4147-A177-3AD203B41FA5}">
                      <a16:colId xmlns:a16="http://schemas.microsoft.com/office/drawing/2014/main" val="2557516306"/>
                    </a:ext>
                  </a:extLst>
                </a:gridCol>
                <a:gridCol w="5257800">
                  <a:extLst>
                    <a:ext uri="{9D8B030D-6E8A-4147-A177-3AD203B41FA5}">
                      <a16:colId xmlns:a16="http://schemas.microsoft.com/office/drawing/2014/main" val="1995142546"/>
                    </a:ext>
                  </a:extLst>
                </a:gridCol>
              </a:tblGrid>
              <a:tr h="0">
                <a:tc>
                  <a:txBody>
                    <a:bodyPr/>
                    <a:lstStyle/>
                    <a:p>
                      <a:pPr>
                        <a:buNone/>
                      </a:pPr>
                      <a:r>
                        <a:rPr lang="en-IN"/>
                        <a:t>Color</a:t>
                      </a:r>
                    </a:p>
                  </a:txBody>
                  <a:tcPr anchor="ctr">
                    <a:lnL>
                      <a:noFill/>
                    </a:lnL>
                    <a:lnR>
                      <a:noFill/>
                    </a:lnR>
                    <a:lnT>
                      <a:noFill/>
                    </a:lnT>
                    <a:lnB>
                      <a:noFill/>
                    </a:lnB>
                    <a:noFill/>
                  </a:tcPr>
                </a:tc>
                <a:tc>
                  <a:txBody>
                    <a:bodyPr/>
                    <a:lstStyle/>
                    <a:p>
                      <a:pPr>
                        <a:buNone/>
                      </a:pPr>
                      <a:r>
                        <a:rPr lang="en-IN"/>
                        <a:t>Approx. Wavelength</a:t>
                      </a:r>
                    </a:p>
                  </a:txBody>
                  <a:tcPr anchor="ctr">
                    <a:lnL>
                      <a:noFill/>
                    </a:lnL>
                    <a:lnR>
                      <a:noFill/>
                    </a:lnR>
                    <a:lnT>
                      <a:noFill/>
                    </a:lnT>
                    <a:lnB>
                      <a:noFill/>
                    </a:lnB>
                    <a:noFill/>
                  </a:tcPr>
                </a:tc>
                <a:extLst>
                  <a:ext uri="{0D108BD9-81ED-4DB2-BD59-A6C34878D82A}">
                    <a16:rowId xmlns:a16="http://schemas.microsoft.com/office/drawing/2014/main" val="328185778"/>
                  </a:ext>
                </a:extLst>
              </a:tr>
              <a:tr h="0">
                <a:tc>
                  <a:txBody>
                    <a:bodyPr/>
                    <a:lstStyle/>
                    <a:p>
                      <a:pPr>
                        <a:buNone/>
                      </a:pPr>
                      <a:r>
                        <a:rPr lang="en-IN"/>
                        <a:t>Violet</a:t>
                      </a:r>
                    </a:p>
                  </a:txBody>
                  <a:tcPr anchor="ctr">
                    <a:lnL>
                      <a:noFill/>
                    </a:lnL>
                    <a:lnR>
                      <a:noFill/>
                    </a:lnR>
                    <a:lnT>
                      <a:noFill/>
                    </a:lnT>
                    <a:lnB>
                      <a:noFill/>
                    </a:lnB>
                    <a:noFill/>
                  </a:tcPr>
                </a:tc>
                <a:tc>
                  <a:txBody>
                    <a:bodyPr/>
                    <a:lstStyle/>
                    <a:p>
                      <a:pPr>
                        <a:buNone/>
                      </a:pPr>
                      <a:r>
                        <a:rPr lang="en-IN"/>
                        <a:t>400 nm</a:t>
                      </a:r>
                    </a:p>
                  </a:txBody>
                  <a:tcPr anchor="ctr">
                    <a:lnL>
                      <a:noFill/>
                    </a:lnL>
                    <a:lnR>
                      <a:noFill/>
                    </a:lnR>
                    <a:lnT>
                      <a:noFill/>
                    </a:lnT>
                    <a:lnB>
                      <a:noFill/>
                    </a:lnB>
                    <a:noFill/>
                  </a:tcPr>
                </a:tc>
                <a:extLst>
                  <a:ext uri="{0D108BD9-81ED-4DB2-BD59-A6C34878D82A}">
                    <a16:rowId xmlns:a16="http://schemas.microsoft.com/office/drawing/2014/main" val="2084354244"/>
                  </a:ext>
                </a:extLst>
              </a:tr>
              <a:tr h="0">
                <a:tc>
                  <a:txBody>
                    <a:bodyPr/>
                    <a:lstStyle/>
                    <a:p>
                      <a:pPr>
                        <a:buNone/>
                      </a:pPr>
                      <a:r>
                        <a:rPr lang="en-IN"/>
                        <a:t>Blue</a:t>
                      </a:r>
                    </a:p>
                  </a:txBody>
                  <a:tcPr anchor="ctr">
                    <a:lnL>
                      <a:noFill/>
                    </a:lnL>
                    <a:lnR>
                      <a:noFill/>
                    </a:lnR>
                    <a:lnT>
                      <a:noFill/>
                    </a:lnT>
                    <a:lnB>
                      <a:noFill/>
                    </a:lnB>
                    <a:noFill/>
                  </a:tcPr>
                </a:tc>
                <a:tc>
                  <a:txBody>
                    <a:bodyPr/>
                    <a:lstStyle/>
                    <a:p>
                      <a:pPr>
                        <a:buNone/>
                      </a:pPr>
                      <a:r>
                        <a:rPr lang="en-IN"/>
                        <a:t>450 nm</a:t>
                      </a:r>
                    </a:p>
                  </a:txBody>
                  <a:tcPr anchor="ctr">
                    <a:lnL>
                      <a:noFill/>
                    </a:lnL>
                    <a:lnR>
                      <a:noFill/>
                    </a:lnR>
                    <a:lnT>
                      <a:noFill/>
                    </a:lnT>
                    <a:lnB>
                      <a:noFill/>
                    </a:lnB>
                    <a:noFill/>
                  </a:tcPr>
                </a:tc>
                <a:extLst>
                  <a:ext uri="{0D108BD9-81ED-4DB2-BD59-A6C34878D82A}">
                    <a16:rowId xmlns:a16="http://schemas.microsoft.com/office/drawing/2014/main" val="1221393025"/>
                  </a:ext>
                </a:extLst>
              </a:tr>
              <a:tr h="0">
                <a:tc>
                  <a:txBody>
                    <a:bodyPr/>
                    <a:lstStyle/>
                    <a:p>
                      <a:pPr>
                        <a:buNone/>
                      </a:pPr>
                      <a:r>
                        <a:rPr lang="en-IN"/>
                        <a:t>Green</a:t>
                      </a:r>
                    </a:p>
                  </a:txBody>
                  <a:tcPr anchor="ctr">
                    <a:lnL>
                      <a:noFill/>
                    </a:lnL>
                    <a:lnR>
                      <a:noFill/>
                    </a:lnR>
                    <a:lnT>
                      <a:noFill/>
                    </a:lnT>
                    <a:lnB>
                      <a:noFill/>
                    </a:lnB>
                    <a:noFill/>
                  </a:tcPr>
                </a:tc>
                <a:tc>
                  <a:txBody>
                    <a:bodyPr/>
                    <a:lstStyle/>
                    <a:p>
                      <a:pPr>
                        <a:buNone/>
                      </a:pPr>
                      <a:r>
                        <a:rPr lang="en-IN"/>
                        <a:t>550 nm</a:t>
                      </a:r>
                    </a:p>
                  </a:txBody>
                  <a:tcPr anchor="ctr">
                    <a:lnL>
                      <a:noFill/>
                    </a:lnL>
                    <a:lnR>
                      <a:noFill/>
                    </a:lnR>
                    <a:lnT>
                      <a:noFill/>
                    </a:lnT>
                    <a:lnB>
                      <a:noFill/>
                    </a:lnB>
                    <a:noFill/>
                  </a:tcPr>
                </a:tc>
                <a:extLst>
                  <a:ext uri="{0D108BD9-81ED-4DB2-BD59-A6C34878D82A}">
                    <a16:rowId xmlns:a16="http://schemas.microsoft.com/office/drawing/2014/main" val="571343971"/>
                  </a:ext>
                </a:extLst>
              </a:tr>
              <a:tr h="0">
                <a:tc>
                  <a:txBody>
                    <a:bodyPr/>
                    <a:lstStyle/>
                    <a:p>
                      <a:pPr>
                        <a:buNone/>
                      </a:pPr>
                      <a:r>
                        <a:rPr lang="en-IN"/>
                        <a:t>Yellow</a:t>
                      </a:r>
                    </a:p>
                  </a:txBody>
                  <a:tcPr anchor="ctr">
                    <a:lnL>
                      <a:noFill/>
                    </a:lnL>
                    <a:lnR>
                      <a:noFill/>
                    </a:lnR>
                    <a:lnT>
                      <a:noFill/>
                    </a:lnT>
                    <a:lnB>
                      <a:noFill/>
                    </a:lnB>
                    <a:noFill/>
                  </a:tcPr>
                </a:tc>
                <a:tc>
                  <a:txBody>
                    <a:bodyPr/>
                    <a:lstStyle/>
                    <a:p>
                      <a:pPr>
                        <a:buNone/>
                      </a:pPr>
                      <a:r>
                        <a:rPr lang="en-IN"/>
                        <a:t>580 nm</a:t>
                      </a:r>
                    </a:p>
                  </a:txBody>
                  <a:tcPr anchor="ctr">
                    <a:lnL>
                      <a:noFill/>
                    </a:lnL>
                    <a:lnR>
                      <a:noFill/>
                    </a:lnR>
                    <a:lnT>
                      <a:noFill/>
                    </a:lnT>
                    <a:lnB>
                      <a:noFill/>
                    </a:lnB>
                    <a:noFill/>
                  </a:tcPr>
                </a:tc>
                <a:extLst>
                  <a:ext uri="{0D108BD9-81ED-4DB2-BD59-A6C34878D82A}">
                    <a16:rowId xmlns:a16="http://schemas.microsoft.com/office/drawing/2014/main" val="3181385761"/>
                  </a:ext>
                </a:extLst>
              </a:tr>
              <a:tr h="0">
                <a:tc>
                  <a:txBody>
                    <a:bodyPr/>
                    <a:lstStyle/>
                    <a:p>
                      <a:pPr>
                        <a:buNone/>
                      </a:pPr>
                      <a:r>
                        <a:rPr lang="en-IN"/>
                        <a:t>Orange</a:t>
                      </a:r>
                    </a:p>
                  </a:txBody>
                  <a:tcPr anchor="ctr">
                    <a:lnL>
                      <a:noFill/>
                    </a:lnL>
                    <a:lnR>
                      <a:noFill/>
                    </a:lnR>
                    <a:lnT>
                      <a:noFill/>
                    </a:lnT>
                    <a:lnB>
                      <a:noFill/>
                    </a:lnB>
                    <a:noFill/>
                  </a:tcPr>
                </a:tc>
                <a:tc>
                  <a:txBody>
                    <a:bodyPr/>
                    <a:lstStyle/>
                    <a:p>
                      <a:pPr>
                        <a:buNone/>
                      </a:pPr>
                      <a:r>
                        <a:rPr lang="en-IN"/>
                        <a:t>620 nm</a:t>
                      </a:r>
                    </a:p>
                  </a:txBody>
                  <a:tcPr anchor="ctr">
                    <a:lnL>
                      <a:noFill/>
                    </a:lnL>
                    <a:lnR>
                      <a:noFill/>
                    </a:lnR>
                    <a:lnT>
                      <a:noFill/>
                    </a:lnT>
                    <a:lnB>
                      <a:noFill/>
                    </a:lnB>
                    <a:noFill/>
                  </a:tcPr>
                </a:tc>
                <a:extLst>
                  <a:ext uri="{0D108BD9-81ED-4DB2-BD59-A6C34878D82A}">
                    <a16:rowId xmlns:a16="http://schemas.microsoft.com/office/drawing/2014/main" val="1128225438"/>
                  </a:ext>
                </a:extLst>
              </a:tr>
              <a:tr h="0">
                <a:tc>
                  <a:txBody>
                    <a:bodyPr/>
                    <a:lstStyle/>
                    <a:p>
                      <a:pPr>
                        <a:buNone/>
                      </a:pPr>
                      <a:r>
                        <a:rPr lang="en-IN"/>
                        <a:t>Red</a:t>
                      </a:r>
                    </a:p>
                  </a:txBody>
                  <a:tcPr anchor="ctr">
                    <a:lnL>
                      <a:noFill/>
                    </a:lnL>
                    <a:lnR>
                      <a:noFill/>
                    </a:lnR>
                    <a:lnT>
                      <a:noFill/>
                    </a:lnT>
                    <a:lnB>
                      <a:noFill/>
                    </a:lnB>
                    <a:noFill/>
                  </a:tcPr>
                </a:tc>
                <a:tc>
                  <a:txBody>
                    <a:bodyPr/>
                    <a:lstStyle/>
                    <a:p>
                      <a:pPr>
                        <a:buNone/>
                      </a:pPr>
                      <a:r>
                        <a:rPr lang="en-IN" dirty="0"/>
                        <a:t>700 nm</a:t>
                      </a:r>
                    </a:p>
                  </a:txBody>
                  <a:tcPr anchor="ctr">
                    <a:lnL>
                      <a:noFill/>
                    </a:lnL>
                    <a:lnR>
                      <a:noFill/>
                    </a:lnR>
                    <a:lnT>
                      <a:noFill/>
                    </a:lnT>
                    <a:lnB>
                      <a:noFill/>
                    </a:lnB>
                    <a:noFill/>
                  </a:tcPr>
                </a:tc>
                <a:extLst>
                  <a:ext uri="{0D108BD9-81ED-4DB2-BD59-A6C34878D82A}">
                    <a16:rowId xmlns:a16="http://schemas.microsoft.com/office/drawing/2014/main" val="736260105"/>
                  </a:ext>
                </a:extLst>
              </a:tr>
            </a:tbl>
          </a:graphicData>
        </a:graphic>
      </p:graphicFrame>
    </p:spTree>
    <p:extLst>
      <p:ext uri="{BB962C8B-B14F-4D97-AF65-F5344CB8AC3E}">
        <p14:creationId xmlns:p14="http://schemas.microsoft.com/office/powerpoint/2010/main" val="32465642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CB6FA1-AA81-39DE-F6B4-A441C76D5EF8}"/>
              </a:ext>
            </a:extLst>
          </p:cNvPr>
          <p:cNvPicPr>
            <a:picLocks noGrp="1" noChangeAspect="1"/>
          </p:cNvPicPr>
          <p:nvPr>
            <p:ph idx="1"/>
          </p:nvPr>
        </p:nvPicPr>
        <p:blipFill>
          <a:blip r:embed="rId2"/>
          <a:stretch>
            <a:fillRect/>
          </a:stretch>
        </p:blipFill>
        <p:spPr>
          <a:xfrm>
            <a:off x="465991" y="123092"/>
            <a:ext cx="10418885" cy="6541477"/>
          </a:xfrm>
          <a:prstGeom prst="rect">
            <a:avLst/>
          </a:prstGeom>
        </p:spPr>
      </p:pic>
    </p:spTree>
    <p:extLst>
      <p:ext uri="{BB962C8B-B14F-4D97-AF65-F5344CB8AC3E}">
        <p14:creationId xmlns:p14="http://schemas.microsoft.com/office/powerpoint/2010/main" val="29854370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61E88-C97F-A1C7-7A9D-5B8396E6EDDF}"/>
              </a:ext>
            </a:extLst>
          </p:cNvPr>
          <p:cNvSpPr>
            <a:spLocks noGrp="1"/>
          </p:cNvSpPr>
          <p:nvPr>
            <p:ph type="title"/>
          </p:nvPr>
        </p:nvSpPr>
        <p:spPr/>
        <p:txBody>
          <a:bodyPr/>
          <a:lstStyle/>
          <a:p>
            <a:r>
              <a:rPr lang="en-IN" b="1" dirty="0"/>
              <a:t>Orthographic Projection </a:t>
            </a:r>
          </a:p>
        </p:txBody>
      </p:sp>
      <p:sp>
        <p:nvSpPr>
          <p:cNvPr id="3" name="Content Placeholder 2">
            <a:extLst>
              <a:ext uri="{FF2B5EF4-FFF2-40B4-BE49-F238E27FC236}">
                <a16:creationId xmlns:a16="http://schemas.microsoft.com/office/drawing/2014/main" id="{33FD9AB4-5FF5-FD9D-1ED6-E970860A73C6}"/>
              </a:ext>
            </a:extLst>
          </p:cNvPr>
          <p:cNvSpPr>
            <a:spLocks noGrp="1"/>
          </p:cNvSpPr>
          <p:nvPr>
            <p:ph idx="1"/>
          </p:nvPr>
        </p:nvSpPr>
        <p:spPr/>
        <p:txBody>
          <a:bodyPr/>
          <a:lstStyle/>
          <a:p>
            <a:r>
              <a:rPr lang="en-IN" dirty="0"/>
              <a:t>Orthographic projection is a method of converting a </a:t>
            </a:r>
            <a:r>
              <a:rPr lang="en-IN" b="1" dirty="0"/>
              <a:t>3D object into a 2D image</a:t>
            </a:r>
            <a:r>
              <a:rPr lang="en-IN" dirty="0"/>
              <a:t> where:</a:t>
            </a:r>
          </a:p>
          <a:p>
            <a:r>
              <a:rPr lang="en-IN" dirty="0"/>
              <a:t>Object size does </a:t>
            </a:r>
            <a:r>
              <a:rPr lang="en-IN" b="1" dirty="0"/>
              <a:t>not change with distance</a:t>
            </a:r>
            <a:r>
              <a:rPr lang="en-IN" dirty="0"/>
              <a:t> </a:t>
            </a:r>
          </a:p>
          <a:p>
            <a:r>
              <a:rPr lang="en-IN" dirty="0"/>
              <a:t>Parallel lines remain parallel (If two lines are parallel in the real world, they stay parallel in the image).</a:t>
            </a:r>
          </a:p>
          <a:p>
            <a:r>
              <a:rPr lang="en-IN" dirty="0"/>
              <a:t>No depth effect is visible (You cannot easily tell which object is closer or farther. The image looks flat)</a:t>
            </a:r>
          </a:p>
        </p:txBody>
      </p:sp>
    </p:spTree>
    <p:extLst>
      <p:ext uri="{BB962C8B-B14F-4D97-AF65-F5344CB8AC3E}">
        <p14:creationId xmlns:p14="http://schemas.microsoft.com/office/powerpoint/2010/main" val="13032866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4CE8-D3D6-1690-BB91-97F188DCCEC8}"/>
              </a:ext>
            </a:extLst>
          </p:cNvPr>
          <p:cNvSpPr>
            <a:spLocks noGrp="1"/>
          </p:cNvSpPr>
          <p:nvPr>
            <p:ph idx="1"/>
          </p:nvPr>
        </p:nvSpPr>
        <p:spPr>
          <a:xfrm>
            <a:off x="838200" y="430823"/>
            <a:ext cx="10515600" cy="5746140"/>
          </a:xfrm>
        </p:spPr>
        <p:txBody>
          <a:bodyPr/>
          <a:lstStyle/>
          <a:p>
            <a:r>
              <a:rPr lang="en-IN" dirty="0"/>
              <a:t>In orthographic projection, near and far objects appear the same size.</a:t>
            </a:r>
          </a:p>
          <a:p>
            <a:r>
              <a:rPr lang="en-IN" dirty="0"/>
              <a:t>Imagine looking at a building from very, very far away using a powerful zoom lens.</a:t>
            </a:r>
          </a:p>
          <a:p>
            <a:r>
              <a:rPr lang="en-IN" dirty="0"/>
              <a:t>Imagine looking at a building from very, very far away using a powerful zoom lens.</a:t>
            </a:r>
          </a:p>
          <a:p>
            <a:r>
              <a:rPr lang="en-IN" dirty="0"/>
              <a:t>The depth differences become negligible, and the building looks "flat.“</a:t>
            </a:r>
          </a:p>
          <a:p>
            <a:r>
              <a:rPr lang="en-IN" dirty="0"/>
              <a:t>This is close to orthographic projection.</a:t>
            </a:r>
          </a:p>
          <a:p>
            <a:endParaRPr lang="en-IN" dirty="0"/>
          </a:p>
        </p:txBody>
      </p:sp>
    </p:spTree>
    <p:extLst>
      <p:ext uri="{BB962C8B-B14F-4D97-AF65-F5344CB8AC3E}">
        <p14:creationId xmlns:p14="http://schemas.microsoft.com/office/powerpoint/2010/main" val="31408694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DEEFA-E346-0809-754F-B33A96F288C0}"/>
              </a:ext>
            </a:extLst>
          </p:cNvPr>
          <p:cNvSpPr>
            <a:spLocks noGrp="1"/>
          </p:cNvSpPr>
          <p:nvPr>
            <p:ph type="title"/>
          </p:nvPr>
        </p:nvSpPr>
        <p:spPr/>
        <p:txBody>
          <a:bodyPr/>
          <a:lstStyle/>
          <a:p>
            <a:r>
              <a:rPr lang="en-IN" b="1" dirty="0"/>
              <a:t>How It Works</a:t>
            </a:r>
            <a:br>
              <a:rPr lang="en-IN" b="1" dirty="0"/>
            </a:br>
            <a:endParaRPr lang="en-IN" dirty="0"/>
          </a:p>
        </p:txBody>
      </p:sp>
      <p:sp>
        <p:nvSpPr>
          <p:cNvPr id="3" name="Content Placeholder 2">
            <a:extLst>
              <a:ext uri="{FF2B5EF4-FFF2-40B4-BE49-F238E27FC236}">
                <a16:creationId xmlns:a16="http://schemas.microsoft.com/office/drawing/2014/main" id="{CF7E7685-4AEC-D83D-5370-9CE08751B38A}"/>
              </a:ext>
            </a:extLst>
          </p:cNvPr>
          <p:cNvSpPr>
            <a:spLocks noGrp="1"/>
          </p:cNvSpPr>
          <p:nvPr>
            <p:ph idx="1"/>
          </p:nvPr>
        </p:nvSpPr>
        <p:spPr/>
        <p:txBody>
          <a:bodyPr/>
          <a:lstStyle/>
          <a:p>
            <a:r>
              <a:rPr lang="en-IN" dirty="0"/>
              <a:t>In orthographic projection, all projection rays are parallel.</a:t>
            </a:r>
          </a:p>
          <a:p>
            <a:r>
              <a:rPr lang="en-IN" dirty="0"/>
              <a:t>Every point is projected straight.</a:t>
            </a:r>
          </a:p>
          <a:p>
            <a:r>
              <a:rPr lang="en-IN" dirty="0"/>
              <a:t>Example:</a:t>
            </a:r>
          </a:p>
          <a:p>
            <a:r>
              <a:rPr lang="en-IN" dirty="0"/>
              <a:t>Suppose there are two identical cubes.</a:t>
            </a:r>
          </a:p>
          <a:p>
            <a:r>
              <a:rPr lang="en-US" dirty="0"/>
              <a:t>Cube A = 2 m away</a:t>
            </a:r>
          </a:p>
          <a:p>
            <a:endParaRPr lang="en-US" dirty="0"/>
          </a:p>
          <a:p>
            <a:r>
              <a:rPr lang="en-US" dirty="0"/>
              <a:t>Cube B = 20 m away</a:t>
            </a:r>
            <a:endParaRPr lang="en-IN" dirty="0"/>
          </a:p>
        </p:txBody>
      </p:sp>
    </p:spTree>
    <p:extLst>
      <p:ext uri="{BB962C8B-B14F-4D97-AF65-F5344CB8AC3E}">
        <p14:creationId xmlns:p14="http://schemas.microsoft.com/office/powerpoint/2010/main" val="30542560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1B3F-0C1A-5B2C-6F4F-027A06E25B9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F8FF97-7CF7-09A2-A0BB-BB47C1ACF16B}"/>
                  </a:ext>
                </a:extLst>
              </p:cNvPr>
              <p:cNvSpPr>
                <a:spLocks noGrp="1"/>
              </p:cNvSpPr>
              <p:nvPr>
                <p:ph idx="1"/>
              </p:nvPr>
            </p:nvSpPr>
            <p:spPr/>
            <p:txBody>
              <a:bodyPr/>
              <a:lstStyle/>
              <a:p>
                <a:r>
                  <a:rPr lang="en-IN" dirty="0"/>
                  <a:t>Real World</a:t>
                </a:r>
              </a:p>
              <a:p>
                <a:r>
                  <a:rPr lang="en-IN" dirty="0"/>
                  <a:t>Both cubes are identical.</a:t>
                </a:r>
              </a:p>
              <a:p>
                <a:r>
                  <a:rPr lang="en-IN" dirty="0"/>
                  <a:t>Both appear exactly the same size.</a:t>
                </a:r>
              </a:p>
              <a:p>
                <a:r>
                  <a:rPr lang="en-IN" dirty="0"/>
                  <a:t>Distance has no effect.</a:t>
                </a:r>
              </a:p>
              <a:p>
                <a:r>
                  <a:rPr lang="en-IN" dirty="0"/>
                  <a:t>Mathematical Formula</a:t>
                </a:r>
              </a:p>
              <a:p>
                <a:r>
                  <a:rPr lang="en-IN" dirty="0"/>
                  <a:t>Suppose the 3D point is: (X,Y,Z)</a:t>
                </a:r>
              </a:p>
              <a:p>
                <a:r>
                  <a:rPr lang="en-IN" dirty="0"/>
                  <a:t>Orthographic projection </a:t>
                </a:r>
                <a:r>
                  <a:rPr lang="en-IN" dirty="0" err="1"/>
                  <a:t>gives:x</a:t>
                </a:r>
                <a:r>
                  <a:rPr lang="en-IN" dirty="0"/>
                  <a:t>=X </a:t>
                </a:r>
              </a:p>
              <a:p>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𝑌</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4CF8FF97-7CF7-09A2-A0BB-BB47C1ACF16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38132265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B54FF3-7DB4-61B9-33B8-68E716AE69B8}"/>
              </a:ext>
            </a:extLst>
          </p:cNvPr>
          <p:cNvSpPr>
            <a:spLocks noGrp="1"/>
          </p:cNvSpPr>
          <p:nvPr>
            <p:ph idx="1"/>
          </p:nvPr>
        </p:nvSpPr>
        <p:spPr>
          <a:xfrm>
            <a:off x="838200" y="307731"/>
            <a:ext cx="10515600" cy="5869232"/>
          </a:xfrm>
        </p:spPr>
        <p:txBody>
          <a:bodyPr>
            <a:normAutofit lnSpcReduction="10000"/>
          </a:bodyPr>
          <a:lstStyle/>
          <a:p>
            <a:r>
              <a:rPr lang="en-IN" dirty="0"/>
              <a:t>Notice: Z does not affect the result.</a:t>
            </a:r>
          </a:p>
          <a:p>
            <a:r>
              <a:rPr lang="en-IN" dirty="0"/>
              <a:t>Depth is ignored.</a:t>
            </a:r>
          </a:p>
          <a:p>
            <a:r>
              <a:rPr lang="en-IN" dirty="0"/>
              <a:t>Numerical Example</a:t>
            </a:r>
          </a:p>
          <a:p>
            <a:r>
              <a:rPr lang="en-IN" dirty="0"/>
              <a:t>Suppose: p1(10,20,5)</a:t>
            </a:r>
          </a:p>
          <a:p>
            <a:pPr marL="0" indent="0">
              <a:buNone/>
            </a:pPr>
            <a:r>
              <a:rPr lang="en-US" dirty="0"/>
              <a:t> Y (up/down)</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O--------→ X (left/right)</a:t>
            </a:r>
          </a:p>
          <a:p>
            <a:pPr marL="0" indent="0">
              <a:buNone/>
            </a:pPr>
            <a:r>
              <a:rPr lang="en-US" dirty="0"/>
              <a:t>       /</a:t>
            </a:r>
          </a:p>
          <a:p>
            <a:pPr marL="0" indent="0">
              <a:buNone/>
            </a:pPr>
            <a:r>
              <a:rPr lang="en-US" dirty="0"/>
              <a:t>      /</a:t>
            </a:r>
          </a:p>
          <a:p>
            <a:pPr marL="0" indent="0">
              <a:buNone/>
            </a:pPr>
            <a:r>
              <a:rPr lang="en-US" dirty="0"/>
              <a:t>     Z (forward/backward)</a:t>
            </a:r>
            <a:endParaRPr lang="en-IN" dirty="0"/>
          </a:p>
          <a:p>
            <a:endParaRPr lang="en-IN" dirty="0"/>
          </a:p>
        </p:txBody>
      </p:sp>
    </p:spTree>
    <p:extLst>
      <p:ext uri="{BB962C8B-B14F-4D97-AF65-F5344CB8AC3E}">
        <p14:creationId xmlns:p14="http://schemas.microsoft.com/office/powerpoint/2010/main" val="15916474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4A1A-8888-84B6-7BED-9F8D68B136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C5F3EB-B9BC-3880-58FE-A47271C616C6}"/>
              </a:ext>
            </a:extLst>
          </p:cNvPr>
          <p:cNvSpPr>
            <a:spLocks noGrp="1"/>
          </p:cNvSpPr>
          <p:nvPr>
            <p:ph idx="1"/>
          </p:nvPr>
        </p:nvSpPr>
        <p:spPr/>
        <p:txBody>
          <a:bodyPr/>
          <a:lstStyle/>
          <a:p>
            <a:r>
              <a:rPr lang="en-IN" dirty="0"/>
              <a:t>Distance from the camera(Z)</a:t>
            </a:r>
          </a:p>
          <a:p>
            <a:r>
              <a:rPr lang="en-US" dirty="0"/>
              <a:t>Z = 2  → Near camera</a:t>
            </a:r>
          </a:p>
          <a:p>
            <a:r>
              <a:rPr lang="en-US" dirty="0"/>
              <a:t>Z = 20 → Far from camera</a:t>
            </a:r>
          </a:p>
          <a:p>
            <a:endParaRPr lang="en-US" dirty="0"/>
          </a:p>
          <a:p>
            <a:r>
              <a:rPr lang="en-US" dirty="0"/>
              <a:t>Coming back to example:</a:t>
            </a:r>
          </a:p>
          <a:p>
            <a:r>
              <a:rPr lang="en-IN" dirty="0"/>
              <a:t>Projected point:(10,20) </a:t>
            </a:r>
          </a:p>
          <a:p>
            <a:r>
              <a:rPr lang="en-IN" dirty="0"/>
              <a:t>Now move the object farther: P2​=(10,20,100)</a:t>
            </a:r>
          </a:p>
        </p:txBody>
      </p:sp>
    </p:spTree>
    <p:extLst>
      <p:ext uri="{BB962C8B-B14F-4D97-AF65-F5344CB8AC3E}">
        <p14:creationId xmlns:p14="http://schemas.microsoft.com/office/powerpoint/2010/main" val="12707715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069ABA-03A8-22A5-3242-49A9253FC2D3}"/>
              </a:ext>
            </a:extLst>
          </p:cNvPr>
          <p:cNvSpPr>
            <a:spLocks noGrp="1"/>
          </p:cNvSpPr>
          <p:nvPr>
            <p:ph idx="1"/>
          </p:nvPr>
        </p:nvSpPr>
        <p:spPr>
          <a:xfrm>
            <a:off x="838200" y="0"/>
            <a:ext cx="10515600" cy="6176963"/>
          </a:xfrm>
        </p:spPr>
        <p:txBody>
          <a:bodyPr/>
          <a:lstStyle/>
          <a:p>
            <a:r>
              <a:rPr lang="en-IN" dirty="0"/>
              <a:t>Projected point: (10,20)</a:t>
            </a:r>
          </a:p>
          <a:p>
            <a:r>
              <a:rPr lang="en-IN" dirty="0"/>
              <a:t>Same result. The images does not change.</a:t>
            </a:r>
          </a:p>
          <a:p>
            <a:endParaRPr lang="en-IN" dirty="0"/>
          </a:p>
          <a:p>
            <a:r>
              <a:rPr lang="en-IN" dirty="0"/>
              <a:t>Characteristics</a:t>
            </a:r>
          </a:p>
          <a:p>
            <a:r>
              <a:rPr lang="en-IN" dirty="0"/>
              <a:t>1. No Perspective Effect</a:t>
            </a:r>
          </a:p>
          <a:p>
            <a:r>
              <a:rPr lang="en-IN" dirty="0"/>
              <a:t>Objects never become smaller with distance.</a:t>
            </a:r>
          </a:p>
          <a:p>
            <a:r>
              <a:rPr lang="en-IN" dirty="0"/>
              <a:t>2. Parallel Lines Stay Parallel</a:t>
            </a:r>
          </a:p>
          <a:p>
            <a:r>
              <a:rPr lang="en-IN" dirty="0"/>
              <a:t>3. Accurate Measurements (Dimensions are preserved)</a:t>
            </a:r>
          </a:p>
          <a:p>
            <a:endParaRPr lang="en-IN" dirty="0"/>
          </a:p>
        </p:txBody>
      </p:sp>
    </p:spTree>
    <p:extLst>
      <p:ext uri="{BB962C8B-B14F-4D97-AF65-F5344CB8AC3E}">
        <p14:creationId xmlns:p14="http://schemas.microsoft.com/office/powerpoint/2010/main" val="38022076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99BF3-8F98-17D0-BA6C-C159723D4598}"/>
              </a:ext>
            </a:extLst>
          </p:cNvPr>
          <p:cNvSpPr>
            <a:spLocks noGrp="1"/>
          </p:cNvSpPr>
          <p:nvPr>
            <p:ph type="title"/>
          </p:nvPr>
        </p:nvSpPr>
        <p:spPr/>
        <p:txBody>
          <a:bodyPr/>
          <a:lstStyle/>
          <a:p>
            <a:r>
              <a:rPr lang="en-IN" dirty="0"/>
              <a:t>2. Perspective Projection</a:t>
            </a:r>
          </a:p>
        </p:txBody>
      </p:sp>
      <p:sp>
        <p:nvSpPr>
          <p:cNvPr id="3" name="Content Placeholder 2">
            <a:extLst>
              <a:ext uri="{FF2B5EF4-FFF2-40B4-BE49-F238E27FC236}">
                <a16:creationId xmlns:a16="http://schemas.microsoft.com/office/drawing/2014/main" id="{C08F571A-994D-E82A-3D4D-560DC73074A4}"/>
              </a:ext>
            </a:extLst>
          </p:cNvPr>
          <p:cNvSpPr>
            <a:spLocks noGrp="1"/>
          </p:cNvSpPr>
          <p:nvPr>
            <p:ph idx="1"/>
          </p:nvPr>
        </p:nvSpPr>
        <p:spPr/>
        <p:txBody>
          <a:bodyPr/>
          <a:lstStyle/>
          <a:p>
            <a:r>
              <a:rPr lang="en-IN" dirty="0"/>
              <a:t>What is Perspective Projection?</a:t>
            </a:r>
          </a:p>
          <a:p>
            <a:r>
              <a:rPr lang="en-IN" dirty="0"/>
              <a:t>Perspective projection is the method used by:</a:t>
            </a:r>
          </a:p>
          <a:p>
            <a:r>
              <a:rPr lang="en-IN" dirty="0"/>
              <a:t>Human eyes </a:t>
            </a:r>
          </a:p>
          <a:p>
            <a:r>
              <a:rPr lang="en-IN" dirty="0"/>
              <a:t>Cameras </a:t>
            </a:r>
          </a:p>
          <a:p>
            <a:r>
              <a:rPr lang="en-IN" dirty="0"/>
              <a:t>Smartphones </a:t>
            </a:r>
          </a:p>
          <a:p>
            <a:r>
              <a:rPr lang="en-IN" dirty="0"/>
              <a:t>where:</a:t>
            </a:r>
          </a:p>
          <a:p>
            <a:r>
              <a:rPr lang="en-IN" dirty="0"/>
              <a:t>Distant objects appear smaller than nearby objects.</a:t>
            </a:r>
          </a:p>
        </p:txBody>
      </p:sp>
    </p:spTree>
    <p:extLst>
      <p:ext uri="{BB962C8B-B14F-4D97-AF65-F5344CB8AC3E}">
        <p14:creationId xmlns:p14="http://schemas.microsoft.com/office/powerpoint/2010/main" val="30230095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E08E-07C2-139E-F734-130BE1901A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119DC6-317D-4EA6-9E48-33A8092728E0}"/>
              </a:ext>
            </a:extLst>
          </p:cNvPr>
          <p:cNvSpPr>
            <a:spLocks noGrp="1"/>
          </p:cNvSpPr>
          <p:nvPr>
            <p:ph idx="1"/>
          </p:nvPr>
        </p:nvSpPr>
        <p:spPr/>
        <p:txBody>
          <a:bodyPr/>
          <a:lstStyle/>
          <a:p>
            <a:r>
              <a:rPr lang="en-IN" dirty="0"/>
              <a:t>Example: Stand on a railway track.</a:t>
            </a:r>
          </a:p>
          <a:p>
            <a:r>
              <a:rPr lang="en-IN" dirty="0"/>
              <a:t>The rails are actually parallel.</a:t>
            </a:r>
          </a:p>
          <a:p>
            <a:r>
              <a:rPr lang="en-IN" dirty="0"/>
              <a:t>But they appear to meet far away.</a:t>
            </a:r>
          </a:p>
          <a:p>
            <a:pPr marL="0" indent="0">
              <a:buNone/>
            </a:pPr>
            <a:r>
              <a:rPr lang="en-IN" dirty="0"/>
              <a:t>\      /</a:t>
            </a:r>
          </a:p>
          <a:p>
            <a:pPr marL="0" indent="0">
              <a:buNone/>
            </a:pPr>
            <a:r>
              <a:rPr lang="en-IN" dirty="0"/>
              <a:t> \    /</a:t>
            </a:r>
          </a:p>
          <a:p>
            <a:pPr marL="0" indent="0">
              <a:buNone/>
            </a:pPr>
            <a:r>
              <a:rPr lang="en-IN" dirty="0"/>
              <a:t>  \  /</a:t>
            </a:r>
          </a:p>
          <a:p>
            <a:pPr marL="0" indent="0">
              <a:buNone/>
            </a:pPr>
            <a:r>
              <a:rPr lang="en-IN" dirty="0"/>
              <a:t>   \/</a:t>
            </a:r>
          </a:p>
        </p:txBody>
      </p:sp>
    </p:spTree>
    <p:extLst>
      <p:ext uri="{BB962C8B-B14F-4D97-AF65-F5344CB8AC3E}">
        <p14:creationId xmlns:p14="http://schemas.microsoft.com/office/powerpoint/2010/main" val="8650950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C193C-F8CA-C2A1-1ECC-362C4550A85C}"/>
              </a:ext>
            </a:extLst>
          </p:cNvPr>
          <p:cNvSpPr>
            <a:spLocks noGrp="1"/>
          </p:cNvSpPr>
          <p:nvPr>
            <p:ph idx="1"/>
          </p:nvPr>
        </p:nvSpPr>
        <p:spPr>
          <a:xfrm>
            <a:off x="838200" y="413238"/>
            <a:ext cx="10515600" cy="5763725"/>
          </a:xfrm>
        </p:spPr>
        <p:txBody>
          <a:bodyPr/>
          <a:lstStyle/>
          <a:p>
            <a:r>
              <a:rPr lang="en-IN" dirty="0"/>
              <a:t>This is perspective projection.</a:t>
            </a:r>
          </a:p>
          <a:p>
            <a:endParaRPr lang="en-IN" dirty="0"/>
          </a:p>
          <a:p>
            <a:r>
              <a:rPr lang="en-IN" dirty="0"/>
              <a:t>How It Works</a:t>
            </a:r>
          </a:p>
          <a:p>
            <a:r>
              <a:rPr lang="en-IN" dirty="0"/>
              <a:t>All light rays pass through a single point called the camera </a:t>
            </a:r>
            <a:r>
              <a:rPr lang="en-IN" dirty="0" err="1"/>
              <a:t>center</a:t>
            </a:r>
            <a:r>
              <a:rPr lang="en-IN" dirty="0"/>
              <a:t>.</a:t>
            </a:r>
          </a:p>
          <a:p>
            <a:r>
              <a:rPr lang="en-IN" dirty="0"/>
              <a:t>Object</a:t>
            </a:r>
          </a:p>
          <a:p>
            <a:pPr marL="0" indent="0">
              <a:buNone/>
            </a:pPr>
            <a:r>
              <a:rPr lang="en-IN" dirty="0"/>
              <a:t>  \   |   /</a:t>
            </a:r>
          </a:p>
          <a:p>
            <a:pPr marL="0" indent="0">
              <a:buNone/>
            </a:pPr>
            <a:r>
              <a:rPr lang="en-IN" dirty="0"/>
              <a:t>   \  |  /</a:t>
            </a:r>
          </a:p>
          <a:p>
            <a:pPr marL="0" indent="0">
              <a:buNone/>
            </a:pPr>
            <a:r>
              <a:rPr lang="en-IN" dirty="0"/>
              <a:t>    \ | /</a:t>
            </a:r>
          </a:p>
          <a:p>
            <a:pPr marL="0" indent="0">
              <a:buNone/>
            </a:pPr>
            <a:r>
              <a:rPr lang="en-IN" dirty="0"/>
              <a:t>     \|/</a:t>
            </a:r>
          </a:p>
          <a:p>
            <a:r>
              <a:rPr lang="en-IN" dirty="0"/>
              <a:t>  Camera </a:t>
            </a:r>
            <a:r>
              <a:rPr lang="en-IN" dirty="0" err="1"/>
              <a:t>Center</a:t>
            </a:r>
            <a:endParaRPr lang="en-IN" dirty="0"/>
          </a:p>
        </p:txBody>
      </p:sp>
    </p:spTree>
    <p:extLst>
      <p:ext uri="{BB962C8B-B14F-4D97-AF65-F5344CB8AC3E}">
        <p14:creationId xmlns:p14="http://schemas.microsoft.com/office/powerpoint/2010/main" val="27078796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52B5-8E47-25D1-6C3B-76A652A57289}"/>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3B8CDE-34AF-DB60-FB84-EAC020E50419}"/>
                  </a:ext>
                </a:extLst>
              </p:cNvPr>
              <p:cNvSpPr>
                <a:spLocks noGrp="1"/>
              </p:cNvSpPr>
              <p:nvPr>
                <p:ph idx="1"/>
              </p:nvPr>
            </p:nvSpPr>
            <p:spPr/>
            <p:txBody>
              <a:bodyPr/>
              <a:lstStyle/>
              <a:p>
                <a:r>
                  <a:rPr lang="en-IN" dirty="0"/>
                  <a:t>Pinhole Camera Model</a:t>
                </a:r>
              </a:p>
              <a:p>
                <a:r>
                  <a:rPr lang="en-IN" dirty="0"/>
                  <a:t>Perspective projection is explained using the pinhole camera.</a:t>
                </a:r>
              </a:p>
              <a:p>
                <a:r>
                  <a:rPr lang="en-IN" dirty="0"/>
                  <a:t>Light rays pass through one point and form an image.</a:t>
                </a:r>
              </a:p>
              <a:p>
                <a:r>
                  <a:rPr lang="en-IN" dirty="0"/>
                  <a:t>Mathematical Formula</a:t>
                </a:r>
              </a:p>
              <a:p>
                <a:r>
                  <a:rPr lang="en-IN" dirty="0"/>
                  <a:t>For a point: (</a:t>
                </a:r>
                <a:r>
                  <a:rPr lang="en-IN" dirty="0" err="1"/>
                  <a:t>x,y,z</a:t>
                </a:r>
                <a:r>
                  <a:rPr lang="en-IN" dirty="0"/>
                  <a:t>)</a:t>
                </a:r>
              </a:p>
              <a:p>
                <a:r>
                  <a:rPr lang="en-IN" dirty="0"/>
                  <a:t>Projected </a:t>
                </a:r>
                <a:r>
                  <a:rPr lang="en-IN" dirty="0" err="1"/>
                  <a:t>point:x</a:t>
                </a:r>
                <a:r>
                  <a:rPr lang="en-IN" dirty="0"/>
                  <a:t>=</a:t>
                </a:r>
                <a:r>
                  <a:rPr lang="en-IN" dirty="0" err="1"/>
                  <a:t>fX</a:t>
                </a:r>
                <a:r>
                  <a:rPr lang="en-IN" dirty="0"/>
                  <a:t>/z​ </a:t>
                </a:r>
              </a:p>
              <a:p>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𝑓𝑌</m:t>
                        </m:r>
                      </m:num>
                      <m:den>
                        <m:r>
                          <a:rPr lang="en-IN" i="1">
                            <a:latin typeface="Cambria Math" panose="02040503050406030204" pitchFamily="18" charset="0"/>
                          </a:rPr>
                          <m:t>𝑍</m:t>
                        </m:r>
                      </m:den>
                    </m:f>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B03B8CDE-34AF-DB60-FB84-EAC020E5041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5742295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99F8A-847C-CE9A-5906-0639B5533F2F}"/>
              </a:ext>
            </a:extLst>
          </p:cNvPr>
          <p:cNvSpPr>
            <a:spLocks noGrp="1"/>
          </p:cNvSpPr>
          <p:nvPr>
            <p:ph idx="1"/>
          </p:nvPr>
        </p:nvSpPr>
        <p:spPr>
          <a:xfrm>
            <a:off x="838200" y="219808"/>
            <a:ext cx="10515600" cy="5957155"/>
          </a:xfrm>
        </p:spPr>
        <p:txBody>
          <a:bodyPr/>
          <a:lstStyle/>
          <a:p>
            <a:r>
              <a:rPr lang="en-IN" dirty="0"/>
              <a:t>where:</a:t>
            </a:r>
          </a:p>
          <a:p>
            <a:r>
              <a:rPr lang="en-IN" dirty="0"/>
              <a:t>f = focal length </a:t>
            </a:r>
          </a:p>
          <a:p>
            <a:r>
              <a:rPr lang="en-IN" dirty="0"/>
              <a:t>Z = distance from camera</a:t>
            </a:r>
          </a:p>
          <a:p>
            <a:r>
              <a:rPr lang="en-IN" dirty="0"/>
              <a:t>Understanding the Formula</a:t>
            </a:r>
          </a:p>
          <a:p>
            <a:r>
              <a:rPr lang="en-IN" dirty="0" err="1"/>
              <a:t>x,y</a:t>
            </a:r>
            <a:r>
              <a:rPr lang="en-IN" dirty="0"/>
              <a:t>∝ 1/z</a:t>
            </a:r>
          </a:p>
          <a:p>
            <a:r>
              <a:rPr lang="en-IN" dirty="0"/>
              <a:t>If distance increases Z↑ </a:t>
            </a:r>
          </a:p>
          <a:p>
            <a:r>
              <a:rPr lang="en-IN" dirty="0"/>
              <a:t>Then </a:t>
            </a:r>
            <a:r>
              <a:rPr lang="en-IN" dirty="0" err="1"/>
              <a:t>x,y</a:t>
            </a:r>
            <a:r>
              <a:rPr lang="en-IN" dirty="0"/>
              <a:t>↓ </a:t>
            </a:r>
          </a:p>
          <a:p>
            <a:r>
              <a:rPr lang="en-IN" dirty="0"/>
              <a:t>Image size decreases.</a:t>
            </a:r>
          </a:p>
        </p:txBody>
      </p:sp>
    </p:spTree>
    <p:extLst>
      <p:ext uri="{BB962C8B-B14F-4D97-AF65-F5344CB8AC3E}">
        <p14:creationId xmlns:p14="http://schemas.microsoft.com/office/powerpoint/2010/main" val="35309556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3429-37A2-F986-0F7C-B27485BFFB1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2DA3E1-3A5F-2A67-6794-B0D6AFEB65FC}"/>
                  </a:ext>
                </a:extLst>
              </p:cNvPr>
              <p:cNvSpPr>
                <a:spLocks noGrp="1"/>
              </p:cNvSpPr>
              <p:nvPr>
                <p:ph idx="1"/>
              </p:nvPr>
            </p:nvSpPr>
            <p:spPr/>
            <p:txBody>
              <a:bodyPr/>
              <a:lstStyle/>
              <a:p>
                <a:r>
                  <a:rPr lang="en-IN" dirty="0"/>
                  <a:t>Numerical Example</a:t>
                </a:r>
              </a:p>
              <a:p>
                <a:pPr marL="0" indent="0">
                  <a:buNone/>
                </a:pPr>
                <a:r>
                  <a:rPr lang="en-IN" dirty="0"/>
                  <a:t>f=50 </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=20</m:t>
                      </m:r>
                    </m:oMath>
                  </m:oMathPara>
                </a14:m>
                <a:endParaRPr lang="en-IN" dirty="0"/>
              </a:p>
              <a:p>
                <a:pPr marL="0" indent="0">
                  <a:buNone/>
                </a:pPr>
                <a:r>
                  <a:rPr lang="en-IN" b="1" dirty="0"/>
                  <a:t>Object at 100 cm</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50×20</m:t>
                          </m:r>
                        </m:num>
                        <m:den>
                          <m:r>
                            <a:rPr lang="en-IN">
                              <a:latin typeface="Cambria Math" panose="02040503050406030204" pitchFamily="18" charset="0"/>
                            </a:rPr>
                            <m:t>100</m:t>
                          </m:r>
                        </m:den>
                      </m:f>
                    </m:oMath>
                  </m:oMathPara>
                </a14:m>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=10</m:t>
                      </m:r>
                    </m:oMath>
                  </m:oMathPara>
                </a14:m>
                <a:endParaRPr lang="en-IN" dirty="0"/>
              </a:p>
              <a:p>
                <a:endParaRPr lang="en-IN" dirty="0"/>
              </a:p>
            </p:txBody>
          </p:sp>
        </mc:Choice>
        <mc:Fallback xmlns="">
          <p:sp>
            <p:nvSpPr>
              <p:cNvPr id="3" name="Content Placeholder 2">
                <a:extLst>
                  <a:ext uri="{FF2B5EF4-FFF2-40B4-BE49-F238E27FC236}">
                    <a16:creationId xmlns:a16="http://schemas.microsoft.com/office/drawing/2014/main" id="{A92DA3E1-3A5F-2A67-6794-B0D6AFEB65F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78015104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90A61-CA7A-156B-2FCC-980E6B5AAD65}"/>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A1CAD2-0384-E502-C9AA-FC27318B874B}"/>
                  </a:ext>
                </a:extLst>
              </p:cNvPr>
              <p:cNvSpPr>
                <a:spLocks noGrp="1"/>
              </p:cNvSpPr>
              <p:nvPr>
                <p:ph idx="1"/>
              </p:nvPr>
            </p:nvSpPr>
            <p:spPr/>
            <p:txBody>
              <a:bodyPr/>
              <a:lstStyle/>
              <a:p>
                <a:r>
                  <a:rPr lang="en-IN" dirty="0"/>
                  <a:t>Object at 200 cm</a:t>
                </a:r>
              </a:p>
              <a:p>
                <a:r>
                  <a:rPr lang="en-IN" dirty="0"/>
                  <a:t>x=(50×20)/200​ </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=5</m:t>
                    </m:r>
                  </m:oMath>
                </a14:m>
                <a:endParaRPr lang="en-IN" dirty="0"/>
              </a:p>
              <a:p>
                <a:r>
                  <a:rPr lang="en-IN" dirty="0"/>
                  <a:t>The image becomes half as large.</a:t>
                </a:r>
              </a:p>
              <a:p>
                <a:endParaRPr lang="en-IN" dirty="0"/>
              </a:p>
            </p:txBody>
          </p:sp>
        </mc:Choice>
        <mc:Fallback xmlns="">
          <p:sp>
            <p:nvSpPr>
              <p:cNvPr id="3" name="Content Placeholder 2">
                <a:extLst>
                  <a:ext uri="{FF2B5EF4-FFF2-40B4-BE49-F238E27FC236}">
                    <a16:creationId xmlns:a16="http://schemas.microsoft.com/office/drawing/2014/main" id="{69A1CAD2-0384-E502-C9AA-FC27318B874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0084570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31EC-B30A-B1F8-6795-CFF84110F1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6BF084-4328-DCDE-2DA4-1BD2CD6D6DF4}"/>
              </a:ext>
            </a:extLst>
          </p:cNvPr>
          <p:cNvSpPr>
            <a:spLocks noGrp="1"/>
          </p:cNvSpPr>
          <p:nvPr>
            <p:ph idx="1"/>
          </p:nvPr>
        </p:nvSpPr>
        <p:spPr/>
        <p:txBody>
          <a:bodyPr/>
          <a:lstStyle/>
          <a:p>
            <a:r>
              <a:rPr lang="en-IN" dirty="0"/>
              <a:t>Take a selfie.</a:t>
            </a:r>
          </a:p>
          <a:p>
            <a:r>
              <a:rPr lang="en-IN" dirty="0"/>
              <a:t>Hold your finger near the camera.</a:t>
            </a:r>
          </a:p>
          <a:p>
            <a:r>
              <a:rPr lang="fr-FR" dirty="0"/>
              <a:t>Finger → 5 cm</a:t>
            </a:r>
          </a:p>
          <a:p>
            <a:r>
              <a:rPr lang="fr-FR" dirty="0"/>
              <a:t>Face   → 50 cm</a:t>
            </a:r>
          </a:p>
          <a:p>
            <a:endParaRPr lang="fr-FR" dirty="0"/>
          </a:p>
          <a:p>
            <a:r>
              <a:rPr lang="en-IN" dirty="0"/>
              <a:t> Huge Finger</a:t>
            </a:r>
          </a:p>
          <a:p>
            <a:endParaRPr lang="en-IN" dirty="0"/>
          </a:p>
          <a:p>
            <a:r>
              <a:rPr lang="en-IN" dirty="0"/>
              <a:t>Smaller Face</a:t>
            </a:r>
          </a:p>
        </p:txBody>
      </p:sp>
    </p:spTree>
    <p:extLst>
      <p:ext uri="{BB962C8B-B14F-4D97-AF65-F5344CB8AC3E}">
        <p14:creationId xmlns:p14="http://schemas.microsoft.com/office/powerpoint/2010/main" val="69446221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396527-F0EF-EB68-B6AE-F97C50E901CC}"/>
              </a:ext>
            </a:extLst>
          </p:cNvPr>
          <p:cNvSpPr>
            <a:spLocks noGrp="1"/>
          </p:cNvSpPr>
          <p:nvPr>
            <p:ph idx="1"/>
          </p:nvPr>
        </p:nvSpPr>
        <p:spPr>
          <a:xfrm>
            <a:off x="838200" y="650631"/>
            <a:ext cx="10515600" cy="5526332"/>
          </a:xfrm>
        </p:spPr>
        <p:txBody>
          <a:bodyPr/>
          <a:lstStyle/>
          <a:p>
            <a:r>
              <a:rPr lang="en-IN" dirty="0"/>
              <a:t>The finger appears much larger.</a:t>
            </a:r>
          </a:p>
          <a:p>
            <a:r>
              <a:rPr lang="en-IN" dirty="0"/>
              <a:t>This is perspective projection.</a:t>
            </a:r>
          </a:p>
          <a:p>
            <a:pPr marL="0" indent="0">
              <a:buNone/>
            </a:pPr>
            <a:endParaRPr lang="en-IN" dirty="0"/>
          </a:p>
          <a:p>
            <a:pPr marL="0" indent="0">
              <a:buNone/>
            </a:pPr>
            <a:r>
              <a:rPr lang="en-IN" dirty="0"/>
              <a:t>Characteristics</a:t>
            </a:r>
          </a:p>
          <a:p>
            <a:pPr marL="514350" indent="-514350">
              <a:buAutoNum type="arabicPeriod"/>
            </a:pPr>
            <a:r>
              <a:rPr lang="en-IN" dirty="0"/>
              <a:t>Near Objects Look Larger</a:t>
            </a:r>
          </a:p>
          <a:p>
            <a:pPr marL="514350" indent="-514350">
              <a:buAutoNum type="arabicPeriod"/>
            </a:pPr>
            <a:r>
              <a:rPr lang="en-IN" dirty="0"/>
              <a:t>Far Objects Look Smaller</a:t>
            </a:r>
          </a:p>
          <a:p>
            <a:pPr marL="514350" indent="-514350">
              <a:buAutoNum type="arabicPeriod"/>
            </a:pPr>
            <a:r>
              <a:rPr lang="en-IN" dirty="0"/>
              <a:t>Vanishing Point (Parallel Lines Appear to meet) Railway Tracks</a:t>
            </a:r>
          </a:p>
          <a:p>
            <a:pPr marL="514350" indent="-514350">
              <a:buAutoNum type="arabicPeriod"/>
            </a:pPr>
            <a:r>
              <a:rPr lang="en-IN" dirty="0"/>
              <a:t>Depth Perception</a:t>
            </a:r>
          </a:p>
          <a:p>
            <a:pPr marL="514350" indent="-514350">
              <a:buAutoNum type="arabicPeriod"/>
            </a:pPr>
            <a:endParaRPr lang="en-IN" dirty="0"/>
          </a:p>
        </p:txBody>
      </p:sp>
    </p:spTree>
    <p:extLst>
      <p:ext uri="{BB962C8B-B14F-4D97-AF65-F5344CB8AC3E}">
        <p14:creationId xmlns:p14="http://schemas.microsoft.com/office/powerpoint/2010/main" val="36490634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4B83-4E60-32BD-02BA-44A03697CA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F42039-93C8-D7E7-FDD1-D3A53C957EEE}"/>
              </a:ext>
            </a:extLst>
          </p:cNvPr>
          <p:cNvSpPr>
            <a:spLocks noGrp="1"/>
          </p:cNvSpPr>
          <p:nvPr>
            <p:ph idx="1"/>
          </p:nvPr>
        </p:nvSpPr>
        <p:spPr/>
        <p:txBody>
          <a:bodyPr/>
          <a:lstStyle/>
          <a:p>
            <a:r>
              <a:rPr lang="en-IN" b="1" dirty="0"/>
              <a:t>Depth perception</a:t>
            </a:r>
            <a:r>
              <a:rPr lang="en-IN" dirty="0"/>
              <a:t> is the ability to judge:</a:t>
            </a:r>
          </a:p>
          <a:p>
            <a:r>
              <a:rPr lang="en-IN" dirty="0"/>
              <a:t>How far an object is </a:t>
            </a:r>
          </a:p>
          <a:p>
            <a:r>
              <a:rPr lang="en-IN" dirty="0"/>
              <a:t>How close an object is </a:t>
            </a:r>
          </a:p>
          <a:p>
            <a:r>
              <a:rPr lang="en-IN" dirty="0"/>
              <a:t>The distance between objects</a:t>
            </a:r>
          </a:p>
          <a:p>
            <a:r>
              <a:rPr lang="en-IN" dirty="0"/>
              <a:t>Depth perception helps us see the world in 3D instead of a flat 2D image.</a:t>
            </a:r>
          </a:p>
        </p:txBody>
      </p:sp>
    </p:spTree>
    <p:extLst>
      <p:ext uri="{BB962C8B-B14F-4D97-AF65-F5344CB8AC3E}">
        <p14:creationId xmlns:p14="http://schemas.microsoft.com/office/powerpoint/2010/main" val="29838161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6694-7F4F-E8B8-C184-BF3CE0A80CC8}"/>
              </a:ext>
            </a:extLst>
          </p:cNvPr>
          <p:cNvSpPr>
            <a:spLocks noGrp="1"/>
          </p:cNvSpPr>
          <p:nvPr>
            <p:ph type="title"/>
          </p:nvPr>
        </p:nvSpPr>
        <p:spPr/>
        <p:txBody>
          <a:bodyPr/>
          <a:lstStyle/>
          <a:p>
            <a:r>
              <a:rPr lang="en-IN" dirty="0"/>
              <a:t>Camera and Camera Model (Computer Vision)</a:t>
            </a:r>
          </a:p>
        </p:txBody>
      </p:sp>
      <p:sp>
        <p:nvSpPr>
          <p:cNvPr id="3" name="Content Placeholder 2">
            <a:extLst>
              <a:ext uri="{FF2B5EF4-FFF2-40B4-BE49-F238E27FC236}">
                <a16:creationId xmlns:a16="http://schemas.microsoft.com/office/drawing/2014/main" id="{7651107A-1DFE-2723-D77F-FCBAA6070599}"/>
              </a:ext>
            </a:extLst>
          </p:cNvPr>
          <p:cNvSpPr>
            <a:spLocks noGrp="1"/>
          </p:cNvSpPr>
          <p:nvPr>
            <p:ph idx="1"/>
          </p:nvPr>
        </p:nvSpPr>
        <p:spPr/>
        <p:txBody>
          <a:bodyPr/>
          <a:lstStyle/>
          <a:p>
            <a:r>
              <a:rPr lang="en-IN" dirty="0"/>
              <a:t>1. What is a Camera?</a:t>
            </a:r>
          </a:p>
          <a:p>
            <a:r>
              <a:rPr lang="en-IN" dirty="0"/>
              <a:t>A </a:t>
            </a:r>
            <a:r>
              <a:rPr lang="en-IN" b="1" dirty="0"/>
              <a:t>camera</a:t>
            </a:r>
            <a:r>
              <a:rPr lang="en-IN" dirty="0"/>
              <a:t> is a device that captures light from the real world and converts it into a digital image.</a:t>
            </a:r>
          </a:p>
          <a:p>
            <a:r>
              <a:rPr lang="en-IN" dirty="0"/>
              <a:t>A camera takes a 3D scene and creates a 2D image.</a:t>
            </a:r>
          </a:p>
          <a:p>
            <a:endParaRPr lang="en-IN" dirty="0"/>
          </a:p>
          <a:p>
            <a:r>
              <a:rPr lang="en-IN" dirty="0"/>
              <a:t>Example</a:t>
            </a:r>
          </a:p>
          <a:p>
            <a:r>
              <a:rPr lang="en-IN" dirty="0"/>
              <a:t>Suppose you take a photo of an apple.	</a:t>
            </a:r>
          </a:p>
        </p:txBody>
      </p:sp>
    </p:spTree>
    <p:extLst>
      <p:ext uri="{BB962C8B-B14F-4D97-AF65-F5344CB8AC3E}">
        <p14:creationId xmlns:p14="http://schemas.microsoft.com/office/powerpoint/2010/main" val="5052175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1F6C76-5C2C-0634-F64D-4233BA0A8007}"/>
              </a:ext>
            </a:extLst>
          </p:cNvPr>
          <p:cNvSpPr>
            <a:spLocks noGrp="1"/>
          </p:cNvSpPr>
          <p:nvPr>
            <p:ph idx="1"/>
          </p:nvPr>
        </p:nvSpPr>
        <p:spPr>
          <a:xfrm>
            <a:off x="838200" y="404446"/>
            <a:ext cx="10515600" cy="5772517"/>
          </a:xfrm>
        </p:spPr>
        <p:txBody>
          <a:bodyPr/>
          <a:lstStyle/>
          <a:p>
            <a:pPr marL="0" indent="0">
              <a:buNone/>
            </a:pPr>
            <a:r>
              <a:rPr lang="en-IN" dirty="0"/>
              <a:t>Apple (3D Object)</a:t>
            </a:r>
          </a:p>
          <a:p>
            <a:pPr marL="0" indent="0">
              <a:buNone/>
            </a:pPr>
            <a:r>
              <a:rPr lang="en-IN" dirty="0"/>
              <a:t>        ↓</a:t>
            </a:r>
          </a:p>
          <a:p>
            <a:pPr marL="0" indent="0">
              <a:buNone/>
            </a:pPr>
            <a:r>
              <a:rPr lang="en-IN" dirty="0"/>
              <a:t>      Camera</a:t>
            </a:r>
          </a:p>
          <a:p>
            <a:pPr marL="0" indent="0">
              <a:buNone/>
            </a:pPr>
            <a:r>
              <a:rPr lang="en-IN" dirty="0"/>
              <a:t>        ↓</a:t>
            </a:r>
          </a:p>
          <a:p>
            <a:pPr marL="0" indent="0">
              <a:buNone/>
            </a:pPr>
            <a:r>
              <a:rPr lang="en-IN" dirty="0"/>
              <a:t>Apple Image (2D)</a:t>
            </a:r>
          </a:p>
        </p:txBody>
      </p:sp>
    </p:spTree>
    <p:extLst>
      <p:ext uri="{BB962C8B-B14F-4D97-AF65-F5344CB8AC3E}">
        <p14:creationId xmlns:p14="http://schemas.microsoft.com/office/powerpoint/2010/main" val="35828897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0F2EB0-4C83-DFB3-05EB-4C3437FFA4E9}"/>
              </a:ext>
            </a:extLst>
          </p:cNvPr>
          <p:cNvSpPr>
            <a:spLocks noGrp="1"/>
          </p:cNvSpPr>
          <p:nvPr>
            <p:ph idx="1"/>
          </p:nvPr>
        </p:nvSpPr>
        <p:spPr>
          <a:xfrm>
            <a:off x="838200" y="316523"/>
            <a:ext cx="10515600" cy="5860440"/>
          </a:xfrm>
        </p:spPr>
        <p:txBody>
          <a:bodyPr/>
          <a:lstStyle/>
          <a:p>
            <a:r>
              <a:rPr lang="en-IN" dirty="0"/>
              <a:t>The real apple has:</a:t>
            </a:r>
          </a:p>
          <a:p>
            <a:r>
              <a:rPr lang="en-IN" dirty="0"/>
              <a:t>Height </a:t>
            </a:r>
          </a:p>
          <a:p>
            <a:r>
              <a:rPr lang="en-IN" dirty="0"/>
              <a:t>Width </a:t>
            </a:r>
          </a:p>
          <a:p>
            <a:r>
              <a:rPr lang="en-IN" dirty="0"/>
              <a:t>Depth</a:t>
            </a:r>
          </a:p>
          <a:p>
            <a:r>
              <a:rPr lang="en-IN" dirty="0"/>
              <a:t>But the image contains only:</a:t>
            </a:r>
          </a:p>
          <a:p>
            <a:r>
              <a:rPr lang="en-IN" dirty="0"/>
              <a:t>Height </a:t>
            </a:r>
          </a:p>
          <a:p>
            <a:r>
              <a:rPr lang="en-IN" dirty="0"/>
              <a:t>Width</a:t>
            </a:r>
          </a:p>
          <a:p>
            <a:r>
              <a:rPr lang="en-IN" dirty="0"/>
              <a:t>The depth information is mostly lost.</a:t>
            </a:r>
          </a:p>
          <a:p>
            <a:endParaRPr lang="en-IN" dirty="0"/>
          </a:p>
          <a:p>
            <a:endParaRPr lang="en-IN" dirty="0"/>
          </a:p>
        </p:txBody>
      </p:sp>
    </p:spTree>
    <p:extLst>
      <p:ext uri="{BB962C8B-B14F-4D97-AF65-F5344CB8AC3E}">
        <p14:creationId xmlns:p14="http://schemas.microsoft.com/office/powerpoint/2010/main" val="6814461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AF71B2-9F14-B9BD-DCF9-25A05C52D6EB}"/>
              </a:ext>
            </a:extLst>
          </p:cNvPr>
          <p:cNvSpPr>
            <a:spLocks noGrp="1"/>
          </p:cNvSpPr>
          <p:nvPr>
            <p:ph idx="1"/>
          </p:nvPr>
        </p:nvSpPr>
        <p:spPr>
          <a:xfrm>
            <a:off x="838200" y="378069"/>
            <a:ext cx="10515600" cy="5798894"/>
          </a:xfrm>
        </p:spPr>
        <p:txBody>
          <a:bodyPr/>
          <a:lstStyle/>
          <a:p>
            <a:r>
              <a:rPr lang="en-IN" b="1" dirty="0"/>
              <a:t>Main Parts of a Camera</a:t>
            </a:r>
          </a:p>
          <a:p>
            <a:pPr marL="0" indent="0">
              <a:buNone/>
            </a:pPr>
            <a:r>
              <a:rPr lang="en-IN" b="1" dirty="0"/>
              <a:t>Scene</a:t>
            </a:r>
          </a:p>
          <a:p>
            <a:pPr marL="0" indent="0">
              <a:buNone/>
            </a:pPr>
            <a:r>
              <a:rPr lang="en-IN" b="1" dirty="0"/>
              <a:t>  ↓</a:t>
            </a:r>
          </a:p>
          <a:p>
            <a:pPr marL="0" indent="0">
              <a:buNone/>
            </a:pPr>
            <a:r>
              <a:rPr lang="en-IN" b="1" dirty="0"/>
              <a:t>Lens</a:t>
            </a:r>
          </a:p>
          <a:p>
            <a:pPr marL="0" indent="0">
              <a:buNone/>
            </a:pPr>
            <a:r>
              <a:rPr lang="en-IN" b="1" dirty="0"/>
              <a:t>  ↓</a:t>
            </a:r>
          </a:p>
          <a:p>
            <a:pPr marL="0" indent="0">
              <a:buNone/>
            </a:pPr>
            <a:r>
              <a:rPr lang="en-IN" b="1" dirty="0"/>
              <a:t>Aperture</a:t>
            </a:r>
          </a:p>
          <a:p>
            <a:pPr marL="0" indent="0">
              <a:buNone/>
            </a:pPr>
            <a:r>
              <a:rPr lang="en-IN" b="1" dirty="0"/>
              <a:t>  ↓</a:t>
            </a:r>
          </a:p>
          <a:p>
            <a:pPr marL="0" indent="0">
              <a:buNone/>
            </a:pPr>
            <a:r>
              <a:rPr lang="en-IN" b="1" dirty="0"/>
              <a:t>Image Sensor</a:t>
            </a:r>
          </a:p>
          <a:p>
            <a:pPr marL="0" indent="0">
              <a:buNone/>
            </a:pPr>
            <a:r>
              <a:rPr lang="en-IN" b="1" dirty="0"/>
              <a:t>  ↓</a:t>
            </a:r>
          </a:p>
          <a:p>
            <a:pPr marL="0" indent="0">
              <a:buNone/>
            </a:pPr>
            <a:r>
              <a:rPr lang="en-IN" b="1" dirty="0"/>
              <a:t>Digital Image</a:t>
            </a:r>
          </a:p>
          <a:p>
            <a:endParaRPr lang="en-IN" dirty="0"/>
          </a:p>
        </p:txBody>
      </p:sp>
    </p:spTree>
    <p:extLst>
      <p:ext uri="{BB962C8B-B14F-4D97-AF65-F5344CB8AC3E}">
        <p14:creationId xmlns:p14="http://schemas.microsoft.com/office/powerpoint/2010/main" val="30293406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44C86A-77F5-B744-064D-19FDE825AA7D}"/>
              </a:ext>
            </a:extLst>
          </p:cNvPr>
          <p:cNvSpPr>
            <a:spLocks noGrp="1"/>
          </p:cNvSpPr>
          <p:nvPr>
            <p:ph idx="1"/>
          </p:nvPr>
        </p:nvSpPr>
        <p:spPr>
          <a:xfrm>
            <a:off x="838200" y="272562"/>
            <a:ext cx="10515600" cy="5904401"/>
          </a:xfrm>
        </p:spPr>
        <p:txBody>
          <a:bodyPr>
            <a:normAutofit lnSpcReduction="10000"/>
          </a:bodyPr>
          <a:lstStyle/>
          <a:p>
            <a:r>
              <a:rPr lang="en-IN" b="1" dirty="0"/>
              <a:t>1. Lens</a:t>
            </a:r>
          </a:p>
          <a:p>
            <a:r>
              <a:rPr lang="en-IN" dirty="0"/>
              <a:t>The lens collects and focuses light.</a:t>
            </a:r>
          </a:p>
          <a:p>
            <a:r>
              <a:rPr lang="en-IN" b="1" dirty="0"/>
              <a:t>Example</a:t>
            </a:r>
          </a:p>
          <a:p>
            <a:r>
              <a:rPr lang="en-IN" dirty="0"/>
              <a:t>A magnifying glass works like a lens.</a:t>
            </a:r>
          </a:p>
          <a:p>
            <a:endParaRPr lang="en-IN" dirty="0"/>
          </a:p>
          <a:p>
            <a:pPr marL="0" indent="0">
              <a:buNone/>
            </a:pPr>
            <a:r>
              <a:rPr lang="en-US" dirty="0"/>
              <a:t>Light Rays</a:t>
            </a:r>
          </a:p>
          <a:p>
            <a:pPr marL="0" indent="0">
              <a:buNone/>
            </a:pPr>
            <a:r>
              <a:rPr lang="en-US" dirty="0"/>
              <a:t> \  |  /</a:t>
            </a:r>
          </a:p>
          <a:p>
            <a:pPr marL="0" indent="0">
              <a:buNone/>
            </a:pPr>
            <a:r>
              <a:rPr lang="en-US" dirty="0"/>
              <a:t>  \ | /</a:t>
            </a:r>
          </a:p>
          <a:p>
            <a:pPr marL="0" indent="0">
              <a:buNone/>
            </a:pPr>
            <a:r>
              <a:rPr lang="en-US" dirty="0"/>
              <a:t>   \|/</a:t>
            </a:r>
          </a:p>
          <a:p>
            <a:pPr marL="0" indent="0">
              <a:buNone/>
            </a:pPr>
            <a:r>
              <a:rPr lang="en-US" dirty="0"/>
              <a:t>   Lens</a:t>
            </a:r>
          </a:p>
          <a:p>
            <a:pPr marL="0" indent="0">
              <a:buNone/>
            </a:pPr>
            <a:r>
              <a:rPr lang="en-US" dirty="0"/>
              <a:t>    ↓</a:t>
            </a:r>
          </a:p>
          <a:p>
            <a:pPr marL="0" indent="0">
              <a:buNone/>
            </a:pPr>
            <a:r>
              <a:rPr lang="en-US" dirty="0"/>
              <a:t>Focused Light</a:t>
            </a:r>
            <a:endParaRPr lang="en-IN" dirty="0"/>
          </a:p>
          <a:p>
            <a:endParaRPr lang="en-IN" dirty="0"/>
          </a:p>
        </p:txBody>
      </p:sp>
    </p:spTree>
    <p:extLst>
      <p:ext uri="{BB962C8B-B14F-4D97-AF65-F5344CB8AC3E}">
        <p14:creationId xmlns:p14="http://schemas.microsoft.com/office/powerpoint/2010/main" val="90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8B85B0-DBDE-7CA2-BCC5-79B92EE8F925}"/>
              </a:ext>
            </a:extLst>
          </p:cNvPr>
          <p:cNvSpPr>
            <a:spLocks noGrp="1"/>
          </p:cNvSpPr>
          <p:nvPr>
            <p:ph idx="1"/>
          </p:nvPr>
        </p:nvSpPr>
        <p:spPr>
          <a:xfrm>
            <a:off x="838200" y="386862"/>
            <a:ext cx="10515600" cy="6286500"/>
          </a:xfrm>
        </p:spPr>
        <p:txBody>
          <a:bodyPr>
            <a:normAutofit/>
          </a:bodyPr>
          <a:lstStyle/>
          <a:p>
            <a:r>
              <a:rPr lang="en-IN" dirty="0"/>
              <a:t>Without a lens:</a:t>
            </a:r>
          </a:p>
          <a:p>
            <a:r>
              <a:rPr lang="en-IN" dirty="0"/>
              <a:t>Image becomes blurry.</a:t>
            </a:r>
          </a:p>
          <a:p>
            <a:r>
              <a:rPr lang="en-IN" dirty="0"/>
              <a:t>2. Aperture</a:t>
            </a:r>
          </a:p>
          <a:p>
            <a:r>
              <a:rPr lang="en-IN" dirty="0"/>
              <a:t>Aperture controls how much light enters.</a:t>
            </a:r>
          </a:p>
          <a:p>
            <a:r>
              <a:rPr lang="en-IN" dirty="0"/>
              <a:t>Think of it as the camera's pupil.</a:t>
            </a:r>
          </a:p>
          <a:p>
            <a:r>
              <a:rPr lang="en-IN" b="1" dirty="0"/>
              <a:t>Human Eye</a:t>
            </a:r>
          </a:p>
          <a:p>
            <a:r>
              <a:rPr lang="en-US" dirty="0"/>
              <a:t>Bright → Small pupil</a:t>
            </a:r>
          </a:p>
          <a:p>
            <a:r>
              <a:rPr lang="en-US" dirty="0"/>
              <a:t>Dark → Large pupil</a:t>
            </a:r>
          </a:p>
          <a:p>
            <a:r>
              <a:rPr lang="en-IN" b="1" dirty="0"/>
              <a:t>Camera</a:t>
            </a:r>
          </a:p>
          <a:p>
            <a:r>
              <a:rPr lang="en-US" dirty="0"/>
              <a:t>Bright → Small aperture</a:t>
            </a:r>
          </a:p>
          <a:p>
            <a:r>
              <a:rPr lang="en-US" dirty="0"/>
              <a:t>Dark → Large aperture</a:t>
            </a:r>
            <a:endParaRPr lang="en-IN" dirty="0"/>
          </a:p>
          <a:p>
            <a:endParaRPr lang="en-IN" dirty="0"/>
          </a:p>
        </p:txBody>
      </p:sp>
    </p:spTree>
    <p:extLst>
      <p:ext uri="{BB962C8B-B14F-4D97-AF65-F5344CB8AC3E}">
        <p14:creationId xmlns:p14="http://schemas.microsoft.com/office/powerpoint/2010/main" val="14404871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DA39F-6B7A-6791-DE5B-FF33AFE4B1D6}"/>
              </a:ext>
            </a:extLst>
          </p:cNvPr>
          <p:cNvSpPr>
            <a:spLocks noGrp="1"/>
          </p:cNvSpPr>
          <p:nvPr>
            <p:ph idx="1"/>
          </p:nvPr>
        </p:nvSpPr>
        <p:spPr>
          <a:xfrm>
            <a:off x="838200" y="386862"/>
            <a:ext cx="10515600" cy="5790101"/>
          </a:xfrm>
        </p:spPr>
        <p:txBody>
          <a:bodyPr>
            <a:normAutofit/>
          </a:bodyPr>
          <a:lstStyle/>
          <a:p>
            <a:r>
              <a:rPr lang="en-IN" dirty="0"/>
              <a:t>3. Image Sensor</a:t>
            </a:r>
          </a:p>
          <a:p>
            <a:r>
              <a:rPr lang="en-IN" dirty="0"/>
              <a:t>The sensor converts light into numbers.</a:t>
            </a:r>
          </a:p>
          <a:p>
            <a:r>
              <a:rPr lang="en-IN" b="1" dirty="0"/>
              <a:t>Example</a:t>
            </a:r>
          </a:p>
          <a:p>
            <a:r>
              <a:rPr lang="en-IN" dirty="0"/>
              <a:t>Phone Camera Sensor</a:t>
            </a:r>
          </a:p>
          <a:p>
            <a:pPr marL="0" indent="0">
              <a:buNone/>
            </a:pPr>
            <a:r>
              <a:rPr lang="en-IN" dirty="0"/>
              <a:t>Light</a:t>
            </a:r>
          </a:p>
          <a:p>
            <a:pPr marL="0" indent="0">
              <a:buNone/>
            </a:pPr>
            <a:r>
              <a:rPr lang="en-IN" dirty="0"/>
              <a:t> ↓</a:t>
            </a:r>
          </a:p>
          <a:p>
            <a:pPr marL="0" indent="0">
              <a:buNone/>
            </a:pPr>
            <a:r>
              <a:rPr lang="en-IN" dirty="0"/>
              <a:t>Sensor</a:t>
            </a:r>
          </a:p>
          <a:p>
            <a:pPr marL="0" indent="0">
              <a:buNone/>
            </a:pPr>
            <a:r>
              <a:rPr lang="en-IN" dirty="0"/>
              <a:t> ↓</a:t>
            </a:r>
          </a:p>
          <a:p>
            <a:pPr marL="0" indent="0">
              <a:buNone/>
            </a:pPr>
            <a:r>
              <a:rPr lang="en-IN" dirty="0"/>
              <a:t>Pixels</a:t>
            </a:r>
          </a:p>
          <a:p>
            <a:pPr marL="0" indent="0">
              <a:buNone/>
            </a:pPr>
            <a:r>
              <a:rPr lang="en-IN" dirty="0"/>
              <a:t> ↓</a:t>
            </a:r>
          </a:p>
          <a:p>
            <a:pPr marL="0" indent="0">
              <a:buNone/>
            </a:pPr>
            <a:r>
              <a:rPr lang="en-IN" dirty="0"/>
              <a:t>Image</a:t>
            </a:r>
          </a:p>
        </p:txBody>
      </p:sp>
    </p:spTree>
    <p:extLst>
      <p:ext uri="{BB962C8B-B14F-4D97-AF65-F5344CB8AC3E}">
        <p14:creationId xmlns:p14="http://schemas.microsoft.com/office/powerpoint/2010/main" val="26836917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36F6-564B-6A2D-85E8-686BC69D73AC}"/>
              </a:ext>
            </a:extLst>
          </p:cNvPr>
          <p:cNvSpPr>
            <a:spLocks noGrp="1"/>
          </p:cNvSpPr>
          <p:nvPr>
            <p:ph type="title"/>
          </p:nvPr>
        </p:nvSpPr>
        <p:spPr/>
        <p:txBody>
          <a:bodyPr/>
          <a:lstStyle/>
          <a:p>
            <a:r>
              <a:rPr lang="en-IN" dirty="0"/>
              <a:t>Image Sensor</a:t>
            </a:r>
          </a:p>
        </p:txBody>
      </p:sp>
      <p:sp>
        <p:nvSpPr>
          <p:cNvPr id="3" name="Content Placeholder 2">
            <a:extLst>
              <a:ext uri="{FF2B5EF4-FFF2-40B4-BE49-F238E27FC236}">
                <a16:creationId xmlns:a16="http://schemas.microsoft.com/office/drawing/2014/main" id="{75C0D189-0FBC-379B-1449-2F834CCA87C3}"/>
              </a:ext>
            </a:extLst>
          </p:cNvPr>
          <p:cNvSpPr>
            <a:spLocks noGrp="1"/>
          </p:cNvSpPr>
          <p:nvPr>
            <p:ph idx="1"/>
          </p:nvPr>
        </p:nvSpPr>
        <p:spPr/>
        <p:txBody>
          <a:bodyPr>
            <a:normAutofit fontScale="92500" lnSpcReduction="10000"/>
          </a:bodyPr>
          <a:lstStyle/>
          <a:p>
            <a:r>
              <a:rPr lang="en-IN" dirty="0"/>
              <a:t>In very simple words:</a:t>
            </a:r>
          </a:p>
          <a:p>
            <a:r>
              <a:rPr lang="en-IN" b="1" dirty="0"/>
              <a:t>The sensor catches light.</a:t>
            </a:r>
            <a:endParaRPr lang="en-IN" dirty="0"/>
          </a:p>
          <a:p>
            <a:pPr lvl="1"/>
            <a:r>
              <a:rPr lang="en-IN" dirty="0"/>
              <a:t>Each pixel acts like a tiny bucket collecting light.</a:t>
            </a:r>
          </a:p>
          <a:p>
            <a:r>
              <a:rPr lang="en-IN" b="1" dirty="0"/>
              <a:t>The sensor measures how much light it got.</a:t>
            </a:r>
            <a:endParaRPr lang="en-IN" dirty="0"/>
          </a:p>
          <a:p>
            <a:pPr lvl="1"/>
            <a:r>
              <a:rPr lang="en-IN" dirty="0"/>
              <a:t>More light = bigger electrical signal.</a:t>
            </a:r>
          </a:p>
          <a:p>
            <a:pPr lvl="1"/>
            <a:r>
              <a:rPr lang="en-IN" dirty="0"/>
              <a:t>Less light = smaller electrical signal.</a:t>
            </a:r>
          </a:p>
          <a:p>
            <a:r>
              <a:rPr lang="en-IN" b="1" dirty="0"/>
              <a:t>The sensor turns that signal into a number.</a:t>
            </a:r>
            <a:endParaRPr lang="en-IN" dirty="0"/>
          </a:p>
          <a:p>
            <a:pPr lvl="1"/>
            <a:r>
              <a:rPr lang="en-IN" dirty="0"/>
              <a:t>Small signal → small number.</a:t>
            </a:r>
          </a:p>
          <a:p>
            <a:pPr lvl="1"/>
            <a:r>
              <a:rPr lang="en-IN" dirty="0"/>
              <a:t>Large signal → large number.</a:t>
            </a:r>
          </a:p>
          <a:p>
            <a:r>
              <a:rPr lang="en-IN" dirty="0"/>
              <a:t>These numbers are then used to create the photo.</a:t>
            </a:r>
          </a:p>
          <a:p>
            <a:r>
              <a:rPr lang="en-IN" b="1" dirty="0"/>
              <a:t>Light → Electrical signal → Number → Image</a:t>
            </a:r>
            <a:r>
              <a:rPr lang="en-IN" dirty="0"/>
              <a:t> </a:t>
            </a:r>
          </a:p>
          <a:p>
            <a:endParaRPr lang="en-IN" dirty="0"/>
          </a:p>
        </p:txBody>
      </p:sp>
    </p:spTree>
    <p:extLst>
      <p:ext uri="{BB962C8B-B14F-4D97-AF65-F5344CB8AC3E}">
        <p14:creationId xmlns:p14="http://schemas.microsoft.com/office/powerpoint/2010/main" val="27925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A57E3-C1B5-1D18-4C27-91F15B6B7F6D}"/>
              </a:ext>
            </a:extLst>
          </p:cNvPr>
          <p:cNvSpPr>
            <a:spLocks noGrp="1"/>
          </p:cNvSpPr>
          <p:nvPr>
            <p:ph idx="1"/>
          </p:nvPr>
        </p:nvSpPr>
        <p:spPr>
          <a:xfrm>
            <a:off x="838200" y="615462"/>
            <a:ext cx="10515600" cy="5561501"/>
          </a:xfrm>
        </p:spPr>
        <p:txBody>
          <a:bodyPr/>
          <a:lstStyle/>
          <a:p>
            <a:r>
              <a:rPr lang="en-IN" b="1" dirty="0"/>
              <a:t>Simple analogy</a:t>
            </a:r>
          </a:p>
          <a:p>
            <a:r>
              <a:rPr lang="en-IN" dirty="0"/>
              <a:t>Imagine you're measuring rainfall:</a:t>
            </a:r>
          </a:p>
          <a:p>
            <a:r>
              <a:rPr lang="en-IN" b="1" dirty="0"/>
              <a:t>Bucket catches rain</a:t>
            </a:r>
            <a:r>
              <a:rPr lang="en-IN" dirty="0"/>
              <a:t> → like the pixel catching light. </a:t>
            </a:r>
          </a:p>
          <a:p>
            <a:r>
              <a:rPr lang="en-IN" b="1" dirty="0"/>
              <a:t>Measure water level</a:t>
            </a:r>
            <a:r>
              <a:rPr lang="en-IN" dirty="0"/>
              <a:t> → like measuring the electrical charge. </a:t>
            </a:r>
          </a:p>
          <a:p>
            <a:r>
              <a:rPr lang="en-IN" b="1" dirty="0"/>
              <a:t>Write down the amount as a number</a:t>
            </a:r>
            <a:r>
              <a:rPr lang="en-IN" dirty="0"/>
              <a:t> → like the ADC converting it to a digital value. </a:t>
            </a:r>
          </a:p>
          <a:p>
            <a:r>
              <a:rPr lang="en-IN" dirty="0"/>
              <a:t>The camera repeats this process for </a:t>
            </a:r>
            <a:r>
              <a:rPr lang="en-IN" b="1" dirty="0"/>
              <a:t>millions of pixels</a:t>
            </a:r>
            <a:r>
              <a:rPr lang="en-IN" dirty="0"/>
              <a:t>, creating the digital image you see.</a:t>
            </a:r>
          </a:p>
          <a:p>
            <a:endParaRPr lang="en-IN" dirty="0"/>
          </a:p>
        </p:txBody>
      </p:sp>
    </p:spTree>
    <p:extLst>
      <p:ext uri="{BB962C8B-B14F-4D97-AF65-F5344CB8AC3E}">
        <p14:creationId xmlns:p14="http://schemas.microsoft.com/office/powerpoint/2010/main" val="189773110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2E0660-DF3E-8283-5C54-2DEAB1B5B5FC}"/>
              </a:ext>
            </a:extLst>
          </p:cNvPr>
          <p:cNvSpPr>
            <a:spLocks noGrp="1"/>
          </p:cNvSpPr>
          <p:nvPr>
            <p:ph idx="1"/>
          </p:nvPr>
        </p:nvSpPr>
        <p:spPr>
          <a:xfrm>
            <a:off x="838200" y="474785"/>
            <a:ext cx="10515600" cy="5702178"/>
          </a:xfrm>
        </p:spPr>
        <p:txBody>
          <a:bodyPr/>
          <a:lstStyle/>
          <a:p>
            <a:r>
              <a:rPr lang="en-IN" dirty="0"/>
              <a:t>4. Pixels</a:t>
            </a:r>
          </a:p>
          <a:p>
            <a:r>
              <a:rPr lang="en-IN" dirty="0"/>
              <a:t>A sensor contains millions of pixels.</a:t>
            </a:r>
          </a:p>
          <a:p>
            <a:r>
              <a:rPr lang="en-IN" dirty="0"/>
              <a:t>Example: 1920 × 1080</a:t>
            </a:r>
          </a:p>
          <a:p>
            <a:r>
              <a:rPr lang="en-IN" dirty="0"/>
              <a:t>Total pixels: 2,073,600</a:t>
            </a:r>
          </a:p>
        </p:txBody>
      </p:sp>
    </p:spTree>
    <p:extLst>
      <p:ext uri="{BB962C8B-B14F-4D97-AF65-F5344CB8AC3E}">
        <p14:creationId xmlns:p14="http://schemas.microsoft.com/office/powerpoint/2010/main" val="2129479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BBA61-E55B-7852-F67E-F87E5347D071}"/>
              </a:ext>
            </a:extLst>
          </p:cNvPr>
          <p:cNvSpPr>
            <a:spLocks noGrp="1"/>
          </p:cNvSpPr>
          <p:nvPr>
            <p:ph type="title"/>
          </p:nvPr>
        </p:nvSpPr>
        <p:spPr/>
        <p:txBody>
          <a:bodyPr/>
          <a:lstStyle/>
          <a:p>
            <a:r>
              <a:rPr lang="en-IN" dirty="0"/>
              <a:t>What Happens When You Take a Photo?</a:t>
            </a:r>
          </a:p>
        </p:txBody>
      </p:sp>
      <p:sp>
        <p:nvSpPr>
          <p:cNvPr id="3" name="Content Placeholder 2">
            <a:extLst>
              <a:ext uri="{FF2B5EF4-FFF2-40B4-BE49-F238E27FC236}">
                <a16:creationId xmlns:a16="http://schemas.microsoft.com/office/drawing/2014/main" id="{BFE53A89-D60E-5C07-66FC-460D97848444}"/>
              </a:ext>
            </a:extLst>
          </p:cNvPr>
          <p:cNvSpPr>
            <a:spLocks noGrp="1"/>
          </p:cNvSpPr>
          <p:nvPr>
            <p:ph idx="1"/>
          </p:nvPr>
        </p:nvSpPr>
        <p:spPr/>
        <p:txBody>
          <a:bodyPr/>
          <a:lstStyle/>
          <a:p>
            <a:r>
              <a:rPr lang="en-IN" b="1" dirty="0"/>
              <a:t>Step 1</a:t>
            </a:r>
          </a:p>
          <a:p>
            <a:r>
              <a:rPr lang="en-IN" dirty="0"/>
              <a:t>Object reflects light.</a:t>
            </a:r>
          </a:p>
          <a:p>
            <a:pPr marL="0" indent="0">
              <a:buNone/>
            </a:pPr>
            <a:r>
              <a:rPr lang="en-IN" dirty="0"/>
              <a:t>Sun</a:t>
            </a:r>
          </a:p>
          <a:p>
            <a:pPr marL="0" indent="0">
              <a:buNone/>
            </a:pPr>
            <a:r>
              <a:rPr lang="en-IN" dirty="0"/>
              <a:t> ↓</a:t>
            </a:r>
          </a:p>
          <a:p>
            <a:pPr marL="0" indent="0">
              <a:buNone/>
            </a:pPr>
            <a:r>
              <a:rPr lang="en-IN" dirty="0"/>
              <a:t>Apple</a:t>
            </a:r>
            <a:br>
              <a:rPr lang="en-IN" dirty="0"/>
            </a:br>
            <a:endParaRPr lang="en-IN" dirty="0"/>
          </a:p>
          <a:p>
            <a:r>
              <a:rPr lang="en-IN" b="1" dirty="0"/>
              <a:t>Step 2</a:t>
            </a:r>
          </a:p>
          <a:p>
            <a:r>
              <a:rPr lang="en-IN" dirty="0"/>
              <a:t>Light enters camera lens.</a:t>
            </a:r>
          </a:p>
          <a:p>
            <a:pPr marL="0" indent="0">
              <a:buNone/>
            </a:pPr>
            <a:endParaRPr lang="en-IN" dirty="0"/>
          </a:p>
        </p:txBody>
      </p:sp>
    </p:spTree>
    <p:extLst>
      <p:ext uri="{BB962C8B-B14F-4D97-AF65-F5344CB8AC3E}">
        <p14:creationId xmlns:p14="http://schemas.microsoft.com/office/powerpoint/2010/main" val="401585623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A9810-6D61-0BA3-C00F-E1AD17929155}"/>
              </a:ext>
            </a:extLst>
          </p:cNvPr>
          <p:cNvSpPr>
            <a:spLocks noGrp="1"/>
          </p:cNvSpPr>
          <p:nvPr>
            <p:ph idx="1"/>
          </p:nvPr>
        </p:nvSpPr>
        <p:spPr>
          <a:xfrm>
            <a:off x="838200" y="325315"/>
            <a:ext cx="10515600" cy="5851648"/>
          </a:xfrm>
        </p:spPr>
        <p:txBody>
          <a:bodyPr/>
          <a:lstStyle/>
          <a:p>
            <a:pPr marL="0" indent="0">
              <a:buNone/>
            </a:pPr>
            <a:r>
              <a:rPr lang="en-IN" dirty="0"/>
              <a:t>Apple</a:t>
            </a:r>
          </a:p>
          <a:p>
            <a:pPr marL="0" indent="0">
              <a:buNone/>
            </a:pPr>
            <a:r>
              <a:rPr lang="en-IN" dirty="0"/>
              <a:t> ↓</a:t>
            </a:r>
          </a:p>
          <a:p>
            <a:pPr marL="0" indent="0">
              <a:buNone/>
            </a:pPr>
            <a:r>
              <a:rPr lang="en-IN" dirty="0"/>
              <a:t>Lens</a:t>
            </a:r>
          </a:p>
          <a:p>
            <a:r>
              <a:rPr lang="en-IN" b="1" dirty="0"/>
              <a:t>Step 3</a:t>
            </a:r>
          </a:p>
          <a:p>
            <a:r>
              <a:rPr lang="en-IN" dirty="0"/>
              <a:t>Lens focuses light.</a:t>
            </a:r>
          </a:p>
          <a:p>
            <a:r>
              <a:rPr lang="en-IN" b="1" dirty="0"/>
              <a:t>Step 4</a:t>
            </a:r>
          </a:p>
          <a:p>
            <a:r>
              <a:rPr lang="en-IN" dirty="0"/>
              <a:t>Focused light reaches sensor.</a:t>
            </a:r>
          </a:p>
          <a:p>
            <a:r>
              <a:rPr lang="en-IN" b="1" dirty="0"/>
              <a:t>Step 5</a:t>
            </a:r>
          </a:p>
          <a:p>
            <a:r>
              <a:rPr lang="en-IN" dirty="0"/>
              <a:t>Sensor converts light into pixels.</a:t>
            </a:r>
          </a:p>
          <a:p>
            <a:r>
              <a:rPr lang="en-IN" b="1" dirty="0"/>
              <a:t>Step 6</a:t>
            </a:r>
          </a:p>
          <a:p>
            <a:r>
              <a:rPr lang="en-IN" dirty="0"/>
              <a:t>Image is stored.</a:t>
            </a:r>
          </a:p>
          <a:p>
            <a:pPr marL="0" indent="0">
              <a:buNone/>
            </a:pPr>
            <a:endParaRPr lang="en-IN" dirty="0"/>
          </a:p>
        </p:txBody>
      </p:sp>
    </p:spTree>
    <p:extLst>
      <p:ext uri="{BB962C8B-B14F-4D97-AF65-F5344CB8AC3E}">
        <p14:creationId xmlns:p14="http://schemas.microsoft.com/office/powerpoint/2010/main" val="17270276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9D59-000B-0303-190C-650B5DF4FBD4}"/>
              </a:ext>
            </a:extLst>
          </p:cNvPr>
          <p:cNvSpPr>
            <a:spLocks noGrp="1"/>
          </p:cNvSpPr>
          <p:nvPr>
            <p:ph type="title"/>
          </p:nvPr>
        </p:nvSpPr>
        <p:spPr/>
        <p:txBody>
          <a:bodyPr/>
          <a:lstStyle/>
          <a:p>
            <a:r>
              <a:rPr lang="en-IN" dirty="0"/>
              <a:t>What is a Camera Model? </a:t>
            </a:r>
          </a:p>
        </p:txBody>
      </p:sp>
      <p:sp>
        <p:nvSpPr>
          <p:cNvPr id="3" name="Content Placeholder 2">
            <a:extLst>
              <a:ext uri="{FF2B5EF4-FFF2-40B4-BE49-F238E27FC236}">
                <a16:creationId xmlns:a16="http://schemas.microsoft.com/office/drawing/2014/main" id="{401F47FF-C909-57A1-878D-1CCA1F2FA5EC}"/>
              </a:ext>
            </a:extLst>
          </p:cNvPr>
          <p:cNvSpPr>
            <a:spLocks noGrp="1"/>
          </p:cNvSpPr>
          <p:nvPr>
            <p:ph idx="1"/>
          </p:nvPr>
        </p:nvSpPr>
        <p:spPr>
          <a:xfrm>
            <a:off x="838200" y="1318846"/>
            <a:ext cx="10515600" cy="5336931"/>
          </a:xfrm>
        </p:spPr>
        <p:txBody>
          <a:bodyPr>
            <a:normAutofit lnSpcReduction="10000"/>
          </a:bodyPr>
          <a:lstStyle/>
          <a:p>
            <a:r>
              <a:rPr lang="en-IN" dirty="0"/>
              <a:t>A </a:t>
            </a:r>
            <a:r>
              <a:rPr lang="en-IN" b="1" dirty="0"/>
              <a:t>camera model</a:t>
            </a:r>
            <a:r>
              <a:rPr lang="en-IN" dirty="0"/>
              <a:t> is a mathematical representation of how a camera forms an image.</a:t>
            </a:r>
          </a:p>
          <a:p>
            <a:r>
              <a:rPr lang="en-IN" dirty="0"/>
              <a:t>A camera model explains how a 3D point becomes a 2D pixel.</a:t>
            </a:r>
          </a:p>
          <a:p>
            <a:endParaRPr lang="en-IN" dirty="0"/>
          </a:p>
          <a:p>
            <a:r>
              <a:rPr lang="en-IN" b="1" dirty="0"/>
              <a:t>Why Do We Need a Camera Model?</a:t>
            </a:r>
          </a:p>
          <a:p>
            <a:r>
              <a:rPr lang="en-IN" dirty="0"/>
              <a:t>The computer must understand:</a:t>
            </a:r>
          </a:p>
          <a:p>
            <a:pPr marL="0" indent="0">
              <a:buNone/>
            </a:pPr>
            <a:r>
              <a:rPr lang="en-IN" dirty="0"/>
              <a:t>Real World</a:t>
            </a:r>
          </a:p>
          <a:p>
            <a:pPr marL="0" indent="0">
              <a:buNone/>
            </a:pPr>
            <a:r>
              <a:rPr lang="en-IN" dirty="0"/>
              <a:t>     ↓</a:t>
            </a:r>
          </a:p>
          <a:p>
            <a:pPr marL="0" indent="0">
              <a:buNone/>
            </a:pPr>
            <a:r>
              <a:rPr lang="en-IN" dirty="0"/>
              <a:t>Camera</a:t>
            </a:r>
          </a:p>
          <a:p>
            <a:pPr marL="0" indent="0">
              <a:buNone/>
            </a:pPr>
            <a:r>
              <a:rPr lang="en-IN" dirty="0"/>
              <a:t>     ↓</a:t>
            </a:r>
          </a:p>
          <a:p>
            <a:pPr marL="0" indent="0">
              <a:buNone/>
            </a:pPr>
            <a:r>
              <a:rPr lang="en-IN" dirty="0"/>
              <a:t>Image using mathematics</a:t>
            </a:r>
          </a:p>
        </p:txBody>
      </p:sp>
    </p:spTree>
    <p:extLst>
      <p:ext uri="{BB962C8B-B14F-4D97-AF65-F5344CB8AC3E}">
        <p14:creationId xmlns:p14="http://schemas.microsoft.com/office/powerpoint/2010/main" val="33434482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77A8-07C5-0F36-9A08-8D75CE6DC68E}"/>
              </a:ext>
            </a:extLst>
          </p:cNvPr>
          <p:cNvSpPr>
            <a:spLocks noGrp="1"/>
          </p:cNvSpPr>
          <p:nvPr>
            <p:ph type="title"/>
          </p:nvPr>
        </p:nvSpPr>
        <p:spPr/>
        <p:txBody>
          <a:bodyPr/>
          <a:lstStyle/>
          <a:p>
            <a:r>
              <a:rPr lang="en-IN" dirty="0"/>
              <a:t>The Most Important Camera Model</a:t>
            </a:r>
          </a:p>
        </p:txBody>
      </p:sp>
      <p:sp>
        <p:nvSpPr>
          <p:cNvPr id="3" name="Content Placeholder 2">
            <a:extLst>
              <a:ext uri="{FF2B5EF4-FFF2-40B4-BE49-F238E27FC236}">
                <a16:creationId xmlns:a16="http://schemas.microsoft.com/office/drawing/2014/main" id="{E4946199-DB47-1FC3-3BFD-E85FC4A2EB7F}"/>
              </a:ext>
            </a:extLst>
          </p:cNvPr>
          <p:cNvSpPr>
            <a:spLocks noGrp="1"/>
          </p:cNvSpPr>
          <p:nvPr>
            <p:ph idx="1"/>
          </p:nvPr>
        </p:nvSpPr>
        <p:spPr/>
        <p:txBody>
          <a:bodyPr>
            <a:normAutofit fontScale="92500" lnSpcReduction="20000"/>
          </a:bodyPr>
          <a:lstStyle/>
          <a:p>
            <a:r>
              <a:rPr lang="en-IN" dirty="0"/>
              <a:t>Pinhole Camera Model</a:t>
            </a:r>
          </a:p>
          <a:p>
            <a:r>
              <a:rPr lang="en-IN" dirty="0"/>
              <a:t>This is the basic camera model used in Computer Vision.</a:t>
            </a:r>
          </a:p>
          <a:p>
            <a:endParaRPr lang="en-IN" dirty="0"/>
          </a:p>
          <a:p>
            <a:r>
              <a:rPr lang="en-IN" b="1" dirty="0"/>
              <a:t>Pinhole Camera</a:t>
            </a:r>
          </a:p>
          <a:p>
            <a:r>
              <a:rPr lang="en-IN" dirty="0"/>
              <a:t>Imagine a box with a tiny hole.</a:t>
            </a:r>
          </a:p>
          <a:p>
            <a:pPr marL="0" indent="0">
              <a:buNone/>
            </a:pPr>
            <a:r>
              <a:rPr lang="en-IN" dirty="0"/>
              <a:t>Object</a:t>
            </a:r>
          </a:p>
          <a:p>
            <a:pPr marL="0" indent="0">
              <a:buNone/>
            </a:pPr>
            <a:r>
              <a:rPr lang="en-IN" dirty="0"/>
              <a:t>   ↓</a:t>
            </a:r>
          </a:p>
          <a:p>
            <a:pPr marL="0" indent="0">
              <a:buNone/>
            </a:pPr>
            <a:r>
              <a:rPr lang="en-IN" dirty="0"/>
              <a:t>Pinhole</a:t>
            </a:r>
          </a:p>
          <a:p>
            <a:pPr marL="0" indent="0">
              <a:buNone/>
            </a:pPr>
            <a:r>
              <a:rPr lang="en-IN" dirty="0"/>
              <a:t>   ↓</a:t>
            </a:r>
          </a:p>
          <a:p>
            <a:pPr marL="0" indent="0">
              <a:buNone/>
            </a:pPr>
            <a:r>
              <a:rPr lang="en-IN" dirty="0"/>
              <a:t>Image Plane</a:t>
            </a:r>
          </a:p>
        </p:txBody>
      </p:sp>
    </p:spTree>
    <p:extLst>
      <p:ext uri="{BB962C8B-B14F-4D97-AF65-F5344CB8AC3E}">
        <p14:creationId xmlns:p14="http://schemas.microsoft.com/office/powerpoint/2010/main" val="248025589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82468-CFBB-C783-9AAC-37CC27944A96}"/>
              </a:ext>
            </a:extLst>
          </p:cNvPr>
          <p:cNvSpPr>
            <a:spLocks noGrp="1"/>
          </p:cNvSpPr>
          <p:nvPr>
            <p:ph idx="1"/>
          </p:nvPr>
        </p:nvSpPr>
        <p:spPr>
          <a:xfrm>
            <a:off x="838200" y="650631"/>
            <a:ext cx="10515600" cy="5526332"/>
          </a:xfrm>
        </p:spPr>
        <p:txBody>
          <a:bodyPr>
            <a:normAutofit fontScale="92500" lnSpcReduction="10000"/>
          </a:bodyPr>
          <a:lstStyle/>
          <a:p>
            <a:r>
              <a:rPr lang="en-IN" dirty="0"/>
              <a:t>Light enters only through the hole.</a:t>
            </a:r>
          </a:p>
          <a:p>
            <a:endParaRPr lang="en-IN" dirty="0"/>
          </a:p>
          <a:p>
            <a:r>
              <a:rPr lang="en-IN" dirty="0"/>
              <a:t>How Image Formation Happens</a:t>
            </a:r>
          </a:p>
          <a:p>
            <a:pPr marL="0" indent="0">
              <a:buNone/>
            </a:pPr>
            <a:r>
              <a:rPr lang="en-IN" dirty="0"/>
              <a:t>Object</a:t>
            </a:r>
          </a:p>
          <a:p>
            <a:pPr marL="0" indent="0">
              <a:buNone/>
            </a:pPr>
            <a:r>
              <a:rPr lang="en-IN" dirty="0"/>
              <a:t>  \   |   /</a:t>
            </a:r>
          </a:p>
          <a:p>
            <a:pPr marL="0" indent="0">
              <a:buNone/>
            </a:pPr>
            <a:r>
              <a:rPr lang="en-IN" dirty="0"/>
              <a:t>   \  |  /</a:t>
            </a:r>
          </a:p>
          <a:p>
            <a:pPr marL="0" indent="0">
              <a:buNone/>
            </a:pPr>
            <a:r>
              <a:rPr lang="en-IN" dirty="0"/>
              <a:t>    \ | /</a:t>
            </a:r>
          </a:p>
          <a:p>
            <a:pPr marL="0" indent="0">
              <a:buNone/>
            </a:pPr>
            <a:r>
              <a:rPr lang="en-IN" dirty="0"/>
              <a:t>     \|/</a:t>
            </a:r>
          </a:p>
          <a:p>
            <a:pPr marL="0" indent="0">
              <a:buNone/>
            </a:pPr>
            <a:r>
              <a:rPr lang="en-IN" dirty="0"/>
              <a:t>  Pinhole</a:t>
            </a:r>
          </a:p>
          <a:p>
            <a:pPr marL="0" indent="0">
              <a:buNone/>
            </a:pPr>
            <a:r>
              <a:rPr lang="en-IN" dirty="0"/>
              <a:t>     |</a:t>
            </a:r>
          </a:p>
          <a:p>
            <a:pPr marL="0" indent="0">
              <a:buNone/>
            </a:pPr>
            <a:r>
              <a:rPr lang="en-IN" dirty="0"/>
              <a:t>     |</a:t>
            </a:r>
          </a:p>
          <a:p>
            <a:pPr marL="0" indent="0">
              <a:buNone/>
            </a:pPr>
            <a:r>
              <a:rPr lang="en-IN" dirty="0"/>
              <a:t>Image Plane</a:t>
            </a:r>
          </a:p>
        </p:txBody>
      </p:sp>
    </p:spTree>
    <p:extLst>
      <p:ext uri="{BB962C8B-B14F-4D97-AF65-F5344CB8AC3E}">
        <p14:creationId xmlns:p14="http://schemas.microsoft.com/office/powerpoint/2010/main" val="22481580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7E8946-9F1D-A9B5-D480-47870090D5AA}"/>
              </a:ext>
            </a:extLst>
          </p:cNvPr>
          <p:cNvSpPr>
            <a:spLocks noGrp="1"/>
          </p:cNvSpPr>
          <p:nvPr>
            <p:ph idx="1"/>
          </p:nvPr>
        </p:nvSpPr>
        <p:spPr>
          <a:xfrm>
            <a:off x="838200" y="606669"/>
            <a:ext cx="10515600" cy="5570294"/>
          </a:xfrm>
        </p:spPr>
        <p:txBody>
          <a:bodyPr>
            <a:normAutofit fontScale="77500" lnSpcReduction="20000"/>
          </a:bodyPr>
          <a:lstStyle/>
          <a:p>
            <a:r>
              <a:rPr lang="en-IN" dirty="0"/>
              <a:t>All rays pass through one point.</a:t>
            </a:r>
          </a:p>
          <a:p>
            <a:r>
              <a:rPr lang="en-IN" dirty="0"/>
              <a:t>This point is called camera </a:t>
            </a:r>
            <a:r>
              <a:rPr lang="en-IN" dirty="0" err="1"/>
              <a:t>center</a:t>
            </a:r>
            <a:r>
              <a:rPr lang="en-IN" dirty="0"/>
              <a:t>.</a:t>
            </a:r>
          </a:p>
          <a:p>
            <a:r>
              <a:rPr lang="en-IN" dirty="0"/>
              <a:t>The image formed is upside down.</a:t>
            </a:r>
          </a:p>
          <a:p>
            <a:r>
              <a:rPr lang="en-IN" dirty="0"/>
              <a:t>Real Object</a:t>
            </a:r>
          </a:p>
          <a:p>
            <a:endParaRPr lang="en-IN" dirty="0"/>
          </a:p>
          <a:p>
            <a:pPr marL="0" indent="0">
              <a:buNone/>
            </a:pPr>
            <a:r>
              <a:rPr lang="en-IN" dirty="0"/>
              <a:t>   ↑</a:t>
            </a:r>
          </a:p>
          <a:p>
            <a:pPr marL="0" indent="0">
              <a:buNone/>
            </a:pPr>
            <a:r>
              <a:rPr lang="en-IN" dirty="0"/>
              <a:t>   |</a:t>
            </a:r>
          </a:p>
          <a:p>
            <a:pPr marL="0" indent="0">
              <a:buNone/>
            </a:pPr>
            <a:r>
              <a:rPr lang="en-IN" dirty="0"/>
              <a:t>   |</a:t>
            </a:r>
          </a:p>
          <a:p>
            <a:pPr marL="0" indent="0">
              <a:buNone/>
            </a:pPr>
            <a:endParaRPr lang="en-IN" dirty="0"/>
          </a:p>
          <a:p>
            <a:pPr marL="0" indent="0">
              <a:buNone/>
            </a:pPr>
            <a:r>
              <a:rPr lang="en-IN" dirty="0"/>
              <a:t>Image</a:t>
            </a:r>
          </a:p>
          <a:p>
            <a:pPr marL="0" indent="0">
              <a:buNone/>
            </a:pPr>
            <a:endParaRPr lang="en-IN" dirty="0"/>
          </a:p>
          <a:p>
            <a:pPr marL="0" indent="0">
              <a:buNone/>
            </a:pPr>
            <a:r>
              <a:rPr lang="en-IN" dirty="0"/>
              <a:t>   |</a:t>
            </a:r>
          </a:p>
          <a:p>
            <a:pPr marL="0" indent="0">
              <a:buNone/>
            </a:pPr>
            <a:r>
              <a:rPr lang="en-IN" dirty="0"/>
              <a:t>   |</a:t>
            </a:r>
          </a:p>
          <a:p>
            <a:pPr marL="0" indent="0">
              <a:buNone/>
            </a:pPr>
            <a:r>
              <a:rPr lang="en-IN" dirty="0"/>
              <a:t>   ↓</a:t>
            </a:r>
          </a:p>
          <a:p>
            <a:pPr marL="0" indent="0">
              <a:buNone/>
            </a:pPr>
            <a:r>
              <a:rPr lang="en-IN" dirty="0"/>
              <a:t>Real cameras later flip the image electronically.</a:t>
            </a:r>
          </a:p>
          <a:p>
            <a:pPr marL="0" indent="0">
              <a:buNone/>
            </a:pPr>
            <a:endParaRPr lang="en-IN" dirty="0"/>
          </a:p>
        </p:txBody>
      </p:sp>
    </p:spTree>
    <p:extLst>
      <p:ext uri="{BB962C8B-B14F-4D97-AF65-F5344CB8AC3E}">
        <p14:creationId xmlns:p14="http://schemas.microsoft.com/office/powerpoint/2010/main" val="24068493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A00FF-66FB-259E-76AB-D2DFD489F17F}"/>
              </a:ext>
            </a:extLst>
          </p:cNvPr>
          <p:cNvSpPr>
            <a:spLocks noGrp="1"/>
          </p:cNvSpPr>
          <p:nvPr>
            <p:ph type="title"/>
          </p:nvPr>
        </p:nvSpPr>
        <p:spPr/>
        <p:txBody>
          <a:bodyPr/>
          <a:lstStyle/>
          <a:p>
            <a:r>
              <a:rPr lang="en-IN" dirty="0"/>
              <a:t>Camera Coordinate System</a:t>
            </a:r>
          </a:p>
        </p:txBody>
      </p:sp>
      <p:sp>
        <p:nvSpPr>
          <p:cNvPr id="3" name="Content Placeholder 2">
            <a:extLst>
              <a:ext uri="{FF2B5EF4-FFF2-40B4-BE49-F238E27FC236}">
                <a16:creationId xmlns:a16="http://schemas.microsoft.com/office/drawing/2014/main" id="{2107633F-17B9-D5C5-4E55-3D9C3153D44E}"/>
              </a:ext>
            </a:extLst>
          </p:cNvPr>
          <p:cNvSpPr>
            <a:spLocks noGrp="1"/>
          </p:cNvSpPr>
          <p:nvPr>
            <p:ph idx="1"/>
          </p:nvPr>
        </p:nvSpPr>
        <p:spPr/>
        <p:txBody>
          <a:bodyPr>
            <a:normAutofit lnSpcReduction="10000"/>
          </a:bodyPr>
          <a:lstStyle/>
          <a:p>
            <a:r>
              <a:rPr lang="en-IN" dirty="0"/>
              <a:t>Computer vision uses coordinate system</a:t>
            </a:r>
          </a:p>
          <a:p>
            <a:pPr marL="0" indent="0">
              <a:buNone/>
            </a:pPr>
            <a:r>
              <a:rPr lang="en-IN" dirty="0"/>
              <a:t> Y</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O------→ X</a:t>
            </a:r>
          </a:p>
          <a:p>
            <a:pPr marL="0" indent="0">
              <a:buNone/>
            </a:pPr>
            <a:r>
              <a:rPr lang="en-IN" dirty="0"/>
              <a:t>       /</a:t>
            </a:r>
          </a:p>
          <a:p>
            <a:pPr marL="0" indent="0">
              <a:buNone/>
            </a:pPr>
            <a:r>
              <a:rPr lang="en-IN" dirty="0"/>
              <a:t>      /</a:t>
            </a:r>
          </a:p>
          <a:p>
            <a:pPr marL="0" indent="0">
              <a:buNone/>
            </a:pPr>
            <a:r>
              <a:rPr lang="en-IN"/>
              <a:t>     Z</a:t>
            </a:r>
            <a:endParaRPr lang="en-IN" dirty="0"/>
          </a:p>
        </p:txBody>
      </p:sp>
    </p:spTree>
    <p:extLst>
      <p:ext uri="{BB962C8B-B14F-4D97-AF65-F5344CB8AC3E}">
        <p14:creationId xmlns:p14="http://schemas.microsoft.com/office/powerpoint/2010/main" val="185576350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5FDCD0-E582-3C52-0471-F66DEB0EF160}"/>
              </a:ext>
            </a:extLst>
          </p:cNvPr>
          <p:cNvPicPr>
            <a:picLocks noGrp="1" noChangeAspect="1"/>
          </p:cNvPicPr>
          <p:nvPr>
            <p:ph idx="1"/>
          </p:nvPr>
        </p:nvPicPr>
        <p:blipFill>
          <a:blip r:embed="rId2"/>
          <a:stretch>
            <a:fillRect/>
          </a:stretch>
        </p:blipFill>
        <p:spPr>
          <a:xfrm>
            <a:off x="720969" y="483577"/>
            <a:ext cx="10506808" cy="5693386"/>
          </a:xfrm>
          <a:prstGeom prst="rect">
            <a:avLst/>
          </a:prstGeom>
        </p:spPr>
      </p:pic>
    </p:spTree>
    <p:extLst>
      <p:ext uri="{BB962C8B-B14F-4D97-AF65-F5344CB8AC3E}">
        <p14:creationId xmlns:p14="http://schemas.microsoft.com/office/powerpoint/2010/main" val="111827826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02C8ED-C07F-24C0-F731-8E9E38FF2CB0}"/>
              </a:ext>
            </a:extLst>
          </p:cNvPr>
          <p:cNvSpPr>
            <a:spLocks noGrp="1"/>
          </p:cNvSpPr>
          <p:nvPr>
            <p:ph idx="1"/>
          </p:nvPr>
        </p:nvSpPr>
        <p:spPr>
          <a:xfrm>
            <a:off x="838200" y="606669"/>
            <a:ext cx="10515600" cy="5570294"/>
          </a:xfrm>
        </p:spPr>
        <p:txBody>
          <a:bodyPr>
            <a:normAutofit/>
          </a:bodyPr>
          <a:lstStyle/>
          <a:p>
            <a:r>
              <a:rPr lang="en-IN" b="1" dirty="0"/>
              <a:t>X-axis</a:t>
            </a:r>
          </a:p>
          <a:p>
            <a:r>
              <a:rPr lang="en-IN" dirty="0"/>
              <a:t>Left ↔ Right</a:t>
            </a:r>
          </a:p>
          <a:p>
            <a:pPr marL="0" indent="0">
              <a:buNone/>
            </a:pPr>
            <a:br>
              <a:rPr lang="en-IN" dirty="0"/>
            </a:br>
            <a:endParaRPr lang="en-IN" dirty="0"/>
          </a:p>
          <a:p>
            <a:r>
              <a:rPr lang="en-IN" b="1" dirty="0"/>
              <a:t>Y-axis</a:t>
            </a:r>
          </a:p>
          <a:p>
            <a:r>
              <a:rPr lang="en-IN" dirty="0"/>
              <a:t>Up ↔ Down</a:t>
            </a:r>
          </a:p>
          <a:p>
            <a:pPr marL="0" indent="0">
              <a:buNone/>
            </a:pPr>
            <a:br>
              <a:rPr lang="en-IN" dirty="0"/>
            </a:br>
            <a:endParaRPr lang="en-IN" dirty="0"/>
          </a:p>
          <a:p>
            <a:r>
              <a:rPr lang="en-IN" b="1" dirty="0"/>
              <a:t>Z-axis</a:t>
            </a:r>
          </a:p>
          <a:p>
            <a:r>
              <a:rPr lang="en-IN" dirty="0"/>
              <a:t>Distance from camera</a:t>
            </a:r>
          </a:p>
          <a:p>
            <a:r>
              <a:rPr lang="en-IN" dirty="0"/>
              <a:t>This is depth.</a:t>
            </a:r>
          </a:p>
          <a:p>
            <a:endParaRPr lang="en-IN" dirty="0"/>
          </a:p>
        </p:txBody>
      </p:sp>
    </p:spTree>
    <p:extLst>
      <p:ext uri="{BB962C8B-B14F-4D97-AF65-F5344CB8AC3E}">
        <p14:creationId xmlns:p14="http://schemas.microsoft.com/office/powerpoint/2010/main" val="231734443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B7D1D4-617E-50C5-EA58-B12970ACC91C}"/>
                  </a:ext>
                </a:extLst>
              </p:cNvPr>
              <p:cNvSpPr>
                <a:spLocks noGrp="1"/>
              </p:cNvSpPr>
              <p:nvPr>
                <p:ph idx="1"/>
              </p:nvPr>
            </p:nvSpPr>
            <p:spPr>
              <a:xfrm>
                <a:off x="838200" y="1239715"/>
                <a:ext cx="10515600" cy="4937248"/>
              </a:xfrm>
            </p:spPr>
            <p:txBody>
              <a:bodyPr>
                <a:normAutofit/>
              </a:bodyPr>
              <a:lstStyle/>
              <a:p>
                <a:r>
                  <a:rPr lang="en-IN" b="1" dirty="0"/>
                  <a:t>3D Point</a:t>
                </a:r>
              </a:p>
              <a:p>
                <a:r>
                  <a:rPr lang="en-IN" dirty="0"/>
                  <a:t>Suppose:</a:t>
                </a:r>
              </a:p>
              <a:p>
                <a14:m>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m:t>
                    </m:r>
                    <m:d>
                      <m:dPr>
                        <m:sepChr m:val=","/>
                        <m:ctrlPr>
                          <a:rPr lang="en-IN" i="1">
                            <a:latin typeface="Cambria Math" panose="02040503050406030204" pitchFamily="18" charset="0"/>
                          </a:rPr>
                        </m:ctrlPr>
                      </m:dPr>
                      <m:e>
                        <m:r>
                          <a:rPr lang="en-IN" i="1">
                            <a:latin typeface="Cambria Math" panose="02040503050406030204" pitchFamily="18" charset="0"/>
                          </a:rPr>
                          <m:t>𝑋</m:t>
                        </m:r>
                      </m:e>
                      <m:e>
                        <m:r>
                          <a:rPr lang="en-IN" i="1">
                            <a:latin typeface="Cambria Math" panose="02040503050406030204" pitchFamily="18" charset="0"/>
                          </a:rPr>
                          <m:t>𝑌</m:t>
                        </m:r>
                      </m:e>
                      <m:e>
                        <m:r>
                          <a:rPr lang="en-IN" i="1">
                            <a:latin typeface="Cambria Math" panose="02040503050406030204" pitchFamily="18" charset="0"/>
                          </a:rPr>
                          <m:t>𝑍</m:t>
                        </m:r>
                      </m:e>
                    </m:d>
                  </m:oMath>
                </a14:m>
                <a:endParaRPr lang="en-IN" dirty="0"/>
              </a:p>
              <a:p>
                <a:r>
                  <a:rPr lang="en-IN" dirty="0"/>
                  <a:t>Example:</a:t>
                </a:r>
              </a:p>
              <a:p>
                <a14:m>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m:t>
                    </m:r>
                    <m:d>
                      <m:dPr>
                        <m:sepChr m:val=","/>
                        <m:ctrlPr>
                          <a:rPr lang="en-IN" i="1">
                            <a:latin typeface="Cambria Math" panose="02040503050406030204" pitchFamily="18" charset="0"/>
                          </a:rPr>
                        </m:ctrlPr>
                      </m:dPr>
                      <m:e>
                        <m:r>
                          <a:rPr lang="en-IN">
                            <a:latin typeface="Cambria Math" panose="02040503050406030204" pitchFamily="18" charset="0"/>
                          </a:rPr>
                          <m:t>10</m:t>
                        </m:r>
                      </m:e>
                      <m:e>
                        <m:r>
                          <a:rPr lang="en-IN">
                            <a:latin typeface="Cambria Math" panose="02040503050406030204" pitchFamily="18" charset="0"/>
                          </a:rPr>
                          <m:t>5</m:t>
                        </m:r>
                      </m:e>
                      <m:e>
                        <m:r>
                          <a:rPr lang="en-IN">
                            <a:latin typeface="Cambria Math" panose="02040503050406030204" pitchFamily="18" charset="0"/>
                          </a:rPr>
                          <m:t>100</m:t>
                        </m:r>
                      </m:e>
                    </m:d>
                  </m:oMath>
                </a14:m>
                <a:endParaRPr lang="en-IN" dirty="0"/>
              </a:p>
              <a:p>
                <a:r>
                  <a:rPr lang="en-IN" dirty="0"/>
                  <a:t>Meaning:</a:t>
                </a:r>
              </a:p>
              <a:p>
                <a:r>
                  <a:rPr lang="en-IN" dirty="0"/>
                  <a:t>10 units right </a:t>
                </a:r>
              </a:p>
              <a:p>
                <a:r>
                  <a:rPr lang="en-IN" dirty="0"/>
                  <a:t>5 units up </a:t>
                </a:r>
              </a:p>
              <a:p>
                <a:r>
                  <a:rPr lang="en-IN" dirty="0"/>
                  <a:t>100 units away</a:t>
                </a:r>
              </a:p>
              <a:p>
                <a:endParaRPr lang="en-IN" dirty="0"/>
              </a:p>
            </p:txBody>
          </p:sp>
        </mc:Choice>
        <mc:Fallback xmlns="">
          <p:sp>
            <p:nvSpPr>
              <p:cNvPr id="3" name="Content Placeholder 2">
                <a:extLst>
                  <a:ext uri="{FF2B5EF4-FFF2-40B4-BE49-F238E27FC236}">
                    <a16:creationId xmlns:a16="http://schemas.microsoft.com/office/drawing/2014/main" id="{1BB7D1D4-617E-50C5-EA58-B12970ACC91C}"/>
                  </a:ext>
                </a:extLst>
              </p:cNvPr>
              <p:cNvSpPr>
                <a:spLocks noGrp="1" noRot="1" noChangeAspect="1" noMove="1" noResize="1" noEditPoints="1" noAdjustHandles="1" noChangeArrowheads="1" noChangeShapeType="1" noTextEdit="1"/>
              </p:cNvSpPr>
              <p:nvPr>
                <p:ph idx="1"/>
              </p:nvPr>
            </p:nvSpPr>
            <p:spPr>
              <a:xfrm>
                <a:off x="838200" y="1239715"/>
                <a:ext cx="10515600" cy="4937248"/>
              </a:xfrm>
              <a:blipFill>
                <a:blip r:embed="rId2"/>
                <a:stretch>
                  <a:fillRect l="-1043" t="-2099"/>
                </a:stretch>
              </a:blipFill>
            </p:spPr>
            <p:txBody>
              <a:bodyPr/>
              <a:lstStyle/>
              <a:p>
                <a:r>
                  <a:rPr lang="en-IN">
                    <a:noFill/>
                  </a:rPr>
                  <a:t> </a:t>
                </a:r>
              </a:p>
            </p:txBody>
          </p:sp>
        </mc:Fallback>
      </mc:AlternateContent>
    </p:spTree>
    <p:extLst>
      <p:ext uri="{BB962C8B-B14F-4D97-AF65-F5344CB8AC3E}">
        <p14:creationId xmlns:p14="http://schemas.microsoft.com/office/powerpoint/2010/main" val="213840014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39FC27-2FFD-B9CD-DF04-8A8777748C7E}"/>
                  </a:ext>
                </a:extLst>
              </p:cNvPr>
              <p:cNvSpPr>
                <a:spLocks noGrp="1"/>
              </p:cNvSpPr>
              <p:nvPr>
                <p:ph idx="1"/>
              </p:nvPr>
            </p:nvSpPr>
            <p:spPr/>
            <p:txBody>
              <a:bodyPr/>
              <a:lstStyle/>
              <a:p>
                <a:r>
                  <a:rPr lang="en-IN" b="1" dirty="0"/>
                  <a:t>Projection</a:t>
                </a:r>
              </a:p>
              <a:p>
                <a:r>
                  <a:rPr lang="en-IN" dirty="0"/>
                  <a:t>The camera converts:</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𝑋</m:t>
                        </m:r>
                      </m:e>
                      <m:e>
                        <m:r>
                          <a:rPr lang="en-IN" i="1">
                            <a:latin typeface="Cambria Math" panose="02040503050406030204" pitchFamily="18" charset="0"/>
                          </a:rPr>
                          <m:t>𝑌</m:t>
                        </m:r>
                      </m:e>
                      <m:e>
                        <m:r>
                          <a:rPr lang="en-IN" i="1">
                            <a:latin typeface="Cambria Math" panose="02040503050406030204" pitchFamily="18" charset="0"/>
                          </a:rPr>
                          <m:t>𝑍</m:t>
                        </m:r>
                      </m:e>
                    </m:d>
                  </m:oMath>
                </a14:m>
                <a:endParaRPr lang="en-IN" dirty="0"/>
              </a:p>
              <a:p>
                <a:r>
                  <a:rPr lang="en-IN" dirty="0"/>
                  <a:t>into:</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endParaRPr lang="en-IN" dirty="0"/>
              </a:p>
              <a:p>
                <a:r>
                  <a:rPr lang="en-IN" dirty="0"/>
                  <a:t>on the image.</a:t>
                </a:r>
              </a:p>
              <a:p>
                <a:endParaRPr lang="en-IN" dirty="0"/>
              </a:p>
            </p:txBody>
          </p:sp>
        </mc:Choice>
        <mc:Fallback xmlns="">
          <p:sp>
            <p:nvSpPr>
              <p:cNvPr id="3" name="Content Placeholder 2">
                <a:extLst>
                  <a:ext uri="{FF2B5EF4-FFF2-40B4-BE49-F238E27FC236}">
                    <a16:creationId xmlns:a16="http://schemas.microsoft.com/office/drawing/2014/main" id="{3C39FC27-2FFD-B9CD-DF04-8A8777748C7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66278148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BBB05-AD57-6582-0216-7263738A76B2}"/>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C5FAAB-82DC-0F6C-5B4B-20DDBEFF5598}"/>
                  </a:ext>
                </a:extLst>
              </p:cNvPr>
              <p:cNvSpPr>
                <a:spLocks noGrp="1"/>
              </p:cNvSpPr>
              <p:nvPr>
                <p:ph idx="1"/>
              </p:nvPr>
            </p:nvSpPr>
            <p:spPr/>
            <p:txBody>
              <a:bodyPr/>
              <a:lstStyle/>
              <a:p>
                <a:r>
                  <a:rPr lang="en-IN" b="1" dirty="0"/>
                  <a:t>Perspective Projection Equation</a:t>
                </a:r>
              </a:p>
              <a:p>
                <a:r>
                  <a:rPr lang="en-IN" dirty="0"/>
                  <a:t>The pinhole camera uses:</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𝑓𝑋</m:t>
                        </m:r>
                      </m:num>
                      <m:den>
                        <m:r>
                          <a:rPr lang="en-IN" i="1">
                            <a:latin typeface="Cambria Math" panose="02040503050406030204" pitchFamily="18" charset="0"/>
                          </a:rPr>
                          <m:t>𝑍</m:t>
                        </m:r>
                      </m:den>
                    </m:f>
                  </m:oMath>
                </a14:m>
                <a:endParaRPr lang="en-IN" dirty="0"/>
              </a:p>
              <a:p>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𝑓𝑌</m:t>
                        </m:r>
                      </m:num>
                      <m:den>
                        <m:r>
                          <a:rPr lang="en-IN" i="1">
                            <a:latin typeface="Cambria Math" panose="02040503050406030204" pitchFamily="18" charset="0"/>
                          </a:rPr>
                          <m:t>𝑍</m:t>
                        </m:r>
                      </m:den>
                    </m:f>
                  </m:oMath>
                </a14:m>
                <a:endParaRPr lang="en-IN" dirty="0"/>
              </a:p>
              <a:p>
                <a:r>
                  <a:rPr lang="en-IN" dirty="0"/>
                  <a:t>where:</a:t>
                </a:r>
              </a:p>
              <a:p>
                <a14:m>
                  <m:oMath xmlns:m="http://schemas.openxmlformats.org/officeDocument/2006/math">
                    <m:r>
                      <a:rPr lang="en-IN" i="1">
                        <a:latin typeface="Cambria Math" panose="02040503050406030204" pitchFamily="18" charset="0"/>
                      </a:rPr>
                      <m:t>𝑓</m:t>
                    </m:r>
                  </m:oMath>
                </a14:m>
                <a:r>
                  <a:rPr lang="en-IN" dirty="0"/>
                  <a:t>= focal length </a:t>
                </a:r>
              </a:p>
              <a:p>
                <a14:m>
                  <m:oMath xmlns:m="http://schemas.openxmlformats.org/officeDocument/2006/math">
                    <m:r>
                      <a:rPr lang="en-IN" i="1">
                        <a:latin typeface="Cambria Math" panose="02040503050406030204" pitchFamily="18" charset="0"/>
                      </a:rPr>
                      <m:t>𝑍</m:t>
                    </m:r>
                  </m:oMath>
                </a14:m>
                <a:r>
                  <a:rPr lang="en-IN" dirty="0"/>
                  <a:t>= depth</a:t>
                </a:r>
              </a:p>
              <a:p>
                <a:endParaRPr lang="en-IN" dirty="0"/>
              </a:p>
            </p:txBody>
          </p:sp>
        </mc:Choice>
        <mc:Fallback xmlns="">
          <p:sp>
            <p:nvSpPr>
              <p:cNvPr id="3" name="Content Placeholder 2">
                <a:extLst>
                  <a:ext uri="{FF2B5EF4-FFF2-40B4-BE49-F238E27FC236}">
                    <a16:creationId xmlns:a16="http://schemas.microsoft.com/office/drawing/2014/main" id="{31C5FAAB-82DC-0F6C-5B4B-20DDBEFF559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260401219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9954-0DCE-1067-1CF0-FE6BDB27F54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464BDE-0FDB-0359-79EC-11B86D7EF452}"/>
                  </a:ext>
                </a:extLst>
              </p:cNvPr>
              <p:cNvSpPr>
                <a:spLocks noGrp="1"/>
              </p:cNvSpPr>
              <p:nvPr>
                <p:ph idx="1"/>
              </p:nvPr>
            </p:nvSpPr>
            <p:spPr/>
            <p:txBody>
              <a:bodyPr/>
              <a:lstStyle/>
              <a:p>
                <a:r>
                  <a:rPr lang="en-IN" b="1" dirty="0"/>
                  <a:t>Understanding the Formula</a:t>
                </a:r>
              </a:p>
              <a:p>
                <a:r>
                  <a:rPr lang="en-IN" dirty="0"/>
                  <a:t>Suppose:</a:t>
                </a:r>
              </a:p>
              <a:p>
                <a14:m>
                  <m:oMath xmlns:m="http://schemas.openxmlformats.org/officeDocument/2006/math">
                    <m:r>
                      <a:rPr lang="en-IN" i="1">
                        <a:latin typeface="Cambria Math" panose="02040503050406030204" pitchFamily="18" charset="0"/>
                      </a:rPr>
                      <m:t>𝑓</m:t>
                    </m:r>
                    <m:r>
                      <a:rPr lang="en-IN">
                        <a:latin typeface="Cambria Math" panose="02040503050406030204" pitchFamily="18" charset="0"/>
                      </a:rPr>
                      <m:t>=50</m:t>
                    </m:r>
                  </m:oMath>
                </a14:m>
                <a:endParaRPr lang="en-IN" dirty="0"/>
              </a:p>
              <a:p>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=20</m:t>
                    </m:r>
                  </m:oMath>
                </a14:m>
                <a:endParaRPr lang="en-IN" dirty="0"/>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=100</m:t>
                    </m:r>
                  </m:oMath>
                </a14:m>
                <a:endParaRPr lang="en-IN" dirty="0"/>
              </a:p>
              <a:p>
                <a:r>
                  <a:rPr lang="en-IN" dirty="0"/>
                  <a:t>Then:</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50×20</m:t>
                        </m:r>
                      </m:num>
                      <m:den>
                        <m:r>
                          <a:rPr lang="en-IN">
                            <a:latin typeface="Cambria Math" panose="02040503050406030204" pitchFamily="18" charset="0"/>
                          </a:rPr>
                          <m:t>100</m:t>
                        </m:r>
                      </m:den>
                    </m:f>
                  </m:oMath>
                </a14:m>
                <a:endParaRPr lang="en-IN" dirty="0"/>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=10</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46464BDE-0FDB-0359-79EC-11B86D7EF452}"/>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9922962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69BE-B68C-ED32-612B-120EA77D4061}"/>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8B9F35-2056-E552-0EE9-6E4902A3F12E}"/>
                  </a:ext>
                </a:extLst>
              </p:cNvPr>
              <p:cNvSpPr>
                <a:spLocks noGrp="1"/>
              </p:cNvSpPr>
              <p:nvPr>
                <p:ph idx="1"/>
              </p:nvPr>
            </p:nvSpPr>
            <p:spPr/>
            <p:txBody>
              <a:bodyPr/>
              <a:lstStyle/>
              <a:p>
                <a:r>
                  <a:rPr lang="en-IN" dirty="0"/>
                  <a:t>Now move object farther.</a:t>
                </a:r>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=200</m:t>
                    </m:r>
                  </m:oMath>
                </a14:m>
                <a:endParaRPr lang="en-IN" dirty="0"/>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50×20</m:t>
                        </m:r>
                      </m:num>
                      <m:den>
                        <m:r>
                          <a:rPr lang="en-IN">
                            <a:latin typeface="Cambria Math" panose="02040503050406030204" pitchFamily="18" charset="0"/>
                          </a:rPr>
                          <m:t>200</m:t>
                        </m:r>
                      </m:den>
                    </m:f>
                  </m:oMath>
                </a14:m>
                <a:endParaRPr lang="en-IN" dirty="0"/>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=5</m:t>
                    </m:r>
                  </m:oMath>
                </a14:m>
                <a:endParaRPr lang="en-IN" dirty="0"/>
              </a:p>
              <a:p>
                <a:r>
                  <a:rPr lang="en-IN" dirty="0"/>
                  <a:t>The image becomes smaller.</a:t>
                </a:r>
              </a:p>
              <a:p>
                <a:r>
                  <a:rPr lang="en-IN" dirty="0"/>
                  <a:t>This is why far objects look smaller.</a:t>
                </a:r>
              </a:p>
              <a:p>
                <a:endParaRPr lang="en-IN" dirty="0"/>
              </a:p>
            </p:txBody>
          </p:sp>
        </mc:Choice>
        <mc:Fallback xmlns="">
          <p:sp>
            <p:nvSpPr>
              <p:cNvPr id="3" name="Content Placeholder 2">
                <a:extLst>
                  <a:ext uri="{FF2B5EF4-FFF2-40B4-BE49-F238E27FC236}">
                    <a16:creationId xmlns:a16="http://schemas.microsoft.com/office/drawing/2014/main" id="{0B8B9F35-2056-E552-0EE9-6E4902A3F12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4017031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9348-161F-B169-649D-03DF78817A9D}"/>
              </a:ext>
            </a:extLst>
          </p:cNvPr>
          <p:cNvSpPr>
            <a:spLocks noGrp="1"/>
          </p:cNvSpPr>
          <p:nvPr>
            <p:ph type="title"/>
          </p:nvPr>
        </p:nvSpPr>
        <p:spPr/>
        <p:txBody>
          <a:bodyPr/>
          <a:lstStyle/>
          <a:p>
            <a:r>
              <a:rPr lang="en-IN" dirty="0"/>
              <a:t>Intrinsic Parameters</a:t>
            </a:r>
          </a:p>
        </p:txBody>
      </p:sp>
      <p:sp>
        <p:nvSpPr>
          <p:cNvPr id="3" name="Content Placeholder 2">
            <a:extLst>
              <a:ext uri="{FF2B5EF4-FFF2-40B4-BE49-F238E27FC236}">
                <a16:creationId xmlns:a16="http://schemas.microsoft.com/office/drawing/2014/main" id="{80FE13E9-E337-7D2B-42BF-BF0996AFD2DC}"/>
              </a:ext>
            </a:extLst>
          </p:cNvPr>
          <p:cNvSpPr>
            <a:spLocks noGrp="1"/>
          </p:cNvSpPr>
          <p:nvPr>
            <p:ph idx="1"/>
          </p:nvPr>
        </p:nvSpPr>
        <p:spPr/>
        <p:txBody>
          <a:bodyPr/>
          <a:lstStyle/>
          <a:p>
            <a:r>
              <a:rPr lang="en-IN" dirty="0"/>
              <a:t>These describe the camera itself.</a:t>
            </a:r>
          </a:p>
          <a:p>
            <a:r>
              <a:rPr lang="en-IN" b="1" dirty="0"/>
              <a:t>Include</a:t>
            </a:r>
          </a:p>
          <a:p>
            <a:r>
              <a:rPr lang="en-IN" dirty="0"/>
              <a:t>Focal length </a:t>
            </a:r>
          </a:p>
          <a:p>
            <a:r>
              <a:rPr lang="en-IN" dirty="0"/>
              <a:t>Sensor size </a:t>
            </a:r>
          </a:p>
          <a:p>
            <a:r>
              <a:rPr lang="en-IN" dirty="0"/>
              <a:t>Principal point </a:t>
            </a:r>
          </a:p>
          <a:p>
            <a:r>
              <a:rPr lang="en-IN" dirty="0"/>
              <a:t>Pixel size</a:t>
            </a:r>
          </a:p>
          <a:p>
            <a:endParaRPr lang="en-IN" dirty="0"/>
          </a:p>
        </p:txBody>
      </p:sp>
    </p:spTree>
    <p:extLst>
      <p:ext uri="{BB962C8B-B14F-4D97-AF65-F5344CB8AC3E}">
        <p14:creationId xmlns:p14="http://schemas.microsoft.com/office/powerpoint/2010/main" val="173954528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A60D-5DD2-597C-3E10-72F02B2B70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456C53-873A-9998-D7BB-0590E429142F}"/>
              </a:ext>
            </a:extLst>
          </p:cNvPr>
          <p:cNvSpPr>
            <a:spLocks noGrp="1"/>
          </p:cNvSpPr>
          <p:nvPr>
            <p:ph idx="1"/>
          </p:nvPr>
        </p:nvSpPr>
        <p:spPr/>
        <p:txBody>
          <a:bodyPr>
            <a:normAutofit lnSpcReduction="10000"/>
          </a:bodyPr>
          <a:lstStyle/>
          <a:p>
            <a:r>
              <a:rPr lang="en-IN" b="1" dirty="0"/>
              <a:t>Focal Length</a:t>
            </a:r>
          </a:p>
          <a:p>
            <a:r>
              <a:rPr lang="en-IN" dirty="0"/>
              <a:t>Distance between lens and sensor.</a:t>
            </a:r>
          </a:p>
          <a:p>
            <a:r>
              <a:rPr lang="en-IN" dirty="0"/>
              <a:t>Measured in:</a:t>
            </a:r>
          </a:p>
          <a:p>
            <a:r>
              <a:rPr lang="en-IN" dirty="0"/>
              <a:t>mm</a:t>
            </a:r>
          </a:p>
          <a:p>
            <a:r>
              <a:rPr lang="en-IN" b="1" dirty="0"/>
              <a:t>Effect</a:t>
            </a:r>
          </a:p>
          <a:p>
            <a:r>
              <a:rPr lang="en-IN" dirty="0"/>
              <a:t>Small focal length:</a:t>
            </a:r>
          </a:p>
          <a:p>
            <a:r>
              <a:rPr lang="en-IN" dirty="0"/>
              <a:t>Wide View</a:t>
            </a:r>
          </a:p>
          <a:p>
            <a:r>
              <a:rPr lang="en-IN" dirty="0"/>
              <a:t>Large focal length:</a:t>
            </a:r>
          </a:p>
          <a:p>
            <a:r>
              <a:rPr lang="en-IN" dirty="0"/>
              <a:t>Zoom View</a:t>
            </a:r>
          </a:p>
          <a:p>
            <a:endParaRPr lang="en-IN" dirty="0"/>
          </a:p>
        </p:txBody>
      </p:sp>
    </p:spTree>
    <p:extLst>
      <p:ext uri="{BB962C8B-B14F-4D97-AF65-F5344CB8AC3E}">
        <p14:creationId xmlns:p14="http://schemas.microsoft.com/office/powerpoint/2010/main" val="140763872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9E26D-DBAC-6D2E-E3A4-EA05C2C7FBC4}"/>
              </a:ext>
            </a:extLst>
          </p:cNvPr>
          <p:cNvSpPr>
            <a:spLocks noGrp="1"/>
          </p:cNvSpPr>
          <p:nvPr>
            <p:ph type="title"/>
          </p:nvPr>
        </p:nvSpPr>
        <p:spPr/>
        <p:txBody>
          <a:bodyPr/>
          <a:lstStyle/>
          <a:p>
            <a:r>
              <a:rPr lang="en-IN" dirty="0"/>
              <a:t>Extrinsic Parameters</a:t>
            </a:r>
          </a:p>
        </p:txBody>
      </p:sp>
      <p:sp>
        <p:nvSpPr>
          <p:cNvPr id="3" name="Content Placeholder 2">
            <a:extLst>
              <a:ext uri="{FF2B5EF4-FFF2-40B4-BE49-F238E27FC236}">
                <a16:creationId xmlns:a16="http://schemas.microsoft.com/office/drawing/2014/main" id="{59EC24A5-973E-E649-0BCB-CE71CD492E44}"/>
              </a:ext>
            </a:extLst>
          </p:cNvPr>
          <p:cNvSpPr>
            <a:spLocks noGrp="1"/>
          </p:cNvSpPr>
          <p:nvPr>
            <p:ph idx="1"/>
          </p:nvPr>
        </p:nvSpPr>
        <p:spPr>
          <a:xfrm>
            <a:off x="838200" y="1415562"/>
            <a:ext cx="10515600" cy="5077313"/>
          </a:xfrm>
        </p:spPr>
        <p:txBody>
          <a:bodyPr>
            <a:normAutofit fontScale="85000" lnSpcReduction="20000"/>
          </a:bodyPr>
          <a:lstStyle/>
          <a:p>
            <a:r>
              <a:rPr lang="en-IN" dirty="0"/>
              <a:t>These describe the camera position.</a:t>
            </a:r>
          </a:p>
          <a:p>
            <a:r>
              <a:rPr lang="en-IN" b="1" dirty="0"/>
              <a:t>Include</a:t>
            </a:r>
          </a:p>
          <a:p>
            <a:r>
              <a:rPr lang="en-IN" dirty="0"/>
              <a:t>Rotation </a:t>
            </a:r>
          </a:p>
          <a:p>
            <a:r>
              <a:rPr lang="en-IN" dirty="0"/>
              <a:t>Translation</a:t>
            </a:r>
          </a:p>
          <a:p>
            <a:r>
              <a:rPr lang="en-IN" b="1" dirty="0"/>
              <a:t>Translation</a:t>
            </a:r>
          </a:p>
          <a:p>
            <a:r>
              <a:rPr lang="en-IN" dirty="0"/>
              <a:t>Where the camera is located.</a:t>
            </a:r>
          </a:p>
          <a:p>
            <a:pPr marL="0" indent="0">
              <a:buNone/>
            </a:pPr>
            <a:endParaRPr lang="en-IN" dirty="0"/>
          </a:p>
          <a:p>
            <a:pPr marL="0" indent="0">
              <a:buNone/>
            </a:pPr>
            <a:r>
              <a:rPr lang="en-IN" dirty="0"/>
              <a:t>Example:</a:t>
            </a:r>
          </a:p>
          <a:p>
            <a:pPr marL="0" indent="0">
              <a:buNone/>
            </a:pPr>
            <a:r>
              <a:rPr lang="en-US" dirty="0"/>
              <a:t>Camera at (0,0,0)</a:t>
            </a:r>
          </a:p>
          <a:p>
            <a:pPr marL="0" indent="0">
              <a:buNone/>
            </a:pPr>
            <a:endParaRPr lang="en-US" dirty="0"/>
          </a:p>
          <a:p>
            <a:pPr marL="0" indent="0">
              <a:buNone/>
            </a:pPr>
            <a:r>
              <a:rPr lang="en-US" dirty="0"/>
              <a:t>or</a:t>
            </a:r>
          </a:p>
          <a:p>
            <a:pPr marL="0" indent="0">
              <a:buNone/>
            </a:pPr>
            <a:endParaRPr lang="en-US" dirty="0"/>
          </a:p>
          <a:p>
            <a:pPr marL="0" indent="0">
              <a:buNone/>
            </a:pPr>
            <a:r>
              <a:rPr lang="en-US" dirty="0"/>
              <a:t>Camera at (10,5,2)</a:t>
            </a:r>
            <a:endParaRPr lang="en-IN" dirty="0"/>
          </a:p>
        </p:txBody>
      </p:sp>
    </p:spTree>
    <p:extLst>
      <p:ext uri="{BB962C8B-B14F-4D97-AF65-F5344CB8AC3E}">
        <p14:creationId xmlns:p14="http://schemas.microsoft.com/office/powerpoint/2010/main" val="386775533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E35F-79E4-2022-6A1B-553E260088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67007F-8CCC-5F7E-D3A3-F5A954AE182B}"/>
              </a:ext>
            </a:extLst>
          </p:cNvPr>
          <p:cNvSpPr>
            <a:spLocks noGrp="1"/>
          </p:cNvSpPr>
          <p:nvPr>
            <p:ph idx="1"/>
          </p:nvPr>
        </p:nvSpPr>
        <p:spPr/>
        <p:txBody>
          <a:bodyPr/>
          <a:lstStyle/>
          <a:p>
            <a:r>
              <a:rPr lang="en-IN" b="1" dirty="0"/>
              <a:t>Rotation</a:t>
            </a:r>
          </a:p>
          <a:p>
            <a:r>
              <a:rPr lang="en-IN" dirty="0"/>
              <a:t>Where the camera is looking.</a:t>
            </a:r>
          </a:p>
          <a:p>
            <a:r>
              <a:rPr lang="en-IN" dirty="0"/>
              <a:t>Example:</a:t>
            </a:r>
          </a:p>
          <a:p>
            <a:r>
              <a:rPr lang="en-IN" dirty="0"/>
              <a:t>Left</a:t>
            </a:r>
          </a:p>
          <a:p>
            <a:r>
              <a:rPr lang="en-IN" dirty="0"/>
              <a:t>Right</a:t>
            </a:r>
          </a:p>
          <a:p>
            <a:r>
              <a:rPr lang="en-IN" dirty="0"/>
              <a:t>Up</a:t>
            </a:r>
          </a:p>
          <a:p>
            <a:r>
              <a:rPr lang="en-IN" dirty="0"/>
              <a:t>Down</a:t>
            </a:r>
          </a:p>
          <a:p>
            <a:endParaRPr lang="en-IN" dirty="0"/>
          </a:p>
        </p:txBody>
      </p:sp>
    </p:spTree>
    <p:extLst>
      <p:ext uri="{BB962C8B-B14F-4D97-AF65-F5344CB8AC3E}">
        <p14:creationId xmlns:p14="http://schemas.microsoft.com/office/powerpoint/2010/main" val="191915681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20333-601D-0B85-1BDC-E6318AD4A244}"/>
              </a:ext>
            </a:extLst>
          </p:cNvPr>
          <p:cNvSpPr>
            <a:spLocks noGrp="1"/>
          </p:cNvSpPr>
          <p:nvPr>
            <p:ph type="title"/>
          </p:nvPr>
        </p:nvSpPr>
        <p:spPr/>
        <p:txBody>
          <a:bodyPr/>
          <a:lstStyle/>
          <a:p>
            <a:r>
              <a:rPr lang="en-IN" dirty="0"/>
              <a:t>Camera Calibration</a:t>
            </a:r>
          </a:p>
        </p:txBody>
      </p:sp>
      <p:sp>
        <p:nvSpPr>
          <p:cNvPr id="3" name="Content Placeholder 2">
            <a:extLst>
              <a:ext uri="{FF2B5EF4-FFF2-40B4-BE49-F238E27FC236}">
                <a16:creationId xmlns:a16="http://schemas.microsoft.com/office/drawing/2014/main" id="{0D5B1E3B-C3A8-480F-E016-579F1A40E77B}"/>
              </a:ext>
            </a:extLst>
          </p:cNvPr>
          <p:cNvSpPr>
            <a:spLocks noGrp="1"/>
          </p:cNvSpPr>
          <p:nvPr>
            <p:ph idx="1"/>
          </p:nvPr>
        </p:nvSpPr>
        <p:spPr/>
        <p:txBody>
          <a:bodyPr/>
          <a:lstStyle/>
          <a:p>
            <a:r>
              <a:rPr lang="en-IN" dirty="0"/>
              <a:t>Camera calibration is the process of finding the </a:t>
            </a:r>
            <a:r>
              <a:rPr lang="en-IN" b="1" dirty="0"/>
              <a:t>true properties of a camera</a:t>
            </a:r>
            <a:r>
              <a:rPr lang="en-IN" dirty="0"/>
              <a:t>.</a:t>
            </a:r>
          </a:p>
          <a:p>
            <a:r>
              <a:rPr lang="en-IN" dirty="0"/>
              <a:t>Think of it like measuring and correcting a camera so that the computer knows exactly how the camera sees the world.</a:t>
            </a:r>
          </a:p>
          <a:p>
            <a:r>
              <a:rPr lang="en-IN" dirty="0"/>
              <a:t>Camera calibration is used to find camera parameters such as focal length, camera </a:t>
            </a:r>
            <a:r>
              <a:rPr lang="en-IN" dirty="0" err="1"/>
              <a:t>center</a:t>
            </a:r>
            <a:r>
              <a:rPr lang="en-IN" dirty="0"/>
              <a:t>, and lens distortion.</a:t>
            </a:r>
          </a:p>
        </p:txBody>
      </p:sp>
    </p:spTree>
    <p:extLst>
      <p:ext uri="{BB962C8B-B14F-4D97-AF65-F5344CB8AC3E}">
        <p14:creationId xmlns:p14="http://schemas.microsoft.com/office/powerpoint/2010/main" val="300004562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3A60-C919-C8BC-1FDE-D67560EEA2B0}"/>
              </a:ext>
            </a:extLst>
          </p:cNvPr>
          <p:cNvSpPr>
            <a:spLocks noGrp="1"/>
          </p:cNvSpPr>
          <p:nvPr>
            <p:ph type="title"/>
          </p:nvPr>
        </p:nvSpPr>
        <p:spPr/>
        <p:txBody>
          <a:bodyPr/>
          <a:lstStyle/>
          <a:p>
            <a:r>
              <a:rPr lang="en-IN" dirty="0"/>
              <a:t>Why Do We Need Calibration?</a:t>
            </a:r>
          </a:p>
        </p:txBody>
      </p:sp>
      <p:sp>
        <p:nvSpPr>
          <p:cNvPr id="3" name="Content Placeholder 2">
            <a:extLst>
              <a:ext uri="{FF2B5EF4-FFF2-40B4-BE49-F238E27FC236}">
                <a16:creationId xmlns:a16="http://schemas.microsoft.com/office/drawing/2014/main" id="{35142141-3A23-C967-E698-CEF2D976388F}"/>
              </a:ext>
            </a:extLst>
          </p:cNvPr>
          <p:cNvSpPr>
            <a:spLocks noGrp="1"/>
          </p:cNvSpPr>
          <p:nvPr>
            <p:ph idx="1"/>
          </p:nvPr>
        </p:nvSpPr>
        <p:spPr/>
        <p:txBody>
          <a:bodyPr/>
          <a:lstStyle/>
          <a:p>
            <a:r>
              <a:rPr lang="en-IN" dirty="0"/>
              <a:t>Real cameras are not perfect.</a:t>
            </a:r>
          </a:p>
          <a:p>
            <a:r>
              <a:rPr lang="en-IN" dirty="0"/>
              <a:t>Problems:</a:t>
            </a:r>
          </a:p>
          <a:p>
            <a:r>
              <a:rPr lang="en-IN" dirty="0"/>
              <a:t>Lens distortion </a:t>
            </a:r>
          </a:p>
          <a:p>
            <a:r>
              <a:rPr lang="en-IN" dirty="0"/>
              <a:t>Unknown focal length </a:t>
            </a:r>
          </a:p>
          <a:p>
            <a:r>
              <a:rPr lang="en-IN" dirty="0"/>
              <a:t>Slight manufacturing differences</a:t>
            </a:r>
          </a:p>
          <a:p>
            <a:endParaRPr lang="en-IN" dirty="0"/>
          </a:p>
        </p:txBody>
      </p:sp>
    </p:spTree>
    <p:extLst>
      <p:ext uri="{BB962C8B-B14F-4D97-AF65-F5344CB8AC3E}">
        <p14:creationId xmlns:p14="http://schemas.microsoft.com/office/powerpoint/2010/main" val="323795452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BE75-58F7-6957-B7AD-D6BDA0BBDC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43F29E-3CA0-220D-9403-3E78B785E2A7}"/>
              </a:ext>
            </a:extLst>
          </p:cNvPr>
          <p:cNvSpPr>
            <a:spLocks noGrp="1"/>
          </p:cNvSpPr>
          <p:nvPr>
            <p:ph idx="1"/>
          </p:nvPr>
        </p:nvSpPr>
        <p:spPr/>
        <p:txBody>
          <a:bodyPr/>
          <a:lstStyle/>
          <a:p>
            <a:r>
              <a:rPr lang="en-IN" dirty="0"/>
              <a:t>Without calibration:</a:t>
            </a:r>
          </a:p>
          <a:p>
            <a:pPr marL="0" indent="0">
              <a:buNone/>
            </a:pPr>
            <a:r>
              <a:rPr lang="en-US" dirty="0"/>
              <a:t>Real Object</a:t>
            </a:r>
          </a:p>
          <a:p>
            <a:pPr marL="0" indent="0">
              <a:buNone/>
            </a:pPr>
            <a:r>
              <a:rPr lang="en-US" dirty="0"/>
              <a:t>     ↓</a:t>
            </a:r>
          </a:p>
          <a:p>
            <a:pPr marL="0" indent="0">
              <a:buNone/>
            </a:pPr>
            <a:r>
              <a:rPr lang="en-US" dirty="0"/>
              <a:t>Camera</a:t>
            </a:r>
          </a:p>
          <a:p>
            <a:pPr marL="0" indent="0">
              <a:buNone/>
            </a:pPr>
            <a:r>
              <a:rPr lang="en-US" dirty="0"/>
              <a:t>     ↓</a:t>
            </a:r>
          </a:p>
          <a:p>
            <a:pPr marL="0" indent="0">
              <a:buNone/>
            </a:pPr>
            <a:r>
              <a:rPr lang="en-US" dirty="0"/>
              <a:t>Incorrect Measurements</a:t>
            </a:r>
            <a:endParaRPr lang="en-IN" dirty="0"/>
          </a:p>
        </p:txBody>
      </p:sp>
    </p:spTree>
    <p:extLst>
      <p:ext uri="{BB962C8B-B14F-4D97-AF65-F5344CB8AC3E}">
        <p14:creationId xmlns:p14="http://schemas.microsoft.com/office/powerpoint/2010/main" val="426407332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E80E-00D0-0051-22E9-A6AFB4B8A5F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BB4E89-E302-7D1E-F7E1-6EA9CFC1BEDA}"/>
              </a:ext>
            </a:extLst>
          </p:cNvPr>
          <p:cNvSpPr>
            <a:spLocks noGrp="1"/>
          </p:cNvSpPr>
          <p:nvPr>
            <p:ph idx="1"/>
          </p:nvPr>
        </p:nvSpPr>
        <p:spPr/>
        <p:txBody>
          <a:bodyPr/>
          <a:lstStyle/>
          <a:p>
            <a:r>
              <a:rPr lang="en-IN" dirty="0"/>
              <a:t>With calibration:</a:t>
            </a:r>
          </a:p>
          <a:p>
            <a:pPr marL="0" indent="0">
              <a:buNone/>
            </a:pPr>
            <a:r>
              <a:rPr lang="en-US" dirty="0"/>
              <a:t>Real Object</a:t>
            </a:r>
          </a:p>
          <a:p>
            <a:pPr marL="0" indent="0">
              <a:buNone/>
            </a:pPr>
            <a:r>
              <a:rPr lang="en-US" dirty="0"/>
              <a:t>     ↓</a:t>
            </a:r>
          </a:p>
          <a:p>
            <a:pPr marL="0" indent="0">
              <a:buNone/>
            </a:pPr>
            <a:r>
              <a:rPr lang="en-US" dirty="0"/>
              <a:t>Calibrated Camera</a:t>
            </a:r>
          </a:p>
          <a:p>
            <a:pPr marL="0" indent="0">
              <a:buNone/>
            </a:pPr>
            <a:r>
              <a:rPr lang="en-US" dirty="0"/>
              <a:t>     ↓</a:t>
            </a:r>
          </a:p>
          <a:p>
            <a:pPr marL="0" indent="0">
              <a:buNone/>
            </a:pPr>
            <a:r>
              <a:rPr lang="en-US" dirty="0"/>
              <a:t>Accurate Measurements</a:t>
            </a:r>
            <a:endParaRPr lang="en-IN" dirty="0"/>
          </a:p>
        </p:txBody>
      </p:sp>
    </p:spTree>
    <p:extLst>
      <p:ext uri="{BB962C8B-B14F-4D97-AF65-F5344CB8AC3E}">
        <p14:creationId xmlns:p14="http://schemas.microsoft.com/office/powerpoint/2010/main" val="37876203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3B679-589C-F512-62A0-DC0F8FC531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293B5F-699B-E961-EA72-8967231678B3}"/>
              </a:ext>
            </a:extLst>
          </p:cNvPr>
          <p:cNvSpPr>
            <a:spLocks noGrp="1"/>
          </p:cNvSpPr>
          <p:nvPr>
            <p:ph idx="1"/>
          </p:nvPr>
        </p:nvSpPr>
        <p:spPr/>
        <p:txBody>
          <a:bodyPr/>
          <a:lstStyle/>
          <a:p>
            <a:r>
              <a:rPr lang="en-IN" b="1" dirty="0"/>
              <a:t>Example</a:t>
            </a:r>
          </a:p>
          <a:p>
            <a:r>
              <a:rPr lang="en-IN" dirty="0"/>
              <a:t>Suppose you want to measure a box using a camera.</a:t>
            </a:r>
          </a:p>
          <a:p>
            <a:r>
              <a:rPr lang="en-US" dirty="0"/>
              <a:t>Real Box Width = 20 cm</a:t>
            </a:r>
          </a:p>
          <a:p>
            <a:endParaRPr lang="en-US" dirty="0"/>
          </a:p>
          <a:p>
            <a:r>
              <a:rPr lang="en-IN" dirty="0"/>
              <a:t>Because of lens distortion, the image may suggest:</a:t>
            </a:r>
          </a:p>
          <a:p>
            <a:r>
              <a:rPr lang="en-IN" dirty="0"/>
              <a:t>22 cm</a:t>
            </a:r>
          </a:p>
          <a:p>
            <a:endParaRPr lang="en-IN" dirty="0"/>
          </a:p>
          <a:p>
            <a:r>
              <a:rPr lang="en-IN" dirty="0"/>
              <a:t>Calibration helps correct this error.</a:t>
            </a:r>
          </a:p>
          <a:p>
            <a:endParaRPr lang="en-IN" dirty="0"/>
          </a:p>
        </p:txBody>
      </p:sp>
    </p:spTree>
    <p:extLst>
      <p:ext uri="{BB962C8B-B14F-4D97-AF65-F5344CB8AC3E}">
        <p14:creationId xmlns:p14="http://schemas.microsoft.com/office/powerpoint/2010/main" val="127742510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0760-8D35-9008-A52F-974116531FA9}"/>
              </a:ext>
            </a:extLst>
          </p:cNvPr>
          <p:cNvSpPr>
            <a:spLocks noGrp="1"/>
          </p:cNvSpPr>
          <p:nvPr>
            <p:ph type="title"/>
          </p:nvPr>
        </p:nvSpPr>
        <p:spPr/>
        <p:txBody>
          <a:bodyPr/>
          <a:lstStyle/>
          <a:p>
            <a:r>
              <a:rPr lang="en-IN" dirty="0"/>
              <a:t>What Does Calibration Find?</a:t>
            </a:r>
          </a:p>
        </p:txBody>
      </p:sp>
      <p:sp>
        <p:nvSpPr>
          <p:cNvPr id="3" name="Content Placeholder 2">
            <a:extLst>
              <a:ext uri="{FF2B5EF4-FFF2-40B4-BE49-F238E27FC236}">
                <a16:creationId xmlns:a16="http://schemas.microsoft.com/office/drawing/2014/main" id="{3A56018D-7CA8-87D6-4805-4D1F55D17700}"/>
              </a:ext>
            </a:extLst>
          </p:cNvPr>
          <p:cNvSpPr>
            <a:spLocks noGrp="1"/>
          </p:cNvSpPr>
          <p:nvPr>
            <p:ph idx="1"/>
          </p:nvPr>
        </p:nvSpPr>
        <p:spPr/>
        <p:txBody>
          <a:bodyPr>
            <a:normAutofit lnSpcReduction="10000"/>
          </a:bodyPr>
          <a:lstStyle/>
          <a:p>
            <a:r>
              <a:rPr lang="en-IN" b="1" dirty="0"/>
              <a:t>1. Focal Length (f)</a:t>
            </a:r>
          </a:p>
          <a:p>
            <a:r>
              <a:rPr lang="en-IN" dirty="0"/>
              <a:t>Distance-related camera parameter.</a:t>
            </a:r>
          </a:p>
          <a:p>
            <a:r>
              <a:rPr lang="en-IN" dirty="0"/>
              <a:t>Example:</a:t>
            </a:r>
          </a:p>
          <a:p>
            <a:r>
              <a:rPr lang="en-IN" dirty="0"/>
              <a:t>f = 800 pixels</a:t>
            </a:r>
          </a:p>
          <a:p>
            <a:endParaRPr lang="en-IN" dirty="0"/>
          </a:p>
          <a:p>
            <a:r>
              <a:rPr lang="en-IN" b="1" dirty="0"/>
              <a:t>2. Principal Point</a:t>
            </a:r>
          </a:p>
          <a:p>
            <a:r>
              <a:rPr lang="en-IN" dirty="0"/>
              <a:t>The </a:t>
            </a:r>
            <a:r>
              <a:rPr lang="en-IN" dirty="0" err="1"/>
              <a:t>center</a:t>
            </a:r>
            <a:r>
              <a:rPr lang="en-IN" dirty="0"/>
              <a:t> of the image.</a:t>
            </a:r>
          </a:p>
          <a:p>
            <a:r>
              <a:rPr lang="en-IN" dirty="0"/>
              <a:t>Usually close to:</a:t>
            </a:r>
          </a:p>
          <a:p>
            <a:r>
              <a:rPr lang="en-IN" dirty="0"/>
              <a:t>(cx, cy)</a:t>
            </a:r>
          </a:p>
        </p:txBody>
      </p:sp>
    </p:spTree>
    <p:extLst>
      <p:ext uri="{BB962C8B-B14F-4D97-AF65-F5344CB8AC3E}">
        <p14:creationId xmlns:p14="http://schemas.microsoft.com/office/powerpoint/2010/main" val="119162701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951F10-F08E-AF6A-BCE9-0980855F4EEF}"/>
                  </a:ext>
                </a:extLst>
              </p:cNvPr>
              <p:cNvSpPr>
                <a:spLocks noGrp="1"/>
              </p:cNvSpPr>
              <p:nvPr>
                <p:ph idx="1"/>
              </p:nvPr>
            </p:nvSpPr>
            <p:spPr>
              <a:xfrm>
                <a:off x="838200" y="738554"/>
                <a:ext cx="10515600" cy="5438409"/>
              </a:xfrm>
            </p:spPr>
            <p:txBody>
              <a:bodyPr/>
              <a:lstStyle/>
              <a:p>
                <a:r>
                  <a:rPr lang="en-IN" dirty="0"/>
                  <a:t>Example:</a:t>
                </a:r>
              </a:p>
              <a:p>
                <a:r>
                  <a:rPr lang="en-IN" dirty="0"/>
                  <a:t>(640, 360)</a:t>
                </a:r>
              </a:p>
              <a:p>
                <a:r>
                  <a:rPr lang="en-IN" dirty="0"/>
                  <a:t>for a 1280×720 image.</a:t>
                </a:r>
              </a:p>
              <a:p>
                <a:r>
                  <a:rPr lang="en-IN" b="1" dirty="0"/>
                  <a:t>3. Lens Distortion</a:t>
                </a:r>
              </a:p>
              <a:p>
                <a:r>
                  <a:rPr lang="en-IN" dirty="0"/>
                  <a:t>How much the lens bends straight lines.</a:t>
                </a:r>
              </a:p>
              <a:p>
                <a:r>
                  <a:rPr lang="en-IN" b="1" dirty="0"/>
                  <a:t>4. Camera Matrix</a:t>
                </a:r>
              </a:p>
              <a:p>
                <a:r>
                  <a:rPr lang="en-IN" dirty="0"/>
                  <a:t>A matrix containing intrinsic parameters.</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𝑥</m:t>
                                  </m:r>
                                </m:sub>
                              </m:sSub>
                            </m:e>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𝑥</m:t>
                                  </m:r>
                                </m:sub>
                              </m:sSub>
                            </m:e>
                          </m:mr>
                          <m:mr>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𝑦</m:t>
                                  </m:r>
                                </m:sub>
                              </m:sSub>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𝑦</m:t>
                                  </m:r>
                                </m:sub>
                              </m:sSub>
                            </m:e>
                          </m:mr>
                          <m:mr>
                            <m:e>
                              <m:r>
                                <a:rPr lang="en-IN">
                                  <a:latin typeface="Cambria Math" panose="02040503050406030204" pitchFamily="18" charset="0"/>
                                </a:rPr>
                                <m:t>0</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BC951F10-F08E-AF6A-BCE9-0980855F4EEF}"/>
                  </a:ext>
                </a:extLst>
              </p:cNvPr>
              <p:cNvSpPr>
                <a:spLocks noGrp="1" noRot="1" noChangeAspect="1" noMove="1" noResize="1" noEditPoints="1" noAdjustHandles="1" noChangeArrowheads="1" noChangeShapeType="1" noTextEdit="1"/>
              </p:cNvSpPr>
              <p:nvPr>
                <p:ph idx="1"/>
              </p:nvPr>
            </p:nvSpPr>
            <p:spPr>
              <a:xfrm>
                <a:off x="838200" y="738554"/>
                <a:ext cx="10515600" cy="5438409"/>
              </a:xfrm>
              <a:blipFill>
                <a:blip r:embed="rId2"/>
                <a:stretch>
                  <a:fillRect l="-1043" t="-1906"/>
                </a:stretch>
              </a:blipFill>
            </p:spPr>
            <p:txBody>
              <a:bodyPr/>
              <a:lstStyle/>
              <a:p>
                <a:r>
                  <a:rPr lang="en-IN">
                    <a:noFill/>
                  </a:rPr>
                  <a:t> </a:t>
                </a:r>
              </a:p>
            </p:txBody>
          </p:sp>
        </mc:Fallback>
      </mc:AlternateContent>
    </p:spTree>
    <p:extLst>
      <p:ext uri="{BB962C8B-B14F-4D97-AF65-F5344CB8AC3E}">
        <p14:creationId xmlns:p14="http://schemas.microsoft.com/office/powerpoint/2010/main" val="12018194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1CD2A-FF62-D937-7F23-82A570F6F1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333AB4-437F-834B-CB30-3C90DB1F6B4A}"/>
              </a:ext>
            </a:extLst>
          </p:cNvPr>
          <p:cNvSpPr>
            <a:spLocks noGrp="1"/>
          </p:cNvSpPr>
          <p:nvPr>
            <p:ph idx="1"/>
          </p:nvPr>
        </p:nvSpPr>
        <p:spPr/>
        <p:txBody>
          <a:bodyPr/>
          <a:lstStyle/>
          <a:p>
            <a:r>
              <a:rPr lang="en-IN" b="1" dirty="0" err="1"/>
              <a:t>fx</a:t>
            </a:r>
            <a:endParaRPr lang="en-IN" b="1" dirty="0"/>
          </a:p>
          <a:p>
            <a:r>
              <a:rPr lang="en-IN" dirty="0"/>
              <a:t>Horizontal focal length</a:t>
            </a:r>
          </a:p>
          <a:p>
            <a:r>
              <a:rPr lang="en-IN" dirty="0"/>
              <a:t>Large </a:t>
            </a:r>
            <a:r>
              <a:rPr lang="en-IN" dirty="0" err="1"/>
              <a:t>fx</a:t>
            </a:r>
            <a:r>
              <a:rPr lang="en-IN" dirty="0"/>
              <a:t> → Zoomed image</a:t>
            </a:r>
          </a:p>
          <a:p>
            <a:r>
              <a:rPr lang="en-IN" dirty="0"/>
              <a:t>Small </a:t>
            </a:r>
            <a:r>
              <a:rPr lang="en-IN" dirty="0" err="1"/>
              <a:t>fx</a:t>
            </a:r>
            <a:r>
              <a:rPr lang="en-IN" dirty="0"/>
              <a:t> → Wide image</a:t>
            </a:r>
          </a:p>
          <a:p>
            <a:r>
              <a:rPr lang="en-IN" b="1" dirty="0" err="1"/>
              <a:t>fy</a:t>
            </a:r>
            <a:endParaRPr lang="en-IN" b="1" dirty="0"/>
          </a:p>
          <a:p>
            <a:r>
              <a:rPr lang="en-IN" dirty="0"/>
              <a:t>Vertical focal length</a:t>
            </a:r>
          </a:p>
          <a:p>
            <a:endParaRPr lang="en-IN" dirty="0"/>
          </a:p>
        </p:txBody>
      </p:sp>
    </p:spTree>
    <p:extLst>
      <p:ext uri="{BB962C8B-B14F-4D97-AF65-F5344CB8AC3E}">
        <p14:creationId xmlns:p14="http://schemas.microsoft.com/office/powerpoint/2010/main" val="356982430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45A1A-E56E-D1CF-93AA-BF68721DC2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A5DE97-AA6A-E56A-80C3-CD6E4E7794A6}"/>
              </a:ext>
            </a:extLst>
          </p:cNvPr>
          <p:cNvSpPr>
            <a:spLocks noGrp="1"/>
          </p:cNvSpPr>
          <p:nvPr>
            <p:ph idx="1"/>
          </p:nvPr>
        </p:nvSpPr>
        <p:spPr/>
        <p:txBody>
          <a:bodyPr/>
          <a:lstStyle/>
          <a:p>
            <a:r>
              <a:rPr lang="en-IN" b="1" dirty="0"/>
              <a:t>cx</a:t>
            </a:r>
          </a:p>
          <a:p>
            <a:r>
              <a:rPr lang="en-IN" dirty="0"/>
              <a:t>Image </a:t>
            </a:r>
            <a:r>
              <a:rPr lang="en-IN" dirty="0" err="1"/>
              <a:t>center</a:t>
            </a:r>
            <a:r>
              <a:rPr lang="en-IN" dirty="0"/>
              <a:t> (x-coordinate)</a:t>
            </a:r>
          </a:p>
          <a:p>
            <a:r>
              <a:rPr lang="en-IN" dirty="0"/>
              <a:t>Example:</a:t>
            </a:r>
          </a:p>
          <a:p>
            <a:r>
              <a:rPr lang="en-IN" dirty="0"/>
              <a:t>Image Width = 640</a:t>
            </a:r>
          </a:p>
          <a:p>
            <a:endParaRPr lang="en-IN" dirty="0"/>
          </a:p>
          <a:p>
            <a:r>
              <a:rPr lang="en-IN" dirty="0"/>
              <a:t>cx = 320</a:t>
            </a:r>
          </a:p>
          <a:p>
            <a:endParaRPr lang="en-IN" dirty="0"/>
          </a:p>
        </p:txBody>
      </p:sp>
    </p:spTree>
    <p:extLst>
      <p:ext uri="{BB962C8B-B14F-4D97-AF65-F5344CB8AC3E}">
        <p14:creationId xmlns:p14="http://schemas.microsoft.com/office/powerpoint/2010/main" val="255479508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74DAA-B062-90C7-9070-4C7EBBFFBB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026405-089D-8238-CDEC-82B8D7F0DA0D}"/>
              </a:ext>
            </a:extLst>
          </p:cNvPr>
          <p:cNvSpPr>
            <a:spLocks noGrp="1"/>
          </p:cNvSpPr>
          <p:nvPr>
            <p:ph idx="1"/>
          </p:nvPr>
        </p:nvSpPr>
        <p:spPr/>
        <p:txBody>
          <a:bodyPr/>
          <a:lstStyle/>
          <a:p>
            <a:r>
              <a:rPr lang="en-IN" b="1" dirty="0"/>
              <a:t>cy</a:t>
            </a:r>
          </a:p>
          <a:p>
            <a:r>
              <a:rPr lang="en-IN" dirty="0"/>
              <a:t>Image </a:t>
            </a:r>
            <a:r>
              <a:rPr lang="en-IN" dirty="0" err="1"/>
              <a:t>center</a:t>
            </a:r>
            <a:r>
              <a:rPr lang="en-IN" dirty="0"/>
              <a:t> (y-coordinate)</a:t>
            </a:r>
          </a:p>
          <a:p>
            <a:r>
              <a:rPr lang="en-IN" dirty="0"/>
              <a:t>Example:</a:t>
            </a:r>
          </a:p>
          <a:p>
            <a:r>
              <a:rPr lang="en-IN" dirty="0"/>
              <a:t>Image Height = 480</a:t>
            </a:r>
          </a:p>
          <a:p>
            <a:endParaRPr lang="en-IN" dirty="0"/>
          </a:p>
          <a:p>
            <a:r>
              <a:rPr lang="en-IN" dirty="0"/>
              <a:t>cy = 240</a:t>
            </a:r>
          </a:p>
          <a:p>
            <a:endParaRPr lang="en-IN" dirty="0"/>
          </a:p>
        </p:txBody>
      </p:sp>
    </p:spTree>
    <p:extLst>
      <p:ext uri="{BB962C8B-B14F-4D97-AF65-F5344CB8AC3E}">
        <p14:creationId xmlns:p14="http://schemas.microsoft.com/office/powerpoint/2010/main" val="266499251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B63D-AAE0-D392-C093-56DDD6B2455A}"/>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A1F52B-5A4A-F826-E324-466571ECF0B2}"/>
                  </a:ext>
                </a:extLst>
              </p:cNvPr>
              <p:cNvSpPr>
                <a:spLocks noGrp="1"/>
              </p:cNvSpPr>
              <p:nvPr>
                <p:ph idx="1"/>
              </p:nvPr>
            </p:nvSpPr>
            <p:spPr/>
            <p:txBody>
              <a:bodyPr/>
              <a:lstStyle/>
              <a:p>
                <a:pPr marL="0" indent="0">
                  <a:buNone/>
                </a:pPr>
                <a:r>
                  <a:rPr lang="en-IN" b="1" dirty="0"/>
                  <a:t>1</a:t>
                </a:r>
              </a:p>
              <a:p>
                <a:r>
                  <a:rPr lang="en-IN" dirty="0"/>
                  <a:t>It helps matrix mathematics work correctly.</a:t>
                </a:r>
              </a:p>
              <a:p>
                <a:endParaRPr lang="en-IN" dirty="0"/>
              </a:p>
              <a:p>
                <a:r>
                  <a:rPr lang="en-IN" b="1" dirty="0"/>
                  <a:t>Example Camera Matrix</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r>
                                <a:rPr lang="en-IN">
                                  <a:latin typeface="Cambria Math" panose="02040503050406030204" pitchFamily="18" charset="0"/>
                                </a:rPr>
                                <m:t>800</m:t>
                              </m:r>
                            </m:e>
                            <m:e>
                              <m:r>
                                <a:rPr lang="en-IN">
                                  <a:latin typeface="Cambria Math" panose="02040503050406030204" pitchFamily="18" charset="0"/>
                                </a:rPr>
                                <m:t>0</m:t>
                              </m:r>
                            </m:e>
                            <m:e>
                              <m:r>
                                <a:rPr lang="en-IN">
                                  <a:latin typeface="Cambria Math" panose="02040503050406030204" pitchFamily="18" charset="0"/>
                                </a:rPr>
                                <m:t>320</m:t>
                              </m:r>
                            </m:e>
                          </m:mr>
                          <m:mr>
                            <m:e>
                              <m:r>
                                <a:rPr lang="en-IN">
                                  <a:latin typeface="Cambria Math" panose="02040503050406030204" pitchFamily="18" charset="0"/>
                                </a:rPr>
                                <m:t>0</m:t>
                              </m:r>
                            </m:e>
                            <m:e>
                              <m:r>
                                <a:rPr lang="en-IN">
                                  <a:latin typeface="Cambria Math" panose="02040503050406030204" pitchFamily="18" charset="0"/>
                                </a:rPr>
                                <m:t>800</m:t>
                              </m:r>
                            </m:e>
                            <m:e>
                              <m:r>
                                <a:rPr lang="en-IN">
                                  <a:latin typeface="Cambria Math" panose="02040503050406030204" pitchFamily="18" charset="0"/>
                                </a:rPr>
                                <m:t>240</m:t>
                              </m:r>
                            </m:e>
                          </m:mr>
                          <m:mr>
                            <m:e>
                              <m:r>
                                <a:rPr lang="en-IN">
                                  <a:latin typeface="Cambria Math" panose="02040503050406030204" pitchFamily="18" charset="0"/>
                                </a:rPr>
                                <m:t>0</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E3A1F52B-5A4A-F826-E324-466571ECF0B2}"/>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85467238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620FC7-8952-0A9E-6431-B6E4C144BE23}"/>
              </a:ext>
            </a:extLst>
          </p:cNvPr>
          <p:cNvSpPr>
            <a:spLocks noGrp="1"/>
          </p:cNvSpPr>
          <p:nvPr>
            <p:ph idx="1"/>
          </p:nvPr>
        </p:nvSpPr>
        <p:spPr>
          <a:xfrm>
            <a:off x="838200" y="351692"/>
            <a:ext cx="10515600" cy="5825271"/>
          </a:xfrm>
        </p:spPr>
        <p:txBody>
          <a:bodyPr>
            <a:normAutofit fontScale="92500" lnSpcReduction="10000"/>
          </a:bodyPr>
          <a:lstStyle/>
          <a:p>
            <a:r>
              <a:rPr lang="en-IN" dirty="0"/>
              <a:t>Focal Length = 800 pixels</a:t>
            </a:r>
          </a:p>
          <a:p>
            <a:endParaRPr lang="en-IN" dirty="0"/>
          </a:p>
          <a:p>
            <a:r>
              <a:rPr lang="en-IN" dirty="0"/>
              <a:t>Image </a:t>
            </a:r>
            <a:r>
              <a:rPr lang="en-IN" dirty="0" err="1"/>
              <a:t>Center</a:t>
            </a:r>
            <a:r>
              <a:rPr lang="en-IN" dirty="0"/>
              <a:t> = (320,240)</a:t>
            </a:r>
          </a:p>
          <a:p>
            <a:endParaRPr lang="en-IN" dirty="0"/>
          </a:p>
          <a:p>
            <a:r>
              <a:rPr lang="en-IN" dirty="0"/>
              <a:t>What Does Camera Matrix Do?</a:t>
            </a:r>
          </a:p>
          <a:p>
            <a:r>
              <a:rPr lang="en-IN" dirty="0"/>
              <a:t>The </a:t>
            </a:r>
            <a:r>
              <a:rPr lang="en-IN" b="1" dirty="0"/>
              <a:t>Camera Matrix converts camera coordinates into image pixel coordinates.</a:t>
            </a:r>
          </a:p>
          <a:p>
            <a:endParaRPr lang="en-IN" b="1" dirty="0"/>
          </a:p>
          <a:p>
            <a:pPr marL="0" indent="0">
              <a:buNone/>
            </a:pPr>
            <a:r>
              <a:rPr lang="en-IN" dirty="0"/>
              <a:t>3D Camera Coordinates</a:t>
            </a:r>
          </a:p>
          <a:p>
            <a:pPr marL="0" indent="0">
              <a:buNone/>
            </a:pPr>
            <a:r>
              <a:rPr lang="en-IN" dirty="0"/>
              <a:t>         ↓</a:t>
            </a:r>
          </a:p>
          <a:p>
            <a:pPr marL="0" indent="0">
              <a:buNone/>
            </a:pPr>
            <a:r>
              <a:rPr lang="en-IN" dirty="0"/>
              <a:t>    Camera Matrix</a:t>
            </a:r>
          </a:p>
          <a:p>
            <a:pPr marL="0" indent="0">
              <a:buNone/>
            </a:pPr>
            <a:r>
              <a:rPr lang="en-IN" dirty="0"/>
              <a:t>         ↓</a:t>
            </a:r>
          </a:p>
          <a:p>
            <a:pPr marL="0" indent="0">
              <a:buNone/>
            </a:pPr>
            <a:r>
              <a:rPr lang="en-IN" dirty="0"/>
              <a:t>2D Pixel Coordinates</a:t>
            </a:r>
          </a:p>
        </p:txBody>
      </p:sp>
    </p:spTree>
    <p:extLst>
      <p:ext uri="{BB962C8B-B14F-4D97-AF65-F5344CB8AC3E}">
        <p14:creationId xmlns:p14="http://schemas.microsoft.com/office/powerpoint/2010/main" val="348514721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5C42B-A519-FD5D-B6EA-5C0A2AC9C3E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7F6DE9D-8BCE-A405-D047-A082F2F5CA1A}"/>
              </a:ext>
            </a:extLst>
          </p:cNvPr>
          <p:cNvSpPr>
            <a:spLocks noGrp="1"/>
          </p:cNvSpPr>
          <p:nvPr>
            <p:ph idx="1"/>
          </p:nvPr>
        </p:nvSpPr>
        <p:spPr/>
        <p:txBody>
          <a:bodyPr/>
          <a:lstStyle/>
          <a:p>
            <a:r>
              <a:rPr lang="en-IN" dirty="0"/>
              <a:t>Imagine you buy a </a:t>
            </a:r>
            <a:r>
              <a:rPr lang="en-IN" b="1" dirty="0"/>
              <a:t>new ruler</a:t>
            </a:r>
            <a:r>
              <a:rPr lang="en-IN" dirty="0"/>
              <a:t>.</a:t>
            </a:r>
          </a:p>
          <a:p>
            <a:r>
              <a:rPr lang="en-IN" dirty="0"/>
              <a:t>Before using it, you check whether:</a:t>
            </a:r>
          </a:p>
          <a:p>
            <a:r>
              <a:rPr lang="en-IN" dirty="0"/>
              <a:t>Is 1 cm really 1 cm? </a:t>
            </a:r>
          </a:p>
          <a:p>
            <a:r>
              <a:rPr lang="en-IN" dirty="0"/>
              <a:t>Is the ruler bent? </a:t>
            </a:r>
          </a:p>
          <a:p>
            <a:r>
              <a:rPr lang="en-IN" dirty="0"/>
              <a:t>Are the markings correct? </a:t>
            </a:r>
          </a:p>
          <a:p>
            <a:r>
              <a:rPr lang="en-IN" dirty="0"/>
              <a:t>This checking process is called </a:t>
            </a:r>
            <a:r>
              <a:rPr lang="en-IN" b="1" dirty="0"/>
              <a:t>calibration</a:t>
            </a:r>
            <a:r>
              <a:rPr lang="en-IN" dirty="0"/>
              <a:t>.</a:t>
            </a:r>
          </a:p>
          <a:p>
            <a:r>
              <a:rPr lang="en-IN" dirty="0"/>
              <a:t>The same idea applies to cameras.</a:t>
            </a:r>
          </a:p>
        </p:txBody>
      </p:sp>
    </p:spTree>
    <p:extLst>
      <p:ext uri="{BB962C8B-B14F-4D97-AF65-F5344CB8AC3E}">
        <p14:creationId xmlns:p14="http://schemas.microsoft.com/office/powerpoint/2010/main" val="237590366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6F57D-8CE5-3A86-C3A5-6E93E5AFA6B9}"/>
              </a:ext>
            </a:extLst>
          </p:cNvPr>
          <p:cNvSpPr>
            <a:spLocks noGrp="1"/>
          </p:cNvSpPr>
          <p:nvPr>
            <p:ph idx="1"/>
          </p:nvPr>
        </p:nvSpPr>
        <p:spPr>
          <a:xfrm>
            <a:off x="838200" y="773723"/>
            <a:ext cx="10515600" cy="5403240"/>
          </a:xfrm>
        </p:spPr>
        <p:txBody>
          <a:bodyPr>
            <a:normAutofit/>
          </a:bodyPr>
          <a:lstStyle/>
          <a:p>
            <a:r>
              <a:rPr lang="en-IN" dirty="0"/>
              <a:t>Camera Calibration is the process of finding the true properties of a camera so that it can measure objects accurately.</a:t>
            </a:r>
          </a:p>
          <a:p>
            <a:r>
              <a:rPr lang="en-IN" b="1" dirty="0"/>
              <a:t>Why Do We Need Calibration?</a:t>
            </a:r>
          </a:p>
          <a:p>
            <a:r>
              <a:rPr lang="en-IN" dirty="0"/>
              <a:t>Real cameras are </a:t>
            </a:r>
            <a:r>
              <a:rPr lang="en-IN" b="1" dirty="0"/>
              <a:t>not perfect</a:t>
            </a:r>
            <a:r>
              <a:rPr lang="en-IN" dirty="0"/>
              <a:t>.</a:t>
            </a:r>
          </a:p>
          <a:p>
            <a:r>
              <a:rPr lang="en-IN" dirty="0"/>
              <a:t>Problems include:</a:t>
            </a:r>
          </a:p>
          <a:p>
            <a:r>
              <a:rPr lang="en-IN" dirty="0"/>
              <a:t>Lens bends light. </a:t>
            </a:r>
          </a:p>
          <a:p>
            <a:r>
              <a:rPr lang="en-IN" dirty="0"/>
              <a:t>Image may look curved. </a:t>
            </a:r>
          </a:p>
          <a:p>
            <a:r>
              <a:rPr lang="en-IN" dirty="0"/>
              <a:t>Camera does not know its exact focal length. </a:t>
            </a:r>
          </a:p>
          <a:p>
            <a:r>
              <a:rPr lang="en-IN" dirty="0"/>
              <a:t>Camera does not know the exact image </a:t>
            </a:r>
            <a:r>
              <a:rPr lang="en-IN" dirty="0" err="1"/>
              <a:t>center</a:t>
            </a:r>
            <a:r>
              <a:rPr lang="en-IN" dirty="0"/>
              <a:t>.</a:t>
            </a:r>
          </a:p>
          <a:p>
            <a:endParaRPr lang="en-IN" dirty="0"/>
          </a:p>
        </p:txBody>
      </p:sp>
    </p:spTree>
    <p:extLst>
      <p:ext uri="{BB962C8B-B14F-4D97-AF65-F5344CB8AC3E}">
        <p14:creationId xmlns:p14="http://schemas.microsoft.com/office/powerpoint/2010/main" val="402558711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F05A-1679-9AB6-D06A-C176C807BD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14D23F-50BE-51A8-840B-F194D471953B}"/>
              </a:ext>
            </a:extLst>
          </p:cNvPr>
          <p:cNvSpPr>
            <a:spLocks noGrp="1"/>
          </p:cNvSpPr>
          <p:nvPr>
            <p:ph idx="1"/>
          </p:nvPr>
        </p:nvSpPr>
        <p:spPr/>
        <p:txBody>
          <a:bodyPr/>
          <a:lstStyle/>
          <a:p>
            <a:r>
              <a:rPr lang="en-IN" dirty="0"/>
              <a:t>Without calibration:</a:t>
            </a:r>
          </a:p>
          <a:p>
            <a:pPr marL="0" indent="0">
              <a:buNone/>
            </a:pPr>
            <a:r>
              <a:rPr lang="en-IN" dirty="0"/>
              <a:t>Real Object</a:t>
            </a:r>
          </a:p>
          <a:p>
            <a:pPr marL="0" indent="0">
              <a:buNone/>
            </a:pPr>
            <a:r>
              <a:rPr lang="en-IN" dirty="0"/>
              <a:t>      ↓</a:t>
            </a:r>
          </a:p>
          <a:p>
            <a:pPr marL="0" indent="0">
              <a:buNone/>
            </a:pPr>
            <a:r>
              <a:rPr lang="en-IN" dirty="0"/>
              <a:t>Camera</a:t>
            </a:r>
          </a:p>
          <a:p>
            <a:pPr marL="0" indent="0">
              <a:buNone/>
            </a:pPr>
            <a:r>
              <a:rPr lang="en-IN" dirty="0"/>
              <a:t>      ↓</a:t>
            </a:r>
          </a:p>
          <a:p>
            <a:pPr marL="0" indent="0">
              <a:buNone/>
            </a:pPr>
            <a:r>
              <a:rPr lang="en-IN" dirty="0"/>
              <a:t>Wrong Measurements</a:t>
            </a:r>
          </a:p>
          <a:p>
            <a:endParaRPr lang="en-IN" dirty="0"/>
          </a:p>
        </p:txBody>
      </p:sp>
    </p:spTree>
    <p:extLst>
      <p:ext uri="{BB962C8B-B14F-4D97-AF65-F5344CB8AC3E}">
        <p14:creationId xmlns:p14="http://schemas.microsoft.com/office/powerpoint/2010/main" val="230447364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3F73-9F5C-6322-998C-917E19CBFAC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45056B-6DE2-FCC1-A1BE-0D791A573784}"/>
              </a:ext>
            </a:extLst>
          </p:cNvPr>
          <p:cNvSpPr>
            <a:spLocks noGrp="1"/>
          </p:cNvSpPr>
          <p:nvPr>
            <p:ph idx="1"/>
          </p:nvPr>
        </p:nvSpPr>
        <p:spPr/>
        <p:txBody>
          <a:bodyPr/>
          <a:lstStyle/>
          <a:p>
            <a:r>
              <a:rPr lang="en-IN" dirty="0"/>
              <a:t>With calibration:</a:t>
            </a:r>
          </a:p>
          <a:p>
            <a:pPr marL="0" indent="0">
              <a:buNone/>
            </a:pPr>
            <a:r>
              <a:rPr lang="en-IN" dirty="0"/>
              <a:t>Real Object</a:t>
            </a:r>
          </a:p>
          <a:p>
            <a:pPr marL="0" indent="0">
              <a:buNone/>
            </a:pPr>
            <a:r>
              <a:rPr lang="en-IN" dirty="0"/>
              <a:t>      ↓</a:t>
            </a:r>
          </a:p>
          <a:p>
            <a:pPr marL="0" indent="0">
              <a:buNone/>
            </a:pPr>
            <a:r>
              <a:rPr lang="en-IN" dirty="0"/>
              <a:t>Calibrated Camera</a:t>
            </a:r>
          </a:p>
          <a:p>
            <a:pPr marL="0" indent="0">
              <a:buNone/>
            </a:pPr>
            <a:r>
              <a:rPr lang="en-IN" dirty="0"/>
              <a:t>      ↓</a:t>
            </a:r>
          </a:p>
          <a:p>
            <a:pPr marL="0" indent="0">
              <a:buNone/>
            </a:pPr>
            <a:r>
              <a:rPr lang="en-IN" dirty="0"/>
              <a:t>Correct Measurements</a:t>
            </a:r>
          </a:p>
          <a:p>
            <a:endParaRPr lang="en-IN" dirty="0"/>
          </a:p>
        </p:txBody>
      </p:sp>
    </p:spTree>
    <p:extLst>
      <p:ext uri="{BB962C8B-B14F-4D97-AF65-F5344CB8AC3E}">
        <p14:creationId xmlns:p14="http://schemas.microsoft.com/office/powerpoint/2010/main" val="151261191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F9A1-FAF9-C410-2CC4-24056AA124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899EEA-0477-F026-4E78-5423CD6B5422}"/>
              </a:ext>
            </a:extLst>
          </p:cNvPr>
          <p:cNvSpPr>
            <a:spLocks noGrp="1"/>
          </p:cNvSpPr>
          <p:nvPr>
            <p:ph idx="1"/>
          </p:nvPr>
        </p:nvSpPr>
        <p:spPr/>
        <p:txBody>
          <a:bodyPr/>
          <a:lstStyle/>
          <a:p>
            <a:r>
              <a:rPr lang="en-IN" b="1" dirty="0"/>
              <a:t>Real-Life Example</a:t>
            </a:r>
          </a:p>
          <a:p>
            <a:r>
              <a:rPr lang="en-IN" dirty="0"/>
              <a:t>Suppose a box is actually </a:t>
            </a:r>
            <a:r>
              <a:rPr lang="en-IN" b="1" dirty="0"/>
              <a:t>20 cm wide</a:t>
            </a:r>
            <a:r>
              <a:rPr lang="en-IN" dirty="0"/>
              <a:t>.</a:t>
            </a:r>
          </a:p>
          <a:p>
            <a:r>
              <a:rPr lang="en-IN" dirty="0"/>
              <a:t>Without calibration, the computer might calculate:</a:t>
            </a:r>
          </a:p>
          <a:p>
            <a:r>
              <a:rPr lang="en-IN" dirty="0"/>
              <a:t>20 cm → 18 cm </a:t>
            </a:r>
          </a:p>
          <a:p>
            <a:r>
              <a:rPr lang="en-IN" dirty="0"/>
              <a:t>After calibration:</a:t>
            </a:r>
          </a:p>
          <a:p>
            <a:r>
              <a:rPr lang="en-IN" dirty="0"/>
              <a:t>20 cm → 20 cm</a:t>
            </a:r>
          </a:p>
          <a:p>
            <a:endParaRPr lang="en-IN" dirty="0"/>
          </a:p>
          <a:p>
            <a:endParaRPr lang="en-IN" dirty="0"/>
          </a:p>
        </p:txBody>
      </p:sp>
    </p:spTree>
    <p:extLst>
      <p:ext uri="{BB962C8B-B14F-4D97-AF65-F5344CB8AC3E}">
        <p14:creationId xmlns:p14="http://schemas.microsoft.com/office/powerpoint/2010/main" val="200351365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9089C-28AE-2CFB-AD7B-3869B43F9788}"/>
              </a:ext>
            </a:extLst>
          </p:cNvPr>
          <p:cNvSpPr>
            <a:spLocks noGrp="1"/>
          </p:cNvSpPr>
          <p:nvPr>
            <p:ph type="title"/>
          </p:nvPr>
        </p:nvSpPr>
        <p:spPr/>
        <p:txBody>
          <a:bodyPr/>
          <a:lstStyle/>
          <a:p>
            <a:r>
              <a:rPr lang="en-IN" dirty="0"/>
              <a:t>What Does Calibration Find?</a:t>
            </a:r>
          </a:p>
        </p:txBody>
      </p:sp>
      <p:sp>
        <p:nvSpPr>
          <p:cNvPr id="3" name="Content Placeholder 2">
            <a:extLst>
              <a:ext uri="{FF2B5EF4-FFF2-40B4-BE49-F238E27FC236}">
                <a16:creationId xmlns:a16="http://schemas.microsoft.com/office/drawing/2014/main" id="{0E508058-37FB-1692-8D40-4E225BB5DB11}"/>
              </a:ext>
            </a:extLst>
          </p:cNvPr>
          <p:cNvSpPr>
            <a:spLocks noGrp="1"/>
          </p:cNvSpPr>
          <p:nvPr>
            <p:ph idx="1"/>
          </p:nvPr>
        </p:nvSpPr>
        <p:spPr/>
        <p:txBody>
          <a:bodyPr>
            <a:normAutofit lnSpcReduction="10000"/>
          </a:bodyPr>
          <a:lstStyle/>
          <a:p>
            <a:r>
              <a:rPr lang="en-IN" b="1" dirty="0"/>
              <a:t>1. Focal Length</a:t>
            </a:r>
          </a:p>
          <a:p>
            <a:r>
              <a:rPr lang="en-IN" dirty="0"/>
              <a:t>How much the camera zooms.</a:t>
            </a:r>
          </a:p>
          <a:p>
            <a:r>
              <a:rPr lang="en-IN" b="1" dirty="0"/>
              <a:t>2. Principal Point</a:t>
            </a:r>
          </a:p>
          <a:p>
            <a:r>
              <a:rPr lang="en-IN" dirty="0"/>
              <a:t>The </a:t>
            </a:r>
            <a:r>
              <a:rPr lang="en-IN" dirty="0" err="1"/>
              <a:t>center</a:t>
            </a:r>
            <a:r>
              <a:rPr lang="en-IN" dirty="0"/>
              <a:t> of the image.</a:t>
            </a:r>
          </a:p>
          <a:p>
            <a:r>
              <a:rPr lang="en-IN" dirty="0"/>
              <a:t>Example:</a:t>
            </a:r>
          </a:p>
          <a:p>
            <a:r>
              <a:rPr lang="en-IN" dirty="0"/>
              <a:t>Image size:</a:t>
            </a:r>
          </a:p>
          <a:p>
            <a:r>
              <a:rPr lang="en-IN" dirty="0"/>
              <a:t>640 × 480</a:t>
            </a:r>
          </a:p>
          <a:p>
            <a:r>
              <a:rPr lang="en-IN" dirty="0"/>
              <a:t>Image </a:t>
            </a:r>
            <a:r>
              <a:rPr lang="en-IN" dirty="0" err="1"/>
              <a:t>center</a:t>
            </a:r>
            <a:r>
              <a:rPr lang="en-IN" dirty="0"/>
              <a:t>:</a:t>
            </a:r>
          </a:p>
          <a:p>
            <a:r>
              <a:rPr lang="en-IN" dirty="0"/>
              <a:t>(320,240)</a:t>
            </a:r>
          </a:p>
          <a:p>
            <a:endParaRPr lang="en-IN" dirty="0"/>
          </a:p>
        </p:txBody>
      </p:sp>
    </p:spTree>
    <p:extLst>
      <p:ext uri="{BB962C8B-B14F-4D97-AF65-F5344CB8AC3E}">
        <p14:creationId xmlns:p14="http://schemas.microsoft.com/office/powerpoint/2010/main" val="3512938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BF7706-ED84-AD7C-DA6F-7FB1F18C7EE6}"/>
                  </a:ext>
                </a:extLst>
              </p:cNvPr>
              <p:cNvSpPr>
                <a:spLocks noGrp="1"/>
              </p:cNvSpPr>
              <p:nvPr>
                <p:ph idx="1"/>
              </p:nvPr>
            </p:nvSpPr>
            <p:spPr>
              <a:xfrm>
                <a:off x="838200" y="246185"/>
                <a:ext cx="10515600" cy="5930778"/>
              </a:xfrm>
            </p:spPr>
            <p:txBody>
              <a:bodyPr>
                <a:normAutofit/>
              </a:bodyPr>
              <a:lstStyle/>
              <a:p>
                <a:r>
                  <a:rPr lang="en-IN" b="1" dirty="0"/>
                  <a:t>3. Lens Distortion</a:t>
                </a:r>
              </a:p>
              <a:p>
                <a:r>
                  <a:rPr lang="en-IN" dirty="0"/>
                  <a:t>The lens bends straight lines.</a:t>
                </a:r>
              </a:p>
              <a:p>
                <a:pPr marL="0" indent="0">
                  <a:buNone/>
                </a:pPr>
                <a:r>
                  <a:rPr lang="en-IN" dirty="0"/>
                  <a:t>Calibration removes this distortion.</a:t>
                </a:r>
              </a:p>
              <a:p>
                <a:r>
                  <a:rPr lang="en-IN" b="1" dirty="0"/>
                  <a:t>4. Camera Matrix</a:t>
                </a:r>
              </a:p>
              <a:p>
                <a:r>
                  <a:rPr lang="en-IN" dirty="0"/>
                  <a:t>Calibration calculates:</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𝑥</m:t>
                                  </m:r>
                                </m:sub>
                              </m:sSub>
                            </m:e>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𝑥</m:t>
                                  </m:r>
                                </m:sub>
                              </m:sSub>
                            </m:e>
                          </m:mr>
                          <m:mr>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𝑦</m:t>
                                  </m:r>
                                </m:sub>
                              </m:sSub>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𝑦</m:t>
                                  </m:r>
                                </m:sub>
                              </m:sSub>
                            </m:e>
                          </m:mr>
                          <m:mr>
                            <m:e>
                              <m:r>
                                <a:rPr lang="en-IN">
                                  <a:latin typeface="Cambria Math" panose="02040503050406030204" pitchFamily="18" charset="0"/>
                                </a:rPr>
                                <m:t>0</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r>
                  <a:rPr lang="en-IN" dirty="0"/>
                  <a:t>This stores:</a:t>
                </a:r>
              </a:p>
              <a:p>
                <a:r>
                  <a:rPr lang="en-IN" dirty="0"/>
                  <a:t>focal length </a:t>
                </a:r>
              </a:p>
              <a:p>
                <a:r>
                  <a:rPr lang="en-IN" dirty="0"/>
                  <a:t>image </a:t>
                </a:r>
                <a:r>
                  <a:rPr lang="en-IN" dirty="0" err="1"/>
                  <a:t>center</a:t>
                </a: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46BF7706-ED84-AD7C-DA6F-7FB1F18C7EE6}"/>
                  </a:ext>
                </a:extLst>
              </p:cNvPr>
              <p:cNvSpPr>
                <a:spLocks noGrp="1" noRot="1" noChangeAspect="1" noMove="1" noResize="1" noEditPoints="1" noAdjustHandles="1" noChangeArrowheads="1" noChangeShapeType="1" noTextEdit="1"/>
              </p:cNvSpPr>
              <p:nvPr>
                <p:ph idx="1"/>
              </p:nvPr>
            </p:nvSpPr>
            <p:spPr>
              <a:xfrm>
                <a:off x="838200" y="246185"/>
                <a:ext cx="10515600" cy="5930778"/>
              </a:xfrm>
              <a:blipFill>
                <a:blip r:embed="rId2"/>
                <a:stretch>
                  <a:fillRect l="-1217" t="-1747"/>
                </a:stretch>
              </a:blipFill>
            </p:spPr>
            <p:txBody>
              <a:bodyPr/>
              <a:lstStyle/>
              <a:p>
                <a:r>
                  <a:rPr lang="en-IN">
                    <a:noFill/>
                  </a:rPr>
                  <a:t> </a:t>
                </a:r>
              </a:p>
            </p:txBody>
          </p:sp>
        </mc:Fallback>
      </mc:AlternateContent>
    </p:spTree>
    <p:extLst>
      <p:ext uri="{BB962C8B-B14F-4D97-AF65-F5344CB8AC3E}">
        <p14:creationId xmlns:p14="http://schemas.microsoft.com/office/powerpoint/2010/main" val="23605686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27A3-F228-8D06-3B36-25F90DBF064C}"/>
              </a:ext>
            </a:extLst>
          </p:cNvPr>
          <p:cNvSpPr>
            <a:spLocks noGrp="1"/>
          </p:cNvSpPr>
          <p:nvPr>
            <p:ph type="title"/>
          </p:nvPr>
        </p:nvSpPr>
        <p:spPr/>
        <p:txBody>
          <a:bodyPr/>
          <a:lstStyle/>
          <a:p>
            <a:r>
              <a:rPr lang="en-IN" dirty="0"/>
              <a:t>How is Calibration Done?</a:t>
            </a:r>
          </a:p>
        </p:txBody>
      </p:sp>
      <p:sp>
        <p:nvSpPr>
          <p:cNvPr id="3" name="Content Placeholder 2">
            <a:extLst>
              <a:ext uri="{FF2B5EF4-FFF2-40B4-BE49-F238E27FC236}">
                <a16:creationId xmlns:a16="http://schemas.microsoft.com/office/drawing/2014/main" id="{87EFD621-B4DE-1CDA-ED24-B5723DF76051}"/>
              </a:ext>
            </a:extLst>
          </p:cNvPr>
          <p:cNvSpPr>
            <a:spLocks noGrp="1"/>
          </p:cNvSpPr>
          <p:nvPr>
            <p:ph idx="1"/>
          </p:nvPr>
        </p:nvSpPr>
        <p:spPr/>
        <p:txBody>
          <a:bodyPr/>
          <a:lstStyle/>
          <a:p>
            <a:r>
              <a:rPr lang="en-IN" dirty="0"/>
              <a:t>The most common method uses a </a:t>
            </a:r>
            <a:r>
              <a:rPr lang="en-IN" b="1" dirty="0"/>
              <a:t>chessboard pattern</a:t>
            </a:r>
            <a:r>
              <a:rPr lang="en-IN" dirty="0"/>
              <a:t>.</a:t>
            </a:r>
          </a:p>
          <a:p>
            <a:r>
              <a:rPr lang="en-IN" b="1" dirty="0"/>
              <a:t>Why Chessboard?</a:t>
            </a:r>
          </a:p>
          <a:p>
            <a:r>
              <a:rPr lang="en-IN" dirty="0"/>
              <a:t>Because the corners are easy to detect.</a:t>
            </a:r>
          </a:p>
          <a:p>
            <a:endParaRPr lang="en-IN" dirty="0"/>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p:txBody>
      </p:sp>
    </p:spTree>
    <p:extLst>
      <p:ext uri="{BB962C8B-B14F-4D97-AF65-F5344CB8AC3E}">
        <p14:creationId xmlns:p14="http://schemas.microsoft.com/office/powerpoint/2010/main" val="362751101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261CF-EFFD-F27B-C614-5C16BC2980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C007E3-F280-8146-1800-2E87C31F3886}"/>
              </a:ext>
            </a:extLst>
          </p:cNvPr>
          <p:cNvSpPr>
            <a:spLocks noGrp="1"/>
          </p:cNvSpPr>
          <p:nvPr>
            <p:ph idx="1"/>
          </p:nvPr>
        </p:nvSpPr>
        <p:spPr/>
        <p:txBody>
          <a:bodyPr/>
          <a:lstStyle/>
          <a:p>
            <a:r>
              <a:rPr lang="en-IN" dirty="0"/>
              <a:t>Each corner has a known position.</a:t>
            </a:r>
          </a:p>
          <a:p>
            <a:endParaRPr lang="en-IN" dirty="0"/>
          </a:p>
          <a:p>
            <a:r>
              <a:rPr lang="en-IN" dirty="0"/>
              <a:t>Calibration Steps</a:t>
            </a:r>
          </a:p>
          <a:p>
            <a:r>
              <a:rPr lang="en-IN" b="1" dirty="0"/>
              <a:t>Step 1</a:t>
            </a:r>
          </a:p>
          <a:p>
            <a:r>
              <a:rPr lang="en-IN" dirty="0"/>
              <a:t>Print a chessboard.</a:t>
            </a:r>
          </a:p>
          <a:p>
            <a:r>
              <a:rPr lang="en-IN" b="1" dirty="0"/>
              <a:t>Step 2</a:t>
            </a:r>
          </a:p>
          <a:p>
            <a:r>
              <a:rPr lang="en-IN" dirty="0"/>
              <a:t>Take many photos.</a:t>
            </a:r>
          </a:p>
          <a:p>
            <a:r>
              <a:rPr lang="en-IN" dirty="0"/>
              <a:t>Example:</a:t>
            </a:r>
          </a:p>
          <a:p>
            <a:endParaRPr lang="en-IN" dirty="0"/>
          </a:p>
        </p:txBody>
      </p:sp>
    </p:spTree>
    <p:extLst>
      <p:ext uri="{BB962C8B-B14F-4D97-AF65-F5344CB8AC3E}">
        <p14:creationId xmlns:p14="http://schemas.microsoft.com/office/powerpoint/2010/main" val="119803880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67F03-D59C-DCB4-A368-59AB15D0F7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4317C2-F670-0D77-0BB3-B8A8C23A63AF}"/>
              </a:ext>
            </a:extLst>
          </p:cNvPr>
          <p:cNvSpPr>
            <a:spLocks noGrp="1"/>
          </p:cNvSpPr>
          <p:nvPr>
            <p:ph idx="1"/>
          </p:nvPr>
        </p:nvSpPr>
        <p:spPr/>
        <p:txBody>
          <a:bodyPr/>
          <a:lstStyle/>
          <a:p>
            <a:r>
              <a:rPr lang="en-IN" dirty="0"/>
              <a:t>Front</a:t>
            </a:r>
          </a:p>
          <a:p>
            <a:r>
              <a:rPr lang="en-IN" dirty="0"/>
              <a:t>Tilt left</a:t>
            </a:r>
          </a:p>
          <a:p>
            <a:r>
              <a:rPr lang="en-IN" dirty="0"/>
              <a:t>Tilt right</a:t>
            </a:r>
          </a:p>
          <a:p>
            <a:r>
              <a:rPr lang="en-IN" dirty="0"/>
              <a:t>Move up</a:t>
            </a:r>
          </a:p>
          <a:p>
            <a:r>
              <a:rPr lang="en-IN" dirty="0"/>
              <a:t> Move down</a:t>
            </a:r>
          </a:p>
          <a:p>
            <a:endParaRPr lang="en-IN" dirty="0"/>
          </a:p>
          <a:p>
            <a:r>
              <a:rPr lang="en-IN" dirty="0"/>
              <a:t>Take 15–30 images.</a:t>
            </a:r>
          </a:p>
          <a:p>
            <a:endParaRPr lang="en-IN" dirty="0"/>
          </a:p>
        </p:txBody>
      </p:sp>
    </p:spTree>
    <p:extLst>
      <p:ext uri="{BB962C8B-B14F-4D97-AF65-F5344CB8AC3E}">
        <p14:creationId xmlns:p14="http://schemas.microsoft.com/office/powerpoint/2010/main" val="340982493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8CF2-054D-0EAA-370D-18F5B52A9F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14D148-A2AF-E6A7-99FF-F34599C463D4}"/>
              </a:ext>
            </a:extLst>
          </p:cNvPr>
          <p:cNvSpPr>
            <a:spLocks noGrp="1"/>
          </p:cNvSpPr>
          <p:nvPr>
            <p:ph idx="1"/>
          </p:nvPr>
        </p:nvSpPr>
        <p:spPr/>
        <p:txBody>
          <a:bodyPr/>
          <a:lstStyle/>
          <a:p>
            <a:r>
              <a:rPr lang="en-IN" b="1" dirty="0"/>
              <a:t>Step 3</a:t>
            </a:r>
          </a:p>
          <a:p>
            <a:r>
              <a:rPr lang="en-IN" dirty="0"/>
              <a:t>Detect corners.</a:t>
            </a:r>
          </a:p>
          <a:p>
            <a:r>
              <a:rPr lang="en-IN" dirty="0"/>
              <a:t>OpenCV finds every corner automatically.</a:t>
            </a:r>
          </a:p>
          <a:p>
            <a:pPr marL="0" indent="0">
              <a:buNone/>
            </a:pPr>
            <a:r>
              <a:rPr lang="en-IN" dirty="0"/>
              <a:t>●----●----●</a:t>
            </a:r>
          </a:p>
          <a:p>
            <a:pPr marL="0" indent="0">
              <a:buNone/>
            </a:pPr>
            <a:r>
              <a:rPr lang="en-IN" dirty="0"/>
              <a:t>|          |          |</a:t>
            </a:r>
          </a:p>
          <a:p>
            <a:pPr marL="0" indent="0">
              <a:buNone/>
            </a:pPr>
            <a:r>
              <a:rPr lang="en-IN" dirty="0"/>
              <a:t>●----●----●</a:t>
            </a:r>
          </a:p>
          <a:p>
            <a:pPr marL="0" indent="0">
              <a:buNone/>
            </a:pPr>
            <a:r>
              <a:rPr lang="en-IN" dirty="0"/>
              <a:t>|           |        |</a:t>
            </a:r>
          </a:p>
          <a:p>
            <a:pPr marL="0" indent="0">
              <a:buNone/>
            </a:pPr>
            <a:r>
              <a:rPr lang="en-IN" dirty="0"/>
              <a:t>●----●----●</a:t>
            </a:r>
          </a:p>
        </p:txBody>
      </p:sp>
    </p:spTree>
    <p:extLst>
      <p:ext uri="{BB962C8B-B14F-4D97-AF65-F5344CB8AC3E}">
        <p14:creationId xmlns:p14="http://schemas.microsoft.com/office/powerpoint/2010/main" val="375445761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8DA15-B38F-7474-0689-E408F55D491B}"/>
              </a:ext>
            </a:extLst>
          </p:cNvPr>
          <p:cNvSpPr>
            <a:spLocks noGrp="1"/>
          </p:cNvSpPr>
          <p:nvPr>
            <p:ph idx="1"/>
          </p:nvPr>
        </p:nvSpPr>
        <p:spPr>
          <a:xfrm>
            <a:off x="838200" y="571500"/>
            <a:ext cx="10515600" cy="5605463"/>
          </a:xfrm>
        </p:spPr>
        <p:txBody>
          <a:bodyPr/>
          <a:lstStyle/>
          <a:p>
            <a:r>
              <a:rPr lang="en-IN" b="1" dirty="0"/>
              <a:t>OpenCV does not magically know where the corners are.</a:t>
            </a:r>
            <a:r>
              <a:rPr lang="en-IN" dirty="0"/>
              <a:t> It uses </a:t>
            </a:r>
            <a:r>
              <a:rPr lang="en-IN" b="1" dirty="0"/>
              <a:t>image processing algorithms</a:t>
            </a:r>
            <a:r>
              <a:rPr lang="en-IN" dirty="0"/>
              <a:t> to detect them.</a:t>
            </a:r>
          </a:p>
          <a:p>
            <a:r>
              <a:rPr lang="en-IN" dirty="0"/>
              <a:t>Imagine This Chessboard </a:t>
            </a:r>
          </a:p>
          <a:p>
            <a:r>
              <a:rPr lang="en-IN" dirty="0"/>
              <a:t>Each place where </a:t>
            </a:r>
            <a:r>
              <a:rPr lang="en-IN" b="1" dirty="0"/>
              <a:t>4 squares meet</a:t>
            </a:r>
            <a:r>
              <a:rPr lang="en-IN" dirty="0"/>
              <a:t> is a </a:t>
            </a:r>
            <a:r>
              <a:rPr lang="en-IN" b="1" dirty="0"/>
              <a:t>corner</a:t>
            </a:r>
            <a:r>
              <a:rPr lang="en-IN" dirty="0"/>
              <a:t>.</a:t>
            </a:r>
          </a:p>
          <a:p>
            <a:r>
              <a:rPr lang="en-IN" dirty="0"/>
              <a:t>OpenCV Looks for </a:t>
            </a:r>
            <a:r>
              <a:rPr lang="en-IN" dirty="0" err="1"/>
              <a:t>Color</a:t>
            </a:r>
            <a:r>
              <a:rPr lang="en-IN" dirty="0"/>
              <a:t> Changes</a:t>
            </a:r>
          </a:p>
          <a:p>
            <a:r>
              <a:rPr lang="en-IN" dirty="0"/>
              <a:t>OpenCV checks every pixel.</a:t>
            </a:r>
          </a:p>
          <a:p>
            <a:r>
              <a:rPr lang="en-IN" dirty="0"/>
              <a:t>If the brightness changes suddenly in </a:t>
            </a:r>
            <a:r>
              <a:rPr lang="en-IN" b="1" dirty="0"/>
              <a:t>both horizontal and vertical directions</a:t>
            </a:r>
            <a:r>
              <a:rPr lang="en-IN" dirty="0"/>
              <a:t>, it is likely a corner.</a:t>
            </a:r>
          </a:p>
          <a:p>
            <a:r>
              <a:rPr lang="en-IN" dirty="0"/>
              <a:t>Example: white -&gt; black</a:t>
            </a:r>
          </a:p>
          <a:p>
            <a:r>
              <a:rPr lang="en-IN" dirty="0"/>
              <a:t>This is an </a:t>
            </a:r>
            <a:r>
              <a:rPr lang="en-IN" b="1" dirty="0"/>
              <a:t>edge</a:t>
            </a:r>
            <a:r>
              <a:rPr lang="en-IN" dirty="0"/>
              <a:t>.</a:t>
            </a:r>
          </a:p>
        </p:txBody>
      </p:sp>
    </p:spTree>
    <p:extLst>
      <p:ext uri="{BB962C8B-B14F-4D97-AF65-F5344CB8AC3E}">
        <p14:creationId xmlns:p14="http://schemas.microsoft.com/office/powerpoint/2010/main" val="221585511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C7D29-80BA-5361-876F-578D5FE9C7EE}"/>
              </a:ext>
            </a:extLst>
          </p:cNvPr>
          <p:cNvSpPr>
            <a:spLocks noGrp="1"/>
          </p:cNvSpPr>
          <p:nvPr>
            <p:ph idx="1"/>
          </p:nvPr>
        </p:nvSpPr>
        <p:spPr>
          <a:xfrm>
            <a:off x="838200" y="615462"/>
            <a:ext cx="10515600" cy="6022730"/>
          </a:xfrm>
        </p:spPr>
        <p:txBody>
          <a:bodyPr>
            <a:normAutofit/>
          </a:bodyPr>
          <a:lstStyle/>
          <a:p>
            <a:r>
              <a:rPr lang="en-IN" dirty="0"/>
              <a:t>Now look here:</a:t>
            </a:r>
          </a:p>
          <a:p>
            <a:pPr marL="0" indent="0">
              <a:buNone/>
            </a:pPr>
            <a:r>
              <a:rPr lang="en-IN" dirty="0"/>
              <a:t>⬜⬛</a:t>
            </a:r>
          </a:p>
          <a:p>
            <a:pPr marL="0" indent="0">
              <a:buNone/>
            </a:pPr>
            <a:r>
              <a:rPr lang="en-IN" dirty="0"/>
              <a:t>⬛⬜</a:t>
            </a:r>
          </a:p>
          <a:p>
            <a:r>
              <a:rPr lang="en-IN" dirty="0"/>
              <a:t>The </a:t>
            </a:r>
            <a:r>
              <a:rPr lang="en-IN" dirty="0" err="1"/>
              <a:t>color</a:t>
            </a:r>
            <a:r>
              <a:rPr lang="en-IN" dirty="0"/>
              <a:t> changes in </a:t>
            </a:r>
            <a:r>
              <a:rPr lang="en-IN" b="1" dirty="0"/>
              <a:t>both directions</a:t>
            </a:r>
            <a:r>
              <a:rPr lang="en-IN" dirty="0"/>
              <a:t>.</a:t>
            </a:r>
          </a:p>
          <a:p>
            <a:r>
              <a:rPr lang="en-IN" dirty="0"/>
              <a:t>This is a </a:t>
            </a:r>
            <a:r>
              <a:rPr lang="en-IN" b="1" dirty="0"/>
              <a:t>corner</a:t>
            </a:r>
            <a:r>
              <a:rPr lang="en-IN" dirty="0"/>
              <a:t>.</a:t>
            </a:r>
          </a:p>
          <a:p>
            <a:pPr marL="0" indent="0">
              <a:buNone/>
            </a:pPr>
            <a:r>
              <a:rPr lang="en-IN" dirty="0"/>
              <a:t>Mark Possible Corners</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 = Possible corner detected.</a:t>
            </a:r>
          </a:p>
        </p:txBody>
      </p:sp>
    </p:spTree>
    <p:extLst>
      <p:ext uri="{BB962C8B-B14F-4D97-AF65-F5344CB8AC3E}">
        <p14:creationId xmlns:p14="http://schemas.microsoft.com/office/powerpoint/2010/main" val="72097859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5D900-EF11-B8CF-1349-16CF6B0B40A1}"/>
              </a:ext>
            </a:extLst>
          </p:cNvPr>
          <p:cNvSpPr>
            <a:spLocks noGrp="1"/>
          </p:cNvSpPr>
          <p:nvPr>
            <p:ph idx="1"/>
          </p:nvPr>
        </p:nvSpPr>
        <p:spPr>
          <a:xfrm>
            <a:off x="838200" y="211015"/>
            <a:ext cx="10515600" cy="5965948"/>
          </a:xfrm>
        </p:spPr>
        <p:txBody>
          <a:bodyPr/>
          <a:lstStyle/>
          <a:p>
            <a:r>
              <a:rPr lang="en-IN" dirty="0"/>
              <a:t>OpenCV Knows the Chessboard Pattern</a:t>
            </a:r>
          </a:p>
          <a:p>
            <a:r>
              <a:rPr lang="en-IN" dirty="0"/>
              <a:t>When using</a:t>
            </a:r>
          </a:p>
          <a:p>
            <a:r>
              <a:rPr lang="en-IN" dirty="0"/>
              <a:t>cv2.findChessboardCorners()</a:t>
            </a:r>
          </a:p>
          <a:p>
            <a:r>
              <a:rPr lang="en-IN" dirty="0"/>
              <a:t>OpenCV already knows that the board has a fixed pattern.</a:t>
            </a:r>
          </a:p>
          <a:p>
            <a:endParaRPr lang="en-IN" dirty="0"/>
          </a:p>
          <a:p>
            <a:pPr marL="0" indent="0">
              <a:buNone/>
            </a:pPr>
            <a:r>
              <a:rPr lang="en-IN" dirty="0"/>
              <a:t>⬜⬜⬜⬛⬛⬛</a:t>
            </a:r>
          </a:p>
          <a:p>
            <a:r>
              <a:rPr lang="en-IN" dirty="0"/>
              <a:t>it's just an </a:t>
            </a:r>
            <a:r>
              <a:rPr lang="en-IN" b="1" dirty="0"/>
              <a:t>edge</a:t>
            </a:r>
            <a:r>
              <a:rPr lang="en-IN" dirty="0"/>
              <a:t>.</a:t>
            </a:r>
          </a:p>
          <a:p>
            <a:r>
              <a:rPr lang="en-IN" dirty="0"/>
              <a:t>But if the colour changes in </a:t>
            </a:r>
            <a:r>
              <a:rPr lang="en-IN" b="1" dirty="0"/>
              <a:t>both directions</a:t>
            </a:r>
            <a:r>
              <a:rPr lang="en-IN" dirty="0"/>
              <a:t>:</a:t>
            </a:r>
          </a:p>
          <a:p>
            <a:pPr marL="0" indent="0">
              <a:buNone/>
            </a:pPr>
            <a:r>
              <a:rPr lang="en-IN" dirty="0"/>
              <a:t>⬜⬛</a:t>
            </a:r>
          </a:p>
          <a:p>
            <a:pPr marL="0" indent="0">
              <a:buNone/>
            </a:pPr>
            <a:r>
              <a:rPr lang="en-IN" dirty="0"/>
              <a:t>⬛⬜</a:t>
            </a:r>
          </a:p>
          <a:p>
            <a:r>
              <a:rPr lang="en-IN" dirty="0"/>
              <a:t>then it is probably a </a:t>
            </a:r>
            <a:r>
              <a:rPr lang="en-IN" b="1" dirty="0"/>
              <a:t>corner</a:t>
            </a:r>
            <a:r>
              <a:rPr lang="en-IN" dirty="0"/>
              <a:t>.</a:t>
            </a:r>
          </a:p>
        </p:txBody>
      </p:sp>
    </p:spTree>
    <p:extLst>
      <p:ext uri="{BB962C8B-B14F-4D97-AF65-F5344CB8AC3E}">
        <p14:creationId xmlns:p14="http://schemas.microsoft.com/office/powerpoint/2010/main" val="236961143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6241E-5926-A304-9AA0-BAC8B4B1FA73}"/>
              </a:ext>
            </a:extLst>
          </p:cNvPr>
          <p:cNvSpPr>
            <a:spLocks noGrp="1"/>
          </p:cNvSpPr>
          <p:nvPr>
            <p:ph idx="1"/>
          </p:nvPr>
        </p:nvSpPr>
        <p:spPr>
          <a:xfrm>
            <a:off x="838200" y="492369"/>
            <a:ext cx="10515600" cy="5684594"/>
          </a:xfrm>
        </p:spPr>
        <p:txBody>
          <a:bodyPr>
            <a:normAutofit fontScale="92500" lnSpcReduction="10000"/>
          </a:bodyPr>
          <a:lstStyle/>
          <a:p>
            <a:r>
              <a:rPr lang="en-IN" dirty="0"/>
              <a:t>It marks all the corners 🔴</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The 🔴 marks are the detected corners.</a:t>
            </a:r>
          </a:p>
          <a:p>
            <a:pPr marL="0" indent="0">
              <a:buNone/>
            </a:pPr>
            <a:r>
              <a:rPr lang="en-IN" dirty="0"/>
              <a:t>It counts the corners</a:t>
            </a:r>
          </a:p>
          <a:p>
            <a:pPr marL="0" indent="0">
              <a:buNone/>
            </a:pPr>
            <a:endParaRPr lang="en-IN" dirty="0"/>
          </a:p>
          <a:p>
            <a:pPr marL="0" indent="0">
              <a:buNone/>
            </a:pPr>
            <a:r>
              <a:rPr lang="en-IN" dirty="0"/>
              <a:t>Walking on a straight wall → </a:t>
            </a:r>
            <a:r>
              <a:rPr lang="en-IN" b="1" dirty="0"/>
              <a:t>edge</a:t>
            </a:r>
          </a:p>
          <a:p>
            <a:pPr marL="0" indent="0">
              <a:buNone/>
            </a:pPr>
            <a:r>
              <a:rPr lang="en-IN" dirty="0"/>
              <a:t>Reaching the place where two walls meet → </a:t>
            </a:r>
            <a:r>
              <a:rPr lang="en-IN" b="1" dirty="0"/>
              <a:t>corner</a:t>
            </a:r>
          </a:p>
          <a:p>
            <a:pPr marL="0" indent="0">
              <a:buNone/>
            </a:pPr>
            <a:endParaRPr lang="en-IN" b="1" dirty="0"/>
          </a:p>
          <a:p>
            <a:pPr marL="0" indent="0">
              <a:buNone/>
            </a:pPr>
            <a:r>
              <a:rPr lang="en-IN" dirty="0"/>
              <a:t>OpenCV does something similar. It looks for places where the image changes in </a:t>
            </a:r>
            <a:r>
              <a:rPr lang="en-IN" b="1" dirty="0"/>
              <a:t>two directions</a:t>
            </a:r>
            <a:r>
              <a:rPr lang="en-IN" dirty="0"/>
              <a:t> instead of just one.</a:t>
            </a:r>
          </a:p>
        </p:txBody>
      </p:sp>
    </p:spTree>
    <p:extLst>
      <p:ext uri="{BB962C8B-B14F-4D97-AF65-F5344CB8AC3E}">
        <p14:creationId xmlns:p14="http://schemas.microsoft.com/office/powerpoint/2010/main" val="202123115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E39F1-C838-8291-F69E-CC66A9FB5C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D1424F-7F85-AF5E-EB37-40A65A01DA18}"/>
              </a:ext>
            </a:extLst>
          </p:cNvPr>
          <p:cNvSpPr>
            <a:spLocks noGrp="1"/>
          </p:cNvSpPr>
          <p:nvPr>
            <p:ph idx="1"/>
          </p:nvPr>
        </p:nvSpPr>
        <p:spPr/>
        <p:txBody>
          <a:bodyPr/>
          <a:lstStyle/>
          <a:p>
            <a:r>
              <a:rPr lang="en-IN" dirty="0"/>
              <a:t>OpenCV automatically finds corners by looking for places where the image changes sharply in both horizontal and vertical directions. </a:t>
            </a:r>
          </a:p>
          <a:p>
            <a:r>
              <a:rPr lang="en-IN" dirty="0"/>
              <a:t>It then matches these points to the expected chessboard pattern and gives the exact corner positions.</a:t>
            </a:r>
          </a:p>
        </p:txBody>
      </p:sp>
    </p:spTree>
    <p:extLst>
      <p:ext uri="{BB962C8B-B14F-4D97-AF65-F5344CB8AC3E}">
        <p14:creationId xmlns:p14="http://schemas.microsoft.com/office/powerpoint/2010/main" val="119789189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030BF-5D8C-FAD9-8758-D09FB480285D}"/>
              </a:ext>
            </a:extLst>
          </p:cNvPr>
          <p:cNvSpPr>
            <a:spLocks noGrp="1"/>
          </p:cNvSpPr>
          <p:nvPr>
            <p:ph idx="1"/>
          </p:nvPr>
        </p:nvSpPr>
        <p:spPr/>
        <p:txBody>
          <a:bodyPr/>
          <a:lstStyle/>
          <a:p>
            <a:r>
              <a:rPr lang="en-IN" b="1" dirty="0"/>
              <a:t>Step 4</a:t>
            </a:r>
          </a:p>
          <a:p>
            <a:r>
              <a:rPr lang="en-IN" dirty="0"/>
              <a:t>Compare</a:t>
            </a:r>
          </a:p>
          <a:p>
            <a:r>
              <a:rPr lang="en-IN" dirty="0"/>
              <a:t>Known corner positions</a:t>
            </a:r>
          </a:p>
          <a:p>
            <a:r>
              <a:rPr lang="en-IN" dirty="0"/>
              <a:t>with</a:t>
            </a:r>
          </a:p>
          <a:p>
            <a:r>
              <a:rPr lang="en-IN" dirty="0"/>
              <a:t>Detected corner positions.</a:t>
            </a:r>
          </a:p>
          <a:p>
            <a:endParaRPr lang="en-IN" dirty="0"/>
          </a:p>
        </p:txBody>
      </p:sp>
    </p:spTree>
    <p:extLst>
      <p:ext uri="{BB962C8B-B14F-4D97-AF65-F5344CB8AC3E}">
        <p14:creationId xmlns:p14="http://schemas.microsoft.com/office/powerpoint/2010/main" val="193047038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7389-447C-F614-17D7-AAB17ABC77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C6E53F-A5B9-BA7D-F91E-23D20F478C70}"/>
              </a:ext>
            </a:extLst>
          </p:cNvPr>
          <p:cNvSpPr>
            <a:spLocks noGrp="1"/>
          </p:cNvSpPr>
          <p:nvPr>
            <p:ph idx="1"/>
          </p:nvPr>
        </p:nvSpPr>
        <p:spPr/>
        <p:txBody>
          <a:bodyPr/>
          <a:lstStyle/>
          <a:p>
            <a:r>
              <a:rPr lang="en-IN" b="1" dirty="0"/>
              <a:t>Step 5</a:t>
            </a:r>
          </a:p>
          <a:p>
            <a:r>
              <a:rPr lang="en-IN" dirty="0"/>
              <a:t>OpenCV calculates</a:t>
            </a:r>
          </a:p>
          <a:p>
            <a:r>
              <a:rPr lang="en-IN" dirty="0"/>
              <a:t>Camera Matrix </a:t>
            </a:r>
          </a:p>
          <a:p>
            <a:r>
              <a:rPr lang="en-IN" dirty="0"/>
              <a:t>Distortion coefficients </a:t>
            </a:r>
          </a:p>
          <a:p>
            <a:r>
              <a:rPr lang="en-IN" dirty="0"/>
              <a:t>Now the camera is calibrated.</a:t>
            </a:r>
          </a:p>
          <a:p>
            <a:endParaRPr lang="en-IN" dirty="0"/>
          </a:p>
        </p:txBody>
      </p:sp>
    </p:spTree>
    <p:extLst>
      <p:ext uri="{BB962C8B-B14F-4D97-AF65-F5344CB8AC3E}">
        <p14:creationId xmlns:p14="http://schemas.microsoft.com/office/powerpoint/2010/main" val="296832121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C3C6-7AB7-65D2-D322-E4FC3E838E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FC7CBA-BB8D-E6BE-4600-3868F61F0DB1}"/>
              </a:ext>
            </a:extLst>
          </p:cNvPr>
          <p:cNvSpPr>
            <a:spLocks noGrp="1"/>
          </p:cNvSpPr>
          <p:nvPr>
            <p:ph idx="1"/>
          </p:nvPr>
        </p:nvSpPr>
        <p:spPr/>
        <p:txBody>
          <a:bodyPr/>
          <a:lstStyle/>
          <a:p>
            <a:r>
              <a:rPr lang="en-IN" b="1" dirty="0"/>
              <a:t>Simple Practical Example</a:t>
            </a:r>
          </a:p>
          <a:p>
            <a:r>
              <a:rPr lang="en-IN" dirty="0"/>
              <a:t>Suppose a chessboard square is:</a:t>
            </a:r>
          </a:p>
          <a:p>
            <a:r>
              <a:rPr lang="en-IN" dirty="0"/>
              <a:t>2 cm × 2 cm</a:t>
            </a:r>
          </a:p>
          <a:p>
            <a:r>
              <a:rPr lang="en-IN" dirty="0"/>
              <a:t>OpenCV already knows this.</a:t>
            </a:r>
          </a:p>
          <a:p>
            <a:r>
              <a:rPr lang="en-IN" dirty="0"/>
              <a:t>If the image shows a different size because of the lens, OpenCV estimates the camera's properties and corrects the measurements.</a:t>
            </a:r>
          </a:p>
          <a:p>
            <a:endParaRPr lang="en-IN" dirty="0"/>
          </a:p>
        </p:txBody>
      </p:sp>
    </p:spTree>
    <p:extLst>
      <p:ext uri="{BB962C8B-B14F-4D97-AF65-F5344CB8AC3E}">
        <p14:creationId xmlns:p14="http://schemas.microsoft.com/office/powerpoint/2010/main" val="368876785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2547E-3BD6-963A-1B5B-E16693B721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029684-262C-3837-F481-9A7F79D5B8FB}"/>
              </a:ext>
            </a:extLst>
          </p:cNvPr>
          <p:cNvSpPr>
            <a:spLocks noGrp="1"/>
          </p:cNvSpPr>
          <p:nvPr>
            <p:ph idx="1"/>
          </p:nvPr>
        </p:nvSpPr>
        <p:spPr/>
        <p:txBody>
          <a:bodyPr/>
          <a:lstStyle/>
          <a:p>
            <a:r>
              <a:rPr lang="en-IN" b="1" dirty="0"/>
              <a:t>Applications of Calibration</a:t>
            </a:r>
          </a:p>
          <a:p>
            <a:r>
              <a:rPr lang="en-IN" dirty="0"/>
              <a:t>Measuring object sizes </a:t>
            </a:r>
          </a:p>
          <a:p>
            <a:r>
              <a:rPr lang="en-IN" dirty="0"/>
              <a:t>Robotics </a:t>
            </a:r>
          </a:p>
          <a:p>
            <a:r>
              <a:rPr lang="en-IN" dirty="0"/>
              <a:t>Self-driving cars </a:t>
            </a:r>
          </a:p>
          <a:p>
            <a:r>
              <a:rPr lang="en-IN" dirty="0"/>
              <a:t>Medical imaging </a:t>
            </a:r>
          </a:p>
          <a:p>
            <a:r>
              <a:rPr lang="en-IN" dirty="0"/>
              <a:t>Augmented Reality (AR) </a:t>
            </a:r>
          </a:p>
          <a:p>
            <a:r>
              <a:rPr lang="en-IN" dirty="0"/>
              <a:t>3D reconstruction</a:t>
            </a:r>
          </a:p>
          <a:p>
            <a:endParaRPr lang="en-IN" dirty="0"/>
          </a:p>
        </p:txBody>
      </p:sp>
    </p:spTree>
    <p:extLst>
      <p:ext uri="{BB962C8B-B14F-4D97-AF65-F5344CB8AC3E}">
        <p14:creationId xmlns:p14="http://schemas.microsoft.com/office/powerpoint/2010/main" val="110701271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193175-306C-374D-2787-A67822366044}"/>
              </a:ext>
            </a:extLst>
          </p:cNvPr>
          <p:cNvSpPr>
            <a:spLocks noGrp="1"/>
          </p:cNvSpPr>
          <p:nvPr>
            <p:ph idx="1"/>
          </p:nvPr>
        </p:nvSpPr>
        <p:spPr/>
        <p:txBody>
          <a:bodyPr>
            <a:normAutofit fontScale="85000" lnSpcReduction="20000"/>
          </a:bodyPr>
          <a:lstStyle/>
          <a:p>
            <a:pPr marL="0" indent="0">
              <a:buNone/>
            </a:pPr>
            <a:r>
              <a:rPr lang="en-IN" dirty="0"/>
              <a:t>Chessboard</a:t>
            </a:r>
          </a:p>
          <a:p>
            <a:pPr marL="0" indent="0">
              <a:buNone/>
            </a:pPr>
            <a:r>
              <a:rPr lang="en-IN" dirty="0"/>
              <a:t>      ↓</a:t>
            </a:r>
          </a:p>
          <a:p>
            <a:pPr marL="0" indent="0">
              <a:buNone/>
            </a:pPr>
            <a:r>
              <a:rPr lang="en-IN" dirty="0"/>
              <a:t>Take Multiple Images</a:t>
            </a:r>
          </a:p>
          <a:p>
            <a:pPr marL="0" indent="0">
              <a:buNone/>
            </a:pPr>
            <a:r>
              <a:rPr lang="en-IN" dirty="0"/>
              <a:t>      ↓</a:t>
            </a:r>
          </a:p>
          <a:p>
            <a:pPr marL="0" indent="0">
              <a:buNone/>
            </a:pPr>
            <a:r>
              <a:rPr lang="en-IN" dirty="0"/>
              <a:t>Detect Corners</a:t>
            </a:r>
          </a:p>
          <a:p>
            <a:pPr marL="0" indent="0">
              <a:buNone/>
            </a:pPr>
            <a:r>
              <a:rPr lang="en-IN" dirty="0"/>
              <a:t>      ↓</a:t>
            </a:r>
          </a:p>
          <a:p>
            <a:pPr marL="0" indent="0">
              <a:buNone/>
            </a:pPr>
            <a:r>
              <a:rPr lang="en-IN" dirty="0"/>
              <a:t>Calculate Camera Matrix</a:t>
            </a:r>
          </a:p>
          <a:p>
            <a:pPr marL="0" indent="0">
              <a:buNone/>
            </a:pPr>
            <a:r>
              <a:rPr lang="en-IN" dirty="0"/>
              <a:t>      ↓</a:t>
            </a:r>
          </a:p>
          <a:p>
            <a:pPr marL="0" indent="0">
              <a:buNone/>
            </a:pPr>
            <a:r>
              <a:rPr lang="en-IN" dirty="0"/>
              <a:t>Remove Distortion</a:t>
            </a:r>
          </a:p>
          <a:p>
            <a:pPr marL="0" indent="0">
              <a:buNone/>
            </a:pPr>
            <a:r>
              <a:rPr lang="en-IN" dirty="0"/>
              <a:t>      ↓</a:t>
            </a:r>
          </a:p>
          <a:p>
            <a:pPr marL="0" indent="0">
              <a:buNone/>
            </a:pPr>
            <a:r>
              <a:rPr lang="en-IN" dirty="0"/>
              <a:t>Accurate Camera</a:t>
            </a:r>
          </a:p>
        </p:txBody>
      </p:sp>
    </p:spTree>
    <p:extLst>
      <p:ext uri="{BB962C8B-B14F-4D97-AF65-F5344CB8AC3E}">
        <p14:creationId xmlns:p14="http://schemas.microsoft.com/office/powerpoint/2010/main" val="411653825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95AF3-032A-3157-5F13-1647CE1C0639}"/>
              </a:ext>
            </a:extLst>
          </p:cNvPr>
          <p:cNvSpPr>
            <a:spLocks noGrp="1"/>
          </p:cNvSpPr>
          <p:nvPr>
            <p:ph type="title"/>
          </p:nvPr>
        </p:nvSpPr>
        <p:spPr/>
        <p:txBody>
          <a:bodyPr/>
          <a:lstStyle/>
          <a:p>
            <a:r>
              <a:rPr lang="en-IN" dirty="0"/>
              <a:t>Binocular Imaging System</a:t>
            </a:r>
          </a:p>
        </p:txBody>
      </p:sp>
      <p:sp>
        <p:nvSpPr>
          <p:cNvPr id="3" name="Content Placeholder 2">
            <a:extLst>
              <a:ext uri="{FF2B5EF4-FFF2-40B4-BE49-F238E27FC236}">
                <a16:creationId xmlns:a16="http://schemas.microsoft.com/office/drawing/2014/main" id="{344ECFB6-7C00-48F6-98FC-6792CB7EB368}"/>
              </a:ext>
            </a:extLst>
          </p:cNvPr>
          <p:cNvSpPr>
            <a:spLocks noGrp="1"/>
          </p:cNvSpPr>
          <p:nvPr>
            <p:ph idx="1"/>
          </p:nvPr>
        </p:nvSpPr>
        <p:spPr/>
        <p:txBody>
          <a:bodyPr/>
          <a:lstStyle/>
          <a:p>
            <a:r>
              <a:rPr lang="en-IN" b="1" dirty="0"/>
              <a:t>What Does "Binocular" Mean?</a:t>
            </a:r>
          </a:p>
          <a:p>
            <a:r>
              <a:rPr lang="en-IN" dirty="0"/>
              <a:t>"Bi" means </a:t>
            </a:r>
            <a:r>
              <a:rPr lang="en-IN" b="1" dirty="0"/>
              <a:t>two</a:t>
            </a:r>
            <a:r>
              <a:rPr lang="en-IN" dirty="0"/>
              <a:t>.</a:t>
            </a:r>
          </a:p>
          <a:p>
            <a:r>
              <a:rPr lang="en-IN" dirty="0"/>
              <a:t>A binocular imaging system uses </a:t>
            </a:r>
            <a:r>
              <a:rPr lang="en-IN" b="1" dirty="0"/>
              <a:t>two cameras</a:t>
            </a:r>
            <a:r>
              <a:rPr lang="en-IN" dirty="0"/>
              <a:t>.</a:t>
            </a:r>
          </a:p>
          <a:p>
            <a:r>
              <a:rPr lang="en-IN" dirty="0"/>
              <a:t>Example:</a:t>
            </a:r>
          </a:p>
          <a:p>
            <a:pPr marL="0" indent="0">
              <a:buNone/>
            </a:pPr>
            <a:r>
              <a:rPr lang="en-IN" dirty="0"/>
              <a:t> 📷       📷</a:t>
            </a:r>
          </a:p>
          <a:p>
            <a:r>
              <a:rPr lang="en-IN" dirty="0"/>
              <a:t>Left     Right</a:t>
            </a:r>
          </a:p>
        </p:txBody>
      </p:sp>
    </p:spTree>
    <p:extLst>
      <p:ext uri="{BB962C8B-B14F-4D97-AF65-F5344CB8AC3E}">
        <p14:creationId xmlns:p14="http://schemas.microsoft.com/office/powerpoint/2010/main" val="270411108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DB4F1D-918F-5542-602A-49C366978974}"/>
              </a:ext>
            </a:extLst>
          </p:cNvPr>
          <p:cNvSpPr>
            <a:spLocks noGrp="1"/>
          </p:cNvSpPr>
          <p:nvPr>
            <p:ph idx="1"/>
          </p:nvPr>
        </p:nvSpPr>
        <p:spPr>
          <a:xfrm>
            <a:off x="838200" y="474785"/>
            <a:ext cx="10515600" cy="5702178"/>
          </a:xfrm>
        </p:spPr>
        <p:txBody>
          <a:bodyPr/>
          <a:lstStyle/>
          <a:p>
            <a:r>
              <a:rPr lang="en-IN" b="1" dirty="0"/>
              <a:t>Human Vision</a:t>
            </a:r>
          </a:p>
          <a:p>
            <a:r>
              <a:rPr lang="en-IN" dirty="0"/>
              <a:t>Humans have:</a:t>
            </a:r>
          </a:p>
          <a:p>
            <a:pPr marL="0" indent="0">
              <a:buNone/>
            </a:pPr>
            <a:r>
              <a:rPr lang="en-IN" dirty="0"/>
              <a:t>   👁      👁</a:t>
            </a:r>
          </a:p>
          <a:p>
            <a:r>
              <a:rPr lang="en-IN" dirty="0"/>
              <a:t>Two eyes.</a:t>
            </a:r>
          </a:p>
          <a:p>
            <a:r>
              <a:rPr lang="en-IN" dirty="0"/>
              <a:t>Each eye sees a slightly different image.</a:t>
            </a:r>
          </a:p>
          <a:p>
            <a:r>
              <a:rPr lang="en-IN" dirty="0"/>
              <a:t>The brain combines them.</a:t>
            </a:r>
          </a:p>
          <a:p>
            <a:r>
              <a:rPr lang="en-IN" dirty="0"/>
              <a:t>This helps us judge:</a:t>
            </a:r>
          </a:p>
          <a:p>
            <a:r>
              <a:rPr lang="en-IN" dirty="0"/>
              <a:t>distance </a:t>
            </a:r>
          </a:p>
          <a:p>
            <a:r>
              <a:rPr lang="en-IN" dirty="0"/>
              <a:t>depth </a:t>
            </a:r>
          </a:p>
          <a:p>
            <a:pPr marL="0" indent="0">
              <a:buNone/>
            </a:pPr>
            <a:endParaRPr lang="en-IN" dirty="0"/>
          </a:p>
          <a:p>
            <a:endParaRPr lang="en-IN" dirty="0"/>
          </a:p>
        </p:txBody>
      </p:sp>
    </p:spTree>
    <p:extLst>
      <p:ext uri="{BB962C8B-B14F-4D97-AF65-F5344CB8AC3E}">
        <p14:creationId xmlns:p14="http://schemas.microsoft.com/office/powerpoint/2010/main" val="298789782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8F0B6-8315-51EE-9515-D89CECB69E8A}"/>
              </a:ext>
            </a:extLst>
          </p:cNvPr>
          <p:cNvSpPr>
            <a:spLocks noGrp="1"/>
          </p:cNvSpPr>
          <p:nvPr>
            <p:ph idx="1"/>
          </p:nvPr>
        </p:nvSpPr>
        <p:spPr>
          <a:xfrm>
            <a:off x="838200" y="589085"/>
            <a:ext cx="10515600" cy="5587878"/>
          </a:xfrm>
        </p:spPr>
        <p:txBody>
          <a:bodyPr/>
          <a:lstStyle/>
          <a:p>
            <a:r>
              <a:rPr lang="en-IN" b="1" dirty="0"/>
              <a:t>Computer Vision</a:t>
            </a:r>
          </a:p>
          <a:p>
            <a:r>
              <a:rPr lang="en-IN" dirty="0"/>
              <a:t>Instead of eyes:</a:t>
            </a:r>
          </a:p>
          <a:p>
            <a:pPr marL="0" indent="0">
              <a:buNone/>
            </a:pPr>
            <a:r>
              <a:rPr lang="en-IN" dirty="0"/>
              <a:t>   📷      📷</a:t>
            </a:r>
          </a:p>
          <a:p>
            <a:r>
              <a:rPr lang="en-IN" dirty="0"/>
              <a:t>Two cameras capture the same object.</a:t>
            </a:r>
          </a:p>
          <a:p>
            <a:r>
              <a:rPr lang="en-IN" b="1" dirty="0"/>
              <a:t>Example</a:t>
            </a:r>
          </a:p>
          <a:p>
            <a:r>
              <a:rPr lang="en-IN" dirty="0"/>
              <a:t>Suppose there is a ball.</a:t>
            </a:r>
          </a:p>
          <a:p>
            <a:pPr marL="0" indent="0">
              <a:buNone/>
            </a:pPr>
            <a:r>
              <a:rPr lang="en-IN" dirty="0"/>
              <a:t> 📷      ⚽      📷</a:t>
            </a:r>
          </a:p>
          <a:p>
            <a:pPr marL="0" indent="0">
              <a:buNone/>
            </a:pPr>
            <a:r>
              <a:rPr lang="en-IN" dirty="0"/>
              <a:t>Both cameras take a picture.</a:t>
            </a:r>
          </a:p>
          <a:p>
            <a:r>
              <a:rPr lang="en-IN" b="1" dirty="0"/>
              <a:t>Left Camera Image</a:t>
            </a:r>
          </a:p>
          <a:p>
            <a:r>
              <a:rPr lang="en-IN" dirty="0"/>
              <a:t>Ball at x = 120</a:t>
            </a:r>
          </a:p>
          <a:p>
            <a:pPr marL="0" indent="0">
              <a:buNone/>
            </a:pPr>
            <a:endParaRPr lang="en-IN" dirty="0"/>
          </a:p>
        </p:txBody>
      </p:sp>
    </p:spTree>
    <p:extLst>
      <p:ext uri="{BB962C8B-B14F-4D97-AF65-F5344CB8AC3E}">
        <p14:creationId xmlns:p14="http://schemas.microsoft.com/office/powerpoint/2010/main" val="92727811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70FEE-C834-891F-3273-5F2B3FE97E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C05561-D885-D8E0-CFD8-F513609C5355}"/>
              </a:ext>
            </a:extLst>
          </p:cNvPr>
          <p:cNvSpPr>
            <a:spLocks noGrp="1"/>
          </p:cNvSpPr>
          <p:nvPr>
            <p:ph idx="1"/>
          </p:nvPr>
        </p:nvSpPr>
        <p:spPr/>
        <p:txBody>
          <a:bodyPr/>
          <a:lstStyle/>
          <a:p>
            <a:r>
              <a:rPr lang="en-IN" b="1" dirty="0"/>
              <a:t>Right Camera Image</a:t>
            </a:r>
          </a:p>
          <a:p>
            <a:r>
              <a:rPr lang="en-IN" dirty="0"/>
              <a:t>Ball at x = 150</a:t>
            </a:r>
          </a:p>
          <a:p>
            <a:r>
              <a:rPr lang="en-IN" dirty="0"/>
              <a:t>Notice the ball appears at different positions.</a:t>
            </a:r>
          </a:p>
          <a:p>
            <a:r>
              <a:rPr lang="en-IN" dirty="0"/>
              <a:t>This difference is called </a:t>
            </a:r>
            <a:r>
              <a:rPr lang="en-IN" b="1" dirty="0"/>
              <a:t>disparity</a:t>
            </a:r>
            <a:r>
              <a:rPr lang="en-IN" dirty="0"/>
              <a:t>.</a:t>
            </a:r>
          </a:p>
          <a:p>
            <a:r>
              <a:rPr lang="en-IN" b="1" dirty="0"/>
              <a:t>What is Disparity?</a:t>
            </a:r>
          </a:p>
          <a:p>
            <a:r>
              <a:rPr lang="en-IN" dirty="0"/>
              <a:t>Disparity is the difference in the object's position in the left and right images.</a:t>
            </a:r>
          </a:p>
          <a:p>
            <a:endParaRPr lang="en-IN" dirty="0"/>
          </a:p>
        </p:txBody>
      </p:sp>
    </p:spTree>
    <p:extLst>
      <p:ext uri="{BB962C8B-B14F-4D97-AF65-F5344CB8AC3E}">
        <p14:creationId xmlns:p14="http://schemas.microsoft.com/office/powerpoint/2010/main" val="266325043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E2D48-895B-C690-ED23-15E7CD2B89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A3BFBF-9F5B-B50B-D8D1-7009D08DE080}"/>
              </a:ext>
            </a:extLst>
          </p:cNvPr>
          <p:cNvSpPr>
            <a:spLocks noGrp="1"/>
          </p:cNvSpPr>
          <p:nvPr>
            <p:ph idx="1"/>
          </p:nvPr>
        </p:nvSpPr>
        <p:spPr/>
        <p:txBody>
          <a:bodyPr/>
          <a:lstStyle/>
          <a:p>
            <a:r>
              <a:rPr lang="en-IN" dirty="0"/>
              <a:t>Example:</a:t>
            </a:r>
          </a:p>
          <a:p>
            <a:r>
              <a:rPr lang="en-IN" dirty="0"/>
              <a:t>Left image:</a:t>
            </a:r>
          </a:p>
          <a:p>
            <a:r>
              <a:rPr lang="en-IN" dirty="0"/>
              <a:t>x = 120</a:t>
            </a:r>
          </a:p>
          <a:p>
            <a:r>
              <a:rPr lang="en-IN" dirty="0"/>
              <a:t>Right image:</a:t>
            </a:r>
          </a:p>
          <a:p>
            <a:r>
              <a:rPr lang="en-IN" dirty="0"/>
              <a:t>x = 150</a:t>
            </a:r>
          </a:p>
          <a:p>
            <a:r>
              <a:rPr lang="en-IN" dirty="0"/>
              <a:t>Disparity:</a:t>
            </a:r>
          </a:p>
          <a:p>
            <a:r>
              <a:rPr lang="en-IN" dirty="0"/>
              <a:t>150 − 120 = 30 pixels</a:t>
            </a:r>
          </a:p>
          <a:p>
            <a:endParaRPr lang="en-IN" dirty="0"/>
          </a:p>
        </p:txBody>
      </p:sp>
    </p:spTree>
    <p:extLst>
      <p:ext uri="{BB962C8B-B14F-4D97-AF65-F5344CB8AC3E}">
        <p14:creationId xmlns:p14="http://schemas.microsoft.com/office/powerpoint/2010/main" val="158128109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91CF-7745-D58C-F296-4BBE2E24DA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BF7792-9DE1-C9E6-D21D-BED6A43068FC}"/>
              </a:ext>
            </a:extLst>
          </p:cNvPr>
          <p:cNvSpPr>
            <a:spLocks noGrp="1"/>
          </p:cNvSpPr>
          <p:nvPr>
            <p:ph idx="1"/>
          </p:nvPr>
        </p:nvSpPr>
        <p:spPr/>
        <p:txBody>
          <a:bodyPr/>
          <a:lstStyle/>
          <a:p>
            <a:r>
              <a:rPr lang="en-IN" b="1" dirty="0"/>
              <a:t>Why is Disparity Important?</a:t>
            </a:r>
          </a:p>
          <a:p>
            <a:r>
              <a:rPr lang="en-IN" dirty="0"/>
              <a:t>Disparity tells us how far away the object is.</a:t>
            </a:r>
          </a:p>
          <a:p>
            <a:r>
              <a:rPr lang="en-IN" dirty="0"/>
              <a:t>Large disparity</a:t>
            </a:r>
          </a:p>
          <a:p>
            <a:pPr marL="0" indent="0">
              <a:buNone/>
            </a:pPr>
            <a:r>
              <a:rPr lang="en-US" dirty="0"/>
              <a:t>Left = 100</a:t>
            </a:r>
          </a:p>
          <a:p>
            <a:pPr marL="0" indent="0">
              <a:buNone/>
            </a:pPr>
            <a:endParaRPr lang="en-US" dirty="0"/>
          </a:p>
          <a:p>
            <a:pPr marL="0" indent="0">
              <a:buNone/>
            </a:pPr>
            <a:r>
              <a:rPr lang="en-US" dirty="0"/>
              <a:t>Right = 180</a:t>
            </a:r>
          </a:p>
          <a:p>
            <a:pPr marL="0" indent="0">
              <a:buNone/>
            </a:pPr>
            <a:endParaRPr lang="en-US" dirty="0"/>
          </a:p>
          <a:p>
            <a:pPr marL="0" indent="0">
              <a:buNone/>
            </a:pPr>
            <a:r>
              <a:rPr lang="en-US" dirty="0"/>
              <a:t>Difference = 80</a:t>
            </a:r>
            <a:endParaRPr lang="en-IN" dirty="0"/>
          </a:p>
        </p:txBody>
      </p:sp>
    </p:spTree>
    <p:extLst>
      <p:ext uri="{BB962C8B-B14F-4D97-AF65-F5344CB8AC3E}">
        <p14:creationId xmlns:p14="http://schemas.microsoft.com/office/powerpoint/2010/main" val="391245455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A63B-1A14-81DB-0F7E-91BE427F83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48F453-0DC7-C10F-08E9-67AD479F524A}"/>
              </a:ext>
            </a:extLst>
          </p:cNvPr>
          <p:cNvSpPr>
            <a:spLocks noGrp="1"/>
          </p:cNvSpPr>
          <p:nvPr>
            <p:ph idx="1"/>
          </p:nvPr>
        </p:nvSpPr>
        <p:spPr/>
        <p:txBody>
          <a:bodyPr/>
          <a:lstStyle/>
          <a:p>
            <a:r>
              <a:rPr lang="en-IN" dirty="0"/>
              <a:t>Large difference means:</a:t>
            </a:r>
          </a:p>
          <a:p>
            <a:r>
              <a:rPr lang="en-IN" dirty="0"/>
              <a:t>Object is close.</a:t>
            </a:r>
          </a:p>
          <a:p>
            <a:r>
              <a:rPr lang="en-IN" dirty="0"/>
              <a:t>Small disparity</a:t>
            </a:r>
          </a:p>
          <a:p>
            <a:pPr marL="0" indent="0">
              <a:buNone/>
            </a:pPr>
            <a:r>
              <a:rPr lang="en-US" dirty="0"/>
              <a:t>Left = 100</a:t>
            </a:r>
          </a:p>
          <a:p>
            <a:pPr marL="0" indent="0">
              <a:buNone/>
            </a:pPr>
            <a:endParaRPr lang="en-US" dirty="0"/>
          </a:p>
          <a:p>
            <a:pPr marL="0" indent="0">
              <a:buNone/>
            </a:pPr>
            <a:r>
              <a:rPr lang="en-US" dirty="0"/>
              <a:t>Right = 105</a:t>
            </a:r>
          </a:p>
          <a:p>
            <a:pPr marL="0" indent="0">
              <a:buNone/>
            </a:pPr>
            <a:endParaRPr lang="en-US" dirty="0"/>
          </a:p>
          <a:p>
            <a:pPr marL="0" indent="0">
              <a:buNone/>
            </a:pPr>
            <a:r>
              <a:rPr lang="en-US" dirty="0"/>
              <a:t>Difference = 5</a:t>
            </a:r>
            <a:endParaRPr lang="en-IN" dirty="0"/>
          </a:p>
        </p:txBody>
      </p:sp>
    </p:spTree>
    <p:extLst>
      <p:ext uri="{BB962C8B-B14F-4D97-AF65-F5344CB8AC3E}">
        <p14:creationId xmlns:p14="http://schemas.microsoft.com/office/powerpoint/2010/main" val="299259795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081E-62E6-24E4-E16D-37DC649F2F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3E90142-4DB6-D1DB-8E43-FD94BE681E80}"/>
              </a:ext>
            </a:extLst>
          </p:cNvPr>
          <p:cNvSpPr>
            <a:spLocks noGrp="1"/>
          </p:cNvSpPr>
          <p:nvPr>
            <p:ph idx="1"/>
          </p:nvPr>
        </p:nvSpPr>
        <p:spPr/>
        <p:txBody>
          <a:bodyPr>
            <a:normAutofit lnSpcReduction="10000"/>
          </a:bodyPr>
          <a:lstStyle/>
          <a:p>
            <a:r>
              <a:rPr lang="en-IN" dirty="0"/>
              <a:t>Small difference means:</a:t>
            </a:r>
          </a:p>
          <a:p>
            <a:r>
              <a:rPr lang="en-IN" dirty="0"/>
              <a:t>Object is far away.</a:t>
            </a:r>
          </a:p>
          <a:p>
            <a:r>
              <a:rPr lang="en-IN" b="1" dirty="0"/>
              <a:t>Easy Analogy</a:t>
            </a:r>
          </a:p>
          <a:p>
            <a:r>
              <a:rPr lang="en-IN" dirty="0"/>
              <a:t>Hold one finger in front of your face.</a:t>
            </a:r>
          </a:p>
          <a:p>
            <a:r>
              <a:rPr lang="en-IN" dirty="0"/>
              <a:t>Close your </a:t>
            </a:r>
            <a:r>
              <a:rPr lang="en-IN" b="1" dirty="0"/>
              <a:t>left eye</a:t>
            </a:r>
            <a:r>
              <a:rPr lang="en-IN" dirty="0"/>
              <a:t>.</a:t>
            </a:r>
          </a:p>
          <a:p>
            <a:r>
              <a:rPr lang="en-IN" dirty="0"/>
              <a:t>Now close your </a:t>
            </a:r>
            <a:r>
              <a:rPr lang="en-IN" b="1" dirty="0"/>
              <a:t>right eye</a:t>
            </a:r>
            <a:r>
              <a:rPr lang="en-IN" dirty="0"/>
              <a:t>.</a:t>
            </a:r>
          </a:p>
          <a:p>
            <a:r>
              <a:rPr lang="en-IN" dirty="0"/>
              <a:t>Your finger appears to move.</a:t>
            </a:r>
          </a:p>
          <a:p>
            <a:r>
              <a:rPr lang="en-IN" dirty="0"/>
              <a:t>That movement is similar to </a:t>
            </a:r>
            <a:r>
              <a:rPr lang="en-IN" b="1" dirty="0"/>
              <a:t>disparity</a:t>
            </a:r>
            <a:r>
              <a:rPr lang="en-IN" dirty="0"/>
              <a:t>.</a:t>
            </a:r>
          </a:p>
          <a:p>
            <a:r>
              <a:rPr lang="en-IN" dirty="0"/>
              <a:t>Your brain uses it to estimate distance.</a:t>
            </a:r>
          </a:p>
          <a:p>
            <a:endParaRPr lang="en-IN" dirty="0"/>
          </a:p>
        </p:txBody>
      </p:sp>
    </p:spTree>
    <p:extLst>
      <p:ext uri="{BB962C8B-B14F-4D97-AF65-F5344CB8AC3E}">
        <p14:creationId xmlns:p14="http://schemas.microsoft.com/office/powerpoint/2010/main" val="227566501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4B3E-1BD2-7932-DCC8-8973620A68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16EE03-A080-09AD-79DF-7529BAB9AD62}"/>
              </a:ext>
            </a:extLst>
          </p:cNvPr>
          <p:cNvSpPr>
            <a:spLocks noGrp="1"/>
          </p:cNvSpPr>
          <p:nvPr>
            <p:ph idx="1"/>
          </p:nvPr>
        </p:nvSpPr>
        <p:spPr/>
        <p:txBody>
          <a:bodyPr/>
          <a:lstStyle/>
          <a:p>
            <a:r>
              <a:rPr lang="en-IN" b="1" dirty="0"/>
              <a:t>Baseline</a:t>
            </a:r>
          </a:p>
          <a:p>
            <a:r>
              <a:rPr lang="en-IN" dirty="0"/>
              <a:t>The distance between the two cameras is called the </a:t>
            </a:r>
            <a:r>
              <a:rPr lang="en-IN" b="1" dirty="0"/>
              <a:t>baseline</a:t>
            </a:r>
            <a:r>
              <a:rPr lang="en-IN" dirty="0"/>
              <a:t>.</a:t>
            </a:r>
          </a:p>
          <a:p>
            <a:r>
              <a:rPr lang="en-IN" b="1" dirty="0"/>
              <a:t>Focal Length</a:t>
            </a:r>
          </a:p>
          <a:p>
            <a:r>
              <a:rPr lang="en-IN" dirty="0"/>
              <a:t>Each camera has a focal length.</a:t>
            </a:r>
          </a:p>
          <a:p>
            <a:r>
              <a:rPr lang="en-IN" dirty="0"/>
              <a:t>Example:</a:t>
            </a:r>
          </a:p>
          <a:p>
            <a:r>
              <a:rPr lang="en-IN" dirty="0"/>
              <a:t>f = 800 pixels</a:t>
            </a:r>
          </a:p>
        </p:txBody>
      </p:sp>
    </p:spTree>
    <p:extLst>
      <p:ext uri="{BB962C8B-B14F-4D97-AF65-F5344CB8AC3E}">
        <p14:creationId xmlns:p14="http://schemas.microsoft.com/office/powerpoint/2010/main" val="280035194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61E5C-0CC4-F0FD-799A-30F7ACD287D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23CBE-7A14-01B6-6DFC-B721CEC7044D}"/>
                  </a:ext>
                </a:extLst>
              </p:cNvPr>
              <p:cNvSpPr>
                <a:spLocks noGrp="1"/>
              </p:cNvSpPr>
              <p:nvPr>
                <p:ph idx="1"/>
              </p:nvPr>
            </p:nvSpPr>
            <p:spPr/>
            <p:txBody>
              <a:bodyPr/>
              <a:lstStyle/>
              <a:p>
                <a:r>
                  <a:rPr lang="en-IN" b="1" dirty="0"/>
                  <a:t>Depth Formula</a:t>
                </a:r>
              </a:p>
              <a:p>
                <a:r>
                  <a:rPr lang="en-IN" dirty="0"/>
                  <a:t>Depth is calculated using:</a:t>
                </a:r>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m:t>
                        </m:r>
                        <m:r>
                          <a:rPr lang="en-IN">
                            <a:latin typeface="Cambria Math" panose="02040503050406030204" pitchFamily="18" charset="0"/>
                          </a:rPr>
                          <m:t>×</m:t>
                        </m:r>
                        <m:r>
                          <a:rPr lang="en-IN" i="1">
                            <a:latin typeface="Cambria Math" panose="02040503050406030204" pitchFamily="18" charset="0"/>
                          </a:rPr>
                          <m:t>𝐵</m:t>
                        </m:r>
                      </m:num>
                      <m:den>
                        <m:r>
                          <a:rPr lang="en-IN" i="1">
                            <a:latin typeface="Cambria Math" panose="02040503050406030204" pitchFamily="18" charset="0"/>
                          </a:rPr>
                          <m:t>𝑑</m:t>
                        </m:r>
                      </m:den>
                    </m:f>
                  </m:oMath>
                </a14:m>
                <a:endParaRPr lang="en-IN" dirty="0"/>
              </a:p>
              <a:p>
                <a:r>
                  <a:rPr lang="en-IN" dirty="0"/>
                  <a:t>where:</a:t>
                </a:r>
              </a:p>
              <a:p>
                <a14:m>
                  <m:oMath xmlns:m="http://schemas.openxmlformats.org/officeDocument/2006/math">
                    <m:r>
                      <a:rPr lang="en-IN" i="1">
                        <a:latin typeface="Cambria Math" panose="02040503050406030204" pitchFamily="18" charset="0"/>
                      </a:rPr>
                      <m:t>𝑍</m:t>
                    </m:r>
                  </m:oMath>
                </a14:m>
                <a:r>
                  <a:rPr lang="en-IN" dirty="0"/>
                  <a:t>= depth (distance to object) </a:t>
                </a:r>
              </a:p>
              <a:p>
                <a14:m>
                  <m:oMath xmlns:m="http://schemas.openxmlformats.org/officeDocument/2006/math">
                    <m:r>
                      <a:rPr lang="en-IN" i="1">
                        <a:latin typeface="Cambria Math" panose="02040503050406030204" pitchFamily="18" charset="0"/>
                      </a:rPr>
                      <m:t>𝑓</m:t>
                    </m:r>
                  </m:oMath>
                </a14:m>
                <a:r>
                  <a:rPr lang="en-IN" dirty="0"/>
                  <a:t>= focal length </a:t>
                </a:r>
              </a:p>
              <a:p>
                <a14:m>
                  <m:oMath xmlns:m="http://schemas.openxmlformats.org/officeDocument/2006/math">
                    <m:r>
                      <a:rPr lang="en-IN" i="1">
                        <a:latin typeface="Cambria Math" panose="02040503050406030204" pitchFamily="18" charset="0"/>
                      </a:rPr>
                      <m:t>𝐵</m:t>
                    </m:r>
                  </m:oMath>
                </a14:m>
                <a:r>
                  <a:rPr lang="en-IN" dirty="0"/>
                  <a:t>= baseline (distance between cameras) </a:t>
                </a:r>
              </a:p>
              <a:p>
                <a14:m>
                  <m:oMath xmlns:m="http://schemas.openxmlformats.org/officeDocument/2006/math">
                    <m:r>
                      <a:rPr lang="en-IN" i="1">
                        <a:latin typeface="Cambria Math" panose="02040503050406030204" pitchFamily="18" charset="0"/>
                      </a:rPr>
                      <m:t>𝑑</m:t>
                    </m:r>
                  </m:oMath>
                </a14:m>
                <a:r>
                  <a:rPr lang="en-IN" dirty="0"/>
                  <a:t>= disparity</a:t>
                </a:r>
              </a:p>
              <a:p>
                <a:endParaRPr lang="en-IN" dirty="0"/>
              </a:p>
            </p:txBody>
          </p:sp>
        </mc:Choice>
        <mc:Fallback xmlns="">
          <p:sp>
            <p:nvSpPr>
              <p:cNvPr id="3" name="Content Placeholder 2">
                <a:extLst>
                  <a:ext uri="{FF2B5EF4-FFF2-40B4-BE49-F238E27FC236}">
                    <a16:creationId xmlns:a16="http://schemas.microsoft.com/office/drawing/2014/main" id="{F5123CBE-7A14-01B6-6DFC-B721CEC7044D}"/>
                  </a:ext>
                </a:extLst>
              </p:cNvPr>
              <p:cNvSpPr>
                <a:spLocks noGrp="1" noRot="1" noChangeAspect="1" noMove="1" noResize="1" noEditPoints="1" noAdjustHandles="1" noChangeArrowheads="1" noChangeShapeType="1" noTextEdit="1"/>
              </p:cNvSpPr>
              <p:nvPr>
                <p:ph idx="1"/>
              </p:nvPr>
            </p:nvSpPr>
            <p:spPr>
              <a:blipFill>
                <a:blip r:embed="rId2"/>
                <a:stretch>
                  <a:fillRect l="-1043" t="-2381" b="-1120"/>
                </a:stretch>
              </a:blipFill>
            </p:spPr>
            <p:txBody>
              <a:bodyPr/>
              <a:lstStyle/>
              <a:p>
                <a:r>
                  <a:rPr lang="en-IN">
                    <a:noFill/>
                  </a:rPr>
                  <a:t> </a:t>
                </a:r>
              </a:p>
            </p:txBody>
          </p:sp>
        </mc:Fallback>
      </mc:AlternateContent>
    </p:spTree>
    <p:extLst>
      <p:ext uri="{BB962C8B-B14F-4D97-AF65-F5344CB8AC3E}">
        <p14:creationId xmlns:p14="http://schemas.microsoft.com/office/powerpoint/2010/main" val="40993540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6242-1580-4FD7-3D36-8FDC7ACE0119}"/>
              </a:ext>
            </a:extLst>
          </p:cNvPr>
          <p:cNvSpPr>
            <a:spLocks noGrp="1"/>
          </p:cNvSpPr>
          <p:nvPr>
            <p:ph type="title"/>
          </p:nvPr>
        </p:nvSpPr>
        <p:spPr/>
        <p:txBody>
          <a:bodyPr/>
          <a:lstStyle/>
          <a:p>
            <a:r>
              <a:rPr lang="en-IN" dirty="0"/>
              <a:t>Numerical Example</a:t>
            </a:r>
          </a:p>
        </p:txBody>
      </p:sp>
      <p:sp>
        <p:nvSpPr>
          <p:cNvPr id="3" name="Content Placeholder 2">
            <a:extLst>
              <a:ext uri="{FF2B5EF4-FFF2-40B4-BE49-F238E27FC236}">
                <a16:creationId xmlns:a16="http://schemas.microsoft.com/office/drawing/2014/main" id="{8812186F-5910-D0FB-D323-AE9939664F95}"/>
              </a:ext>
            </a:extLst>
          </p:cNvPr>
          <p:cNvSpPr>
            <a:spLocks noGrp="1"/>
          </p:cNvSpPr>
          <p:nvPr>
            <p:ph idx="1"/>
          </p:nvPr>
        </p:nvSpPr>
        <p:spPr/>
        <p:txBody>
          <a:bodyPr/>
          <a:lstStyle/>
          <a:p>
            <a:r>
              <a:rPr lang="en-IN" dirty="0"/>
              <a:t>Suppose:</a:t>
            </a:r>
          </a:p>
          <a:p>
            <a:r>
              <a:rPr lang="en-IN" dirty="0"/>
              <a:t>f = 800 pixels</a:t>
            </a:r>
          </a:p>
          <a:p>
            <a:endParaRPr lang="en-IN" dirty="0"/>
          </a:p>
          <a:p>
            <a:r>
              <a:rPr lang="en-IN" dirty="0"/>
              <a:t>B = 10 cm</a:t>
            </a:r>
          </a:p>
          <a:p>
            <a:endParaRPr lang="en-IN" dirty="0"/>
          </a:p>
          <a:p>
            <a:r>
              <a:rPr lang="en-IN" dirty="0"/>
              <a:t>d = 40 pixels</a:t>
            </a:r>
          </a:p>
          <a:p>
            <a:endParaRPr lang="en-IN" dirty="0"/>
          </a:p>
        </p:txBody>
      </p:sp>
    </p:spTree>
    <p:extLst>
      <p:ext uri="{BB962C8B-B14F-4D97-AF65-F5344CB8AC3E}">
        <p14:creationId xmlns:p14="http://schemas.microsoft.com/office/powerpoint/2010/main" val="147974476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FBC-0F70-237B-CFCD-12C81872C4B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DAE1FD-B2B0-CC04-B164-415A03B8D5E7}"/>
                  </a:ext>
                </a:extLst>
              </p:cNvPr>
              <p:cNvSpPr>
                <a:spLocks noGrp="1"/>
              </p:cNvSpPr>
              <p:nvPr>
                <p:ph idx="1"/>
              </p:nvPr>
            </p:nvSpPr>
            <p:spPr/>
            <p:txBody>
              <a:bodyPr/>
              <a:lstStyle/>
              <a:p>
                <a:r>
                  <a:rPr lang="en-IN" dirty="0"/>
                  <a:t>Then:</a:t>
                </a:r>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800×10</m:t>
                        </m:r>
                      </m:num>
                      <m:den>
                        <m:r>
                          <a:rPr lang="en-IN">
                            <a:latin typeface="Cambria Math" panose="02040503050406030204" pitchFamily="18" charset="0"/>
                          </a:rPr>
                          <m:t>40</m:t>
                        </m:r>
                      </m:den>
                    </m:f>
                    <m:r>
                      <a:rPr lang="en-IN">
                        <a:latin typeface="Cambria Math" panose="02040503050406030204" pitchFamily="18" charset="0"/>
                      </a:rPr>
                      <m:t>=200</m:t>
                    </m:r>
                    <m:r>
                      <m:rPr>
                        <m:nor/>
                      </m:rPr>
                      <a:rPr lang="en-IN" i="0"/>
                      <m:t> </m:t>
                    </m:r>
                    <m:r>
                      <m:rPr>
                        <m:nor/>
                      </m:rPr>
                      <a:rPr lang="en-IN" i="0"/>
                      <m:t>cm</m:t>
                    </m:r>
                  </m:oMath>
                </a14:m>
                <a:endParaRPr lang="en-IN" b="0" dirty="0"/>
              </a:p>
              <a:p>
                <a:r>
                  <a:rPr lang="en-IN" dirty="0"/>
                  <a:t>The object is </a:t>
                </a:r>
                <a:r>
                  <a:rPr lang="en-IN" b="1" dirty="0"/>
                  <a:t>2 metres</a:t>
                </a:r>
                <a:r>
                  <a:rPr lang="en-IN" dirty="0"/>
                  <a:t> away.</a:t>
                </a:r>
              </a:p>
              <a:p>
                <a:endParaRPr lang="en-IN" dirty="0"/>
              </a:p>
            </p:txBody>
          </p:sp>
        </mc:Choice>
        <mc:Fallback xmlns="">
          <p:sp>
            <p:nvSpPr>
              <p:cNvPr id="3" name="Content Placeholder 2">
                <a:extLst>
                  <a:ext uri="{FF2B5EF4-FFF2-40B4-BE49-F238E27FC236}">
                    <a16:creationId xmlns:a16="http://schemas.microsoft.com/office/drawing/2014/main" id="{50DAE1FD-B2B0-CC04-B164-415A03B8D5E7}"/>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48473612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38DE-1DE9-B1FD-6F11-3A9C2F8B78CE}"/>
              </a:ext>
            </a:extLst>
          </p:cNvPr>
          <p:cNvSpPr>
            <a:spLocks noGrp="1"/>
          </p:cNvSpPr>
          <p:nvPr>
            <p:ph type="title"/>
          </p:nvPr>
        </p:nvSpPr>
        <p:spPr/>
        <p:txBody>
          <a:bodyPr/>
          <a:lstStyle/>
          <a:p>
            <a:r>
              <a:rPr lang="en-IN" dirty="0"/>
              <a:t>How Binocular Imaging Works</a:t>
            </a:r>
          </a:p>
        </p:txBody>
      </p:sp>
      <p:sp>
        <p:nvSpPr>
          <p:cNvPr id="3" name="Content Placeholder 2">
            <a:extLst>
              <a:ext uri="{FF2B5EF4-FFF2-40B4-BE49-F238E27FC236}">
                <a16:creationId xmlns:a16="http://schemas.microsoft.com/office/drawing/2014/main" id="{B2DCE4E6-EBF0-8B28-538F-4ABDA3302B33}"/>
              </a:ext>
            </a:extLst>
          </p:cNvPr>
          <p:cNvSpPr>
            <a:spLocks noGrp="1"/>
          </p:cNvSpPr>
          <p:nvPr>
            <p:ph idx="1"/>
          </p:nvPr>
        </p:nvSpPr>
        <p:spPr/>
        <p:txBody>
          <a:bodyPr>
            <a:normAutofit fontScale="85000" lnSpcReduction="20000"/>
          </a:bodyPr>
          <a:lstStyle/>
          <a:p>
            <a:pPr marL="0" indent="0">
              <a:buNone/>
            </a:pPr>
            <a:r>
              <a:rPr lang="en-US" dirty="0"/>
              <a:t>Real Object</a:t>
            </a:r>
          </a:p>
          <a:p>
            <a:pPr marL="0" indent="0">
              <a:buNone/>
            </a:pPr>
            <a:r>
              <a:rPr lang="en-US" dirty="0"/>
              <a:t>      ↓</a:t>
            </a:r>
          </a:p>
          <a:p>
            <a:pPr marL="0" indent="0">
              <a:buNone/>
            </a:pPr>
            <a:r>
              <a:rPr lang="en-US" dirty="0"/>
              <a:t>Two Cameras Capture Images</a:t>
            </a:r>
          </a:p>
          <a:p>
            <a:pPr marL="0" indent="0">
              <a:buNone/>
            </a:pPr>
            <a:r>
              <a:rPr lang="en-US" dirty="0"/>
              <a:t>      ↓</a:t>
            </a:r>
          </a:p>
          <a:p>
            <a:pPr marL="0" indent="0">
              <a:buNone/>
            </a:pPr>
            <a:r>
              <a:rPr lang="en-US" dirty="0"/>
              <a:t>Find Same Object in Both Images</a:t>
            </a:r>
          </a:p>
          <a:p>
            <a:pPr marL="0" indent="0">
              <a:buNone/>
            </a:pPr>
            <a:r>
              <a:rPr lang="en-US" dirty="0"/>
              <a:t>      ↓</a:t>
            </a:r>
          </a:p>
          <a:p>
            <a:pPr marL="0" indent="0">
              <a:buNone/>
            </a:pPr>
            <a:r>
              <a:rPr lang="en-US" dirty="0"/>
              <a:t>Calculate Disparity</a:t>
            </a:r>
          </a:p>
          <a:p>
            <a:pPr marL="0" indent="0">
              <a:buNone/>
            </a:pPr>
            <a:r>
              <a:rPr lang="en-US" dirty="0"/>
              <a:t>      ↓</a:t>
            </a:r>
          </a:p>
          <a:p>
            <a:pPr marL="0" indent="0">
              <a:buNone/>
            </a:pPr>
            <a:r>
              <a:rPr lang="en-US" dirty="0"/>
              <a:t>Estimate Depth</a:t>
            </a:r>
          </a:p>
          <a:p>
            <a:pPr marL="0" indent="0">
              <a:buNone/>
            </a:pPr>
            <a:r>
              <a:rPr lang="en-US" dirty="0"/>
              <a:t>      ↓</a:t>
            </a:r>
          </a:p>
          <a:p>
            <a:pPr marL="0" indent="0">
              <a:buNone/>
            </a:pPr>
            <a:r>
              <a:rPr lang="en-US" dirty="0"/>
              <a:t>Create 3D Understanding</a:t>
            </a:r>
            <a:endParaRPr lang="en-IN" dirty="0"/>
          </a:p>
        </p:txBody>
      </p:sp>
    </p:spTree>
    <p:extLst>
      <p:ext uri="{BB962C8B-B14F-4D97-AF65-F5344CB8AC3E}">
        <p14:creationId xmlns:p14="http://schemas.microsoft.com/office/powerpoint/2010/main" val="210717353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B0AE-401F-02ED-E7AD-537AA6CE08FE}"/>
              </a:ext>
            </a:extLst>
          </p:cNvPr>
          <p:cNvSpPr>
            <a:spLocks noGrp="1"/>
          </p:cNvSpPr>
          <p:nvPr>
            <p:ph type="title"/>
          </p:nvPr>
        </p:nvSpPr>
        <p:spPr/>
        <p:txBody>
          <a:bodyPr/>
          <a:lstStyle/>
          <a:p>
            <a:r>
              <a:rPr lang="en-IN" dirty="0"/>
              <a:t>Practical Applications</a:t>
            </a:r>
          </a:p>
        </p:txBody>
      </p:sp>
      <p:sp>
        <p:nvSpPr>
          <p:cNvPr id="3" name="Content Placeholder 2">
            <a:extLst>
              <a:ext uri="{FF2B5EF4-FFF2-40B4-BE49-F238E27FC236}">
                <a16:creationId xmlns:a16="http://schemas.microsoft.com/office/drawing/2014/main" id="{0A16BAF2-A8EF-DDBC-6992-1778CCB586C8}"/>
              </a:ext>
            </a:extLst>
          </p:cNvPr>
          <p:cNvSpPr>
            <a:spLocks noGrp="1"/>
          </p:cNvSpPr>
          <p:nvPr>
            <p:ph idx="1"/>
          </p:nvPr>
        </p:nvSpPr>
        <p:spPr/>
        <p:txBody>
          <a:bodyPr/>
          <a:lstStyle/>
          <a:p>
            <a:pPr marL="0" indent="0">
              <a:buNone/>
            </a:pPr>
            <a:r>
              <a:rPr lang="en-IN" dirty="0"/>
              <a:t>1. Self-Driving Cars</a:t>
            </a:r>
          </a:p>
          <a:p>
            <a:r>
              <a:rPr lang="en-IN" dirty="0"/>
              <a:t>Estimate:</a:t>
            </a:r>
          </a:p>
          <a:p>
            <a:r>
              <a:rPr lang="en-IN" dirty="0"/>
              <a:t>distance to cars </a:t>
            </a:r>
          </a:p>
          <a:p>
            <a:r>
              <a:rPr lang="en-IN" dirty="0"/>
              <a:t>pedestrians </a:t>
            </a:r>
          </a:p>
          <a:p>
            <a:r>
              <a:rPr lang="en-IN" dirty="0"/>
              <a:t>traffic signs</a:t>
            </a:r>
          </a:p>
          <a:p>
            <a:endParaRPr lang="en-IN" dirty="0"/>
          </a:p>
        </p:txBody>
      </p:sp>
    </p:spTree>
    <p:extLst>
      <p:ext uri="{BB962C8B-B14F-4D97-AF65-F5344CB8AC3E}">
        <p14:creationId xmlns:p14="http://schemas.microsoft.com/office/powerpoint/2010/main" val="75370252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8F2B-2ACD-DCE0-014B-E52DC3ACB0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564F051-8BAF-C2AF-A1F7-8CFA388128BC}"/>
              </a:ext>
            </a:extLst>
          </p:cNvPr>
          <p:cNvSpPr>
            <a:spLocks noGrp="1"/>
          </p:cNvSpPr>
          <p:nvPr>
            <p:ph idx="1"/>
          </p:nvPr>
        </p:nvSpPr>
        <p:spPr/>
        <p:txBody>
          <a:bodyPr/>
          <a:lstStyle/>
          <a:p>
            <a:r>
              <a:rPr lang="en-IN" b="1" dirty="0"/>
              <a:t>2. Robots</a:t>
            </a:r>
          </a:p>
          <a:p>
            <a:r>
              <a:rPr lang="en-IN" dirty="0"/>
              <a:t>Robots use stereo cameras to avoid obstacles.</a:t>
            </a:r>
          </a:p>
          <a:p>
            <a:pPr marL="0" indent="0">
              <a:buNone/>
            </a:pPr>
            <a:endParaRPr lang="en-IN" dirty="0"/>
          </a:p>
          <a:p>
            <a:r>
              <a:rPr lang="en-IN" b="1" dirty="0"/>
              <a:t>3. Drones</a:t>
            </a:r>
          </a:p>
          <a:p>
            <a:r>
              <a:rPr lang="en-IN" dirty="0"/>
              <a:t>Drones estimate the height of buildings and trees.</a:t>
            </a:r>
          </a:p>
          <a:p>
            <a:endParaRPr lang="en-IN" dirty="0"/>
          </a:p>
        </p:txBody>
      </p:sp>
    </p:spTree>
    <p:extLst>
      <p:ext uri="{BB962C8B-B14F-4D97-AF65-F5344CB8AC3E}">
        <p14:creationId xmlns:p14="http://schemas.microsoft.com/office/powerpoint/2010/main" val="247369363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77EE-6D6E-7447-61F2-C7415A8706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CBDC29-FF92-A67E-CA92-E8F5A70AB9A9}"/>
              </a:ext>
            </a:extLst>
          </p:cNvPr>
          <p:cNvSpPr>
            <a:spLocks noGrp="1"/>
          </p:cNvSpPr>
          <p:nvPr>
            <p:ph idx="1"/>
          </p:nvPr>
        </p:nvSpPr>
        <p:spPr/>
        <p:txBody>
          <a:bodyPr/>
          <a:lstStyle/>
          <a:p>
            <a:r>
              <a:rPr lang="en-IN" b="1" dirty="0"/>
              <a:t>4. Face Unlock</a:t>
            </a:r>
          </a:p>
          <a:p>
            <a:r>
              <a:rPr lang="en-IN" dirty="0"/>
              <a:t>Some phones use depth sensors or stereo-style systems to distinguish a real face from a flat photo.</a:t>
            </a:r>
          </a:p>
          <a:p>
            <a:endParaRPr lang="en-IN" dirty="0"/>
          </a:p>
          <a:p>
            <a:r>
              <a:rPr lang="en-IN" b="1" dirty="0"/>
              <a:t>5. 3D Mapping</a:t>
            </a:r>
          </a:p>
          <a:p>
            <a:r>
              <a:rPr lang="en-IN" dirty="0"/>
              <a:t>Stereo cameras build 3D models of rooms, roads, and buildings.</a:t>
            </a:r>
          </a:p>
          <a:p>
            <a:endParaRPr lang="en-IN" dirty="0"/>
          </a:p>
        </p:txBody>
      </p:sp>
    </p:spTree>
    <p:extLst>
      <p:ext uri="{BB962C8B-B14F-4D97-AF65-F5344CB8AC3E}">
        <p14:creationId xmlns:p14="http://schemas.microsoft.com/office/powerpoint/2010/main" val="34290466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64A2-8BA0-6FE1-2EDA-C6584953688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923E190-931F-2C39-D285-010F4D2F5A5B}"/>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3505200">
                  <a:extLst>
                    <a:ext uri="{9D8B030D-6E8A-4147-A177-3AD203B41FA5}">
                      <a16:colId xmlns:a16="http://schemas.microsoft.com/office/drawing/2014/main" val="2161416064"/>
                    </a:ext>
                  </a:extLst>
                </a:gridCol>
                <a:gridCol w="3505200">
                  <a:extLst>
                    <a:ext uri="{9D8B030D-6E8A-4147-A177-3AD203B41FA5}">
                      <a16:colId xmlns:a16="http://schemas.microsoft.com/office/drawing/2014/main" val="2693486190"/>
                    </a:ext>
                  </a:extLst>
                </a:gridCol>
                <a:gridCol w="3505200">
                  <a:extLst>
                    <a:ext uri="{9D8B030D-6E8A-4147-A177-3AD203B41FA5}">
                      <a16:colId xmlns:a16="http://schemas.microsoft.com/office/drawing/2014/main" val="992252154"/>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Monocular</a:t>
                      </a:r>
                    </a:p>
                  </a:txBody>
                  <a:tcPr anchor="ctr">
                    <a:lnL>
                      <a:noFill/>
                    </a:lnL>
                    <a:lnR>
                      <a:noFill/>
                    </a:lnR>
                    <a:lnT>
                      <a:noFill/>
                    </a:lnT>
                    <a:lnB>
                      <a:noFill/>
                    </a:lnB>
                    <a:noFill/>
                  </a:tcPr>
                </a:tc>
                <a:tc>
                  <a:txBody>
                    <a:bodyPr/>
                    <a:lstStyle/>
                    <a:p>
                      <a:pPr>
                        <a:buNone/>
                      </a:pPr>
                      <a:r>
                        <a:rPr lang="en-IN"/>
                        <a:t>Binocular</a:t>
                      </a:r>
                    </a:p>
                  </a:txBody>
                  <a:tcPr anchor="ctr">
                    <a:lnL>
                      <a:noFill/>
                    </a:lnL>
                    <a:lnR>
                      <a:noFill/>
                    </a:lnR>
                    <a:lnT>
                      <a:noFill/>
                    </a:lnT>
                    <a:lnB>
                      <a:noFill/>
                    </a:lnB>
                    <a:noFill/>
                  </a:tcPr>
                </a:tc>
                <a:extLst>
                  <a:ext uri="{0D108BD9-81ED-4DB2-BD59-A6C34878D82A}">
                    <a16:rowId xmlns:a16="http://schemas.microsoft.com/office/drawing/2014/main" val="378735917"/>
                  </a:ext>
                </a:extLst>
              </a:tr>
              <a:tr h="0">
                <a:tc>
                  <a:txBody>
                    <a:bodyPr/>
                    <a:lstStyle/>
                    <a:p>
                      <a:pPr>
                        <a:buNone/>
                      </a:pPr>
                      <a:r>
                        <a:rPr lang="en-IN"/>
                        <a:t>Number of cameras</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3678217261"/>
                  </a:ext>
                </a:extLst>
              </a:tr>
              <a:tr h="0">
                <a:tc>
                  <a:txBody>
                    <a:bodyPr/>
                    <a:lstStyle/>
                    <a:p>
                      <a:pPr>
                        <a:buNone/>
                      </a:pPr>
                      <a:r>
                        <a:rPr lang="en-IN"/>
                        <a:t>Similar to</a:t>
                      </a:r>
                    </a:p>
                  </a:txBody>
                  <a:tcPr anchor="ctr">
                    <a:lnL>
                      <a:noFill/>
                    </a:lnL>
                    <a:lnR>
                      <a:noFill/>
                    </a:lnR>
                    <a:lnT>
                      <a:noFill/>
                    </a:lnT>
                    <a:lnB>
                      <a:noFill/>
                    </a:lnB>
                    <a:noFill/>
                  </a:tcPr>
                </a:tc>
                <a:tc>
                  <a:txBody>
                    <a:bodyPr/>
                    <a:lstStyle/>
                    <a:p>
                      <a:pPr>
                        <a:buNone/>
                      </a:pPr>
                      <a:r>
                        <a:rPr lang="en-IN"/>
                        <a:t>One eye</a:t>
                      </a:r>
                    </a:p>
                  </a:txBody>
                  <a:tcPr anchor="ctr">
                    <a:lnL>
                      <a:noFill/>
                    </a:lnL>
                    <a:lnR>
                      <a:noFill/>
                    </a:lnR>
                    <a:lnT>
                      <a:noFill/>
                    </a:lnT>
                    <a:lnB>
                      <a:noFill/>
                    </a:lnB>
                    <a:noFill/>
                  </a:tcPr>
                </a:tc>
                <a:tc>
                  <a:txBody>
                    <a:bodyPr/>
                    <a:lstStyle/>
                    <a:p>
                      <a:pPr>
                        <a:buNone/>
                      </a:pPr>
                      <a:r>
                        <a:rPr lang="en-IN"/>
                        <a:t>Two eyes</a:t>
                      </a:r>
                    </a:p>
                  </a:txBody>
                  <a:tcPr anchor="ctr">
                    <a:lnL>
                      <a:noFill/>
                    </a:lnL>
                    <a:lnR>
                      <a:noFill/>
                    </a:lnR>
                    <a:lnT>
                      <a:noFill/>
                    </a:lnT>
                    <a:lnB>
                      <a:noFill/>
                    </a:lnB>
                    <a:noFill/>
                  </a:tcPr>
                </a:tc>
                <a:extLst>
                  <a:ext uri="{0D108BD9-81ED-4DB2-BD59-A6C34878D82A}">
                    <a16:rowId xmlns:a16="http://schemas.microsoft.com/office/drawing/2014/main" val="1053377932"/>
                  </a:ext>
                </a:extLst>
              </a:tr>
              <a:tr h="0">
                <a:tc>
                  <a:txBody>
                    <a:bodyPr/>
                    <a:lstStyle/>
                    <a:p>
                      <a:pPr>
                        <a:buNone/>
                      </a:pPr>
                      <a:r>
                        <a:rPr lang="en-IN"/>
                        <a:t>Depth estimation</a:t>
                      </a:r>
                    </a:p>
                  </a:txBody>
                  <a:tcPr anchor="ctr">
                    <a:lnL>
                      <a:noFill/>
                    </a:lnL>
                    <a:lnR>
                      <a:noFill/>
                    </a:lnR>
                    <a:lnT>
                      <a:noFill/>
                    </a:lnT>
                    <a:lnB>
                      <a:noFill/>
                    </a:lnB>
                    <a:noFill/>
                  </a:tcPr>
                </a:tc>
                <a:tc>
                  <a:txBody>
                    <a:bodyPr/>
                    <a:lstStyle/>
                    <a:p>
                      <a:pPr>
                        <a:buNone/>
                      </a:pPr>
                      <a:r>
                        <a:rPr lang="en-IN"/>
                        <a:t>Difficult</a:t>
                      </a:r>
                    </a:p>
                  </a:txBody>
                  <a:tcPr anchor="ctr">
                    <a:lnL>
                      <a:noFill/>
                    </a:lnL>
                    <a:lnR>
                      <a:noFill/>
                    </a:lnR>
                    <a:lnT>
                      <a:noFill/>
                    </a:lnT>
                    <a:lnB>
                      <a:noFill/>
                    </a:lnB>
                    <a:noFill/>
                  </a:tcPr>
                </a:tc>
                <a:tc>
                  <a:txBody>
                    <a:bodyPr/>
                    <a:lstStyle/>
                    <a:p>
                      <a:pPr>
                        <a:buNone/>
                      </a:pPr>
                      <a:r>
                        <a:rPr lang="en-IN"/>
                        <a:t>Easy</a:t>
                      </a:r>
                    </a:p>
                  </a:txBody>
                  <a:tcPr anchor="ctr">
                    <a:lnL>
                      <a:noFill/>
                    </a:lnL>
                    <a:lnR>
                      <a:noFill/>
                    </a:lnR>
                    <a:lnT>
                      <a:noFill/>
                    </a:lnT>
                    <a:lnB>
                      <a:noFill/>
                    </a:lnB>
                    <a:noFill/>
                  </a:tcPr>
                </a:tc>
                <a:extLst>
                  <a:ext uri="{0D108BD9-81ED-4DB2-BD59-A6C34878D82A}">
                    <a16:rowId xmlns:a16="http://schemas.microsoft.com/office/drawing/2014/main" val="1473191642"/>
                  </a:ext>
                </a:extLst>
              </a:tr>
              <a:tr h="0">
                <a:tc>
                  <a:txBody>
                    <a:bodyPr/>
                    <a:lstStyle/>
                    <a:p>
                      <a:pPr>
                        <a:buNone/>
                      </a:pPr>
                      <a:r>
                        <a:rPr lang="en-IN"/>
                        <a:t>Cost</a:t>
                      </a:r>
                    </a:p>
                  </a:txBody>
                  <a:tcPr anchor="ctr">
                    <a:lnL>
                      <a:noFill/>
                    </a:lnL>
                    <a:lnR>
                      <a:noFill/>
                    </a:lnR>
                    <a:lnT>
                      <a:noFill/>
                    </a:lnT>
                    <a:lnB>
                      <a:noFill/>
                    </a:lnB>
                    <a:noFill/>
                  </a:tcPr>
                </a:tc>
                <a:tc>
                  <a:txBody>
                    <a:bodyPr/>
                    <a:lstStyle/>
                    <a:p>
                      <a:pPr>
                        <a:buNone/>
                      </a:pPr>
                      <a:r>
                        <a:rPr lang="en-IN"/>
                        <a:t>Lower</a:t>
                      </a:r>
                    </a:p>
                  </a:txBody>
                  <a:tcPr anchor="ctr">
                    <a:lnL>
                      <a:noFill/>
                    </a:lnL>
                    <a:lnR>
                      <a:noFill/>
                    </a:lnR>
                    <a:lnT>
                      <a:noFill/>
                    </a:lnT>
                    <a:lnB>
                      <a:noFill/>
                    </a:lnB>
                    <a:noFill/>
                  </a:tcPr>
                </a:tc>
                <a:tc>
                  <a:txBody>
                    <a:bodyPr/>
                    <a:lstStyle/>
                    <a:p>
                      <a:pPr>
                        <a:buNone/>
                      </a:pPr>
                      <a:r>
                        <a:rPr lang="en-IN"/>
                        <a:t>Higher</a:t>
                      </a:r>
                    </a:p>
                  </a:txBody>
                  <a:tcPr anchor="ctr">
                    <a:lnL>
                      <a:noFill/>
                    </a:lnL>
                    <a:lnR>
                      <a:noFill/>
                    </a:lnR>
                    <a:lnT>
                      <a:noFill/>
                    </a:lnT>
                    <a:lnB>
                      <a:noFill/>
                    </a:lnB>
                    <a:noFill/>
                  </a:tcPr>
                </a:tc>
                <a:extLst>
                  <a:ext uri="{0D108BD9-81ED-4DB2-BD59-A6C34878D82A}">
                    <a16:rowId xmlns:a16="http://schemas.microsoft.com/office/drawing/2014/main" val="584415108"/>
                  </a:ext>
                </a:extLst>
              </a:tr>
              <a:tr h="0">
                <a:tc>
                  <a:txBody>
                    <a:bodyPr/>
                    <a:lstStyle/>
                    <a:p>
                      <a:pPr>
                        <a:buNone/>
                      </a:pPr>
                      <a:r>
                        <a:rPr lang="en-IN"/>
                        <a:t>3D information</a:t>
                      </a:r>
                    </a:p>
                  </a:txBody>
                  <a:tcPr anchor="ctr">
                    <a:lnL>
                      <a:noFill/>
                    </a:lnL>
                    <a:lnR>
                      <a:noFill/>
                    </a:lnR>
                    <a:lnT>
                      <a:noFill/>
                    </a:lnT>
                    <a:lnB>
                      <a:noFill/>
                    </a:lnB>
                    <a:noFill/>
                  </a:tcPr>
                </a:tc>
                <a:tc>
                  <a:txBody>
                    <a:bodyPr/>
                    <a:lstStyle/>
                    <a:p>
                      <a:pPr>
                        <a:buNone/>
                      </a:pPr>
                      <a:r>
                        <a:rPr lang="en-IN"/>
                        <a:t>Limited</a:t>
                      </a:r>
                    </a:p>
                  </a:txBody>
                  <a:tcPr anchor="ctr">
                    <a:lnL>
                      <a:noFill/>
                    </a:lnL>
                    <a:lnR>
                      <a:noFill/>
                    </a:lnR>
                    <a:lnT>
                      <a:noFill/>
                    </a:lnT>
                    <a:lnB>
                      <a:noFill/>
                    </a:lnB>
                    <a:noFill/>
                  </a:tcPr>
                </a:tc>
                <a:tc>
                  <a:txBody>
                    <a:bodyPr/>
                    <a:lstStyle/>
                    <a:p>
                      <a:pPr>
                        <a:buNone/>
                      </a:pPr>
                      <a:r>
                        <a:rPr lang="en-IN" dirty="0"/>
                        <a:t>Better</a:t>
                      </a:r>
                    </a:p>
                  </a:txBody>
                  <a:tcPr anchor="ctr">
                    <a:lnL>
                      <a:noFill/>
                    </a:lnL>
                    <a:lnR>
                      <a:noFill/>
                    </a:lnR>
                    <a:lnT>
                      <a:noFill/>
                    </a:lnT>
                    <a:lnB>
                      <a:noFill/>
                    </a:lnB>
                    <a:noFill/>
                  </a:tcPr>
                </a:tc>
                <a:extLst>
                  <a:ext uri="{0D108BD9-81ED-4DB2-BD59-A6C34878D82A}">
                    <a16:rowId xmlns:a16="http://schemas.microsoft.com/office/drawing/2014/main" val="326590129"/>
                  </a:ext>
                </a:extLst>
              </a:tr>
            </a:tbl>
          </a:graphicData>
        </a:graphic>
      </p:graphicFrame>
    </p:spTree>
    <p:extLst>
      <p:ext uri="{BB962C8B-B14F-4D97-AF65-F5344CB8AC3E}">
        <p14:creationId xmlns:p14="http://schemas.microsoft.com/office/powerpoint/2010/main" val="275542201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AF04-F3E0-F99D-BBDA-32F703BF7A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50AB00-55B3-C857-6A1B-F73446E98AFC}"/>
              </a:ext>
            </a:extLst>
          </p:cNvPr>
          <p:cNvSpPr>
            <a:spLocks noGrp="1"/>
          </p:cNvSpPr>
          <p:nvPr>
            <p:ph idx="1"/>
          </p:nvPr>
        </p:nvSpPr>
        <p:spPr/>
        <p:txBody>
          <a:bodyPr/>
          <a:lstStyle/>
          <a:p>
            <a:pPr marL="0" indent="0">
              <a:buNone/>
            </a:pPr>
            <a:r>
              <a:rPr lang="en-US" dirty="0"/>
              <a:t>One Camera</a:t>
            </a:r>
          </a:p>
          <a:p>
            <a:pPr marL="0" indent="0">
              <a:buNone/>
            </a:pPr>
            <a:r>
              <a:rPr lang="en-US" dirty="0"/>
              <a:t>      ↓</a:t>
            </a:r>
          </a:p>
          <a:p>
            <a:pPr marL="0" indent="0">
              <a:buNone/>
            </a:pPr>
            <a:r>
              <a:rPr lang="en-US" dirty="0"/>
              <a:t>Take One Picture</a:t>
            </a:r>
          </a:p>
          <a:p>
            <a:pPr marL="0" indent="0">
              <a:buNone/>
            </a:pPr>
            <a:r>
              <a:rPr lang="en-US" dirty="0"/>
              <a:t>      ↓</a:t>
            </a:r>
          </a:p>
          <a:p>
            <a:pPr marL="0" indent="0">
              <a:buNone/>
            </a:pPr>
            <a:r>
              <a:rPr lang="en-US" dirty="0"/>
              <a:t>Mostly 2D Information</a:t>
            </a:r>
            <a:endParaRPr lang="en-IN" dirty="0"/>
          </a:p>
        </p:txBody>
      </p:sp>
    </p:spTree>
    <p:extLst>
      <p:ext uri="{BB962C8B-B14F-4D97-AF65-F5344CB8AC3E}">
        <p14:creationId xmlns:p14="http://schemas.microsoft.com/office/powerpoint/2010/main" val="327285076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A85DB-A955-B747-8B40-9B6270DB9522}"/>
              </a:ext>
            </a:extLst>
          </p:cNvPr>
          <p:cNvSpPr>
            <a:spLocks noGrp="1"/>
          </p:cNvSpPr>
          <p:nvPr>
            <p:ph idx="1"/>
          </p:nvPr>
        </p:nvSpPr>
        <p:spPr>
          <a:xfrm>
            <a:off x="838200" y="422031"/>
            <a:ext cx="10515600" cy="5754932"/>
          </a:xfrm>
        </p:spPr>
        <p:txBody>
          <a:bodyPr>
            <a:normAutofit fontScale="92500" lnSpcReduction="10000"/>
          </a:bodyPr>
          <a:lstStyle/>
          <a:p>
            <a:r>
              <a:rPr lang="en-IN" dirty="0"/>
              <a:t>Binocular</a:t>
            </a:r>
          </a:p>
          <a:p>
            <a:pPr marL="0" indent="0">
              <a:buNone/>
            </a:pPr>
            <a:r>
              <a:rPr lang="en-US" dirty="0"/>
              <a:t>Two Cameras</a:t>
            </a:r>
          </a:p>
          <a:p>
            <a:pPr marL="0" indent="0">
              <a:buNone/>
            </a:pPr>
            <a:r>
              <a:rPr lang="en-US" dirty="0"/>
              <a:t>      ↓</a:t>
            </a:r>
          </a:p>
          <a:p>
            <a:pPr marL="0" indent="0">
              <a:buNone/>
            </a:pPr>
            <a:r>
              <a:rPr lang="en-US" dirty="0"/>
              <a:t>Take Two Pictures</a:t>
            </a:r>
          </a:p>
          <a:p>
            <a:pPr marL="0" indent="0">
              <a:buNone/>
            </a:pPr>
            <a:r>
              <a:rPr lang="en-US" dirty="0"/>
              <a:t>      ↓</a:t>
            </a:r>
          </a:p>
          <a:p>
            <a:pPr marL="0" indent="0">
              <a:buNone/>
            </a:pPr>
            <a:r>
              <a:rPr lang="en-US" dirty="0"/>
              <a:t>Compare Both Images</a:t>
            </a:r>
          </a:p>
          <a:p>
            <a:pPr marL="0" indent="0">
              <a:buNone/>
            </a:pPr>
            <a:r>
              <a:rPr lang="en-US" dirty="0"/>
              <a:t>      ↓</a:t>
            </a:r>
          </a:p>
          <a:p>
            <a:pPr marL="0" indent="0">
              <a:buNone/>
            </a:pPr>
            <a:r>
              <a:rPr lang="en-US" dirty="0"/>
              <a:t>Find Disparity</a:t>
            </a:r>
          </a:p>
          <a:p>
            <a:pPr marL="0" indent="0">
              <a:buNone/>
            </a:pPr>
            <a:r>
              <a:rPr lang="en-US" dirty="0"/>
              <a:t>      ↓</a:t>
            </a:r>
          </a:p>
          <a:p>
            <a:pPr marL="0" indent="0">
              <a:buNone/>
            </a:pPr>
            <a:r>
              <a:rPr lang="en-US" dirty="0"/>
              <a:t>Calculate Depth</a:t>
            </a:r>
          </a:p>
          <a:p>
            <a:pPr marL="0" indent="0">
              <a:buNone/>
            </a:pPr>
            <a:r>
              <a:rPr lang="en-US" dirty="0"/>
              <a:t>      ↓</a:t>
            </a:r>
          </a:p>
          <a:p>
            <a:pPr marL="0" indent="0">
              <a:buNone/>
            </a:pPr>
            <a:r>
              <a:rPr lang="en-US" dirty="0"/>
              <a:t>3D Information</a:t>
            </a:r>
            <a:endParaRPr lang="en-IN" dirty="0"/>
          </a:p>
        </p:txBody>
      </p:sp>
    </p:spTree>
    <p:extLst>
      <p:ext uri="{BB962C8B-B14F-4D97-AF65-F5344CB8AC3E}">
        <p14:creationId xmlns:p14="http://schemas.microsoft.com/office/powerpoint/2010/main" val="209096163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375C-EC2B-237A-1802-4862D6AF99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D57B6C-BA2D-9C96-5F0C-7010B3E2C804}"/>
              </a:ext>
            </a:extLst>
          </p:cNvPr>
          <p:cNvSpPr>
            <a:spLocks noGrp="1"/>
          </p:cNvSpPr>
          <p:nvPr>
            <p:ph idx="1"/>
          </p:nvPr>
        </p:nvSpPr>
        <p:spPr/>
        <p:txBody>
          <a:bodyPr>
            <a:normAutofit lnSpcReduction="10000"/>
          </a:bodyPr>
          <a:lstStyle/>
          <a:p>
            <a:r>
              <a:rPr lang="en-IN" dirty="0"/>
              <a:t>Camera Calibration</a:t>
            </a:r>
          </a:p>
          <a:p>
            <a:r>
              <a:rPr lang="en-US" dirty="0"/>
              <a:t>Think of it as:</a:t>
            </a:r>
          </a:p>
          <a:p>
            <a:r>
              <a:rPr lang="en-US" dirty="0"/>
              <a:t>"Teaching the camera about itself."</a:t>
            </a:r>
          </a:p>
          <a:p>
            <a:endParaRPr lang="en-US" dirty="0"/>
          </a:p>
          <a:p>
            <a:r>
              <a:rPr lang="en-US" dirty="0"/>
              <a:t>Chessboard</a:t>
            </a:r>
          </a:p>
          <a:p>
            <a:r>
              <a:rPr lang="en-US" dirty="0"/>
              <a:t>     ↓</a:t>
            </a:r>
          </a:p>
          <a:p>
            <a:r>
              <a:rPr lang="en-US" dirty="0"/>
              <a:t>Find camera properties</a:t>
            </a:r>
          </a:p>
          <a:p>
            <a:r>
              <a:rPr lang="en-US" dirty="0"/>
              <a:t>     ↓</a:t>
            </a:r>
          </a:p>
          <a:p>
            <a:r>
              <a:rPr lang="en-US" dirty="0"/>
              <a:t>Correct measurements</a:t>
            </a:r>
            <a:endParaRPr lang="en-IN" dirty="0"/>
          </a:p>
        </p:txBody>
      </p:sp>
    </p:spTree>
    <p:extLst>
      <p:ext uri="{BB962C8B-B14F-4D97-AF65-F5344CB8AC3E}">
        <p14:creationId xmlns:p14="http://schemas.microsoft.com/office/powerpoint/2010/main" val="18875093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2CC2-228C-8DDD-5181-EC3852ECF4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C20C8E-2AF8-C4EF-3044-4A349714557B}"/>
              </a:ext>
            </a:extLst>
          </p:cNvPr>
          <p:cNvSpPr>
            <a:spLocks noGrp="1"/>
          </p:cNvSpPr>
          <p:nvPr>
            <p:ph idx="1"/>
          </p:nvPr>
        </p:nvSpPr>
        <p:spPr/>
        <p:txBody>
          <a:bodyPr>
            <a:normAutofit fontScale="85000" lnSpcReduction="20000"/>
          </a:bodyPr>
          <a:lstStyle/>
          <a:p>
            <a:r>
              <a:rPr lang="en-IN" dirty="0"/>
              <a:t>Binocular Imaging</a:t>
            </a:r>
          </a:p>
          <a:p>
            <a:pPr marL="0" indent="0">
              <a:buNone/>
            </a:pPr>
            <a:r>
              <a:rPr lang="en-US" dirty="0"/>
              <a:t>Think of it as:</a:t>
            </a:r>
          </a:p>
          <a:p>
            <a:pPr marL="0" indent="0">
              <a:buNone/>
            </a:pPr>
            <a:r>
              <a:rPr lang="en-US" dirty="0"/>
              <a:t>"Giving the computer two eyes."</a:t>
            </a:r>
          </a:p>
          <a:p>
            <a:pPr marL="0" indent="0">
              <a:buNone/>
            </a:pPr>
            <a:endParaRPr lang="en-US" dirty="0"/>
          </a:p>
          <a:p>
            <a:pPr marL="0" indent="0">
              <a:buNone/>
            </a:pPr>
            <a:r>
              <a:rPr lang="en-US" dirty="0"/>
              <a:t>Two Cameras</a:t>
            </a:r>
          </a:p>
          <a:p>
            <a:pPr marL="0" indent="0">
              <a:buNone/>
            </a:pPr>
            <a:r>
              <a:rPr lang="en-US" dirty="0"/>
              <a:t>      ↓</a:t>
            </a:r>
          </a:p>
          <a:p>
            <a:pPr marL="0" indent="0">
              <a:buNone/>
            </a:pPr>
            <a:r>
              <a:rPr lang="en-US" dirty="0"/>
              <a:t>Two Images</a:t>
            </a:r>
          </a:p>
          <a:p>
            <a:pPr marL="0" indent="0">
              <a:buNone/>
            </a:pPr>
            <a:r>
              <a:rPr lang="en-US" dirty="0"/>
              <a:t>      ↓</a:t>
            </a:r>
          </a:p>
          <a:p>
            <a:pPr marL="0" indent="0">
              <a:buNone/>
            </a:pPr>
            <a:r>
              <a:rPr lang="en-US" dirty="0"/>
              <a:t>Disparity</a:t>
            </a:r>
          </a:p>
          <a:p>
            <a:pPr marL="0" indent="0">
              <a:buNone/>
            </a:pPr>
            <a:r>
              <a:rPr lang="en-US" dirty="0"/>
              <a:t>      ↓</a:t>
            </a:r>
          </a:p>
          <a:p>
            <a:pPr marL="0" indent="0">
              <a:buNone/>
            </a:pPr>
            <a:r>
              <a:rPr lang="en-US" dirty="0"/>
              <a:t>Depth</a:t>
            </a:r>
            <a:endParaRPr lang="en-IN" dirty="0"/>
          </a:p>
        </p:txBody>
      </p:sp>
    </p:spTree>
    <p:extLst>
      <p:ext uri="{BB962C8B-B14F-4D97-AF65-F5344CB8AC3E}">
        <p14:creationId xmlns:p14="http://schemas.microsoft.com/office/powerpoint/2010/main" val="390189184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4C0A7-F11F-D650-DBDD-7B8228FAD8A7}"/>
              </a:ext>
            </a:extLst>
          </p:cNvPr>
          <p:cNvSpPr>
            <a:spLocks noGrp="1"/>
          </p:cNvSpPr>
          <p:nvPr>
            <p:ph idx="1"/>
          </p:nvPr>
        </p:nvSpPr>
        <p:spPr>
          <a:xfrm>
            <a:off x="838200" y="351692"/>
            <a:ext cx="10515600" cy="5825271"/>
          </a:xfrm>
        </p:spPr>
        <p:txBody>
          <a:bodyPr>
            <a:normAutofit/>
          </a:bodyPr>
          <a:lstStyle/>
          <a:p>
            <a:r>
              <a:rPr lang="en-IN" b="1" dirty="0"/>
              <a:t>Camera Calibration</a:t>
            </a:r>
          </a:p>
          <a:p>
            <a:r>
              <a:rPr lang="en-IN" b="1" dirty="0"/>
              <a:t>Camera calibration is the process of finding a camera's intrinsic parameters (camera matrix), extrinsic parameters (position and orientation), and lens distortion coefficients using a known reference object (such as a chessboard) so that the camera can make accurate measurements and produce undistorted images.</a:t>
            </a:r>
            <a:endParaRPr lang="en-IN" dirty="0"/>
          </a:p>
          <a:p>
            <a:r>
              <a:rPr lang="en-IN" b="1" dirty="0"/>
              <a:t>Binocular Imaging System</a:t>
            </a:r>
          </a:p>
          <a:p>
            <a:r>
              <a:rPr lang="en-IN" b="1" dirty="0"/>
              <a:t>A binocular imaging system uses two cameras placed a fixed distance apart to capture the same scene from two different viewpoints. By comparing the position of objects in the two images (disparity), the system estimates the depth or distance of objects, enabling 3D perception.</a:t>
            </a:r>
            <a:endParaRPr lang="en-IN" dirty="0"/>
          </a:p>
          <a:p>
            <a:endParaRPr lang="en-IN" dirty="0"/>
          </a:p>
        </p:txBody>
      </p:sp>
    </p:spTree>
    <p:extLst>
      <p:ext uri="{BB962C8B-B14F-4D97-AF65-F5344CB8AC3E}">
        <p14:creationId xmlns:p14="http://schemas.microsoft.com/office/powerpoint/2010/main" val="362404902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B09B-670A-7E39-D222-A840CC137076}"/>
              </a:ext>
            </a:extLst>
          </p:cNvPr>
          <p:cNvSpPr>
            <a:spLocks noGrp="1"/>
          </p:cNvSpPr>
          <p:nvPr>
            <p:ph type="title"/>
          </p:nvPr>
        </p:nvSpPr>
        <p:spPr/>
        <p:txBody>
          <a:bodyPr>
            <a:normAutofit fontScale="90000"/>
          </a:bodyPr>
          <a:lstStyle/>
          <a:p>
            <a:br>
              <a:rPr lang="en-IN" b="1" dirty="0"/>
            </a:br>
            <a:r>
              <a:rPr lang="en-IN" b="1" dirty="0"/>
              <a:t>Lens Distortion in Computer Vision (CV)</a:t>
            </a:r>
            <a:br>
              <a:rPr lang="en-IN" b="1" dirty="0"/>
            </a:br>
            <a:endParaRPr lang="en-IN" dirty="0"/>
          </a:p>
        </p:txBody>
      </p:sp>
      <p:sp>
        <p:nvSpPr>
          <p:cNvPr id="3" name="Content Placeholder 2">
            <a:extLst>
              <a:ext uri="{FF2B5EF4-FFF2-40B4-BE49-F238E27FC236}">
                <a16:creationId xmlns:a16="http://schemas.microsoft.com/office/drawing/2014/main" id="{1833AA19-0847-4D25-948A-C650635E02B1}"/>
              </a:ext>
            </a:extLst>
          </p:cNvPr>
          <p:cNvSpPr>
            <a:spLocks noGrp="1"/>
          </p:cNvSpPr>
          <p:nvPr>
            <p:ph idx="1"/>
          </p:nvPr>
        </p:nvSpPr>
        <p:spPr/>
        <p:txBody>
          <a:bodyPr/>
          <a:lstStyle/>
          <a:p>
            <a:r>
              <a:rPr lang="en-IN" dirty="0"/>
              <a:t>Imagine you are looking through a </a:t>
            </a:r>
            <a:r>
              <a:rPr lang="en-IN" b="1" dirty="0"/>
              <a:t>camera lens</a:t>
            </a:r>
            <a:r>
              <a:rPr lang="en-IN" dirty="0"/>
              <a:t>.</a:t>
            </a:r>
          </a:p>
          <a:p>
            <a:r>
              <a:rPr lang="en-IN" dirty="0"/>
              <a:t>If the lens were </a:t>
            </a:r>
            <a:r>
              <a:rPr lang="en-IN" b="1" dirty="0"/>
              <a:t>perfect</a:t>
            </a:r>
            <a:r>
              <a:rPr lang="en-IN" dirty="0"/>
              <a:t>, straight lines in the real world would stay straight in the image. </a:t>
            </a:r>
          </a:p>
          <a:p>
            <a:r>
              <a:rPr lang="en-IN" dirty="0"/>
              <a:t>But real camera lenses are </a:t>
            </a:r>
            <a:r>
              <a:rPr lang="en-IN" b="1" dirty="0"/>
              <a:t>not perfect</a:t>
            </a:r>
            <a:r>
              <a:rPr lang="en-IN" dirty="0"/>
              <a:t>. They bend light a little differently near the edges. </a:t>
            </a:r>
          </a:p>
          <a:p>
            <a:r>
              <a:rPr lang="en-IN" dirty="0"/>
              <a:t>This makes the image look slightly </a:t>
            </a:r>
            <a:r>
              <a:rPr lang="en-IN" b="1" dirty="0"/>
              <a:t>warped or curved</a:t>
            </a:r>
            <a:r>
              <a:rPr lang="en-IN" dirty="0"/>
              <a:t>. This effect is called </a:t>
            </a:r>
            <a:r>
              <a:rPr lang="en-IN" b="1" dirty="0"/>
              <a:t>Lens Distortion</a:t>
            </a:r>
            <a:r>
              <a:rPr lang="en-IN" dirty="0"/>
              <a:t>.</a:t>
            </a:r>
          </a:p>
          <a:p>
            <a:endParaRPr lang="en-IN" dirty="0"/>
          </a:p>
        </p:txBody>
      </p:sp>
    </p:spTree>
    <p:extLst>
      <p:ext uri="{BB962C8B-B14F-4D97-AF65-F5344CB8AC3E}">
        <p14:creationId xmlns:p14="http://schemas.microsoft.com/office/powerpoint/2010/main" val="134243343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8E22-A1A9-A2AE-1EE1-673AC62150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23EFEF-F797-065B-3F4D-2DE89848B281}"/>
              </a:ext>
            </a:extLst>
          </p:cNvPr>
          <p:cNvSpPr>
            <a:spLocks noGrp="1"/>
          </p:cNvSpPr>
          <p:nvPr>
            <p:ph idx="1"/>
          </p:nvPr>
        </p:nvSpPr>
        <p:spPr/>
        <p:txBody>
          <a:bodyPr/>
          <a:lstStyle/>
          <a:p>
            <a:r>
              <a:rPr lang="en-IN" b="1" dirty="0"/>
              <a:t>Think of it like this </a:t>
            </a:r>
          </a:p>
          <a:p>
            <a:r>
              <a:rPr lang="en-IN" dirty="0"/>
              <a:t>Imagine looking through a </a:t>
            </a:r>
            <a:r>
              <a:rPr lang="en-IN" b="1" dirty="0"/>
              <a:t>glass marble</a:t>
            </a:r>
            <a:r>
              <a:rPr lang="en-IN" dirty="0"/>
              <a:t>.</a:t>
            </a:r>
          </a:p>
          <a:p>
            <a:r>
              <a:rPr lang="en-IN" dirty="0"/>
              <a:t>The </a:t>
            </a:r>
            <a:r>
              <a:rPr lang="en-IN" dirty="0" err="1"/>
              <a:t>center</a:t>
            </a:r>
            <a:r>
              <a:rPr lang="en-IN" dirty="0"/>
              <a:t> looks normal. </a:t>
            </a:r>
          </a:p>
          <a:p>
            <a:r>
              <a:rPr lang="en-IN" dirty="0"/>
              <a:t>The edges look bent or stretched. </a:t>
            </a:r>
          </a:p>
          <a:p>
            <a:r>
              <a:rPr lang="en-IN" dirty="0"/>
              <a:t>That's exactly what happens with some camera lenses.</a:t>
            </a:r>
          </a:p>
          <a:p>
            <a:endParaRPr lang="en-IN" dirty="0"/>
          </a:p>
        </p:txBody>
      </p:sp>
    </p:spTree>
    <p:extLst>
      <p:ext uri="{BB962C8B-B14F-4D97-AF65-F5344CB8AC3E}">
        <p14:creationId xmlns:p14="http://schemas.microsoft.com/office/powerpoint/2010/main" val="395916388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45B47-E844-0D3B-7D6F-CCB87050D5B7}"/>
              </a:ext>
            </a:extLst>
          </p:cNvPr>
          <p:cNvSpPr>
            <a:spLocks noGrp="1"/>
          </p:cNvSpPr>
          <p:nvPr>
            <p:ph idx="1"/>
          </p:nvPr>
        </p:nvSpPr>
        <p:spPr>
          <a:xfrm>
            <a:off x="838200" y="501162"/>
            <a:ext cx="10515600" cy="5675801"/>
          </a:xfrm>
        </p:spPr>
        <p:txBody>
          <a:bodyPr/>
          <a:lstStyle/>
          <a:p>
            <a:r>
              <a:rPr lang="en-IN" dirty="0"/>
              <a:t>Imagine you draw a </a:t>
            </a:r>
            <a:r>
              <a:rPr lang="en-IN" b="1" dirty="0"/>
              <a:t>perfect square</a:t>
            </a:r>
            <a:r>
              <a:rPr lang="en-IN" dirty="0"/>
              <a:t> on a paper.</a:t>
            </a:r>
          </a:p>
          <a:p>
            <a:r>
              <a:rPr lang="en-IN" dirty="0"/>
              <a:t>In real life, it looks like this:</a:t>
            </a:r>
          </a:p>
          <a:p>
            <a:r>
              <a:rPr lang="en-IN" dirty="0"/>
              <a:t>The lines are </a:t>
            </a:r>
            <a:r>
              <a:rPr lang="en-IN" b="1" dirty="0"/>
              <a:t>straight</a:t>
            </a:r>
            <a:r>
              <a:rPr lang="en-IN" dirty="0"/>
              <a:t>.</a:t>
            </a:r>
          </a:p>
          <a:p>
            <a:endParaRPr lang="en-IN" dirty="0"/>
          </a:p>
          <a:p>
            <a:r>
              <a:rPr lang="en-IN" dirty="0"/>
              <a:t>Now take a photo with a camera</a:t>
            </a:r>
          </a:p>
          <a:p>
            <a:r>
              <a:rPr lang="en-IN" dirty="0"/>
              <a:t>Sometimes the camera lens bends the image.</a:t>
            </a:r>
          </a:p>
          <a:p>
            <a:r>
              <a:rPr lang="en-IN" dirty="0"/>
              <a:t>Instead of seeing straight lines, the image becomes curved.</a:t>
            </a:r>
          </a:p>
          <a:p>
            <a:endParaRPr lang="en-IN" dirty="0"/>
          </a:p>
        </p:txBody>
      </p:sp>
    </p:spTree>
    <p:extLst>
      <p:ext uri="{BB962C8B-B14F-4D97-AF65-F5344CB8AC3E}">
        <p14:creationId xmlns:p14="http://schemas.microsoft.com/office/powerpoint/2010/main" val="335013077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8534B-3FE4-9D60-B33D-1741A91F3C78}"/>
              </a:ext>
            </a:extLst>
          </p:cNvPr>
          <p:cNvSpPr>
            <a:spLocks noGrp="1"/>
          </p:cNvSpPr>
          <p:nvPr>
            <p:ph type="title"/>
          </p:nvPr>
        </p:nvSpPr>
        <p:spPr/>
        <p:txBody>
          <a:bodyPr/>
          <a:lstStyle/>
          <a:p>
            <a:r>
              <a:rPr lang="en-IN" dirty="0"/>
              <a:t>1. Barrel Distortion</a:t>
            </a:r>
          </a:p>
        </p:txBody>
      </p:sp>
      <p:pic>
        <p:nvPicPr>
          <p:cNvPr id="4" name="Content Placeholder 3" descr="https://images.openai.com/static-rsc-4/96G_8y1cbVUIqMp18flFjHACThA48TUJHmZLt8_qx1AP7JrdilGJGA0A3zw5EMMd284cRd5h5Zcq6TY9f1o0JMG0QEMCI0-FWT05q2rtOVmgzya1Lo7mP9qTTdVvfDgwyD8JVZeY9a6NYT73iMB_o3kwmQBz3X9HWUNnAmZCljYz3XsGDw3hTZZ1ulYBsrs6?purpose=fullsize">
            <a:extLst>
              <a:ext uri="{FF2B5EF4-FFF2-40B4-BE49-F238E27FC236}">
                <a16:creationId xmlns:a16="http://schemas.microsoft.com/office/drawing/2014/main" id="{E000AC18-BD1C-FC0E-FBA9-EFA8AF90D928}"/>
              </a:ext>
            </a:extLst>
          </p:cNvPr>
          <p:cNvPicPr>
            <a:picLocks noGrp="1" noChangeAspect="1"/>
          </p:cNvPicPr>
          <p:nvPr>
            <p:ph idx="1"/>
          </p:nvPr>
        </p:nvPicPr>
        <p:blipFill>
          <a:blip r:embed="rId2"/>
          <a:stretch>
            <a:fillRect/>
          </a:stretch>
        </p:blipFill>
        <p:spPr>
          <a:xfrm>
            <a:off x="3722543" y="1825625"/>
            <a:ext cx="4746914" cy="4351338"/>
          </a:xfrm>
          <a:prstGeom prst="rect">
            <a:avLst/>
          </a:prstGeom>
        </p:spPr>
      </p:pic>
    </p:spTree>
    <p:extLst>
      <p:ext uri="{BB962C8B-B14F-4D97-AF65-F5344CB8AC3E}">
        <p14:creationId xmlns:p14="http://schemas.microsoft.com/office/powerpoint/2010/main" val="180439353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F0EE-845C-9C22-45C1-F5AD834654D4}"/>
              </a:ext>
            </a:extLst>
          </p:cNvPr>
          <p:cNvSpPr>
            <a:spLocks noGrp="1"/>
          </p:cNvSpPr>
          <p:nvPr>
            <p:ph type="title"/>
          </p:nvPr>
        </p:nvSpPr>
        <p:spPr/>
        <p:txBody>
          <a:bodyPr/>
          <a:lstStyle/>
          <a:p>
            <a:endParaRPr lang="en-IN"/>
          </a:p>
        </p:txBody>
      </p:sp>
      <p:pic>
        <p:nvPicPr>
          <p:cNvPr id="4" name="Content Placeholder 3" descr="https://images.openai.com/static-rsc-4/1FINEv9R8pumsVhtt1F1z1o9Wgbrdn_6jBfzcbgFQPcapwHN10m38krhv3vlEj-RS6M8QqY0ZVKZiiOoafd_okOgW3YTEhu0W56j8xi9qzkF8V7VbWMPHNze-ufQFuSFUSDpf2UQ-8KWF0ppIoUWEgkHJliXb9GRbmSNtwla-C60MLXyQulZX4u_BBRUm1wJ?purpose=fullsize">
            <a:extLst>
              <a:ext uri="{FF2B5EF4-FFF2-40B4-BE49-F238E27FC236}">
                <a16:creationId xmlns:a16="http://schemas.microsoft.com/office/drawing/2014/main" id="{96F5A45A-56A9-1245-A4FA-103F52A3703B}"/>
              </a:ext>
            </a:extLst>
          </p:cNvPr>
          <p:cNvPicPr>
            <a:picLocks noGrp="1" noChangeAspect="1"/>
          </p:cNvPicPr>
          <p:nvPr>
            <p:ph idx="1"/>
          </p:nvPr>
        </p:nvPicPr>
        <p:blipFill>
          <a:blip r:embed="rId2"/>
          <a:stretch>
            <a:fillRect/>
          </a:stretch>
        </p:blipFill>
        <p:spPr>
          <a:xfrm>
            <a:off x="2243253" y="1825625"/>
            <a:ext cx="7705494" cy="4351338"/>
          </a:xfrm>
          <a:prstGeom prst="rect">
            <a:avLst/>
          </a:prstGeom>
        </p:spPr>
      </p:pic>
    </p:spTree>
    <p:extLst>
      <p:ext uri="{BB962C8B-B14F-4D97-AF65-F5344CB8AC3E}">
        <p14:creationId xmlns:p14="http://schemas.microsoft.com/office/powerpoint/2010/main" val="252033169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CE7BC-8A9A-1E02-9A78-928CA05396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EE9DB0-54BB-83A5-DF72-472B631E6BE6}"/>
              </a:ext>
            </a:extLst>
          </p:cNvPr>
          <p:cNvSpPr>
            <a:spLocks noGrp="1"/>
          </p:cNvSpPr>
          <p:nvPr>
            <p:ph idx="1"/>
          </p:nvPr>
        </p:nvSpPr>
        <p:spPr/>
        <p:txBody>
          <a:bodyPr/>
          <a:lstStyle/>
          <a:p>
            <a:r>
              <a:rPr lang="en-IN" dirty="0"/>
              <a:t>Imagine the picture is wrapped around a balloon.</a:t>
            </a:r>
          </a:p>
          <a:p>
            <a:r>
              <a:rPr lang="en-IN" dirty="0"/>
              <a:t>The edges </a:t>
            </a:r>
            <a:r>
              <a:rPr lang="en-IN" b="1" dirty="0"/>
              <a:t>bulge outward</a:t>
            </a:r>
            <a:r>
              <a:rPr lang="en-IN" dirty="0"/>
              <a:t>.</a:t>
            </a:r>
          </a:p>
          <a:p>
            <a:r>
              <a:rPr lang="en-IN" b="1" dirty="0"/>
              <a:t>What happens?</a:t>
            </a:r>
          </a:p>
          <a:p>
            <a:r>
              <a:rPr lang="en-IN" dirty="0"/>
              <a:t>Centre looks normal. </a:t>
            </a:r>
          </a:p>
          <a:p>
            <a:r>
              <a:rPr lang="en-IN" dirty="0"/>
              <a:t>Edges bend outward. </a:t>
            </a:r>
          </a:p>
          <a:p>
            <a:r>
              <a:rPr lang="en-IN" dirty="0"/>
              <a:t> Straight lines become curved</a:t>
            </a:r>
          </a:p>
          <a:p>
            <a:endParaRPr lang="en-IN" dirty="0"/>
          </a:p>
        </p:txBody>
      </p:sp>
    </p:spTree>
    <p:extLst>
      <p:ext uri="{BB962C8B-B14F-4D97-AF65-F5344CB8AC3E}">
        <p14:creationId xmlns:p14="http://schemas.microsoft.com/office/powerpoint/2010/main" val="413251266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7A500-3DBB-EACE-2483-714F022546E4}"/>
              </a:ext>
            </a:extLst>
          </p:cNvPr>
          <p:cNvSpPr>
            <a:spLocks noGrp="1"/>
          </p:cNvSpPr>
          <p:nvPr>
            <p:ph type="title"/>
          </p:nvPr>
        </p:nvSpPr>
        <p:spPr/>
        <p:txBody>
          <a:bodyPr/>
          <a:lstStyle/>
          <a:p>
            <a:r>
              <a:rPr lang="en-IN" dirty="0"/>
              <a:t>2. Pincushion Distortion</a:t>
            </a:r>
          </a:p>
        </p:txBody>
      </p:sp>
      <p:pic>
        <p:nvPicPr>
          <p:cNvPr id="4" name="Content Placeholder 3" descr="https://images.openai.com/static-rsc-4/rAUwG3tEZ05-6eyLYC71cNk89b_IL3phPf02vysh0_Dwwiv_imbsDnJLCRX-otEZudLQ_nTw50P3c5c0iK5fC-OqG1yI-_1_7kgIPBe9HRtiUZQNWxfHz8hkxOj4Mk0WRrRfPkoIzLytIh8pwrJe2zuiqSvI4znc060BLXV-pMngNevTVuAuDDWqOnqONgJC?purpose=fullsize">
            <a:extLst>
              <a:ext uri="{FF2B5EF4-FFF2-40B4-BE49-F238E27FC236}">
                <a16:creationId xmlns:a16="http://schemas.microsoft.com/office/drawing/2014/main" id="{7F7ACAD3-D240-581A-9F8F-3987FE5F4DDA}"/>
              </a:ext>
            </a:extLst>
          </p:cNvPr>
          <p:cNvPicPr>
            <a:picLocks noGrp="1" noChangeAspect="1"/>
          </p:cNvPicPr>
          <p:nvPr>
            <p:ph idx="1"/>
          </p:nvPr>
        </p:nvPicPr>
        <p:blipFill>
          <a:blip r:embed="rId2"/>
          <a:stretch>
            <a:fillRect/>
          </a:stretch>
        </p:blipFill>
        <p:spPr>
          <a:xfrm>
            <a:off x="4191000" y="1972469"/>
            <a:ext cx="3810000" cy="4057650"/>
          </a:xfrm>
          <a:prstGeom prst="rect">
            <a:avLst/>
          </a:prstGeom>
        </p:spPr>
      </p:pic>
    </p:spTree>
    <p:extLst>
      <p:ext uri="{BB962C8B-B14F-4D97-AF65-F5344CB8AC3E}">
        <p14:creationId xmlns:p14="http://schemas.microsoft.com/office/powerpoint/2010/main" val="315178368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AB3-CD54-80C0-9AA6-5D57B9D633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985975-52AC-7DED-748F-BE8AFC1EA6E5}"/>
              </a:ext>
            </a:extLst>
          </p:cNvPr>
          <p:cNvSpPr>
            <a:spLocks noGrp="1"/>
          </p:cNvSpPr>
          <p:nvPr>
            <p:ph idx="1"/>
          </p:nvPr>
        </p:nvSpPr>
        <p:spPr/>
        <p:txBody>
          <a:bodyPr/>
          <a:lstStyle/>
          <a:p>
            <a:r>
              <a:rPr lang="en-IN" dirty="0"/>
              <a:t>Pincushion distortion happens when the </a:t>
            </a:r>
            <a:r>
              <a:rPr lang="en-IN" b="1" dirty="0"/>
              <a:t>edges of an image bend inward toward the centre</a:t>
            </a:r>
            <a:r>
              <a:rPr lang="en-IN" dirty="0"/>
              <a:t>.</a:t>
            </a:r>
          </a:p>
          <a:p>
            <a:r>
              <a:rPr lang="en-IN" dirty="0"/>
              <a:t>Imagine pulling the four corners of a photo toward the middle.</a:t>
            </a:r>
          </a:p>
          <a:p>
            <a:endParaRPr lang="en-IN" dirty="0"/>
          </a:p>
        </p:txBody>
      </p:sp>
    </p:spTree>
    <p:extLst>
      <p:ext uri="{BB962C8B-B14F-4D97-AF65-F5344CB8AC3E}">
        <p14:creationId xmlns:p14="http://schemas.microsoft.com/office/powerpoint/2010/main" val="70731386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15CD-87F1-DE44-5C69-1F9E974016F2}"/>
              </a:ext>
            </a:extLst>
          </p:cNvPr>
          <p:cNvSpPr>
            <a:spLocks noGrp="1"/>
          </p:cNvSpPr>
          <p:nvPr>
            <p:ph type="title"/>
          </p:nvPr>
        </p:nvSpPr>
        <p:spPr/>
        <p:txBody>
          <a:bodyPr/>
          <a:lstStyle/>
          <a:p>
            <a:endParaRPr lang="en-IN"/>
          </a:p>
        </p:txBody>
      </p:sp>
      <p:pic>
        <p:nvPicPr>
          <p:cNvPr id="4" name="Content Placeholder 3" descr="https://images.openai.com/static-rsc-4/A1un8halkhiebvVknfHogRuZv9yLyQ7VAzkyidCD5WwuL_Jsm5gGZ635aUfyo28fRRXFk8tjdDzoF8hMDyDBlMiqaWKA8jxDObnSgpgu_FKoiY7bxkLNXrHnI7zja5hvtSUPUmZwH-DMXWjE9cK4JvzorddyX-1b-PVAE2FgOhSJAPmgNDNhy7MAF4JolItr?purpose=fullsize">
            <a:extLst>
              <a:ext uri="{FF2B5EF4-FFF2-40B4-BE49-F238E27FC236}">
                <a16:creationId xmlns:a16="http://schemas.microsoft.com/office/drawing/2014/main" id="{BD356C50-DEB0-CADF-7918-35E2B8C9564E}"/>
              </a:ext>
            </a:extLst>
          </p:cNvPr>
          <p:cNvPicPr>
            <a:picLocks noGrp="1" noChangeAspect="1"/>
          </p:cNvPicPr>
          <p:nvPr>
            <p:ph idx="1"/>
          </p:nvPr>
        </p:nvPicPr>
        <p:blipFill>
          <a:blip r:embed="rId2"/>
          <a:stretch>
            <a:fillRect/>
          </a:stretch>
        </p:blipFill>
        <p:spPr>
          <a:xfrm>
            <a:off x="1032625" y="1825625"/>
            <a:ext cx="10126750" cy="4351338"/>
          </a:xfrm>
          <a:prstGeom prst="rect">
            <a:avLst/>
          </a:prstGeom>
        </p:spPr>
      </p:pic>
    </p:spTree>
    <p:extLst>
      <p:ext uri="{BB962C8B-B14F-4D97-AF65-F5344CB8AC3E}">
        <p14:creationId xmlns:p14="http://schemas.microsoft.com/office/powerpoint/2010/main" val="105093668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29EC-2CA4-BDCA-B067-2562442D1D21}"/>
              </a:ext>
            </a:extLst>
          </p:cNvPr>
          <p:cNvSpPr>
            <a:spLocks noGrp="1"/>
          </p:cNvSpPr>
          <p:nvPr>
            <p:ph type="title"/>
          </p:nvPr>
        </p:nvSpPr>
        <p:spPr/>
        <p:txBody>
          <a:bodyPr/>
          <a:lstStyle/>
          <a:p>
            <a:endParaRPr lang="en-IN"/>
          </a:p>
        </p:txBody>
      </p:sp>
      <p:pic>
        <p:nvPicPr>
          <p:cNvPr id="4" name="Content Placeholder 3" descr="https://images.openai.com/static-rsc-4/U_FJ7cYHt5akM9rOZU-kusvjwAvkTE8PR0oqb4w5DxAHHKkvhjbEOvyBMZHwfmn2dPPHAfeUwqHf_t3bE42TJtFTvN3hwJjcabednxk4KtJa8UD0ytuF5hgXW7dlNv3pH_QcSBmCpbbfxTeULeCTIz3QtV-f1Ar8W4PZ9gTmAPkCTVec7oaz5k_aFwnbCYBN?purpose=fullsize">
            <a:extLst>
              <a:ext uri="{FF2B5EF4-FFF2-40B4-BE49-F238E27FC236}">
                <a16:creationId xmlns:a16="http://schemas.microsoft.com/office/drawing/2014/main" id="{C1CB4E48-04D6-2709-3F39-7F9B8E5EAB1C}"/>
              </a:ext>
            </a:extLst>
          </p:cNvPr>
          <p:cNvPicPr>
            <a:picLocks noGrp="1" noChangeAspect="1"/>
          </p:cNvPicPr>
          <p:nvPr>
            <p:ph idx="1"/>
          </p:nvPr>
        </p:nvPicPr>
        <p:blipFill>
          <a:blip r:embed="rId2"/>
          <a:stretch>
            <a:fillRect/>
          </a:stretch>
        </p:blipFill>
        <p:spPr>
          <a:xfrm>
            <a:off x="838200" y="1825625"/>
            <a:ext cx="10046677" cy="4768606"/>
          </a:xfrm>
          <a:prstGeom prst="rect">
            <a:avLst/>
          </a:prstGeom>
        </p:spPr>
      </p:pic>
    </p:spTree>
    <p:extLst>
      <p:ext uri="{BB962C8B-B14F-4D97-AF65-F5344CB8AC3E}">
        <p14:creationId xmlns:p14="http://schemas.microsoft.com/office/powerpoint/2010/main" val="318072987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784B-81F4-1B73-F8FF-96AC1E5432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29C6B6-91B5-3F95-DD64-3EA7290C6868}"/>
              </a:ext>
            </a:extLst>
          </p:cNvPr>
          <p:cNvSpPr>
            <a:spLocks noGrp="1"/>
          </p:cNvSpPr>
          <p:nvPr>
            <p:ph idx="1"/>
          </p:nvPr>
        </p:nvSpPr>
        <p:spPr/>
        <p:txBody>
          <a:bodyPr/>
          <a:lstStyle/>
          <a:p>
            <a:r>
              <a:rPr lang="en-IN" b="1" dirty="0"/>
              <a:t>What happens?</a:t>
            </a:r>
          </a:p>
          <a:p>
            <a:r>
              <a:rPr lang="en-IN" dirty="0"/>
              <a:t>Centre looks almost normal. </a:t>
            </a:r>
          </a:p>
          <a:p>
            <a:r>
              <a:rPr lang="en-IN" dirty="0"/>
              <a:t>Edges bend inward. </a:t>
            </a:r>
          </a:p>
          <a:p>
            <a:r>
              <a:rPr lang="en-IN" b="1" dirty="0"/>
              <a:t>Pin = Pulls In</a:t>
            </a:r>
            <a:endParaRPr lang="en-IN" dirty="0"/>
          </a:p>
          <a:p>
            <a:endParaRPr lang="en-IN" dirty="0"/>
          </a:p>
        </p:txBody>
      </p:sp>
    </p:spTree>
    <p:extLst>
      <p:ext uri="{BB962C8B-B14F-4D97-AF65-F5344CB8AC3E}">
        <p14:creationId xmlns:p14="http://schemas.microsoft.com/office/powerpoint/2010/main" val="351985439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E9B0C-7E75-AB3A-F20D-9D0B7F88F696}"/>
              </a:ext>
            </a:extLst>
          </p:cNvPr>
          <p:cNvSpPr>
            <a:spLocks noGrp="1"/>
          </p:cNvSpPr>
          <p:nvPr>
            <p:ph type="title"/>
          </p:nvPr>
        </p:nvSpPr>
        <p:spPr/>
        <p:txBody>
          <a:bodyPr/>
          <a:lstStyle/>
          <a:p>
            <a:r>
              <a:rPr lang="en-IN" dirty="0"/>
              <a:t>How does OpenCV fix it?	</a:t>
            </a:r>
          </a:p>
        </p:txBody>
      </p:sp>
      <p:sp>
        <p:nvSpPr>
          <p:cNvPr id="3" name="Content Placeholder 2">
            <a:extLst>
              <a:ext uri="{FF2B5EF4-FFF2-40B4-BE49-F238E27FC236}">
                <a16:creationId xmlns:a16="http://schemas.microsoft.com/office/drawing/2014/main" id="{A9DCD23C-6FA2-D813-8001-1705B5FA826C}"/>
              </a:ext>
            </a:extLst>
          </p:cNvPr>
          <p:cNvSpPr>
            <a:spLocks noGrp="1"/>
          </p:cNvSpPr>
          <p:nvPr>
            <p:ph idx="1"/>
          </p:nvPr>
        </p:nvSpPr>
        <p:spPr/>
        <p:txBody>
          <a:bodyPr>
            <a:normAutofit fontScale="92500" lnSpcReduction="10000"/>
          </a:bodyPr>
          <a:lstStyle/>
          <a:p>
            <a:pPr marL="0" indent="0">
              <a:buNone/>
            </a:pPr>
            <a:r>
              <a:rPr lang="en-US" dirty="0"/>
              <a:t>Distorted Image</a:t>
            </a:r>
          </a:p>
          <a:p>
            <a:pPr marL="0" indent="0">
              <a:buNone/>
            </a:pPr>
            <a:r>
              <a:rPr lang="en-US" dirty="0"/>
              <a:t>        ↓</a:t>
            </a:r>
          </a:p>
          <a:p>
            <a:pPr marL="0" indent="0">
              <a:buNone/>
            </a:pPr>
            <a:r>
              <a:rPr lang="en-US" dirty="0"/>
              <a:t>Camera Calibration</a:t>
            </a:r>
          </a:p>
          <a:p>
            <a:pPr marL="0" indent="0">
              <a:buNone/>
            </a:pPr>
            <a:r>
              <a:rPr lang="en-US" dirty="0"/>
              <a:t>        ↓</a:t>
            </a:r>
          </a:p>
          <a:p>
            <a:pPr marL="0" indent="0">
              <a:buNone/>
            </a:pPr>
            <a:r>
              <a:rPr lang="en-US" dirty="0"/>
              <a:t>OpenCV learns the distortion</a:t>
            </a:r>
          </a:p>
          <a:p>
            <a:pPr marL="0" indent="0">
              <a:buNone/>
            </a:pPr>
            <a:r>
              <a:rPr lang="en-US" dirty="0"/>
              <a:t>        ↓</a:t>
            </a:r>
          </a:p>
          <a:p>
            <a:pPr marL="0" indent="0">
              <a:buNone/>
            </a:pPr>
            <a:r>
              <a:rPr lang="en-US" dirty="0"/>
              <a:t>Corrected Image </a:t>
            </a:r>
          </a:p>
          <a:p>
            <a:pPr marL="0" indent="0">
              <a:buNone/>
            </a:pPr>
            <a:endParaRPr lang="en-US" dirty="0"/>
          </a:p>
          <a:p>
            <a:pPr marL="0" indent="0">
              <a:buNone/>
            </a:pPr>
            <a:r>
              <a:rPr lang="en-IN" dirty="0"/>
              <a:t>OpenCV measures how much the lens bends the image and then </a:t>
            </a:r>
            <a:r>
              <a:rPr lang="en-IN" b="1" dirty="0"/>
              <a:t>straightens the curved lines</a:t>
            </a:r>
            <a:r>
              <a:rPr lang="en-IN" dirty="0"/>
              <a:t>.</a:t>
            </a:r>
          </a:p>
        </p:txBody>
      </p:sp>
    </p:spTree>
    <p:extLst>
      <p:ext uri="{BB962C8B-B14F-4D97-AF65-F5344CB8AC3E}">
        <p14:creationId xmlns:p14="http://schemas.microsoft.com/office/powerpoint/2010/main" val="418739634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B13AD-F6C6-234C-5328-1D44C5B8F97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746F7FE-08B4-21AB-290B-1CF1E77C2660}"/>
              </a:ext>
            </a:extLst>
          </p:cNvPr>
          <p:cNvGraphicFramePr>
            <a:graphicFrameLocks noGrp="1"/>
          </p:cNvGraphicFramePr>
          <p:nvPr>
            <p:ph idx="1"/>
            <p:extLst>
              <p:ext uri="{D42A27DB-BD31-4B8C-83A1-F6EECF244321}">
                <p14:modId xmlns:p14="http://schemas.microsoft.com/office/powerpoint/2010/main" val="3419939172"/>
              </p:ext>
            </p:extLst>
          </p:nvPr>
        </p:nvGraphicFramePr>
        <p:xfrm>
          <a:off x="838200" y="3452654"/>
          <a:ext cx="10515600" cy="1097280"/>
        </p:xfrm>
        <a:graphic>
          <a:graphicData uri="http://schemas.openxmlformats.org/drawingml/2006/table">
            <a:tbl>
              <a:tblPr/>
              <a:tblGrid>
                <a:gridCol w="3505200">
                  <a:extLst>
                    <a:ext uri="{9D8B030D-6E8A-4147-A177-3AD203B41FA5}">
                      <a16:colId xmlns:a16="http://schemas.microsoft.com/office/drawing/2014/main" val="2460809599"/>
                    </a:ext>
                  </a:extLst>
                </a:gridCol>
                <a:gridCol w="3505200">
                  <a:extLst>
                    <a:ext uri="{9D8B030D-6E8A-4147-A177-3AD203B41FA5}">
                      <a16:colId xmlns:a16="http://schemas.microsoft.com/office/drawing/2014/main" val="2075174857"/>
                    </a:ext>
                  </a:extLst>
                </a:gridCol>
                <a:gridCol w="3505200">
                  <a:extLst>
                    <a:ext uri="{9D8B030D-6E8A-4147-A177-3AD203B41FA5}">
                      <a16:colId xmlns:a16="http://schemas.microsoft.com/office/drawing/2014/main" val="1745706544"/>
                    </a:ext>
                  </a:extLst>
                </a:gridCol>
              </a:tblGrid>
              <a:tr h="0">
                <a:tc>
                  <a:txBody>
                    <a:bodyPr/>
                    <a:lstStyle/>
                    <a:p>
                      <a:pPr>
                        <a:buNone/>
                      </a:pPr>
                      <a:r>
                        <a:rPr lang="en-IN"/>
                        <a:t>Type</a:t>
                      </a:r>
                    </a:p>
                  </a:txBody>
                  <a:tcPr anchor="ctr">
                    <a:lnL>
                      <a:noFill/>
                    </a:lnL>
                    <a:lnR>
                      <a:noFill/>
                    </a:lnR>
                    <a:lnT>
                      <a:noFill/>
                    </a:lnT>
                    <a:lnB>
                      <a:noFill/>
                    </a:lnB>
                    <a:noFill/>
                  </a:tcPr>
                </a:tc>
                <a:tc>
                  <a:txBody>
                    <a:bodyPr/>
                    <a:lstStyle/>
                    <a:p>
                      <a:pPr>
                        <a:buNone/>
                      </a:pPr>
                      <a:r>
                        <a:rPr lang="en-IN"/>
                        <a:t>What happens?</a:t>
                      </a:r>
                    </a:p>
                  </a:txBody>
                  <a:tcPr anchor="ctr">
                    <a:lnL>
                      <a:noFill/>
                    </a:lnL>
                    <a:lnR>
                      <a:noFill/>
                    </a:lnR>
                    <a:lnT>
                      <a:noFill/>
                    </a:lnT>
                    <a:lnB>
                      <a:noFill/>
                    </a:lnB>
                    <a:noFill/>
                  </a:tcPr>
                </a:tc>
                <a:tc>
                  <a:txBody>
                    <a:bodyPr/>
                    <a:lstStyle/>
                    <a:p>
                      <a:pPr>
                        <a:buNone/>
                      </a:pPr>
                      <a:r>
                        <a:rPr lang="en-IN"/>
                        <a:t>Easy Memory</a:t>
                      </a:r>
                    </a:p>
                  </a:txBody>
                  <a:tcPr anchor="ctr">
                    <a:lnL>
                      <a:noFill/>
                    </a:lnL>
                    <a:lnR>
                      <a:noFill/>
                    </a:lnR>
                    <a:lnT>
                      <a:noFill/>
                    </a:lnT>
                    <a:lnB>
                      <a:noFill/>
                    </a:lnB>
                    <a:noFill/>
                  </a:tcPr>
                </a:tc>
                <a:extLst>
                  <a:ext uri="{0D108BD9-81ED-4DB2-BD59-A6C34878D82A}">
                    <a16:rowId xmlns:a16="http://schemas.microsoft.com/office/drawing/2014/main" val="1818580248"/>
                  </a:ext>
                </a:extLst>
              </a:tr>
              <a:tr h="0">
                <a:tc>
                  <a:txBody>
                    <a:bodyPr/>
                    <a:lstStyle/>
                    <a:p>
                      <a:pPr>
                        <a:buNone/>
                      </a:pPr>
                      <a:r>
                        <a:rPr lang="en-IN" dirty="0"/>
                        <a:t>Barrel Distortion</a:t>
                      </a:r>
                    </a:p>
                  </a:txBody>
                  <a:tcPr anchor="ctr">
                    <a:lnL>
                      <a:noFill/>
                    </a:lnL>
                    <a:lnR>
                      <a:noFill/>
                    </a:lnR>
                    <a:lnT>
                      <a:noFill/>
                    </a:lnT>
                    <a:lnB>
                      <a:noFill/>
                    </a:lnB>
                    <a:noFill/>
                  </a:tcPr>
                </a:tc>
                <a:tc>
                  <a:txBody>
                    <a:bodyPr/>
                    <a:lstStyle/>
                    <a:p>
                      <a:pPr>
                        <a:buNone/>
                      </a:pPr>
                      <a:r>
                        <a:rPr lang="en-IN"/>
                        <a:t>Edges curve </a:t>
                      </a:r>
                      <a:r>
                        <a:rPr lang="en-IN" b="1"/>
                        <a:t>outward</a:t>
                      </a:r>
                      <a:endParaRPr lang="en-IN"/>
                    </a:p>
                  </a:txBody>
                  <a:tcPr anchor="ctr">
                    <a:lnL>
                      <a:noFill/>
                    </a:lnL>
                    <a:lnR>
                      <a:noFill/>
                    </a:lnR>
                    <a:lnT>
                      <a:noFill/>
                    </a:lnT>
                    <a:lnB>
                      <a:noFill/>
                    </a:lnB>
                    <a:noFill/>
                  </a:tcPr>
                </a:tc>
                <a:tc>
                  <a:txBody>
                    <a:bodyPr/>
                    <a:lstStyle/>
                    <a:p>
                      <a:pPr>
                        <a:buNone/>
                      </a:pPr>
                      <a:r>
                        <a:rPr lang="en-IN"/>
                        <a:t>Balloon expands</a:t>
                      </a:r>
                    </a:p>
                  </a:txBody>
                  <a:tcPr anchor="ctr">
                    <a:lnL>
                      <a:noFill/>
                    </a:lnL>
                    <a:lnR>
                      <a:noFill/>
                    </a:lnR>
                    <a:lnT>
                      <a:noFill/>
                    </a:lnT>
                    <a:lnB>
                      <a:noFill/>
                    </a:lnB>
                    <a:noFill/>
                  </a:tcPr>
                </a:tc>
                <a:extLst>
                  <a:ext uri="{0D108BD9-81ED-4DB2-BD59-A6C34878D82A}">
                    <a16:rowId xmlns:a16="http://schemas.microsoft.com/office/drawing/2014/main" val="3887016988"/>
                  </a:ext>
                </a:extLst>
              </a:tr>
              <a:tr h="0">
                <a:tc>
                  <a:txBody>
                    <a:bodyPr/>
                    <a:lstStyle/>
                    <a:p>
                      <a:pPr>
                        <a:buNone/>
                      </a:pPr>
                      <a:r>
                        <a:rPr lang="en-IN" dirty="0"/>
                        <a:t> Pincushion Distortion</a:t>
                      </a:r>
                    </a:p>
                  </a:txBody>
                  <a:tcPr anchor="ctr">
                    <a:lnL>
                      <a:noFill/>
                    </a:lnL>
                    <a:lnR>
                      <a:noFill/>
                    </a:lnR>
                    <a:lnT>
                      <a:noFill/>
                    </a:lnT>
                    <a:lnB>
                      <a:noFill/>
                    </a:lnB>
                    <a:noFill/>
                  </a:tcPr>
                </a:tc>
                <a:tc>
                  <a:txBody>
                    <a:bodyPr/>
                    <a:lstStyle/>
                    <a:p>
                      <a:pPr>
                        <a:buNone/>
                      </a:pPr>
                      <a:r>
                        <a:rPr lang="en-IN"/>
                        <a:t>Edges curve </a:t>
                      </a:r>
                      <a:r>
                        <a:rPr lang="en-IN" b="1"/>
                        <a:t>inward</a:t>
                      </a:r>
                      <a:endParaRPr lang="en-IN"/>
                    </a:p>
                  </a:txBody>
                  <a:tcPr anchor="ctr">
                    <a:lnL>
                      <a:noFill/>
                    </a:lnL>
                    <a:lnR>
                      <a:noFill/>
                    </a:lnR>
                    <a:lnT>
                      <a:noFill/>
                    </a:lnT>
                    <a:lnB>
                      <a:noFill/>
                    </a:lnB>
                    <a:noFill/>
                  </a:tcPr>
                </a:tc>
                <a:tc>
                  <a:txBody>
                    <a:bodyPr/>
                    <a:lstStyle/>
                    <a:p>
                      <a:pPr>
                        <a:buNone/>
                      </a:pPr>
                      <a:r>
                        <a:rPr lang="en-IN" dirty="0"/>
                        <a:t>Pin pulls inward</a:t>
                      </a:r>
                    </a:p>
                  </a:txBody>
                  <a:tcPr anchor="ctr">
                    <a:lnL>
                      <a:noFill/>
                    </a:lnL>
                    <a:lnR>
                      <a:noFill/>
                    </a:lnR>
                    <a:lnT>
                      <a:noFill/>
                    </a:lnT>
                    <a:lnB>
                      <a:noFill/>
                    </a:lnB>
                    <a:noFill/>
                  </a:tcPr>
                </a:tc>
                <a:extLst>
                  <a:ext uri="{0D108BD9-81ED-4DB2-BD59-A6C34878D82A}">
                    <a16:rowId xmlns:a16="http://schemas.microsoft.com/office/drawing/2014/main" val="486247681"/>
                  </a:ext>
                </a:extLst>
              </a:tr>
            </a:tbl>
          </a:graphicData>
        </a:graphic>
      </p:graphicFrame>
    </p:spTree>
    <p:extLst>
      <p:ext uri="{BB962C8B-B14F-4D97-AF65-F5344CB8AC3E}">
        <p14:creationId xmlns:p14="http://schemas.microsoft.com/office/powerpoint/2010/main" val="244949363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4EA4-D77A-BA84-CA47-42D57E0B6CA6}"/>
              </a:ext>
            </a:extLst>
          </p:cNvPr>
          <p:cNvSpPr>
            <a:spLocks noGrp="1"/>
          </p:cNvSpPr>
          <p:nvPr>
            <p:ph type="title"/>
          </p:nvPr>
        </p:nvSpPr>
        <p:spPr/>
        <p:txBody>
          <a:bodyPr/>
          <a:lstStyle/>
          <a:p>
            <a:r>
              <a:rPr lang="en-IN" dirty="0"/>
              <a:t>Lens Distortion</a:t>
            </a:r>
          </a:p>
        </p:txBody>
      </p:sp>
      <p:sp>
        <p:nvSpPr>
          <p:cNvPr id="3" name="Content Placeholder 2">
            <a:extLst>
              <a:ext uri="{FF2B5EF4-FFF2-40B4-BE49-F238E27FC236}">
                <a16:creationId xmlns:a16="http://schemas.microsoft.com/office/drawing/2014/main" id="{EBBE551D-FABB-D3BF-42F5-11DF85549106}"/>
              </a:ext>
            </a:extLst>
          </p:cNvPr>
          <p:cNvSpPr>
            <a:spLocks noGrp="1"/>
          </p:cNvSpPr>
          <p:nvPr>
            <p:ph idx="1"/>
          </p:nvPr>
        </p:nvSpPr>
        <p:spPr/>
        <p:txBody>
          <a:bodyPr/>
          <a:lstStyle/>
          <a:p>
            <a:r>
              <a:rPr lang="en-IN" dirty="0"/>
              <a:t>Real lenses are imperfect.</a:t>
            </a:r>
          </a:p>
          <a:p>
            <a:r>
              <a:rPr lang="en-IN" dirty="0"/>
              <a:t>Straight lines may appear curved.</a:t>
            </a:r>
          </a:p>
          <a:p>
            <a:r>
              <a:rPr lang="en-IN" dirty="0"/>
              <a:t>Barrel Distortion</a:t>
            </a:r>
          </a:p>
          <a:p>
            <a:pPr lvl="1"/>
            <a:r>
              <a:rPr lang="en-IN" dirty="0"/>
              <a:t>Image bulges outward.</a:t>
            </a:r>
          </a:p>
          <a:p>
            <a:r>
              <a:rPr lang="en-IN" dirty="0"/>
              <a:t>Pincushion Distortion</a:t>
            </a:r>
          </a:p>
          <a:p>
            <a:pPr lvl="1"/>
            <a:r>
              <a:rPr lang="en-IN" dirty="0"/>
              <a:t>Image bends inward.</a:t>
            </a:r>
          </a:p>
        </p:txBody>
      </p:sp>
    </p:spTree>
    <p:extLst>
      <p:ext uri="{BB962C8B-B14F-4D97-AF65-F5344CB8AC3E}">
        <p14:creationId xmlns:p14="http://schemas.microsoft.com/office/powerpoint/2010/main" val="139764833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57EC4-1021-CF81-1DE6-727119E7318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91FEE9A-E1A9-0BC8-546F-DA20670BFD09}"/>
              </a:ext>
            </a:extLst>
          </p:cNvPr>
          <p:cNvPicPr>
            <a:picLocks noGrp="1" noChangeAspect="1"/>
          </p:cNvPicPr>
          <p:nvPr>
            <p:ph idx="1"/>
          </p:nvPr>
        </p:nvPicPr>
        <p:blipFill>
          <a:blip r:embed="rId2"/>
          <a:stretch>
            <a:fillRect/>
          </a:stretch>
        </p:blipFill>
        <p:spPr>
          <a:xfrm>
            <a:off x="2110517" y="1825625"/>
            <a:ext cx="7970966" cy="4351338"/>
          </a:xfrm>
          <a:prstGeom prst="rect">
            <a:avLst/>
          </a:prstGeom>
        </p:spPr>
      </p:pic>
    </p:spTree>
    <p:extLst>
      <p:ext uri="{BB962C8B-B14F-4D97-AF65-F5344CB8AC3E}">
        <p14:creationId xmlns:p14="http://schemas.microsoft.com/office/powerpoint/2010/main" val="109049837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B934-360B-E84E-A48A-194DAECCFB60}"/>
              </a:ext>
            </a:extLst>
          </p:cNvPr>
          <p:cNvSpPr>
            <a:spLocks noGrp="1"/>
          </p:cNvSpPr>
          <p:nvPr>
            <p:ph type="title"/>
          </p:nvPr>
        </p:nvSpPr>
        <p:spPr/>
        <p:txBody>
          <a:bodyPr/>
          <a:lstStyle/>
          <a:p>
            <a:r>
              <a:rPr lang="en-IN" dirty="0"/>
              <a:t>Types of Camera Models</a:t>
            </a:r>
          </a:p>
        </p:txBody>
      </p:sp>
      <p:sp>
        <p:nvSpPr>
          <p:cNvPr id="3" name="Content Placeholder 2">
            <a:extLst>
              <a:ext uri="{FF2B5EF4-FFF2-40B4-BE49-F238E27FC236}">
                <a16:creationId xmlns:a16="http://schemas.microsoft.com/office/drawing/2014/main" id="{C710401B-C241-D3E7-FF4F-0B00BBE8CD64}"/>
              </a:ext>
            </a:extLst>
          </p:cNvPr>
          <p:cNvSpPr>
            <a:spLocks noGrp="1"/>
          </p:cNvSpPr>
          <p:nvPr>
            <p:ph idx="1"/>
          </p:nvPr>
        </p:nvSpPr>
        <p:spPr/>
        <p:txBody>
          <a:bodyPr>
            <a:normAutofit/>
          </a:bodyPr>
          <a:lstStyle/>
          <a:p>
            <a:r>
              <a:rPr lang="en-IN" b="1" dirty="0"/>
              <a:t>1. Pinhole Camera Model</a:t>
            </a:r>
          </a:p>
          <a:p>
            <a:r>
              <a:rPr lang="en-IN" dirty="0"/>
              <a:t>Most common.</a:t>
            </a:r>
            <a:br>
              <a:rPr lang="en-IN" dirty="0"/>
            </a:br>
            <a:endParaRPr lang="en-IN" dirty="0"/>
          </a:p>
          <a:p>
            <a:r>
              <a:rPr lang="en-IN" b="1" dirty="0"/>
              <a:t>2. Perspective Camera Model</a:t>
            </a:r>
          </a:p>
          <a:p>
            <a:r>
              <a:rPr lang="en-IN" dirty="0"/>
              <a:t>Uses perspective projection.</a:t>
            </a:r>
            <a:br>
              <a:rPr lang="en-IN" dirty="0"/>
            </a:br>
            <a:endParaRPr lang="en-IN" dirty="0"/>
          </a:p>
          <a:p>
            <a:r>
              <a:rPr lang="en-IN" b="1" dirty="0"/>
              <a:t>3. Orthographic Camera Model</a:t>
            </a:r>
          </a:p>
          <a:p>
            <a:r>
              <a:rPr lang="en-IN" dirty="0"/>
              <a:t>No depth effect.</a:t>
            </a:r>
          </a:p>
          <a:p>
            <a:r>
              <a:rPr lang="en-IN" dirty="0"/>
              <a:t>Used in engineering.</a:t>
            </a:r>
          </a:p>
          <a:p>
            <a:endParaRPr lang="en-IN" dirty="0"/>
          </a:p>
        </p:txBody>
      </p:sp>
    </p:spTree>
    <p:extLst>
      <p:ext uri="{BB962C8B-B14F-4D97-AF65-F5344CB8AC3E}">
        <p14:creationId xmlns:p14="http://schemas.microsoft.com/office/powerpoint/2010/main" val="11063455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3C1B-D783-0327-875C-5B069ADD4DD5}"/>
              </a:ext>
            </a:extLst>
          </p:cNvPr>
          <p:cNvSpPr>
            <a:spLocks noGrp="1"/>
          </p:cNvSpPr>
          <p:nvPr>
            <p:ph type="title"/>
          </p:nvPr>
        </p:nvSpPr>
        <p:spPr/>
        <p:txBody>
          <a:bodyPr/>
          <a:lstStyle/>
          <a:p>
            <a:r>
              <a:rPr lang="en-IN" dirty="0"/>
              <a:t>Multiple View Geometry</a:t>
            </a:r>
          </a:p>
        </p:txBody>
      </p:sp>
      <p:sp>
        <p:nvSpPr>
          <p:cNvPr id="3" name="Content Placeholder 2">
            <a:extLst>
              <a:ext uri="{FF2B5EF4-FFF2-40B4-BE49-F238E27FC236}">
                <a16:creationId xmlns:a16="http://schemas.microsoft.com/office/drawing/2014/main" id="{AD7C3D2E-1D9A-B180-EEE9-8897033569A0}"/>
              </a:ext>
            </a:extLst>
          </p:cNvPr>
          <p:cNvSpPr>
            <a:spLocks noGrp="1"/>
          </p:cNvSpPr>
          <p:nvPr>
            <p:ph idx="1"/>
          </p:nvPr>
        </p:nvSpPr>
        <p:spPr/>
        <p:txBody>
          <a:bodyPr/>
          <a:lstStyle/>
          <a:p>
            <a:r>
              <a:rPr lang="en-IN" dirty="0" err="1"/>
              <a:t>magine</a:t>
            </a:r>
            <a:r>
              <a:rPr lang="en-IN" dirty="0"/>
              <a:t> you have a </a:t>
            </a:r>
            <a:r>
              <a:rPr lang="en-IN" b="1" dirty="0"/>
              <a:t>toy car</a:t>
            </a:r>
            <a:r>
              <a:rPr lang="en-IN" dirty="0"/>
              <a:t>.</a:t>
            </a:r>
          </a:p>
          <a:p>
            <a:r>
              <a:rPr lang="en-IN" dirty="0"/>
              <a:t>You take </a:t>
            </a:r>
            <a:r>
              <a:rPr lang="en-IN" b="1" dirty="0"/>
              <a:t>one photo</a:t>
            </a:r>
            <a:r>
              <a:rPr lang="en-IN" dirty="0"/>
              <a:t> from the front and </a:t>
            </a:r>
            <a:r>
              <a:rPr lang="en-IN" b="1" dirty="0"/>
              <a:t>another photo</a:t>
            </a:r>
            <a:r>
              <a:rPr lang="en-IN" dirty="0"/>
              <a:t> from the side.</a:t>
            </a:r>
          </a:p>
          <a:p>
            <a:r>
              <a:rPr lang="en-IN" dirty="0"/>
              <a:t>From just </a:t>
            </a:r>
            <a:r>
              <a:rPr lang="en-IN" b="1" dirty="0"/>
              <a:t>one picture</a:t>
            </a:r>
            <a:r>
              <a:rPr lang="en-IN" dirty="0"/>
              <a:t>, you cannot know the car's </a:t>
            </a:r>
            <a:r>
              <a:rPr lang="en-IN" b="1" dirty="0"/>
              <a:t>real depth</a:t>
            </a:r>
            <a:r>
              <a:rPr lang="en-IN" dirty="0"/>
              <a:t>.</a:t>
            </a:r>
          </a:p>
          <a:p>
            <a:r>
              <a:rPr lang="en-IN" dirty="0"/>
              <a:t>But with </a:t>
            </a:r>
            <a:r>
              <a:rPr lang="en-IN" b="1" dirty="0"/>
              <a:t>multiple pictures</a:t>
            </a:r>
            <a:r>
              <a:rPr lang="en-IN" dirty="0"/>
              <a:t>, your brain can understand its </a:t>
            </a:r>
            <a:r>
              <a:rPr lang="en-IN" b="1" dirty="0"/>
              <a:t>3D shape</a:t>
            </a:r>
            <a:r>
              <a:rPr lang="en-IN" dirty="0"/>
              <a:t>.</a:t>
            </a:r>
          </a:p>
          <a:p>
            <a:r>
              <a:rPr lang="en-IN" dirty="0"/>
              <a:t>This is exactly what </a:t>
            </a:r>
            <a:r>
              <a:rPr lang="en-IN" b="1" dirty="0"/>
              <a:t>Multiple View Geometry</a:t>
            </a:r>
            <a:r>
              <a:rPr lang="en-IN" dirty="0"/>
              <a:t> does.</a:t>
            </a:r>
          </a:p>
          <a:p>
            <a:endParaRPr lang="en-IN" dirty="0"/>
          </a:p>
        </p:txBody>
      </p:sp>
    </p:spTree>
    <p:extLst>
      <p:ext uri="{BB962C8B-B14F-4D97-AF65-F5344CB8AC3E}">
        <p14:creationId xmlns:p14="http://schemas.microsoft.com/office/powerpoint/2010/main" val="253144330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41D4-CAD4-7B93-727C-BC98995450D5}"/>
              </a:ext>
            </a:extLst>
          </p:cNvPr>
          <p:cNvSpPr>
            <a:spLocks noGrp="1"/>
          </p:cNvSpPr>
          <p:nvPr>
            <p:ph type="title"/>
          </p:nvPr>
        </p:nvSpPr>
        <p:spPr/>
        <p:txBody>
          <a:bodyPr/>
          <a:lstStyle/>
          <a:p>
            <a:r>
              <a:rPr lang="en-IN" dirty="0"/>
              <a:t>What is Multiple View Geometry?</a:t>
            </a:r>
          </a:p>
        </p:txBody>
      </p:sp>
      <p:sp>
        <p:nvSpPr>
          <p:cNvPr id="3" name="Content Placeholder 2">
            <a:extLst>
              <a:ext uri="{FF2B5EF4-FFF2-40B4-BE49-F238E27FC236}">
                <a16:creationId xmlns:a16="http://schemas.microsoft.com/office/drawing/2014/main" id="{4AA2BD25-AD53-A081-6CDF-977F1298F41E}"/>
              </a:ext>
            </a:extLst>
          </p:cNvPr>
          <p:cNvSpPr>
            <a:spLocks noGrp="1"/>
          </p:cNvSpPr>
          <p:nvPr>
            <p:ph idx="1"/>
          </p:nvPr>
        </p:nvSpPr>
        <p:spPr/>
        <p:txBody>
          <a:bodyPr/>
          <a:lstStyle/>
          <a:p>
            <a:r>
              <a:rPr lang="en-IN" dirty="0"/>
              <a:t>Multiple View Geometry is the process of using two or more images of the same object taken from different positions to understand its 3D shape and location.</a:t>
            </a:r>
          </a:p>
          <a:p>
            <a:r>
              <a:rPr lang="en-IN" dirty="0"/>
              <a:t>Think about your own eyes.</a:t>
            </a:r>
          </a:p>
          <a:p>
            <a:r>
              <a:rPr lang="en-IN" dirty="0"/>
              <a:t>👁 Left Eye</a:t>
            </a:r>
          </a:p>
          <a:p>
            <a:r>
              <a:rPr lang="en-IN" dirty="0"/>
              <a:t>👁 Right Eye</a:t>
            </a:r>
          </a:p>
          <a:p>
            <a:r>
              <a:rPr lang="en-IN" dirty="0"/>
              <a:t>Both see the same object from slightly different positions.</a:t>
            </a:r>
          </a:p>
          <a:p>
            <a:endParaRPr lang="en-IN" dirty="0"/>
          </a:p>
        </p:txBody>
      </p:sp>
    </p:spTree>
    <p:extLst>
      <p:ext uri="{BB962C8B-B14F-4D97-AF65-F5344CB8AC3E}">
        <p14:creationId xmlns:p14="http://schemas.microsoft.com/office/powerpoint/2010/main" val="248165026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F9355-91C5-C89C-D79C-977ADC9B2072}"/>
              </a:ext>
            </a:extLst>
          </p:cNvPr>
          <p:cNvSpPr>
            <a:spLocks noGrp="1"/>
          </p:cNvSpPr>
          <p:nvPr>
            <p:ph idx="1"/>
          </p:nvPr>
        </p:nvSpPr>
        <p:spPr/>
        <p:txBody>
          <a:bodyPr/>
          <a:lstStyle/>
          <a:p>
            <a:r>
              <a:rPr lang="en-IN" dirty="0"/>
              <a:t>Your brain combines both images and understands</a:t>
            </a:r>
          </a:p>
          <a:p>
            <a:r>
              <a:rPr lang="en-IN" dirty="0"/>
              <a:t>Distance </a:t>
            </a:r>
          </a:p>
          <a:p>
            <a:r>
              <a:rPr lang="en-IN" dirty="0"/>
              <a:t>Depth </a:t>
            </a:r>
          </a:p>
          <a:p>
            <a:r>
              <a:rPr lang="en-IN" dirty="0"/>
              <a:t>Shape </a:t>
            </a:r>
          </a:p>
          <a:p>
            <a:r>
              <a:rPr lang="en-IN" dirty="0"/>
              <a:t>Computer Vision does the same thing with cameras.</a:t>
            </a:r>
          </a:p>
          <a:p>
            <a:endParaRPr lang="en-IN" dirty="0"/>
          </a:p>
        </p:txBody>
      </p:sp>
    </p:spTree>
    <p:extLst>
      <p:ext uri="{BB962C8B-B14F-4D97-AF65-F5344CB8AC3E}">
        <p14:creationId xmlns:p14="http://schemas.microsoft.com/office/powerpoint/2010/main" val="134477391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7018-D3D4-2E54-19D7-3A552D1D5628}"/>
              </a:ext>
            </a:extLst>
          </p:cNvPr>
          <p:cNvSpPr>
            <a:spLocks noGrp="1"/>
          </p:cNvSpPr>
          <p:nvPr>
            <p:ph type="title"/>
          </p:nvPr>
        </p:nvSpPr>
        <p:spPr/>
        <p:txBody>
          <a:bodyPr/>
          <a:lstStyle/>
          <a:p>
            <a:r>
              <a:rPr lang="en-IN" dirty="0"/>
              <a:t>Example 1 – Looking at a Ball</a:t>
            </a:r>
          </a:p>
        </p:txBody>
      </p:sp>
      <p:sp>
        <p:nvSpPr>
          <p:cNvPr id="3" name="Content Placeholder 2">
            <a:extLst>
              <a:ext uri="{FF2B5EF4-FFF2-40B4-BE49-F238E27FC236}">
                <a16:creationId xmlns:a16="http://schemas.microsoft.com/office/drawing/2014/main" id="{B0AC3600-8918-D85B-0CC1-1D29064D7BF0}"/>
              </a:ext>
            </a:extLst>
          </p:cNvPr>
          <p:cNvSpPr>
            <a:spLocks noGrp="1"/>
          </p:cNvSpPr>
          <p:nvPr>
            <p:ph idx="1"/>
          </p:nvPr>
        </p:nvSpPr>
        <p:spPr/>
        <p:txBody>
          <a:bodyPr/>
          <a:lstStyle/>
          <a:p>
            <a:r>
              <a:rPr lang="en-IN" dirty="0"/>
              <a:t>Suppose a football is on the ground.</a:t>
            </a:r>
          </a:p>
          <a:p>
            <a:r>
              <a:rPr lang="en-IN" dirty="0"/>
              <a:t>Camera A</a:t>
            </a:r>
          </a:p>
          <a:p>
            <a:pPr marL="0" indent="0">
              <a:buNone/>
            </a:pPr>
            <a:r>
              <a:rPr lang="en-IN" dirty="0"/>
              <a:t>C</a:t>
            </a:r>
          </a:p>
          <a:p>
            <a:pPr marL="0" indent="0">
              <a:buNone/>
            </a:pPr>
            <a:r>
              <a:rPr lang="en-IN" dirty="0"/>
              <a:t> \</a:t>
            </a:r>
          </a:p>
          <a:p>
            <a:pPr marL="0" indent="0">
              <a:buNone/>
            </a:pPr>
            <a:r>
              <a:rPr lang="en-IN" dirty="0"/>
              <a:t>  \</a:t>
            </a:r>
          </a:p>
          <a:p>
            <a:pPr marL="0" indent="0">
              <a:buNone/>
            </a:pPr>
            <a:r>
              <a:rPr lang="en-IN" dirty="0"/>
              <a:t>   B</a:t>
            </a:r>
          </a:p>
        </p:txBody>
      </p:sp>
    </p:spTree>
    <p:extLst>
      <p:ext uri="{BB962C8B-B14F-4D97-AF65-F5344CB8AC3E}">
        <p14:creationId xmlns:p14="http://schemas.microsoft.com/office/powerpoint/2010/main" val="292372336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74DE0-2315-26F0-91E5-3AFD2EECDD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CF8D09-A20D-F1D0-7240-A892BD9FE801}"/>
              </a:ext>
            </a:extLst>
          </p:cNvPr>
          <p:cNvSpPr>
            <a:spLocks noGrp="1"/>
          </p:cNvSpPr>
          <p:nvPr>
            <p:ph idx="1"/>
          </p:nvPr>
        </p:nvSpPr>
        <p:spPr/>
        <p:txBody>
          <a:bodyPr/>
          <a:lstStyle/>
          <a:p>
            <a:r>
              <a:rPr lang="en-IN" dirty="0"/>
              <a:t>Camera B</a:t>
            </a:r>
          </a:p>
          <a:p>
            <a:pPr marL="0" indent="0">
              <a:buNone/>
            </a:pPr>
            <a:r>
              <a:rPr lang="en-IN" dirty="0"/>
              <a:t> C</a:t>
            </a:r>
          </a:p>
          <a:p>
            <a:pPr marL="0" indent="0">
              <a:buNone/>
            </a:pPr>
            <a:r>
              <a:rPr lang="en-IN" dirty="0"/>
              <a:t>      /</a:t>
            </a:r>
          </a:p>
          <a:p>
            <a:pPr marL="0" indent="0">
              <a:buNone/>
            </a:pPr>
            <a:r>
              <a:rPr lang="en-IN" dirty="0"/>
              <a:t>     /</a:t>
            </a:r>
          </a:p>
          <a:p>
            <a:pPr marL="0" indent="0">
              <a:buNone/>
            </a:pPr>
            <a:r>
              <a:rPr lang="en-IN" dirty="0"/>
              <a:t>    B</a:t>
            </a:r>
          </a:p>
        </p:txBody>
      </p:sp>
    </p:spTree>
    <p:extLst>
      <p:ext uri="{BB962C8B-B14F-4D97-AF65-F5344CB8AC3E}">
        <p14:creationId xmlns:p14="http://schemas.microsoft.com/office/powerpoint/2010/main" val="87116382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8DEFF-C719-9551-C0DA-A62EACE532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E52649-1E1F-87E0-59D8-6160BB7A7C7D}"/>
              </a:ext>
            </a:extLst>
          </p:cNvPr>
          <p:cNvSpPr>
            <a:spLocks noGrp="1"/>
          </p:cNvSpPr>
          <p:nvPr>
            <p:ph idx="1"/>
          </p:nvPr>
        </p:nvSpPr>
        <p:spPr/>
        <p:txBody>
          <a:bodyPr/>
          <a:lstStyle/>
          <a:p>
            <a:r>
              <a:rPr lang="en-IN" dirty="0"/>
              <a:t>Each camera sees the ball from a different angle.</a:t>
            </a:r>
          </a:p>
          <a:p>
            <a:r>
              <a:rPr lang="en-IN" dirty="0"/>
              <a:t>Neither camera alone knows exactly where the ball is.</a:t>
            </a:r>
          </a:p>
          <a:p>
            <a:r>
              <a:rPr lang="en-IN" dirty="0"/>
              <a:t>When both images are combined,</a:t>
            </a:r>
          </a:p>
          <a:p>
            <a:r>
              <a:rPr lang="en-IN" dirty="0"/>
              <a:t>Computer Vision finds the exact 3D position.</a:t>
            </a:r>
          </a:p>
          <a:p>
            <a:endParaRPr lang="en-IN" dirty="0"/>
          </a:p>
        </p:txBody>
      </p:sp>
    </p:spTree>
    <p:extLst>
      <p:ext uri="{BB962C8B-B14F-4D97-AF65-F5344CB8AC3E}">
        <p14:creationId xmlns:p14="http://schemas.microsoft.com/office/powerpoint/2010/main" val="299313951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76BE-B7AF-D7C0-644B-FB98BB514CBC}"/>
              </a:ext>
            </a:extLst>
          </p:cNvPr>
          <p:cNvSpPr>
            <a:spLocks noGrp="1"/>
          </p:cNvSpPr>
          <p:nvPr>
            <p:ph type="title"/>
          </p:nvPr>
        </p:nvSpPr>
        <p:spPr/>
        <p:txBody>
          <a:bodyPr/>
          <a:lstStyle/>
          <a:p>
            <a:r>
              <a:rPr lang="en-IN" dirty="0"/>
              <a:t>Real-Life Example </a:t>
            </a:r>
          </a:p>
        </p:txBody>
      </p:sp>
      <p:sp>
        <p:nvSpPr>
          <p:cNvPr id="3" name="Content Placeholder 2">
            <a:extLst>
              <a:ext uri="{FF2B5EF4-FFF2-40B4-BE49-F238E27FC236}">
                <a16:creationId xmlns:a16="http://schemas.microsoft.com/office/drawing/2014/main" id="{73458738-B260-967B-F416-F483A6DAF008}"/>
              </a:ext>
            </a:extLst>
          </p:cNvPr>
          <p:cNvSpPr>
            <a:spLocks noGrp="1"/>
          </p:cNvSpPr>
          <p:nvPr>
            <p:ph idx="1"/>
          </p:nvPr>
        </p:nvSpPr>
        <p:spPr/>
        <p:txBody>
          <a:bodyPr/>
          <a:lstStyle/>
          <a:p>
            <a:r>
              <a:rPr lang="en-IN" dirty="0"/>
              <a:t>Self-driving cars use</a:t>
            </a:r>
          </a:p>
          <a:p>
            <a:r>
              <a:rPr lang="en-IN" dirty="0"/>
              <a:t>Front camera </a:t>
            </a:r>
          </a:p>
          <a:p>
            <a:r>
              <a:rPr lang="en-IN" dirty="0"/>
              <a:t>Left camera </a:t>
            </a:r>
          </a:p>
          <a:p>
            <a:r>
              <a:rPr lang="en-IN" dirty="0"/>
              <a:t>Right camera</a:t>
            </a:r>
          </a:p>
          <a:p>
            <a:endParaRPr lang="en-IN" dirty="0"/>
          </a:p>
        </p:txBody>
      </p:sp>
      <p:pic>
        <p:nvPicPr>
          <p:cNvPr id="4" name="Picture 3" descr="https://images.openai.com/static-rsc-4/WnkIscSbICYK72zY0T1s85FcJBSpIO30sdvnGKty0OC_iebPer4wwPsFjwy6u037eDnfJbS9E0wJF08YEgElXUdKeiUe8A5XZmTg7LpzLR5_qMzraCI1ONVpgHlMO9vXZuDkvTnsRKiPMWSlwFgPtew7xnJ3-V_GfTfBLvP_TzKTSPtRHvGI_GWHcmmq66vO?purpose=fullsize">
            <a:extLst>
              <a:ext uri="{FF2B5EF4-FFF2-40B4-BE49-F238E27FC236}">
                <a16:creationId xmlns:a16="http://schemas.microsoft.com/office/drawing/2014/main" id="{FF35CC1F-B794-9DB6-8DA2-FA3C19A11671}"/>
              </a:ext>
            </a:extLst>
          </p:cNvPr>
          <p:cNvPicPr>
            <a:picLocks noChangeAspect="1"/>
          </p:cNvPicPr>
          <p:nvPr/>
        </p:nvPicPr>
        <p:blipFill>
          <a:blip r:embed="rId2"/>
          <a:stretch>
            <a:fillRect/>
          </a:stretch>
        </p:blipFill>
        <p:spPr>
          <a:xfrm>
            <a:off x="6430108" y="879229"/>
            <a:ext cx="4572000" cy="4539029"/>
          </a:xfrm>
          <a:prstGeom prst="rect">
            <a:avLst/>
          </a:prstGeom>
        </p:spPr>
      </p:pic>
    </p:spTree>
    <p:extLst>
      <p:ext uri="{BB962C8B-B14F-4D97-AF65-F5344CB8AC3E}">
        <p14:creationId xmlns:p14="http://schemas.microsoft.com/office/powerpoint/2010/main" val="323919149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2FF6-F0C0-FC2A-0F75-DAB12DC20F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B200DB-9D3D-4891-D82D-B9C24DA8BE63}"/>
              </a:ext>
            </a:extLst>
          </p:cNvPr>
          <p:cNvSpPr>
            <a:spLocks noGrp="1"/>
          </p:cNvSpPr>
          <p:nvPr>
            <p:ph idx="1"/>
          </p:nvPr>
        </p:nvSpPr>
        <p:spPr/>
        <p:txBody>
          <a:bodyPr/>
          <a:lstStyle/>
          <a:p>
            <a:r>
              <a:rPr lang="en-IN" dirty="0"/>
              <a:t>ch camera captures a different view.</a:t>
            </a:r>
          </a:p>
          <a:p>
            <a:r>
              <a:rPr lang="en-IN" dirty="0"/>
              <a:t>The computer combines all the images.</a:t>
            </a:r>
          </a:p>
          <a:p>
            <a:r>
              <a:rPr lang="en-IN" dirty="0"/>
              <a:t>Now it knows</a:t>
            </a:r>
          </a:p>
          <a:p>
            <a:r>
              <a:rPr lang="en-IN" dirty="0"/>
              <a:t> Where the pedestrian is</a:t>
            </a:r>
          </a:p>
          <a:p>
            <a:r>
              <a:rPr lang="en-IN" dirty="0"/>
              <a:t>How far the car is</a:t>
            </a:r>
          </a:p>
          <a:p>
            <a:r>
              <a:rPr lang="en-IN" dirty="0"/>
              <a:t> Road shape</a:t>
            </a:r>
          </a:p>
          <a:p>
            <a:endParaRPr lang="en-IN" dirty="0"/>
          </a:p>
        </p:txBody>
      </p:sp>
    </p:spTree>
    <p:extLst>
      <p:ext uri="{BB962C8B-B14F-4D97-AF65-F5344CB8AC3E}">
        <p14:creationId xmlns:p14="http://schemas.microsoft.com/office/powerpoint/2010/main" val="206420740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47F2-A298-5112-2798-1813C3EE1264}"/>
              </a:ext>
            </a:extLst>
          </p:cNvPr>
          <p:cNvSpPr>
            <a:spLocks noGrp="1"/>
          </p:cNvSpPr>
          <p:nvPr>
            <p:ph type="title"/>
          </p:nvPr>
        </p:nvSpPr>
        <p:spPr/>
        <p:txBody>
          <a:bodyPr/>
          <a:lstStyle/>
          <a:p>
            <a:r>
              <a:rPr lang="en-IN" dirty="0"/>
              <a:t>Why is One Camera Not Enough?</a:t>
            </a:r>
          </a:p>
        </p:txBody>
      </p:sp>
      <p:sp>
        <p:nvSpPr>
          <p:cNvPr id="3" name="Content Placeholder 2">
            <a:extLst>
              <a:ext uri="{FF2B5EF4-FFF2-40B4-BE49-F238E27FC236}">
                <a16:creationId xmlns:a16="http://schemas.microsoft.com/office/drawing/2014/main" id="{4312FA16-4787-67A0-C51F-E549A76E0155}"/>
              </a:ext>
            </a:extLst>
          </p:cNvPr>
          <p:cNvSpPr>
            <a:spLocks noGrp="1"/>
          </p:cNvSpPr>
          <p:nvPr>
            <p:ph idx="1"/>
          </p:nvPr>
        </p:nvSpPr>
        <p:spPr/>
        <p:txBody>
          <a:bodyPr>
            <a:normAutofit lnSpcReduction="10000"/>
          </a:bodyPr>
          <a:lstStyle/>
          <a:p>
            <a:r>
              <a:rPr lang="en-IN" dirty="0"/>
              <a:t>Imagine this picture.</a:t>
            </a:r>
          </a:p>
          <a:p>
            <a:r>
              <a:rPr lang="en-IN" dirty="0"/>
              <a:t>Camera</a:t>
            </a:r>
          </a:p>
          <a:p>
            <a:endParaRPr lang="en-IN" dirty="0"/>
          </a:p>
          <a:p>
            <a:r>
              <a:rPr lang="en-IN" dirty="0"/>
              <a:t>Car</a:t>
            </a:r>
          </a:p>
          <a:p>
            <a:r>
              <a:rPr lang="en-IN" dirty="0"/>
              <a:t>The car looks close.</a:t>
            </a:r>
          </a:p>
          <a:p>
            <a:r>
              <a:rPr lang="en-IN" dirty="0"/>
              <a:t>But maybe</a:t>
            </a:r>
          </a:p>
          <a:p>
            <a:r>
              <a:rPr lang="en-IN" dirty="0"/>
              <a:t>Camera</a:t>
            </a:r>
          </a:p>
          <a:p>
            <a:endParaRPr lang="en-IN" dirty="0"/>
          </a:p>
          <a:p>
            <a:r>
              <a:rPr lang="en-IN" dirty="0"/>
              <a:t>        Car</a:t>
            </a:r>
          </a:p>
          <a:p>
            <a:endParaRPr lang="en-IN" dirty="0"/>
          </a:p>
        </p:txBody>
      </p:sp>
    </p:spTree>
    <p:extLst>
      <p:ext uri="{BB962C8B-B14F-4D97-AF65-F5344CB8AC3E}">
        <p14:creationId xmlns:p14="http://schemas.microsoft.com/office/powerpoint/2010/main" val="308769342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3251C-4A0B-1F2F-5982-DF19BC33A0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56AD3B-57C7-7795-F397-B52E51755829}"/>
              </a:ext>
            </a:extLst>
          </p:cNvPr>
          <p:cNvSpPr>
            <a:spLocks noGrp="1"/>
          </p:cNvSpPr>
          <p:nvPr>
            <p:ph idx="1"/>
          </p:nvPr>
        </p:nvSpPr>
        <p:spPr/>
        <p:txBody>
          <a:bodyPr/>
          <a:lstStyle/>
          <a:p>
            <a:r>
              <a:rPr lang="en-IN" dirty="0"/>
              <a:t>The car is actually far away.</a:t>
            </a:r>
          </a:p>
          <a:p>
            <a:r>
              <a:rPr lang="en-IN" dirty="0"/>
              <a:t>From one image,</a:t>
            </a:r>
          </a:p>
          <a:p>
            <a:r>
              <a:rPr lang="en-IN" dirty="0"/>
              <a:t>the computer </a:t>
            </a:r>
            <a:r>
              <a:rPr lang="en-IN" b="1" dirty="0"/>
              <a:t>cannot measure depth accurately</a:t>
            </a:r>
            <a:r>
              <a:rPr lang="en-IN" dirty="0"/>
              <a:t>.</a:t>
            </a:r>
          </a:p>
        </p:txBody>
      </p:sp>
    </p:spTree>
    <p:extLst>
      <p:ext uri="{BB962C8B-B14F-4D97-AF65-F5344CB8AC3E}">
        <p14:creationId xmlns:p14="http://schemas.microsoft.com/office/powerpoint/2010/main" val="182513689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26F0D-AC77-2C9A-8B89-65B250F71A91}"/>
              </a:ext>
            </a:extLst>
          </p:cNvPr>
          <p:cNvSpPr>
            <a:spLocks noGrp="1"/>
          </p:cNvSpPr>
          <p:nvPr>
            <p:ph type="title"/>
          </p:nvPr>
        </p:nvSpPr>
        <p:spPr/>
        <p:txBody>
          <a:bodyPr>
            <a:normAutofit fontScale="90000"/>
          </a:bodyPr>
          <a:lstStyle/>
          <a:p>
            <a:br>
              <a:rPr lang="en-IN" dirty="0"/>
            </a:br>
            <a:r>
              <a:rPr lang="en-IN" dirty="0"/>
              <a:t>Using Two Cameras</a:t>
            </a:r>
            <a:br>
              <a:rPr lang="en-IN" dirty="0"/>
            </a:br>
            <a:endParaRPr lang="en-IN" dirty="0"/>
          </a:p>
        </p:txBody>
      </p:sp>
      <p:sp>
        <p:nvSpPr>
          <p:cNvPr id="3" name="Content Placeholder 2">
            <a:extLst>
              <a:ext uri="{FF2B5EF4-FFF2-40B4-BE49-F238E27FC236}">
                <a16:creationId xmlns:a16="http://schemas.microsoft.com/office/drawing/2014/main" id="{1938EF33-19F3-A16D-3A57-95C4BF356A22}"/>
              </a:ext>
            </a:extLst>
          </p:cNvPr>
          <p:cNvSpPr>
            <a:spLocks noGrp="1"/>
          </p:cNvSpPr>
          <p:nvPr>
            <p:ph idx="1"/>
          </p:nvPr>
        </p:nvSpPr>
        <p:spPr/>
        <p:txBody>
          <a:bodyPr/>
          <a:lstStyle/>
          <a:p>
            <a:r>
              <a:rPr lang="it-IT" dirty="0"/>
              <a:t>Camera A  ----------- Car -----------  Camera B</a:t>
            </a:r>
          </a:p>
          <a:p>
            <a:r>
              <a:rPr lang="en-IN" dirty="0"/>
              <a:t>Now both cameras see the car.</a:t>
            </a:r>
          </a:p>
          <a:p>
            <a:r>
              <a:rPr lang="en-IN" dirty="0"/>
              <a:t>Because they see it from different positions,</a:t>
            </a:r>
          </a:p>
          <a:p>
            <a:r>
              <a:rPr lang="en-IN" dirty="0"/>
              <a:t>Computer Vision calculates</a:t>
            </a:r>
          </a:p>
          <a:p>
            <a:r>
              <a:rPr lang="en-IN" dirty="0"/>
              <a:t> Distance</a:t>
            </a:r>
          </a:p>
          <a:p>
            <a:r>
              <a:rPr lang="en-IN" dirty="0"/>
              <a:t> Height</a:t>
            </a:r>
          </a:p>
          <a:p>
            <a:r>
              <a:rPr lang="en-IN" dirty="0"/>
              <a:t> Width</a:t>
            </a:r>
          </a:p>
          <a:p>
            <a:r>
              <a:rPr lang="en-IN" dirty="0"/>
              <a:t>Position</a:t>
            </a:r>
          </a:p>
          <a:p>
            <a:endParaRPr lang="en-IN" dirty="0"/>
          </a:p>
        </p:txBody>
      </p:sp>
    </p:spTree>
    <p:extLst>
      <p:ext uri="{BB962C8B-B14F-4D97-AF65-F5344CB8AC3E}">
        <p14:creationId xmlns:p14="http://schemas.microsoft.com/office/powerpoint/2010/main" val="206835498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53D2D-B511-ADAC-628F-6CFDAABDA52C}"/>
              </a:ext>
            </a:extLst>
          </p:cNvPr>
          <p:cNvSpPr>
            <a:spLocks noGrp="1"/>
          </p:cNvSpPr>
          <p:nvPr>
            <p:ph type="title"/>
          </p:nvPr>
        </p:nvSpPr>
        <p:spPr/>
        <p:txBody>
          <a:bodyPr/>
          <a:lstStyle/>
          <a:p>
            <a:r>
              <a:rPr lang="en-IN" dirty="0"/>
              <a:t>Human Eyes Example </a:t>
            </a:r>
          </a:p>
        </p:txBody>
      </p:sp>
      <p:sp>
        <p:nvSpPr>
          <p:cNvPr id="3" name="Content Placeholder 2">
            <a:extLst>
              <a:ext uri="{FF2B5EF4-FFF2-40B4-BE49-F238E27FC236}">
                <a16:creationId xmlns:a16="http://schemas.microsoft.com/office/drawing/2014/main" id="{122AEE10-5843-0396-E0AE-8F9F43223DB6}"/>
              </a:ext>
            </a:extLst>
          </p:cNvPr>
          <p:cNvSpPr>
            <a:spLocks noGrp="1"/>
          </p:cNvSpPr>
          <p:nvPr>
            <p:ph idx="1"/>
          </p:nvPr>
        </p:nvSpPr>
        <p:spPr/>
        <p:txBody>
          <a:bodyPr>
            <a:normAutofit lnSpcReduction="10000"/>
          </a:bodyPr>
          <a:lstStyle/>
          <a:p>
            <a:r>
              <a:rPr lang="en-IN" dirty="0"/>
              <a:t>Your eyes are about </a:t>
            </a:r>
            <a:r>
              <a:rPr lang="en-IN" b="1" dirty="0"/>
              <a:t>6–7 cm apart</a:t>
            </a:r>
            <a:r>
              <a:rPr lang="en-IN" dirty="0"/>
              <a:t>.</a:t>
            </a:r>
          </a:p>
          <a:p>
            <a:r>
              <a:rPr lang="en-IN" dirty="0"/>
              <a:t>Left Eye</a:t>
            </a:r>
          </a:p>
          <a:p>
            <a:pPr marL="0" indent="0">
              <a:buNone/>
            </a:pPr>
            <a:r>
              <a:rPr lang="en-IN" dirty="0"/>
              <a:t>👁</a:t>
            </a:r>
          </a:p>
          <a:p>
            <a:pPr marL="0" indent="0">
              <a:buNone/>
            </a:pPr>
            <a:r>
              <a:rPr lang="en-IN" dirty="0"/>
              <a:t> \</a:t>
            </a:r>
          </a:p>
          <a:p>
            <a:pPr marL="0" indent="0">
              <a:buNone/>
            </a:pPr>
            <a:r>
              <a:rPr lang="en-IN" dirty="0"/>
              <a:t>  🍎</a:t>
            </a:r>
          </a:p>
          <a:p>
            <a:r>
              <a:rPr lang="en-IN" dirty="0"/>
              <a:t>Right Eye</a:t>
            </a:r>
          </a:p>
          <a:p>
            <a:pPr marL="0" indent="0">
              <a:buNone/>
            </a:pPr>
            <a:r>
              <a:rPr lang="en-IN" dirty="0"/>
              <a:t> 👁</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262487973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45C8-036D-FBCE-F367-8968284781E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2E1AD9-91BD-EF69-2CCA-664855C794D3}"/>
              </a:ext>
            </a:extLst>
          </p:cNvPr>
          <p:cNvSpPr>
            <a:spLocks noGrp="1"/>
          </p:cNvSpPr>
          <p:nvPr>
            <p:ph idx="1"/>
          </p:nvPr>
        </p:nvSpPr>
        <p:spPr/>
        <p:txBody>
          <a:bodyPr/>
          <a:lstStyle/>
          <a:p>
            <a:r>
              <a:rPr lang="en-IN" dirty="0"/>
              <a:t>Your brain compares both images.</a:t>
            </a:r>
          </a:p>
          <a:p>
            <a:r>
              <a:rPr lang="en-IN" dirty="0"/>
              <a:t>That's why you know</a:t>
            </a:r>
          </a:p>
          <a:p>
            <a:r>
              <a:rPr lang="en-IN" dirty="0"/>
              <a:t>Apple is near </a:t>
            </a:r>
          </a:p>
          <a:p>
            <a:r>
              <a:rPr lang="en-IN" dirty="0"/>
              <a:t>Apple is round </a:t>
            </a:r>
          </a:p>
          <a:p>
            <a:r>
              <a:rPr lang="en-IN" dirty="0"/>
              <a:t>Apple is floating or resting </a:t>
            </a:r>
          </a:p>
          <a:p>
            <a:r>
              <a:rPr lang="en-IN" dirty="0"/>
              <a:t>This is called </a:t>
            </a:r>
            <a:r>
              <a:rPr lang="en-IN" b="1" dirty="0"/>
              <a:t>stereo vision</a:t>
            </a:r>
            <a:r>
              <a:rPr lang="en-IN" dirty="0"/>
              <a:t>.</a:t>
            </a:r>
          </a:p>
          <a:p>
            <a:r>
              <a:rPr lang="en-IN" dirty="0"/>
              <a:t>Computer Vision copies this idea.</a:t>
            </a:r>
          </a:p>
          <a:p>
            <a:endParaRPr lang="en-IN" dirty="0"/>
          </a:p>
        </p:txBody>
      </p:sp>
    </p:spTree>
    <p:extLst>
      <p:ext uri="{BB962C8B-B14F-4D97-AF65-F5344CB8AC3E}">
        <p14:creationId xmlns:p14="http://schemas.microsoft.com/office/powerpoint/2010/main" val="39944814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11DE-D441-BAF0-4BAA-B6AD084A5EE2}"/>
              </a:ext>
            </a:extLst>
          </p:cNvPr>
          <p:cNvSpPr>
            <a:spLocks noGrp="1"/>
          </p:cNvSpPr>
          <p:nvPr>
            <p:ph type="title"/>
          </p:nvPr>
        </p:nvSpPr>
        <p:spPr/>
        <p:txBody>
          <a:bodyPr/>
          <a:lstStyle/>
          <a:p>
            <a:r>
              <a:rPr lang="en-IN" dirty="0"/>
              <a:t>What is Structure Determination?</a:t>
            </a:r>
          </a:p>
        </p:txBody>
      </p:sp>
      <p:sp>
        <p:nvSpPr>
          <p:cNvPr id="3" name="Content Placeholder 2">
            <a:extLst>
              <a:ext uri="{FF2B5EF4-FFF2-40B4-BE49-F238E27FC236}">
                <a16:creationId xmlns:a16="http://schemas.microsoft.com/office/drawing/2014/main" id="{C725BF58-59D9-5F53-8885-33553F27B0C0}"/>
              </a:ext>
            </a:extLst>
          </p:cNvPr>
          <p:cNvSpPr>
            <a:spLocks noGrp="1"/>
          </p:cNvSpPr>
          <p:nvPr>
            <p:ph idx="1"/>
          </p:nvPr>
        </p:nvSpPr>
        <p:spPr/>
        <p:txBody>
          <a:bodyPr/>
          <a:lstStyle/>
          <a:p>
            <a:r>
              <a:rPr lang="en-IN" dirty="0"/>
              <a:t>Now suppose the computer has</a:t>
            </a:r>
          </a:p>
          <a:p>
            <a:r>
              <a:rPr lang="en-IN" dirty="0"/>
              <a:t>10 photos of a building.</a:t>
            </a:r>
          </a:p>
          <a:p>
            <a:r>
              <a:rPr lang="en-IN" dirty="0"/>
              <a:t>The computer asks</a:t>
            </a:r>
          </a:p>
          <a:p>
            <a:r>
              <a:rPr lang="en-IN" dirty="0"/>
              <a:t>"Can I build the entire building in 3D?"</a:t>
            </a:r>
          </a:p>
          <a:p>
            <a:r>
              <a:rPr lang="en-IN" dirty="0"/>
              <a:t>The answer is</a:t>
            </a:r>
          </a:p>
          <a:p>
            <a:r>
              <a:rPr lang="en-IN" b="1" dirty="0"/>
              <a:t>Yes!</a:t>
            </a:r>
            <a:endParaRPr lang="en-IN" dirty="0"/>
          </a:p>
          <a:p>
            <a:r>
              <a:rPr lang="en-IN" dirty="0"/>
              <a:t>This process is called</a:t>
            </a:r>
          </a:p>
          <a:p>
            <a:r>
              <a:rPr lang="en-IN" b="1" dirty="0"/>
              <a:t>Structure Determination</a:t>
            </a:r>
          </a:p>
          <a:p>
            <a:endParaRPr lang="en-IN" dirty="0"/>
          </a:p>
        </p:txBody>
      </p:sp>
    </p:spTree>
    <p:extLst>
      <p:ext uri="{BB962C8B-B14F-4D97-AF65-F5344CB8AC3E}">
        <p14:creationId xmlns:p14="http://schemas.microsoft.com/office/powerpoint/2010/main" val="409872506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689F0-B747-122E-A1A3-D251F2B1CA52}"/>
              </a:ext>
            </a:extLst>
          </p:cNvPr>
          <p:cNvSpPr>
            <a:spLocks noGrp="1"/>
          </p:cNvSpPr>
          <p:nvPr>
            <p:ph type="title"/>
          </p:nvPr>
        </p:nvSpPr>
        <p:spPr/>
        <p:txBody>
          <a:bodyPr/>
          <a:lstStyle/>
          <a:p>
            <a:endParaRPr lang="en-IN"/>
          </a:p>
        </p:txBody>
      </p:sp>
      <p:pic>
        <p:nvPicPr>
          <p:cNvPr id="4" name="Content Placeholder 3" descr="Using Photogrammetry to Immortalize a Historical Landmark - KnowledgeOne">
            <a:extLst>
              <a:ext uri="{FF2B5EF4-FFF2-40B4-BE49-F238E27FC236}">
                <a16:creationId xmlns:a16="http://schemas.microsoft.com/office/drawing/2014/main" id="{938A734E-EBBD-9990-9C6A-90170F745BCD}"/>
              </a:ext>
            </a:extLst>
          </p:cNvPr>
          <p:cNvPicPr>
            <a:picLocks noGrp="1" noChangeAspect="1"/>
          </p:cNvPicPr>
          <p:nvPr>
            <p:ph idx="1"/>
          </p:nvPr>
        </p:nvPicPr>
        <p:blipFill>
          <a:blip r:embed="rId2"/>
          <a:stretch>
            <a:fillRect/>
          </a:stretch>
        </p:blipFill>
        <p:spPr>
          <a:xfrm>
            <a:off x="838200" y="1854405"/>
            <a:ext cx="10515600" cy="4293777"/>
          </a:xfrm>
          <a:prstGeom prst="rect">
            <a:avLst/>
          </a:prstGeom>
        </p:spPr>
      </p:pic>
    </p:spTree>
    <p:extLst>
      <p:ext uri="{BB962C8B-B14F-4D97-AF65-F5344CB8AC3E}">
        <p14:creationId xmlns:p14="http://schemas.microsoft.com/office/powerpoint/2010/main" val="91320423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E38FC-10DE-F271-82BB-57433BC1D246}"/>
              </a:ext>
            </a:extLst>
          </p:cNvPr>
          <p:cNvSpPr>
            <a:spLocks noGrp="1"/>
          </p:cNvSpPr>
          <p:nvPr>
            <p:ph idx="1"/>
          </p:nvPr>
        </p:nvSpPr>
        <p:spPr>
          <a:xfrm>
            <a:off x="838200" y="808892"/>
            <a:ext cx="10515600" cy="5368071"/>
          </a:xfrm>
        </p:spPr>
        <p:txBody>
          <a:bodyPr/>
          <a:lstStyle/>
          <a:p>
            <a:r>
              <a:rPr lang="en-IN" dirty="0"/>
              <a:t>Structure Determination is the process of finding the 3D shape of an object using multiple images.</a:t>
            </a:r>
          </a:p>
          <a:p>
            <a:r>
              <a:rPr lang="en-IN" dirty="0"/>
              <a:t>Instead of just seeing the object,</a:t>
            </a:r>
          </a:p>
          <a:p>
            <a:r>
              <a:rPr lang="en-IN" dirty="0"/>
              <a:t>the computer actually </a:t>
            </a:r>
            <a:r>
              <a:rPr lang="en-IN" b="1" dirty="0"/>
              <a:t>reconstructs its shape</a:t>
            </a:r>
            <a:r>
              <a:rPr lang="en-IN" dirty="0"/>
              <a:t>.</a:t>
            </a:r>
          </a:p>
          <a:p>
            <a:r>
              <a:rPr lang="en-IN" b="1" dirty="0"/>
              <a:t>Example</a:t>
            </a:r>
          </a:p>
          <a:p>
            <a:r>
              <a:rPr lang="en-IN" dirty="0"/>
              <a:t>Imagine a cube.</a:t>
            </a:r>
          </a:p>
          <a:p>
            <a:pPr lvl="1"/>
            <a:r>
              <a:rPr lang="en-IN" dirty="0"/>
              <a:t>From the front</a:t>
            </a:r>
          </a:p>
          <a:p>
            <a:pPr lvl="2"/>
            <a:r>
              <a:rPr lang="en-IN" dirty="0"/>
              <a:t>Looks like a square.</a:t>
            </a:r>
          </a:p>
          <a:p>
            <a:pPr lvl="1"/>
            <a:r>
              <a:rPr lang="en-IN" dirty="0"/>
              <a:t>From the side</a:t>
            </a:r>
          </a:p>
          <a:p>
            <a:pPr lvl="2"/>
            <a:r>
              <a:rPr lang="en-IN" dirty="0"/>
              <a:t>Still looks like a square.</a:t>
            </a:r>
          </a:p>
          <a:p>
            <a:pPr marL="447675" lvl="2"/>
            <a:r>
              <a:rPr lang="en-IN" dirty="0"/>
              <a:t>From the top</a:t>
            </a:r>
          </a:p>
          <a:p>
            <a:pPr marL="904875" lvl="3"/>
            <a:r>
              <a:rPr lang="en-IN" dirty="0"/>
              <a:t>Again looks like a square.</a:t>
            </a:r>
          </a:p>
        </p:txBody>
      </p:sp>
    </p:spTree>
    <p:extLst>
      <p:ext uri="{BB962C8B-B14F-4D97-AF65-F5344CB8AC3E}">
        <p14:creationId xmlns:p14="http://schemas.microsoft.com/office/powerpoint/2010/main" val="4263987085"/>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21938-0A1F-FE2F-116D-15F7B8496C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897045-D57C-9E49-1539-CE931429D433}"/>
              </a:ext>
            </a:extLst>
          </p:cNvPr>
          <p:cNvSpPr>
            <a:spLocks noGrp="1"/>
          </p:cNvSpPr>
          <p:nvPr>
            <p:ph idx="1"/>
          </p:nvPr>
        </p:nvSpPr>
        <p:spPr/>
        <p:txBody>
          <a:bodyPr/>
          <a:lstStyle/>
          <a:p>
            <a:r>
              <a:rPr lang="en-IN" dirty="0"/>
              <a:t>One picture cannot tell whether it is</a:t>
            </a:r>
          </a:p>
          <a:p>
            <a:r>
              <a:rPr lang="en-IN" dirty="0"/>
              <a:t>a square </a:t>
            </a:r>
          </a:p>
          <a:p>
            <a:r>
              <a:rPr lang="en-IN" dirty="0"/>
              <a:t>a box </a:t>
            </a:r>
          </a:p>
          <a:p>
            <a:r>
              <a:rPr lang="en-IN" dirty="0"/>
              <a:t>or a cube. </a:t>
            </a:r>
          </a:p>
          <a:p>
            <a:r>
              <a:rPr lang="en-IN" dirty="0"/>
              <a:t>But combining all views,</a:t>
            </a:r>
          </a:p>
          <a:p>
            <a:r>
              <a:rPr lang="en-IN" dirty="0"/>
              <a:t>Computer Vision understands</a:t>
            </a:r>
          </a:p>
          <a:p>
            <a:r>
              <a:rPr lang="en-IN" dirty="0"/>
              <a:t>It is a cube!</a:t>
            </a:r>
          </a:p>
          <a:p>
            <a:r>
              <a:rPr lang="en-IN"/>
              <a:t>This is </a:t>
            </a:r>
            <a:r>
              <a:rPr lang="en-IN" b="1"/>
              <a:t>Structure Determination</a:t>
            </a:r>
            <a:r>
              <a:rPr lang="en-IN"/>
              <a:t>.</a:t>
            </a:r>
          </a:p>
          <a:p>
            <a:endParaRPr lang="en-IN"/>
          </a:p>
        </p:txBody>
      </p:sp>
    </p:spTree>
    <p:extLst>
      <p:ext uri="{BB962C8B-B14F-4D97-AF65-F5344CB8AC3E}">
        <p14:creationId xmlns:p14="http://schemas.microsoft.com/office/powerpoint/2010/main" val="68624557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9C67-F7F1-AE49-42B5-CAEE1FC36361}"/>
              </a:ext>
            </a:extLst>
          </p:cNvPr>
          <p:cNvSpPr>
            <a:spLocks noGrp="1"/>
          </p:cNvSpPr>
          <p:nvPr>
            <p:ph type="title"/>
          </p:nvPr>
        </p:nvSpPr>
        <p:spPr/>
        <p:txBody>
          <a:bodyPr/>
          <a:lstStyle/>
          <a:p>
            <a:r>
              <a:rPr lang="en-IN" dirty="0"/>
              <a:t>Another Example – Mobile Face Unlock </a:t>
            </a:r>
          </a:p>
        </p:txBody>
      </p:sp>
      <p:sp>
        <p:nvSpPr>
          <p:cNvPr id="3" name="Content Placeholder 2">
            <a:extLst>
              <a:ext uri="{FF2B5EF4-FFF2-40B4-BE49-F238E27FC236}">
                <a16:creationId xmlns:a16="http://schemas.microsoft.com/office/drawing/2014/main" id="{CCE69EBD-9369-B95E-97B9-1FF06F5754A5}"/>
              </a:ext>
            </a:extLst>
          </p:cNvPr>
          <p:cNvSpPr>
            <a:spLocks noGrp="1"/>
          </p:cNvSpPr>
          <p:nvPr>
            <p:ph idx="1"/>
          </p:nvPr>
        </p:nvSpPr>
        <p:spPr/>
        <p:txBody>
          <a:bodyPr>
            <a:normAutofit lnSpcReduction="10000"/>
          </a:bodyPr>
          <a:lstStyle/>
          <a:p>
            <a:r>
              <a:rPr lang="en-IN" dirty="0"/>
              <a:t>When setting up Face ID,</a:t>
            </a:r>
          </a:p>
          <a:p>
            <a:r>
              <a:rPr lang="en-IN" dirty="0"/>
              <a:t>the phone asks you to move your head.</a:t>
            </a:r>
          </a:p>
          <a:p>
            <a:r>
              <a:rPr lang="en-IN" dirty="0"/>
              <a:t>Why?</a:t>
            </a:r>
          </a:p>
          <a:p>
            <a:r>
              <a:rPr lang="en-IN" dirty="0"/>
              <a:t>Because</a:t>
            </a:r>
          </a:p>
          <a:p>
            <a:r>
              <a:rPr lang="en-IN" dirty="0"/>
              <a:t>one photo is not enough.</a:t>
            </a:r>
          </a:p>
          <a:p>
            <a:r>
              <a:rPr lang="en-IN" dirty="0"/>
              <a:t>It needs</a:t>
            </a:r>
          </a:p>
          <a:p>
            <a:r>
              <a:rPr lang="en-IN" dirty="0"/>
              <a:t>Front </a:t>
            </a:r>
          </a:p>
          <a:p>
            <a:r>
              <a:rPr lang="en-IN" dirty="0"/>
              <a:t>Left </a:t>
            </a:r>
          </a:p>
          <a:p>
            <a:r>
              <a:rPr lang="en-IN" dirty="0"/>
              <a:t>Right </a:t>
            </a:r>
          </a:p>
          <a:p>
            <a:endParaRPr lang="en-IN" dirty="0"/>
          </a:p>
        </p:txBody>
      </p:sp>
    </p:spTree>
    <p:extLst>
      <p:ext uri="{BB962C8B-B14F-4D97-AF65-F5344CB8AC3E}">
        <p14:creationId xmlns:p14="http://schemas.microsoft.com/office/powerpoint/2010/main" val="354883700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2ED8-BD70-2976-17EC-E2E9CE6A51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736EB5-5EBC-428A-35AE-96AD3B4474F8}"/>
              </a:ext>
            </a:extLst>
          </p:cNvPr>
          <p:cNvSpPr>
            <a:spLocks noGrp="1"/>
          </p:cNvSpPr>
          <p:nvPr>
            <p:ph idx="1"/>
          </p:nvPr>
        </p:nvSpPr>
        <p:spPr/>
        <p:txBody>
          <a:bodyPr/>
          <a:lstStyle/>
          <a:p>
            <a:r>
              <a:rPr lang="en-IN" dirty="0"/>
              <a:t>Slightly Up </a:t>
            </a:r>
          </a:p>
          <a:p>
            <a:r>
              <a:rPr lang="en-IN" dirty="0"/>
              <a:t>Slightly Down</a:t>
            </a:r>
          </a:p>
          <a:p>
            <a:r>
              <a:rPr lang="en-IN" dirty="0"/>
              <a:t>All these views help create a </a:t>
            </a:r>
            <a:r>
              <a:rPr lang="en-IN" b="1" dirty="0"/>
              <a:t>3D model of your face</a:t>
            </a:r>
            <a:r>
              <a:rPr lang="en-IN" dirty="0"/>
              <a:t>.</a:t>
            </a:r>
          </a:p>
          <a:p>
            <a:r>
              <a:rPr lang="en-IN" dirty="0"/>
              <a:t>That is another example of </a:t>
            </a:r>
            <a:r>
              <a:rPr lang="en-IN" b="1" dirty="0"/>
              <a:t>Structure Determination</a:t>
            </a:r>
            <a:r>
              <a:rPr lang="en-IN" dirty="0"/>
              <a:t>.</a:t>
            </a:r>
          </a:p>
          <a:p>
            <a:endParaRPr lang="en-IN" dirty="0"/>
          </a:p>
        </p:txBody>
      </p:sp>
    </p:spTree>
    <p:extLst>
      <p:ext uri="{BB962C8B-B14F-4D97-AF65-F5344CB8AC3E}">
        <p14:creationId xmlns:p14="http://schemas.microsoft.com/office/powerpoint/2010/main" val="183043083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AACA9-6BD7-1CCC-A8DB-6BCB18DE86EF}"/>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FC72009-C644-5A01-39B1-F06296B12EB3}"/>
              </a:ext>
            </a:extLst>
          </p:cNvPr>
          <p:cNvGraphicFramePr>
            <a:graphicFrameLocks noGrp="1"/>
          </p:cNvGraphicFramePr>
          <p:nvPr>
            <p:ph idx="1"/>
          </p:nvPr>
        </p:nvGraphicFramePr>
        <p:xfrm>
          <a:off x="838200" y="3086894"/>
          <a:ext cx="10515600" cy="1828800"/>
        </p:xfrm>
        <a:graphic>
          <a:graphicData uri="http://schemas.openxmlformats.org/drawingml/2006/table">
            <a:tbl>
              <a:tblPr/>
              <a:tblGrid>
                <a:gridCol w="5257800">
                  <a:extLst>
                    <a:ext uri="{9D8B030D-6E8A-4147-A177-3AD203B41FA5}">
                      <a16:colId xmlns:a16="http://schemas.microsoft.com/office/drawing/2014/main" val="1968777569"/>
                    </a:ext>
                  </a:extLst>
                </a:gridCol>
                <a:gridCol w="5257800">
                  <a:extLst>
                    <a:ext uri="{9D8B030D-6E8A-4147-A177-3AD203B41FA5}">
                      <a16:colId xmlns:a16="http://schemas.microsoft.com/office/drawing/2014/main" val="4260435606"/>
                    </a:ext>
                  </a:extLst>
                </a:gridCol>
              </a:tblGrid>
              <a:tr h="0">
                <a:tc>
                  <a:txBody>
                    <a:bodyPr/>
                    <a:lstStyle/>
                    <a:p>
                      <a:pPr>
                        <a:buNone/>
                      </a:pPr>
                      <a:r>
                        <a:rPr lang="en-IN"/>
                        <a:t>Multiple View Geometry</a:t>
                      </a:r>
                    </a:p>
                  </a:txBody>
                  <a:tcPr anchor="ctr">
                    <a:lnL>
                      <a:noFill/>
                    </a:lnL>
                    <a:lnR>
                      <a:noFill/>
                    </a:lnR>
                    <a:lnT>
                      <a:noFill/>
                    </a:lnT>
                    <a:lnB>
                      <a:noFill/>
                    </a:lnB>
                    <a:noFill/>
                  </a:tcPr>
                </a:tc>
                <a:tc>
                  <a:txBody>
                    <a:bodyPr/>
                    <a:lstStyle/>
                    <a:p>
                      <a:pPr>
                        <a:buNone/>
                      </a:pPr>
                      <a:r>
                        <a:rPr lang="en-IN"/>
                        <a:t>Structure Determination</a:t>
                      </a:r>
                    </a:p>
                  </a:txBody>
                  <a:tcPr anchor="ctr">
                    <a:lnL>
                      <a:noFill/>
                    </a:lnL>
                    <a:lnR>
                      <a:noFill/>
                    </a:lnR>
                    <a:lnT>
                      <a:noFill/>
                    </a:lnT>
                    <a:lnB>
                      <a:noFill/>
                    </a:lnB>
                    <a:noFill/>
                  </a:tcPr>
                </a:tc>
                <a:extLst>
                  <a:ext uri="{0D108BD9-81ED-4DB2-BD59-A6C34878D82A}">
                    <a16:rowId xmlns:a16="http://schemas.microsoft.com/office/drawing/2014/main" val="3545147067"/>
                  </a:ext>
                </a:extLst>
              </a:tr>
              <a:tr h="0">
                <a:tc>
                  <a:txBody>
                    <a:bodyPr/>
                    <a:lstStyle/>
                    <a:p>
                      <a:pPr>
                        <a:buNone/>
                      </a:pPr>
                      <a:r>
                        <a:rPr lang="en-IN"/>
                        <a:t>Uses many images</a:t>
                      </a:r>
                    </a:p>
                  </a:txBody>
                  <a:tcPr anchor="ctr">
                    <a:lnL>
                      <a:noFill/>
                    </a:lnL>
                    <a:lnR>
                      <a:noFill/>
                    </a:lnR>
                    <a:lnT>
                      <a:noFill/>
                    </a:lnT>
                    <a:lnB>
                      <a:noFill/>
                    </a:lnB>
                    <a:noFill/>
                  </a:tcPr>
                </a:tc>
                <a:tc>
                  <a:txBody>
                    <a:bodyPr/>
                    <a:lstStyle/>
                    <a:p>
                      <a:pPr>
                        <a:buNone/>
                      </a:pPr>
                      <a:r>
                        <a:rPr lang="en-IN"/>
                        <a:t>Uses those images to build a 3D model</a:t>
                      </a:r>
                    </a:p>
                  </a:txBody>
                  <a:tcPr anchor="ctr">
                    <a:lnL>
                      <a:noFill/>
                    </a:lnL>
                    <a:lnR>
                      <a:noFill/>
                    </a:lnR>
                    <a:lnT>
                      <a:noFill/>
                    </a:lnT>
                    <a:lnB>
                      <a:noFill/>
                    </a:lnB>
                    <a:noFill/>
                  </a:tcPr>
                </a:tc>
                <a:extLst>
                  <a:ext uri="{0D108BD9-81ED-4DB2-BD59-A6C34878D82A}">
                    <a16:rowId xmlns:a16="http://schemas.microsoft.com/office/drawing/2014/main" val="3714450672"/>
                  </a:ext>
                </a:extLst>
              </a:tr>
              <a:tr h="0">
                <a:tc>
                  <a:txBody>
                    <a:bodyPr/>
                    <a:lstStyle/>
                    <a:p>
                      <a:pPr>
                        <a:buNone/>
                      </a:pPr>
                      <a:r>
                        <a:rPr lang="en-IN"/>
                        <a:t>Finds depth and camera positions</a:t>
                      </a:r>
                    </a:p>
                  </a:txBody>
                  <a:tcPr anchor="ctr">
                    <a:lnL>
                      <a:noFill/>
                    </a:lnL>
                    <a:lnR>
                      <a:noFill/>
                    </a:lnR>
                    <a:lnT>
                      <a:noFill/>
                    </a:lnT>
                    <a:lnB>
                      <a:noFill/>
                    </a:lnB>
                    <a:noFill/>
                  </a:tcPr>
                </a:tc>
                <a:tc>
                  <a:txBody>
                    <a:bodyPr/>
                    <a:lstStyle/>
                    <a:p>
                      <a:pPr>
                        <a:buNone/>
                      </a:pPr>
                      <a:r>
                        <a:rPr lang="en-IN"/>
                        <a:t>Finds the object's actual 3D shape</a:t>
                      </a:r>
                    </a:p>
                  </a:txBody>
                  <a:tcPr anchor="ctr">
                    <a:lnL>
                      <a:noFill/>
                    </a:lnL>
                    <a:lnR>
                      <a:noFill/>
                    </a:lnR>
                    <a:lnT>
                      <a:noFill/>
                    </a:lnT>
                    <a:lnB>
                      <a:noFill/>
                    </a:lnB>
                    <a:noFill/>
                  </a:tcPr>
                </a:tc>
                <a:extLst>
                  <a:ext uri="{0D108BD9-81ED-4DB2-BD59-A6C34878D82A}">
                    <a16:rowId xmlns:a16="http://schemas.microsoft.com/office/drawing/2014/main" val="2888569131"/>
                  </a:ext>
                </a:extLst>
              </a:tr>
              <a:tr h="0">
                <a:tc>
                  <a:txBody>
                    <a:bodyPr/>
                    <a:lstStyle/>
                    <a:p>
                      <a:pPr>
                        <a:buNone/>
                      </a:pPr>
                      <a:r>
                        <a:rPr lang="en-IN"/>
                        <a:t>Compares different views</a:t>
                      </a:r>
                    </a:p>
                  </a:txBody>
                  <a:tcPr anchor="ctr">
                    <a:lnL>
                      <a:noFill/>
                    </a:lnL>
                    <a:lnR>
                      <a:noFill/>
                    </a:lnR>
                    <a:lnT>
                      <a:noFill/>
                    </a:lnT>
                    <a:lnB>
                      <a:noFill/>
                    </a:lnB>
                    <a:noFill/>
                  </a:tcPr>
                </a:tc>
                <a:tc>
                  <a:txBody>
                    <a:bodyPr/>
                    <a:lstStyle/>
                    <a:p>
                      <a:pPr>
                        <a:buNone/>
                      </a:pPr>
                      <a:r>
                        <a:rPr lang="en-IN"/>
                        <a:t>Reconstructs the object</a:t>
                      </a:r>
                    </a:p>
                  </a:txBody>
                  <a:tcPr anchor="ctr">
                    <a:lnL>
                      <a:noFill/>
                    </a:lnL>
                    <a:lnR>
                      <a:noFill/>
                    </a:lnR>
                    <a:lnT>
                      <a:noFill/>
                    </a:lnT>
                    <a:lnB>
                      <a:noFill/>
                    </a:lnB>
                    <a:noFill/>
                  </a:tcPr>
                </a:tc>
                <a:extLst>
                  <a:ext uri="{0D108BD9-81ED-4DB2-BD59-A6C34878D82A}">
                    <a16:rowId xmlns:a16="http://schemas.microsoft.com/office/drawing/2014/main" val="1838589019"/>
                  </a:ext>
                </a:extLst>
              </a:tr>
              <a:tr h="0">
                <a:tc>
                  <a:txBody>
                    <a:bodyPr/>
                    <a:lstStyle/>
                    <a:p>
                      <a:pPr>
                        <a:buNone/>
                      </a:pPr>
                      <a:r>
                        <a:rPr lang="en-IN"/>
                        <a:t>Input stage</a:t>
                      </a:r>
                    </a:p>
                  </a:txBody>
                  <a:tcPr anchor="ctr">
                    <a:lnL>
                      <a:noFill/>
                    </a:lnL>
                    <a:lnR>
                      <a:noFill/>
                    </a:lnR>
                    <a:lnT>
                      <a:noFill/>
                    </a:lnT>
                    <a:lnB>
                      <a:noFill/>
                    </a:lnB>
                    <a:noFill/>
                  </a:tcPr>
                </a:tc>
                <a:tc>
                  <a:txBody>
                    <a:bodyPr/>
                    <a:lstStyle/>
                    <a:p>
                      <a:pPr>
                        <a:buNone/>
                      </a:pPr>
                      <a:r>
                        <a:rPr lang="en-IN" dirty="0"/>
                        <a:t>Output stage</a:t>
                      </a:r>
                    </a:p>
                  </a:txBody>
                  <a:tcPr anchor="ctr">
                    <a:lnL>
                      <a:noFill/>
                    </a:lnL>
                    <a:lnR>
                      <a:noFill/>
                    </a:lnR>
                    <a:lnT>
                      <a:noFill/>
                    </a:lnT>
                    <a:lnB>
                      <a:noFill/>
                    </a:lnB>
                    <a:noFill/>
                  </a:tcPr>
                </a:tc>
                <a:extLst>
                  <a:ext uri="{0D108BD9-81ED-4DB2-BD59-A6C34878D82A}">
                    <a16:rowId xmlns:a16="http://schemas.microsoft.com/office/drawing/2014/main" val="3549832172"/>
                  </a:ext>
                </a:extLst>
              </a:tr>
            </a:tbl>
          </a:graphicData>
        </a:graphic>
      </p:graphicFrame>
    </p:spTree>
    <p:extLst>
      <p:ext uri="{BB962C8B-B14F-4D97-AF65-F5344CB8AC3E}">
        <p14:creationId xmlns:p14="http://schemas.microsoft.com/office/powerpoint/2010/main" val="406053208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3086-946D-0CB9-8F09-E31947F36C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C95B15-8C8A-8495-C34B-18B0B5551988}"/>
              </a:ext>
            </a:extLst>
          </p:cNvPr>
          <p:cNvSpPr>
            <a:spLocks noGrp="1"/>
          </p:cNvSpPr>
          <p:nvPr>
            <p:ph idx="1"/>
          </p:nvPr>
        </p:nvSpPr>
        <p:spPr/>
        <p:txBody>
          <a:bodyPr/>
          <a:lstStyle/>
          <a:p>
            <a:r>
              <a:rPr lang="en-IN" b="1" dirty="0"/>
              <a:t>Multiple View Geometry</a:t>
            </a:r>
          </a:p>
          <a:p>
            <a:r>
              <a:rPr lang="en-IN" b="1" dirty="0"/>
              <a:t>Many Photos ➜ Understand Depth</a:t>
            </a:r>
            <a:endParaRPr lang="en-IN" dirty="0"/>
          </a:p>
          <a:p>
            <a:r>
              <a:rPr lang="en-IN" dirty="0"/>
              <a:t>Where is the object?</a:t>
            </a:r>
          </a:p>
          <a:p>
            <a:endParaRPr lang="en-IN" dirty="0"/>
          </a:p>
          <a:p>
            <a:r>
              <a:rPr lang="en-IN" dirty="0"/>
              <a:t>Structure Determination</a:t>
            </a:r>
          </a:p>
          <a:p>
            <a:r>
              <a:rPr lang="en-IN" dirty="0"/>
              <a:t>Many Photos ➜ Build the Object</a:t>
            </a:r>
          </a:p>
          <a:p>
            <a:r>
              <a:rPr lang="en-IN" dirty="0"/>
              <a:t>(3D Model)</a:t>
            </a:r>
          </a:p>
        </p:txBody>
      </p:sp>
    </p:spTree>
    <p:extLst>
      <p:ext uri="{BB962C8B-B14F-4D97-AF65-F5344CB8AC3E}">
        <p14:creationId xmlns:p14="http://schemas.microsoft.com/office/powerpoint/2010/main" val="169223977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C56AB-B919-331E-0667-70A20FD51088}"/>
              </a:ext>
            </a:extLst>
          </p:cNvPr>
          <p:cNvSpPr>
            <a:spLocks noGrp="1"/>
          </p:cNvSpPr>
          <p:nvPr>
            <p:ph idx="1"/>
          </p:nvPr>
        </p:nvSpPr>
        <p:spPr>
          <a:xfrm>
            <a:off x="838200" y="378069"/>
            <a:ext cx="10515600" cy="5798894"/>
          </a:xfrm>
        </p:spPr>
        <p:txBody>
          <a:bodyPr/>
          <a:lstStyle/>
          <a:p>
            <a:r>
              <a:rPr lang="en-IN" b="1" dirty="0"/>
              <a:t>Multiple View Geometry</a:t>
            </a:r>
          </a:p>
          <a:p>
            <a:r>
              <a:rPr lang="en-IN" b="1" dirty="0"/>
              <a:t>Multiple View Geometry is a computer vision technique that uses two or more images of the same object taken from different viewpoints to estimate its depth, position, and spatial relationships.</a:t>
            </a:r>
          </a:p>
          <a:p>
            <a:endParaRPr lang="en-IN" dirty="0"/>
          </a:p>
          <a:p>
            <a:r>
              <a:rPr lang="en-IN" b="1" dirty="0"/>
              <a:t>Structure Determination</a:t>
            </a:r>
          </a:p>
          <a:p>
            <a:r>
              <a:rPr lang="en-IN" b="1" dirty="0"/>
              <a:t>Structure Determination is the process of reconstructing the 3D shape or structure of an object or scene from multiple images taken from different viewpoints.</a:t>
            </a:r>
            <a:endParaRPr lang="en-IN" dirty="0"/>
          </a:p>
          <a:p>
            <a:endParaRPr lang="en-IN" dirty="0"/>
          </a:p>
        </p:txBody>
      </p:sp>
    </p:spTree>
    <p:extLst>
      <p:ext uri="{BB962C8B-B14F-4D97-AF65-F5344CB8AC3E}">
        <p14:creationId xmlns:p14="http://schemas.microsoft.com/office/powerpoint/2010/main" val="412409666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8957-9E76-9DFE-AC2E-BCFA7C51303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9D4705-CC02-95DC-5A18-74A99AE67C68}"/>
              </a:ext>
            </a:extLst>
          </p:cNvPr>
          <p:cNvSpPr>
            <a:spLocks noGrp="1"/>
          </p:cNvSpPr>
          <p:nvPr>
            <p:ph idx="1"/>
          </p:nvPr>
        </p:nvSpPr>
        <p:spPr/>
        <p:txBody>
          <a:bodyPr/>
          <a:lstStyle/>
          <a:p>
            <a:r>
              <a:rPr lang="en-IN" b="1" dirty="0"/>
              <a:t>Multiple View Geometry = "Many cameras understand where things are."</a:t>
            </a:r>
            <a:r>
              <a:rPr lang="en-IN" dirty="0"/>
              <a:t> </a:t>
            </a:r>
          </a:p>
          <a:p>
            <a:r>
              <a:rPr lang="en-IN" b="1" dirty="0"/>
              <a:t>Structure Determination = "Many camera images build a 3D object."</a:t>
            </a:r>
            <a:endParaRPr lang="en-IN" dirty="0"/>
          </a:p>
        </p:txBody>
      </p:sp>
    </p:spTree>
    <p:extLst>
      <p:ext uri="{BB962C8B-B14F-4D97-AF65-F5344CB8AC3E}">
        <p14:creationId xmlns:p14="http://schemas.microsoft.com/office/powerpoint/2010/main" val="42756439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589B-C947-9E7D-5D96-4B5C78F9A1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5E1491-1266-8DBC-7F37-F63C66B41B17}"/>
              </a:ext>
            </a:extLst>
          </p:cNvPr>
          <p:cNvSpPr>
            <a:spLocks noGrp="1"/>
          </p:cNvSpPr>
          <p:nvPr>
            <p:ph idx="1"/>
          </p:nvPr>
        </p:nvSpPr>
        <p:spPr/>
        <p:txBody>
          <a:bodyPr>
            <a:normAutofit fontScale="62500" lnSpcReduction="20000"/>
          </a:bodyPr>
          <a:lstStyle/>
          <a:p>
            <a:pPr marL="0" indent="0">
              <a:buNone/>
            </a:pPr>
            <a:r>
              <a:rPr lang="en-US" dirty="0"/>
              <a:t>Take Multiple Photos</a:t>
            </a:r>
          </a:p>
          <a:p>
            <a:pPr marL="0" indent="0">
              <a:buNone/>
            </a:pPr>
            <a:r>
              <a:rPr lang="en-US" dirty="0"/>
              <a:t>        │</a:t>
            </a:r>
          </a:p>
          <a:p>
            <a:pPr marL="0" indent="0">
              <a:buNone/>
            </a:pPr>
            <a:r>
              <a:rPr lang="en-US" dirty="0"/>
              <a:t>        ▼</a:t>
            </a:r>
          </a:p>
          <a:p>
            <a:pPr marL="0" indent="0">
              <a:buNone/>
            </a:pPr>
            <a:r>
              <a:rPr lang="en-US" dirty="0"/>
              <a:t>Find Same Points</a:t>
            </a:r>
          </a:p>
          <a:p>
            <a:pPr marL="0" indent="0">
              <a:buNone/>
            </a:pPr>
            <a:r>
              <a:rPr lang="en-US" dirty="0"/>
              <a:t>        │</a:t>
            </a:r>
          </a:p>
          <a:p>
            <a:pPr marL="0" indent="0">
              <a:buNone/>
            </a:pPr>
            <a:r>
              <a:rPr lang="en-US" dirty="0"/>
              <a:t>        ▼</a:t>
            </a:r>
          </a:p>
          <a:p>
            <a:pPr marL="0" indent="0">
              <a:buNone/>
            </a:pPr>
            <a:r>
              <a:rPr lang="en-US" dirty="0"/>
              <a:t>Compare All Views</a:t>
            </a:r>
          </a:p>
          <a:p>
            <a:pPr marL="0" indent="0">
              <a:buNone/>
            </a:pPr>
            <a:r>
              <a:rPr lang="en-US" dirty="0"/>
              <a:t>        │</a:t>
            </a:r>
          </a:p>
          <a:p>
            <a:pPr marL="0" indent="0">
              <a:buNone/>
            </a:pPr>
            <a:r>
              <a:rPr lang="en-US" dirty="0"/>
              <a:t>        ▼</a:t>
            </a:r>
          </a:p>
          <a:p>
            <a:pPr marL="0" indent="0">
              <a:buNone/>
            </a:pPr>
            <a:r>
              <a:rPr lang="en-US" dirty="0"/>
              <a:t>Calculate Depth</a:t>
            </a:r>
          </a:p>
          <a:p>
            <a:pPr marL="0" indent="0">
              <a:buNone/>
            </a:pPr>
            <a:r>
              <a:rPr lang="en-US" dirty="0"/>
              <a:t>        │</a:t>
            </a:r>
          </a:p>
          <a:p>
            <a:pPr marL="0" indent="0">
              <a:buNone/>
            </a:pPr>
            <a:r>
              <a:rPr lang="en-US" dirty="0"/>
              <a:t>        ▼</a:t>
            </a:r>
          </a:p>
          <a:p>
            <a:pPr marL="0" indent="0">
              <a:buNone/>
            </a:pPr>
            <a:r>
              <a:rPr lang="en-US" dirty="0"/>
              <a:t>Build 3D Shape</a:t>
            </a:r>
            <a:endParaRPr lang="en-IN" dirty="0"/>
          </a:p>
        </p:txBody>
      </p:sp>
    </p:spTree>
    <p:extLst>
      <p:ext uri="{BB962C8B-B14F-4D97-AF65-F5344CB8AC3E}">
        <p14:creationId xmlns:p14="http://schemas.microsoft.com/office/powerpoint/2010/main" val="304859561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1C8CD-2EA2-D974-780A-D84430235039}"/>
              </a:ext>
            </a:extLst>
          </p:cNvPr>
          <p:cNvSpPr>
            <a:spLocks noGrp="1"/>
          </p:cNvSpPr>
          <p:nvPr>
            <p:ph idx="1"/>
          </p:nvPr>
        </p:nvSpPr>
        <p:spPr/>
        <p:txBody>
          <a:bodyPr/>
          <a:lstStyle/>
          <a:p>
            <a:r>
              <a:rPr lang="en-IN" b="1" dirty="0"/>
              <a:t>1. Take Multiple Photos</a:t>
            </a:r>
          </a:p>
          <a:p>
            <a:r>
              <a:rPr lang="en-IN" b="1" dirty="0"/>
              <a:t>Take photos of the same object from different angles.</a:t>
            </a:r>
            <a:endParaRPr lang="en-IN" dirty="0"/>
          </a:p>
          <a:p>
            <a:r>
              <a:rPr lang="en-IN" b="1" dirty="0"/>
              <a:t>Example:</a:t>
            </a:r>
            <a:r>
              <a:rPr lang="en-IN" dirty="0"/>
              <a:t> Take front, left, and right photos of a car.</a:t>
            </a:r>
            <a:br>
              <a:rPr lang="en-IN" dirty="0"/>
            </a:br>
            <a:endParaRPr lang="en-IN" dirty="0"/>
          </a:p>
          <a:p>
            <a:r>
              <a:rPr lang="en-IN" b="1" dirty="0"/>
              <a:t> 2. Find Same Points</a:t>
            </a:r>
          </a:p>
          <a:p>
            <a:r>
              <a:rPr lang="en-IN" b="1" dirty="0"/>
              <a:t>Find the same corners or features in every photo.</a:t>
            </a:r>
            <a:endParaRPr lang="en-IN" dirty="0"/>
          </a:p>
          <a:p>
            <a:r>
              <a:rPr lang="en-IN" b="1" dirty="0"/>
              <a:t>Example:</a:t>
            </a:r>
            <a:r>
              <a:rPr lang="en-IN" dirty="0"/>
              <a:t> The computer finds the </a:t>
            </a:r>
            <a:r>
              <a:rPr lang="en-IN" b="1" dirty="0"/>
              <a:t>same headlight</a:t>
            </a:r>
            <a:r>
              <a:rPr lang="en-IN" dirty="0"/>
              <a:t>, </a:t>
            </a:r>
            <a:r>
              <a:rPr lang="en-IN" b="1" dirty="0"/>
              <a:t>same wheel</a:t>
            </a:r>
            <a:r>
              <a:rPr lang="en-IN" dirty="0"/>
              <a:t>, and </a:t>
            </a:r>
            <a:r>
              <a:rPr lang="en-IN" b="1" dirty="0"/>
              <a:t>same door handle</a:t>
            </a:r>
            <a:r>
              <a:rPr lang="en-IN" dirty="0"/>
              <a:t> in all the car photos.</a:t>
            </a:r>
          </a:p>
          <a:p>
            <a:endParaRPr lang="en-IN" dirty="0"/>
          </a:p>
        </p:txBody>
      </p:sp>
    </p:spTree>
    <p:extLst>
      <p:ext uri="{BB962C8B-B14F-4D97-AF65-F5344CB8AC3E}">
        <p14:creationId xmlns:p14="http://schemas.microsoft.com/office/powerpoint/2010/main" val="315250891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6F0F9-F992-CBCC-7C97-15FA1E0AEB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9746D7-E57A-1196-A74B-ED69AD787E6F}"/>
              </a:ext>
            </a:extLst>
          </p:cNvPr>
          <p:cNvSpPr>
            <a:spLocks noGrp="1"/>
          </p:cNvSpPr>
          <p:nvPr>
            <p:ph idx="1"/>
          </p:nvPr>
        </p:nvSpPr>
        <p:spPr/>
        <p:txBody>
          <a:bodyPr>
            <a:normAutofit/>
          </a:bodyPr>
          <a:lstStyle/>
          <a:p>
            <a:r>
              <a:rPr lang="en-IN" b="1" dirty="0"/>
              <a:t>3. Compare All Views</a:t>
            </a:r>
          </a:p>
          <a:p>
            <a:r>
              <a:rPr lang="en-IN" b="1" dirty="0"/>
              <a:t>Compare where the same points appear in each photo.</a:t>
            </a:r>
            <a:endParaRPr lang="en-IN" dirty="0"/>
          </a:p>
          <a:p>
            <a:r>
              <a:rPr lang="en-IN" b="1" dirty="0"/>
              <a:t>Example:</a:t>
            </a:r>
            <a:r>
              <a:rPr lang="en-IN" dirty="0"/>
              <a:t> The headlight is on the left in one photo but more towards the centre in another photo.</a:t>
            </a:r>
          </a:p>
          <a:p>
            <a:pPr marL="0" indent="0">
              <a:buNone/>
            </a:pPr>
            <a:endParaRPr lang="en-IN" dirty="0"/>
          </a:p>
          <a:p>
            <a:r>
              <a:rPr lang="en-IN" b="1" dirty="0"/>
              <a:t>4. Calculate Depth</a:t>
            </a:r>
          </a:p>
          <a:p>
            <a:r>
              <a:rPr lang="en-IN" b="1" dirty="0"/>
              <a:t>Use these differences to find how far each point is from the camera.</a:t>
            </a:r>
            <a:endParaRPr lang="en-IN" dirty="0"/>
          </a:p>
          <a:p>
            <a:r>
              <a:rPr lang="en-IN" b="1" dirty="0"/>
              <a:t>Example:</a:t>
            </a:r>
            <a:r>
              <a:rPr lang="en-IN" dirty="0"/>
              <a:t> The computer calculates that the car is </a:t>
            </a:r>
            <a:r>
              <a:rPr lang="en-IN" b="1" dirty="0"/>
              <a:t>5 metres away</a:t>
            </a:r>
            <a:r>
              <a:rPr lang="en-IN" dirty="0"/>
              <a:t>.</a:t>
            </a:r>
          </a:p>
          <a:p>
            <a:endParaRPr lang="en-IN" dirty="0"/>
          </a:p>
        </p:txBody>
      </p:sp>
    </p:spTree>
    <p:extLst>
      <p:ext uri="{BB962C8B-B14F-4D97-AF65-F5344CB8AC3E}">
        <p14:creationId xmlns:p14="http://schemas.microsoft.com/office/powerpoint/2010/main" val="293110318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79C87-976F-82AD-FF95-CF1D70D4A6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84E0F4-AE58-269C-11BC-7F2CD7B2E66B}"/>
              </a:ext>
            </a:extLst>
          </p:cNvPr>
          <p:cNvSpPr>
            <a:spLocks noGrp="1"/>
          </p:cNvSpPr>
          <p:nvPr>
            <p:ph idx="1"/>
          </p:nvPr>
        </p:nvSpPr>
        <p:spPr/>
        <p:txBody>
          <a:bodyPr/>
          <a:lstStyle/>
          <a:p>
            <a:r>
              <a:rPr lang="en-IN" b="1" dirty="0"/>
              <a:t>5. Build 3D Shape</a:t>
            </a:r>
          </a:p>
          <a:p>
            <a:r>
              <a:rPr lang="en-IN" b="1" dirty="0"/>
              <a:t>Combine all the depth information to create a 3D model of the object.</a:t>
            </a:r>
            <a:endParaRPr lang="en-IN" dirty="0"/>
          </a:p>
          <a:p>
            <a:r>
              <a:rPr lang="en-IN" b="1" dirty="0"/>
              <a:t>Example:</a:t>
            </a:r>
            <a:r>
              <a:rPr lang="en-IN" dirty="0"/>
              <a:t> The computer builds a complete </a:t>
            </a:r>
            <a:r>
              <a:rPr lang="en-IN" b="1" dirty="0"/>
              <a:t>3D model of the car</a:t>
            </a:r>
            <a:r>
              <a:rPr lang="en-IN" dirty="0"/>
              <a:t>.</a:t>
            </a:r>
          </a:p>
          <a:p>
            <a:endParaRPr lang="en-IN" dirty="0"/>
          </a:p>
        </p:txBody>
      </p:sp>
    </p:spTree>
    <p:extLst>
      <p:ext uri="{BB962C8B-B14F-4D97-AF65-F5344CB8AC3E}">
        <p14:creationId xmlns:p14="http://schemas.microsoft.com/office/powerpoint/2010/main" val="10546869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A51A3-1BA3-EC2F-AF95-6F6F280AE7FB}"/>
              </a:ext>
            </a:extLst>
          </p:cNvPr>
          <p:cNvSpPr>
            <a:spLocks noGrp="1"/>
          </p:cNvSpPr>
          <p:nvPr>
            <p:ph type="title"/>
          </p:nvPr>
        </p:nvSpPr>
        <p:spPr/>
        <p:txBody>
          <a:bodyPr/>
          <a:lstStyle/>
          <a:p>
            <a:r>
              <a:rPr lang="en-IN" dirty="0"/>
              <a:t>Shape from Shading (SFS) </a:t>
            </a:r>
          </a:p>
        </p:txBody>
      </p:sp>
      <p:sp>
        <p:nvSpPr>
          <p:cNvPr id="3" name="Content Placeholder 2">
            <a:extLst>
              <a:ext uri="{FF2B5EF4-FFF2-40B4-BE49-F238E27FC236}">
                <a16:creationId xmlns:a16="http://schemas.microsoft.com/office/drawing/2014/main" id="{B4C8071E-6D07-E16A-1E83-EA56A0A3C857}"/>
              </a:ext>
            </a:extLst>
          </p:cNvPr>
          <p:cNvSpPr>
            <a:spLocks noGrp="1"/>
          </p:cNvSpPr>
          <p:nvPr>
            <p:ph idx="1"/>
          </p:nvPr>
        </p:nvSpPr>
        <p:spPr/>
        <p:txBody>
          <a:bodyPr/>
          <a:lstStyle/>
          <a:p>
            <a:r>
              <a:rPr lang="en-IN" dirty="0"/>
              <a:t>These are two important techniques in </a:t>
            </a:r>
            <a:r>
              <a:rPr lang="en-IN" b="1" dirty="0"/>
              <a:t>Computer Vision</a:t>
            </a:r>
            <a:r>
              <a:rPr lang="en-IN" dirty="0"/>
              <a:t> used to find the </a:t>
            </a:r>
            <a:r>
              <a:rPr lang="en-IN" b="1" dirty="0"/>
              <a:t>3D shape of an object</a:t>
            </a:r>
            <a:r>
              <a:rPr lang="en-IN" dirty="0"/>
              <a:t>.</a:t>
            </a:r>
          </a:p>
          <a:p>
            <a:r>
              <a:rPr lang="en-IN" dirty="0"/>
              <a:t>The difference is:</a:t>
            </a:r>
          </a:p>
          <a:p>
            <a:r>
              <a:rPr lang="en-IN" b="1" dirty="0"/>
              <a:t>Shape from Shading (SFS)</a:t>
            </a:r>
            <a:r>
              <a:rPr lang="en-IN" dirty="0"/>
              <a:t> → Uses </a:t>
            </a:r>
            <a:r>
              <a:rPr lang="en-IN" b="1" dirty="0"/>
              <a:t>one image</a:t>
            </a:r>
            <a:r>
              <a:rPr lang="en-IN" dirty="0"/>
              <a:t>. </a:t>
            </a:r>
          </a:p>
          <a:p>
            <a:r>
              <a:rPr lang="en-IN" b="1" dirty="0"/>
              <a:t>Photometric Stereo</a:t>
            </a:r>
            <a:r>
              <a:rPr lang="en-IN" dirty="0"/>
              <a:t> → Uses </a:t>
            </a:r>
            <a:r>
              <a:rPr lang="en-IN" b="1" dirty="0"/>
              <a:t>many images</a:t>
            </a:r>
            <a:r>
              <a:rPr lang="en-IN" dirty="0"/>
              <a:t> with </a:t>
            </a:r>
            <a:r>
              <a:rPr lang="en-IN" b="1" dirty="0"/>
              <a:t>different lighting</a:t>
            </a:r>
            <a:r>
              <a:rPr lang="en-IN" dirty="0"/>
              <a:t>.</a:t>
            </a:r>
          </a:p>
          <a:p>
            <a:endParaRPr lang="en-IN" dirty="0"/>
          </a:p>
          <a:p>
            <a:endParaRPr lang="en-IN" dirty="0"/>
          </a:p>
        </p:txBody>
      </p:sp>
    </p:spTree>
    <p:extLst>
      <p:ext uri="{BB962C8B-B14F-4D97-AF65-F5344CB8AC3E}">
        <p14:creationId xmlns:p14="http://schemas.microsoft.com/office/powerpoint/2010/main" val="322880441"/>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3CE5D-A22A-168D-EB2D-956EDAF0D9E5}"/>
              </a:ext>
            </a:extLst>
          </p:cNvPr>
          <p:cNvSpPr>
            <a:spLocks noGrp="1"/>
          </p:cNvSpPr>
          <p:nvPr>
            <p:ph type="title"/>
          </p:nvPr>
        </p:nvSpPr>
        <p:spPr/>
        <p:txBody>
          <a:bodyPr>
            <a:normAutofit fontScale="90000"/>
          </a:bodyPr>
          <a:lstStyle/>
          <a:p>
            <a:br>
              <a:rPr lang="en-IN" b="1" dirty="0"/>
            </a:br>
            <a:r>
              <a:rPr lang="en-IN" b="1" dirty="0"/>
              <a:t>1. Shape from Shading (SFS)</a:t>
            </a:r>
            <a:br>
              <a:rPr lang="en-IN" b="1" dirty="0"/>
            </a:br>
            <a:endParaRPr lang="en-IN" dirty="0"/>
          </a:p>
        </p:txBody>
      </p:sp>
      <p:sp>
        <p:nvSpPr>
          <p:cNvPr id="3" name="Content Placeholder 2">
            <a:extLst>
              <a:ext uri="{FF2B5EF4-FFF2-40B4-BE49-F238E27FC236}">
                <a16:creationId xmlns:a16="http://schemas.microsoft.com/office/drawing/2014/main" id="{48A6B4A3-8E0B-1B69-6AE1-CF3805A6A1F6}"/>
              </a:ext>
            </a:extLst>
          </p:cNvPr>
          <p:cNvSpPr>
            <a:spLocks noGrp="1"/>
          </p:cNvSpPr>
          <p:nvPr>
            <p:ph idx="1"/>
          </p:nvPr>
        </p:nvSpPr>
        <p:spPr/>
        <p:txBody>
          <a:bodyPr/>
          <a:lstStyle/>
          <a:p>
            <a:r>
              <a:rPr lang="en-IN" b="1" dirty="0"/>
              <a:t>Shape from Shading is a technique that estimates the 3D shape of an object by looking at the light and dark areas in a single image.</a:t>
            </a:r>
          </a:p>
          <a:p>
            <a:r>
              <a:rPr lang="en-IN" dirty="0"/>
              <a:t>It means that the computer tries to understand the </a:t>
            </a:r>
            <a:r>
              <a:rPr lang="en-IN" b="1" dirty="0"/>
              <a:t>real shape</a:t>
            </a:r>
            <a:r>
              <a:rPr lang="en-IN" dirty="0"/>
              <a:t> of an object, not just its flat picture.</a:t>
            </a:r>
            <a:endParaRPr lang="en-IN" b="1" dirty="0"/>
          </a:p>
          <a:p>
            <a:r>
              <a:rPr lang="en-IN" b="1" dirty="0"/>
              <a:t>Simple Idea </a:t>
            </a:r>
          </a:p>
          <a:p>
            <a:r>
              <a:rPr lang="en-IN" dirty="0"/>
              <a:t>Imagine a ball.</a:t>
            </a:r>
          </a:p>
          <a:p>
            <a:r>
              <a:rPr lang="en-IN" dirty="0"/>
              <a:t>Even though the picture is </a:t>
            </a:r>
            <a:r>
              <a:rPr lang="en-IN" b="1" dirty="0"/>
              <a:t>flat (2D)</a:t>
            </a:r>
            <a:r>
              <a:rPr lang="en-IN" dirty="0"/>
              <a:t>, you can tell it is </a:t>
            </a:r>
            <a:r>
              <a:rPr lang="en-IN" b="1" dirty="0"/>
              <a:t>round</a:t>
            </a:r>
            <a:r>
              <a:rPr lang="en-IN" dirty="0"/>
              <a:t> because of the shading.</a:t>
            </a:r>
          </a:p>
          <a:p>
            <a:endParaRPr lang="en-IN" dirty="0"/>
          </a:p>
          <a:p>
            <a:endParaRPr lang="en-IN" dirty="0"/>
          </a:p>
        </p:txBody>
      </p:sp>
    </p:spTree>
    <p:extLst>
      <p:ext uri="{BB962C8B-B14F-4D97-AF65-F5344CB8AC3E}">
        <p14:creationId xmlns:p14="http://schemas.microsoft.com/office/powerpoint/2010/main" val="274198380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4AD3-3DB8-B009-3F03-B41C6A5004C7}"/>
              </a:ext>
            </a:extLst>
          </p:cNvPr>
          <p:cNvSpPr>
            <a:spLocks noGrp="1"/>
          </p:cNvSpPr>
          <p:nvPr>
            <p:ph type="title"/>
          </p:nvPr>
        </p:nvSpPr>
        <p:spPr/>
        <p:txBody>
          <a:bodyPr/>
          <a:lstStyle/>
          <a:p>
            <a:endParaRPr lang="en-IN"/>
          </a:p>
        </p:txBody>
      </p:sp>
      <p:pic>
        <p:nvPicPr>
          <p:cNvPr id="4" name="Content Placeholder 3" descr="https://images.openai.com/static-rsc-4/DhHeZsyx7WPudmus95AmA0ScHXU6Us-giGMtDbKvs_hUhwaogz_CsWMkSOmyHtlbtI9vV5fZEUrsYeIO5mkl_BvpBY-T6k00bder3M61-hDLjOns9FiUK5DXQHfyHScu-VtZOl72aSOczRURi1_er1NCSxq4cQY9wc9NUpTJtifmH07dgB57-2jzHMzFbKHO?purpose=fullsize">
            <a:extLst>
              <a:ext uri="{FF2B5EF4-FFF2-40B4-BE49-F238E27FC236}">
                <a16:creationId xmlns:a16="http://schemas.microsoft.com/office/drawing/2014/main" id="{97B8D999-FDD3-3787-0D94-D4A328B9728D}"/>
              </a:ext>
            </a:extLst>
          </p:cNvPr>
          <p:cNvPicPr>
            <a:picLocks noGrp="1" noChangeAspect="1"/>
          </p:cNvPicPr>
          <p:nvPr>
            <p:ph idx="1"/>
          </p:nvPr>
        </p:nvPicPr>
        <p:blipFill>
          <a:blip r:embed="rId2"/>
          <a:stretch>
            <a:fillRect/>
          </a:stretch>
        </p:blipFill>
        <p:spPr>
          <a:xfrm>
            <a:off x="2286000" y="1905794"/>
            <a:ext cx="7620000" cy="4191000"/>
          </a:xfrm>
          <a:prstGeom prst="rect">
            <a:avLst/>
          </a:prstGeom>
        </p:spPr>
      </p:pic>
    </p:spTree>
    <p:extLst>
      <p:ext uri="{BB962C8B-B14F-4D97-AF65-F5344CB8AC3E}">
        <p14:creationId xmlns:p14="http://schemas.microsoft.com/office/powerpoint/2010/main" val="2033715335"/>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1156-FAE0-2CCD-7EF2-B9A7D61E63BE}"/>
              </a:ext>
            </a:extLst>
          </p:cNvPr>
          <p:cNvSpPr>
            <a:spLocks noGrp="1"/>
          </p:cNvSpPr>
          <p:nvPr>
            <p:ph type="title"/>
          </p:nvPr>
        </p:nvSpPr>
        <p:spPr/>
        <p:txBody>
          <a:bodyPr>
            <a:normAutofit fontScale="90000"/>
          </a:bodyPr>
          <a:lstStyle/>
          <a:p>
            <a:br>
              <a:rPr lang="en-IN" b="1" dirty="0"/>
            </a:br>
            <a:br>
              <a:rPr lang="en-IN" b="1" dirty="0"/>
            </a:br>
            <a:r>
              <a:rPr lang="en-IN" b="1" dirty="0"/>
              <a:t>Why?</a:t>
            </a:r>
            <a:br>
              <a:rPr lang="en-IN" b="1" dirty="0"/>
            </a:br>
            <a:br>
              <a:rPr lang="en-IN" dirty="0"/>
            </a:br>
            <a:endParaRPr lang="en-IN" dirty="0"/>
          </a:p>
        </p:txBody>
      </p:sp>
      <p:sp>
        <p:nvSpPr>
          <p:cNvPr id="3" name="Content Placeholder 2">
            <a:extLst>
              <a:ext uri="{FF2B5EF4-FFF2-40B4-BE49-F238E27FC236}">
                <a16:creationId xmlns:a16="http://schemas.microsoft.com/office/drawing/2014/main" id="{C13603B8-3642-D202-E021-5CCBC8EE30BB}"/>
              </a:ext>
            </a:extLst>
          </p:cNvPr>
          <p:cNvSpPr>
            <a:spLocks noGrp="1"/>
          </p:cNvSpPr>
          <p:nvPr>
            <p:ph idx="1"/>
          </p:nvPr>
        </p:nvSpPr>
        <p:spPr/>
        <p:txBody>
          <a:bodyPr/>
          <a:lstStyle/>
          <a:p>
            <a:r>
              <a:rPr lang="en-IN" dirty="0"/>
              <a:t>Suppose light comes from the left.</a:t>
            </a:r>
          </a:p>
          <a:p>
            <a:r>
              <a:rPr lang="en-IN" dirty="0"/>
              <a:t>The left side becomes </a:t>
            </a:r>
            <a:r>
              <a:rPr lang="en-IN" b="1" dirty="0"/>
              <a:t>bright</a:t>
            </a:r>
            <a:r>
              <a:rPr lang="en-IN" dirty="0"/>
              <a:t>.</a:t>
            </a:r>
          </a:p>
          <a:p>
            <a:r>
              <a:rPr lang="en-IN" dirty="0"/>
              <a:t>The right side becomes </a:t>
            </a:r>
            <a:r>
              <a:rPr lang="en-IN" b="1" dirty="0"/>
              <a:t>dark</a:t>
            </a:r>
            <a:r>
              <a:rPr lang="en-IN" dirty="0"/>
              <a:t>.</a:t>
            </a:r>
          </a:p>
          <a:p>
            <a:r>
              <a:rPr lang="en-IN" dirty="0"/>
              <a:t>Your brain immediately thinks,</a:t>
            </a:r>
          </a:p>
          <a:p>
            <a:r>
              <a:rPr lang="en-IN" dirty="0"/>
              <a:t>"This must be a round ball."</a:t>
            </a:r>
          </a:p>
          <a:p>
            <a:r>
              <a:rPr lang="en-IN" dirty="0"/>
              <a:t>Computer Vision learns the same thing.</a:t>
            </a:r>
          </a:p>
          <a:p>
            <a:endParaRPr lang="en-IN" dirty="0"/>
          </a:p>
        </p:txBody>
      </p:sp>
    </p:spTree>
    <p:extLst>
      <p:ext uri="{BB962C8B-B14F-4D97-AF65-F5344CB8AC3E}">
        <p14:creationId xmlns:p14="http://schemas.microsoft.com/office/powerpoint/2010/main" val="307906337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727E-0CD6-701E-1229-A8D7B8E5CF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71C0EA-2B40-3264-9FDA-F57EB371EA1A}"/>
              </a:ext>
            </a:extLst>
          </p:cNvPr>
          <p:cNvSpPr>
            <a:spLocks noGrp="1"/>
          </p:cNvSpPr>
          <p:nvPr>
            <p:ph idx="1"/>
          </p:nvPr>
        </p:nvSpPr>
        <p:spPr/>
        <p:txBody>
          <a:bodyPr/>
          <a:lstStyle/>
          <a:p>
            <a:r>
              <a:rPr lang="en-IN" b="1" dirty="0"/>
              <a:t>Everyday Example </a:t>
            </a:r>
          </a:p>
          <a:p>
            <a:r>
              <a:rPr lang="en-IN" dirty="0"/>
              <a:t>Suppose someone shows you the picture of orange.</a:t>
            </a:r>
          </a:p>
          <a:p>
            <a:r>
              <a:rPr lang="en-IN" dirty="0"/>
              <a:t>It looks flat.</a:t>
            </a:r>
          </a:p>
          <a:p>
            <a:r>
              <a:rPr lang="en-IN" dirty="0"/>
              <a:t>Now look at this.</a:t>
            </a:r>
          </a:p>
          <a:p>
            <a:r>
              <a:rPr lang="en-IN" dirty="0"/>
              <a:t>It looks like an orange.</a:t>
            </a:r>
          </a:p>
          <a:p>
            <a:r>
              <a:rPr lang="en-IN" dirty="0"/>
              <a:t>Why?</a:t>
            </a:r>
          </a:p>
          <a:p>
            <a:r>
              <a:rPr lang="en-IN" dirty="0"/>
              <a:t>Because the </a:t>
            </a:r>
            <a:r>
              <a:rPr lang="en-IN" b="1" dirty="0"/>
              <a:t>light and shadow</a:t>
            </a:r>
            <a:r>
              <a:rPr lang="en-IN" dirty="0"/>
              <a:t> tell your brain about the shape.</a:t>
            </a:r>
          </a:p>
          <a:p>
            <a:endParaRPr lang="en-IN" dirty="0"/>
          </a:p>
          <a:p>
            <a:endParaRPr lang="en-IN" dirty="0"/>
          </a:p>
        </p:txBody>
      </p:sp>
    </p:spTree>
    <p:extLst>
      <p:ext uri="{BB962C8B-B14F-4D97-AF65-F5344CB8AC3E}">
        <p14:creationId xmlns:p14="http://schemas.microsoft.com/office/powerpoint/2010/main" val="375946590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0E2B-25C9-0A74-5E25-72CBC6ACC6A6}"/>
              </a:ext>
            </a:extLst>
          </p:cNvPr>
          <p:cNvSpPr>
            <a:spLocks noGrp="1"/>
          </p:cNvSpPr>
          <p:nvPr>
            <p:ph type="title"/>
          </p:nvPr>
        </p:nvSpPr>
        <p:spPr/>
        <p:txBody>
          <a:bodyPr/>
          <a:lstStyle/>
          <a:p>
            <a:r>
              <a:rPr lang="en-IN" dirty="0"/>
              <a:t>How Shape from Shading Works</a:t>
            </a:r>
          </a:p>
        </p:txBody>
      </p:sp>
      <p:sp>
        <p:nvSpPr>
          <p:cNvPr id="3" name="Content Placeholder 2">
            <a:extLst>
              <a:ext uri="{FF2B5EF4-FFF2-40B4-BE49-F238E27FC236}">
                <a16:creationId xmlns:a16="http://schemas.microsoft.com/office/drawing/2014/main" id="{732D829C-BE6C-C513-EF77-4755BA3403ED}"/>
              </a:ext>
            </a:extLst>
          </p:cNvPr>
          <p:cNvSpPr>
            <a:spLocks noGrp="1"/>
          </p:cNvSpPr>
          <p:nvPr>
            <p:ph idx="1"/>
          </p:nvPr>
        </p:nvSpPr>
        <p:spPr/>
        <p:txBody>
          <a:bodyPr/>
          <a:lstStyle/>
          <a:p>
            <a:r>
              <a:rPr lang="en-IN" b="1" dirty="0"/>
              <a:t>Step 1</a:t>
            </a:r>
          </a:p>
          <a:p>
            <a:r>
              <a:rPr lang="en-IN" dirty="0"/>
              <a:t>Take </a:t>
            </a:r>
            <a:r>
              <a:rPr lang="en-IN" b="1" dirty="0"/>
              <a:t>one image</a:t>
            </a:r>
            <a:r>
              <a:rPr lang="en-IN" dirty="0"/>
              <a:t>.</a:t>
            </a:r>
          </a:p>
          <a:p>
            <a:r>
              <a:rPr lang="en-IN" b="1" dirty="0"/>
              <a:t>Step 2</a:t>
            </a:r>
          </a:p>
          <a:p>
            <a:r>
              <a:rPr lang="en-IN" dirty="0"/>
              <a:t>Find bright and dark regions.</a:t>
            </a:r>
          </a:p>
          <a:p>
            <a:r>
              <a:rPr lang="en-IN" b="1" dirty="0"/>
              <a:t>Step 3</a:t>
            </a:r>
          </a:p>
          <a:p>
            <a:r>
              <a:rPr lang="en-IN" dirty="0"/>
              <a:t>Estimate the surface slope.</a:t>
            </a:r>
          </a:p>
          <a:p>
            <a:endParaRPr lang="en-IN" dirty="0"/>
          </a:p>
        </p:txBody>
      </p:sp>
    </p:spTree>
    <p:extLst>
      <p:ext uri="{BB962C8B-B14F-4D97-AF65-F5344CB8AC3E}">
        <p14:creationId xmlns:p14="http://schemas.microsoft.com/office/powerpoint/2010/main" val="63473141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7331-7A0C-5CFD-F712-EF159B7D15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78A924-B710-1DFA-9117-B5FFE2A82E40}"/>
              </a:ext>
            </a:extLst>
          </p:cNvPr>
          <p:cNvSpPr>
            <a:spLocks noGrp="1"/>
          </p:cNvSpPr>
          <p:nvPr>
            <p:ph idx="1"/>
          </p:nvPr>
        </p:nvSpPr>
        <p:spPr/>
        <p:txBody>
          <a:bodyPr/>
          <a:lstStyle/>
          <a:p>
            <a:pPr marL="0" indent="0">
              <a:buNone/>
            </a:pPr>
            <a:r>
              <a:rPr lang="en-IN" dirty="0"/>
              <a:t>Bright</a:t>
            </a:r>
          </a:p>
          <a:p>
            <a:pPr marL="0" indent="0">
              <a:buNone/>
            </a:pPr>
            <a:r>
              <a:rPr lang="en-IN" dirty="0"/>
              <a:t>↓</a:t>
            </a:r>
          </a:p>
          <a:p>
            <a:pPr marL="0" indent="0">
              <a:buNone/>
            </a:pPr>
            <a:r>
              <a:rPr lang="en-IN" dirty="0"/>
              <a:t>Surface facing light</a:t>
            </a:r>
          </a:p>
          <a:p>
            <a:pPr marL="0" indent="0">
              <a:buNone/>
            </a:pPr>
            <a:r>
              <a:rPr lang="en-IN" dirty="0"/>
              <a:t>Dark</a:t>
            </a:r>
          </a:p>
          <a:p>
            <a:pPr marL="0" indent="0">
              <a:buNone/>
            </a:pPr>
            <a:r>
              <a:rPr lang="en-IN" dirty="0"/>
              <a:t>↓</a:t>
            </a:r>
          </a:p>
          <a:p>
            <a:pPr marL="0" indent="0">
              <a:buNone/>
            </a:pPr>
            <a:r>
              <a:rPr lang="en-IN" dirty="0"/>
              <a:t>Surface facing away</a:t>
            </a:r>
          </a:p>
          <a:p>
            <a:endParaRPr lang="en-IN" dirty="0"/>
          </a:p>
        </p:txBody>
      </p:sp>
    </p:spTree>
    <p:extLst>
      <p:ext uri="{BB962C8B-B14F-4D97-AF65-F5344CB8AC3E}">
        <p14:creationId xmlns:p14="http://schemas.microsoft.com/office/powerpoint/2010/main" val="371564101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F36958-E7A8-5234-C92C-6C3B1D3B867F}"/>
              </a:ext>
            </a:extLst>
          </p:cNvPr>
          <p:cNvSpPr>
            <a:spLocks noGrp="1"/>
          </p:cNvSpPr>
          <p:nvPr>
            <p:ph idx="1"/>
          </p:nvPr>
        </p:nvSpPr>
        <p:spPr>
          <a:xfrm>
            <a:off x="838200" y="518746"/>
            <a:ext cx="10515600" cy="5658217"/>
          </a:xfrm>
        </p:spPr>
        <p:txBody>
          <a:bodyPr/>
          <a:lstStyle/>
          <a:p>
            <a:r>
              <a:rPr lang="en-IN" b="1" dirty="0"/>
              <a:t>Step 4</a:t>
            </a:r>
          </a:p>
          <a:p>
            <a:r>
              <a:rPr lang="en-IN" dirty="0"/>
              <a:t>Create a 3D shape.</a:t>
            </a:r>
          </a:p>
          <a:p>
            <a:r>
              <a:rPr lang="en-IN" b="1" dirty="0"/>
              <a:t>Example</a:t>
            </a:r>
          </a:p>
          <a:p>
            <a:r>
              <a:rPr lang="en-IN" dirty="0"/>
              <a:t>Imagine a mountain.</a:t>
            </a:r>
          </a:p>
          <a:p>
            <a:r>
              <a:rPr lang="en-IN" dirty="0"/>
              <a:t>Without shading</a:t>
            </a:r>
          </a:p>
          <a:p>
            <a:endParaRPr lang="en-IN" dirty="0"/>
          </a:p>
          <a:p>
            <a:r>
              <a:rPr lang="en-IN" dirty="0"/>
              <a:t>With shading</a:t>
            </a:r>
          </a:p>
          <a:p>
            <a:r>
              <a:rPr lang="en-IN" dirty="0"/>
              <a:t>Now it looks like a real mountain.</a:t>
            </a:r>
          </a:p>
          <a:p>
            <a:r>
              <a:rPr lang="en-IN" dirty="0"/>
              <a:t>The computer estimates the mountain's shape from the shading.</a:t>
            </a:r>
          </a:p>
          <a:p>
            <a:endParaRPr lang="en-IN" dirty="0"/>
          </a:p>
          <a:p>
            <a:endParaRPr lang="en-IN" dirty="0"/>
          </a:p>
        </p:txBody>
      </p:sp>
    </p:spTree>
    <p:extLst>
      <p:ext uri="{BB962C8B-B14F-4D97-AF65-F5344CB8AC3E}">
        <p14:creationId xmlns:p14="http://schemas.microsoft.com/office/powerpoint/2010/main" val="38806930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6F5F0-0F38-A532-2CAA-88FA54E9B2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BEEB2E-C0CC-6C41-ECE2-4E53A1BC162D}"/>
              </a:ext>
            </a:extLst>
          </p:cNvPr>
          <p:cNvSpPr>
            <a:spLocks noGrp="1"/>
          </p:cNvSpPr>
          <p:nvPr>
            <p:ph idx="1"/>
          </p:nvPr>
        </p:nvSpPr>
        <p:spPr/>
        <p:txBody>
          <a:bodyPr/>
          <a:lstStyle/>
          <a:p>
            <a:r>
              <a:rPr lang="en-IN" dirty="0"/>
              <a:t>Uses only </a:t>
            </a:r>
            <a:r>
              <a:rPr lang="en-IN" b="1" dirty="0"/>
              <a:t>one image</a:t>
            </a:r>
            <a:r>
              <a:rPr lang="en-IN" dirty="0"/>
              <a:t>.</a:t>
            </a:r>
          </a:p>
          <a:p>
            <a:r>
              <a:rPr lang="en-IN" dirty="0"/>
              <a:t>If lighting is incorrect,</a:t>
            </a:r>
          </a:p>
          <a:p>
            <a:r>
              <a:rPr lang="en-IN" dirty="0"/>
              <a:t>the estimated shape may also be incorrect.</a:t>
            </a:r>
          </a:p>
          <a:p>
            <a:r>
              <a:rPr lang="en-IN" dirty="0"/>
              <a:t>One Image + Light &amp; Shadow = Shape</a:t>
            </a:r>
          </a:p>
        </p:txBody>
      </p:sp>
    </p:spTree>
    <p:extLst>
      <p:ext uri="{BB962C8B-B14F-4D97-AF65-F5344CB8AC3E}">
        <p14:creationId xmlns:p14="http://schemas.microsoft.com/office/powerpoint/2010/main" val="233622881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B9E0F-4683-1502-1A2F-C0CEF3B841AC}"/>
              </a:ext>
            </a:extLst>
          </p:cNvPr>
          <p:cNvSpPr>
            <a:spLocks noGrp="1"/>
          </p:cNvSpPr>
          <p:nvPr>
            <p:ph type="title"/>
          </p:nvPr>
        </p:nvSpPr>
        <p:spPr/>
        <p:txBody>
          <a:bodyPr/>
          <a:lstStyle/>
          <a:p>
            <a:r>
              <a:rPr lang="en-IN" dirty="0"/>
              <a:t>Photometric Stereo</a:t>
            </a:r>
          </a:p>
        </p:txBody>
      </p:sp>
      <p:sp>
        <p:nvSpPr>
          <p:cNvPr id="3" name="Content Placeholder 2">
            <a:extLst>
              <a:ext uri="{FF2B5EF4-FFF2-40B4-BE49-F238E27FC236}">
                <a16:creationId xmlns:a16="http://schemas.microsoft.com/office/drawing/2014/main" id="{81CBCAD5-87C5-8198-4EA2-91E13CB32814}"/>
              </a:ext>
            </a:extLst>
          </p:cNvPr>
          <p:cNvSpPr>
            <a:spLocks noGrp="1"/>
          </p:cNvSpPr>
          <p:nvPr>
            <p:ph idx="1"/>
          </p:nvPr>
        </p:nvSpPr>
        <p:spPr/>
        <p:txBody>
          <a:bodyPr/>
          <a:lstStyle/>
          <a:p>
            <a:r>
              <a:rPr lang="en-IN" dirty="0"/>
              <a:t>Now imagine something different.</a:t>
            </a:r>
          </a:p>
          <a:p>
            <a:r>
              <a:rPr lang="en-IN" dirty="0"/>
              <a:t>Instead of changing the camera,</a:t>
            </a:r>
          </a:p>
          <a:p>
            <a:r>
              <a:rPr lang="en-IN" dirty="0"/>
              <a:t>you keep the camera fixed.</a:t>
            </a:r>
          </a:p>
          <a:p>
            <a:r>
              <a:rPr lang="en-IN" dirty="0"/>
              <a:t>Only the </a:t>
            </a:r>
            <a:r>
              <a:rPr lang="en-IN" b="1" dirty="0"/>
              <a:t>light direction changes</a:t>
            </a:r>
            <a:r>
              <a:rPr lang="en-IN" dirty="0"/>
              <a:t>.</a:t>
            </a:r>
          </a:p>
          <a:p>
            <a:endParaRPr lang="en-IN" dirty="0"/>
          </a:p>
          <a:p>
            <a:r>
              <a:rPr lang="en-IN" dirty="0"/>
              <a:t>Photometric Stereo estimates the 3D shape of an object by using multiple images taken from the same camera position but with different lighting directions.</a:t>
            </a:r>
          </a:p>
        </p:txBody>
      </p:sp>
    </p:spTree>
    <p:extLst>
      <p:ext uri="{BB962C8B-B14F-4D97-AF65-F5344CB8AC3E}">
        <p14:creationId xmlns:p14="http://schemas.microsoft.com/office/powerpoint/2010/main" val="1905715528"/>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12600-30C8-CF66-7D49-68E425136E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A9D0CC-0555-2D28-F4A3-C6C9E409CAA9}"/>
              </a:ext>
            </a:extLst>
          </p:cNvPr>
          <p:cNvSpPr>
            <a:spLocks noGrp="1"/>
          </p:cNvSpPr>
          <p:nvPr>
            <p:ph idx="1"/>
          </p:nvPr>
        </p:nvSpPr>
        <p:spPr/>
        <p:txBody>
          <a:bodyPr/>
          <a:lstStyle/>
          <a:p>
            <a:r>
              <a:rPr lang="en-IN" b="1" dirty="0"/>
              <a:t>Imagine This</a:t>
            </a:r>
          </a:p>
          <a:p>
            <a:r>
              <a:rPr lang="en-IN" dirty="0"/>
              <a:t>Camera never moves.</a:t>
            </a:r>
          </a:p>
          <a:p>
            <a:r>
              <a:rPr lang="en-IN" dirty="0"/>
              <a:t>Only the light moves.</a:t>
            </a:r>
          </a:p>
          <a:p>
            <a:endParaRPr lang="en-IN" dirty="0"/>
          </a:p>
          <a:p>
            <a:r>
              <a:rPr lang="en-IN" b="1" dirty="0"/>
              <a:t>Image 1</a:t>
            </a:r>
          </a:p>
          <a:p>
            <a:r>
              <a:rPr lang="en-IN" dirty="0"/>
              <a:t>Light from Left</a:t>
            </a:r>
          </a:p>
          <a:p>
            <a:r>
              <a:rPr lang="en-IN" dirty="0"/>
              <a:t>Ball becomes bright on the left.</a:t>
            </a:r>
          </a:p>
          <a:p>
            <a:endParaRPr lang="en-IN" dirty="0"/>
          </a:p>
        </p:txBody>
      </p:sp>
    </p:spTree>
    <p:extLst>
      <p:ext uri="{BB962C8B-B14F-4D97-AF65-F5344CB8AC3E}">
        <p14:creationId xmlns:p14="http://schemas.microsoft.com/office/powerpoint/2010/main" val="254013629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A336-67CE-3E97-8519-70C0F4F72F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6A3316-2672-A8BF-5A7C-9386ADFB8701}"/>
              </a:ext>
            </a:extLst>
          </p:cNvPr>
          <p:cNvSpPr>
            <a:spLocks noGrp="1"/>
          </p:cNvSpPr>
          <p:nvPr>
            <p:ph idx="1"/>
          </p:nvPr>
        </p:nvSpPr>
        <p:spPr/>
        <p:txBody>
          <a:bodyPr/>
          <a:lstStyle/>
          <a:p>
            <a:r>
              <a:rPr lang="en-IN" b="1" dirty="0"/>
              <a:t>Image 2</a:t>
            </a:r>
          </a:p>
          <a:p>
            <a:r>
              <a:rPr lang="en-IN" dirty="0"/>
              <a:t>Light from Right</a:t>
            </a:r>
          </a:p>
          <a:p>
            <a:r>
              <a:rPr lang="en-IN" dirty="0"/>
              <a:t>Now the right side becomes bright.</a:t>
            </a:r>
          </a:p>
          <a:p>
            <a:endParaRPr lang="en-IN" dirty="0"/>
          </a:p>
          <a:p>
            <a:r>
              <a:rPr lang="en-IN" b="1" dirty="0"/>
              <a:t>Image 3</a:t>
            </a:r>
          </a:p>
          <a:p>
            <a:r>
              <a:rPr lang="en-IN" dirty="0"/>
              <a:t>Light from Top</a:t>
            </a:r>
          </a:p>
          <a:p>
            <a:r>
              <a:rPr lang="en-IN" dirty="0"/>
              <a:t>Now the top becomes bright.</a:t>
            </a:r>
          </a:p>
        </p:txBody>
      </p:sp>
    </p:spTree>
    <p:extLst>
      <p:ext uri="{BB962C8B-B14F-4D97-AF65-F5344CB8AC3E}">
        <p14:creationId xmlns:p14="http://schemas.microsoft.com/office/powerpoint/2010/main" val="10655448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69AC8-9A8E-5C7B-2241-F9047929A67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465F658-F622-B04A-D141-D2C8B89A66A2}"/>
              </a:ext>
            </a:extLst>
          </p:cNvPr>
          <p:cNvPicPr>
            <a:picLocks noGrp="1" noChangeAspect="1"/>
          </p:cNvPicPr>
          <p:nvPr>
            <p:ph idx="1"/>
          </p:nvPr>
        </p:nvPicPr>
        <p:blipFill>
          <a:blip r:embed="rId2"/>
          <a:stretch>
            <a:fillRect/>
          </a:stretch>
        </p:blipFill>
        <p:spPr>
          <a:xfrm>
            <a:off x="2597156" y="1825625"/>
            <a:ext cx="6997688" cy="4351338"/>
          </a:xfrm>
          <a:prstGeom prst="rect">
            <a:avLst/>
          </a:prstGeom>
        </p:spPr>
      </p:pic>
    </p:spTree>
    <p:extLst>
      <p:ext uri="{BB962C8B-B14F-4D97-AF65-F5344CB8AC3E}">
        <p14:creationId xmlns:p14="http://schemas.microsoft.com/office/powerpoint/2010/main" val="11216707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01BDC4-39E7-EA4A-E78C-B8164B64D700}"/>
              </a:ext>
            </a:extLst>
          </p:cNvPr>
          <p:cNvSpPr>
            <a:spLocks noGrp="1"/>
          </p:cNvSpPr>
          <p:nvPr>
            <p:ph idx="1"/>
          </p:nvPr>
        </p:nvSpPr>
        <p:spPr>
          <a:xfrm>
            <a:off x="838200" y="395654"/>
            <a:ext cx="10515600" cy="5781309"/>
          </a:xfrm>
        </p:spPr>
        <p:txBody>
          <a:bodyPr/>
          <a:lstStyle/>
          <a:p>
            <a:r>
              <a:rPr lang="en-IN" b="1" dirty="0"/>
              <a:t>What does the computer do?</a:t>
            </a:r>
          </a:p>
          <a:p>
            <a:r>
              <a:rPr lang="en-IN" dirty="0"/>
              <a:t>It compares all the images.</a:t>
            </a:r>
          </a:p>
          <a:p>
            <a:r>
              <a:rPr lang="en-IN" dirty="0"/>
              <a:t>For every pixel,</a:t>
            </a:r>
          </a:p>
          <a:p>
            <a:r>
              <a:rPr lang="en-IN" dirty="0"/>
              <a:t>it asks</a:t>
            </a:r>
          </a:p>
          <a:p>
            <a:r>
              <a:rPr lang="en-IN" dirty="0"/>
              <a:t>"Why is this point bright here but dark there?"</a:t>
            </a:r>
          </a:p>
          <a:p>
            <a:r>
              <a:rPr lang="en-IN" dirty="0"/>
              <a:t>From this,</a:t>
            </a:r>
          </a:p>
          <a:p>
            <a:r>
              <a:rPr lang="en-IN" dirty="0"/>
              <a:t>it calculates</a:t>
            </a:r>
          </a:p>
          <a:p>
            <a:r>
              <a:rPr lang="en-IN" dirty="0"/>
              <a:t>Surface direction</a:t>
            </a:r>
          </a:p>
          <a:p>
            <a:r>
              <a:rPr lang="en-IN" dirty="0"/>
              <a:t>Surface angle</a:t>
            </a:r>
          </a:p>
          <a:p>
            <a:r>
              <a:rPr lang="en-IN" dirty="0"/>
              <a:t>3D shape</a:t>
            </a:r>
          </a:p>
          <a:p>
            <a:endParaRPr lang="en-IN" dirty="0"/>
          </a:p>
          <a:p>
            <a:endParaRPr lang="en-IN" dirty="0"/>
          </a:p>
        </p:txBody>
      </p:sp>
    </p:spTree>
    <p:extLst>
      <p:ext uri="{BB962C8B-B14F-4D97-AF65-F5344CB8AC3E}">
        <p14:creationId xmlns:p14="http://schemas.microsoft.com/office/powerpoint/2010/main" val="57099919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E7C6-FEFA-39CC-4110-284FC9ABB3C5}"/>
              </a:ext>
            </a:extLst>
          </p:cNvPr>
          <p:cNvSpPr>
            <a:spLocks noGrp="1"/>
          </p:cNvSpPr>
          <p:nvPr>
            <p:ph type="title"/>
          </p:nvPr>
        </p:nvSpPr>
        <p:spPr/>
        <p:txBody>
          <a:bodyPr/>
          <a:lstStyle/>
          <a:p>
            <a:r>
              <a:rPr lang="en-IN" dirty="0"/>
              <a:t>Step-by-Step Process</a:t>
            </a:r>
          </a:p>
        </p:txBody>
      </p:sp>
      <p:sp>
        <p:nvSpPr>
          <p:cNvPr id="3" name="Content Placeholder 2">
            <a:extLst>
              <a:ext uri="{FF2B5EF4-FFF2-40B4-BE49-F238E27FC236}">
                <a16:creationId xmlns:a16="http://schemas.microsoft.com/office/drawing/2014/main" id="{483BF991-C35D-FB77-8FF1-10437FAA2E20}"/>
              </a:ext>
            </a:extLst>
          </p:cNvPr>
          <p:cNvSpPr>
            <a:spLocks noGrp="1"/>
          </p:cNvSpPr>
          <p:nvPr>
            <p:ph idx="1"/>
          </p:nvPr>
        </p:nvSpPr>
        <p:spPr/>
        <p:txBody>
          <a:bodyPr/>
          <a:lstStyle/>
          <a:p>
            <a:r>
              <a:rPr lang="en-IN" b="1" dirty="0"/>
              <a:t>Step 1</a:t>
            </a:r>
          </a:p>
          <a:p>
            <a:r>
              <a:rPr lang="en-IN" dirty="0"/>
              <a:t>Keep camera fixed.</a:t>
            </a:r>
          </a:p>
          <a:p>
            <a:r>
              <a:rPr lang="en-IN" b="1" dirty="0"/>
              <a:t>Step 2</a:t>
            </a:r>
          </a:p>
          <a:p>
            <a:r>
              <a:rPr lang="en-IN" dirty="0"/>
              <a:t>Take many images.</a:t>
            </a:r>
          </a:p>
          <a:p>
            <a:endParaRPr lang="en-IN" dirty="0"/>
          </a:p>
          <a:p>
            <a:endParaRPr lang="en-IN" dirty="0"/>
          </a:p>
        </p:txBody>
      </p:sp>
    </p:spTree>
    <p:extLst>
      <p:ext uri="{BB962C8B-B14F-4D97-AF65-F5344CB8AC3E}">
        <p14:creationId xmlns:p14="http://schemas.microsoft.com/office/powerpoint/2010/main" val="4193759519"/>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5B04F-1742-9A1C-98B9-DA9935492B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E5347B-D1E2-5264-EADB-1F49225188FF}"/>
              </a:ext>
            </a:extLst>
          </p:cNvPr>
          <p:cNvSpPr>
            <a:spLocks noGrp="1"/>
          </p:cNvSpPr>
          <p:nvPr>
            <p:ph idx="1"/>
          </p:nvPr>
        </p:nvSpPr>
        <p:spPr/>
        <p:txBody>
          <a:bodyPr/>
          <a:lstStyle/>
          <a:p>
            <a:r>
              <a:rPr lang="en-IN" b="1" dirty="0"/>
              <a:t>Step 3</a:t>
            </a:r>
          </a:p>
          <a:p>
            <a:r>
              <a:rPr lang="en-IN" dirty="0"/>
              <a:t>Measure brightness.</a:t>
            </a:r>
          </a:p>
          <a:p>
            <a:r>
              <a:rPr lang="en-IN" dirty="0"/>
              <a:t>Image 1</a:t>
            </a:r>
          </a:p>
          <a:p>
            <a:r>
              <a:rPr lang="en-IN" dirty="0"/>
              <a:t>Bright</a:t>
            </a:r>
          </a:p>
          <a:p>
            <a:r>
              <a:rPr lang="en-IN" dirty="0"/>
              <a:t>Image 2</a:t>
            </a:r>
          </a:p>
          <a:p>
            <a:r>
              <a:rPr lang="en-IN" dirty="0"/>
              <a:t>Dark</a:t>
            </a:r>
          </a:p>
          <a:p>
            <a:r>
              <a:rPr lang="en-IN" dirty="0"/>
              <a:t>Image 3</a:t>
            </a:r>
          </a:p>
          <a:p>
            <a:r>
              <a:rPr lang="en-IN" dirty="0"/>
              <a:t>Medium</a:t>
            </a:r>
          </a:p>
          <a:p>
            <a:endParaRPr lang="en-IN" dirty="0"/>
          </a:p>
        </p:txBody>
      </p:sp>
    </p:spTree>
    <p:extLst>
      <p:ext uri="{BB962C8B-B14F-4D97-AF65-F5344CB8AC3E}">
        <p14:creationId xmlns:p14="http://schemas.microsoft.com/office/powerpoint/2010/main" val="304740655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65DB7-265D-8470-98FF-F495925DFA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278CEC-DEBF-75A6-50D0-41C3CB430F32}"/>
              </a:ext>
            </a:extLst>
          </p:cNvPr>
          <p:cNvSpPr>
            <a:spLocks noGrp="1"/>
          </p:cNvSpPr>
          <p:nvPr>
            <p:ph idx="1"/>
          </p:nvPr>
        </p:nvSpPr>
        <p:spPr/>
        <p:txBody>
          <a:bodyPr/>
          <a:lstStyle/>
          <a:p>
            <a:r>
              <a:rPr lang="en-IN" b="1" dirty="0"/>
              <a:t>Step 4</a:t>
            </a:r>
          </a:p>
          <a:p>
            <a:r>
              <a:rPr lang="en-IN" dirty="0"/>
              <a:t>Estimate surface direction.</a:t>
            </a:r>
          </a:p>
          <a:p>
            <a:r>
              <a:rPr lang="en-IN" dirty="0"/>
              <a:t>The computer figures out which way each part of the object's surface is facing.</a:t>
            </a:r>
          </a:p>
          <a:p>
            <a:r>
              <a:rPr lang="en-IN" b="1" dirty="0"/>
              <a:t>Step 5</a:t>
            </a:r>
          </a:p>
          <a:p>
            <a:r>
              <a:rPr lang="en-IN" dirty="0"/>
              <a:t>Build 3D object.</a:t>
            </a:r>
          </a:p>
          <a:p>
            <a:endParaRPr lang="en-IN" dirty="0"/>
          </a:p>
        </p:txBody>
      </p:sp>
    </p:spTree>
    <p:extLst>
      <p:ext uri="{BB962C8B-B14F-4D97-AF65-F5344CB8AC3E}">
        <p14:creationId xmlns:p14="http://schemas.microsoft.com/office/powerpoint/2010/main" val="39714932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219D9-72C0-DD93-92BE-19943024892E}"/>
              </a:ext>
            </a:extLst>
          </p:cNvPr>
          <p:cNvSpPr>
            <a:spLocks noGrp="1"/>
          </p:cNvSpPr>
          <p:nvPr>
            <p:ph type="title"/>
          </p:nvPr>
        </p:nvSpPr>
        <p:spPr/>
        <p:txBody>
          <a:bodyPr/>
          <a:lstStyle/>
          <a:p>
            <a:r>
              <a:rPr lang="en-IN" dirty="0"/>
              <a:t>Real-Life Example</a:t>
            </a:r>
          </a:p>
        </p:txBody>
      </p:sp>
      <p:sp>
        <p:nvSpPr>
          <p:cNvPr id="3" name="Content Placeholder 2">
            <a:extLst>
              <a:ext uri="{FF2B5EF4-FFF2-40B4-BE49-F238E27FC236}">
                <a16:creationId xmlns:a16="http://schemas.microsoft.com/office/drawing/2014/main" id="{AD1CBCB2-6E53-7BA6-B8B6-61BB48B5CEDD}"/>
              </a:ext>
            </a:extLst>
          </p:cNvPr>
          <p:cNvSpPr>
            <a:spLocks noGrp="1"/>
          </p:cNvSpPr>
          <p:nvPr>
            <p:ph idx="1"/>
          </p:nvPr>
        </p:nvSpPr>
        <p:spPr/>
        <p:txBody>
          <a:bodyPr/>
          <a:lstStyle/>
          <a:p>
            <a:r>
              <a:rPr lang="en-IN" dirty="0"/>
              <a:t>Imagine your face.</a:t>
            </a:r>
          </a:p>
          <a:p>
            <a:r>
              <a:rPr lang="en-IN" dirty="0"/>
              <a:t>Light from left</a:t>
            </a:r>
          </a:p>
          <a:p>
            <a:r>
              <a:rPr lang="en-IN" dirty="0"/>
              <a:t>Light from right</a:t>
            </a:r>
          </a:p>
          <a:p>
            <a:r>
              <a:rPr lang="en-IN" dirty="0"/>
              <a:t>Light from Top</a:t>
            </a:r>
          </a:p>
          <a:p>
            <a:r>
              <a:rPr lang="en-IN" dirty="0"/>
              <a:t>Every picture looks slightly different.</a:t>
            </a:r>
          </a:p>
          <a:p>
            <a:r>
              <a:rPr lang="en-IN" dirty="0"/>
              <a:t>Using all of them,</a:t>
            </a:r>
          </a:p>
          <a:p>
            <a:r>
              <a:rPr lang="en-IN" dirty="0"/>
              <a:t>Computer Vision builds a detailed 3D face.</a:t>
            </a:r>
          </a:p>
          <a:p>
            <a:endParaRPr lang="en-IN" dirty="0"/>
          </a:p>
          <a:p>
            <a:endParaRPr lang="en-IN" dirty="0"/>
          </a:p>
          <a:p>
            <a:endParaRPr lang="en-IN" dirty="0"/>
          </a:p>
        </p:txBody>
      </p:sp>
    </p:spTree>
    <p:extLst>
      <p:ext uri="{BB962C8B-B14F-4D97-AF65-F5344CB8AC3E}">
        <p14:creationId xmlns:p14="http://schemas.microsoft.com/office/powerpoint/2010/main" val="3366536660"/>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CF16-7DD7-F35C-6F3C-44598B7A00AF}"/>
              </a:ext>
            </a:extLst>
          </p:cNvPr>
          <p:cNvSpPr>
            <a:spLocks noGrp="1"/>
          </p:cNvSpPr>
          <p:nvPr>
            <p:ph type="title"/>
          </p:nvPr>
        </p:nvSpPr>
        <p:spPr/>
        <p:txBody>
          <a:bodyPr/>
          <a:lstStyle/>
          <a:p>
            <a:r>
              <a:rPr lang="en-IN" dirty="0"/>
              <a:t>Difference Between Shape from Shading and Photometric Stereo</a:t>
            </a:r>
          </a:p>
        </p:txBody>
      </p:sp>
      <p:graphicFrame>
        <p:nvGraphicFramePr>
          <p:cNvPr id="4" name="Content Placeholder 3">
            <a:extLst>
              <a:ext uri="{FF2B5EF4-FFF2-40B4-BE49-F238E27FC236}">
                <a16:creationId xmlns:a16="http://schemas.microsoft.com/office/drawing/2014/main" id="{E2B71471-0FDE-339F-302B-A8C991F82A50}"/>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5257800">
                  <a:extLst>
                    <a:ext uri="{9D8B030D-6E8A-4147-A177-3AD203B41FA5}">
                      <a16:colId xmlns:a16="http://schemas.microsoft.com/office/drawing/2014/main" val="3288434825"/>
                    </a:ext>
                  </a:extLst>
                </a:gridCol>
                <a:gridCol w="5257800">
                  <a:extLst>
                    <a:ext uri="{9D8B030D-6E8A-4147-A177-3AD203B41FA5}">
                      <a16:colId xmlns:a16="http://schemas.microsoft.com/office/drawing/2014/main" val="1172197148"/>
                    </a:ext>
                  </a:extLst>
                </a:gridCol>
              </a:tblGrid>
              <a:tr h="0">
                <a:tc>
                  <a:txBody>
                    <a:bodyPr/>
                    <a:lstStyle/>
                    <a:p>
                      <a:pPr>
                        <a:buNone/>
                      </a:pPr>
                      <a:r>
                        <a:rPr lang="en-IN"/>
                        <a:t>Shape from Shading</a:t>
                      </a:r>
                    </a:p>
                  </a:txBody>
                  <a:tcPr anchor="ctr">
                    <a:lnL>
                      <a:noFill/>
                    </a:lnL>
                    <a:lnR>
                      <a:noFill/>
                    </a:lnR>
                    <a:lnT>
                      <a:noFill/>
                    </a:lnT>
                    <a:lnB>
                      <a:noFill/>
                    </a:lnB>
                    <a:noFill/>
                  </a:tcPr>
                </a:tc>
                <a:tc>
                  <a:txBody>
                    <a:bodyPr/>
                    <a:lstStyle/>
                    <a:p>
                      <a:pPr>
                        <a:buNone/>
                      </a:pPr>
                      <a:r>
                        <a:rPr lang="en-IN"/>
                        <a:t>Photometric Stereo</a:t>
                      </a:r>
                    </a:p>
                  </a:txBody>
                  <a:tcPr anchor="ctr">
                    <a:lnL>
                      <a:noFill/>
                    </a:lnL>
                    <a:lnR>
                      <a:noFill/>
                    </a:lnR>
                    <a:lnT>
                      <a:noFill/>
                    </a:lnT>
                    <a:lnB>
                      <a:noFill/>
                    </a:lnB>
                    <a:noFill/>
                  </a:tcPr>
                </a:tc>
                <a:extLst>
                  <a:ext uri="{0D108BD9-81ED-4DB2-BD59-A6C34878D82A}">
                    <a16:rowId xmlns:a16="http://schemas.microsoft.com/office/drawing/2014/main" val="76707320"/>
                  </a:ext>
                </a:extLst>
              </a:tr>
              <a:tr h="0">
                <a:tc>
                  <a:txBody>
                    <a:bodyPr/>
                    <a:lstStyle/>
                    <a:p>
                      <a:pPr>
                        <a:buNone/>
                      </a:pPr>
                      <a:r>
                        <a:rPr lang="en-IN"/>
                        <a:t>Uses </a:t>
                      </a:r>
                      <a:r>
                        <a:rPr lang="en-IN" b="1"/>
                        <a:t>1 image</a:t>
                      </a:r>
                      <a:endParaRPr lang="en-IN"/>
                    </a:p>
                  </a:txBody>
                  <a:tcPr anchor="ctr">
                    <a:lnL>
                      <a:noFill/>
                    </a:lnL>
                    <a:lnR>
                      <a:noFill/>
                    </a:lnR>
                    <a:lnT>
                      <a:noFill/>
                    </a:lnT>
                    <a:lnB>
                      <a:noFill/>
                    </a:lnB>
                    <a:noFill/>
                  </a:tcPr>
                </a:tc>
                <a:tc>
                  <a:txBody>
                    <a:bodyPr/>
                    <a:lstStyle/>
                    <a:p>
                      <a:pPr>
                        <a:buNone/>
                      </a:pPr>
                      <a:r>
                        <a:rPr lang="en-IN"/>
                        <a:t>Uses </a:t>
                      </a:r>
                      <a:r>
                        <a:rPr lang="en-IN" b="1"/>
                        <a:t>many images</a:t>
                      </a:r>
                      <a:endParaRPr lang="en-IN"/>
                    </a:p>
                  </a:txBody>
                  <a:tcPr anchor="ctr">
                    <a:lnL>
                      <a:noFill/>
                    </a:lnL>
                    <a:lnR>
                      <a:noFill/>
                    </a:lnR>
                    <a:lnT>
                      <a:noFill/>
                    </a:lnT>
                    <a:lnB>
                      <a:noFill/>
                    </a:lnB>
                    <a:noFill/>
                  </a:tcPr>
                </a:tc>
                <a:extLst>
                  <a:ext uri="{0D108BD9-81ED-4DB2-BD59-A6C34878D82A}">
                    <a16:rowId xmlns:a16="http://schemas.microsoft.com/office/drawing/2014/main" val="4255979074"/>
                  </a:ext>
                </a:extLst>
              </a:tr>
              <a:tr h="0">
                <a:tc>
                  <a:txBody>
                    <a:bodyPr/>
                    <a:lstStyle/>
                    <a:p>
                      <a:pPr>
                        <a:buNone/>
                      </a:pPr>
                      <a:r>
                        <a:rPr lang="en-IN"/>
                        <a:t>Light is fixed</a:t>
                      </a:r>
                    </a:p>
                  </a:txBody>
                  <a:tcPr anchor="ctr">
                    <a:lnL>
                      <a:noFill/>
                    </a:lnL>
                    <a:lnR>
                      <a:noFill/>
                    </a:lnR>
                    <a:lnT>
                      <a:noFill/>
                    </a:lnT>
                    <a:lnB>
                      <a:noFill/>
                    </a:lnB>
                    <a:noFill/>
                  </a:tcPr>
                </a:tc>
                <a:tc>
                  <a:txBody>
                    <a:bodyPr/>
                    <a:lstStyle/>
                    <a:p>
                      <a:pPr>
                        <a:buNone/>
                      </a:pPr>
                      <a:r>
                        <a:rPr lang="en-IN"/>
                        <a:t>Camera is fixed, light changes</a:t>
                      </a:r>
                    </a:p>
                  </a:txBody>
                  <a:tcPr anchor="ctr">
                    <a:lnL>
                      <a:noFill/>
                    </a:lnL>
                    <a:lnR>
                      <a:noFill/>
                    </a:lnR>
                    <a:lnT>
                      <a:noFill/>
                    </a:lnT>
                    <a:lnB>
                      <a:noFill/>
                    </a:lnB>
                    <a:noFill/>
                  </a:tcPr>
                </a:tc>
                <a:extLst>
                  <a:ext uri="{0D108BD9-81ED-4DB2-BD59-A6C34878D82A}">
                    <a16:rowId xmlns:a16="http://schemas.microsoft.com/office/drawing/2014/main" val="1721146638"/>
                  </a:ext>
                </a:extLst>
              </a:tr>
              <a:tr h="0">
                <a:tc>
                  <a:txBody>
                    <a:bodyPr/>
                    <a:lstStyle/>
                    <a:p>
                      <a:pPr>
                        <a:buNone/>
                      </a:pPr>
                      <a:r>
                        <a:rPr lang="en-IN"/>
                        <a:t>Less accurate</a:t>
                      </a:r>
                    </a:p>
                  </a:txBody>
                  <a:tcPr anchor="ctr">
                    <a:lnL>
                      <a:noFill/>
                    </a:lnL>
                    <a:lnR>
                      <a:noFill/>
                    </a:lnR>
                    <a:lnT>
                      <a:noFill/>
                    </a:lnT>
                    <a:lnB>
                      <a:noFill/>
                    </a:lnB>
                    <a:noFill/>
                  </a:tcPr>
                </a:tc>
                <a:tc>
                  <a:txBody>
                    <a:bodyPr/>
                    <a:lstStyle/>
                    <a:p>
                      <a:pPr>
                        <a:buNone/>
                      </a:pPr>
                      <a:r>
                        <a:rPr lang="en-IN"/>
                        <a:t>More accurate</a:t>
                      </a:r>
                    </a:p>
                  </a:txBody>
                  <a:tcPr anchor="ctr">
                    <a:lnL>
                      <a:noFill/>
                    </a:lnL>
                    <a:lnR>
                      <a:noFill/>
                    </a:lnR>
                    <a:lnT>
                      <a:noFill/>
                    </a:lnT>
                    <a:lnB>
                      <a:noFill/>
                    </a:lnB>
                    <a:noFill/>
                  </a:tcPr>
                </a:tc>
                <a:extLst>
                  <a:ext uri="{0D108BD9-81ED-4DB2-BD59-A6C34878D82A}">
                    <a16:rowId xmlns:a16="http://schemas.microsoft.com/office/drawing/2014/main" val="369486427"/>
                  </a:ext>
                </a:extLst>
              </a:tr>
              <a:tr h="0">
                <a:tc>
                  <a:txBody>
                    <a:bodyPr/>
                    <a:lstStyle/>
                    <a:p>
                      <a:pPr>
                        <a:buNone/>
                      </a:pPr>
                      <a:r>
                        <a:rPr lang="en-IN"/>
                        <a:t>Estimates shape from shadows</a:t>
                      </a:r>
                    </a:p>
                  </a:txBody>
                  <a:tcPr anchor="ctr">
                    <a:lnL>
                      <a:noFill/>
                    </a:lnL>
                    <a:lnR>
                      <a:noFill/>
                    </a:lnR>
                    <a:lnT>
                      <a:noFill/>
                    </a:lnT>
                    <a:lnB>
                      <a:noFill/>
                    </a:lnB>
                    <a:noFill/>
                  </a:tcPr>
                </a:tc>
                <a:tc>
                  <a:txBody>
                    <a:bodyPr/>
                    <a:lstStyle/>
                    <a:p>
                      <a:pPr>
                        <a:buNone/>
                      </a:pPr>
                      <a:r>
                        <a:rPr lang="en-IN"/>
                        <a:t>Estimates shape by comparing different lighting</a:t>
                      </a:r>
                    </a:p>
                  </a:txBody>
                  <a:tcPr anchor="ctr">
                    <a:lnL>
                      <a:noFill/>
                    </a:lnL>
                    <a:lnR>
                      <a:noFill/>
                    </a:lnR>
                    <a:lnT>
                      <a:noFill/>
                    </a:lnT>
                    <a:lnB>
                      <a:noFill/>
                    </a:lnB>
                    <a:noFill/>
                  </a:tcPr>
                </a:tc>
                <a:extLst>
                  <a:ext uri="{0D108BD9-81ED-4DB2-BD59-A6C34878D82A}">
                    <a16:rowId xmlns:a16="http://schemas.microsoft.com/office/drawing/2014/main" val="769390541"/>
                  </a:ext>
                </a:extLst>
              </a:tr>
              <a:tr h="0">
                <a:tc>
                  <a:txBody>
                    <a:bodyPr/>
                    <a:lstStyle/>
                    <a:p>
                      <a:pPr>
                        <a:buNone/>
                      </a:pPr>
                      <a:r>
                        <a:rPr lang="en-IN"/>
                        <a:t>Faster</a:t>
                      </a:r>
                    </a:p>
                  </a:txBody>
                  <a:tcPr anchor="ctr">
                    <a:lnL>
                      <a:noFill/>
                    </a:lnL>
                    <a:lnR>
                      <a:noFill/>
                    </a:lnR>
                    <a:lnT>
                      <a:noFill/>
                    </a:lnT>
                    <a:lnB>
                      <a:noFill/>
                    </a:lnB>
                    <a:noFill/>
                  </a:tcPr>
                </a:tc>
                <a:tc>
                  <a:txBody>
                    <a:bodyPr/>
                    <a:lstStyle/>
                    <a:p>
                      <a:pPr>
                        <a:buNone/>
                      </a:pPr>
                      <a:r>
                        <a:rPr lang="en-IN" dirty="0"/>
                        <a:t>More detailed</a:t>
                      </a:r>
                    </a:p>
                  </a:txBody>
                  <a:tcPr anchor="ctr">
                    <a:lnL>
                      <a:noFill/>
                    </a:lnL>
                    <a:lnR>
                      <a:noFill/>
                    </a:lnR>
                    <a:lnT>
                      <a:noFill/>
                    </a:lnT>
                    <a:lnB>
                      <a:noFill/>
                    </a:lnB>
                    <a:noFill/>
                  </a:tcPr>
                </a:tc>
                <a:extLst>
                  <a:ext uri="{0D108BD9-81ED-4DB2-BD59-A6C34878D82A}">
                    <a16:rowId xmlns:a16="http://schemas.microsoft.com/office/drawing/2014/main" val="323152661"/>
                  </a:ext>
                </a:extLst>
              </a:tr>
            </a:tbl>
          </a:graphicData>
        </a:graphic>
      </p:graphicFrame>
    </p:spTree>
    <p:extLst>
      <p:ext uri="{BB962C8B-B14F-4D97-AF65-F5344CB8AC3E}">
        <p14:creationId xmlns:p14="http://schemas.microsoft.com/office/powerpoint/2010/main" val="2971413410"/>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8B99-2FA2-75FC-EB95-B2A117495C4F}"/>
              </a:ext>
            </a:extLst>
          </p:cNvPr>
          <p:cNvSpPr>
            <a:spLocks noGrp="1"/>
          </p:cNvSpPr>
          <p:nvPr>
            <p:ph type="title"/>
          </p:nvPr>
        </p:nvSpPr>
        <p:spPr/>
        <p:txBody>
          <a:bodyPr/>
          <a:lstStyle/>
          <a:p>
            <a:r>
              <a:rPr lang="en-IN" dirty="0"/>
              <a:t>Easy Comparison</a:t>
            </a:r>
          </a:p>
        </p:txBody>
      </p:sp>
      <p:sp>
        <p:nvSpPr>
          <p:cNvPr id="3" name="Content Placeholder 2">
            <a:extLst>
              <a:ext uri="{FF2B5EF4-FFF2-40B4-BE49-F238E27FC236}">
                <a16:creationId xmlns:a16="http://schemas.microsoft.com/office/drawing/2014/main" id="{9B4FABAA-8AAC-BCB6-25C2-32DAC7D69FFF}"/>
              </a:ext>
            </a:extLst>
          </p:cNvPr>
          <p:cNvSpPr>
            <a:spLocks noGrp="1"/>
          </p:cNvSpPr>
          <p:nvPr>
            <p:ph idx="1"/>
          </p:nvPr>
        </p:nvSpPr>
        <p:spPr/>
        <p:txBody>
          <a:bodyPr/>
          <a:lstStyle/>
          <a:p>
            <a:r>
              <a:rPr lang="en-IN" dirty="0"/>
              <a:t>Shape from Shading</a:t>
            </a:r>
          </a:p>
          <a:p>
            <a:r>
              <a:rPr lang="en-IN" dirty="0"/>
              <a:t>Computer says:</a:t>
            </a:r>
          </a:p>
          <a:p>
            <a:r>
              <a:rPr lang="en-IN" dirty="0"/>
              <a:t>"I'll guess the shape using the shadows."</a:t>
            </a:r>
          </a:p>
          <a:p>
            <a:endParaRPr lang="en-IN" dirty="0"/>
          </a:p>
          <a:p>
            <a:r>
              <a:rPr lang="en-IN" dirty="0"/>
              <a:t>Photometric Stereo</a:t>
            </a:r>
          </a:p>
          <a:p>
            <a:r>
              <a:rPr lang="en-IN" dirty="0"/>
              <a:t>Computer says:</a:t>
            </a:r>
          </a:p>
          <a:p>
            <a:r>
              <a:rPr lang="en-IN" dirty="0"/>
              <a:t>"I have many lighting conditions, so I can calculate the shape more accurately."</a:t>
            </a:r>
          </a:p>
          <a:p>
            <a:endParaRPr lang="en-IN" dirty="0"/>
          </a:p>
        </p:txBody>
      </p:sp>
    </p:spTree>
    <p:extLst>
      <p:ext uri="{BB962C8B-B14F-4D97-AF65-F5344CB8AC3E}">
        <p14:creationId xmlns:p14="http://schemas.microsoft.com/office/powerpoint/2010/main" val="337800323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08BA24-AD53-86A6-9838-2634B3920B5D}"/>
              </a:ext>
            </a:extLst>
          </p:cNvPr>
          <p:cNvSpPr>
            <a:spLocks noGrp="1"/>
          </p:cNvSpPr>
          <p:nvPr>
            <p:ph idx="1"/>
          </p:nvPr>
        </p:nvSpPr>
        <p:spPr/>
        <p:txBody>
          <a:bodyPr/>
          <a:lstStyle/>
          <a:p>
            <a:r>
              <a:rPr lang="en-IN" b="1" dirty="0"/>
              <a:t>Easy Way to Remember </a:t>
            </a:r>
          </a:p>
          <a:p>
            <a:r>
              <a:rPr lang="en-IN" b="1" dirty="0"/>
              <a:t>Shape from Shading</a:t>
            </a:r>
          </a:p>
          <a:p>
            <a:r>
              <a:rPr lang="en-IN" dirty="0"/>
              <a:t> </a:t>
            </a:r>
            <a:r>
              <a:rPr lang="en-IN" b="1" dirty="0"/>
              <a:t>One photo</a:t>
            </a:r>
            <a:endParaRPr lang="en-IN" dirty="0"/>
          </a:p>
          <a:p>
            <a:r>
              <a:rPr lang="en-IN" dirty="0"/>
              <a:t>➜ Look at light and shadow</a:t>
            </a:r>
          </a:p>
          <a:p>
            <a:r>
              <a:rPr lang="en-IN" dirty="0"/>
              <a:t>➜ Estimate shape</a:t>
            </a:r>
          </a:p>
          <a:p>
            <a:endParaRPr lang="en-IN" dirty="0"/>
          </a:p>
        </p:txBody>
      </p:sp>
    </p:spTree>
    <p:extLst>
      <p:ext uri="{BB962C8B-B14F-4D97-AF65-F5344CB8AC3E}">
        <p14:creationId xmlns:p14="http://schemas.microsoft.com/office/powerpoint/2010/main" val="10365209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D5900-5CAB-DEF4-CD60-837BBA9F69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B4D242-E36B-4CEF-06BA-CF7656BA374B}"/>
              </a:ext>
            </a:extLst>
          </p:cNvPr>
          <p:cNvSpPr>
            <a:spLocks noGrp="1"/>
          </p:cNvSpPr>
          <p:nvPr>
            <p:ph idx="1"/>
          </p:nvPr>
        </p:nvSpPr>
        <p:spPr/>
        <p:txBody>
          <a:bodyPr/>
          <a:lstStyle/>
          <a:p>
            <a:r>
              <a:rPr lang="en-IN" b="1" dirty="0"/>
              <a:t>Photometric Stereo</a:t>
            </a:r>
          </a:p>
          <a:p>
            <a:r>
              <a:rPr lang="en-IN" b="1" dirty="0"/>
              <a:t>Many photos</a:t>
            </a:r>
            <a:endParaRPr lang="en-IN" dirty="0"/>
          </a:p>
          <a:p>
            <a:r>
              <a:rPr lang="en-IN" dirty="0"/>
              <a:t>Different light directions</a:t>
            </a:r>
          </a:p>
          <a:p>
            <a:r>
              <a:rPr lang="en-IN" dirty="0"/>
              <a:t>➜ Compare brightness</a:t>
            </a:r>
          </a:p>
          <a:p>
            <a:r>
              <a:rPr lang="en-IN" dirty="0"/>
              <a:t>➜ Build accurate 3D shape</a:t>
            </a:r>
          </a:p>
          <a:p>
            <a:endParaRPr lang="en-IN" dirty="0"/>
          </a:p>
        </p:txBody>
      </p:sp>
    </p:spTree>
    <p:extLst>
      <p:ext uri="{BB962C8B-B14F-4D97-AF65-F5344CB8AC3E}">
        <p14:creationId xmlns:p14="http://schemas.microsoft.com/office/powerpoint/2010/main" val="154548466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5CB28-346B-9D52-ADA6-401764CE35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9D87C6-70A0-8DFB-5534-22715EF189EF}"/>
              </a:ext>
            </a:extLst>
          </p:cNvPr>
          <p:cNvSpPr>
            <a:spLocks noGrp="1"/>
          </p:cNvSpPr>
          <p:nvPr>
            <p:ph idx="1"/>
          </p:nvPr>
        </p:nvSpPr>
        <p:spPr/>
        <p:txBody>
          <a:bodyPr>
            <a:normAutofit/>
          </a:bodyPr>
          <a:lstStyle/>
          <a:p>
            <a:r>
              <a:rPr lang="en-IN" b="1" dirty="0"/>
              <a:t>Shape from Shading</a:t>
            </a:r>
          </a:p>
          <a:p>
            <a:r>
              <a:rPr lang="en-IN" b="1" dirty="0"/>
              <a:t>Shape from Shading is a computer vision technique that estimates the 3D shape of an object from a single image by analysing its shading (light and dark regions).</a:t>
            </a:r>
            <a:endParaRPr lang="en-IN" dirty="0"/>
          </a:p>
          <a:p>
            <a:r>
              <a:rPr lang="en-IN" b="1" dirty="0"/>
              <a:t>Photometric Stereo</a:t>
            </a:r>
          </a:p>
          <a:p>
            <a:r>
              <a:rPr lang="en-IN" b="1" dirty="0"/>
              <a:t>Photometric Stereo is a computer vision technique that estimates the 3D shape of an object using multiple images taken from the same camera position under different lighting directions.</a:t>
            </a:r>
            <a:endParaRPr lang="en-IN" dirty="0"/>
          </a:p>
          <a:p>
            <a:endParaRPr lang="en-IN" dirty="0"/>
          </a:p>
        </p:txBody>
      </p:sp>
    </p:spTree>
    <p:extLst>
      <p:ext uri="{BB962C8B-B14F-4D97-AF65-F5344CB8AC3E}">
        <p14:creationId xmlns:p14="http://schemas.microsoft.com/office/powerpoint/2010/main" val="164500448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EE5F9-53DF-7514-26FA-4F0FB215B1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256327-D41F-105F-7532-44A10DBBDFA8}"/>
              </a:ext>
            </a:extLst>
          </p:cNvPr>
          <p:cNvSpPr>
            <a:spLocks noGrp="1"/>
          </p:cNvSpPr>
          <p:nvPr>
            <p:ph idx="1"/>
          </p:nvPr>
        </p:nvSpPr>
        <p:spPr/>
        <p:txBody>
          <a:bodyPr/>
          <a:lstStyle/>
          <a:p>
            <a:pPr marL="0" indent="0">
              <a:buNone/>
            </a:pPr>
            <a:endParaRPr lang="en-IN" b="1" dirty="0"/>
          </a:p>
          <a:p>
            <a:r>
              <a:rPr lang="en-IN" b="1" dirty="0"/>
              <a:t>Shape from Shading = One Photo + Shadows = Estimate Shape</a:t>
            </a:r>
            <a:r>
              <a:rPr lang="en-IN" dirty="0"/>
              <a:t> </a:t>
            </a:r>
          </a:p>
          <a:p>
            <a:r>
              <a:rPr lang="en-IN" b="1" dirty="0"/>
              <a:t>Photometric Stereo = Many Photos + Different Lights = Accurate 3D Shape</a:t>
            </a:r>
            <a:endParaRPr lang="en-IN" dirty="0"/>
          </a:p>
          <a:p>
            <a:endParaRPr lang="en-IN" dirty="0"/>
          </a:p>
        </p:txBody>
      </p:sp>
    </p:spTree>
    <p:extLst>
      <p:ext uri="{BB962C8B-B14F-4D97-AF65-F5344CB8AC3E}">
        <p14:creationId xmlns:p14="http://schemas.microsoft.com/office/powerpoint/2010/main" val="245001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1950</TotalTime>
  <Words>9564</Words>
  <Application>Microsoft Office PowerPoint</Application>
  <PresentationFormat>Widescreen</PresentationFormat>
  <Paragraphs>1948</Paragraphs>
  <Slides>270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270</vt:i4>
      </vt:variant>
    </vt:vector>
  </HeadingPairs>
  <TitlesOfParts>
    <vt:vector size="275" baseType="lpstr">
      <vt:lpstr>Aptos</vt:lpstr>
      <vt:lpstr>Aptos Display</vt:lpstr>
      <vt:lpstr>Arial</vt:lpstr>
      <vt:lpstr>Cambria Math</vt:lpstr>
      <vt:lpstr>Office Theme</vt:lpstr>
      <vt:lpstr>COMPUTER VISION</vt:lpstr>
      <vt:lpstr>INTODUCTION TO COMPUTER VISION</vt:lpstr>
      <vt:lpstr>PowerPoint Presentation</vt:lpstr>
      <vt:lpstr> How does Computer Vision Work? </vt:lpstr>
      <vt:lpstr>PowerPoint Presentation</vt:lpstr>
      <vt:lpstr>PowerPoint Presentation</vt:lpstr>
      <vt:lpstr>Task Associated with Computer Vision </vt:lpstr>
      <vt:lpstr>Applications of computer vision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basic steps are:</vt:lpstr>
      <vt:lpstr>PowerPoint Presentation</vt:lpstr>
      <vt:lpstr>Example: Cat vs. Dog Classification</vt:lpstr>
      <vt:lpstr>DIGITAL IMAGE PROCESSING</vt:lpstr>
      <vt:lpstr> What Is a Digital Image?</vt:lpstr>
      <vt:lpstr>PowerPoint Presentation</vt:lpstr>
      <vt:lpstr>Components of Digital Image Processing</vt:lpstr>
      <vt:lpstr>PowerPoint Presentation</vt:lpstr>
      <vt:lpstr>PowerPoint Presentation</vt:lpstr>
      <vt:lpstr>PowerPoint Presentation</vt:lpstr>
      <vt:lpstr>PowerPoint Presentation</vt:lpstr>
      <vt:lpstr>PowerPoint Presentation</vt:lpstr>
      <vt:lpstr>PowerPoint Presentation</vt:lpstr>
      <vt:lpstr>Fundamental Steps in Digital Image Processing</vt:lpstr>
      <vt:lpstr>Image Types</vt:lpstr>
      <vt:lpstr>PowerPoint Presentation</vt:lpstr>
      <vt:lpstr>PowerPoint Presentation</vt:lpstr>
      <vt:lpstr>PowerPoint Presentation</vt:lpstr>
      <vt:lpstr>PowerPoint Presentation</vt:lpstr>
      <vt:lpstr>Common Operations in Digital Image Processing</vt:lpstr>
      <vt:lpstr>PowerPoint Presentation</vt:lpstr>
      <vt:lpstr>PowerPoint Presentation</vt:lpstr>
      <vt:lpstr>PowerPoint Presentation</vt:lpstr>
      <vt:lpstr>PowerPoint Presentation</vt:lpstr>
      <vt:lpstr>PowerPoint Presentation</vt:lpstr>
      <vt:lpstr>HOW 3D IMAGES CONVERTED TO 2D</vt:lpstr>
      <vt:lpstr>PowerPoint Presentation</vt:lpstr>
      <vt:lpstr>PowerPoint Presentation</vt:lpstr>
      <vt:lpstr>Steps in 3D to 2D Conversion</vt:lpstr>
      <vt:lpstr>2. Position the Camera</vt:lpstr>
      <vt:lpstr>3.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Image Formation Models in Computer Vision</vt:lpstr>
      <vt:lpstr>PowerPoint Presentation</vt:lpstr>
      <vt:lpstr>1. Monocular Imaging System</vt:lpstr>
      <vt:lpstr>Components of a Monocular Camera</vt:lpstr>
      <vt:lpstr>PowerPoint Presentation</vt:lpstr>
      <vt:lpstr>PowerPoint Presentation</vt:lpstr>
      <vt:lpstr>PowerPoint Presentation</vt:lpstr>
      <vt:lpstr>PowerPoint Presentation</vt:lpstr>
      <vt:lpstr>2. Why is it Important?</vt:lpstr>
      <vt:lpstr>How Does a Monocular Imaging System Work?</vt:lpstr>
      <vt:lpstr>PowerPoint Presentation</vt:lpstr>
      <vt:lpstr>PowerPoint Presentation</vt:lpstr>
      <vt:lpstr>PowerPoint Presentation</vt:lpstr>
      <vt:lpstr>PowerPoint Presentation</vt:lpstr>
      <vt:lpstr>PowerPoint Presentation</vt:lpstr>
      <vt:lpstr>PowerPoint Presentation</vt:lpstr>
      <vt:lpstr>Radiosity: The "Physics" of Image Formation</vt:lpstr>
      <vt:lpstr>Why Do We Need Radiosity?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Is Radiosity Important in Computer Vision?</vt:lpstr>
      <vt:lpstr>PowerPoint Presentation</vt:lpstr>
      <vt:lpstr>PowerPoint Presentation</vt:lpstr>
      <vt:lpstr>Radiance, Irradiance, BRDF, and Color</vt:lpstr>
      <vt:lpstr>PowerPoint Presentation</vt:lpstr>
      <vt:lpstr>PowerPoint Presentation</vt:lpstr>
      <vt:lpstr>. Radiance (L)</vt:lpstr>
      <vt:lpstr>PowerPoint Presentation</vt:lpstr>
      <vt:lpstr>PowerPoint Presentation</vt:lpstr>
      <vt:lpstr>BRDF (Bidirectional Reflectance Distribution Function)</vt:lpstr>
      <vt:lpstr>PowerPoint Presentation</vt:lpstr>
      <vt:lpstr>PowerPoint Presentation</vt:lpstr>
      <vt:lpstr>Types of Reflection (BRDF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Orthographic Projection </vt:lpstr>
      <vt:lpstr>PowerPoint Presentation</vt:lpstr>
      <vt:lpstr>How It Works </vt:lpstr>
      <vt:lpstr>PowerPoint Presentation</vt:lpstr>
      <vt:lpstr>PowerPoint Presentation</vt:lpstr>
      <vt:lpstr>PowerPoint Presentation</vt:lpstr>
      <vt:lpstr>PowerPoint Presentation</vt:lpstr>
      <vt:lpstr>2. Perspective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Camera and Camera Model (Computer Vision)</vt:lpstr>
      <vt:lpstr>PowerPoint Presentation</vt:lpstr>
      <vt:lpstr>PowerPoint Presentation</vt:lpstr>
      <vt:lpstr>PowerPoint Presentation</vt:lpstr>
      <vt:lpstr>PowerPoint Presentation</vt:lpstr>
      <vt:lpstr>PowerPoint Presentation</vt:lpstr>
      <vt:lpstr>PowerPoint Presentation</vt:lpstr>
      <vt:lpstr>Image Sensor</vt:lpstr>
      <vt:lpstr>PowerPoint Presentation</vt:lpstr>
      <vt:lpstr>PowerPoint Presentation</vt:lpstr>
      <vt:lpstr>What Happens When You Take a Photo?</vt:lpstr>
      <vt:lpstr>PowerPoint Presentation</vt:lpstr>
      <vt:lpstr>What is a Camera Model? </vt:lpstr>
      <vt:lpstr>The Most Important Camera Model</vt:lpstr>
      <vt:lpstr>PowerPoint Presentation</vt:lpstr>
      <vt:lpstr>PowerPoint Presentation</vt:lpstr>
      <vt:lpstr>Camera Coordinate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Intrinsic Parameters</vt:lpstr>
      <vt:lpstr>PowerPoint Presentation</vt:lpstr>
      <vt:lpstr>Extrinsic Parameters</vt:lpstr>
      <vt:lpstr>PowerPoint Presentation</vt:lpstr>
      <vt:lpstr>Camera Calibration</vt:lpstr>
      <vt:lpstr>Why Do We Need Calibration?</vt:lpstr>
      <vt:lpstr>PowerPoint Presentation</vt:lpstr>
      <vt:lpstr>PowerPoint Presentation</vt:lpstr>
      <vt:lpstr>PowerPoint Presentation</vt:lpstr>
      <vt:lpstr>What Does Calibration Find?</vt:lpstr>
      <vt:lpstr>PowerPoint Presentation</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What Does Calibration Find?</vt:lpstr>
      <vt:lpstr>PowerPoint Presentation</vt:lpstr>
      <vt:lpstr>How is Calibration Done?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Binocular Imaging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Numerical Example</vt:lpstr>
      <vt:lpstr>PowerPoint Presentation</vt:lpstr>
      <vt:lpstr>How Binocular Imaging Works</vt:lpstr>
      <vt:lpstr>Practical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Lens Distortion in Computer Vision (CV) </vt:lpstr>
      <vt:lpstr>PowerPoint Presentation</vt:lpstr>
      <vt:lpstr>PowerPoint Presentation</vt:lpstr>
      <vt:lpstr>1. Barrel Distortion</vt:lpstr>
      <vt:lpstr>PowerPoint Presentation</vt:lpstr>
      <vt:lpstr>PowerPoint Presentation</vt:lpstr>
      <vt:lpstr>2. Pincushion Distortion</vt:lpstr>
      <vt:lpstr>PowerPoint Presentation</vt:lpstr>
      <vt:lpstr>PowerPoint Presentation</vt:lpstr>
      <vt:lpstr>PowerPoint Presentation</vt:lpstr>
      <vt:lpstr>PowerPoint Presentation</vt:lpstr>
      <vt:lpstr>How does OpenCV fix it? </vt:lpstr>
      <vt:lpstr>PowerPoint Presentation</vt:lpstr>
      <vt:lpstr>Lens Distortion</vt:lpstr>
      <vt:lpstr>PowerPoint Presentation</vt:lpstr>
      <vt:lpstr>Types of Camera Models</vt:lpstr>
      <vt:lpstr>Multiple View Geometry</vt:lpstr>
      <vt:lpstr>What is Multiple View Geometry?</vt:lpstr>
      <vt:lpstr>PowerPoint Presentation</vt:lpstr>
      <vt:lpstr>Example 1 – Looking at a Ball</vt:lpstr>
      <vt:lpstr>PowerPoint Presentation</vt:lpstr>
      <vt:lpstr>PowerPoint Presentation</vt:lpstr>
      <vt:lpstr>Real-Life Example </vt:lpstr>
      <vt:lpstr>PowerPoint Presentation</vt:lpstr>
      <vt:lpstr>Why is One Camera Not Enough?</vt:lpstr>
      <vt:lpstr>PowerPoint Presentation</vt:lpstr>
      <vt:lpstr> Using Two Cameras </vt:lpstr>
      <vt:lpstr>Human Eyes Example </vt:lpstr>
      <vt:lpstr>PowerPoint Presentation</vt:lpstr>
      <vt:lpstr>What is Structure Determination?</vt:lpstr>
      <vt:lpstr>PowerPoint Presentation</vt:lpstr>
      <vt:lpstr>PowerPoint Presentation</vt:lpstr>
      <vt:lpstr>PowerPoint Presentation</vt:lpstr>
      <vt:lpstr>Another Example – Mobile Face Unlock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Shape from Shading (SFS) </vt:lpstr>
      <vt:lpstr> 1. Shape from Shading (SFS) </vt:lpstr>
      <vt:lpstr>PowerPoint Presentation</vt:lpstr>
      <vt:lpstr>  Why?  </vt:lpstr>
      <vt:lpstr>PowerPoint Presentation</vt:lpstr>
      <vt:lpstr>How Shape from Shading Works</vt:lpstr>
      <vt:lpstr>PowerPoint Presentation</vt:lpstr>
      <vt:lpstr>PowerPoint Presentation</vt:lpstr>
      <vt:lpstr>PowerPoint Presentation</vt:lpstr>
      <vt:lpstr>Photometric Stereo</vt:lpstr>
      <vt:lpstr>PowerPoint Presentation</vt:lpstr>
      <vt:lpstr>PowerPoint Presentation</vt:lpstr>
      <vt:lpstr>PowerPoint Presentation</vt:lpstr>
      <vt:lpstr>PowerPoint Presentation</vt:lpstr>
      <vt:lpstr>Step-by-Step Process</vt:lpstr>
      <vt:lpstr>PowerPoint Presentation</vt:lpstr>
      <vt:lpstr>PowerPoint Presentation</vt:lpstr>
      <vt:lpstr>Real-Life Example</vt:lpstr>
      <vt:lpstr>Difference Between Shape from Shading and Photometric Stereo</vt:lpstr>
      <vt:lpstr>Easy Comparison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hiralpadhariya@outlook.com</dc:creator>
  <cp:lastModifiedBy>hiralpadhariya@outlook.com</cp:lastModifiedBy>
  <cp:revision>414</cp:revision>
  <dcterms:created xsi:type="dcterms:W3CDTF">2026-07-16T05:46:55Z</dcterms:created>
  <dcterms:modified xsi:type="dcterms:W3CDTF">2026-07-28T10:53:44Z</dcterms:modified>
</cp:coreProperties>
</file>