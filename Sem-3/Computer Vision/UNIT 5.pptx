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7" d="100"/>
          <a:sy n="87" d="100"/>
        </p:scale>
        <p:origin x="40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142BE-F5B9-720C-29CC-64F08AB36E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8BDC4FF-82BD-3456-EBE0-32C9AC7DD3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A90C99-E8D6-8984-DCB5-B17A09B91124}"/>
              </a:ext>
            </a:extLst>
          </p:cNvPr>
          <p:cNvSpPr>
            <a:spLocks noGrp="1"/>
          </p:cNvSpPr>
          <p:nvPr>
            <p:ph type="dt" sz="half" idx="10"/>
          </p:nvPr>
        </p:nvSpPr>
        <p:spPr/>
        <p:txBody>
          <a:bodyPr/>
          <a:lstStyle/>
          <a:p>
            <a:fld id="{A5D47909-6238-4AB8-BEAB-74B0D8201628}" type="datetimeFigureOut">
              <a:rPr lang="en-IN" smtClean="0"/>
              <a:t>06-10-2026</a:t>
            </a:fld>
            <a:endParaRPr lang="en-IN"/>
          </a:p>
        </p:txBody>
      </p:sp>
      <p:sp>
        <p:nvSpPr>
          <p:cNvPr id="5" name="Footer Placeholder 4">
            <a:extLst>
              <a:ext uri="{FF2B5EF4-FFF2-40B4-BE49-F238E27FC236}">
                <a16:creationId xmlns:a16="http://schemas.microsoft.com/office/drawing/2014/main" id="{CD79ECD3-EB9E-C744-7D1E-75CC65C61A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FA6CB5-2F21-3C44-E4FC-D054911357D3}"/>
              </a:ext>
            </a:extLst>
          </p:cNvPr>
          <p:cNvSpPr>
            <a:spLocks noGrp="1"/>
          </p:cNvSpPr>
          <p:nvPr>
            <p:ph type="sldNum" sz="quarter" idx="12"/>
          </p:nvPr>
        </p:nvSpPr>
        <p:spPr/>
        <p:txBody>
          <a:bodyPr/>
          <a:lstStyle/>
          <a:p>
            <a:fld id="{95DF7D7C-CB4A-4203-A43A-E41344774454}" type="slidenum">
              <a:rPr lang="en-IN" smtClean="0"/>
              <a:t>‹#›</a:t>
            </a:fld>
            <a:endParaRPr lang="en-IN"/>
          </a:p>
        </p:txBody>
      </p:sp>
    </p:spTree>
    <p:extLst>
      <p:ext uri="{BB962C8B-B14F-4D97-AF65-F5344CB8AC3E}">
        <p14:creationId xmlns:p14="http://schemas.microsoft.com/office/powerpoint/2010/main" val="2094615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14232-2F42-B3B1-30A7-23BAC270A4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01004A-4BA4-8217-8BF8-B497B55F6D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36FE68-BD41-BAA8-74BF-00B11CCEE531}"/>
              </a:ext>
            </a:extLst>
          </p:cNvPr>
          <p:cNvSpPr>
            <a:spLocks noGrp="1"/>
          </p:cNvSpPr>
          <p:nvPr>
            <p:ph type="dt" sz="half" idx="10"/>
          </p:nvPr>
        </p:nvSpPr>
        <p:spPr/>
        <p:txBody>
          <a:bodyPr/>
          <a:lstStyle/>
          <a:p>
            <a:fld id="{A5D47909-6238-4AB8-BEAB-74B0D8201628}" type="datetimeFigureOut">
              <a:rPr lang="en-IN" smtClean="0"/>
              <a:t>06-10-2026</a:t>
            </a:fld>
            <a:endParaRPr lang="en-IN"/>
          </a:p>
        </p:txBody>
      </p:sp>
      <p:sp>
        <p:nvSpPr>
          <p:cNvPr id="5" name="Footer Placeholder 4">
            <a:extLst>
              <a:ext uri="{FF2B5EF4-FFF2-40B4-BE49-F238E27FC236}">
                <a16:creationId xmlns:a16="http://schemas.microsoft.com/office/drawing/2014/main" id="{F1C73899-9ABF-3222-D231-65442D1D80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A30943-0A12-D3D7-02F6-B27F62FADE62}"/>
              </a:ext>
            </a:extLst>
          </p:cNvPr>
          <p:cNvSpPr>
            <a:spLocks noGrp="1"/>
          </p:cNvSpPr>
          <p:nvPr>
            <p:ph type="sldNum" sz="quarter" idx="12"/>
          </p:nvPr>
        </p:nvSpPr>
        <p:spPr/>
        <p:txBody>
          <a:bodyPr/>
          <a:lstStyle/>
          <a:p>
            <a:fld id="{95DF7D7C-CB4A-4203-A43A-E41344774454}" type="slidenum">
              <a:rPr lang="en-IN" smtClean="0"/>
              <a:t>‹#›</a:t>
            </a:fld>
            <a:endParaRPr lang="en-IN"/>
          </a:p>
        </p:txBody>
      </p:sp>
    </p:spTree>
    <p:extLst>
      <p:ext uri="{BB962C8B-B14F-4D97-AF65-F5344CB8AC3E}">
        <p14:creationId xmlns:p14="http://schemas.microsoft.com/office/powerpoint/2010/main" val="533487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D8823-69D2-2537-BC0E-F84A315176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143B13D-70A8-6933-3A2B-E08A244CBD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EFFFC1-AE28-1569-03F3-7946E36B2966}"/>
              </a:ext>
            </a:extLst>
          </p:cNvPr>
          <p:cNvSpPr>
            <a:spLocks noGrp="1"/>
          </p:cNvSpPr>
          <p:nvPr>
            <p:ph type="dt" sz="half" idx="10"/>
          </p:nvPr>
        </p:nvSpPr>
        <p:spPr/>
        <p:txBody>
          <a:bodyPr/>
          <a:lstStyle/>
          <a:p>
            <a:fld id="{A5D47909-6238-4AB8-BEAB-74B0D8201628}" type="datetimeFigureOut">
              <a:rPr lang="en-IN" smtClean="0"/>
              <a:t>06-10-2026</a:t>
            </a:fld>
            <a:endParaRPr lang="en-IN"/>
          </a:p>
        </p:txBody>
      </p:sp>
      <p:sp>
        <p:nvSpPr>
          <p:cNvPr id="5" name="Footer Placeholder 4">
            <a:extLst>
              <a:ext uri="{FF2B5EF4-FFF2-40B4-BE49-F238E27FC236}">
                <a16:creationId xmlns:a16="http://schemas.microsoft.com/office/drawing/2014/main" id="{898A0CDF-0D7A-F42E-48A0-B0CD296B03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96EC4F-D157-E6E2-CEF1-8B518BAD203A}"/>
              </a:ext>
            </a:extLst>
          </p:cNvPr>
          <p:cNvSpPr>
            <a:spLocks noGrp="1"/>
          </p:cNvSpPr>
          <p:nvPr>
            <p:ph type="sldNum" sz="quarter" idx="12"/>
          </p:nvPr>
        </p:nvSpPr>
        <p:spPr/>
        <p:txBody>
          <a:bodyPr/>
          <a:lstStyle/>
          <a:p>
            <a:fld id="{95DF7D7C-CB4A-4203-A43A-E41344774454}" type="slidenum">
              <a:rPr lang="en-IN" smtClean="0"/>
              <a:t>‹#›</a:t>
            </a:fld>
            <a:endParaRPr lang="en-IN"/>
          </a:p>
        </p:txBody>
      </p:sp>
    </p:spTree>
    <p:extLst>
      <p:ext uri="{BB962C8B-B14F-4D97-AF65-F5344CB8AC3E}">
        <p14:creationId xmlns:p14="http://schemas.microsoft.com/office/powerpoint/2010/main" val="2530938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314BE-FA67-F98E-006A-DBEDAF262E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C8887E-98B1-07D6-F22B-641FAA2136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1C8DF6-A2D0-B490-FB4A-D9FC979C19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0DCA9F7-B807-4268-DFAE-AFB52EA2D8F8}"/>
              </a:ext>
            </a:extLst>
          </p:cNvPr>
          <p:cNvSpPr>
            <a:spLocks noGrp="1"/>
          </p:cNvSpPr>
          <p:nvPr>
            <p:ph type="dt" sz="half" idx="10"/>
          </p:nvPr>
        </p:nvSpPr>
        <p:spPr/>
        <p:txBody>
          <a:bodyPr/>
          <a:lstStyle/>
          <a:p>
            <a:fld id="{A5D47909-6238-4AB8-BEAB-74B0D8201628}" type="datetimeFigureOut">
              <a:rPr lang="en-IN" smtClean="0"/>
              <a:t>06-10-2026</a:t>
            </a:fld>
            <a:endParaRPr lang="en-IN"/>
          </a:p>
        </p:txBody>
      </p:sp>
      <p:sp>
        <p:nvSpPr>
          <p:cNvPr id="6" name="Footer Placeholder 5">
            <a:extLst>
              <a:ext uri="{FF2B5EF4-FFF2-40B4-BE49-F238E27FC236}">
                <a16:creationId xmlns:a16="http://schemas.microsoft.com/office/drawing/2014/main" id="{51FE40F1-E37D-2965-D7DC-EE2AC78488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633AAA-56D1-8117-2F84-32FB5D4670EF}"/>
              </a:ext>
            </a:extLst>
          </p:cNvPr>
          <p:cNvSpPr>
            <a:spLocks noGrp="1"/>
          </p:cNvSpPr>
          <p:nvPr>
            <p:ph type="sldNum" sz="quarter" idx="12"/>
          </p:nvPr>
        </p:nvSpPr>
        <p:spPr/>
        <p:txBody>
          <a:bodyPr/>
          <a:lstStyle/>
          <a:p>
            <a:fld id="{95DF7D7C-CB4A-4203-A43A-E41344774454}" type="slidenum">
              <a:rPr lang="en-IN" smtClean="0"/>
              <a:t>‹#›</a:t>
            </a:fld>
            <a:endParaRPr lang="en-IN"/>
          </a:p>
        </p:txBody>
      </p:sp>
    </p:spTree>
    <p:extLst>
      <p:ext uri="{BB962C8B-B14F-4D97-AF65-F5344CB8AC3E}">
        <p14:creationId xmlns:p14="http://schemas.microsoft.com/office/powerpoint/2010/main" val="1920871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92D51-B4C5-DB1B-FDE4-954AF5615B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7B2186-208C-EDCF-F551-A13BB45140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ACFC75-975D-6A16-75D0-0AC37BFF30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4D1DAB-19CB-A74F-D497-9A9390E43C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500284-403E-AFD9-359B-C298CA4A41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B47C12-D10E-85F6-B748-006FCC50CAB7}"/>
              </a:ext>
            </a:extLst>
          </p:cNvPr>
          <p:cNvSpPr>
            <a:spLocks noGrp="1"/>
          </p:cNvSpPr>
          <p:nvPr>
            <p:ph type="dt" sz="half" idx="10"/>
          </p:nvPr>
        </p:nvSpPr>
        <p:spPr/>
        <p:txBody>
          <a:bodyPr/>
          <a:lstStyle/>
          <a:p>
            <a:fld id="{A5D47909-6238-4AB8-BEAB-74B0D8201628}" type="datetimeFigureOut">
              <a:rPr lang="en-IN" smtClean="0"/>
              <a:t>06-10-2026</a:t>
            </a:fld>
            <a:endParaRPr lang="en-IN"/>
          </a:p>
        </p:txBody>
      </p:sp>
      <p:sp>
        <p:nvSpPr>
          <p:cNvPr id="8" name="Footer Placeholder 7">
            <a:extLst>
              <a:ext uri="{FF2B5EF4-FFF2-40B4-BE49-F238E27FC236}">
                <a16:creationId xmlns:a16="http://schemas.microsoft.com/office/drawing/2014/main" id="{1B14671C-8668-F43D-EC18-9F0D78FA42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C2F6BB9-0847-F1D7-1690-90313CA33FE7}"/>
              </a:ext>
            </a:extLst>
          </p:cNvPr>
          <p:cNvSpPr>
            <a:spLocks noGrp="1"/>
          </p:cNvSpPr>
          <p:nvPr>
            <p:ph type="sldNum" sz="quarter" idx="12"/>
          </p:nvPr>
        </p:nvSpPr>
        <p:spPr/>
        <p:txBody>
          <a:bodyPr/>
          <a:lstStyle/>
          <a:p>
            <a:fld id="{95DF7D7C-CB4A-4203-A43A-E41344774454}" type="slidenum">
              <a:rPr lang="en-IN" smtClean="0"/>
              <a:t>‹#›</a:t>
            </a:fld>
            <a:endParaRPr lang="en-IN"/>
          </a:p>
        </p:txBody>
      </p:sp>
    </p:spTree>
    <p:extLst>
      <p:ext uri="{BB962C8B-B14F-4D97-AF65-F5344CB8AC3E}">
        <p14:creationId xmlns:p14="http://schemas.microsoft.com/office/powerpoint/2010/main" val="4003427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5A609-EC85-3C74-9DEA-E08E12F44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7DEFFFE-0FAB-7BB5-69A7-A3B237E017BB}"/>
              </a:ext>
            </a:extLst>
          </p:cNvPr>
          <p:cNvSpPr>
            <a:spLocks noGrp="1"/>
          </p:cNvSpPr>
          <p:nvPr>
            <p:ph type="dt" sz="half" idx="10"/>
          </p:nvPr>
        </p:nvSpPr>
        <p:spPr/>
        <p:txBody>
          <a:bodyPr/>
          <a:lstStyle/>
          <a:p>
            <a:fld id="{A5D47909-6238-4AB8-BEAB-74B0D8201628}" type="datetimeFigureOut">
              <a:rPr lang="en-IN" smtClean="0"/>
              <a:t>06-10-2026</a:t>
            </a:fld>
            <a:endParaRPr lang="en-IN"/>
          </a:p>
        </p:txBody>
      </p:sp>
      <p:sp>
        <p:nvSpPr>
          <p:cNvPr id="4" name="Footer Placeholder 3">
            <a:extLst>
              <a:ext uri="{FF2B5EF4-FFF2-40B4-BE49-F238E27FC236}">
                <a16:creationId xmlns:a16="http://schemas.microsoft.com/office/drawing/2014/main" id="{77B6EF0E-6A49-23CC-CFE5-3E929413011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72662A-67B5-2760-9223-48BFEE95EDCC}"/>
              </a:ext>
            </a:extLst>
          </p:cNvPr>
          <p:cNvSpPr>
            <a:spLocks noGrp="1"/>
          </p:cNvSpPr>
          <p:nvPr>
            <p:ph type="sldNum" sz="quarter" idx="12"/>
          </p:nvPr>
        </p:nvSpPr>
        <p:spPr/>
        <p:txBody>
          <a:bodyPr/>
          <a:lstStyle/>
          <a:p>
            <a:fld id="{95DF7D7C-CB4A-4203-A43A-E41344774454}" type="slidenum">
              <a:rPr lang="en-IN" smtClean="0"/>
              <a:t>‹#›</a:t>
            </a:fld>
            <a:endParaRPr lang="en-IN"/>
          </a:p>
        </p:txBody>
      </p:sp>
    </p:spTree>
    <p:extLst>
      <p:ext uri="{BB962C8B-B14F-4D97-AF65-F5344CB8AC3E}">
        <p14:creationId xmlns:p14="http://schemas.microsoft.com/office/powerpoint/2010/main" val="3324917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9354AA-02D8-20C2-BD2D-E73C0D87CF29}"/>
              </a:ext>
            </a:extLst>
          </p:cNvPr>
          <p:cNvSpPr>
            <a:spLocks noGrp="1"/>
          </p:cNvSpPr>
          <p:nvPr>
            <p:ph type="dt" sz="half" idx="10"/>
          </p:nvPr>
        </p:nvSpPr>
        <p:spPr/>
        <p:txBody>
          <a:bodyPr/>
          <a:lstStyle/>
          <a:p>
            <a:fld id="{A5D47909-6238-4AB8-BEAB-74B0D8201628}" type="datetimeFigureOut">
              <a:rPr lang="en-IN" smtClean="0"/>
              <a:t>06-10-2026</a:t>
            </a:fld>
            <a:endParaRPr lang="en-IN"/>
          </a:p>
        </p:txBody>
      </p:sp>
      <p:sp>
        <p:nvSpPr>
          <p:cNvPr id="3" name="Footer Placeholder 2">
            <a:extLst>
              <a:ext uri="{FF2B5EF4-FFF2-40B4-BE49-F238E27FC236}">
                <a16:creationId xmlns:a16="http://schemas.microsoft.com/office/drawing/2014/main" id="{8D8B9158-C878-B3E1-305E-1A103C8E7C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C446D59-98AF-A350-2095-3AD592FAC0A5}"/>
              </a:ext>
            </a:extLst>
          </p:cNvPr>
          <p:cNvSpPr>
            <a:spLocks noGrp="1"/>
          </p:cNvSpPr>
          <p:nvPr>
            <p:ph type="sldNum" sz="quarter" idx="12"/>
          </p:nvPr>
        </p:nvSpPr>
        <p:spPr/>
        <p:txBody>
          <a:bodyPr/>
          <a:lstStyle/>
          <a:p>
            <a:fld id="{95DF7D7C-CB4A-4203-A43A-E41344774454}" type="slidenum">
              <a:rPr lang="en-IN" smtClean="0"/>
              <a:t>‹#›</a:t>
            </a:fld>
            <a:endParaRPr lang="en-IN"/>
          </a:p>
        </p:txBody>
      </p:sp>
    </p:spTree>
    <p:extLst>
      <p:ext uri="{BB962C8B-B14F-4D97-AF65-F5344CB8AC3E}">
        <p14:creationId xmlns:p14="http://schemas.microsoft.com/office/powerpoint/2010/main" val="3287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427E7-C5BA-FB21-E601-2B349F78E2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C67FFDD-DB28-E6EF-41C0-BD3509CE42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F60F28C-2110-DDD7-CB3D-1F39337D1E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DEEBB1-ECF4-1411-49E3-D65D251D4658}"/>
              </a:ext>
            </a:extLst>
          </p:cNvPr>
          <p:cNvSpPr>
            <a:spLocks noGrp="1"/>
          </p:cNvSpPr>
          <p:nvPr>
            <p:ph type="dt" sz="half" idx="10"/>
          </p:nvPr>
        </p:nvSpPr>
        <p:spPr/>
        <p:txBody>
          <a:bodyPr/>
          <a:lstStyle/>
          <a:p>
            <a:fld id="{A5D47909-6238-4AB8-BEAB-74B0D8201628}" type="datetimeFigureOut">
              <a:rPr lang="en-IN" smtClean="0"/>
              <a:t>06-10-2026</a:t>
            </a:fld>
            <a:endParaRPr lang="en-IN"/>
          </a:p>
        </p:txBody>
      </p:sp>
      <p:sp>
        <p:nvSpPr>
          <p:cNvPr id="6" name="Footer Placeholder 5">
            <a:extLst>
              <a:ext uri="{FF2B5EF4-FFF2-40B4-BE49-F238E27FC236}">
                <a16:creationId xmlns:a16="http://schemas.microsoft.com/office/drawing/2014/main" id="{ED658A1C-FF1C-B0C4-0F56-EE18198010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AC1C51-61B1-C05A-8419-5A929E51BCDD}"/>
              </a:ext>
            </a:extLst>
          </p:cNvPr>
          <p:cNvSpPr>
            <a:spLocks noGrp="1"/>
          </p:cNvSpPr>
          <p:nvPr>
            <p:ph type="sldNum" sz="quarter" idx="12"/>
          </p:nvPr>
        </p:nvSpPr>
        <p:spPr/>
        <p:txBody>
          <a:bodyPr/>
          <a:lstStyle/>
          <a:p>
            <a:fld id="{95DF7D7C-CB4A-4203-A43A-E41344774454}" type="slidenum">
              <a:rPr lang="en-IN" smtClean="0"/>
              <a:t>‹#›</a:t>
            </a:fld>
            <a:endParaRPr lang="en-IN"/>
          </a:p>
        </p:txBody>
      </p:sp>
    </p:spTree>
    <p:extLst>
      <p:ext uri="{BB962C8B-B14F-4D97-AF65-F5344CB8AC3E}">
        <p14:creationId xmlns:p14="http://schemas.microsoft.com/office/powerpoint/2010/main" val="2652549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F6277-A1C0-74BB-CCA2-D92AE0290F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2CB6C5-9AE2-8E40-B7F7-FB58FDC49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435369E-FCA0-9A83-7C3D-352AE7C91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CEA61-B387-B433-69E6-6D0589A57FA7}"/>
              </a:ext>
            </a:extLst>
          </p:cNvPr>
          <p:cNvSpPr>
            <a:spLocks noGrp="1"/>
          </p:cNvSpPr>
          <p:nvPr>
            <p:ph type="dt" sz="half" idx="10"/>
          </p:nvPr>
        </p:nvSpPr>
        <p:spPr/>
        <p:txBody>
          <a:bodyPr/>
          <a:lstStyle/>
          <a:p>
            <a:fld id="{A5D47909-6238-4AB8-BEAB-74B0D8201628}" type="datetimeFigureOut">
              <a:rPr lang="en-IN" smtClean="0"/>
              <a:t>06-10-2026</a:t>
            </a:fld>
            <a:endParaRPr lang="en-IN"/>
          </a:p>
        </p:txBody>
      </p:sp>
      <p:sp>
        <p:nvSpPr>
          <p:cNvPr id="6" name="Footer Placeholder 5">
            <a:extLst>
              <a:ext uri="{FF2B5EF4-FFF2-40B4-BE49-F238E27FC236}">
                <a16:creationId xmlns:a16="http://schemas.microsoft.com/office/drawing/2014/main" id="{F32531F7-3696-BF7B-FB28-8EE912CDA7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606109-FF58-2AA4-3288-8964DC6F58BA}"/>
              </a:ext>
            </a:extLst>
          </p:cNvPr>
          <p:cNvSpPr>
            <a:spLocks noGrp="1"/>
          </p:cNvSpPr>
          <p:nvPr>
            <p:ph type="sldNum" sz="quarter" idx="12"/>
          </p:nvPr>
        </p:nvSpPr>
        <p:spPr/>
        <p:txBody>
          <a:bodyPr/>
          <a:lstStyle/>
          <a:p>
            <a:fld id="{95DF7D7C-CB4A-4203-A43A-E41344774454}" type="slidenum">
              <a:rPr lang="en-IN" smtClean="0"/>
              <a:t>‹#›</a:t>
            </a:fld>
            <a:endParaRPr lang="en-IN"/>
          </a:p>
        </p:txBody>
      </p:sp>
    </p:spTree>
    <p:extLst>
      <p:ext uri="{BB962C8B-B14F-4D97-AF65-F5344CB8AC3E}">
        <p14:creationId xmlns:p14="http://schemas.microsoft.com/office/powerpoint/2010/main" val="599350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4101D-66D5-C844-703E-DC7873EDD3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921FE5-1489-C17D-1228-1F318EA18D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C9D65A-E686-3E1E-A56D-DB956CCBBF49}"/>
              </a:ext>
            </a:extLst>
          </p:cNvPr>
          <p:cNvSpPr>
            <a:spLocks noGrp="1"/>
          </p:cNvSpPr>
          <p:nvPr>
            <p:ph type="dt" sz="half" idx="10"/>
          </p:nvPr>
        </p:nvSpPr>
        <p:spPr/>
        <p:txBody>
          <a:bodyPr/>
          <a:lstStyle/>
          <a:p>
            <a:fld id="{A5D47909-6238-4AB8-BEAB-74B0D8201628}" type="datetimeFigureOut">
              <a:rPr lang="en-IN" smtClean="0"/>
              <a:t>06-10-2026</a:t>
            </a:fld>
            <a:endParaRPr lang="en-IN"/>
          </a:p>
        </p:txBody>
      </p:sp>
      <p:sp>
        <p:nvSpPr>
          <p:cNvPr id="5" name="Footer Placeholder 4">
            <a:extLst>
              <a:ext uri="{FF2B5EF4-FFF2-40B4-BE49-F238E27FC236}">
                <a16:creationId xmlns:a16="http://schemas.microsoft.com/office/drawing/2014/main" id="{65EE3BDD-95E6-728A-05BD-6D8901FCA9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160AC8-6EB3-9AA7-531B-191FB22EB358}"/>
              </a:ext>
            </a:extLst>
          </p:cNvPr>
          <p:cNvSpPr>
            <a:spLocks noGrp="1"/>
          </p:cNvSpPr>
          <p:nvPr>
            <p:ph type="sldNum" sz="quarter" idx="12"/>
          </p:nvPr>
        </p:nvSpPr>
        <p:spPr/>
        <p:txBody>
          <a:bodyPr/>
          <a:lstStyle/>
          <a:p>
            <a:fld id="{95DF7D7C-CB4A-4203-A43A-E41344774454}" type="slidenum">
              <a:rPr lang="en-IN" smtClean="0"/>
              <a:t>‹#›</a:t>
            </a:fld>
            <a:endParaRPr lang="en-IN"/>
          </a:p>
        </p:txBody>
      </p:sp>
    </p:spTree>
    <p:extLst>
      <p:ext uri="{BB962C8B-B14F-4D97-AF65-F5344CB8AC3E}">
        <p14:creationId xmlns:p14="http://schemas.microsoft.com/office/powerpoint/2010/main" val="406252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C9F8E3-A301-A8E6-11BC-E03C1251995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FAB331-A957-A869-A74D-32BA69AE93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BCCF80-BABC-7D87-186D-DC5910F8A520}"/>
              </a:ext>
            </a:extLst>
          </p:cNvPr>
          <p:cNvSpPr>
            <a:spLocks noGrp="1"/>
          </p:cNvSpPr>
          <p:nvPr>
            <p:ph type="dt" sz="half" idx="10"/>
          </p:nvPr>
        </p:nvSpPr>
        <p:spPr/>
        <p:txBody>
          <a:bodyPr/>
          <a:lstStyle/>
          <a:p>
            <a:fld id="{A5D47909-6238-4AB8-BEAB-74B0D8201628}" type="datetimeFigureOut">
              <a:rPr lang="en-IN" smtClean="0"/>
              <a:t>06-10-2026</a:t>
            </a:fld>
            <a:endParaRPr lang="en-IN"/>
          </a:p>
        </p:txBody>
      </p:sp>
      <p:sp>
        <p:nvSpPr>
          <p:cNvPr id="5" name="Footer Placeholder 4">
            <a:extLst>
              <a:ext uri="{FF2B5EF4-FFF2-40B4-BE49-F238E27FC236}">
                <a16:creationId xmlns:a16="http://schemas.microsoft.com/office/drawing/2014/main" id="{318F5B2F-B19C-EB89-70DA-602273534F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2FA7A2-B42E-68D1-E9F3-3329F3E91784}"/>
              </a:ext>
            </a:extLst>
          </p:cNvPr>
          <p:cNvSpPr>
            <a:spLocks noGrp="1"/>
          </p:cNvSpPr>
          <p:nvPr>
            <p:ph type="sldNum" sz="quarter" idx="12"/>
          </p:nvPr>
        </p:nvSpPr>
        <p:spPr/>
        <p:txBody>
          <a:bodyPr/>
          <a:lstStyle/>
          <a:p>
            <a:fld id="{95DF7D7C-CB4A-4203-A43A-E41344774454}" type="slidenum">
              <a:rPr lang="en-IN" smtClean="0"/>
              <a:t>‹#›</a:t>
            </a:fld>
            <a:endParaRPr lang="en-IN"/>
          </a:p>
        </p:txBody>
      </p:sp>
    </p:spTree>
    <p:extLst>
      <p:ext uri="{BB962C8B-B14F-4D97-AF65-F5344CB8AC3E}">
        <p14:creationId xmlns:p14="http://schemas.microsoft.com/office/powerpoint/2010/main" val="963890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6EEA8F-6DA3-519C-969D-447E52F06A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C7855F-6A68-67B7-3545-B113C180D4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C5484B-7534-93E3-6820-A43687D0FB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D47909-6238-4AB8-BEAB-74B0D8201628}" type="datetimeFigureOut">
              <a:rPr lang="en-IN" smtClean="0"/>
              <a:t>06-10-2026</a:t>
            </a:fld>
            <a:endParaRPr lang="en-IN"/>
          </a:p>
        </p:txBody>
      </p:sp>
      <p:sp>
        <p:nvSpPr>
          <p:cNvPr id="5" name="Footer Placeholder 4">
            <a:extLst>
              <a:ext uri="{FF2B5EF4-FFF2-40B4-BE49-F238E27FC236}">
                <a16:creationId xmlns:a16="http://schemas.microsoft.com/office/drawing/2014/main" id="{CA95C914-B866-C9E8-4E9D-9C712B1DC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5FAC8E1-8439-5E9F-E6CD-C974A48BC9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DF7D7C-CB4A-4203-A43A-E41344774454}" type="slidenum">
              <a:rPr lang="en-IN" smtClean="0"/>
              <a:t>‹#›</a:t>
            </a:fld>
            <a:endParaRPr lang="en-IN"/>
          </a:p>
        </p:txBody>
      </p:sp>
    </p:spTree>
    <p:extLst>
      <p:ext uri="{BB962C8B-B14F-4D97-AF65-F5344CB8AC3E}">
        <p14:creationId xmlns:p14="http://schemas.microsoft.com/office/powerpoint/2010/main" val="3565580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AEAB9-DC53-78D4-165B-6B17D3C4B5E3}"/>
              </a:ext>
            </a:extLst>
          </p:cNvPr>
          <p:cNvSpPr>
            <a:spLocks noGrp="1"/>
          </p:cNvSpPr>
          <p:nvPr>
            <p:ph type="ctrTitle"/>
          </p:nvPr>
        </p:nvSpPr>
        <p:spPr/>
        <p:txBody>
          <a:bodyPr/>
          <a:lstStyle/>
          <a:p>
            <a:r>
              <a:rPr lang="en-US" dirty="0"/>
              <a:t>UNIT 5</a:t>
            </a:r>
            <a:endParaRPr lang="en-IN" dirty="0"/>
          </a:p>
        </p:txBody>
      </p:sp>
      <p:sp>
        <p:nvSpPr>
          <p:cNvPr id="3" name="Subtitle 2">
            <a:extLst>
              <a:ext uri="{FF2B5EF4-FFF2-40B4-BE49-F238E27FC236}">
                <a16:creationId xmlns:a16="http://schemas.microsoft.com/office/drawing/2014/main" id="{9BCD0D37-CB18-895D-91E5-7FA4769AF90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23668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C0A16-C841-78E8-0CE1-014DF927C5A8}"/>
              </a:ext>
            </a:extLst>
          </p:cNvPr>
          <p:cNvSpPr>
            <a:spLocks noGrp="1"/>
          </p:cNvSpPr>
          <p:nvPr>
            <p:ph type="title"/>
          </p:nvPr>
        </p:nvSpPr>
        <p:spPr/>
        <p:txBody>
          <a:bodyPr/>
          <a:lstStyle/>
          <a:p>
            <a:r>
              <a:rPr lang="en-IN" dirty="0"/>
              <a:t>What is Motion in Computer Vision?</a:t>
            </a:r>
          </a:p>
        </p:txBody>
      </p:sp>
      <p:sp>
        <p:nvSpPr>
          <p:cNvPr id="3" name="Content Placeholder 2">
            <a:extLst>
              <a:ext uri="{FF2B5EF4-FFF2-40B4-BE49-F238E27FC236}">
                <a16:creationId xmlns:a16="http://schemas.microsoft.com/office/drawing/2014/main" id="{48509F86-3E87-32AE-07EA-4C9339EAA1FF}"/>
              </a:ext>
            </a:extLst>
          </p:cNvPr>
          <p:cNvSpPr>
            <a:spLocks noGrp="1"/>
          </p:cNvSpPr>
          <p:nvPr>
            <p:ph idx="1"/>
          </p:nvPr>
        </p:nvSpPr>
        <p:spPr/>
        <p:txBody>
          <a:bodyPr/>
          <a:lstStyle/>
          <a:p>
            <a:r>
              <a:rPr lang="en-IN" dirty="0"/>
              <a:t>In computer vision, a </a:t>
            </a:r>
            <a:r>
              <a:rPr lang="en-IN" b="1" dirty="0"/>
              <a:t>video</a:t>
            </a:r>
            <a:r>
              <a:rPr lang="en-IN" dirty="0"/>
              <a:t> is simply a sequence of images called </a:t>
            </a:r>
            <a:r>
              <a:rPr lang="en-IN" b="1" dirty="0"/>
              <a:t>frames</a:t>
            </a:r>
            <a:r>
              <a:rPr lang="en-IN" dirty="0"/>
              <a:t>.</a:t>
            </a:r>
          </a:p>
          <a:p>
            <a:r>
              <a:rPr lang="en-IN" dirty="0"/>
              <a:t>For example:</a:t>
            </a:r>
          </a:p>
          <a:p>
            <a:r>
              <a:rPr lang="en-IN" dirty="0"/>
              <a:t>If an object changes its position from one frame to another, we say that the object is </a:t>
            </a:r>
            <a:r>
              <a:rPr lang="en-IN" b="1" dirty="0"/>
              <a:t>moving</a:t>
            </a:r>
            <a:r>
              <a:rPr lang="en-IN" dirty="0"/>
              <a:t>.</a:t>
            </a:r>
          </a:p>
          <a:p>
            <a:r>
              <a:rPr lang="en-US" dirty="0"/>
              <a:t>Frame 1        Frame 2        Frame 3        Frame 4</a:t>
            </a:r>
          </a:p>
          <a:p>
            <a:pPr marL="0" indent="0">
              <a:buNone/>
            </a:pPr>
            <a:r>
              <a:rPr lang="en-US" dirty="0"/>
              <a:t>            👤             👤              👤              👤</a:t>
            </a:r>
          </a:p>
          <a:p>
            <a:r>
              <a:rPr lang="en-US" dirty="0"/>
              <a:t>  left           middle         right          further right</a:t>
            </a:r>
            <a:endParaRPr lang="en-IN" dirty="0"/>
          </a:p>
        </p:txBody>
      </p:sp>
    </p:spTree>
    <p:extLst>
      <p:ext uri="{BB962C8B-B14F-4D97-AF65-F5344CB8AC3E}">
        <p14:creationId xmlns:p14="http://schemas.microsoft.com/office/powerpoint/2010/main" val="2108819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3ED1E-05EC-DB5B-20EB-D9938FE8ED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9970A16-4006-50F4-2015-DA0E5FD6E504}"/>
              </a:ext>
            </a:extLst>
          </p:cNvPr>
          <p:cNvSpPr>
            <a:spLocks noGrp="1"/>
          </p:cNvSpPr>
          <p:nvPr>
            <p:ph idx="1"/>
          </p:nvPr>
        </p:nvSpPr>
        <p:spPr/>
        <p:txBody>
          <a:bodyPr/>
          <a:lstStyle/>
          <a:p>
            <a:r>
              <a:rPr lang="en-IN" dirty="0"/>
              <a:t>Computer vision tries to answer questions such as:</a:t>
            </a:r>
          </a:p>
          <a:p>
            <a:pPr lvl="0"/>
            <a:r>
              <a:rPr lang="en-IN" dirty="0"/>
              <a:t>Is something moving? </a:t>
            </a:r>
          </a:p>
          <a:p>
            <a:pPr lvl="0"/>
            <a:r>
              <a:rPr lang="en-IN" dirty="0"/>
              <a:t>Which direction is it moving? </a:t>
            </a:r>
          </a:p>
          <a:p>
            <a:pPr lvl="0"/>
            <a:r>
              <a:rPr lang="en-IN" dirty="0"/>
              <a:t>How fast is it moving? </a:t>
            </a:r>
          </a:p>
          <a:p>
            <a:pPr lvl="0"/>
            <a:r>
              <a:rPr lang="en-IN" dirty="0"/>
              <a:t>Which objects are moving? </a:t>
            </a:r>
          </a:p>
          <a:p>
            <a:pPr lvl="0"/>
            <a:r>
              <a:rPr lang="en-IN" dirty="0"/>
              <a:t>What kind of movement is happening? </a:t>
            </a:r>
          </a:p>
          <a:p>
            <a:pPr lvl="0"/>
            <a:r>
              <a:rPr lang="en-IN" dirty="0"/>
              <a:t>Is the person walking, running, sitting, or falling?</a:t>
            </a:r>
          </a:p>
          <a:p>
            <a:endParaRPr lang="en-IN" dirty="0"/>
          </a:p>
        </p:txBody>
      </p:sp>
    </p:spTree>
    <p:extLst>
      <p:ext uri="{BB962C8B-B14F-4D97-AF65-F5344CB8AC3E}">
        <p14:creationId xmlns:p14="http://schemas.microsoft.com/office/powerpoint/2010/main" val="1703065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57782-9706-D042-8D4C-C4A7852E14A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CB59CD-9AA8-DD7C-762A-D60CABFF1B83}"/>
              </a:ext>
            </a:extLst>
          </p:cNvPr>
          <p:cNvSpPr>
            <a:spLocks noGrp="1"/>
          </p:cNvSpPr>
          <p:nvPr>
            <p:ph idx="1"/>
          </p:nvPr>
        </p:nvSpPr>
        <p:spPr/>
        <p:txBody>
          <a:bodyPr/>
          <a:lstStyle/>
          <a:p>
            <a:r>
              <a:rPr lang="en-US" dirty="0"/>
              <a:t>T</a:t>
            </a:r>
            <a:r>
              <a:rPr lang="en-IN" dirty="0" err="1"/>
              <a:t>hese</a:t>
            </a:r>
            <a:r>
              <a:rPr lang="en-IN" dirty="0"/>
              <a:t> questions lead to three related concepts:</a:t>
            </a:r>
          </a:p>
          <a:p>
            <a:r>
              <a:rPr lang="en-IN" b="1" dirty="0"/>
              <a:t>Motion Estimation → "How did something move?"</a:t>
            </a:r>
          </a:p>
          <a:p>
            <a:r>
              <a:rPr lang="en-IN" b="1" dirty="0"/>
              <a:t>Motion Analysis → "What does that movement tell us?"</a:t>
            </a:r>
          </a:p>
          <a:p>
            <a:r>
              <a:rPr lang="en-IN" b="1" dirty="0"/>
              <a:t>Activity Recognition → "What activity is the person/object performing?"</a:t>
            </a:r>
          </a:p>
          <a:p>
            <a:endParaRPr lang="en-IN" dirty="0"/>
          </a:p>
        </p:txBody>
      </p:sp>
    </p:spTree>
    <p:extLst>
      <p:ext uri="{BB962C8B-B14F-4D97-AF65-F5344CB8AC3E}">
        <p14:creationId xmlns:p14="http://schemas.microsoft.com/office/powerpoint/2010/main" val="344481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42783-DC27-01F4-51E6-926A6631E293}"/>
              </a:ext>
            </a:extLst>
          </p:cNvPr>
          <p:cNvSpPr>
            <a:spLocks noGrp="1"/>
          </p:cNvSpPr>
          <p:nvPr>
            <p:ph type="title"/>
          </p:nvPr>
        </p:nvSpPr>
        <p:spPr/>
        <p:txBody>
          <a:bodyPr/>
          <a:lstStyle/>
          <a:p>
            <a:r>
              <a:rPr lang="en-IN" dirty="0"/>
              <a:t>Motion Estimation</a:t>
            </a:r>
          </a:p>
        </p:txBody>
      </p:sp>
      <p:sp>
        <p:nvSpPr>
          <p:cNvPr id="3" name="Content Placeholder 2">
            <a:extLst>
              <a:ext uri="{FF2B5EF4-FFF2-40B4-BE49-F238E27FC236}">
                <a16:creationId xmlns:a16="http://schemas.microsoft.com/office/drawing/2014/main" id="{9B8A33C9-97C3-FD9A-276E-360221EB2A5E}"/>
              </a:ext>
            </a:extLst>
          </p:cNvPr>
          <p:cNvSpPr>
            <a:spLocks noGrp="1"/>
          </p:cNvSpPr>
          <p:nvPr>
            <p:ph idx="1"/>
          </p:nvPr>
        </p:nvSpPr>
        <p:spPr/>
        <p:txBody>
          <a:bodyPr/>
          <a:lstStyle/>
          <a:p>
            <a:r>
              <a:rPr lang="en-IN" b="1" dirty="0"/>
              <a:t>Motion estimation</a:t>
            </a:r>
            <a:r>
              <a:rPr lang="en-IN" dirty="0"/>
              <a:t> is the process of finding the </a:t>
            </a:r>
            <a:r>
              <a:rPr lang="en-IN" b="1" dirty="0"/>
              <a:t>movement of objects or pixels between two or more video frames</a:t>
            </a:r>
            <a:r>
              <a:rPr lang="en-IN" dirty="0"/>
              <a:t>.</a:t>
            </a:r>
          </a:p>
          <a:p>
            <a:r>
              <a:rPr lang="en-IN" dirty="0"/>
              <a:t>In simple words:</a:t>
            </a:r>
          </a:p>
          <a:p>
            <a:r>
              <a:rPr lang="en-IN" dirty="0"/>
              <a:t>Motion estimation tells us </a:t>
            </a:r>
            <a:r>
              <a:rPr lang="en-IN" b="1" dirty="0"/>
              <a:t>where something moved and by how much</a:t>
            </a:r>
            <a:r>
              <a:rPr lang="en-IN" dirty="0"/>
              <a:t>.</a:t>
            </a:r>
          </a:p>
          <a:p>
            <a:r>
              <a:rPr lang="en-IN" dirty="0"/>
              <a:t>Suppose we have two frames:</a:t>
            </a:r>
          </a:p>
        </p:txBody>
      </p:sp>
    </p:spTree>
    <p:extLst>
      <p:ext uri="{BB962C8B-B14F-4D97-AF65-F5344CB8AC3E}">
        <p14:creationId xmlns:p14="http://schemas.microsoft.com/office/powerpoint/2010/main" val="1229160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6D788-CBA9-D847-1BBB-EB519F0406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F0B8A78-41C4-51AF-D496-8712CE2EE174}"/>
              </a:ext>
            </a:extLst>
          </p:cNvPr>
          <p:cNvSpPr>
            <a:spLocks noGrp="1"/>
          </p:cNvSpPr>
          <p:nvPr>
            <p:ph idx="1"/>
          </p:nvPr>
        </p:nvSpPr>
        <p:spPr/>
        <p:txBody>
          <a:bodyPr/>
          <a:lstStyle/>
          <a:p>
            <a:r>
              <a:rPr lang="fr-FR" dirty="0"/>
              <a:t>Frame 1                 Frame 2</a:t>
            </a:r>
          </a:p>
          <a:p>
            <a:endParaRPr lang="fr-FR" dirty="0"/>
          </a:p>
          <a:p>
            <a:pPr marL="0" indent="0">
              <a:buNone/>
            </a:pPr>
            <a:r>
              <a:rPr lang="fr-FR" dirty="0"/>
              <a:t>     ●                       ●</a:t>
            </a:r>
          </a:p>
          <a:p>
            <a:pPr marL="0" indent="0">
              <a:buNone/>
            </a:pPr>
            <a:r>
              <a:rPr lang="fr-FR" dirty="0"/>
              <a:t>    Object                  </a:t>
            </a:r>
            <a:r>
              <a:rPr lang="fr-FR" dirty="0" err="1"/>
              <a:t>Object</a:t>
            </a:r>
            <a:endParaRPr lang="fr-FR" dirty="0"/>
          </a:p>
          <a:p>
            <a:pPr marL="0" indent="0">
              <a:buNone/>
            </a:pPr>
            <a:r>
              <a:rPr lang="fr-FR" dirty="0"/>
              <a:t>     ↓                       ↓</a:t>
            </a:r>
          </a:p>
          <a:p>
            <a:pPr marL="0" indent="0">
              <a:buNone/>
            </a:pPr>
            <a:r>
              <a:rPr lang="fr-FR" dirty="0"/>
              <a:t>   (x1,y1)                 (x2,y2)</a:t>
            </a:r>
            <a:endParaRPr lang="en-IN" dirty="0"/>
          </a:p>
        </p:txBody>
      </p:sp>
    </p:spTree>
    <p:extLst>
      <p:ext uri="{BB962C8B-B14F-4D97-AF65-F5344CB8AC3E}">
        <p14:creationId xmlns:p14="http://schemas.microsoft.com/office/powerpoint/2010/main" val="3778463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9E5B9-7CA7-FF68-9498-685C0F5760AE}"/>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407787-C25B-EC4F-542C-424C1505FE3B}"/>
                  </a:ext>
                </a:extLst>
              </p:cNvPr>
              <p:cNvSpPr>
                <a:spLocks noGrp="1"/>
              </p:cNvSpPr>
              <p:nvPr>
                <p:ph idx="1"/>
              </p:nvPr>
            </p:nvSpPr>
            <p:spPr/>
            <p:txBody>
              <a:bodyPr/>
              <a:lstStyle/>
              <a:p>
                <a:r>
                  <a:rPr lang="en-IN" dirty="0"/>
                  <a:t>The movement can be calculated as:</a:t>
                </a:r>
              </a:p>
              <a:p>
                <a14:m>
                  <m:oMath xmlns:m="http://schemas.openxmlformats.org/officeDocument/2006/math">
                    <m:r>
                      <m:rPr>
                        <m:sty m:val="p"/>
                      </m:rPr>
                      <a:rPr lang="en-IN">
                        <a:latin typeface="Cambria Math" panose="02040503050406030204" pitchFamily="18" charset="0"/>
                      </a:rPr>
                      <m:t>Δ</m:t>
                    </m:r>
                    <m:r>
                      <a:rPr lang="en-IN" i="1">
                        <a:latin typeface="Cambria Math" panose="02040503050406030204" pitchFamily="18" charset="0"/>
                      </a:rPr>
                      <m:t>𝑥</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oMath>
                </a14:m>
                <a:endParaRPr lang="en-IN" dirty="0"/>
              </a:p>
              <a:p>
                <a14:m>
                  <m:oMath xmlns:m="http://schemas.openxmlformats.org/officeDocument/2006/math">
                    <m:r>
                      <m:rPr>
                        <m:sty m:val="p"/>
                      </m:rPr>
                      <a:rPr lang="en-IN">
                        <a:latin typeface="Cambria Math" panose="02040503050406030204" pitchFamily="18" charset="0"/>
                      </a:rPr>
                      <m:t>Δ</m:t>
                    </m:r>
                    <m:r>
                      <a:rPr lang="en-IN" i="1">
                        <a:latin typeface="Cambria Math" panose="02040503050406030204" pitchFamily="18" charset="0"/>
                      </a:rPr>
                      <m:t>𝑦</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a:latin typeface="Cambria Math" panose="02040503050406030204" pitchFamily="18" charset="0"/>
                          </a:rPr>
                          <m:t>2</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a:latin typeface="Cambria Math" panose="02040503050406030204" pitchFamily="18" charset="0"/>
                          </a:rPr>
                          <m:t>1</m:t>
                        </m:r>
                      </m:sub>
                    </m:sSub>
                  </m:oMath>
                </a14:m>
                <a:endParaRPr lang="en-IN" dirty="0"/>
              </a:p>
              <a:p>
                <a:r>
                  <a:rPr lang="en-IN" dirty="0"/>
                  <a:t>So the motion vector is:</a:t>
                </a:r>
              </a:p>
              <a:p>
                <a:r>
                  <a:rPr lang="en-IN" dirty="0"/>
                  <a:t>v=(</a:t>
                </a:r>
                <a:r>
                  <a:rPr lang="en-IN" dirty="0" err="1"/>
                  <a:t>Δx,Δy</a:t>
                </a:r>
                <a:r>
                  <a:rPr lang="en-IN" dirty="0"/>
                  <a:t>)</a:t>
                </a:r>
              </a:p>
            </p:txBody>
          </p:sp>
        </mc:Choice>
        <mc:Fallback xmlns="">
          <p:sp>
            <p:nvSpPr>
              <p:cNvPr id="3" name="Content Placeholder 2">
                <a:extLst>
                  <a:ext uri="{FF2B5EF4-FFF2-40B4-BE49-F238E27FC236}">
                    <a16:creationId xmlns:a16="http://schemas.microsoft.com/office/drawing/2014/main" id="{EF407787-C25B-EC4F-542C-424C1505FE3B}"/>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3757454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12F77-EF1E-FA4B-B307-6A152315A3C2}"/>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E774A7C-9070-F249-4946-F175C6BCBC50}"/>
                  </a:ext>
                </a:extLst>
              </p:cNvPr>
              <p:cNvSpPr>
                <a:spLocks noGrp="1"/>
              </p:cNvSpPr>
              <p:nvPr>
                <p:ph idx="1"/>
              </p:nvPr>
            </p:nvSpPr>
            <p:spPr/>
            <p:txBody>
              <a:bodyPr/>
              <a:lstStyle/>
              <a:p>
                <a:r>
                  <a:rPr lang="en-IN" dirty="0"/>
                  <a:t>For example, if an object moves from:</a:t>
                </a:r>
              </a:p>
              <a:p>
                <a14:m>
                  <m:oMath xmlns:m="http://schemas.openxmlformats.org/officeDocument/2006/math">
                    <m:d>
                      <m:dPr>
                        <m:sepChr m:val=","/>
                        <m:ctrlPr>
                          <a:rPr lang="en-IN">
                            <a:latin typeface="Cambria Math" panose="02040503050406030204" pitchFamily="18" charset="0"/>
                          </a:rPr>
                        </m:ctrlPr>
                      </m:dPr>
                      <m:e>
                        <m:r>
                          <a:rPr lang="en-IN">
                            <a:latin typeface="Cambria Math" panose="02040503050406030204" pitchFamily="18" charset="0"/>
                          </a:rPr>
                          <m:t>100</m:t>
                        </m:r>
                      </m:e>
                      <m:e>
                        <m:r>
                          <a:rPr lang="en-IN">
                            <a:latin typeface="Cambria Math" panose="02040503050406030204" pitchFamily="18" charset="0"/>
                          </a:rPr>
                          <m:t>50</m:t>
                        </m:r>
                      </m:e>
                    </m:d>
                    <m:r>
                      <a:rPr lang="en-IN">
                        <a:latin typeface="Cambria Math" panose="02040503050406030204" pitchFamily="18" charset="0"/>
                      </a:rPr>
                      <m:t>→</m:t>
                    </m:r>
                    <m:d>
                      <m:dPr>
                        <m:sepChr m:val=","/>
                        <m:ctrlPr>
                          <a:rPr lang="en-IN">
                            <a:latin typeface="Cambria Math" panose="02040503050406030204" pitchFamily="18" charset="0"/>
                          </a:rPr>
                        </m:ctrlPr>
                      </m:dPr>
                      <m:e>
                        <m:r>
                          <a:rPr lang="en-IN">
                            <a:latin typeface="Cambria Math" panose="02040503050406030204" pitchFamily="18" charset="0"/>
                          </a:rPr>
                          <m:t>120</m:t>
                        </m:r>
                      </m:e>
                      <m:e>
                        <m:r>
                          <a:rPr lang="en-IN">
                            <a:latin typeface="Cambria Math" panose="02040503050406030204" pitchFamily="18" charset="0"/>
                          </a:rPr>
                          <m:t>60</m:t>
                        </m:r>
                      </m:e>
                    </m:d>
                  </m:oMath>
                </a14:m>
                <a:endParaRPr lang="en-IN" dirty="0"/>
              </a:p>
              <a:p>
                <a:r>
                  <a:rPr lang="en-IN" dirty="0"/>
                  <a:t>then:</a:t>
                </a:r>
              </a:p>
              <a:p>
                <a14:m>
                  <m:oMath xmlns:m="http://schemas.openxmlformats.org/officeDocument/2006/math">
                    <m:r>
                      <m:rPr>
                        <m:sty m:val="p"/>
                      </m:rPr>
                      <a:rPr lang="en-IN">
                        <a:latin typeface="Cambria Math" panose="02040503050406030204" pitchFamily="18" charset="0"/>
                      </a:rPr>
                      <m:t>Δ</m:t>
                    </m:r>
                    <m:r>
                      <a:rPr lang="en-IN" i="1">
                        <a:latin typeface="Cambria Math" panose="02040503050406030204" pitchFamily="18" charset="0"/>
                      </a:rPr>
                      <m:t>𝑥</m:t>
                    </m:r>
                    <m:r>
                      <a:rPr lang="en-IN">
                        <a:latin typeface="Cambria Math" panose="02040503050406030204" pitchFamily="18" charset="0"/>
                      </a:rPr>
                      <m:t>=20</m:t>
                    </m:r>
                  </m:oMath>
                </a14:m>
                <a:endParaRPr lang="en-IN" dirty="0"/>
              </a:p>
              <a:p>
                <a:r>
                  <a:rPr lang="en-IN" dirty="0" err="1"/>
                  <a:t>Δy</a:t>
                </a:r>
                <a:r>
                  <a:rPr lang="en-IN" dirty="0"/>
                  <a:t>=10</a:t>
                </a:r>
              </a:p>
              <a:p>
                <a:r>
                  <a:rPr lang="en-IN" dirty="0"/>
                  <a:t>Therefore, the object moved </a:t>
                </a:r>
                <a:r>
                  <a:rPr lang="en-IN" b="1" dirty="0"/>
                  <a:t>20 pixels to the right and 10 pixels downward</a:t>
                </a:r>
                <a:r>
                  <a:rPr lang="en-IN" dirty="0"/>
                  <a:t>.</a:t>
                </a:r>
              </a:p>
            </p:txBody>
          </p:sp>
        </mc:Choice>
        <mc:Fallback xmlns="">
          <p:sp>
            <p:nvSpPr>
              <p:cNvPr id="3" name="Content Placeholder 2">
                <a:extLst>
                  <a:ext uri="{FF2B5EF4-FFF2-40B4-BE49-F238E27FC236}">
                    <a16:creationId xmlns:a16="http://schemas.microsoft.com/office/drawing/2014/main" id="{3E774A7C-9070-F249-4946-F175C6BCBC50}"/>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611583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20163-E87F-8B7D-FFA7-E23008A86D1F}"/>
              </a:ext>
            </a:extLst>
          </p:cNvPr>
          <p:cNvSpPr>
            <a:spLocks noGrp="1"/>
          </p:cNvSpPr>
          <p:nvPr>
            <p:ph type="title"/>
          </p:nvPr>
        </p:nvSpPr>
        <p:spPr/>
        <p:txBody>
          <a:bodyPr/>
          <a:lstStyle/>
          <a:p>
            <a:r>
              <a:rPr lang="en-IN" dirty="0"/>
              <a:t>Why Do We Need Motion Estimation?</a:t>
            </a:r>
          </a:p>
        </p:txBody>
      </p:sp>
      <p:sp>
        <p:nvSpPr>
          <p:cNvPr id="3" name="Content Placeholder 2">
            <a:extLst>
              <a:ext uri="{FF2B5EF4-FFF2-40B4-BE49-F238E27FC236}">
                <a16:creationId xmlns:a16="http://schemas.microsoft.com/office/drawing/2014/main" id="{3C10BD5D-1423-5AA9-3178-04B06AB66E0C}"/>
              </a:ext>
            </a:extLst>
          </p:cNvPr>
          <p:cNvSpPr>
            <a:spLocks noGrp="1"/>
          </p:cNvSpPr>
          <p:nvPr>
            <p:ph idx="1"/>
          </p:nvPr>
        </p:nvSpPr>
        <p:spPr/>
        <p:txBody>
          <a:bodyPr>
            <a:normAutofit fontScale="92500" lnSpcReduction="10000"/>
          </a:bodyPr>
          <a:lstStyle/>
          <a:p>
            <a:r>
              <a:rPr lang="en-IN" dirty="0"/>
              <a:t>Motion estimation is useful in many computer vision applications.</a:t>
            </a:r>
          </a:p>
          <a:p>
            <a:r>
              <a:rPr lang="en-IN" b="1" dirty="0"/>
              <a:t>Examples</a:t>
            </a:r>
          </a:p>
          <a:p>
            <a:r>
              <a:rPr lang="en-IN" b="1" dirty="0"/>
              <a:t>Video surveillance</a:t>
            </a:r>
            <a:endParaRPr lang="en-IN" dirty="0"/>
          </a:p>
          <a:p>
            <a:r>
              <a:rPr lang="en-IN" dirty="0"/>
              <a:t>Detect whether a person is entering an area.</a:t>
            </a:r>
          </a:p>
          <a:p>
            <a:r>
              <a:rPr lang="en-IN" b="1" dirty="0"/>
              <a:t>Self-driving cars</a:t>
            </a:r>
            <a:endParaRPr lang="en-IN" dirty="0"/>
          </a:p>
          <a:p>
            <a:r>
              <a:rPr lang="en-IN" dirty="0"/>
              <a:t>Determine whether another car is moving toward or away from the vehicle.</a:t>
            </a:r>
          </a:p>
          <a:p>
            <a:r>
              <a:rPr lang="en-IN" b="1" dirty="0"/>
              <a:t>Sports analysis</a:t>
            </a:r>
            <a:endParaRPr lang="en-IN" dirty="0"/>
          </a:p>
          <a:p>
            <a:r>
              <a:rPr lang="en-IN" dirty="0"/>
              <a:t>Track the movement of players and balls.</a:t>
            </a:r>
          </a:p>
          <a:p>
            <a:r>
              <a:rPr lang="en-IN" b="1" dirty="0"/>
              <a:t>Gesture recognition</a:t>
            </a:r>
            <a:endParaRPr lang="en-IN" dirty="0"/>
          </a:p>
          <a:p>
            <a:endParaRPr lang="en-IN" dirty="0"/>
          </a:p>
        </p:txBody>
      </p:sp>
    </p:spTree>
    <p:extLst>
      <p:ext uri="{BB962C8B-B14F-4D97-AF65-F5344CB8AC3E}">
        <p14:creationId xmlns:p14="http://schemas.microsoft.com/office/powerpoint/2010/main" val="1189054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E65F8-34E3-DFF3-484F-1248DFDA9EF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4F7E33-2C7B-7209-3308-B479D0C2C4FA}"/>
              </a:ext>
            </a:extLst>
          </p:cNvPr>
          <p:cNvSpPr>
            <a:spLocks noGrp="1"/>
          </p:cNvSpPr>
          <p:nvPr>
            <p:ph idx="1"/>
          </p:nvPr>
        </p:nvSpPr>
        <p:spPr/>
        <p:txBody>
          <a:bodyPr/>
          <a:lstStyle/>
          <a:p>
            <a:r>
              <a:rPr lang="en-IN" dirty="0"/>
              <a:t>Understand hand movements.</a:t>
            </a:r>
          </a:p>
          <a:p>
            <a:r>
              <a:rPr lang="en-IN" b="1" dirty="0"/>
              <a:t>Video compression</a:t>
            </a:r>
            <a:endParaRPr lang="en-IN" dirty="0"/>
          </a:p>
          <a:p>
            <a:r>
              <a:rPr lang="en-IN" dirty="0"/>
              <a:t>Instead of storing every frame completely, we can store the changes between frames.</a:t>
            </a:r>
          </a:p>
          <a:p>
            <a:r>
              <a:rPr lang="en-IN" b="1" dirty="0"/>
              <a:t>Object tracking</a:t>
            </a:r>
            <a:endParaRPr lang="en-IN" dirty="0"/>
          </a:p>
          <a:p>
            <a:r>
              <a:rPr lang="en-IN" dirty="0"/>
              <a:t>Follow a person or vehicle across multiple frames.</a:t>
            </a:r>
          </a:p>
          <a:p>
            <a:endParaRPr lang="en-IN" dirty="0"/>
          </a:p>
        </p:txBody>
      </p:sp>
    </p:spTree>
    <p:extLst>
      <p:ext uri="{BB962C8B-B14F-4D97-AF65-F5344CB8AC3E}">
        <p14:creationId xmlns:p14="http://schemas.microsoft.com/office/powerpoint/2010/main" val="161468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844BA-C21B-8AE3-DB76-09EB667D07A9}"/>
              </a:ext>
            </a:extLst>
          </p:cNvPr>
          <p:cNvSpPr>
            <a:spLocks noGrp="1"/>
          </p:cNvSpPr>
          <p:nvPr>
            <p:ph type="title"/>
          </p:nvPr>
        </p:nvSpPr>
        <p:spPr/>
        <p:txBody>
          <a:bodyPr/>
          <a:lstStyle/>
          <a:p>
            <a:r>
              <a:rPr lang="en-IN" dirty="0"/>
              <a:t>Basic Idea Behind Motion Estimation</a:t>
            </a:r>
          </a:p>
        </p:txBody>
      </p:sp>
      <p:sp>
        <p:nvSpPr>
          <p:cNvPr id="3" name="Content Placeholder 2">
            <a:extLst>
              <a:ext uri="{FF2B5EF4-FFF2-40B4-BE49-F238E27FC236}">
                <a16:creationId xmlns:a16="http://schemas.microsoft.com/office/drawing/2014/main" id="{0A9B0E80-98C9-3909-85B3-8142E7932C1A}"/>
              </a:ext>
            </a:extLst>
          </p:cNvPr>
          <p:cNvSpPr>
            <a:spLocks noGrp="1"/>
          </p:cNvSpPr>
          <p:nvPr>
            <p:ph idx="1"/>
          </p:nvPr>
        </p:nvSpPr>
        <p:spPr/>
        <p:txBody>
          <a:bodyPr>
            <a:normAutofit lnSpcReduction="10000"/>
          </a:bodyPr>
          <a:lstStyle/>
          <a:p>
            <a:r>
              <a:rPr lang="en-US" dirty="0"/>
              <a:t>Suppose  we have two frames in which one object is in left and other is in right.</a:t>
            </a:r>
          </a:p>
          <a:p>
            <a:r>
              <a:rPr lang="en-IN" dirty="0"/>
              <a:t>The same object has moved.</a:t>
            </a:r>
          </a:p>
          <a:p>
            <a:r>
              <a:rPr lang="en-IN" dirty="0"/>
              <a:t>The computer needs to determine:</a:t>
            </a:r>
          </a:p>
          <a:p>
            <a:pPr lvl="0"/>
            <a:r>
              <a:rPr lang="en-IN" dirty="0"/>
              <a:t>What object/pixels correspond to each other? </a:t>
            </a:r>
          </a:p>
          <a:p>
            <a:pPr lvl="0"/>
            <a:r>
              <a:rPr lang="en-IN" dirty="0"/>
              <a:t>Where did they move? </a:t>
            </a:r>
          </a:p>
          <a:p>
            <a:pPr lvl="0"/>
            <a:r>
              <a:rPr lang="en-IN" dirty="0"/>
              <a:t>What is the direction? </a:t>
            </a:r>
          </a:p>
          <a:p>
            <a:pPr lvl="0"/>
            <a:r>
              <a:rPr lang="en-IN" dirty="0"/>
              <a:t>What is the amount of movement? </a:t>
            </a:r>
          </a:p>
          <a:p>
            <a:r>
              <a:rPr lang="en-IN" dirty="0"/>
              <a:t>This process is called </a:t>
            </a:r>
            <a:r>
              <a:rPr lang="en-IN" b="1" dirty="0"/>
              <a:t>motion estimation</a:t>
            </a:r>
            <a:r>
              <a:rPr lang="en-IN" dirty="0"/>
              <a:t>.</a:t>
            </a:r>
          </a:p>
          <a:p>
            <a:endParaRPr lang="en-IN" dirty="0"/>
          </a:p>
        </p:txBody>
      </p:sp>
    </p:spTree>
    <p:extLst>
      <p:ext uri="{BB962C8B-B14F-4D97-AF65-F5344CB8AC3E}">
        <p14:creationId xmlns:p14="http://schemas.microsoft.com/office/powerpoint/2010/main" val="277217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73FD0-B3F3-D972-E58C-1063A1271890}"/>
              </a:ext>
            </a:extLst>
          </p:cNvPr>
          <p:cNvSpPr>
            <a:spLocks noGrp="1"/>
          </p:cNvSpPr>
          <p:nvPr>
            <p:ph type="title"/>
          </p:nvPr>
        </p:nvSpPr>
        <p:spPr/>
        <p:txBody>
          <a:bodyPr/>
          <a:lstStyle/>
          <a:p>
            <a:r>
              <a:rPr lang="en-IN" dirty="0"/>
              <a:t>Motion Vector</a:t>
            </a:r>
          </a:p>
        </p:txBody>
      </p:sp>
      <p:sp>
        <p:nvSpPr>
          <p:cNvPr id="3" name="Content Placeholder 2">
            <a:extLst>
              <a:ext uri="{FF2B5EF4-FFF2-40B4-BE49-F238E27FC236}">
                <a16:creationId xmlns:a16="http://schemas.microsoft.com/office/drawing/2014/main" id="{7CD7E60B-2235-A8BD-76FE-6A194273A025}"/>
              </a:ext>
            </a:extLst>
          </p:cNvPr>
          <p:cNvSpPr>
            <a:spLocks noGrp="1"/>
          </p:cNvSpPr>
          <p:nvPr>
            <p:ph idx="1"/>
          </p:nvPr>
        </p:nvSpPr>
        <p:spPr/>
        <p:txBody>
          <a:bodyPr/>
          <a:lstStyle/>
          <a:p>
            <a:r>
              <a:rPr lang="en-IN" dirty="0"/>
              <a:t>A </a:t>
            </a:r>
            <a:r>
              <a:rPr lang="en-IN" b="1" dirty="0"/>
              <a:t>motion vector</a:t>
            </a:r>
            <a:r>
              <a:rPr lang="en-IN" dirty="0"/>
              <a:t> represents the movement of an object or image region.</a:t>
            </a:r>
          </a:p>
          <a:p>
            <a:r>
              <a:rPr lang="en-IN" dirty="0"/>
              <a:t>It generally contains:</a:t>
            </a:r>
          </a:p>
          <a:p>
            <a:pPr lvl="0"/>
            <a:r>
              <a:rPr lang="en-IN" dirty="0"/>
              <a:t>Direction </a:t>
            </a:r>
          </a:p>
          <a:p>
            <a:pPr lvl="0"/>
            <a:r>
              <a:rPr lang="en-IN" dirty="0"/>
              <a:t>Magnitude (distance)</a:t>
            </a:r>
          </a:p>
          <a:p>
            <a:pPr lvl="0"/>
            <a:endParaRPr lang="en-IN" dirty="0"/>
          </a:p>
          <a:p>
            <a:endParaRPr lang="en-IN" dirty="0"/>
          </a:p>
        </p:txBody>
      </p:sp>
    </p:spTree>
    <p:extLst>
      <p:ext uri="{BB962C8B-B14F-4D97-AF65-F5344CB8AC3E}">
        <p14:creationId xmlns:p14="http://schemas.microsoft.com/office/powerpoint/2010/main" val="3501527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1BD33-32C5-8F56-811B-92EE9E32A4D1}"/>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E103BC-CA60-26BA-3053-3333B23EFB95}"/>
                  </a:ext>
                </a:extLst>
              </p:cNvPr>
              <p:cNvSpPr>
                <a:spLocks noGrp="1"/>
              </p:cNvSpPr>
              <p:nvPr>
                <p:ph idx="1"/>
              </p:nvPr>
            </p:nvSpPr>
            <p:spPr/>
            <p:txBody>
              <a:bodyPr>
                <a:normAutofit lnSpcReduction="10000"/>
              </a:bodyPr>
              <a:lstStyle/>
              <a:p>
                <a:r>
                  <a:rPr lang="en-IN" dirty="0"/>
                  <a:t>If the vector is:</a:t>
                </a:r>
              </a:p>
              <a:p>
                <a14:m>
                  <m:oMath xmlns:m="http://schemas.openxmlformats.org/officeDocument/2006/math">
                    <m:d>
                      <m:dPr>
                        <m:sepChr m:val=","/>
                        <m:ctrlPr>
                          <a:rPr lang="en-IN">
                            <a:latin typeface="Cambria Math" panose="02040503050406030204" pitchFamily="18" charset="0"/>
                          </a:rPr>
                        </m:ctrlPr>
                      </m:dPr>
                      <m:e>
                        <m:r>
                          <a:rPr lang="en-IN">
                            <a:latin typeface="Cambria Math" panose="02040503050406030204" pitchFamily="18" charset="0"/>
                          </a:rPr>
                          <m:t>10</m:t>
                        </m:r>
                      </m:e>
                      <m:e>
                        <m:r>
                          <a:rPr lang="en-IN">
                            <a:latin typeface="Cambria Math" panose="02040503050406030204" pitchFamily="18" charset="0"/>
                          </a:rPr>
                          <m:t>0</m:t>
                        </m:r>
                      </m:e>
                    </m:d>
                  </m:oMath>
                </a14:m>
                <a:endParaRPr lang="en-IN" dirty="0"/>
              </a:p>
              <a:p>
                <a:r>
                  <a:rPr lang="en-IN" dirty="0"/>
                  <a:t>the object moved 10 pixels to the right.</a:t>
                </a:r>
              </a:p>
              <a:p>
                <a:r>
                  <a:rPr lang="en-IN" dirty="0"/>
                  <a:t>If:</a:t>
                </a:r>
              </a:p>
              <a:p>
                <a:r>
                  <a:rPr lang="en-IN" dirty="0"/>
                  <a:t>(0,−10)</a:t>
                </a:r>
              </a:p>
              <a:p>
                <a:r>
                  <a:rPr lang="en-IN" dirty="0"/>
                  <a:t>it moved 10 pixels upward.</a:t>
                </a:r>
              </a:p>
              <a:p>
                <a:r>
                  <a:rPr lang="en-IN" dirty="0"/>
                  <a:t>If:</a:t>
                </a:r>
              </a:p>
              <a:p>
                <a14:m>
                  <m:oMath xmlns:m="http://schemas.openxmlformats.org/officeDocument/2006/math">
                    <m:d>
                      <m:dPr>
                        <m:sepChr m:val=","/>
                        <m:ctrlPr>
                          <a:rPr lang="en-IN">
                            <a:latin typeface="Cambria Math" panose="02040503050406030204" pitchFamily="18" charset="0"/>
                          </a:rPr>
                        </m:ctrlPr>
                      </m:dPr>
                      <m:e>
                        <m:r>
                          <a:rPr lang="en-IN">
                            <a:latin typeface="Cambria Math" panose="02040503050406030204" pitchFamily="18" charset="0"/>
                          </a:rPr>
                          <m:t>−</m:t>
                        </m:r>
                      </m:e>
                      <m:e>
                        <m:r>
                          <a:rPr lang="en-IN">
                            <a:latin typeface="Cambria Math" panose="02040503050406030204" pitchFamily="18" charset="0"/>
                          </a:rPr>
                          <m:t>105</m:t>
                        </m:r>
                      </m:e>
                    </m:d>
                  </m:oMath>
                </a14:m>
                <a:endParaRPr lang="en-IN" dirty="0"/>
              </a:p>
              <a:p>
                <a:r>
                  <a:rPr lang="en-IN" dirty="0"/>
                  <a:t>it moved left and downward.</a:t>
                </a:r>
              </a:p>
              <a:p>
                <a:endParaRPr lang="en-IN" dirty="0"/>
              </a:p>
            </p:txBody>
          </p:sp>
        </mc:Choice>
        <mc:Fallback xmlns="">
          <p:sp>
            <p:nvSpPr>
              <p:cNvPr id="3" name="Content Placeholder 2">
                <a:extLst>
                  <a:ext uri="{FF2B5EF4-FFF2-40B4-BE49-F238E27FC236}">
                    <a16:creationId xmlns:a16="http://schemas.microsoft.com/office/drawing/2014/main" id="{32E103BC-CA60-26BA-3053-3333B23EFB95}"/>
                  </a:ext>
                </a:extLst>
              </p:cNvPr>
              <p:cNvSpPr>
                <a:spLocks noGrp="1" noRot="1" noChangeAspect="1" noMove="1" noResize="1" noEditPoints="1" noAdjustHandles="1" noChangeArrowheads="1" noChangeShapeType="1" noTextEdit="1"/>
              </p:cNvSpPr>
              <p:nvPr>
                <p:ph idx="1"/>
              </p:nvPr>
            </p:nvSpPr>
            <p:spPr>
              <a:blipFill>
                <a:blip r:embed="rId2"/>
                <a:stretch>
                  <a:fillRect l="-1043" t="-3081" b="-2241"/>
                </a:stretch>
              </a:blipFill>
            </p:spPr>
            <p:txBody>
              <a:bodyPr/>
              <a:lstStyle/>
              <a:p>
                <a:r>
                  <a:rPr lang="en-IN">
                    <a:noFill/>
                  </a:rPr>
                  <a:t> </a:t>
                </a:r>
              </a:p>
            </p:txBody>
          </p:sp>
        </mc:Fallback>
      </mc:AlternateContent>
    </p:spTree>
    <p:extLst>
      <p:ext uri="{BB962C8B-B14F-4D97-AF65-F5344CB8AC3E}">
        <p14:creationId xmlns:p14="http://schemas.microsoft.com/office/powerpoint/2010/main" val="1448222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ED662-F559-CF11-8288-209427B54C7A}"/>
              </a:ext>
            </a:extLst>
          </p:cNvPr>
          <p:cNvSpPr>
            <a:spLocks noGrp="1"/>
          </p:cNvSpPr>
          <p:nvPr>
            <p:ph type="title"/>
          </p:nvPr>
        </p:nvSpPr>
        <p:spPr/>
        <p:txBody>
          <a:bodyPr/>
          <a:lstStyle/>
          <a:p>
            <a:r>
              <a:rPr lang="en-IN" dirty="0"/>
              <a:t>How Does the Computer Find Motion?</a:t>
            </a:r>
          </a:p>
        </p:txBody>
      </p:sp>
      <p:sp>
        <p:nvSpPr>
          <p:cNvPr id="3" name="Content Placeholder 2">
            <a:extLst>
              <a:ext uri="{FF2B5EF4-FFF2-40B4-BE49-F238E27FC236}">
                <a16:creationId xmlns:a16="http://schemas.microsoft.com/office/drawing/2014/main" id="{D38E1237-4C68-0E72-9248-43275A41F56F}"/>
              </a:ext>
            </a:extLst>
          </p:cNvPr>
          <p:cNvSpPr>
            <a:spLocks noGrp="1"/>
          </p:cNvSpPr>
          <p:nvPr>
            <p:ph idx="1"/>
          </p:nvPr>
        </p:nvSpPr>
        <p:spPr/>
        <p:txBody>
          <a:bodyPr/>
          <a:lstStyle/>
          <a:p>
            <a:r>
              <a:rPr lang="en-IN" dirty="0"/>
              <a:t>The computer compares different frames.</a:t>
            </a:r>
          </a:p>
          <a:p>
            <a:r>
              <a:rPr lang="en-IN" dirty="0"/>
              <a:t>The computer asks:</a:t>
            </a:r>
          </a:p>
          <a:p>
            <a:r>
              <a:rPr lang="en-IN" dirty="0"/>
              <a:t>"Where did the car go?"</a:t>
            </a:r>
          </a:p>
          <a:p>
            <a:r>
              <a:rPr lang="en-IN" dirty="0"/>
              <a:t>It compares the two images and finds that the car appears at a different location.</a:t>
            </a:r>
          </a:p>
          <a:p>
            <a:r>
              <a:rPr lang="en-IN" dirty="0"/>
              <a:t>This gives us the motion.</a:t>
            </a:r>
          </a:p>
          <a:p>
            <a:endParaRPr lang="en-IN" dirty="0"/>
          </a:p>
        </p:txBody>
      </p:sp>
    </p:spTree>
    <p:extLst>
      <p:ext uri="{BB962C8B-B14F-4D97-AF65-F5344CB8AC3E}">
        <p14:creationId xmlns:p14="http://schemas.microsoft.com/office/powerpoint/2010/main" val="688949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C24ED-63ED-01DA-71F3-9696E0966CD8}"/>
              </a:ext>
            </a:extLst>
          </p:cNvPr>
          <p:cNvSpPr>
            <a:spLocks noGrp="1"/>
          </p:cNvSpPr>
          <p:nvPr>
            <p:ph type="title"/>
          </p:nvPr>
        </p:nvSpPr>
        <p:spPr/>
        <p:txBody>
          <a:bodyPr/>
          <a:lstStyle/>
          <a:p>
            <a:r>
              <a:rPr lang="en-IN" dirty="0"/>
              <a:t>One Simple Method: Frame Difference	</a:t>
            </a:r>
          </a:p>
        </p:txBody>
      </p:sp>
      <p:sp>
        <p:nvSpPr>
          <p:cNvPr id="3" name="Content Placeholder 2">
            <a:extLst>
              <a:ext uri="{FF2B5EF4-FFF2-40B4-BE49-F238E27FC236}">
                <a16:creationId xmlns:a16="http://schemas.microsoft.com/office/drawing/2014/main" id="{CF4E06C9-555E-114F-5EF8-0495DECE2BE8}"/>
              </a:ext>
            </a:extLst>
          </p:cNvPr>
          <p:cNvSpPr>
            <a:spLocks noGrp="1"/>
          </p:cNvSpPr>
          <p:nvPr>
            <p:ph idx="1"/>
          </p:nvPr>
        </p:nvSpPr>
        <p:spPr/>
        <p:txBody>
          <a:bodyPr/>
          <a:lstStyle/>
          <a:p>
            <a:r>
              <a:rPr lang="en-US" dirty="0"/>
              <a:t>C</a:t>
            </a:r>
            <a:r>
              <a:rPr lang="en-IN" dirty="0" err="1"/>
              <a:t>ompare</a:t>
            </a:r>
            <a:r>
              <a:rPr lang="en-IN" dirty="0"/>
              <a:t> two frames and look for what changed.</a:t>
            </a:r>
          </a:p>
          <a:p>
            <a:r>
              <a:rPr lang="en-IN" dirty="0"/>
              <a:t>The changed pixels tell us that something moved.</a:t>
            </a:r>
          </a:p>
          <a:p>
            <a:r>
              <a:rPr lang="en-IN" dirty="0"/>
              <a:t>Mathematically, we can think of:</a:t>
            </a:r>
          </a:p>
          <a:p>
            <a:r>
              <a:rPr lang="en-IN" dirty="0"/>
              <a:t>Difference=Frame2​−Frame1​</a:t>
            </a:r>
          </a:p>
          <a:p>
            <a:r>
              <a:rPr lang="en-IN" dirty="0"/>
              <a:t>Compare old frame and new frame → find differences → detect movement.</a:t>
            </a:r>
          </a:p>
          <a:p>
            <a:r>
              <a:rPr lang="en-IN" dirty="0"/>
              <a:t>But There Is a Problem</a:t>
            </a:r>
          </a:p>
          <a:p>
            <a:endParaRPr lang="en-IN" dirty="0"/>
          </a:p>
        </p:txBody>
      </p:sp>
    </p:spTree>
    <p:extLst>
      <p:ext uri="{BB962C8B-B14F-4D97-AF65-F5344CB8AC3E}">
        <p14:creationId xmlns:p14="http://schemas.microsoft.com/office/powerpoint/2010/main" val="3159174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68DFB-3D87-A89A-5CA8-8CD5B7E8F08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4F3435E-98E4-F5A9-5974-EBD81DD9A804}"/>
              </a:ext>
            </a:extLst>
          </p:cNvPr>
          <p:cNvSpPr>
            <a:spLocks noGrp="1"/>
          </p:cNvSpPr>
          <p:nvPr>
            <p:ph idx="1"/>
          </p:nvPr>
        </p:nvSpPr>
        <p:spPr/>
        <p:txBody>
          <a:bodyPr/>
          <a:lstStyle/>
          <a:p>
            <a:r>
              <a:rPr lang="en-IN" dirty="0"/>
              <a:t>Suppose the camera itself moves.</a:t>
            </a:r>
          </a:p>
          <a:p>
            <a:r>
              <a:rPr lang="en-IN" dirty="0"/>
              <a:t>Imagine you record a road while walking:</a:t>
            </a:r>
          </a:p>
          <a:p>
            <a:r>
              <a:rPr lang="en-IN" dirty="0"/>
              <a:t>Now almost everything in the image appears to move.</a:t>
            </a:r>
          </a:p>
          <a:p>
            <a:r>
              <a:rPr lang="en-IN" dirty="0"/>
              <a:t>So the computer might think:</a:t>
            </a:r>
          </a:p>
          <a:p>
            <a:r>
              <a:rPr lang="en-IN" dirty="0"/>
              <a:t>"Everything is moving!"</a:t>
            </a:r>
          </a:p>
          <a:p>
            <a:r>
              <a:rPr lang="en-IN" dirty="0"/>
              <a:t>But actually:</a:t>
            </a:r>
          </a:p>
          <a:p>
            <a:r>
              <a:rPr lang="en-IN" dirty="0"/>
              <a:t>The </a:t>
            </a:r>
            <a:r>
              <a:rPr lang="en-IN" b="1" dirty="0"/>
              <a:t>camera</a:t>
            </a:r>
            <a:r>
              <a:rPr lang="en-IN" dirty="0"/>
              <a:t> is moving.</a:t>
            </a:r>
          </a:p>
          <a:p>
            <a:r>
              <a:rPr lang="en-IN" dirty="0"/>
              <a:t>This is an important problem in motion analysis.</a:t>
            </a:r>
          </a:p>
          <a:p>
            <a:endParaRPr lang="en-IN" dirty="0"/>
          </a:p>
        </p:txBody>
      </p:sp>
    </p:spTree>
    <p:extLst>
      <p:ext uri="{BB962C8B-B14F-4D97-AF65-F5344CB8AC3E}">
        <p14:creationId xmlns:p14="http://schemas.microsoft.com/office/powerpoint/2010/main" val="620981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21299-44FC-6400-588F-DE0180573160}"/>
              </a:ext>
            </a:extLst>
          </p:cNvPr>
          <p:cNvSpPr>
            <a:spLocks noGrp="1"/>
          </p:cNvSpPr>
          <p:nvPr>
            <p:ph type="title"/>
          </p:nvPr>
        </p:nvSpPr>
        <p:spPr/>
        <p:txBody>
          <a:bodyPr/>
          <a:lstStyle/>
          <a:p>
            <a:r>
              <a:rPr lang="en-IN" dirty="0"/>
              <a:t>Optical Flow</a:t>
            </a:r>
          </a:p>
        </p:txBody>
      </p:sp>
      <p:sp>
        <p:nvSpPr>
          <p:cNvPr id="3" name="Content Placeholder 2">
            <a:extLst>
              <a:ext uri="{FF2B5EF4-FFF2-40B4-BE49-F238E27FC236}">
                <a16:creationId xmlns:a16="http://schemas.microsoft.com/office/drawing/2014/main" id="{AD30A2E1-1D5D-C394-274E-4EF1E7D30539}"/>
              </a:ext>
            </a:extLst>
          </p:cNvPr>
          <p:cNvSpPr>
            <a:spLocks noGrp="1"/>
          </p:cNvSpPr>
          <p:nvPr>
            <p:ph idx="1"/>
          </p:nvPr>
        </p:nvSpPr>
        <p:spPr/>
        <p:txBody>
          <a:bodyPr/>
          <a:lstStyle/>
          <a:p>
            <a:r>
              <a:rPr lang="en-IN" dirty="0"/>
              <a:t>Imagine that you put a tiny arrow on every moving pixel.</a:t>
            </a:r>
          </a:p>
          <a:p>
            <a:r>
              <a:rPr lang="en-IN" dirty="0"/>
              <a:t>These arrows describe how pixels appear to move between frames.</a:t>
            </a:r>
          </a:p>
          <a:p>
            <a:r>
              <a:rPr lang="en-IN" dirty="0"/>
              <a:t>That collection of movement arrows is called </a:t>
            </a:r>
            <a:r>
              <a:rPr lang="en-IN" b="1" dirty="0"/>
              <a:t>optical flow</a:t>
            </a:r>
            <a:r>
              <a:rPr lang="en-IN" dirty="0"/>
              <a:t>.</a:t>
            </a:r>
          </a:p>
          <a:p>
            <a:r>
              <a:rPr lang="en-IN" dirty="0"/>
              <a:t>→ → → → →</a:t>
            </a:r>
          </a:p>
          <a:p>
            <a:r>
              <a:rPr lang="en-IN" dirty="0"/>
              <a:t>→ → → → →</a:t>
            </a:r>
          </a:p>
          <a:p>
            <a:r>
              <a:rPr lang="en-IN" dirty="0"/>
              <a:t>→ → → → →</a:t>
            </a:r>
          </a:p>
        </p:txBody>
      </p:sp>
    </p:spTree>
    <p:extLst>
      <p:ext uri="{BB962C8B-B14F-4D97-AF65-F5344CB8AC3E}">
        <p14:creationId xmlns:p14="http://schemas.microsoft.com/office/powerpoint/2010/main" val="118684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52DA-1744-3A20-69A8-C4169C86BD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CD552CB-A671-8C79-0D19-BA9EAC7ED6BC}"/>
              </a:ext>
            </a:extLst>
          </p:cNvPr>
          <p:cNvSpPr>
            <a:spLocks noGrp="1"/>
          </p:cNvSpPr>
          <p:nvPr>
            <p:ph idx="1"/>
          </p:nvPr>
        </p:nvSpPr>
        <p:spPr/>
        <p:txBody>
          <a:bodyPr/>
          <a:lstStyle/>
          <a:p>
            <a:r>
              <a:rPr lang="en-IN" b="1" dirty="0"/>
              <a:t>Imagine Rain</a:t>
            </a:r>
          </a:p>
          <a:p>
            <a:r>
              <a:rPr lang="en-IN" dirty="0"/>
              <a:t>Here's an easy analogy.</a:t>
            </a:r>
          </a:p>
          <a:p>
            <a:r>
              <a:rPr lang="en-IN" dirty="0"/>
              <a:t>Imagine you're looking through a window while rain is falling.</a:t>
            </a:r>
          </a:p>
          <a:p>
            <a:r>
              <a:rPr lang="en-IN" dirty="0"/>
              <a:t>You see many drops moving:</a:t>
            </a:r>
          </a:p>
          <a:p>
            <a:r>
              <a:rPr lang="en-IN" dirty="0"/>
              <a:t>You can describe the movement of all the drops using arrows.</a:t>
            </a:r>
          </a:p>
          <a:p>
            <a:r>
              <a:rPr lang="en-IN" dirty="0"/>
              <a:t>Optical flow does something similar with image pixels.</a:t>
            </a:r>
          </a:p>
          <a:p>
            <a:r>
              <a:rPr lang="en-IN" dirty="0"/>
              <a:t>Instead of rain drops:</a:t>
            </a:r>
          </a:p>
          <a:p>
            <a:r>
              <a:rPr lang="en-IN" dirty="0"/>
              <a:t>We have pixels/features.</a:t>
            </a:r>
          </a:p>
        </p:txBody>
      </p:sp>
    </p:spTree>
    <p:extLst>
      <p:ext uri="{BB962C8B-B14F-4D97-AF65-F5344CB8AC3E}">
        <p14:creationId xmlns:p14="http://schemas.microsoft.com/office/powerpoint/2010/main" val="925930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F690441-9177-034B-0D6A-170C3967D3E4}"/>
              </a:ext>
            </a:extLst>
          </p:cNvPr>
          <p:cNvPicPr>
            <a:picLocks noGrp="1" noChangeAspect="1"/>
          </p:cNvPicPr>
          <p:nvPr>
            <p:ph idx="1"/>
          </p:nvPr>
        </p:nvPicPr>
        <p:blipFill>
          <a:blip r:embed="rId2"/>
          <a:stretch>
            <a:fillRect/>
          </a:stretch>
        </p:blipFill>
        <p:spPr>
          <a:xfrm>
            <a:off x="1745807" y="-96715"/>
            <a:ext cx="8277423" cy="7033846"/>
          </a:xfrm>
          <a:prstGeom prst="rect">
            <a:avLst/>
          </a:prstGeom>
        </p:spPr>
      </p:pic>
    </p:spTree>
    <p:extLst>
      <p:ext uri="{BB962C8B-B14F-4D97-AF65-F5344CB8AC3E}">
        <p14:creationId xmlns:p14="http://schemas.microsoft.com/office/powerpoint/2010/main" val="2893807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9DEA3-5A88-7A5C-CBAE-0417F5F2784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3ADDA46-942B-2EAD-A6BC-8C2BCFCE4B92}"/>
              </a:ext>
            </a:extLst>
          </p:cNvPr>
          <p:cNvSpPr>
            <a:spLocks noGrp="1"/>
          </p:cNvSpPr>
          <p:nvPr>
            <p:ph idx="1"/>
          </p:nvPr>
        </p:nvSpPr>
        <p:spPr/>
        <p:txBody>
          <a:bodyPr>
            <a:normAutofit/>
          </a:bodyPr>
          <a:lstStyle/>
          <a:p>
            <a:r>
              <a:rPr lang="en-IN" dirty="0"/>
              <a:t>Start with pixel values</a:t>
            </a:r>
          </a:p>
          <a:p>
            <a:r>
              <a:rPr lang="en-IN" dirty="0"/>
              <a:t>Calculate image gradients</a:t>
            </a:r>
          </a:p>
          <a:p>
            <a:r>
              <a:rPr lang="en-IN" dirty="0"/>
              <a:t>Ix = change horizontally </a:t>
            </a:r>
          </a:p>
          <a:p>
            <a:r>
              <a:rPr lang="en-IN" dirty="0"/>
              <a:t> </a:t>
            </a:r>
            <a:r>
              <a:rPr lang="en-IN" dirty="0" err="1"/>
              <a:t>Iy</a:t>
            </a:r>
            <a:r>
              <a:rPr lang="en-IN" dirty="0"/>
              <a:t> = change vertically ↓</a:t>
            </a:r>
          </a:p>
          <a:p>
            <a:r>
              <a:rPr lang="en-IN" dirty="0"/>
              <a:t>Ix values:2,4,3</a:t>
            </a:r>
          </a:p>
          <a:p>
            <a:r>
              <a:rPr lang="en-IN" dirty="0" err="1"/>
              <a:t>Iy</a:t>
            </a:r>
            <a:r>
              <a:rPr lang="en-IN" dirty="0"/>
              <a:t> values: 5,6,4</a:t>
            </a:r>
          </a:p>
          <a:p>
            <a:r>
              <a:rPr lang="en-IN" dirty="0"/>
              <a:t>Build Matrix M</a:t>
            </a:r>
          </a:p>
        </p:txBody>
      </p:sp>
    </p:spTree>
    <p:extLst>
      <p:ext uri="{BB962C8B-B14F-4D97-AF65-F5344CB8AC3E}">
        <p14:creationId xmlns:p14="http://schemas.microsoft.com/office/powerpoint/2010/main" val="3626302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B869-CE23-DFC5-02C6-D99DB7915AF1}"/>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7AF4EB-4514-39CE-ADB7-FEF3E05A18CF}"/>
                  </a:ext>
                </a:extLst>
              </p:cNvPr>
              <p:cNvSpPr>
                <a:spLocks noGrp="1"/>
              </p:cNvSpPr>
              <p:nvPr>
                <p:ph idx="1"/>
              </p:nvPr>
            </p:nvSpPr>
            <p:spPr/>
            <p:txBody>
              <a:bodyPr/>
              <a:lstStyle/>
              <a:p>
                <a:r>
                  <a:rPr lang="en-IN" dirty="0"/>
                  <a:t>Calculate:</a:t>
                </a:r>
              </a:p>
              <a:p>
                <a14:m>
                  <m:oMath xmlns:m="http://schemas.openxmlformats.org/officeDocument/2006/math">
                    <m:nary>
                      <m:naryPr>
                        <m:chr m:val="∑"/>
                        <m:grow m:val="on"/>
                        <m:subHide m:val="on"/>
                        <m:supHide m:val="on"/>
                        <m:ctrlPr>
                          <a:rPr lang="en-IN" i="1">
                            <a:latin typeface="Cambria Math" panose="02040503050406030204" pitchFamily="18" charset="0"/>
                          </a:rPr>
                        </m:ctrlPr>
                      </m:naryPr>
                      <m:sub/>
                      <m:sup/>
                      <m:e>
                        <m:sSubSup>
                          <m:sSubSupPr>
                            <m:ctrlPr>
                              <a:rPr lang="en-IN" i="1">
                                <a:latin typeface="Cambria Math" panose="02040503050406030204" pitchFamily="18" charset="0"/>
                              </a:rPr>
                            </m:ctrlPr>
                          </m:sSubSupPr>
                          <m:e>
                            <m:r>
                              <a:rPr lang="en-IN" i="1">
                                <a:latin typeface="Cambria Math" panose="02040503050406030204" pitchFamily="18" charset="0"/>
                              </a:rPr>
                              <m:t>𝐼</m:t>
                            </m:r>
                          </m:e>
                          <m:sub>
                            <m:r>
                              <a:rPr lang="en-IN" i="1">
                                <a:latin typeface="Cambria Math" panose="02040503050406030204" pitchFamily="18" charset="0"/>
                              </a:rPr>
                              <m:t>𝑥</m:t>
                            </m:r>
                          </m:sub>
                          <m:sup>
                            <m:r>
                              <a:rPr lang="en-IN">
                                <a:latin typeface="Cambria Math" panose="02040503050406030204" pitchFamily="18" charset="0"/>
                              </a:rPr>
                              <m:t>2</m:t>
                            </m:r>
                          </m:sup>
                        </m:sSubSup>
                      </m:e>
                    </m:nary>
                    <m:r>
                      <a:rPr lang="en-IN">
                        <a:latin typeface="Cambria Math" panose="02040503050406030204" pitchFamily="18" charset="0"/>
                      </a:rPr>
                      <m:t>=</m:t>
                    </m:r>
                    <m:sSup>
                      <m:sSupPr>
                        <m:ctrlPr>
                          <a:rPr lang="en-IN">
                            <a:latin typeface="Cambria Math" panose="02040503050406030204" pitchFamily="18" charset="0"/>
                          </a:rPr>
                        </m:ctrlPr>
                      </m:sSupPr>
                      <m:e>
                        <m:r>
                          <a:rPr lang="en-IN">
                            <a:latin typeface="Cambria Math" panose="02040503050406030204" pitchFamily="18" charset="0"/>
                          </a:rPr>
                          <m:t>2</m:t>
                        </m:r>
                      </m:e>
                      <m:sup>
                        <m:r>
                          <a:rPr lang="en-IN">
                            <a:latin typeface="Cambria Math" panose="02040503050406030204" pitchFamily="18" charset="0"/>
                          </a:rPr>
                          <m:t>2</m:t>
                        </m:r>
                      </m:sup>
                    </m:sSup>
                    <m:r>
                      <a:rPr lang="en-IN">
                        <a:latin typeface="Cambria Math" panose="02040503050406030204" pitchFamily="18" charset="0"/>
                      </a:rPr>
                      <m:t>+</m:t>
                    </m:r>
                    <m:sSup>
                      <m:sSupPr>
                        <m:ctrlPr>
                          <a:rPr lang="en-IN">
                            <a:latin typeface="Cambria Math" panose="02040503050406030204" pitchFamily="18" charset="0"/>
                          </a:rPr>
                        </m:ctrlPr>
                      </m:sSupPr>
                      <m:e>
                        <m:r>
                          <a:rPr lang="en-IN">
                            <a:latin typeface="Cambria Math" panose="02040503050406030204" pitchFamily="18" charset="0"/>
                          </a:rPr>
                          <m:t>4</m:t>
                        </m:r>
                      </m:e>
                      <m:sup>
                        <m:r>
                          <a:rPr lang="en-IN">
                            <a:latin typeface="Cambria Math" panose="02040503050406030204" pitchFamily="18" charset="0"/>
                          </a:rPr>
                          <m:t>2</m:t>
                        </m:r>
                      </m:sup>
                    </m:sSup>
                    <m:r>
                      <a:rPr lang="en-IN">
                        <a:latin typeface="Cambria Math" panose="02040503050406030204" pitchFamily="18" charset="0"/>
                      </a:rPr>
                      <m:t>+</m:t>
                    </m:r>
                    <m:sSup>
                      <m:sSupPr>
                        <m:ctrlPr>
                          <a:rPr lang="en-IN">
                            <a:latin typeface="Cambria Math" panose="02040503050406030204" pitchFamily="18" charset="0"/>
                          </a:rPr>
                        </m:ctrlPr>
                      </m:sSupPr>
                      <m:e>
                        <m:r>
                          <a:rPr lang="en-IN">
                            <a:latin typeface="Cambria Math" panose="02040503050406030204" pitchFamily="18" charset="0"/>
                          </a:rPr>
                          <m:t>3</m:t>
                        </m:r>
                      </m:e>
                      <m:sup>
                        <m:r>
                          <a:rPr lang="en-IN">
                            <a:latin typeface="Cambria Math" panose="02040503050406030204" pitchFamily="18" charset="0"/>
                          </a:rPr>
                          <m:t>2</m:t>
                        </m:r>
                      </m:sup>
                    </m:sSup>
                    <m:r>
                      <a:rPr lang="en-IN">
                        <a:latin typeface="Cambria Math" panose="02040503050406030204" pitchFamily="18" charset="0"/>
                      </a:rPr>
                      <m:t>=4+16+9=29</m:t>
                    </m:r>
                  </m:oMath>
                </a14:m>
                <a:endParaRPr lang="en-IN" dirty="0"/>
              </a:p>
              <a:p>
                <a:r>
                  <a:rPr lang="en-IN" dirty="0"/>
                  <a:t>Calculate:</a:t>
                </a:r>
              </a:p>
              <a:p>
                <a:r>
                  <a:rPr lang="en-IN" dirty="0"/>
                  <a:t>∑Iy2​=52+62+42=25+36+16=77</a:t>
                </a:r>
              </a:p>
              <a:p>
                <a:r>
                  <a:rPr lang="en-IN" dirty="0"/>
                  <a:t>∑Ix​</a:t>
                </a:r>
                <a:r>
                  <a:rPr lang="en-IN" dirty="0" err="1"/>
                  <a:t>Iy</a:t>
                </a:r>
                <a:r>
                  <a:rPr lang="en-IN" dirty="0"/>
                  <a:t>​=(2×5)+(4×6)+(3×4)</a:t>
                </a:r>
              </a:p>
              <a:p>
                <a:r>
                  <a:rPr lang="en-IN" dirty="0"/>
                  <a:t>=10+24+12=46</a:t>
                </a:r>
              </a:p>
            </p:txBody>
          </p:sp>
        </mc:Choice>
        <mc:Fallback xmlns="">
          <p:sp>
            <p:nvSpPr>
              <p:cNvPr id="3" name="Content Placeholder 2">
                <a:extLst>
                  <a:ext uri="{FF2B5EF4-FFF2-40B4-BE49-F238E27FC236}">
                    <a16:creationId xmlns:a16="http://schemas.microsoft.com/office/drawing/2014/main" id="{167AF4EB-4514-39CE-ADB7-FEF3E05A18CF}"/>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IN">
                    <a:noFill/>
                  </a:rPr>
                  <a:t> </a:t>
                </a:r>
              </a:p>
            </p:txBody>
          </p:sp>
        </mc:Fallback>
      </mc:AlternateContent>
    </p:spTree>
    <p:extLst>
      <p:ext uri="{BB962C8B-B14F-4D97-AF65-F5344CB8AC3E}">
        <p14:creationId xmlns:p14="http://schemas.microsoft.com/office/powerpoint/2010/main" val="2070433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FD054-0F50-B6CB-D5CF-41993417CC7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150365-2ABC-69D9-0769-C35F2D8394F8}"/>
              </a:ext>
            </a:extLst>
          </p:cNvPr>
          <p:cNvSpPr>
            <a:spLocks noGrp="1"/>
          </p:cNvSpPr>
          <p:nvPr>
            <p:ph idx="1"/>
          </p:nvPr>
        </p:nvSpPr>
        <p:spPr/>
        <p:txBody>
          <a:bodyPr/>
          <a:lstStyle/>
          <a:p>
            <a:r>
              <a:rPr lang="en-US" dirty="0"/>
              <a:t>M=[29 46</a:t>
            </a:r>
          </a:p>
          <a:p>
            <a:r>
              <a:rPr lang="en-US" dirty="0"/>
              <a:t>         46  77 ]</a:t>
            </a:r>
          </a:p>
          <a:p>
            <a:endParaRPr lang="en-US" dirty="0"/>
          </a:p>
          <a:p>
            <a:r>
              <a:rPr lang="en-IN" b="1" dirty="0"/>
              <a:t>Use the eigenvalue equation</a:t>
            </a:r>
          </a:p>
          <a:p>
            <a:r>
              <a:rPr lang="en-IN" dirty="0"/>
              <a:t>We calculate:</a:t>
            </a:r>
          </a:p>
          <a:p>
            <a:r>
              <a:rPr lang="en-IN" dirty="0"/>
              <a:t>∣M−</a:t>
            </a:r>
            <a:r>
              <a:rPr lang="en-IN" dirty="0" err="1"/>
              <a:t>λI</a:t>
            </a:r>
            <a:r>
              <a:rPr lang="en-IN" dirty="0"/>
              <a:t>∣=0</a:t>
            </a:r>
          </a:p>
          <a:p>
            <a:r>
              <a:rPr lang="en-IN" dirty="0"/>
              <a:t>M−</a:t>
            </a:r>
            <a:r>
              <a:rPr lang="en-IN" dirty="0" err="1"/>
              <a:t>λI</a:t>
            </a:r>
            <a:r>
              <a:rPr lang="en-IN" dirty="0"/>
              <a:t>=[8−λ     6</a:t>
            </a:r>
          </a:p>
          <a:p>
            <a:r>
              <a:rPr lang="en-IN" dirty="0"/>
              <a:t>​              7            6- λ]</a:t>
            </a:r>
          </a:p>
        </p:txBody>
      </p:sp>
    </p:spTree>
    <p:extLst>
      <p:ext uri="{BB962C8B-B14F-4D97-AF65-F5344CB8AC3E}">
        <p14:creationId xmlns:p14="http://schemas.microsoft.com/office/powerpoint/2010/main" val="1808702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A524A-9F03-896E-6F5F-01E47235BF4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8B8C3BD-C8F9-4871-AA19-61B995F00317}"/>
              </a:ext>
            </a:extLst>
          </p:cNvPr>
          <p:cNvPicPr>
            <a:picLocks noGrp="1" noChangeAspect="1"/>
          </p:cNvPicPr>
          <p:nvPr>
            <p:ph idx="1"/>
          </p:nvPr>
        </p:nvPicPr>
        <p:blipFill>
          <a:blip r:embed="rId2"/>
          <a:stretch>
            <a:fillRect/>
          </a:stretch>
        </p:blipFill>
        <p:spPr>
          <a:xfrm>
            <a:off x="3211580" y="2393334"/>
            <a:ext cx="5768840" cy="3215919"/>
          </a:xfrm>
          <a:prstGeom prst="rect">
            <a:avLst/>
          </a:prstGeom>
        </p:spPr>
      </p:pic>
    </p:spTree>
    <p:extLst>
      <p:ext uri="{BB962C8B-B14F-4D97-AF65-F5344CB8AC3E}">
        <p14:creationId xmlns:p14="http://schemas.microsoft.com/office/powerpoint/2010/main" val="1977790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2745F-7FAC-5761-F041-DF29EFDD56D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AE4305A-63AB-67F4-5AAD-545FF8C80FEB}"/>
              </a:ext>
            </a:extLst>
          </p:cNvPr>
          <p:cNvPicPr>
            <a:picLocks noGrp="1" noChangeAspect="1"/>
          </p:cNvPicPr>
          <p:nvPr>
            <p:ph idx="1"/>
          </p:nvPr>
        </p:nvPicPr>
        <p:blipFill>
          <a:blip r:embed="rId2"/>
          <a:stretch>
            <a:fillRect/>
          </a:stretch>
        </p:blipFill>
        <p:spPr>
          <a:xfrm>
            <a:off x="2628599" y="1878940"/>
            <a:ext cx="6934801" cy="4244708"/>
          </a:xfrm>
          <a:prstGeom prst="rect">
            <a:avLst/>
          </a:prstGeom>
        </p:spPr>
      </p:pic>
    </p:spTree>
    <p:extLst>
      <p:ext uri="{BB962C8B-B14F-4D97-AF65-F5344CB8AC3E}">
        <p14:creationId xmlns:p14="http://schemas.microsoft.com/office/powerpoint/2010/main" val="1151617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61B2-5B06-AAFA-3EB2-D2EC99BD70C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002273-EBEC-F31F-7DB8-DBC809B024F8}"/>
              </a:ext>
            </a:extLst>
          </p:cNvPr>
          <p:cNvSpPr>
            <a:spLocks noGrp="1"/>
          </p:cNvSpPr>
          <p:nvPr>
            <p:ph idx="1"/>
          </p:nvPr>
        </p:nvSpPr>
        <p:spPr/>
        <p:txBody>
          <a:bodyPr/>
          <a:lstStyle/>
          <a:p>
            <a:r>
              <a:rPr lang="en-IN" dirty="0"/>
              <a:t>Now we get another picture from the camera.</a:t>
            </a:r>
          </a:p>
          <a:p>
            <a:r>
              <a:rPr lang="en-IN" dirty="0"/>
              <a:t>We have:</a:t>
            </a:r>
          </a:p>
          <a:p>
            <a:r>
              <a:rPr lang="en-US" dirty="0" err="1"/>
              <a:t>old_frame</a:t>
            </a:r>
            <a:r>
              <a:rPr lang="en-US" dirty="0"/>
              <a:t>       frame</a:t>
            </a:r>
          </a:p>
          <a:p>
            <a:r>
              <a:rPr lang="en-US" dirty="0"/>
              <a:t>    ↓             ↓</a:t>
            </a:r>
          </a:p>
          <a:p>
            <a:r>
              <a:rPr lang="en-US" dirty="0"/>
              <a:t>previous       current</a:t>
            </a:r>
          </a:p>
          <a:p>
            <a:r>
              <a:rPr lang="en-IN" dirty="0"/>
              <a:t>Convert the new frame to grayscale</a:t>
            </a:r>
          </a:p>
          <a:p>
            <a:r>
              <a:rPr lang="en-US" dirty="0" err="1"/>
              <a:t>old_gray</a:t>
            </a:r>
            <a:r>
              <a:rPr lang="en-US" dirty="0"/>
              <a:t> = previous image</a:t>
            </a:r>
          </a:p>
          <a:p>
            <a:r>
              <a:rPr lang="en-US" dirty="0"/>
              <a:t>gray     = current image</a:t>
            </a:r>
            <a:endParaRPr lang="en-IN" dirty="0"/>
          </a:p>
        </p:txBody>
      </p:sp>
    </p:spTree>
    <p:extLst>
      <p:ext uri="{BB962C8B-B14F-4D97-AF65-F5344CB8AC3E}">
        <p14:creationId xmlns:p14="http://schemas.microsoft.com/office/powerpoint/2010/main" val="428607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F00F1-65FE-B3EC-F1D5-E7AAB5C5907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23C3009-76C9-F249-BD11-FA71E0FDAAD2}"/>
              </a:ext>
            </a:extLst>
          </p:cNvPr>
          <p:cNvSpPr>
            <a:spLocks noGrp="1"/>
          </p:cNvSpPr>
          <p:nvPr>
            <p:ph idx="1"/>
          </p:nvPr>
        </p:nvSpPr>
        <p:spPr/>
        <p:txBody>
          <a:bodyPr/>
          <a:lstStyle/>
          <a:p>
            <a:r>
              <a:rPr lang="en-IN" dirty="0"/>
              <a:t>Find where the points moved</a:t>
            </a:r>
          </a:p>
          <a:p>
            <a:pPr lvl="0"/>
            <a:r>
              <a:rPr lang="en-IN" dirty="0" err="1"/>
              <a:t>old_gray</a:t>
            </a:r>
            <a:r>
              <a:rPr lang="en-IN" dirty="0"/>
              <a:t> — previous frame in grayscale. </a:t>
            </a:r>
          </a:p>
          <a:p>
            <a:pPr lvl="0"/>
            <a:r>
              <a:rPr lang="en-IN" dirty="0" err="1"/>
              <a:t>gray</a:t>
            </a:r>
            <a:r>
              <a:rPr lang="en-IN" dirty="0"/>
              <a:t> — current frame in grayscale. </a:t>
            </a:r>
          </a:p>
          <a:p>
            <a:pPr lvl="0"/>
            <a:r>
              <a:rPr lang="en-IN" dirty="0"/>
              <a:t>points — points/features detected in the previous frame that you want to track. </a:t>
            </a:r>
          </a:p>
          <a:p>
            <a:pPr lvl="0"/>
            <a:r>
              <a:rPr lang="en-IN" dirty="0"/>
              <a:t>None — no initial estimate of where the points moved.</a:t>
            </a:r>
          </a:p>
          <a:p>
            <a:endParaRPr lang="en-IN" dirty="0"/>
          </a:p>
        </p:txBody>
      </p:sp>
    </p:spTree>
    <p:extLst>
      <p:ext uri="{BB962C8B-B14F-4D97-AF65-F5344CB8AC3E}">
        <p14:creationId xmlns:p14="http://schemas.microsoft.com/office/powerpoint/2010/main" val="261635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727D8-0B7A-3EC7-9ECF-B6D37D0ABB2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0498D6-DA28-7506-9196-584BA1180987}"/>
              </a:ext>
            </a:extLst>
          </p:cNvPr>
          <p:cNvSpPr>
            <a:spLocks noGrp="1"/>
          </p:cNvSpPr>
          <p:nvPr>
            <p:ph idx="1"/>
          </p:nvPr>
        </p:nvSpPr>
        <p:spPr/>
        <p:txBody>
          <a:bodyPr/>
          <a:lstStyle/>
          <a:p>
            <a:r>
              <a:rPr lang="en-IN" b="1" dirty="0"/>
              <a:t>What it returns</a:t>
            </a:r>
          </a:p>
          <a:p>
            <a:pPr lvl="0"/>
            <a:r>
              <a:rPr lang="en-IN" dirty="0" err="1"/>
              <a:t>new_points</a:t>
            </a:r>
            <a:r>
              <a:rPr lang="en-IN" dirty="0"/>
              <a:t> — estimated locations of the tracked points in the current frame. </a:t>
            </a:r>
          </a:p>
          <a:p>
            <a:pPr lvl="0"/>
            <a:r>
              <a:rPr lang="en-IN" dirty="0"/>
              <a:t>status — tells whether each point was successfully tracked: </a:t>
            </a:r>
          </a:p>
          <a:p>
            <a:pPr lvl="1"/>
            <a:r>
              <a:rPr lang="en-IN" dirty="0"/>
              <a:t>1 → successfully tracked </a:t>
            </a:r>
          </a:p>
          <a:p>
            <a:pPr lvl="1"/>
            <a:r>
              <a:rPr lang="en-IN" dirty="0"/>
              <a:t>0 → tracking failed </a:t>
            </a:r>
          </a:p>
          <a:p>
            <a:pPr lvl="0"/>
            <a:r>
              <a:rPr lang="en-IN" dirty="0"/>
              <a:t>error — error measure for each tracked point.</a:t>
            </a:r>
          </a:p>
          <a:p>
            <a:endParaRPr lang="en-IN" dirty="0"/>
          </a:p>
        </p:txBody>
      </p:sp>
    </p:spTree>
    <p:extLst>
      <p:ext uri="{BB962C8B-B14F-4D97-AF65-F5344CB8AC3E}">
        <p14:creationId xmlns:p14="http://schemas.microsoft.com/office/powerpoint/2010/main" val="2246610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EA3F3-F379-E331-B0F1-678013BBC84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816BFF7-B516-C548-96C5-C939AE0562FE}"/>
              </a:ext>
            </a:extLst>
          </p:cNvPr>
          <p:cNvSpPr>
            <a:spLocks noGrp="1"/>
          </p:cNvSpPr>
          <p:nvPr>
            <p:ph idx="1"/>
          </p:nvPr>
        </p:nvSpPr>
        <p:spPr/>
        <p:txBody>
          <a:bodyPr>
            <a:normAutofit fontScale="92500" lnSpcReduction="10000"/>
          </a:bodyPr>
          <a:lstStyle/>
          <a:p>
            <a:r>
              <a:rPr lang="en-IN" b="1" dirty="0"/>
              <a:t>extracting the (x, y) coordinates of each old point and its tracked new position</a:t>
            </a:r>
            <a:r>
              <a:rPr lang="en-IN" dirty="0"/>
              <a:t>.</a:t>
            </a:r>
          </a:p>
          <a:p>
            <a:r>
              <a:rPr lang="en-US" dirty="0"/>
              <a:t>for new, old in zip(</a:t>
            </a:r>
            <a:r>
              <a:rPr lang="en-US" dirty="0" err="1"/>
              <a:t>new_points</a:t>
            </a:r>
            <a:r>
              <a:rPr lang="en-US" dirty="0"/>
              <a:t>, points):</a:t>
            </a:r>
          </a:p>
          <a:p>
            <a:r>
              <a:rPr lang="en-US" dirty="0"/>
              <a:t>    x1, y1 = </a:t>
            </a:r>
            <a:r>
              <a:rPr lang="en-US" dirty="0" err="1"/>
              <a:t>old.ravel</a:t>
            </a:r>
            <a:r>
              <a:rPr lang="en-US" dirty="0"/>
              <a:t>()</a:t>
            </a:r>
          </a:p>
          <a:p>
            <a:r>
              <a:rPr lang="en-US" dirty="0"/>
              <a:t>    x2, y2 = </a:t>
            </a:r>
            <a:r>
              <a:rPr lang="en-US" dirty="0" err="1"/>
              <a:t>new.ravel</a:t>
            </a:r>
            <a:r>
              <a:rPr lang="en-US" dirty="0"/>
              <a:t>()</a:t>
            </a:r>
          </a:p>
          <a:p>
            <a:r>
              <a:rPr lang="en-IN" dirty="0"/>
              <a:t>Think of one tracked point:</a:t>
            </a:r>
          </a:p>
          <a:p>
            <a:r>
              <a:rPr lang="en-US" dirty="0"/>
              <a:t>OLD FRAME                 NEW FRAME</a:t>
            </a:r>
          </a:p>
          <a:p>
            <a:endParaRPr lang="en-US" dirty="0"/>
          </a:p>
          <a:p>
            <a:r>
              <a:rPr lang="en-US" dirty="0"/>
              <a:t>    ●                         ●</a:t>
            </a:r>
          </a:p>
          <a:p>
            <a:r>
              <a:rPr lang="en-US" dirty="0"/>
              <a:t> (100,50)  ───────────→    (110,55)</a:t>
            </a:r>
            <a:endParaRPr lang="en-IN" dirty="0"/>
          </a:p>
        </p:txBody>
      </p:sp>
    </p:spTree>
    <p:extLst>
      <p:ext uri="{BB962C8B-B14F-4D97-AF65-F5344CB8AC3E}">
        <p14:creationId xmlns:p14="http://schemas.microsoft.com/office/powerpoint/2010/main" val="4150175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05F54-0CCA-6263-49B0-0D85867FBBE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DBAF0EE-337E-E87C-DE53-C040E60E1C59}"/>
              </a:ext>
            </a:extLst>
          </p:cNvPr>
          <p:cNvSpPr>
            <a:spLocks noGrp="1"/>
          </p:cNvSpPr>
          <p:nvPr>
            <p:ph idx="1"/>
          </p:nvPr>
        </p:nvSpPr>
        <p:spPr/>
        <p:txBody>
          <a:bodyPr/>
          <a:lstStyle/>
          <a:p>
            <a:r>
              <a:rPr lang="en-IN" dirty="0"/>
              <a:t>zip() pairs corresponding points:</a:t>
            </a:r>
          </a:p>
          <a:p>
            <a:r>
              <a:rPr lang="en-IN" dirty="0" err="1"/>
              <a:t>new_points</a:t>
            </a:r>
            <a:r>
              <a:rPr lang="en-IN" dirty="0"/>
              <a:t>       points</a:t>
            </a:r>
          </a:p>
          <a:p>
            <a:r>
              <a:rPr lang="en-IN" dirty="0"/>
              <a:t>   ↓                ↓</a:t>
            </a:r>
          </a:p>
          <a:p>
            <a:r>
              <a:rPr lang="en-IN" dirty="0"/>
              <a:t>[110, 55]    ↔   [100, 50]</a:t>
            </a:r>
          </a:p>
          <a:p>
            <a:r>
              <a:rPr lang="en-IN" dirty="0"/>
              <a:t>[205, 82]    ↔   [200, 80]</a:t>
            </a:r>
          </a:p>
          <a:p>
            <a:r>
              <a:rPr lang="en-IN" dirty="0"/>
              <a:t>[295,125]    ↔   [300,120]</a:t>
            </a:r>
          </a:p>
          <a:p>
            <a:r>
              <a:rPr lang="en-IN" dirty="0"/>
              <a:t>So during the first loop:</a:t>
            </a:r>
          </a:p>
        </p:txBody>
      </p:sp>
    </p:spTree>
    <p:extLst>
      <p:ext uri="{BB962C8B-B14F-4D97-AF65-F5344CB8AC3E}">
        <p14:creationId xmlns:p14="http://schemas.microsoft.com/office/powerpoint/2010/main" val="231330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97C60-99A9-A8BB-5AE2-6B537ABEE54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849939B-C467-5755-E216-603E30858241}"/>
              </a:ext>
            </a:extLst>
          </p:cNvPr>
          <p:cNvSpPr>
            <a:spLocks noGrp="1"/>
          </p:cNvSpPr>
          <p:nvPr>
            <p:ph idx="1"/>
          </p:nvPr>
        </p:nvSpPr>
        <p:spPr/>
        <p:txBody>
          <a:bodyPr/>
          <a:lstStyle/>
          <a:p>
            <a:r>
              <a:rPr lang="en-US" dirty="0"/>
              <a:t>new = [[110, 55]]</a:t>
            </a:r>
          </a:p>
          <a:p>
            <a:r>
              <a:rPr lang="en-US" dirty="0"/>
              <a:t>old = [[100, 50]]</a:t>
            </a:r>
          </a:p>
          <a:p>
            <a:r>
              <a:rPr lang="en-IN" dirty="0"/>
              <a:t>x1, y1 = </a:t>
            </a:r>
            <a:r>
              <a:rPr lang="en-IN" dirty="0" err="1"/>
              <a:t>old.ravel</a:t>
            </a:r>
            <a:r>
              <a:rPr lang="en-IN" dirty="0"/>
              <a:t>()</a:t>
            </a:r>
          </a:p>
          <a:p>
            <a:r>
              <a:rPr lang="en-IN" dirty="0"/>
              <a:t>old is usually shaped like:</a:t>
            </a:r>
          </a:p>
          <a:p>
            <a:r>
              <a:rPr lang="en-IN" dirty="0"/>
              <a:t>[[100, 50]]</a:t>
            </a:r>
          </a:p>
          <a:p>
            <a:r>
              <a:rPr lang="en-IN" dirty="0"/>
              <a:t>.ravel() converts it to:</a:t>
            </a:r>
          </a:p>
          <a:p>
            <a:r>
              <a:rPr lang="en-IN" dirty="0"/>
              <a:t>[100, 50]</a:t>
            </a:r>
          </a:p>
          <a:p>
            <a:endParaRPr lang="en-IN" dirty="0"/>
          </a:p>
        </p:txBody>
      </p:sp>
    </p:spTree>
    <p:extLst>
      <p:ext uri="{BB962C8B-B14F-4D97-AF65-F5344CB8AC3E}">
        <p14:creationId xmlns:p14="http://schemas.microsoft.com/office/powerpoint/2010/main" val="167445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5CA17-B2B6-A9F7-47E4-96119F48297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1B4753A-920C-6DA7-20DA-FFB9DD3C5B7D}"/>
              </a:ext>
            </a:extLst>
          </p:cNvPr>
          <p:cNvSpPr>
            <a:spLocks noGrp="1"/>
          </p:cNvSpPr>
          <p:nvPr>
            <p:ph idx="1"/>
          </p:nvPr>
        </p:nvSpPr>
        <p:spPr/>
        <p:txBody>
          <a:bodyPr/>
          <a:lstStyle/>
          <a:p>
            <a:r>
              <a:rPr lang="en-IN" dirty="0"/>
              <a:t>x2, y2 = </a:t>
            </a:r>
            <a:r>
              <a:rPr lang="en-IN" dirty="0" err="1"/>
              <a:t>new.ravel</a:t>
            </a:r>
            <a:r>
              <a:rPr lang="en-IN" dirty="0"/>
              <a:t>()</a:t>
            </a:r>
          </a:p>
          <a:p>
            <a:r>
              <a:rPr lang="en-IN" dirty="0"/>
              <a:t>Similarly:</a:t>
            </a:r>
          </a:p>
          <a:p>
            <a:r>
              <a:rPr lang="en-IN" dirty="0"/>
              <a:t>new = [[110, 55]]</a:t>
            </a:r>
          </a:p>
          <a:p>
            <a:r>
              <a:rPr lang="en-IN" dirty="0"/>
              <a:t>becomes:</a:t>
            </a:r>
          </a:p>
          <a:p>
            <a:r>
              <a:rPr lang="en-IN" dirty="0"/>
              <a:t>[110, 55]</a:t>
            </a:r>
          </a:p>
          <a:p>
            <a:r>
              <a:rPr lang="en-IN" dirty="0"/>
              <a:t>Therefore:</a:t>
            </a:r>
          </a:p>
          <a:p>
            <a:r>
              <a:rPr lang="en-IN" dirty="0"/>
              <a:t>x2 = 110</a:t>
            </a:r>
          </a:p>
          <a:p>
            <a:endParaRPr lang="en-IN" dirty="0"/>
          </a:p>
        </p:txBody>
      </p:sp>
    </p:spTree>
    <p:extLst>
      <p:ext uri="{BB962C8B-B14F-4D97-AF65-F5344CB8AC3E}">
        <p14:creationId xmlns:p14="http://schemas.microsoft.com/office/powerpoint/2010/main" val="3308950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5D0F-6F96-9512-B563-58EB8778DBA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B098A8C-8293-A196-BFC7-1E0AC30D5DD4}"/>
              </a:ext>
            </a:extLst>
          </p:cNvPr>
          <p:cNvSpPr>
            <a:spLocks noGrp="1"/>
          </p:cNvSpPr>
          <p:nvPr>
            <p:ph idx="1"/>
          </p:nvPr>
        </p:nvSpPr>
        <p:spPr/>
        <p:txBody>
          <a:bodyPr/>
          <a:lstStyle/>
          <a:p>
            <a:r>
              <a:rPr lang="en-US" dirty="0"/>
              <a:t>old point = (x1, y1) = (100, 50)</a:t>
            </a:r>
          </a:p>
          <a:p>
            <a:r>
              <a:rPr lang="en-US" dirty="0"/>
              <a:t>new point = (x2, y2) = (110, 55)</a:t>
            </a:r>
          </a:p>
          <a:p>
            <a:r>
              <a:rPr lang="en-IN" dirty="0"/>
              <a:t>And you can calculate how much the point moved:	</a:t>
            </a:r>
          </a:p>
          <a:p>
            <a:r>
              <a:rPr lang="es-ES" dirty="0" err="1"/>
              <a:t>dx</a:t>
            </a:r>
            <a:r>
              <a:rPr lang="es-ES" dirty="0"/>
              <a:t> = x2 - x1</a:t>
            </a:r>
          </a:p>
          <a:p>
            <a:r>
              <a:rPr lang="es-ES" dirty="0" err="1"/>
              <a:t>dy</a:t>
            </a:r>
            <a:r>
              <a:rPr lang="es-ES" dirty="0"/>
              <a:t> = y2 - y1</a:t>
            </a:r>
          </a:p>
          <a:p>
            <a:r>
              <a:rPr lang="en-IN"/>
              <a:t>So the point moved </a:t>
            </a:r>
            <a:r>
              <a:rPr lang="en-IN" b="1"/>
              <a:t>10 pixels right and 5 pixels down</a:t>
            </a:r>
            <a:r>
              <a:rPr lang="en-IN"/>
              <a:t>.</a:t>
            </a:r>
            <a:endParaRPr lang="es-ES"/>
          </a:p>
        </p:txBody>
      </p:sp>
    </p:spTree>
    <p:extLst>
      <p:ext uri="{BB962C8B-B14F-4D97-AF65-F5344CB8AC3E}">
        <p14:creationId xmlns:p14="http://schemas.microsoft.com/office/powerpoint/2010/main" val="40353571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DF305-3E47-C29C-E35E-B87D2246CBB1}"/>
              </a:ext>
            </a:extLst>
          </p:cNvPr>
          <p:cNvSpPr>
            <a:spLocks noGrp="1"/>
          </p:cNvSpPr>
          <p:nvPr>
            <p:ph type="title"/>
          </p:nvPr>
        </p:nvSpPr>
        <p:spPr/>
        <p:txBody>
          <a:bodyPr/>
          <a:lstStyle/>
          <a:p>
            <a:r>
              <a:rPr lang="en-IN" dirty="0"/>
              <a:t>Background Subtraction</a:t>
            </a:r>
          </a:p>
        </p:txBody>
      </p:sp>
      <p:sp>
        <p:nvSpPr>
          <p:cNvPr id="3" name="Content Placeholder 2">
            <a:extLst>
              <a:ext uri="{FF2B5EF4-FFF2-40B4-BE49-F238E27FC236}">
                <a16:creationId xmlns:a16="http://schemas.microsoft.com/office/drawing/2014/main" id="{6B587987-588E-F1B3-213D-9AB5F0B3A52E}"/>
              </a:ext>
            </a:extLst>
          </p:cNvPr>
          <p:cNvSpPr>
            <a:spLocks noGrp="1"/>
          </p:cNvSpPr>
          <p:nvPr>
            <p:ph idx="1"/>
          </p:nvPr>
        </p:nvSpPr>
        <p:spPr/>
        <p:txBody>
          <a:bodyPr/>
          <a:lstStyle/>
          <a:p>
            <a:r>
              <a:rPr lang="en-IN" dirty="0"/>
              <a:t>Suppose you have a video from a fixed camera:</a:t>
            </a:r>
          </a:p>
          <a:p>
            <a:pPr lvl="0"/>
            <a:r>
              <a:rPr lang="en-IN" dirty="0"/>
              <a:t>Background = wall, floor, table, etc. </a:t>
            </a:r>
          </a:p>
          <a:p>
            <a:pPr lvl="0"/>
            <a:r>
              <a:rPr lang="en-IN" dirty="0"/>
              <a:t>Moving object = person, car, ball, etc.</a:t>
            </a:r>
          </a:p>
          <a:p>
            <a:r>
              <a:rPr lang="en-IN" dirty="0"/>
              <a:t>Learn what the background looks like, then find the parts that are different from the background.</a:t>
            </a:r>
          </a:p>
          <a:p>
            <a:r>
              <a:rPr lang="en-IN" dirty="0"/>
              <a:t>Those different parts are usually the </a:t>
            </a:r>
            <a:r>
              <a:rPr lang="en-IN" b="1" dirty="0"/>
              <a:t>moving objects</a:t>
            </a:r>
            <a:r>
              <a:rPr lang="en-IN" dirty="0"/>
              <a:t>.</a:t>
            </a:r>
          </a:p>
        </p:txBody>
      </p:sp>
    </p:spTree>
    <p:extLst>
      <p:ext uri="{BB962C8B-B14F-4D97-AF65-F5344CB8AC3E}">
        <p14:creationId xmlns:p14="http://schemas.microsoft.com/office/powerpoint/2010/main" val="25328587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C2573-FE72-1977-1EFA-314E11D07B3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BEB852F-F777-B2B4-68D1-D511FB8F1F4D}"/>
              </a:ext>
            </a:extLst>
          </p:cNvPr>
          <p:cNvSpPr>
            <a:spLocks noGrp="1"/>
          </p:cNvSpPr>
          <p:nvPr>
            <p:ph idx="1"/>
          </p:nvPr>
        </p:nvSpPr>
        <p:spPr/>
        <p:txBody>
          <a:bodyPr/>
          <a:lstStyle/>
          <a:p>
            <a:r>
              <a:rPr lang="en-IN" b="1" dirty="0"/>
              <a:t>Original video:</a:t>
            </a:r>
            <a:endParaRPr lang="en-IN" dirty="0"/>
          </a:p>
          <a:p>
            <a:r>
              <a:rPr lang="en-IN" dirty="0"/>
              <a:t>Person + Road + Trees</a:t>
            </a:r>
          </a:p>
          <a:p>
            <a:r>
              <a:rPr lang="en-IN" dirty="0"/>
              <a:t>After background subtraction:</a:t>
            </a:r>
          </a:p>
          <a:p>
            <a:r>
              <a:rPr lang="en-IN" dirty="0"/>
              <a:t>Person → WHITE</a:t>
            </a:r>
            <a:br>
              <a:rPr lang="en-IN" dirty="0"/>
            </a:br>
            <a:r>
              <a:rPr lang="en-IN" dirty="0"/>
              <a:t>Road + Trees → BLACK</a:t>
            </a:r>
          </a:p>
          <a:p>
            <a:r>
              <a:rPr lang="en-IN" dirty="0"/>
              <a:t>So, the white region tells us </a:t>
            </a:r>
            <a:r>
              <a:rPr lang="en-IN" b="1" dirty="0"/>
              <a:t>where motion is happening</a:t>
            </a:r>
            <a:r>
              <a:rPr lang="en-IN" dirty="0"/>
              <a:t>.</a:t>
            </a:r>
          </a:p>
          <a:p>
            <a:endParaRPr lang="en-IN" dirty="0"/>
          </a:p>
        </p:txBody>
      </p:sp>
    </p:spTree>
    <p:extLst>
      <p:ext uri="{BB962C8B-B14F-4D97-AF65-F5344CB8AC3E}">
        <p14:creationId xmlns:p14="http://schemas.microsoft.com/office/powerpoint/2010/main" val="21102293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B25F2-C4CB-4475-0994-526E9C228B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2A300F1-C331-BB19-8DB9-61FCF03B5F24}"/>
              </a:ext>
            </a:extLst>
          </p:cNvPr>
          <p:cNvSpPr>
            <a:spLocks noGrp="1"/>
          </p:cNvSpPr>
          <p:nvPr>
            <p:ph idx="1"/>
          </p:nvPr>
        </p:nvSpPr>
        <p:spPr/>
        <p:txBody>
          <a:bodyPr/>
          <a:lstStyle/>
          <a:p>
            <a:r>
              <a:rPr lang="en-IN" dirty="0"/>
              <a:t> the important thing is to understand </a:t>
            </a:r>
            <a:r>
              <a:rPr lang="en-IN" b="1" dirty="0"/>
              <a:t>how MOG2 decides “stable” vs “moving.”</a:t>
            </a:r>
          </a:p>
          <a:p>
            <a:r>
              <a:rPr lang="en-IN" b="1" dirty="0"/>
              <a:t>MOG2</a:t>
            </a:r>
            <a:r>
              <a:rPr lang="en-IN" dirty="0"/>
              <a:t> stands for </a:t>
            </a:r>
            <a:r>
              <a:rPr lang="en-IN" b="1" dirty="0"/>
              <a:t>Mixture of Gaussians 2</a:t>
            </a:r>
            <a:r>
              <a:rPr lang="en-IN" dirty="0"/>
              <a:t>.</a:t>
            </a:r>
          </a:p>
          <a:p>
            <a:r>
              <a:rPr lang="en-IN" dirty="0"/>
              <a:t>In OpenCV, it is a </a:t>
            </a:r>
            <a:r>
              <a:rPr lang="en-IN" b="1" dirty="0"/>
              <a:t>background subtraction algorithm</a:t>
            </a:r>
            <a:r>
              <a:rPr lang="en-IN" dirty="0"/>
              <a:t> used to detect moving/foreground objects in videos.</a:t>
            </a:r>
          </a:p>
          <a:p>
            <a:r>
              <a:rPr lang="en-IN" dirty="0"/>
              <a:t> MOG2 watches the video over time</a:t>
            </a:r>
          </a:p>
          <a:p>
            <a:r>
              <a:rPr lang="en-IN" dirty="0"/>
              <a:t>Suppose the camera sees this:</a:t>
            </a:r>
          </a:p>
        </p:txBody>
      </p:sp>
    </p:spTree>
    <p:extLst>
      <p:ext uri="{BB962C8B-B14F-4D97-AF65-F5344CB8AC3E}">
        <p14:creationId xmlns:p14="http://schemas.microsoft.com/office/powerpoint/2010/main" val="19377530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83BC-650B-926A-B6C5-D9391AAB4F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3D938F0-D0F1-FFA4-3F7A-13185978F454}"/>
              </a:ext>
            </a:extLst>
          </p:cNvPr>
          <p:cNvSpPr>
            <a:spLocks noGrp="1"/>
          </p:cNvSpPr>
          <p:nvPr>
            <p:ph idx="1"/>
          </p:nvPr>
        </p:nvSpPr>
        <p:spPr/>
        <p:txBody>
          <a:bodyPr/>
          <a:lstStyle/>
          <a:p>
            <a:r>
              <a:rPr lang="en-IN" dirty="0"/>
              <a:t>Frame 1:  🪑     🚶</a:t>
            </a:r>
          </a:p>
          <a:p>
            <a:r>
              <a:rPr lang="en-IN" dirty="0"/>
              <a:t>Frame 2:  🪑      🚶</a:t>
            </a:r>
          </a:p>
          <a:p>
            <a:r>
              <a:rPr lang="en-IN" dirty="0"/>
              <a:t>Frame 3:  🪑       🚶</a:t>
            </a:r>
          </a:p>
          <a:p>
            <a:r>
              <a:rPr lang="en-IN" dirty="0"/>
              <a:t>Frame 4:  🪑        🚶</a:t>
            </a:r>
          </a:p>
          <a:p>
            <a:r>
              <a:rPr lang="en-IN" dirty="0"/>
              <a:t>The </a:t>
            </a:r>
            <a:r>
              <a:rPr lang="en-IN" b="1" dirty="0"/>
              <a:t>chair 🪑 stays in almost the same place</a:t>
            </a:r>
            <a:r>
              <a:rPr lang="en-IN" dirty="0"/>
              <a:t> in many frames.</a:t>
            </a:r>
          </a:p>
          <a:p>
            <a:r>
              <a:rPr lang="en-IN" dirty="0"/>
              <a:t>The person 🚶 keeps changing position.</a:t>
            </a:r>
          </a:p>
          <a:p>
            <a:r>
              <a:rPr lang="en-IN" dirty="0"/>
              <a:t>"This pixel/location normally looks like this → probably BACKGROUND."</a:t>
            </a:r>
          </a:p>
        </p:txBody>
      </p:sp>
    </p:spTree>
    <p:extLst>
      <p:ext uri="{BB962C8B-B14F-4D97-AF65-F5344CB8AC3E}">
        <p14:creationId xmlns:p14="http://schemas.microsoft.com/office/powerpoint/2010/main" val="42516040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80C3-4FA1-CD47-E7AD-0FB752AB932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5E3756D-4EFD-4FB4-605F-9A4BF196F6EA}"/>
              </a:ext>
            </a:extLst>
          </p:cNvPr>
          <p:cNvSpPr>
            <a:spLocks noGrp="1"/>
          </p:cNvSpPr>
          <p:nvPr>
            <p:ph idx="1"/>
          </p:nvPr>
        </p:nvSpPr>
        <p:spPr/>
        <p:txBody>
          <a:bodyPr>
            <a:normAutofit fontScale="92500"/>
          </a:bodyPr>
          <a:lstStyle/>
          <a:p>
            <a:r>
              <a:rPr lang="en-IN" dirty="0"/>
              <a:t>"This location suddenly looks different → probably FOREGROUND.“</a:t>
            </a:r>
          </a:p>
          <a:p>
            <a:r>
              <a:rPr lang="en-IN" b="1" dirty="0"/>
              <a:t>More technically</a:t>
            </a:r>
          </a:p>
          <a:p>
            <a:r>
              <a:rPr lang="en-IN" dirty="0"/>
              <a:t>For </a:t>
            </a:r>
            <a:r>
              <a:rPr lang="en-IN" b="1" dirty="0"/>
              <a:t>each pixel/location</a:t>
            </a:r>
            <a:r>
              <a:rPr lang="en-IN" dirty="0"/>
              <a:t>, MOG2 keeps a statistical model of what values it normally sees.</a:t>
            </a:r>
          </a:p>
          <a:p>
            <a:r>
              <a:rPr lang="en-IN" dirty="0"/>
              <a:t>For example, imagine pixel (100, 100) normally has:</a:t>
            </a:r>
          </a:p>
          <a:p>
            <a:r>
              <a:rPr lang="en-IN" dirty="0"/>
              <a:t>Frame 1 → </a:t>
            </a:r>
            <a:r>
              <a:rPr lang="en-IN" dirty="0" err="1"/>
              <a:t>gray</a:t>
            </a:r>
            <a:r>
              <a:rPr lang="en-IN" dirty="0"/>
              <a:t> value 150</a:t>
            </a:r>
          </a:p>
          <a:p>
            <a:r>
              <a:rPr lang="en-IN" dirty="0"/>
              <a:t>Frame 2 → </a:t>
            </a:r>
            <a:r>
              <a:rPr lang="en-IN" dirty="0" err="1"/>
              <a:t>gray</a:t>
            </a:r>
            <a:r>
              <a:rPr lang="en-IN" dirty="0"/>
              <a:t> value 151</a:t>
            </a:r>
          </a:p>
          <a:p>
            <a:r>
              <a:rPr lang="en-IN" dirty="0"/>
              <a:t>Frame 3 → </a:t>
            </a:r>
            <a:r>
              <a:rPr lang="en-IN" dirty="0" err="1"/>
              <a:t>gray</a:t>
            </a:r>
            <a:r>
              <a:rPr lang="en-IN" dirty="0"/>
              <a:t> value 149</a:t>
            </a:r>
          </a:p>
          <a:p>
            <a:r>
              <a:rPr lang="en-IN" dirty="0"/>
              <a:t>Frame 4 → </a:t>
            </a:r>
            <a:r>
              <a:rPr lang="en-IN" dirty="0" err="1"/>
              <a:t>gray</a:t>
            </a:r>
            <a:r>
              <a:rPr lang="en-IN" dirty="0"/>
              <a:t> value 150</a:t>
            </a:r>
          </a:p>
        </p:txBody>
      </p:sp>
    </p:spTree>
    <p:extLst>
      <p:ext uri="{BB962C8B-B14F-4D97-AF65-F5344CB8AC3E}">
        <p14:creationId xmlns:p14="http://schemas.microsoft.com/office/powerpoint/2010/main" val="37343290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3286C-4321-4F25-C80E-4481592BA65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AB229C-EA08-A919-87ED-0EFEE7AD4C59}"/>
              </a:ext>
            </a:extLst>
          </p:cNvPr>
          <p:cNvSpPr>
            <a:spLocks noGrp="1"/>
          </p:cNvSpPr>
          <p:nvPr>
            <p:ph idx="1"/>
          </p:nvPr>
        </p:nvSpPr>
        <p:spPr/>
        <p:txBody>
          <a:bodyPr/>
          <a:lstStyle/>
          <a:p>
            <a:r>
              <a:rPr lang="en-IN" dirty="0"/>
              <a:t>MOG2 thinks:</a:t>
            </a:r>
          </a:p>
          <a:p>
            <a:r>
              <a:rPr lang="en-IN" dirty="0"/>
              <a:t>"This pixel is consistently around 150. It's probably background."</a:t>
            </a:r>
          </a:p>
          <a:p>
            <a:r>
              <a:rPr lang="en-IN" dirty="0"/>
              <a:t>But if suddenly:</a:t>
            </a:r>
          </a:p>
          <a:p>
            <a:r>
              <a:rPr lang="en-IN" dirty="0"/>
              <a:t>Frame 5 → </a:t>
            </a:r>
            <a:r>
              <a:rPr lang="en-IN" dirty="0" err="1"/>
              <a:t>gray</a:t>
            </a:r>
            <a:r>
              <a:rPr lang="en-IN" dirty="0"/>
              <a:t> value 40</a:t>
            </a:r>
          </a:p>
          <a:p>
            <a:r>
              <a:rPr lang="en-IN" dirty="0"/>
              <a:t>MOG2 thinks:</a:t>
            </a:r>
          </a:p>
          <a:p>
            <a:r>
              <a:rPr lang="en-IN" dirty="0"/>
              <a:t>"That's very different from what I normally see → foreground."</a:t>
            </a:r>
          </a:p>
          <a:p>
            <a:endParaRPr lang="en-IN" dirty="0"/>
          </a:p>
        </p:txBody>
      </p:sp>
    </p:spTree>
    <p:extLst>
      <p:ext uri="{BB962C8B-B14F-4D97-AF65-F5344CB8AC3E}">
        <p14:creationId xmlns:p14="http://schemas.microsoft.com/office/powerpoint/2010/main" val="19388795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99E41-FF89-6928-1BC6-A1BAF621C3E5}"/>
              </a:ext>
            </a:extLst>
          </p:cNvPr>
          <p:cNvSpPr>
            <a:spLocks noGrp="1"/>
          </p:cNvSpPr>
          <p:nvPr>
            <p:ph type="title"/>
          </p:nvPr>
        </p:nvSpPr>
        <p:spPr/>
        <p:txBody>
          <a:bodyPr/>
          <a:lstStyle/>
          <a:p>
            <a:r>
              <a:rPr lang="en-IN" dirty="0"/>
              <a:t>What happens when the person stops?</a:t>
            </a:r>
          </a:p>
        </p:txBody>
      </p:sp>
      <p:sp>
        <p:nvSpPr>
          <p:cNvPr id="3" name="Content Placeholder 2">
            <a:extLst>
              <a:ext uri="{FF2B5EF4-FFF2-40B4-BE49-F238E27FC236}">
                <a16:creationId xmlns:a16="http://schemas.microsoft.com/office/drawing/2014/main" id="{87E8E248-906A-06B0-F40C-BE0F2200E10B}"/>
              </a:ext>
            </a:extLst>
          </p:cNvPr>
          <p:cNvSpPr>
            <a:spLocks noGrp="1"/>
          </p:cNvSpPr>
          <p:nvPr>
            <p:ph idx="1"/>
          </p:nvPr>
        </p:nvSpPr>
        <p:spPr/>
        <p:txBody>
          <a:bodyPr>
            <a:normAutofit lnSpcReduction="10000"/>
          </a:bodyPr>
          <a:lstStyle/>
          <a:p>
            <a:r>
              <a:rPr lang="en-IN" dirty="0"/>
              <a:t>If the person stands completely still for a </a:t>
            </a:r>
            <a:r>
              <a:rPr lang="en-IN" b="1" dirty="0"/>
              <a:t>long time</a:t>
            </a:r>
            <a:r>
              <a:rPr lang="en-IN" dirty="0"/>
              <a:t>, MOG2 can eventually learn that person's pixels as part of the background.</a:t>
            </a:r>
          </a:p>
          <a:p>
            <a:r>
              <a:rPr lang="en-IN" dirty="0"/>
              <a:t>So it's not simply:</a:t>
            </a:r>
          </a:p>
          <a:p>
            <a:r>
              <a:rPr lang="en-IN" b="1" dirty="0"/>
              <a:t>"White = object forever."</a:t>
            </a:r>
            <a:endParaRPr lang="en-IN" dirty="0"/>
          </a:p>
          <a:p>
            <a:r>
              <a:rPr lang="en-IN" dirty="0"/>
              <a:t>Instead, it continuously </a:t>
            </a:r>
            <a:r>
              <a:rPr lang="en-IN" b="1" dirty="0"/>
              <a:t>updates its background model</a:t>
            </a:r>
            <a:r>
              <a:rPr lang="en-IN" dirty="0"/>
              <a:t>.</a:t>
            </a:r>
          </a:p>
          <a:p>
            <a:r>
              <a:rPr lang="en-IN" b="1" dirty="0"/>
              <a:t>WHITE = detected foreground/change</a:t>
            </a:r>
            <a:br>
              <a:rPr lang="en-IN" dirty="0"/>
            </a:br>
            <a:r>
              <a:rPr lang="en-IN" b="1" dirty="0"/>
              <a:t>BLACK = background</a:t>
            </a:r>
            <a:endParaRPr lang="en-IN" dirty="0"/>
          </a:p>
          <a:p>
            <a:pPr lvl="0"/>
            <a:r>
              <a:rPr lang="en-IN" b="1" dirty="0"/>
              <a:t>White</a:t>
            </a:r>
            <a:r>
              <a:rPr lang="en-IN" dirty="0"/>
              <a:t> means foreground, the pixels that changed.</a:t>
            </a:r>
          </a:p>
          <a:p>
            <a:pPr lvl="0"/>
            <a:r>
              <a:rPr lang="en-IN" b="1" dirty="0"/>
              <a:t>Black</a:t>
            </a:r>
            <a:r>
              <a:rPr lang="en-IN" dirty="0"/>
              <a:t> means background, the pixels that match what MOG2 learned.</a:t>
            </a:r>
          </a:p>
          <a:p>
            <a:endParaRPr lang="en-IN" dirty="0"/>
          </a:p>
          <a:p>
            <a:endParaRPr lang="en-IN" dirty="0"/>
          </a:p>
          <a:p>
            <a:endParaRPr lang="en-IN" dirty="0"/>
          </a:p>
        </p:txBody>
      </p:sp>
    </p:spTree>
    <p:extLst>
      <p:ext uri="{BB962C8B-B14F-4D97-AF65-F5344CB8AC3E}">
        <p14:creationId xmlns:p14="http://schemas.microsoft.com/office/powerpoint/2010/main" val="35238999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4BF84-107A-EA0E-7D7C-7C125F9D9D4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34E69D6-3D8F-30B8-FE68-066094FB113F}"/>
              </a:ext>
            </a:extLst>
          </p:cNvPr>
          <p:cNvSpPr>
            <a:spLocks noGrp="1"/>
          </p:cNvSpPr>
          <p:nvPr>
            <p:ph idx="1"/>
          </p:nvPr>
        </p:nvSpPr>
        <p:spPr/>
        <p:txBody>
          <a:bodyPr>
            <a:normAutofit fontScale="77500" lnSpcReduction="20000"/>
          </a:bodyPr>
          <a:lstStyle/>
          <a:p>
            <a:r>
              <a:rPr lang="en-IN" dirty="0"/>
              <a:t>MOG2 is an OpenCV method for </a:t>
            </a:r>
            <a:r>
              <a:rPr lang="en-IN" b="1" dirty="0"/>
              <a:t>background subtraction</a:t>
            </a:r>
            <a:r>
              <a:rPr lang="en-IN" dirty="0"/>
              <a:t>.</a:t>
            </a:r>
          </a:p>
          <a:p>
            <a:r>
              <a:rPr lang="en-IN" dirty="0"/>
              <a:t>It tries to learn:</a:t>
            </a:r>
          </a:p>
          <a:p>
            <a:r>
              <a:rPr lang="en-IN" dirty="0"/>
              <a:t>"What is normally present in the background?"</a:t>
            </a:r>
          </a:p>
          <a:p>
            <a:r>
              <a:rPr lang="en-IN" dirty="0"/>
              <a:t>For example, imagine the camera sees:</a:t>
            </a:r>
          </a:p>
          <a:p>
            <a:r>
              <a:rPr lang="en-IN" dirty="0"/>
              <a:t>Wall</a:t>
            </a:r>
          </a:p>
          <a:p>
            <a:r>
              <a:rPr lang="en-IN" dirty="0"/>
              <a:t>Floor</a:t>
            </a:r>
          </a:p>
          <a:p>
            <a:r>
              <a:rPr lang="en-IN" dirty="0"/>
              <a:t>Table</a:t>
            </a:r>
          </a:p>
          <a:p>
            <a:r>
              <a:rPr lang="en-IN" dirty="0"/>
              <a:t>Person</a:t>
            </a:r>
          </a:p>
          <a:p>
            <a:r>
              <a:rPr lang="en-IN" dirty="0"/>
              <a:t>The algorithm learns the stable parts:</a:t>
            </a:r>
          </a:p>
          <a:p>
            <a:r>
              <a:rPr lang="en-IN" dirty="0"/>
              <a:t>Wall</a:t>
            </a:r>
          </a:p>
          <a:p>
            <a:r>
              <a:rPr lang="en-IN" dirty="0"/>
              <a:t>Floor</a:t>
            </a:r>
          </a:p>
          <a:p>
            <a:r>
              <a:rPr lang="en-IN" dirty="0"/>
              <a:t>Table</a:t>
            </a:r>
          </a:p>
          <a:p>
            <a:endParaRPr lang="en-IN" dirty="0"/>
          </a:p>
        </p:txBody>
      </p:sp>
    </p:spTree>
    <p:extLst>
      <p:ext uri="{BB962C8B-B14F-4D97-AF65-F5344CB8AC3E}">
        <p14:creationId xmlns:p14="http://schemas.microsoft.com/office/powerpoint/2010/main" val="1968624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88DC3-D0FA-A03A-58C2-25E6E3BF9D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F1EE80B-D90B-0988-00D9-A70AF1FC5849}"/>
              </a:ext>
            </a:extLst>
          </p:cNvPr>
          <p:cNvSpPr>
            <a:spLocks noGrp="1"/>
          </p:cNvSpPr>
          <p:nvPr>
            <p:ph idx="1"/>
          </p:nvPr>
        </p:nvSpPr>
        <p:spPr/>
        <p:txBody>
          <a:bodyPr/>
          <a:lstStyle/>
          <a:p>
            <a:r>
              <a:rPr lang="en-IN" dirty="0"/>
              <a:t>These become the </a:t>
            </a:r>
            <a:r>
              <a:rPr lang="en-IN" b="1" dirty="0"/>
              <a:t>background</a:t>
            </a:r>
            <a:r>
              <a:rPr lang="en-IN" dirty="0"/>
              <a:t>.</a:t>
            </a:r>
          </a:p>
          <a:p>
            <a:r>
              <a:rPr lang="en-IN" dirty="0"/>
              <a:t>If a person moves through the scene, the person is treated as </a:t>
            </a:r>
            <a:r>
              <a:rPr lang="en-IN" b="1" dirty="0"/>
              <a:t>foreground</a:t>
            </a:r>
            <a:r>
              <a:rPr lang="en-IN" dirty="0"/>
              <a:t>.</a:t>
            </a:r>
          </a:p>
          <a:p>
            <a:r>
              <a:rPr lang="en-IN" dirty="0"/>
              <a:t>Current Frame - Background = Moving Object</a:t>
            </a:r>
          </a:p>
          <a:p>
            <a:r>
              <a:rPr lang="en-IN" dirty="0"/>
              <a:t>It's not literally doing a simple pixel subtraction like frame difference; MOG2 builds a statistical model of the background.</a:t>
            </a:r>
          </a:p>
        </p:txBody>
      </p:sp>
    </p:spTree>
    <p:extLst>
      <p:ext uri="{BB962C8B-B14F-4D97-AF65-F5344CB8AC3E}">
        <p14:creationId xmlns:p14="http://schemas.microsoft.com/office/powerpoint/2010/main" val="10081308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3790A-DE1A-00D1-701E-E9C75CAD67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571E2E4-7595-2AF7-2D25-F93168E786F2}"/>
              </a:ext>
            </a:extLst>
          </p:cNvPr>
          <p:cNvSpPr>
            <a:spLocks noGrp="1"/>
          </p:cNvSpPr>
          <p:nvPr>
            <p:ph idx="1"/>
          </p:nvPr>
        </p:nvSpPr>
        <p:spPr/>
        <p:txBody>
          <a:bodyPr/>
          <a:lstStyle/>
          <a:p>
            <a:r>
              <a:rPr lang="en-IN" b="1" dirty="0"/>
              <a:t>Simple frame difference</a:t>
            </a:r>
            <a:r>
              <a:rPr lang="en-IN" dirty="0"/>
              <a:t> compares two frames and marks pixels that changed by more than a fixed amount. It has no memory. A curtain swaying, a light flicker or camera noise all look like "motion", and a person who stands still disappears.</a:t>
            </a:r>
          </a:p>
          <a:p>
            <a:pPr marL="0" indent="0">
              <a:buNone/>
            </a:pPr>
            <a:endParaRPr lang="en-IN" dirty="0"/>
          </a:p>
          <a:p>
            <a:endParaRPr lang="en-IN" dirty="0"/>
          </a:p>
        </p:txBody>
      </p:sp>
    </p:spTree>
    <p:extLst>
      <p:ext uri="{BB962C8B-B14F-4D97-AF65-F5344CB8AC3E}">
        <p14:creationId xmlns:p14="http://schemas.microsoft.com/office/powerpoint/2010/main" val="31641692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7BDF5-C0B0-0E41-46A1-855914EE9D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001DFF8-3DF3-3099-CD83-EECB4315C7D4}"/>
              </a:ext>
            </a:extLst>
          </p:cNvPr>
          <p:cNvSpPr>
            <a:spLocks noGrp="1"/>
          </p:cNvSpPr>
          <p:nvPr>
            <p:ph idx="1"/>
          </p:nvPr>
        </p:nvSpPr>
        <p:spPr/>
        <p:txBody>
          <a:bodyPr/>
          <a:lstStyle/>
          <a:p>
            <a:r>
              <a:rPr lang="en-IN" b="1" dirty="0"/>
              <a:t>MOG2 keeps a memory of what each pixel usually looks like.</a:t>
            </a:r>
            <a:r>
              <a:rPr lang="en-IN" dirty="0"/>
              <a:t> For every pixel, it learns a range of normal values over many past frames instead of storing one fixed colour. Think of a pixel on the wall. Most of the time it's light grey, with small changes from noise and lighting. MOG2 learns "this pixel is normally around this grey, give or take a bit". The "Mixture of Gaussians" part means each pixel can hold several of these normal ranges. A pixel by a window can learn both "sunny" and "cloudy" as normal, and a tree leaf can learn "leaf" and "sky behind the leaf".</a:t>
            </a:r>
          </a:p>
        </p:txBody>
      </p:sp>
    </p:spTree>
    <p:extLst>
      <p:ext uri="{BB962C8B-B14F-4D97-AF65-F5344CB8AC3E}">
        <p14:creationId xmlns:p14="http://schemas.microsoft.com/office/powerpoint/2010/main" val="1011762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A6C8E-9936-9D4B-854B-ECEE8B931C0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A2BF26-53BF-8EE1-9B9B-FE575001093B}"/>
              </a:ext>
            </a:extLst>
          </p:cNvPr>
          <p:cNvSpPr>
            <a:spLocks noGrp="1"/>
          </p:cNvSpPr>
          <p:nvPr>
            <p:ph idx="1"/>
          </p:nvPr>
        </p:nvSpPr>
        <p:spPr/>
        <p:txBody>
          <a:bodyPr>
            <a:normAutofit/>
          </a:bodyPr>
          <a:lstStyle/>
          <a:p>
            <a:r>
              <a:rPr lang="en-IN" dirty="0"/>
              <a:t>For each new frame, MOG2 asks every pixel whether its value fits one of the normal ranges it has learned. If it fits, the pixel is background. If it doesn't, the pixel is foreground. In the bedroom, the person walking in changes pixels to colours they've never had, so they are flagged.</a:t>
            </a:r>
          </a:p>
          <a:p>
            <a:r>
              <a:rPr lang="en-IN" dirty="0"/>
              <a:t>MOG2 also keeps updating its model, so slow changes like gradual lighting get absorbed into the background. Someone who stops moving for long enough slowly becomes part of the background too. On top of that, it can spot shadows, which are darker but the same colour, and mark them separately.</a:t>
            </a:r>
          </a:p>
        </p:txBody>
      </p:sp>
    </p:spTree>
    <p:extLst>
      <p:ext uri="{BB962C8B-B14F-4D97-AF65-F5344CB8AC3E}">
        <p14:creationId xmlns:p14="http://schemas.microsoft.com/office/powerpoint/2010/main" val="9432456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A9BC-35C7-3695-DA7B-DE6229C003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989BB58-3933-D842-65A5-F2B472C53045}"/>
              </a:ext>
            </a:extLst>
          </p:cNvPr>
          <p:cNvSpPr>
            <a:spLocks noGrp="1"/>
          </p:cNvSpPr>
          <p:nvPr>
            <p:ph idx="1"/>
          </p:nvPr>
        </p:nvSpPr>
        <p:spPr/>
        <p:txBody>
          <a:bodyPr/>
          <a:lstStyle/>
          <a:p>
            <a:r>
              <a:rPr lang="en-IN" dirty="0"/>
              <a:t>In short, frame difference asks "did this pixel change from the last frame?", while MOG2 asks "is this pixel behaving differently from how it normally behaves?"</a:t>
            </a:r>
          </a:p>
          <a:p>
            <a:endParaRPr lang="en-IN" dirty="0"/>
          </a:p>
        </p:txBody>
      </p:sp>
    </p:spTree>
    <p:extLst>
      <p:ext uri="{BB962C8B-B14F-4D97-AF65-F5344CB8AC3E}">
        <p14:creationId xmlns:p14="http://schemas.microsoft.com/office/powerpoint/2010/main" val="31724211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615E-76C1-15CE-6BD9-A809C1D95DBA}"/>
              </a:ext>
            </a:extLst>
          </p:cNvPr>
          <p:cNvSpPr>
            <a:spLocks noGrp="1"/>
          </p:cNvSpPr>
          <p:nvPr>
            <p:ph type="title"/>
          </p:nvPr>
        </p:nvSpPr>
        <p:spPr/>
        <p:txBody>
          <a:bodyPr/>
          <a:lstStyle/>
          <a:p>
            <a:r>
              <a:rPr lang="en-IN" dirty="0"/>
              <a:t>Contour Based</a:t>
            </a:r>
          </a:p>
        </p:txBody>
      </p:sp>
      <p:sp>
        <p:nvSpPr>
          <p:cNvPr id="3" name="Content Placeholder 2">
            <a:extLst>
              <a:ext uri="{FF2B5EF4-FFF2-40B4-BE49-F238E27FC236}">
                <a16:creationId xmlns:a16="http://schemas.microsoft.com/office/drawing/2014/main" id="{D19F49FA-5CD6-3E4C-092F-C346C58657CA}"/>
              </a:ext>
            </a:extLst>
          </p:cNvPr>
          <p:cNvSpPr>
            <a:spLocks noGrp="1"/>
          </p:cNvSpPr>
          <p:nvPr>
            <p:ph idx="1"/>
          </p:nvPr>
        </p:nvSpPr>
        <p:spPr/>
        <p:txBody>
          <a:bodyPr/>
          <a:lstStyle/>
          <a:p>
            <a:r>
              <a:rPr lang="en-US" dirty="0"/>
              <a:t>subtractor = cv2.createBackgroundSubtractorMOG2(</a:t>
            </a:r>
          </a:p>
          <a:p>
            <a:r>
              <a:rPr lang="en-US" dirty="0"/>
              <a:t>    history=200,</a:t>
            </a:r>
          </a:p>
          <a:p>
            <a:r>
              <a:rPr lang="en-US" dirty="0"/>
              <a:t>    </a:t>
            </a:r>
            <a:r>
              <a:rPr lang="en-US" dirty="0" err="1"/>
              <a:t>varThreshold</a:t>
            </a:r>
            <a:r>
              <a:rPr lang="en-US" dirty="0"/>
              <a:t>=40,</a:t>
            </a:r>
          </a:p>
          <a:p>
            <a:r>
              <a:rPr lang="en-US" dirty="0"/>
              <a:t>    </a:t>
            </a:r>
            <a:r>
              <a:rPr lang="en-US" dirty="0" err="1"/>
              <a:t>detectShadows</a:t>
            </a:r>
            <a:r>
              <a:rPr lang="en-US" dirty="0"/>
              <a:t>=True</a:t>
            </a:r>
          </a:p>
          <a:p>
            <a:r>
              <a:rPr lang="en-US" dirty="0"/>
              <a:t>)</a:t>
            </a:r>
          </a:p>
          <a:p>
            <a:r>
              <a:rPr lang="en-US" dirty="0"/>
              <a:t>T</a:t>
            </a:r>
            <a:r>
              <a:rPr lang="en-IN" dirty="0"/>
              <a:t>his is the main motion-detection algorithm.</a:t>
            </a:r>
          </a:p>
        </p:txBody>
      </p:sp>
    </p:spTree>
    <p:extLst>
      <p:ext uri="{BB962C8B-B14F-4D97-AF65-F5344CB8AC3E}">
        <p14:creationId xmlns:p14="http://schemas.microsoft.com/office/powerpoint/2010/main" val="38954434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58FA3-CF0C-7B1F-F7DD-CDB3C9237D3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02DDC8-1F34-6331-BF6C-560FA55F02A3}"/>
              </a:ext>
            </a:extLst>
          </p:cNvPr>
          <p:cNvSpPr>
            <a:spLocks noGrp="1"/>
          </p:cNvSpPr>
          <p:nvPr>
            <p:ph idx="1"/>
          </p:nvPr>
        </p:nvSpPr>
        <p:spPr/>
        <p:txBody>
          <a:bodyPr>
            <a:normAutofit fontScale="92500"/>
          </a:bodyPr>
          <a:lstStyle/>
          <a:p>
            <a:r>
              <a:rPr lang="en-IN" b="1" dirty="0"/>
              <a:t>history=200</a:t>
            </a:r>
          </a:p>
          <a:p>
            <a:r>
              <a:rPr lang="en-IN" dirty="0"/>
              <a:t>MOG2 looks at previous frames to learn the background.</a:t>
            </a:r>
          </a:p>
          <a:p>
            <a:r>
              <a:rPr lang="en-IN" dirty="0"/>
              <a:t>means </a:t>
            </a:r>
            <a:r>
              <a:rPr lang="en-IN" b="1" dirty="0"/>
              <a:t>MOG2 uses up to about 200 previous frames to learn/update its background model.</a:t>
            </a:r>
          </a:p>
          <a:p>
            <a:r>
              <a:rPr lang="en-IN" dirty="0"/>
              <a:t>MOG2 can use a </a:t>
            </a:r>
            <a:r>
              <a:rPr lang="en-IN" b="1" dirty="0"/>
              <a:t>history of about 50 frames</a:t>
            </a:r>
            <a:r>
              <a:rPr lang="en-IN" dirty="0"/>
              <a:t> for its background model.</a:t>
            </a:r>
          </a:p>
          <a:p>
            <a:r>
              <a:rPr lang="en-IN" dirty="0"/>
              <a:t>0 sec     → Frame 1</a:t>
            </a:r>
          </a:p>
          <a:p>
            <a:r>
              <a:rPr lang="en-IN" dirty="0"/>
              <a:t>1 sec     → Frame 30</a:t>
            </a:r>
          </a:p>
          <a:p>
            <a:r>
              <a:rPr lang="en-IN" dirty="0"/>
              <a:t>1.7 sec   → Frame 50</a:t>
            </a:r>
          </a:p>
          <a:p>
            <a:r>
              <a:rPr lang="en-IN" dirty="0"/>
              <a:t>2 sec     → Frame 60</a:t>
            </a:r>
          </a:p>
          <a:p>
            <a:endParaRPr lang="en-IN" dirty="0"/>
          </a:p>
        </p:txBody>
      </p:sp>
    </p:spTree>
    <p:extLst>
      <p:ext uri="{BB962C8B-B14F-4D97-AF65-F5344CB8AC3E}">
        <p14:creationId xmlns:p14="http://schemas.microsoft.com/office/powerpoint/2010/main" val="4101777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83CD0-0C0A-D8AB-4C7D-2D803AC0CD6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057129-841C-4C54-C9A8-0F2A08B90716}"/>
              </a:ext>
            </a:extLst>
          </p:cNvPr>
          <p:cNvSpPr>
            <a:spLocks noGrp="1"/>
          </p:cNvSpPr>
          <p:nvPr>
            <p:ph idx="1"/>
          </p:nvPr>
        </p:nvSpPr>
        <p:spPr/>
        <p:txBody>
          <a:bodyPr>
            <a:normAutofit lnSpcReduction="10000"/>
          </a:bodyPr>
          <a:lstStyle/>
          <a:p>
            <a:r>
              <a:rPr lang="en-IN" dirty="0"/>
              <a:t>It means </a:t>
            </a:r>
            <a:r>
              <a:rPr lang="en-IN" b="1" dirty="0"/>
              <a:t>how much real time 50 video frames represent</a:t>
            </a:r>
            <a:r>
              <a:rPr lang="en-IN" dirty="0"/>
              <a:t>.</a:t>
            </a:r>
          </a:p>
          <a:p>
            <a:r>
              <a:rPr lang="en-IN" dirty="0"/>
              <a:t>A video with </a:t>
            </a:r>
            <a:r>
              <a:rPr lang="en-IN" b="1" dirty="0"/>
              <a:t>30 FPS</a:t>
            </a:r>
            <a:r>
              <a:rPr lang="en-IN" dirty="0"/>
              <a:t> means:</a:t>
            </a:r>
          </a:p>
          <a:p>
            <a:r>
              <a:rPr lang="en-IN" b="1" dirty="0"/>
              <a:t>30 frames are shown every 1 second.</a:t>
            </a:r>
            <a:endParaRPr lang="en-IN" dirty="0"/>
          </a:p>
          <a:p>
            <a:r>
              <a:rPr lang="en-IN" dirty="0"/>
              <a:t>So:</a:t>
            </a:r>
          </a:p>
          <a:p>
            <a:r>
              <a:rPr lang="en-IN" dirty="0"/>
              <a:t>30 frames → 1 second</a:t>
            </a:r>
          </a:p>
          <a:p>
            <a:r>
              <a:rPr lang="en-IN" dirty="0"/>
              <a:t>50 frames → ? seconds</a:t>
            </a:r>
          </a:p>
          <a:p>
            <a:r>
              <a:rPr lang="en-IN" dirty="0"/>
              <a:t>Calculate:</a:t>
            </a:r>
          </a:p>
          <a:p>
            <a:r>
              <a:rPr lang="en-IN" dirty="0"/>
              <a:t>50 ÷ 30 = 1.67 seconds</a:t>
            </a:r>
          </a:p>
          <a:p>
            <a:r>
              <a:rPr lang="en-IN" dirty="0"/>
              <a:t>So </a:t>
            </a:r>
            <a:r>
              <a:rPr lang="en-IN" b="1" dirty="0"/>
              <a:t>50 frames are approximately 1.7 seconds of video</a:t>
            </a:r>
            <a:r>
              <a:rPr lang="en-IN" dirty="0"/>
              <a:t>.</a:t>
            </a:r>
          </a:p>
          <a:p>
            <a:endParaRPr lang="en-IN" dirty="0"/>
          </a:p>
        </p:txBody>
      </p:sp>
    </p:spTree>
    <p:extLst>
      <p:ext uri="{BB962C8B-B14F-4D97-AF65-F5344CB8AC3E}">
        <p14:creationId xmlns:p14="http://schemas.microsoft.com/office/powerpoint/2010/main" val="21380756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02D32-0860-DF05-3C8B-44E3071579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7DDB2CB-2E6A-BF99-DEC1-33C0DC9B5E65}"/>
              </a:ext>
            </a:extLst>
          </p:cNvPr>
          <p:cNvSpPr>
            <a:spLocks noGrp="1"/>
          </p:cNvSpPr>
          <p:nvPr>
            <p:ph idx="1"/>
          </p:nvPr>
        </p:nvSpPr>
        <p:spPr/>
        <p:txBody>
          <a:bodyPr>
            <a:normAutofit lnSpcReduction="10000"/>
          </a:bodyPr>
          <a:lstStyle/>
          <a:p>
            <a:r>
              <a:rPr lang="en-IN" dirty="0"/>
              <a:t>So things that remain stable for a long time are learned as </a:t>
            </a:r>
            <a:r>
              <a:rPr lang="en-IN" b="1" dirty="0"/>
              <a:t>background</a:t>
            </a:r>
            <a:r>
              <a:rPr lang="en-IN" dirty="0"/>
              <a:t>.</a:t>
            </a:r>
          </a:p>
          <a:p>
            <a:r>
              <a:rPr lang="en-IN" b="1" dirty="0" err="1"/>
              <a:t>varThreshold</a:t>
            </a:r>
            <a:r>
              <a:rPr lang="en-IN" b="1" dirty="0"/>
              <a:t>=40</a:t>
            </a:r>
          </a:p>
          <a:p>
            <a:r>
              <a:rPr lang="en-IN" dirty="0"/>
              <a:t>This controls how much a pixel needs to change before MOG2 considers it foreground.</a:t>
            </a:r>
          </a:p>
          <a:p>
            <a:pPr lvl="0"/>
            <a:r>
              <a:rPr lang="en-IN" dirty="0"/>
              <a:t>Lower → detects more small changes </a:t>
            </a:r>
          </a:p>
          <a:p>
            <a:pPr lvl="0"/>
            <a:r>
              <a:rPr lang="en-IN" dirty="0"/>
              <a:t>Higher → ignores more small changes</a:t>
            </a:r>
          </a:p>
          <a:p>
            <a:pPr lvl="0"/>
            <a:r>
              <a:rPr lang="en-IN" dirty="0"/>
              <a:t>A kernel is a small structuring element used for morphological image processing. Here, we create a 5×5 elliptical kernel to remove noise and clean the foreground mask.</a:t>
            </a:r>
          </a:p>
          <a:p>
            <a:endParaRPr lang="en-IN" dirty="0"/>
          </a:p>
        </p:txBody>
      </p:sp>
    </p:spTree>
    <p:extLst>
      <p:ext uri="{BB962C8B-B14F-4D97-AF65-F5344CB8AC3E}">
        <p14:creationId xmlns:p14="http://schemas.microsoft.com/office/powerpoint/2010/main" val="9661675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AF514-C028-3383-040A-F13A7E3604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D40E939-E227-D6D5-000A-76B8E7104D70}"/>
              </a:ext>
            </a:extLst>
          </p:cNvPr>
          <p:cNvSpPr>
            <a:spLocks noGrp="1"/>
          </p:cNvSpPr>
          <p:nvPr>
            <p:ph idx="1"/>
          </p:nvPr>
        </p:nvSpPr>
        <p:spPr/>
        <p:txBody>
          <a:bodyPr>
            <a:normAutofit lnSpcReduction="10000"/>
          </a:bodyPr>
          <a:lstStyle/>
          <a:p>
            <a:r>
              <a:rPr lang="en-IN" dirty="0"/>
              <a:t>MOG2 also tries to identify shadows.</a:t>
            </a:r>
          </a:p>
          <a:p>
            <a:r>
              <a:rPr lang="en-US" dirty="0"/>
              <a:t>White  → foreground</a:t>
            </a:r>
          </a:p>
          <a:p>
            <a:r>
              <a:rPr lang="en-US" dirty="0"/>
              <a:t>Gray   → shadow</a:t>
            </a:r>
          </a:p>
          <a:p>
            <a:r>
              <a:rPr lang="en-US" dirty="0"/>
              <a:t>Black  → background</a:t>
            </a:r>
          </a:p>
          <a:p>
            <a:r>
              <a:rPr lang="en-IN" dirty="0"/>
              <a:t>Create a kernel</a:t>
            </a:r>
          </a:p>
          <a:p>
            <a:r>
              <a:rPr lang="nl-NL" dirty="0"/>
              <a:t>kernel = cv2.getStructuringElement(</a:t>
            </a:r>
          </a:p>
          <a:p>
            <a:r>
              <a:rPr lang="nl-NL" dirty="0"/>
              <a:t>    cv2.MORPH_ELLIPSE,</a:t>
            </a:r>
          </a:p>
          <a:p>
            <a:r>
              <a:rPr lang="nl-NL" dirty="0"/>
              <a:t>    (5, 5)</a:t>
            </a:r>
          </a:p>
          <a:p>
            <a:r>
              <a:rPr lang="nl-NL" dirty="0"/>
              <a:t>)</a:t>
            </a:r>
            <a:endParaRPr lang="en-IN" dirty="0"/>
          </a:p>
        </p:txBody>
      </p:sp>
    </p:spTree>
    <p:extLst>
      <p:ext uri="{BB962C8B-B14F-4D97-AF65-F5344CB8AC3E}">
        <p14:creationId xmlns:p14="http://schemas.microsoft.com/office/powerpoint/2010/main" val="23602340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D79F8-9B3C-DC1E-5D7D-E1B83FFD0C5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2D824CA-A445-BE9A-3FB5-B2690B8AED7F}"/>
              </a:ext>
            </a:extLst>
          </p:cNvPr>
          <p:cNvSpPr>
            <a:spLocks noGrp="1"/>
          </p:cNvSpPr>
          <p:nvPr>
            <p:ph idx="1"/>
          </p:nvPr>
        </p:nvSpPr>
        <p:spPr/>
        <p:txBody>
          <a:bodyPr>
            <a:normAutofit lnSpcReduction="10000"/>
          </a:bodyPr>
          <a:lstStyle/>
          <a:p>
            <a:r>
              <a:rPr lang="en-IN" dirty="0"/>
              <a:t>This creates a small shape used for </a:t>
            </a:r>
            <a:r>
              <a:rPr lang="en-IN" b="1" dirty="0"/>
              <a:t>cleaning the mask</a:t>
            </a:r>
            <a:r>
              <a:rPr lang="en-IN" dirty="0"/>
              <a:t>.</a:t>
            </a:r>
          </a:p>
          <a:p>
            <a:r>
              <a:rPr lang="en-IN" b="1" dirty="0"/>
              <a:t>v2.getStructuringElement()</a:t>
            </a:r>
          </a:p>
          <a:p>
            <a:r>
              <a:rPr lang="en-IN" dirty="0"/>
              <a:t>This function creates a </a:t>
            </a:r>
            <a:r>
              <a:rPr lang="en-IN" b="1" dirty="0"/>
              <a:t>kernel</a:t>
            </a:r>
            <a:r>
              <a:rPr lang="en-IN" dirty="0"/>
              <a:t> (also called a structuring element).</a:t>
            </a:r>
          </a:p>
          <a:p>
            <a:r>
              <a:rPr lang="en-IN" dirty="0"/>
              <a:t>A kernel is basically a small matrix/shape that OpenCV moves over the image to perform operations like:</a:t>
            </a:r>
          </a:p>
          <a:p>
            <a:pPr lvl="0"/>
            <a:r>
              <a:rPr lang="en-IN" dirty="0"/>
              <a:t>removing noise </a:t>
            </a:r>
          </a:p>
          <a:p>
            <a:pPr lvl="0"/>
            <a:r>
              <a:rPr lang="en-IN" dirty="0"/>
              <a:t>filling gaps </a:t>
            </a:r>
          </a:p>
          <a:p>
            <a:pPr lvl="0"/>
            <a:r>
              <a:rPr lang="en-IN" dirty="0"/>
              <a:t>connecting nearby regions </a:t>
            </a:r>
          </a:p>
          <a:p>
            <a:pPr lvl="0"/>
            <a:r>
              <a:rPr lang="en-IN" dirty="0"/>
              <a:t>making objects thicker</a:t>
            </a:r>
          </a:p>
          <a:p>
            <a:endParaRPr lang="en-IN" dirty="0"/>
          </a:p>
        </p:txBody>
      </p:sp>
    </p:spTree>
    <p:extLst>
      <p:ext uri="{BB962C8B-B14F-4D97-AF65-F5344CB8AC3E}">
        <p14:creationId xmlns:p14="http://schemas.microsoft.com/office/powerpoint/2010/main" val="29064857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4BE01-15B0-33B7-3862-3559785C8D1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AAED41A-0138-C13E-B930-6D310542FF33}"/>
              </a:ext>
            </a:extLst>
          </p:cNvPr>
          <p:cNvSpPr>
            <a:spLocks noGrp="1"/>
          </p:cNvSpPr>
          <p:nvPr>
            <p:ph idx="1"/>
          </p:nvPr>
        </p:nvSpPr>
        <p:spPr/>
        <p:txBody>
          <a:bodyPr/>
          <a:lstStyle/>
          <a:p>
            <a:r>
              <a:rPr lang="en-IN" b="1" dirty="0"/>
              <a:t>cv2.MORPH_ELLIPSE</a:t>
            </a:r>
          </a:p>
          <a:p>
            <a:r>
              <a:rPr lang="en-IN" dirty="0"/>
              <a:t>This tells OpenCV:</a:t>
            </a:r>
          </a:p>
          <a:p>
            <a:r>
              <a:rPr lang="en-IN" b="1" dirty="0"/>
              <a:t>"Make the kernel elliptical/rounded."</a:t>
            </a:r>
            <a:endParaRPr lang="en-IN" dirty="0"/>
          </a:p>
          <a:p>
            <a:r>
              <a:rPr lang="en-IN" dirty="0"/>
              <a:t>For a (5,5) kernel, you can roughly imagine:</a:t>
            </a:r>
          </a:p>
          <a:p>
            <a:r>
              <a:rPr lang="en-IN" dirty="0"/>
              <a:t>It is </a:t>
            </a:r>
            <a:r>
              <a:rPr lang="en-IN" b="1" dirty="0"/>
              <a:t>not a square</a:t>
            </a:r>
            <a:r>
              <a:rPr lang="en-IN" dirty="0"/>
              <a:t>; it has a rounded shape.</a:t>
            </a:r>
          </a:p>
          <a:p>
            <a:r>
              <a:rPr lang="en-IN" dirty="0"/>
              <a:t>Why use an ellipse?</a:t>
            </a:r>
          </a:p>
          <a:p>
            <a:r>
              <a:rPr lang="en-IN" dirty="0"/>
              <a:t>Because motion/object regions usually have irregular, rounded boundaries, and an elliptical kernel can clean them without making corners as aggressively as a square kernel.</a:t>
            </a:r>
          </a:p>
          <a:p>
            <a:endParaRPr lang="en-IN" dirty="0"/>
          </a:p>
        </p:txBody>
      </p:sp>
    </p:spTree>
    <p:extLst>
      <p:ext uri="{BB962C8B-B14F-4D97-AF65-F5344CB8AC3E}">
        <p14:creationId xmlns:p14="http://schemas.microsoft.com/office/powerpoint/2010/main" val="12290606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CA1AF-4DCB-CB03-C38E-DA102616AA1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4C91EA3-FE8D-8AF5-A579-36C0295A6A0E}"/>
              </a:ext>
            </a:extLst>
          </p:cNvPr>
          <p:cNvSpPr>
            <a:spLocks noGrp="1"/>
          </p:cNvSpPr>
          <p:nvPr>
            <p:ph idx="1"/>
          </p:nvPr>
        </p:nvSpPr>
        <p:spPr/>
        <p:txBody>
          <a:bodyPr/>
          <a:lstStyle/>
          <a:p>
            <a:r>
              <a:rPr lang="en-IN" dirty="0"/>
              <a:t>(3, 3)  → small effect</a:t>
            </a:r>
          </a:p>
          <a:p>
            <a:r>
              <a:rPr lang="en-IN" dirty="0"/>
              <a:t>(5, 5)  → medium effect</a:t>
            </a:r>
          </a:p>
          <a:p>
            <a:r>
              <a:rPr lang="en-IN" dirty="0"/>
              <a:t>(9, 9)  → stronger effect</a:t>
            </a:r>
          </a:p>
          <a:p>
            <a:r>
              <a:rPr lang="en-IN" dirty="0"/>
              <a:t>Because </a:t>
            </a:r>
            <a:r>
              <a:rPr lang="en-IN" b="1" dirty="0"/>
              <a:t>ellipse is smoother/rounded</a:t>
            </a:r>
            <a:r>
              <a:rPr lang="en-IN" dirty="0"/>
              <a:t>, so it is usually better for cleaning irregular object shapes in a motion mask.</a:t>
            </a:r>
          </a:p>
        </p:txBody>
      </p:sp>
    </p:spTree>
    <p:extLst>
      <p:ext uri="{BB962C8B-B14F-4D97-AF65-F5344CB8AC3E}">
        <p14:creationId xmlns:p14="http://schemas.microsoft.com/office/powerpoint/2010/main" val="32267965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F9CC9-58C3-499B-5575-5BD36597608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403D93B-D4A7-CBB6-8115-60E13DAEA775}"/>
              </a:ext>
            </a:extLst>
          </p:cNvPr>
          <p:cNvSpPr>
            <a:spLocks noGrp="1"/>
          </p:cNvSpPr>
          <p:nvPr>
            <p:ph idx="1"/>
          </p:nvPr>
        </p:nvSpPr>
        <p:spPr/>
        <p:txBody>
          <a:bodyPr/>
          <a:lstStyle/>
          <a:p>
            <a:r>
              <a:rPr lang="en-IN" dirty="0"/>
              <a:t>Read a frame</a:t>
            </a:r>
          </a:p>
          <a:p>
            <a:r>
              <a:rPr lang="en-IN" dirty="0"/>
              <a:t>Apply MOG2</a:t>
            </a:r>
          </a:p>
          <a:p>
            <a:r>
              <a:rPr lang="en-IN" dirty="0"/>
              <a:t>Remove shadows (I only want pure white foreground.)</a:t>
            </a:r>
          </a:p>
          <a:p>
            <a:r>
              <a:rPr lang="en-IN" dirty="0"/>
              <a:t>0–199 → BLACK 200–255 → WHITE</a:t>
            </a:r>
          </a:p>
          <a:p>
            <a:r>
              <a:rPr lang="en-IN" dirty="0"/>
              <a:t>B lack = background White = detected foreground</a:t>
            </a:r>
          </a:p>
          <a:p>
            <a:r>
              <a:rPr lang="en-IN" dirty="0"/>
              <a:t>The </a:t>
            </a:r>
            <a:r>
              <a:rPr lang="en-IN" dirty="0" err="1"/>
              <a:t>gray</a:t>
            </a:r>
            <a:r>
              <a:rPr lang="en-IN" dirty="0"/>
              <a:t> shadow pixels are removed because </a:t>
            </a:r>
            <a:r>
              <a:rPr lang="en-IN" dirty="0" err="1"/>
              <a:t>gray</a:t>
            </a:r>
            <a:r>
              <a:rPr lang="en-IN" dirty="0"/>
              <a:t> values are generally below 200.</a:t>
            </a:r>
          </a:p>
        </p:txBody>
      </p:sp>
    </p:spTree>
    <p:extLst>
      <p:ext uri="{BB962C8B-B14F-4D97-AF65-F5344CB8AC3E}">
        <p14:creationId xmlns:p14="http://schemas.microsoft.com/office/powerpoint/2010/main" val="25690411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4BE02-D055-11DA-75B7-F25C7E46546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6730899-910A-B917-7A83-377201B0D425}"/>
              </a:ext>
            </a:extLst>
          </p:cNvPr>
          <p:cNvSpPr>
            <a:spLocks noGrp="1"/>
          </p:cNvSpPr>
          <p:nvPr>
            <p:ph idx="1"/>
          </p:nvPr>
        </p:nvSpPr>
        <p:spPr/>
        <p:txBody>
          <a:bodyPr/>
          <a:lstStyle/>
          <a:p>
            <a:r>
              <a:rPr lang="en-IN" dirty="0"/>
              <a:t>Remove small noise</a:t>
            </a:r>
          </a:p>
          <a:p>
            <a:r>
              <a:rPr lang="en-IN" dirty="0"/>
              <a:t>mask = cv2.morphologyEx( mask, cv2.MORPH_OPEN, kernel )</a:t>
            </a:r>
          </a:p>
          <a:p>
            <a:r>
              <a:rPr lang="en-IN" dirty="0"/>
              <a:t>Dilate the object</a:t>
            </a:r>
          </a:p>
          <a:p>
            <a:r>
              <a:rPr lang="da-DK" dirty="0"/>
              <a:t>mask = cv2.dilate(mask, kernel, iterations=2)</a:t>
            </a:r>
          </a:p>
          <a:p>
            <a:r>
              <a:rPr lang="en-IN" dirty="0"/>
              <a:t>Find contours</a:t>
            </a:r>
          </a:p>
          <a:p>
            <a:r>
              <a:rPr lang="en-IN" dirty="0"/>
              <a:t>Ignore tiny contours</a:t>
            </a:r>
          </a:p>
          <a:p>
            <a:r>
              <a:rPr lang="en-IN" dirty="0"/>
              <a:t>if cv2.contourArea(c) &lt; 500: continue</a:t>
            </a:r>
          </a:p>
        </p:txBody>
      </p:sp>
    </p:spTree>
    <p:extLst>
      <p:ext uri="{BB962C8B-B14F-4D97-AF65-F5344CB8AC3E}">
        <p14:creationId xmlns:p14="http://schemas.microsoft.com/office/powerpoint/2010/main" val="12043599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94FA4-2EF8-09DF-33C7-4864FB0C124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551735-F4A9-A227-B271-84C363FE7FC2}"/>
              </a:ext>
            </a:extLst>
          </p:cNvPr>
          <p:cNvSpPr>
            <a:spLocks noGrp="1"/>
          </p:cNvSpPr>
          <p:nvPr>
            <p:ph idx="1"/>
          </p:nvPr>
        </p:nvSpPr>
        <p:spPr/>
        <p:txBody>
          <a:bodyPr/>
          <a:lstStyle/>
          <a:p>
            <a:r>
              <a:rPr lang="en-IN" dirty="0"/>
              <a:t>Find the rectangle</a:t>
            </a:r>
          </a:p>
          <a:p>
            <a:r>
              <a:rPr lang="en-IN" dirty="0"/>
              <a:t>Draw green rectangle</a:t>
            </a:r>
          </a:p>
        </p:txBody>
      </p:sp>
    </p:spTree>
    <p:extLst>
      <p:ext uri="{BB962C8B-B14F-4D97-AF65-F5344CB8AC3E}">
        <p14:creationId xmlns:p14="http://schemas.microsoft.com/office/powerpoint/2010/main" val="32441889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0BEEC-A5AE-BE56-6CAD-56E5468BED82}"/>
              </a:ext>
            </a:extLst>
          </p:cNvPr>
          <p:cNvSpPr>
            <a:spLocks noGrp="1"/>
          </p:cNvSpPr>
          <p:nvPr>
            <p:ph type="title"/>
          </p:nvPr>
        </p:nvSpPr>
        <p:spPr/>
        <p:txBody>
          <a:bodyPr/>
          <a:lstStyle/>
          <a:p>
            <a:r>
              <a:rPr lang="en-IN" dirty="0"/>
              <a:t>Centroid Tracking</a:t>
            </a:r>
          </a:p>
        </p:txBody>
      </p:sp>
      <p:sp>
        <p:nvSpPr>
          <p:cNvPr id="3" name="Content Placeholder 2">
            <a:extLst>
              <a:ext uri="{FF2B5EF4-FFF2-40B4-BE49-F238E27FC236}">
                <a16:creationId xmlns:a16="http://schemas.microsoft.com/office/drawing/2014/main" id="{7B5BA8FC-C9E7-9F85-95B9-5ADB04EF5AF7}"/>
              </a:ext>
            </a:extLst>
          </p:cNvPr>
          <p:cNvSpPr>
            <a:spLocks noGrp="1"/>
          </p:cNvSpPr>
          <p:nvPr>
            <p:ph idx="1"/>
          </p:nvPr>
        </p:nvSpPr>
        <p:spPr/>
        <p:txBody>
          <a:bodyPr/>
          <a:lstStyle/>
          <a:p>
            <a:r>
              <a:rPr lang="en-IN" dirty="0"/>
              <a:t>Imagine you have a video of a </a:t>
            </a:r>
            <a:r>
              <a:rPr lang="en-IN" b="1" dirty="0"/>
              <a:t>person walking in a room</a:t>
            </a:r>
            <a:r>
              <a:rPr lang="en-IN" dirty="0"/>
              <a:t>.</a:t>
            </a:r>
          </a:p>
          <a:p>
            <a:r>
              <a:rPr lang="en-IN" dirty="0"/>
              <a:t>Our computer wants to answer:</a:t>
            </a:r>
          </a:p>
          <a:p>
            <a:r>
              <a:rPr lang="en-IN" b="1" dirty="0"/>
              <a:t>“Where is the person, and where is the person moving?”</a:t>
            </a:r>
            <a:endParaRPr lang="en-IN" dirty="0"/>
          </a:p>
          <a:p>
            <a:r>
              <a:rPr lang="en-IN" dirty="0"/>
              <a:t>To do this, we use several steps:</a:t>
            </a:r>
          </a:p>
          <a:p>
            <a:r>
              <a:rPr lang="en-IN" b="1" dirty="0"/>
              <a:t>Video → Background Subtraction → Mask → Contours → Centroid → Track Movement</a:t>
            </a:r>
            <a:endParaRPr lang="en-IN" dirty="0"/>
          </a:p>
          <a:p>
            <a:pPr lvl="1"/>
            <a:endParaRPr lang="en-IN" dirty="0"/>
          </a:p>
        </p:txBody>
      </p:sp>
    </p:spTree>
    <p:extLst>
      <p:ext uri="{BB962C8B-B14F-4D97-AF65-F5344CB8AC3E}">
        <p14:creationId xmlns:p14="http://schemas.microsoft.com/office/powerpoint/2010/main" val="13629513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597AB-4761-8145-3DA7-9E1EF650E3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882C7E1-0D48-8CE7-2D09-A40318FD3B71}"/>
              </a:ext>
            </a:extLst>
          </p:cNvPr>
          <p:cNvSpPr>
            <a:spLocks noGrp="1"/>
          </p:cNvSpPr>
          <p:nvPr>
            <p:ph idx="1"/>
          </p:nvPr>
        </p:nvSpPr>
        <p:spPr/>
        <p:txBody>
          <a:bodyPr/>
          <a:lstStyle/>
          <a:p>
            <a:r>
              <a:rPr lang="en-IN" dirty="0"/>
              <a:t>First, we have a video</a:t>
            </a:r>
          </a:p>
          <a:p>
            <a:r>
              <a:rPr lang="en-IN" dirty="0"/>
              <a:t>For example: The person is moving from left to right.</a:t>
            </a:r>
          </a:p>
          <a:p>
            <a:r>
              <a:rPr lang="en-IN" dirty="0"/>
              <a:t>But the computer doesn't understand:</a:t>
            </a:r>
          </a:p>
          <a:p>
            <a:r>
              <a:rPr lang="en-IN" dirty="0"/>
              <a:t>"Oh, that's a person."</a:t>
            </a:r>
          </a:p>
          <a:p>
            <a:r>
              <a:rPr lang="en-IN" dirty="0"/>
              <a:t>It only sees </a:t>
            </a:r>
            <a:r>
              <a:rPr lang="en-IN" b="1" dirty="0"/>
              <a:t>pixels</a:t>
            </a:r>
            <a:r>
              <a:rPr lang="en-IN" dirty="0"/>
              <a:t>.</a:t>
            </a:r>
          </a:p>
          <a:p>
            <a:r>
              <a:rPr lang="en-IN" dirty="0"/>
              <a:t>So we need image-processing techniques to find the moving object.</a:t>
            </a:r>
          </a:p>
          <a:p>
            <a:endParaRPr lang="en-IN" dirty="0"/>
          </a:p>
        </p:txBody>
      </p:sp>
    </p:spTree>
    <p:extLst>
      <p:ext uri="{BB962C8B-B14F-4D97-AF65-F5344CB8AC3E}">
        <p14:creationId xmlns:p14="http://schemas.microsoft.com/office/powerpoint/2010/main" val="15803559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9B116-80EB-875A-1F0A-B99B7CA0395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20AAD64-9684-5AD1-254C-3BCACD09D67B}"/>
              </a:ext>
            </a:extLst>
          </p:cNvPr>
          <p:cNvSpPr>
            <a:spLocks noGrp="1"/>
          </p:cNvSpPr>
          <p:nvPr>
            <p:ph idx="1"/>
          </p:nvPr>
        </p:nvSpPr>
        <p:spPr/>
        <p:txBody>
          <a:bodyPr/>
          <a:lstStyle/>
          <a:p>
            <a:r>
              <a:rPr lang="en-IN" dirty="0"/>
              <a:t>A </a:t>
            </a:r>
            <a:r>
              <a:rPr lang="en-IN" b="1" dirty="0"/>
              <a:t>centroid</a:t>
            </a:r>
            <a:r>
              <a:rPr lang="en-IN" dirty="0"/>
              <a:t> is simply the </a:t>
            </a:r>
            <a:r>
              <a:rPr lang="en-IN" b="1" dirty="0" err="1"/>
              <a:t>center</a:t>
            </a:r>
            <a:r>
              <a:rPr lang="en-IN" b="1" dirty="0"/>
              <a:t> point of an object</a:t>
            </a:r>
            <a:r>
              <a:rPr lang="en-IN" dirty="0"/>
              <a:t>.</a:t>
            </a:r>
          </a:p>
          <a:p>
            <a:r>
              <a:rPr lang="en-IN" dirty="0"/>
              <a:t>We calculate it using image moments:</a:t>
            </a:r>
          </a:p>
          <a:p>
            <a:r>
              <a:rPr lang="en-IN" dirty="0"/>
              <a:t>M = cv2.moments(c)</a:t>
            </a:r>
          </a:p>
          <a:p>
            <a:r>
              <a:rPr lang="en-IN" dirty="0"/>
              <a:t>cv2.moments() calculates mathematical moments of a contour, which can be used to find properties such as the area and centroid of the detected object.</a:t>
            </a:r>
          </a:p>
          <a:p>
            <a:r>
              <a:rPr lang="en-IN" dirty="0"/>
              <a:t>mathematical measurements that describe a detected object's shape and position</a:t>
            </a:r>
          </a:p>
        </p:txBody>
      </p:sp>
    </p:spTree>
    <p:extLst>
      <p:ext uri="{BB962C8B-B14F-4D97-AF65-F5344CB8AC3E}">
        <p14:creationId xmlns:p14="http://schemas.microsoft.com/office/powerpoint/2010/main" val="24995661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9DECC-7398-51C4-F2EB-B5B53A4CF40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B968B3-40AD-A585-4369-B885977D1BB5}"/>
              </a:ext>
            </a:extLst>
          </p:cNvPr>
          <p:cNvSpPr>
            <a:spLocks noGrp="1"/>
          </p:cNvSpPr>
          <p:nvPr>
            <p:ph idx="1"/>
          </p:nvPr>
        </p:nvSpPr>
        <p:spPr/>
        <p:txBody>
          <a:bodyPr>
            <a:normAutofit lnSpcReduction="10000"/>
          </a:bodyPr>
          <a:lstStyle/>
          <a:p>
            <a:pPr lvl="0"/>
            <a:r>
              <a:rPr lang="en-IN" dirty="0"/>
              <a:t>m00 → related to </a:t>
            </a:r>
            <a:r>
              <a:rPr lang="en-IN" b="1" dirty="0"/>
              <a:t>area</a:t>
            </a:r>
            <a:r>
              <a:rPr lang="en-IN" dirty="0"/>
              <a:t> </a:t>
            </a:r>
          </a:p>
          <a:p>
            <a:pPr lvl="0"/>
            <a:r>
              <a:rPr lang="en-IN" dirty="0"/>
              <a:t>m10 → helps find </a:t>
            </a:r>
            <a:r>
              <a:rPr lang="en-IN" b="1" dirty="0"/>
              <a:t>X position</a:t>
            </a:r>
            <a:r>
              <a:rPr lang="en-IN" dirty="0"/>
              <a:t> </a:t>
            </a:r>
          </a:p>
          <a:p>
            <a:pPr lvl="0"/>
            <a:r>
              <a:rPr lang="en-IN" dirty="0"/>
              <a:t>m01 → helps find </a:t>
            </a:r>
            <a:r>
              <a:rPr lang="en-IN" b="1" dirty="0"/>
              <a:t>Y position</a:t>
            </a:r>
          </a:p>
          <a:p>
            <a:pPr lvl="0"/>
            <a:endParaRPr lang="en-IN" b="1" dirty="0"/>
          </a:p>
          <a:p>
            <a:pPr lvl="0"/>
            <a:r>
              <a:rPr lang="en-IN" b="1" dirty="0"/>
              <a:t>Suppose </a:t>
            </a:r>
            <a:r>
              <a:rPr lang="en-IN" dirty="0"/>
              <a:t>object has </a:t>
            </a:r>
            <a:r>
              <a:rPr lang="en-IN" b="1" dirty="0"/>
              <a:t>3 pixels</a:t>
            </a:r>
            <a:r>
              <a:rPr lang="en-IN" dirty="0"/>
              <a:t> at:</a:t>
            </a:r>
          </a:p>
          <a:p>
            <a:pPr lvl="0"/>
            <a:r>
              <a:rPr lang="en-IN" dirty="0"/>
              <a:t>(1,1)   (2,1)   (3,1)</a:t>
            </a:r>
          </a:p>
          <a:p>
            <a:r>
              <a:rPr lang="en-IN" dirty="0"/>
              <a:t>m00 represents the amount/area of the object.</a:t>
            </a:r>
          </a:p>
          <a:p>
            <a:r>
              <a:rPr lang="en-IN" dirty="0"/>
              <a:t>There are 3 pixels:</a:t>
            </a:r>
          </a:p>
          <a:p>
            <a:r>
              <a:rPr lang="en-IN" dirty="0"/>
              <a:t>m00 = 3</a:t>
            </a:r>
          </a:p>
          <a:p>
            <a:pPr lvl="0"/>
            <a:endParaRPr lang="en-IN" dirty="0"/>
          </a:p>
          <a:p>
            <a:endParaRPr lang="en-IN" dirty="0"/>
          </a:p>
        </p:txBody>
      </p:sp>
    </p:spTree>
    <p:extLst>
      <p:ext uri="{BB962C8B-B14F-4D97-AF65-F5344CB8AC3E}">
        <p14:creationId xmlns:p14="http://schemas.microsoft.com/office/powerpoint/2010/main" val="26234495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D8D30-D6FB-A57D-A1CB-4E5FAD34AAE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11F818F-3336-E4A4-A06D-9CE0E91B919E}"/>
              </a:ext>
            </a:extLst>
          </p:cNvPr>
          <p:cNvSpPr>
            <a:spLocks noGrp="1"/>
          </p:cNvSpPr>
          <p:nvPr>
            <p:ph idx="1"/>
          </p:nvPr>
        </p:nvSpPr>
        <p:spPr/>
        <p:txBody>
          <a:bodyPr/>
          <a:lstStyle/>
          <a:p>
            <a:r>
              <a:rPr lang="en-IN" dirty="0"/>
              <a:t>For m10, we consider the </a:t>
            </a:r>
            <a:r>
              <a:rPr lang="en-IN" b="1" dirty="0"/>
              <a:t>x-position</a:t>
            </a:r>
            <a:r>
              <a:rPr lang="en-IN" dirty="0"/>
              <a:t> of each pixel:</a:t>
            </a:r>
          </a:p>
          <a:p>
            <a:r>
              <a:rPr lang="en-IN" dirty="0"/>
              <a:t>1 + 2 + 3 = 6</a:t>
            </a:r>
          </a:p>
          <a:p>
            <a:r>
              <a:rPr lang="en-IN" dirty="0"/>
              <a:t>Find cx</a:t>
            </a:r>
          </a:p>
          <a:p>
            <a:r>
              <a:rPr lang="en-IN" dirty="0"/>
              <a:t>cx = m10 / m00 cx = 6 / 3 cx = 2</a:t>
            </a:r>
          </a:p>
          <a:p>
            <a:r>
              <a:rPr lang="en-IN" dirty="0"/>
              <a:t>So the </a:t>
            </a:r>
            <a:r>
              <a:rPr lang="en-IN" dirty="0" err="1"/>
              <a:t>center</a:t>
            </a:r>
            <a:r>
              <a:rPr lang="en-IN" dirty="0"/>
              <a:t> in the X direction is:</a:t>
            </a:r>
          </a:p>
          <a:p>
            <a:r>
              <a:rPr lang="en-IN" dirty="0"/>
              <a:t>cx = 2</a:t>
            </a:r>
          </a:p>
          <a:p>
            <a:r>
              <a:rPr lang="en-IN" dirty="0"/>
              <a:t>All three pixels have:</a:t>
            </a:r>
          </a:p>
          <a:p>
            <a:r>
              <a:rPr lang="en-IN" dirty="0"/>
              <a:t>y = 1</a:t>
            </a:r>
          </a:p>
          <a:p>
            <a:endParaRPr lang="en-IN" dirty="0"/>
          </a:p>
        </p:txBody>
      </p:sp>
    </p:spTree>
    <p:extLst>
      <p:ext uri="{BB962C8B-B14F-4D97-AF65-F5344CB8AC3E}">
        <p14:creationId xmlns:p14="http://schemas.microsoft.com/office/powerpoint/2010/main" val="17496033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A7F22-393E-6500-6931-B07087D37F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43C07E5-2487-D477-F097-CE127ED2747B}"/>
              </a:ext>
            </a:extLst>
          </p:cNvPr>
          <p:cNvSpPr>
            <a:spLocks noGrp="1"/>
          </p:cNvSpPr>
          <p:nvPr>
            <p:ph idx="1"/>
          </p:nvPr>
        </p:nvSpPr>
        <p:spPr/>
        <p:txBody>
          <a:bodyPr/>
          <a:lstStyle/>
          <a:p>
            <a:r>
              <a:rPr lang="en-IN" dirty="0"/>
              <a:t>m01 = 1 + 1 + 1 m01 = 3</a:t>
            </a:r>
          </a:p>
          <a:p>
            <a:r>
              <a:rPr lang="en-IN" dirty="0"/>
              <a:t>cy = m01 / m00</a:t>
            </a:r>
          </a:p>
          <a:p>
            <a:r>
              <a:rPr lang="en-IN" dirty="0"/>
              <a:t>cy = 3 / 3</a:t>
            </a:r>
          </a:p>
          <a:p>
            <a:r>
              <a:rPr lang="en-IN" dirty="0"/>
              <a:t>cy = 1</a:t>
            </a:r>
          </a:p>
          <a:p>
            <a:r>
              <a:rPr lang="en-IN" dirty="0"/>
              <a:t>Therefore:</a:t>
            </a:r>
          </a:p>
          <a:p>
            <a:r>
              <a:rPr lang="en-IN" dirty="0"/>
              <a:t>Centroid = (cx, cy) = (2, 1)</a:t>
            </a:r>
          </a:p>
          <a:p>
            <a:endParaRPr lang="en-IN" dirty="0"/>
          </a:p>
          <a:p>
            <a:r>
              <a:rPr lang="en-IN" dirty="0"/>
              <a:t>m00 means </a:t>
            </a:r>
            <a:r>
              <a:rPr lang="en-IN" b="1" dirty="0"/>
              <a:t>the area/size of the detected object</a:t>
            </a:r>
            <a:r>
              <a:rPr lang="en-IN" dirty="0"/>
              <a:t>.</a:t>
            </a:r>
          </a:p>
        </p:txBody>
      </p:sp>
    </p:spTree>
    <p:extLst>
      <p:ext uri="{BB962C8B-B14F-4D97-AF65-F5344CB8AC3E}">
        <p14:creationId xmlns:p14="http://schemas.microsoft.com/office/powerpoint/2010/main" val="27956531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6EF57-B4CB-2F6F-6E51-5B0D785BDDD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014384-FF92-5A0D-085F-C83EA7485736}"/>
              </a:ext>
            </a:extLst>
          </p:cNvPr>
          <p:cNvSpPr>
            <a:spLocks noGrp="1"/>
          </p:cNvSpPr>
          <p:nvPr>
            <p:ph idx="1"/>
          </p:nvPr>
        </p:nvSpPr>
        <p:spPr/>
        <p:txBody>
          <a:bodyPr>
            <a:normAutofit lnSpcReduction="10000"/>
          </a:bodyPr>
          <a:lstStyle/>
          <a:p>
            <a:r>
              <a:rPr lang="fr-FR" dirty="0"/>
              <a:t># </a:t>
            </a:r>
            <a:r>
              <a:rPr lang="fr-FR" dirty="0" err="1"/>
              <a:t>Draw</a:t>
            </a:r>
            <a:r>
              <a:rPr lang="fr-FR" dirty="0"/>
              <a:t> </a:t>
            </a:r>
            <a:r>
              <a:rPr lang="fr-FR" dirty="0" err="1"/>
              <a:t>centroid</a:t>
            </a:r>
            <a:r>
              <a:rPr lang="fr-FR" dirty="0"/>
              <a:t>       </a:t>
            </a:r>
          </a:p>
          <a:p>
            <a:r>
              <a:rPr lang="fr-FR" dirty="0"/>
              <a:t>     cv2.circle(frame, (cx, </a:t>
            </a:r>
            <a:r>
              <a:rPr lang="fr-FR" dirty="0" err="1"/>
              <a:t>cy</a:t>
            </a:r>
            <a:r>
              <a:rPr lang="fr-FR" dirty="0"/>
              <a:t>), 7, (0, 0, 255), -1)</a:t>
            </a:r>
          </a:p>
          <a:p>
            <a:r>
              <a:rPr lang="en-IN" dirty="0"/>
              <a:t>The </a:t>
            </a:r>
            <a:r>
              <a:rPr lang="en-IN" b="1" dirty="0"/>
              <a:t>radius of the circle -&gt; 7</a:t>
            </a:r>
            <a:r>
              <a:rPr lang="en-IN" dirty="0"/>
              <a:t>.</a:t>
            </a:r>
          </a:p>
          <a:p>
            <a:r>
              <a:rPr lang="en-IN" dirty="0"/>
              <a:t>-1</a:t>
            </a:r>
          </a:p>
          <a:p>
            <a:r>
              <a:rPr lang="en-IN" dirty="0"/>
              <a:t>means:</a:t>
            </a:r>
          </a:p>
          <a:p>
            <a:r>
              <a:rPr lang="en-IN" b="1" dirty="0"/>
              <a:t>Fill the circle completely.</a:t>
            </a:r>
            <a:endParaRPr lang="en-IN" dirty="0"/>
          </a:p>
          <a:p>
            <a:r>
              <a:rPr lang="en-IN" dirty="0"/>
              <a:t>If we used:</a:t>
            </a:r>
          </a:p>
          <a:p>
            <a:r>
              <a:rPr lang="en-IN" dirty="0"/>
              <a:t>2</a:t>
            </a:r>
          </a:p>
          <a:p>
            <a:r>
              <a:rPr lang="en-IN" dirty="0"/>
              <a:t>the circle would only have a border with thickness 2.</a:t>
            </a:r>
          </a:p>
          <a:p>
            <a:endParaRPr lang="en-IN" dirty="0"/>
          </a:p>
        </p:txBody>
      </p:sp>
    </p:spTree>
    <p:extLst>
      <p:ext uri="{BB962C8B-B14F-4D97-AF65-F5344CB8AC3E}">
        <p14:creationId xmlns:p14="http://schemas.microsoft.com/office/powerpoint/2010/main" val="27980461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4F1C5-9D7A-3886-5D7E-7FD8166B4B3C}"/>
              </a:ext>
            </a:extLst>
          </p:cNvPr>
          <p:cNvSpPr>
            <a:spLocks noGrp="1"/>
          </p:cNvSpPr>
          <p:nvPr>
            <p:ph type="title"/>
          </p:nvPr>
        </p:nvSpPr>
        <p:spPr/>
        <p:txBody>
          <a:bodyPr/>
          <a:lstStyle/>
          <a:p>
            <a:r>
              <a:rPr lang="en-IN" dirty="0"/>
              <a:t>Motion History Image</a:t>
            </a:r>
          </a:p>
        </p:txBody>
      </p:sp>
      <p:sp>
        <p:nvSpPr>
          <p:cNvPr id="3" name="Content Placeholder 2">
            <a:extLst>
              <a:ext uri="{FF2B5EF4-FFF2-40B4-BE49-F238E27FC236}">
                <a16:creationId xmlns:a16="http://schemas.microsoft.com/office/drawing/2014/main" id="{EED0941F-F3E8-9FB9-58C3-D47BDBD287BC}"/>
              </a:ext>
            </a:extLst>
          </p:cNvPr>
          <p:cNvSpPr>
            <a:spLocks noGrp="1"/>
          </p:cNvSpPr>
          <p:nvPr>
            <p:ph idx="1"/>
          </p:nvPr>
        </p:nvSpPr>
        <p:spPr/>
        <p:txBody>
          <a:bodyPr/>
          <a:lstStyle/>
          <a:p>
            <a:r>
              <a:rPr lang="en-IN" dirty="0"/>
              <a:t>The basic idea is:</a:t>
            </a:r>
          </a:p>
          <a:p>
            <a:r>
              <a:rPr lang="en-IN" b="1" dirty="0"/>
              <a:t>MHI keeps a short history of where motion happened.</a:t>
            </a:r>
            <a:endParaRPr lang="en-IN" dirty="0"/>
          </a:p>
          <a:p>
            <a:r>
              <a:rPr lang="en-IN" dirty="0"/>
              <a:t>Normal frame difference tells you:</a:t>
            </a:r>
          </a:p>
          <a:p>
            <a:r>
              <a:rPr lang="en-IN" dirty="0"/>
              <a:t>"Where is motion happening RIGHT NOW?"</a:t>
            </a:r>
          </a:p>
          <a:p>
            <a:r>
              <a:rPr lang="en-IN" dirty="0"/>
              <a:t>MHI tells you:</a:t>
            </a:r>
          </a:p>
          <a:p>
            <a:r>
              <a:rPr lang="en-IN" dirty="0"/>
              <a:t>"Where has motion happened RECENTLY?"</a:t>
            </a:r>
          </a:p>
          <a:p>
            <a:endParaRPr lang="en-IN" dirty="0"/>
          </a:p>
        </p:txBody>
      </p:sp>
    </p:spTree>
    <p:extLst>
      <p:ext uri="{BB962C8B-B14F-4D97-AF65-F5344CB8AC3E}">
        <p14:creationId xmlns:p14="http://schemas.microsoft.com/office/powerpoint/2010/main" val="7334372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EB33F-2F8F-0089-2B4D-273A2204955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02D7B71-AB8D-1F67-E3AF-A4E28A574EC8}"/>
              </a:ext>
            </a:extLst>
          </p:cNvPr>
          <p:cNvSpPr>
            <a:spLocks noGrp="1"/>
          </p:cNvSpPr>
          <p:nvPr>
            <p:ph idx="1"/>
          </p:nvPr>
        </p:nvSpPr>
        <p:spPr/>
        <p:txBody>
          <a:bodyPr/>
          <a:lstStyle/>
          <a:p>
            <a:r>
              <a:rPr lang="en-US" dirty="0"/>
              <a:t>White       → motion happened very recently</a:t>
            </a:r>
          </a:p>
          <a:p>
            <a:r>
              <a:rPr lang="en-US" dirty="0"/>
              <a:t>Light gray  → motion happened a little earlier</a:t>
            </a:r>
          </a:p>
          <a:p>
            <a:r>
              <a:rPr lang="en-US" dirty="0"/>
              <a:t>Dark gray   → motion happened longer ago</a:t>
            </a:r>
          </a:p>
          <a:p>
            <a:r>
              <a:rPr lang="en-US" dirty="0"/>
              <a:t>Black       → no recent motion</a:t>
            </a:r>
          </a:p>
          <a:p>
            <a:endParaRPr lang="en-US" dirty="0"/>
          </a:p>
          <a:p>
            <a:r>
              <a:rPr lang="en-US" dirty="0"/>
              <a:t>Recent motion → higher value → brighter</a:t>
            </a:r>
          </a:p>
          <a:p>
            <a:r>
              <a:rPr lang="en-US" dirty="0"/>
              <a:t>Old motion    → lower value  → darker</a:t>
            </a:r>
          </a:p>
          <a:p>
            <a:r>
              <a:rPr lang="en-US" dirty="0"/>
              <a:t>No motion     → 0            → black</a:t>
            </a:r>
            <a:endParaRPr lang="en-IN" dirty="0"/>
          </a:p>
        </p:txBody>
      </p:sp>
    </p:spTree>
    <p:extLst>
      <p:ext uri="{BB962C8B-B14F-4D97-AF65-F5344CB8AC3E}">
        <p14:creationId xmlns:p14="http://schemas.microsoft.com/office/powerpoint/2010/main" val="31079667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5BA4B-6436-CC94-26F3-9AF98938E88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26DB8A-D61B-6A06-3493-0BD006F175AE}"/>
              </a:ext>
            </a:extLst>
          </p:cNvPr>
          <p:cNvSpPr>
            <a:spLocks noGrp="1"/>
          </p:cNvSpPr>
          <p:nvPr>
            <p:ph idx="1"/>
          </p:nvPr>
        </p:nvSpPr>
        <p:spPr/>
        <p:txBody>
          <a:bodyPr/>
          <a:lstStyle/>
          <a:p>
            <a:r>
              <a:rPr lang="en-IN" dirty="0"/>
              <a:t>MHI is more like:</a:t>
            </a:r>
          </a:p>
          <a:p>
            <a:r>
              <a:rPr lang="en-IN" dirty="0"/>
              <a:t>MHI:</a:t>
            </a:r>
          </a:p>
          <a:p>
            <a:r>
              <a:rPr lang="en-IN" dirty="0"/>
              <a:t>White     = recent motion</a:t>
            </a:r>
          </a:p>
          <a:p>
            <a:r>
              <a:rPr lang="en-IN" dirty="0"/>
              <a:t>Gray      = older motion</a:t>
            </a:r>
          </a:p>
          <a:p>
            <a:r>
              <a:rPr lang="en-IN" dirty="0"/>
              <a:t>Black     = no recent motion</a:t>
            </a:r>
          </a:p>
          <a:p>
            <a:endParaRPr lang="en-IN" dirty="0"/>
          </a:p>
        </p:txBody>
      </p:sp>
    </p:spTree>
    <p:extLst>
      <p:ext uri="{BB962C8B-B14F-4D97-AF65-F5344CB8AC3E}">
        <p14:creationId xmlns:p14="http://schemas.microsoft.com/office/powerpoint/2010/main" val="19311362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0A37A-88FD-FCF0-5721-AE09307143C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95DCD54-873A-5B2C-226B-3E40CB7F5845}"/>
              </a:ext>
            </a:extLst>
          </p:cNvPr>
          <p:cNvSpPr>
            <a:spLocks noGrp="1"/>
          </p:cNvSpPr>
          <p:nvPr>
            <p:ph idx="1"/>
          </p:nvPr>
        </p:nvSpPr>
        <p:spPr/>
        <p:txBody>
          <a:bodyPr>
            <a:normAutofit lnSpcReduction="10000"/>
          </a:bodyPr>
          <a:lstStyle/>
          <a:p>
            <a:r>
              <a:rPr lang="en-IN" dirty="0" err="1"/>
              <a:t>mhi</a:t>
            </a:r>
            <a:r>
              <a:rPr lang="en-IN" dirty="0"/>
              <a:t> = </a:t>
            </a:r>
            <a:r>
              <a:rPr lang="en-IN" dirty="0" err="1"/>
              <a:t>np.zeros_like</a:t>
            </a:r>
            <a:r>
              <a:rPr lang="en-IN" dirty="0"/>
              <a:t>( </a:t>
            </a:r>
            <a:r>
              <a:rPr lang="en-IN" dirty="0" err="1"/>
              <a:t>prev_gray</a:t>
            </a:r>
            <a:r>
              <a:rPr lang="en-IN" dirty="0"/>
              <a:t>, </a:t>
            </a:r>
            <a:r>
              <a:rPr lang="en-IN" dirty="0" err="1"/>
              <a:t>dtype</a:t>
            </a:r>
            <a:r>
              <a:rPr lang="en-IN" dirty="0"/>
              <a:t>=np.float32 )</a:t>
            </a:r>
          </a:p>
          <a:p>
            <a:r>
              <a:rPr lang="en-IN" dirty="0"/>
              <a:t>This creates an empty image with the same size as the video frame.</a:t>
            </a:r>
          </a:p>
          <a:p>
            <a:r>
              <a:rPr lang="en-IN" dirty="0"/>
              <a:t>Initially:</a:t>
            </a:r>
          </a:p>
          <a:p>
            <a:r>
              <a:rPr lang="en-IN" dirty="0"/>
              <a:t>MHI:</a:t>
            </a:r>
          </a:p>
          <a:p>
            <a:endParaRPr lang="en-IN" dirty="0"/>
          </a:p>
          <a:p>
            <a:r>
              <a:rPr lang="en-IN" dirty="0"/>
              <a:t>BLACK </a:t>
            </a:r>
            <a:r>
              <a:rPr lang="en-IN" dirty="0" err="1"/>
              <a:t>BLACK</a:t>
            </a:r>
            <a:r>
              <a:rPr lang="en-IN" dirty="0"/>
              <a:t> </a:t>
            </a:r>
            <a:r>
              <a:rPr lang="en-IN" dirty="0" err="1"/>
              <a:t>BLACK</a:t>
            </a:r>
            <a:r>
              <a:rPr lang="en-IN" dirty="0"/>
              <a:t> </a:t>
            </a:r>
            <a:r>
              <a:rPr lang="en-IN" dirty="0" err="1"/>
              <a:t>BLACK</a:t>
            </a:r>
            <a:endParaRPr lang="en-IN" dirty="0"/>
          </a:p>
          <a:p>
            <a:r>
              <a:rPr lang="en-IN" dirty="0"/>
              <a:t>BLACK </a:t>
            </a:r>
            <a:r>
              <a:rPr lang="en-IN" dirty="0" err="1"/>
              <a:t>BLACK</a:t>
            </a:r>
            <a:r>
              <a:rPr lang="en-IN" dirty="0"/>
              <a:t> </a:t>
            </a:r>
            <a:r>
              <a:rPr lang="en-IN" dirty="0" err="1"/>
              <a:t>BLACK</a:t>
            </a:r>
            <a:r>
              <a:rPr lang="en-IN" dirty="0"/>
              <a:t> </a:t>
            </a:r>
            <a:r>
              <a:rPr lang="en-IN" dirty="0" err="1"/>
              <a:t>BLACK</a:t>
            </a:r>
            <a:endParaRPr lang="en-IN" dirty="0"/>
          </a:p>
          <a:p>
            <a:r>
              <a:rPr lang="en-IN" dirty="0"/>
              <a:t>BLACK </a:t>
            </a:r>
            <a:r>
              <a:rPr lang="en-IN" dirty="0" err="1"/>
              <a:t>BLACK</a:t>
            </a:r>
            <a:r>
              <a:rPr lang="en-IN" dirty="0"/>
              <a:t> </a:t>
            </a:r>
            <a:r>
              <a:rPr lang="en-IN" dirty="0" err="1"/>
              <a:t>BLACK</a:t>
            </a:r>
            <a:r>
              <a:rPr lang="en-IN" dirty="0"/>
              <a:t> </a:t>
            </a:r>
            <a:r>
              <a:rPr lang="en-IN" dirty="0" err="1"/>
              <a:t>BLACK</a:t>
            </a:r>
            <a:endParaRPr lang="en-IN" dirty="0"/>
          </a:p>
          <a:p>
            <a:endParaRPr lang="en-IN" dirty="0"/>
          </a:p>
        </p:txBody>
      </p:sp>
    </p:spTree>
    <p:extLst>
      <p:ext uri="{BB962C8B-B14F-4D97-AF65-F5344CB8AC3E}">
        <p14:creationId xmlns:p14="http://schemas.microsoft.com/office/powerpoint/2010/main" val="20639550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C542E-7198-7664-3227-2E81EBF8C4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7A69A7F-342F-C149-2D5D-795305E66BE3}"/>
              </a:ext>
            </a:extLst>
          </p:cNvPr>
          <p:cNvSpPr>
            <a:spLocks noGrp="1"/>
          </p:cNvSpPr>
          <p:nvPr>
            <p:ph idx="1"/>
          </p:nvPr>
        </p:nvSpPr>
        <p:spPr/>
        <p:txBody>
          <a:bodyPr/>
          <a:lstStyle/>
          <a:p>
            <a:r>
              <a:rPr lang="en-IN" dirty="0"/>
              <a:t>Why?</a:t>
            </a:r>
          </a:p>
          <a:p>
            <a:r>
              <a:rPr lang="en-IN" dirty="0"/>
              <a:t>Because we haven't detected any motion yet.</a:t>
            </a:r>
          </a:p>
          <a:p>
            <a:r>
              <a:rPr lang="en-IN" dirty="0"/>
              <a:t>Think of </a:t>
            </a:r>
            <a:r>
              <a:rPr lang="en-IN" dirty="0" err="1"/>
              <a:t>mhi</a:t>
            </a:r>
            <a:r>
              <a:rPr lang="en-IN" dirty="0"/>
              <a:t> as an </a:t>
            </a:r>
            <a:r>
              <a:rPr lang="en-IN" b="1" dirty="0"/>
              <a:t>empty notebook</a:t>
            </a:r>
            <a:r>
              <a:rPr lang="en-IN" dirty="0"/>
              <a:t>.</a:t>
            </a:r>
          </a:p>
          <a:p>
            <a:r>
              <a:rPr lang="en-IN" dirty="0"/>
              <a:t>As motion happens, we write information into it.</a:t>
            </a:r>
          </a:p>
          <a:p>
            <a:r>
              <a:rPr lang="en-IN" dirty="0"/>
              <a:t>Set motion duration duration=1.0</a:t>
            </a:r>
          </a:p>
          <a:p>
            <a:r>
              <a:rPr lang="en-IN" dirty="0"/>
              <a:t>This means:</a:t>
            </a:r>
          </a:p>
          <a:p>
            <a:r>
              <a:rPr lang="en-IN" dirty="0"/>
              <a:t>Keep motion history for approximately </a:t>
            </a:r>
            <a:r>
              <a:rPr lang="en-IN" b="1" dirty="0"/>
              <a:t>1 second</a:t>
            </a:r>
            <a:r>
              <a:rPr lang="en-IN" dirty="0"/>
              <a:t>.</a:t>
            </a:r>
          </a:p>
          <a:p>
            <a:endParaRPr lang="en-IN" dirty="0"/>
          </a:p>
        </p:txBody>
      </p:sp>
    </p:spTree>
    <p:extLst>
      <p:ext uri="{BB962C8B-B14F-4D97-AF65-F5344CB8AC3E}">
        <p14:creationId xmlns:p14="http://schemas.microsoft.com/office/powerpoint/2010/main" val="37631068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76D13-AF1C-571A-20E5-B3066A2A4D1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54E218-6FBB-B887-08FF-19CBB25BDB12}"/>
              </a:ext>
            </a:extLst>
          </p:cNvPr>
          <p:cNvSpPr>
            <a:spLocks noGrp="1"/>
          </p:cNvSpPr>
          <p:nvPr>
            <p:ph idx="1"/>
          </p:nvPr>
        </p:nvSpPr>
        <p:spPr/>
        <p:txBody>
          <a:bodyPr/>
          <a:lstStyle/>
          <a:p>
            <a:r>
              <a:rPr lang="en-IN" dirty="0"/>
              <a:t>Motion happened now ↓ Keep it visible ↓ For about 1 second ↓ Then remove it</a:t>
            </a:r>
          </a:p>
          <a:p>
            <a:r>
              <a:rPr lang="en-IN" dirty="0"/>
              <a:t>you use:</a:t>
            </a:r>
          </a:p>
          <a:p>
            <a:r>
              <a:rPr lang="en-IN" dirty="0"/>
              <a:t>duration = 2.0</a:t>
            </a:r>
          </a:p>
          <a:p>
            <a:r>
              <a:rPr lang="en-IN" dirty="0"/>
              <a:t>motion stays visible for approximately 2 seconds.</a:t>
            </a:r>
          </a:p>
          <a:p>
            <a:r>
              <a:rPr lang="en-IN" dirty="0" err="1"/>
              <a:t>absdiff</a:t>
            </a:r>
            <a:r>
              <a:rPr lang="en-IN" dirty="0"/>
              <a:t> means </a:t>
            </a:r>
            <a:r>
              <a:rPr lang="en-IN" b="1" dirty="0"/>
              <a:t>absolute difference</a:t>
            </a:r>
            <a:r>
              <a:rPr lang="en-IN" dirty="0"/>
              <a:t>.</a:t>
            </a:r>
          </a:p>
          <a:p>
            <a:r>
              <a:rPr lang="en-IN" dirty="0"/>
              <a:t>It compares the pixels in the two frames.</a:t>
            </a:r>
          </a:p>
          <a:p>
            <a:r>
              <a:rPr lang="en-IN" dirty="0"/>
              <a:t>For example:</a:t>
            </a:r>
          </a:p>
          <a:p>
            <a:endParaRPr lang="en-IN" dirty="0"/>
          </a:p>
        </p:txBody>
      </p:sp>
    </p:spTree>
    <p:extLst>
      <p:ext uri="{BB962C8B-B14F-4D97-AF65-F5344CB8AC3E}">
        <p14:creationId xmlns:p14="http://schemas.microsoft.com/office/powerpoint/2010/main" val="32485020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EC0E2-4FA8-B524-00E6-886A5E3B78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C678DE5-2D98-20E5-CE1A-B7A8BB5D3DF7}"/>
              </a:ext>
            </a:extLst>
          </p:cNvPr>
          <p:cNvSpPr>
            <a:spLocks noGrp="1"/>
          </p:cNvSpPr>
          <p:nvPr>
            <p:ph idx="1"/>
          </p:nvPr>
        </p:nvSpPr>
        <p:spPr/>
        <p:txBody>
          <a:bodyPr/>
          <a:lstStyle/>
          <a:p>
            <a:r>
              <a:rPr lang="en-IN" dirty="0"/>
              <a:t>Previous pixel = 100 </a:t>
            </a:r>
          </a:p>
          <a:p>
            <a:r>
              <a:rPr lang="en-IN" dirty="0"/>
              <a:t>Current pixel = 150</a:t>
            </a:r>
          </a:p>
          <a:p>
            <a:r>
              <a:rPr lang="en-IN" dirty="0"/>
              <a:t> Difference = |100 - 150| = 50</a:t>
            </a:r>
          </a:p>
          <a:p>
            <a:r>
              <a:rPr lang="en-IN" dirty="0"/>
              <a:t>If the pixel didn't change:</a:t>
            </a:r>
          </a:p>
          <a:p>
            <a:r>
              <a:rPr lang="en-IN" dirty="0"/>
              <a:t>Previous = 100</a:t>
            </a:r>
          </a:p>
          <a:p>
            <a:r>
              <a:rPr lang="en-IN" dirty="0"/>
              <a:t>Current  = 100</a:t>
            </a:r>
          </a:p>
          <a:p>
            <a:endParaRPr lang="en-IN" dirty="0"/>
          </a:p>
          <a:p>
            <a:r>
              <a:rPr lang="en-IN" dirty="0"/>
              <a:t>Difference = 0</a:t>
            </a:r>
          </a:p>
          <a:p>
            <a:endParaRPr lang="en-IN" dirty="0"/>
          </a:p>
        </p:txBody>
      </p:sp>
    </p:spTree>
    <p:extLst>
      <p:ext uri="{BB962C8B-B14F-4D97-AF65-F5344CB8AC3E}">
        <p14:creationId xmlns:p14="http://schemas.microsoft.com/office/powerpoint/2010/main" val="10325495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12A77-50E6-0F3C-D4E9-4813BDC7DD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5FAAD52-03DE-7422-F20B-62B5400BF58E}"/>
              </a:ext>
            </a:extLst>
          </p:cNvPr>
          <p:cNvSpPr>
            <a:spLocks noGrp="1"/>
          </p:cNvSpPr>
          <p:nvPr>
            <p:ph idx="1"/>
          </p:nvPr>
        </p:nvSpPr>
        <p:spPr/>
        <p:txBody>
          <a:bodyPr>
            <a:normAutofit fontScale="92500" lnSpcReduction="10000"/>
          </a:bodyPr>
          <a:lstStyle/>
          <a:p>
            <a:r>
              <a:rPr lang="en-IN" dirty="0"/>
              <a:t>So:</a:t>
            </a:r>
          </a:p>
          <a:p>
            <a:r>
              <a:rPr lang="en-IN" dirty="0"/>
              <a:t>No change → 0</a:t>
            </a:r>
          </a:p>
          <a:p>
            <a:r>
              <a:rPr lang="en-IN" dirty="0"/>
              <a:t>Change    → larger value</a:t>
            </a:r>
          </a:p>
          <a:p>
            <a:r>
              <a:rPr lang="en-IN" dirty="0"/>
              <a:t>This is basically </a:t>
            </a:r>
            <a:r>
              <a:rPr lang="en-IN" b="1" dirty="0"/>
              <a:t>Frame Difference</a:t>
            </a:r>
            <a:r>
              <a:rPr lang="en-IN" dirty="0"/>
              <a:t>.</a:t>
            </a:r>
          </a:p>
          <a:p>
            <a:r>
              <a:rPr lang="en-IN" dirty="0"/>
              <a:t>Now we convert the difference into a simple black-and-white motion image.</a:t>
            </a:r>
          </a:p>
          <a:p>
            <a:r>
              <a:rPr lang="en-IN" dirty="0"/>
              <a:t>The important number is:</a:t>
            </a:r>
          </a:p>
          <a:p>
            <a:r>
              <a:rPr lang="en-IN" dirty="0"/>
              <a:t>25</a:t>
            </a:r>
          </a:p>
          <a:p>
            <a:r>
              <a:rPr lang="en-IN" dirty="0"/>
              <a:t>It means approximately:</a:t>
            </a:r>
          </a:p>
          <a:p>
            <a:r>
              <a:rPr lang="en-IN" dirty="0"/>
              <a:t>If the pixel difference is greater than 25, consider it motion</a:t>
            </a:r>
          </a:p>
          <a:p>
            <a:endParaRPr lang="en-IN" dirty="0"/>
          </a:p>
        </p:txBody>
      </p:sp>
    </p:spTree>
    <p:extLst>
      <p:ext uri="{BB962C8B-B14F-4D97-AF65-F5344CB8AC3E}">
        <p14:creationId xmlns:p14="http://schemas.microsoft.com/office/powerpoint/2010/main" val="33573456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4D991-D79B-5864-40DA-2B53F37ACA5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D377E2-862E-F752-8368-934A7E65C6B4}"/>
              </a:ext>
            </a:extLst>
          </p:cNvPr>
          <p:cNvSpPr>
            <a:spLocks noGrp="1"/>
          </p:cNvSpPr>
          <p:nvPr>
            <p:ph idx="1"/>
          </p:nvPr>
        </p:nvSpPr>
        <p:spPr/>
        <p:txBody>
          <a:bodyPr/>
          <a:lstStyle/>
          <a:p>
            <a:r>
              <a:rPr lang="en-IN" dirty="0"/>
              <a:t>Difference &lt; 25 ↓ BLACK </a:t>
            </a:r>
          </a:p>
          <a:p>
            <a:r>
              <a:rPr lang="en-IN" dirty="0"/>
              <a:t>Difference &gt; 25 ↓ WHITE</a:t>
            </a:r>
          </a:p>
          <a:p>
            <a:r>
              <a:rPr lang="en-IN" dirty="0"/>
              <a:t>he result might look like:</a:t>
            </a:r>
          </a:p>
          <a:p>
            <a:r>
              <a:rPr lang="en-IN" dirty="0"/>
              <a:t>BLACK </a:t>
            </a:r>
            <a:r>
              <a:rPr lang="en-IN" dirty="0" err="1"/>
              <a:t>BLACK</a:t>
            </a:r>
            <a:r>
              <a:rPr lang="en-IN" dirty="0"/>
              <a:t> </a:t>
            </a:r>
            <a:r>
              <a:rPr lang="en-IN" dirty="0" err="1"/>
              <a:t>BLACK</a:t>
            </a:r>
            <a:r>
              <a:rPr lang="en-IN" dirty="0"/>
              <a:t> </a:t>
            </a:r>
            <a:r>
              <a:rPr lang="en-IN" dirty="0" err="1"/>
              <a:t>BLACK</a:t>
            </a:r>
            <a:endParaRPr lang="en-IN" dirty="0"/>
          </a:p>
          <a:p>
            <a:r>
              <a:rPr lang="en-IN" dirty="0"/>
              <a:t>BLACK </a:t>
            </a:r>
            <a:r>
              <a:rPr lang="en-IN" dirty="0" err="1"/>
              <a:t>BLACK</a:t>
            </a:r>
            <a:r>
              <a:rPr lang="en-IN" dirty="0"/>
              <a:t> WHITE BLACK</a:t>
            </a:r>
          </a:p>
          <a:p>
            <a:r>
              <a:rPr lang="en-IN" dirty="0"/>
              <a:t>BLACK WHITE </a:t>
            </a:r>
            <a:r>
              <a:rPr lang="en-IN" dirty="0" err="1"/>
              <a:t>WHITE</a:t>
            </a:r>
            <a:r>
              <a:rPr lang="en-IN" dirty="0"/>
              <a:t> BLACK</a:t>
            </a:r>
          </a:p>
          <a:p>
            <a:r>
              <a:rPr lang="en-IN" dirty="0"/>
              <a:t>BLACK </a:t>
            </a:r>
            <a:r>
              <a:rPr lang="en-IN" dirty="0" err="1"/>
              <a:t>BLACK</a:t>
            </a:r>
            <a:r>
              <a:rPr lang="en-IN" dirty="0"/>
              <a:t> </a:t>
            </a:r>
            <a:r>
              <a:rPr lang="en-IN" dirty="0" err="1"/>
              <a:t>BLACK</a:t>
            </a:r>
            <a:r>
              <a:rPr lang="en-IN" dirty="0"/>
              <a:t> </a:t>
            </a:r>
            <a:r>
              <a:rPr lang="en-IN" dirty="0" err="1"/>
              <a:t>BLACK</a:t>
            </a:r>
            <a:endParaRPr lang="en-IN" dirty="0"/>
          </a:p>
          <a:p>
            <a:r>
              <a:rPr lang="en-IN" dirty="0"/>
              <a:t>The white areas are where movement was detected.</a:t>
            </a:r>
          </a:p>
          <a:p>
            <a:endParaRPr lang="en-IN" dirty="0"/>
          </a:p>
        </p:txBody>
      </p:sp>
    </p:spTree>
    <p:extLst>
      <p:ext uri="{BB962C8B-B14F-4D97-AF65-F5344CB8AC3E}">
        <p14:creationId xmlns:p14="http://schemas.microsoft.com/office/powerpoint/2010/main" val="12647159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6A87A-D9A8-53A4-ED24-D9FF54E1398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3AA4ED-F8CA-B37F-F8DE-D5CB0315DFBE}"/>
              </a:ext>
            </a:extLst>
          </p:cNvPr>
          <p:cNvSpPr>
            <a:spLocks noGrp="1"/>
          </p:cNvSpPr>
          <p:nvPr>
            <p:ph idx="1"/>
          </p:nvPr>
        </p:nvSpPr>
        <p:spPr/>
        <p:txBody>
          <a:bodyPr/>
          <a:lstStyle/>
          <a:p>
            <a:r>
              <a:rPr lang="en-IN" dirty="0"/>
              <a:t>Get the current time</a:t>
            </a:r>
          </a:p>
          <a:p>
            <a:r>
              <a:rPr lang="en-IN" dirty="0"/>
              <a:t>This gives us the current time in seconds.</a:t>
            </a:r>
          </a:p>
          <a:p>
            <a:r>
              <a:rPr lang="en-US" dirty="0"/>
              <a:t>timestamp = (</a:t>
            </a:r>
          </a:p>
          <a:p>
            <a:r>
              <a:rPr lang="en-US" dirty="0"/>
              <a:t>    cv2.getTickCount() /</a:t>
            </a:r>
          </a:p>
          <a:p>
            <a:r>
              <a:rPr lang="en-US" dirty="0"/>
              <a:t>    cv2.getTickFrequency()</a:t>
            </a:r>
          </a:p>
          <a:p>
            <a:r>
              <a:rPr lang="en-US" dirty="0"/>
              <a:t>)</a:t>
            </a:r>
            <a:endParaRPr lang="en-IN" dirty="0"/>
          </a:p>
        </p:txBody>
      </p:sp>
    </p:spTree>
    <p:extLst>
      <p:ext uri="{BB962C8B-B14F-4D97-AF65-F5344CB8AC3E}">
        <p14:creationId xmlns:p14="http://schemas.microsoft.com/office/powerpoint/2010/main" val="30654133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6B17A-E863-D93A-6271-1126A437848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A614156-4D1A-623F-0245-C848357D877B}"/>
              </a:ext>
            </a:extLst>
          </p:cNvPr>
          <p:cNvSpPr>
            <a:spLocks noGrp="1"/>
          </p:cNvSpPr>
          <p:nvPr>
            <p:ph idx="1"/>
          </p:nvPr>
        </p:nvSpPr>
        <p:spPr/>
        <p:txBody>
          <a:bodyPr>
            <a:normAutofit lnSpcReduction="10000"/>
          </a:bodyPr>
          <a:lstStyle/>
          <a:p>
            <a:r>
              <a:rPr lang="en-IN" dirty="0"/>
              <a:t>Why do we need time?</a:t>
            </a:r>
          </a:p>
          <a:p>
            <a:r>
              <a:rPr lang="en-IN" dirty="0"/>
              <a:t>Because MHI needs to know:</a:t>
            </a:r>
          </a:p>
          <a:p>
            <a:r>
              <a:rPr lang="en-IN" b="1" dirty="0"/>
              <a:t>When did this motion happen?</a:t>
            </a:r>
            <a:endParaRPr lang="en-IN" dirty="0"/>
          </a:p>
          <a:p>
            <a:r>
              <a:rPr lang="en-IN" dirty="0"/>
              <a:t>That's what allows it to show </a:t>
            </a:r>
            <a:r>
              <a:rPr lang="en-IN" b="1" dirty="0"/>
              <a:t>recent vs old motion</a:t>
            </a:r>
            <a:r>
              <a:rPr lang="en-IN" dirty="0"/>
              <a:t>.</a:t>
            </a:r>
          </a:p>
          <a:p>
            <a:r>
              <a:rPr lang="en-IN" dirty="0"/>
              <a:t>Store the current motion</a:t>
            </a:r>
          </a:p>
          <a:p>
            <a:r>
              <a:rPr lang="en-IN" dirty="0" err="1"/>
              <a:t>mhi</a:t>
            </a:r>
            <a:r>
              <a:rPr lang="en-IN" dirty="0"/>
              <a:t>[motion &gt; 0] = timestamp</a:t>
            </a:r>
          </a:p>
          <a:p>
            <a:r>
              <a:rPr lang="en-IN" dirty="0"/>
              <a:t>motion &gt; 0</a:t>
            </a:r>
          </a:p>
          <a:p>
            <a:r>
              <a:rPr lang="en-IN" dirty="0"/>
              <a:t>means:</a:t>
            </a:r>
          </a:p>
          <a:p>
            <a:r>
              <a:rPr lang="en-IN" dirty="0"/>
              <a:t>Find all pixels where motion was detected.</a:t>
            </a:r>
          </a:p>
          <a:p>
            <a:endParaRPr lang="en-IN" dirty="0"/>
          </a:p>
        </p:txBody>
      </p:sp>
    </p:spTree>
    <p:extLst>
      <p:ext uri="{BB962C8B-B14F-4D97-AF65-F5344CB8AC3E}">
        <p14:creationId xmlns:p14="http://schemas.microsoft.com/office/powerpoint/2010/main" val="29807879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4BC25-B01F-6597-FC66-546C9E0792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28DB458-56E4-7811-C545-E8BEBE321D68}"/>
              </a:ext>
            </a:extLst>
          </p:cNvPr>
          <p:cNvSpPr>
            <a:spLocks noGrp="1"/>
          </p:cNvSpPr>
          <p:nvPr>
            <p:ph idx="1"/>
          </p:nvPr>
        </p:nvSpPr>
        <p:spPr/>
        <p:txBody>
          <a:bodyPr/>
          <a:lstStyle/>
          <a:p>
            <a:r>
              <a:rPr lang="en-IN" dirty="0"/>
              <a:t>hen:</a:t>
            </a:r>
          </a:p>
          <a:p>
            <a:r>
              <a:rPr lang="en-IN" dirty="0" err="1"/>
              <a:t>mhi</a:t>
            </a:r>
            <a:r>
              <a:rPr lang="en-IN" dirty="0"/>
              <a:t>[...]</a:t>
            </a:r>
          </a:p>
          <a:p>
            <a:r>
              <a:rPr lang="en-IN" dirty="0"/>
              <a:t>selects those positions in the MHI.</a:t>
            </a:r>
          </a:p>
          <a:p>
            <a:r>
              <a:rPr lang="en-IN" dirty="0"/>
              <a:t>And:</a:t>
            </a:r>
          </a:p>
          <a:p>
            <a:r>
              <a:rPr lang="en-IN" dirty="0"/>
              <a:t>= timestamp</a:t>
            </a:r>
          </a:p>
          <a:p>
            <a:r>
              <a:rPr lang="en-IN" dirty="0"/>
              <a:t>records the current time there.</a:t>
            </a:r>
          </a:p>
          <a:p>
            <a:endParaRPr lang="en-IN" dirty="0"/>
          </a:p>
        </p:txBody>
      </p:sp>
    </p:spTree>
    <p:extLst>
      <p:ext uri="{BB962C8B-B14F-4D97-AF65-F5344CB8AC3E}">
        <p14:creationId xmlns:p14="http://schemas.microsoft.com/office/powerpoint/2010/main" val="41583428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E755F-8820-EA56-D903-3819B3779F5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FAC765F-4833-962A-CAF4-1E9E2A952664}"/>
              </a:ext>
            </a:extLst>
          </p:cNvPr>
          <p:cNvSpPr>
            <a:spLocks noGrp="1"/>
          </p:cNvSpPr>
          <p:nvPr>
            <p:ph idx="1"/>
          </p:nvPr>
        </p:nvSpPr>
        <p:spPr/>
        <p:txBody>
          <a:bodyPr>
            <a:normAutofit lnSpcReduction="10000"/>
          </a:bodyPr>
          <a:lstStyle/>
          <a:p>
            <a:r>
              <a:rPr lang="en-IN" dirty="0"/>
              <a:t>So if motion happens at:</a:t>
            </a:r>
          </a:p>
          <a:p>
            <a:r>
              <a:rPr lang="en-IN" dirty="0"/>
              <a:t>t = 10 seconds</a:t>
            </a:r>
          </a:p>
          <a:p>
            <a:r>
              <a:rPr lang="en-IN" dirty="0"/>
              <a:t>we store:</a:t>
            </a:r>
          </a:p>
          <a:p>
            <a:r>
              <a:rPr lang="en-IN" dirty="0"/>
              <a:t>MHI pixel = 10</a:t>
            </a:r>
          </a:p>
          <a:p>
            <a:r>
              <a:rPr lang="en-IN" dirty="0"/>
              <a:t>If motion happens later:</a:t>
            </a:r>
          </a:p>
          <a:p>
            <a:r>
              <a:rPr lang="en-IN" dirty="0"/>
              <a:t>t = 11 seconds</a:t>
            </a:r>
          </a:p>
          <a:p>
            <a:r>
              <a:rPr lang="en-IN" dirty="0"/>
              <a:t>we store:</a:t>
            </a:r>
          </a:p>
          <a:p>
            <a:r>
              <a:rPr lang="en-IN" dirty="0"/>
              <a:t>MHI pixel = 11</a:t>
            </a:r>
          </a:p>
          <a:p>
            <a:r>
              <a:rPr lang="en-IN" dirty="0"/>
              <a:t>So MHI remembers </a:t>
            </a:r>
            <a:r>
              <a:rPr lang="en-IN" b="1" dirty="0"/>
              <a:t>when motion happened</a:t>
            </a:r>
            <a:r>
              <a:rPr lang="en-IN" dirty="0"/>
              <a:t>.</a:t>
            </a:r>
          </a:p>
          <a:p>
            <a:endParaRPr lang="en-IN" dirty="0"/>
          </a:p>
        </p:txBody>
      </p:sp>
    </p:spTree>
    <p:extLst>
      <p:ext uri="{BB962C8B-B14F-4D97-AF65-F5344CB8AC3E}">
        <p14:creationId xmlns:p14="http://schemas.microsoft.com/office/powerpoint/2010/main" val="37508368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7323E-5F94-1482-B0FC-07CE457295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705A289-C508-285F-8FFD-7B153E81F517}"/>
              </a:ext>
            </a:extLst>
          </p:cNvPr>
          <p:cNvSpPr>
            <a:spLocks noGrp="1"/>
          </p:cNvSpPr>
          <p:nvPr>
            <p:ph idx="1"/>
          </p:nvPr>
        </p:nvSpPr>
        <p:spPr/>
        <p:txBody>
          <a:bodyPr>
            <a:normAutofit fontScale="77500" lnSpcReduction="20000"/>
          </a:bodyPr>
          <a:lstStyle/>
          <a:p>
            <a:r>
              <a:rPr lang="en-IN" dirty="0"/>
              <a:t>Remove old motion</a:t>
            </a:r>
          </a:p>
          <a:p>
            <a:r>
              <a:rPr lang="en-IN" dirty="0" err="1"/>
              <a:t>mhi</a:t>
            </a:r>
            <a:r>
              <a:rPr lang="en-IN" dirty="0"/>
              <a:t>[timestamp - </a:t>
            </a:r>
            <a:r>
              <a:rPr lang="en-IN" dirty="0" err="1"/>
              <a:t>mhi</a:t>
            </a:r>
            <a:r>
              <a:rPr lang="en-IN" dirty="0"/>
              <a:t> &gt; duration] = 0</a:t>
            </a:r>
          </a:p>
          <a:p>
            <a:r>
              <a:rPr lang="en-IN" dirty="0"/>
              <a:t>If the motion is older than our chosen duration, remove it.</a:t>
            </a:r>
          </a:p>
          <a:p>
            <a:r>
              <a:rPr lang="en-IN" dirty="0"/>
              <a:t>Our duration = 1.0</a:t>
            </a:r>
          </a:p>
          <a:p>
            <a:r>
              <a:rPr lang="en-IN" dirty="0"/>
              <a:t>Suppose:</a:t>
            </a:r>
          </a:p>
          <a:p>
            <a:r>
              <a:rPr lang="en-IN" dirty="0"/>
              <a:t>Current time = 10 seconds</a:t>
            </a:r>
          </a:p>
          <a:p>
            <a:r>
              <a:rPr lang="en-IN" dirty="0"/>
              <a:t>and a pixel contains:</a:t>
            </a:r>
          </a:p>
          <a:p>
            <a:r>
              <a:rPr lang="en-IN" dirty="0" err="1"/>
              <a:t>mhi</a:t>
            </a:r>
            <a:r>
              <a:rPr lang="en-IN" dirty="0"/>
              <a:t> = 8 seconds</a:t>
            </a:r>
          </a:p>
          <a:p>
            <a:r>
              <a:rPr lang="en-IN" dirty="0"/>
              <a:t>Then:</a:t>
            </a:r>
          </a:p>
          <a:p>
            <a:r>
              <a:rPr lang="en-IN" dirty="0"/>
              <a:t>10 - 8 = 2 seconds</a:t>
            </a:r>
          </a:p>
          <a:p>
            <a:r>
              <a:rPr lang="en-IN" dirty="0"/>
              <a:t>Motion is 2 seconds old.</a:t>
            </a:r>
          </a:p>
          <a:p>
            <a:r>
              <a:rPr lang="en-IN" dirty="0"/>
              <a:t>Our allowed duration is only 1 second:</a:t>
            </a:r>
          </a:p>
          <a:p>
            <a:endParaRPr lang="en-IN" dirty="0"/>
          </a:p>
        </p:txBody>
      </p:sp>
    </p:spTree>
    <p:extLst>
      <p:ext uri="{BB962C8B-B14F-4D97-AF65-F5344CB8AC3E}">
        <p14:creationId xmlns:p14="http://schemas.microsoft.com/office/powerpoint/2010/main" val="6958101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D8DAA-5190-3F10-D9EE-08D7C30EEA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BF7FA43-C8D6-457B-484F-5E8FD1D9573B}"/>
              </a:ext>
            </a:extLst>
          </p:cNvPr>
          <p:cNvSpPr>
            <a:spLocks noGrp="1"/>
          </p:cNvSpPr>
          <p:nvPr>
            <p:ph idx="1"/>
          </p:nvPr>
        </p:nvSpPr>
        <p:spPr/>
        <p:txBody>
          <a:bodyPr/>
          <a:lstStyle/>
          <a:p>
            <a:r>
              <a:rPr lang="en-IN" dirty="0"/>
              <a:t>2 &gt; 1</a:t>
            </a:r>
          </a:p>
          <a:p>
            <a:r>
              <a:rPr lang="en-IN" dirty="0"/>
              <a:t>So we remove it:</a:t>
            </a:r>
          </a:p>
          <a:p>
            <a:r>
              <a:rPr lang="en-IN" dirty="0" err="1"/>
              <a:t>mhi</a:t>
            </a:r>
            <a:r>
              <a:rPr lang="en-IN" dirty="0"/>
              <a:t> = 0</a:t>
            </a:r>
          </a:p>
          <a:p>
            <a:r>
              <a:rPr lang="en-IN" dirty="0"/>
              <a:t>But if:</a:t>
            </a:r>
          </a:p>
          <a:p>
            <a:r>
              <a:rPr lang="en-IN" dirty="0" err="1"/>
              <a:t>mhi</a:t>
            </a:r>
            <a:r>
              <a:rPr lang="en-IN" dirty="0"/>
              <a:t> = 9.5</a:t>
            </a:r>
          </a:p>
          <a:p>
            <a:r>
              <a:rPr lang="en-IN" dirty="0"/>
              <a:t>then:</a:t>
            </a:r>
          </a:p>
          <a:p>
            <a:r>
              <a:rPr lang="en-IN" dirty="0"/>
              <a:t>10 - 9.5 = 0.5</a:t>
            </a:r>
          </a:p>
          <a:p>
            <a:r>
              <a:rPr lang="en-IN" dirty="0"/>
              <a:t>That motion is only 0.5 seconds old, so we keep it.</a:t>
            </a:r>
          </a:p>
          <a:p>
            <a:endParaRPr lang="en-IN" dirty="0"/>
          </a:p>
        </p:txBody>
      </p:sp>
    </p:spTree>
    <p:extLst>
      <p:ext uri="{BB962C8B-B14F-4D97-AF65-F5344CB8AC3E}">
        <p14:creationId xmlns:p14="http://schemas.microsoft.com/office/powerpoint/2010/main" val="25187727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1524F-3529-C03B-C3E6-15B4EB1F4F1D}"/>
              </a:ext>
            </a:extLst>
          </p:cNvPr>
          <p:cNvSpPr>
            <a:spLocks noGrp="1"/>
          </p:cNvSpPr>
          <p:nvPr>
            <p:ph type="title"/>
          </p:nvPr>
        </p:nvSpPr>
        <p:spPr/>
        <p:txBody>
          <a:bodyPr/>
          <a:lstStyle/>
          <a:p>
            <a:r>
              <a:rPr lang="en-IN" dirty="0"/>
              <a:t>Kalman Filter </a:t>
            </a:r>
          </a:p>
        </p:txBody>
      </p:sp>
      <p:sp>
        <p:nvSpPr>
          <p:cNvPr id="3" name="Content Placeholder 2">
            <a:extLst>
              <a:ext uri="{FF2B5EF4-FFF2-40B4-BE49-F238E27FC236}">
                <a16:creationId xmlns:a16="http://schemas.microsoft.com/office/drawing/2014/main" id="{3C59CE16-38A5-3969-4525-1FA665593F58}"/>
              </a:ext>
            </a:extLst>
          </p:cNvPr>
          <p:cNvSpPr>
            <a:spLocks noGrp="1"/>
          </p:cNvSpPr>
          <p:nvPr>
            <p:ph idx="1"/>
          </p:nvPr>
        </p:nvSpPr>
        <p:spPr/>
        <p:txBody>
          <a:bodyPr/>
          <a:lstStyle/>
          <a:p>
            <a:r>
              <a:rPr lang="en-IN" dirty="0"/>
              <a:t>Suppose we detect the person's </a:t>
            </a:r>
            <a:r>
              <a:rPr lang="en-IN" dirty="0" err="1"/>
              <a:t>center</a:t>
            </a:r>
            <a:r>
              <a:rPr lang="en-IN" dirty="0"/>
              <a:t> in each frame:</a:t>
            </a:r>
          </a:p>
          <a:p>
            <a:r>
              <a:rPr lang="nn-NO" dirty="0"/>
              <a:t>Frame 1 → (100, 200)</a:t>
            </a:r>
          </a:p>
          <a:p>
            <a:r>
              <a:rPr lang="nn-NO" dirty="0"/>
              <a:t>Frame 2 → (110, 200)</a:t>
            </a:r>
          </a:p>
          <a:p>
            <a:r>
              <a:rPr lang="nn-NO" dirty="0"/>
              <a:t>Frame 3 → (120, 200)</a:t>
            </a:r>
          </a:p>
          <a:p>
            <a:r>
              <a:rPr lang="en-IN" dirty="0"/>
              <a:t>We can see that the person is moving </a:t>
            </a:r>
            <a:r>
              <a:rPr lang="en-IN" b="1" dirty="0"/>
              <a:t>to the right</a:t>
            </a:r>
            <a:r>
              <a:rPr lang="en-IN" dirty="0"/>
              <a:t>.</a:t>
            </a:r>
          </a:p>
          <a:p>
            <a:r>
              <a:rPr lang="en-IN" dirty="0"/>
              <a:t>Kalman Filter uses this information to estimate:</a:t>
            </a:r>
          </a:p>
          <a:p>
            <a:r>
              <a:rPr lang="en-US" dirty="0"/>
              <a:t>Frame 4 → probably (130, 200)</a:t>
            </a:r>
            <a:endParaRPr lang="en-IN" dirty="0"/>
          </a:p>
        </p:txBody>
      </p:sp>
    </p:spTree>
    <p:extLst>
      <p:ext uri="{BB962C8B-B14F-4D97-AF65-F5344CB8AC3E}">
        <p14:creationId xmlns:p14="http://schemas.microsoft.com/office/powerpoint/2010/main" val="28152548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525E9-21D7-59B0-FFCB-1C58493C881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87883AD-606B-6108-A62B-457A48002275}"/>
              </a:ext>
            </a:extLst>
          </p:cNvPr>
          <p:cNvSpPr>
            <a:spLocks noGrp="1"/>
          </p:cNvSpPr>
          <p:nvPr>
            <p:ph idx="1"/>
          </p:nvPr>
        </p:nvSpPr>
        <p:spPr/>
        <p:txBody>
          <a:bodyPr/>
          <a:lstStyle/>
          <a:p>
            <a:r>
              <a:rPr lang="en-IN" dirty="0"/>
              <a:t>So its main job is:</a:t>
            </a:r>
          </a:p>
          <a:p>
            <a:r>
              <a:rPr lang="en-IN" b="1" dirty="0"/>
              <a:t>Use the previous movement to predict where the object will be next.</a:t>
            </a:r>
            <a:endParaRPr lang="en-IN" dirty="0"/>
          </a:p>
          <a:p>
            <a:r>
              <a:rPr lang="en-IN" dirty="0"/>
              <a:t>Suppose a person is moving right:</a:t>
            </a:r>
          </a:p>
          <a:p>
            <a:r>
              <a:rPr lang="nn-NO" dirty="0"/>
              <a:t>Frame 1     Frame 2     Frame 3</a:t>
            </a:r>
          </a:p>
          <a:p>
            <a:r>
              <a:rPr lang="nn-NO" dirty="0"/>
              <a:t>  ●                  ●                      ●</a:t>
            </a:r>
          </a:p>
          <a:p>
            <a:r>
              <a:rPr lang="nn-NO" dirty="0"/>
              <a:t>100                  110         120</a:t>
            </a:r>
            <a:endParaRPr lang="en-IN" dirty="0"/>
          </a:p>
        </p:txBody>
      </p:sp>
    </p:spTree>
    <p:extLst>
      <p:ext uri="{BB962C8B-B14F-4D97-AF65-F5344CB8AC3E}">
        <p14:creationId xmlns:p14="http://schemas.microsoft.com/office/powerpoint/2010/main" val="23405270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3156-2038-0AE6-901E-60191593093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12F6992-2646-67E6-995F-679783B1D8DF}"/>
              </a:ext>
            </a:extLst>
          </p:cNvPr>
          <p:cNvSpPr>
            <a:spLocks noGrp="1"/>
          </p:cNvSpPr>
          <p:nvPr>
            <p:ph idx="1"/>
          </p:nvPr>
        </p:nvSpPr>
        <p:spPr/>
        <p:txBody>
          <a:bodyPr/>
          <a:lstStyle/>
          <a:p>
            <a:r>
              <a:rPr lang="en-IN" dirty="0"/>
              <a:t>Kalman notices that the position is changing:</a:t>
            </a:r>
          </a:p>
          <a:p>
            <a:r>
              <a:rPr lang="en-IN" dirty="0"/>
              <a:t>100 → 110 → 120</a:t>
            </a:r>
          </a:p>
          <a:p>
            <a:r>
              <a:rPr lang="en-IN" dirty="0"/>
              <a:t>So it estimates the </a:t>
            </a:r>
            <a:r>
              <a:rPr lang="en-IN" b="1" dirty="0"/>
              <a:t>velocity</a:t>
            </a:r>
            <a:r>
              <a:rPr lang="en-IN" dirty="0"/>
              <a:t>:</a:t>
            </a:r>
          </a:p>
          <a:p>
            <a:r>
              <a:rPr lang="en-IN" dirty="0"/>
              <a:t>+10 pixels/frame</a:t>
            </a:r>
          </a:p>
          <a:p>
            <a:r>
              <a:rPr lang="en-IN" dirty="0"/>
              <a:t>Then it uses that velocity to predict:</a:t>
            </a:r>
          </a:p>
          <a:p>
            <a:r>
              <a:rPr lang="en-IN" dirty="0"/>
              <a:t>120 + 10 = 130</a:t>
            </a:r>
          </a:p>
          <a:p>
            <a:r>
              <a:rPr lang="en-IN" dirty="0"/>
              <a:t>Actual: 100 → 110 → 120 ↓ Prediction: 130</a:t>
            </a:r>
          </a:p>
        </p:txBody>
      </p:sp>
    </p:spTree>
    <p:extLst>
      <p:ext uri="{BB962C8B-B14F-4D97-AF65-F5344CB8AC3E}">
        <p14:creationId xmlns:p14="http://schemas.microsoft.com/office/powerpoint/2010/main" val="28264199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F6CCE-354D-4554-F927-EF4EA51FBB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3CC3D2F-319A-71AC-2DF2-F08BE951C2B5}"/>
              </a:ext>
            </a:extLst>
          </p:cNvPr>
          <p:cNvSpPr>
            <a:spLocks noGrp="1"/>
          </p:cNvSpPr>
          <p:nvPr>
            <p:ph idx="1"/>
          </p:nvPr>
        </p:nvSpPr>
        <p:spPr/>
        <p:txBody>
          <a:bodyPr/>
          <a:lstStyle/>
          <a:p>
            <a:r>
              <a:rPr lang="en-IN" dirty="0"/>
              <a:t>Kalman keeps:</a:t>
            </a:r>
          </a:p>
          <a:p>
            <a:r>
              <a:rPr lang="en-IN" dirty="0"/>
              <a:t>x  = person's horizontal position</a:t>
            </a:r>
          </a:p>
          <a:p>
            <a:r>
              <a:rPr lang="en-IN" dirty="0"/>
              <a:t>y  = person's vertical position</a:t>
            </a:r>
          </a:p>
          <a:p>
            <a:r>
              <a:rPr lang="en-IN" dirty="0" err="1"/>
              <a:t>vx</a:t>
            </a:r>
            <a:r>
              <a:rPr lang="en-IN" dirty="0"/>
              <a:t> = horizontal movement speed</a:t>
            </a:r>
          </a:p>
          <a:p>
            <a:r>
              <a:rPr lang="en-IN" dirty="0" err="1"/>
              <a:t>vy</a:t>
            </a:r>
            <a:r>
              <a:rPr lang="en-IN" dirty="0"/>
              <a:t> = vertical movement speed</a:t>
            </a:r>
          </a:p>
          <a:p>
            <a:r>
              <a:rPr lang="en-IN" dirty="0"/>
              <a:t>x = 120 y = 200 </a:t>
            </a:r>
            <a:r>
              <a:rPr lang="en-IN" dirty="0" err="1"/>
              <a:t>vx</a:t>
            </a:r>
            <a:r>
              <a:rPr lang="en-IN" dirty="0"/>
              <a:t> = 10 </a:t>
            </a:r>
            <a:r>
              <a:rPr lang="en-IN" dirty="0" err="1"/>
              <a:t>vy</a:t>
            </a:r>
            <a:r>
              <a:rPr lang="en-IN" dirty="0"/>
              <a:t> = 0</a:t>
            </a:r>
          </a:p>
        </p:txBody>
      </p:sp>
    </p:spTree>
    <p:extLst>
      <p:ext uri="{BB962C8B-B14F-4D97-AF65-F5344CB8AC3E}">
        <p14:creationId xmlns:p14="http://schemas.microsoft.com/office/powerpoint/2010/main" val="3922778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F7508-8BC1-A943-8CC4-4664A8A1408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A333CD-8373-42D1-350D-2EF674544251}"/>
              </a:ext>
            </a:extLst>
          </p:cNvPr>
          <p:cNvSpPr>
            <a:spLocks noGrp="1"/>
          </p:cNvSpPr>
          <p:nvPr>
            <p:ph idx="1"/>
          </p:nvPr>
        </p:nvSpPr>
        <p:spPr/>
        <p:txBody>
          <a:bodyPr/>
          <a:lstStyle/>
          <a:p>
            <a:r>
              <a:rPr lang="en-IN" dirty="0"/>
              <a:t>Person is at (120, 200) and moving </a:t>
            </a:r>
            <a:r>
              <a:rPr lang="en-IN" b="1" dirty="0"/>
              <a:t>10 pixels right</a:t>
            </a:r>
            <a:r>
              <a:rPr lang="en-IN" dirty="0"/>
              <a:t> and </a:t>
            </a:r>
            <a:r>
              <a:rPr lang="en-IN" b="1" dirty="0"/>
              <a:t>0 pixels up/down</a:t>
            </a:r>
            <a:r>
              <a:rPr lang="en-IN" dirty="0"/>
              <a:t>.</a:t>
            </a:r>
          </a:p>
          <a:p>
            <a:r>
              <a:rPr lang="en-IN" dirty="0"/>
              <a:t>new x = old x + </a:t>
            </a:r>
            <a:r>
              <a:rPr lang="en-IN" dirty="0" err="1"/>
              <a:t>vx</a:t>
            </a:r>
            <a:endParaRPr lang="en-IN" dirty="0"/>
          </a:p>
          <a:p>
            <a:r>
              <a:rPr lang="en-IN" dirty="0"/>
              <a:t>Our example:</a:t>
            </a:r>
          </a:p>
          <a:p>
            <a:r>
              <a:rPr lang="en-IN" dirty="0"/>
              <a:t>120 + 10 = 130</a:t>
            </a:r>
          </a:p>
          <a:p>
            <a:r>
              <a:rPr lang="en-IN" dirty="0"/>
              <a:t>So predicted X = </a:t>
            </a:r>
            <a:r>
              <a:rPr lang="en-IN" b="1" dirty="0"/>
              <a:t>130</a:t>
            </a:r>
            <a:r>
              <a:rPr lang="en-IN" dirty="0"/>
              <a:t>.</a:t>
            </a:r>
          </a:p>
          <a:p>
            <a:endParaRPr lang="en-IN" dirty="0"/>
          </a:p>
        </p:txBody>
      </p:sp>
    </p:spTree>
    <p:extLst>
      <p:ext uri="{BB962C8B-B14F-4D97-AF65-F5344CB8AC3E}">
        <p14:creationId xmlns:p14="http://schemas.microsoft.com/office/powerpoint/2010/main" val="30348584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E4950-2ACF-9C43-2542-06178EF4D4A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7FE5D6-2249-4D98-F3A4-82A19CFF0A8D}"/>
              </a:ext>
            </a:extLst>
          </p:cNvPr>
          <p:cNvSpPr>
            <a:spLocks noGrp="1"/>
          </p:cNvSpPr>
          <p:nvPr>
            <p:ph idx="1"/>
          </p:nvPr>
        </p:nvSpPr>
        <p:spPr/>
        <p:txBody>
          <a:bodyPr/>
          <a:lstStyle/>
          <a:p>
            <a:r>
              <a:rPr lang="en-IN" b="1" dirty="0"/>
              <a:t>Row 2</a:t>
            </a:r>
          </a:p>
          <a:p>
            <a:r>
              <a:rPr lang="en-IN" dirty="0"/>
              <a:t>[0, 1, 0, 1]</a:t>
            </a:r>
          </a:p>
          <a:p>
            <a:r>
              <a:rPr lang="en-IN" dirty="0"/>
              <a:t>This tells Kalman:</a:t>
            </a:r>
          </a:p>
          <a:p>
            <a:r>
              <a:rPr lang="en-IN" dirty="0"/>
              <a:t>new y = old y + </a:t>
            </a:r>
            <a:r>
              <a:rPr lang="en-IN" dirty="0" err="1"/>
              <a:t>vy</a:t>
            </a:r>
            <a:endParaRPr lang="en-IN" dirty="0"/>
          </a:p>
          <a:p>
            <a:r>
              <a:rPr lang="en-IN" dirty="0"/>
              <a:t>Our example:</a:t>
            </a:r>
          </a:p>
          <a:p>
            <a:r>
              <a:rPr lang="en-IN" dirty="0"/>
              <a:t>200 + 0 = 200</a:t>
            </a:r>
          </a:p>
          <a:p>
            <a:r>
              <a:rPr lang="en-IN" dirty="0"/>
              <a:t>So predicted Y = </a:t>
            </a:r>
            <a:r>
              <a:rPr lang="en-IN" b="1" dirty="0"/>
              <a:t>200</a:t>
            </a:r>
            <a:r>
              <a:rPr lang="en-IN" dirty="0"/>
              <a:t>.</a:t>
            </a:r>
          </a:p>
          <a:p>
            <a:endParaRPr lang="en-IN" dirty="0"/>
          </a:p>
        </p:txBody>
      </p:sp>
    </p:spTree>
    <p:extLst>
      <p:ext uri="{BB962C8B-B14F-4D97-AF65-F5344CB8AC3E}">
        <p14:creationId xmlns:p14="http://schemas.microsoft.com/office/powerpoint/2010/main" val="41425418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F1CEB-B4E4-0EF6-0A53-EA89B7F2F83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72B0AC-5EA8-13CD-74C2-281DA2C67691}"/>
              </a:ext>
            </a:extLst>
          </p:cNvPr>
          <p:cNvSpPr>
            <a:spLocks noGrp="1"/>
          </p:cNvSpPr>
          <p:nvPr>
            <p:ph idx="1"/>
          </p:nvPr>
        </p:nvSpPr>
        <p:spPr/>
        <p:txBody>
          <a:bodyPr/>
          <a:lstStyle/>
          <a:p>
            <a:r>
              <a:rPr lang="en-IN" b="1" dirty="0"/>
              <a:t>Row 3</a:t>
            </a:r>
          </a:p>
          <a:p>
            <a:r>
              <a:rPr lang="en-IN" dirty="0"/>
              <a:t>[0, 0, 1, 0]</a:t>
            </a:r>
          </a:p>
          <a:p>
            <a:r>
              <a:rPr lang="en-IN" dirty="0"/>
              <a:t>This says:</a:t>
            </a:r>
          </a:p>
          <a:p>
            <a:r>
              <a:rPr lang="en-IN" dirty="0"/>
              <a:t>new </a:t>
            </a:r>
            <a:r>
              <a:rPr lang="en-IN" dirty="0" err="1"/>
              <a:t>vx</a:t>
            </a:r>
            <a:r>
              <a:rPr lang="en-IN" dirty="0"/>
              <a:t> = old </a:t>
            </a:r>
            <a:r>
              <a:rPr lang="en-IN" dirty="0" err="1"/>
              <a:t>vx</a:t>
            </a:r>
            <a:endParaRPr lang="en-IN" dirty="0"/>
          </a:p>
          <a:p>
            <a:r>
              <a:rPr lang="en-IN" dirty="0"/>
              <a:t>So:</a:t>
            </a:r>
          </a:p>
          <a:p>
            <a:r>
              <a:rPr lang="en-IN" dirty="0"/>
              <a:t>10 → 10</a:t>
            </a:r>
          </a:p>
          <a:p>
            <a:r>
              <a:rPr lang="en-IN" dirty="0"/>
              <a:t>For now, Kalman assumes the horizontal speed continues.</a:t>
            </a:r>
          </a:p>
          <a:p>
            <a:endParaRPr lang="en-IN" dirty="0"/>
          </a:p>
        </p:txBody>
      </p:sp>
    </p:spTree>
    <p:extLst>
      <p:ext uri="{BB962C8B-B14F-4D97-AF65-F5344CB8AC3E}">
        <p14:creationId xmlns:p14="http://schemas.microsoft.com/office/powerpoint/2010/main" val="12611591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2363C-2423-0987-8C6C-1A3EF99D24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57354FD-97D4-2502-2F6A-6465D945DBF5}"/>
              </a:ext>
            </a:extLst>
          </p:cNvPr>
          <p:cNvSpPr>
            <a:spLocks noGrp="1"/>
          </p:cNvSpPr>
          <p:nvPr>
            <p:ph idx="1"/>
          </p:nvPr>
        </p:nvSpPr>
        <p:spPr/>
        <p:txBody>
          <a:bodyPr/>
          <a:lstStyle/>
          <a:p>
            <a:r>
              <a:rPr lang="en-IN" b="1" dirty="0"/>
              <a:t>Row 4</a:t>
            </a:r>
          </a:p>
          <a:p>
            <a:r>
              <a:rPr lang="en-IN" dirty="0"/>
              <a:t>[0, 0, 0, 1]</a:t>
            </a:r>
          </a:p>
          <a:p>
            <a:r>
              <a:rPr lang="en-IN" dirty="0"/>
              <a:t>This says:</a:t>
            </a:r>
          </a:p>
          <a:p>
            <a:r>
              <a:rPr lang="en-IN" dirty="0"/>
              <a:t>new </a:t>
            </a:r>
            <a:r>
              <a:rPr lang="en-IN" dirty="0" err="1"/>
              <a:t>vy</a:t>
            </a:r>
            <a:r>
              <a:rPr lang="en-IN" dirty="0"/>
              <a:t> = old </a:t>
            </a:r>
            <a:r>
              <a:rPr lang="en-IN" dirty="0" err="1"/>
              <a:t>vy</a:t>
            </a:r>
            <a:endParaRPr lang="en-IN" dirty="0"/>
          </a:p>
          <a:p>
            <a:r>
              <a:rPr lang="en-IN" dirty="0"/>
              <a:t>So:</a:t>
            </a:r>
          </a:p>
          <a:p>
            <a:r>
              <a:rPr lang="en-IN" dirty="0"/>
              <a:t>0 → 0</a:t>
            </a:r>
          </a:p>
          <a:p>
            <a:endParaRPr lang="en-IN" dirty="0"/>
          </a:p>
        </p:txBody>
      </p:sp>
    </p:spTree>
    <p:extLst>
      <p:ext uri="{BB962C8B-B14F-4D97-AF65-F5344CB8AC3E}">
        <p14:creationId xmlns:p14="http://schemas.microsoft.com/office/powerpoint/2010/main" val="8270321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E2CAA-6F16-2087-F873-37A8DB3431B7}"/>
              </a:ext>
            </a:extLst>
          </p:cNvPr>
          <p:cNvSpPr>
            <a:spLocks noGrp="1"/>
          </p:cNvSpPr>
          <p:nvPr>
            <p:ph type="title"/>
          </p:nvPr>
        </p:nvSpPr>
        <p:spPr/>
        <p:txBody>
          <a:bodyPr/>
          <a:lstStyle/>
          <a:p>
            <a:r>
              <a:rPr lang="en-IN" dirty="0"/>
              <a:t>What is CSRT?</a:t>
            </a:r>
          </a:p>
        </p:txBody>
      </p:sp>
      <p:sp>
        <p:nvSpPr>
          <p:cNvPr id="3" name="Content Placeholder 2">
            <a:extLst>
              <a:ext uri="{FF2B5EF4-FFF2-40B4-BE49-F238E27FC236}">
                <a16:creationId xmlns:a16="http://schemas.microsoft.com/office/drawing/2014/main" id="{006DE1BC-62F7-CE16-B720-145B6197D8E3}"/>
              </a:ext>
            </a:extLst>
          </p:cNvPr>
          <p:cNvSpPr>
            <a:spLocks noGrp="1"/>
          </p:cNvSpPr>
          <p:nvPr>
            <p:ph idx="1"/>
          </p:nvPr>
        </p:nvSpPr>
        <p:spPr/>
        <p:txBody>
          <a:bodyPr/>
          <a:lstStyle/>
          <a:p>
            <a:r>
              <a:rPr lang="en-IN" dirty="0"/>
              <a:t>SRT = Channel and Spatial Reliability Tracker.</a:t>
            </a:r>
          </a:p>
          <a:p>
            <a:r>
              <a:rPr lang="en-IN" dirty="0"/>
              <a:t>CSRT is an object-tracking algorithm that follows one selected object from frame to frame.</a:t>
            </a:r>
          </a:p>
          <a:p>
            <a:r>
              <a:rPr lang="en-IN" dirty="0"/>
              <a:t>You select the person </a:t>
            </a:r>
            <a:r>
              <a:rPr lang="en-IN" b="1" dirty="0"/>
              <a:t>only once</a:t>
            </a:r>
            <a:r>
              <a:rPr lang="en-IN" dirty="0"/>
              <a:t>.</a:t>
            </a:r>
          </a:p>
          <a:p>
            <a:r>
              <a:rPr lang="en-IN" dirty="0"/>
              <a:t>CSRT then tries to find that same person in every next frame.</a:t>
            </a:r>
          </a:p>
          <a:p>
            <a:r>
              <a:rPr lang="en-IN" b="1" dirty="0"/>
              <a:t>Why do we need CSRT?</a:t>
            </a:r>
          </a:p>
          <a:p>
            <a:r>
              <a:rPr lang="en-IN" dirty="0"/>
              <a:t>Suppose your video has:</a:t>
            </a:r>
          </a:p>
          <a:p>
            <a:endParaRPr lang="en-IN" dirty="0"/>
          </a:p>
        </p:txBody>
      </p:sp>
    </p:spTree>
    <p:extLst>
      <p:ext uri="{BB962C8B-B14F-4D97-AF65-F5344CB8AC3E}">
        <p14:creationId xmlns:p14="http://schemas.microsoft.com/office/powerpoint/2010/main" val="41013175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7009C-11B9-159D-D781-B85D2EF54FD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0955F49-C28A-047F-3695-FBE7516101D5}"/>
              </a:ext>
            </a:extLst>
          </p:cNvPr>
          <p:cNvSpPr>
            <a:spLocks noGrp="1"/>
          </p:cNvSpPr>
          <p:nvPr>
            <p:ph idx="1"/>
          </p:nvPr>
        </p:nvSpPr>
        <p:spPr/>
        <p:txBody>
          <a:bodyPr>
            <a:normAutofit lnSpcReduction="10000"/>
          </a:bodyPr>
          <a:lstStyle/>
          <a:p>
            <a:r>
              <a:rPr lang="en-US" dirty="0"/>
              <a:t> Person 1</a:t>
            </a:r>
          </a:p>
          <a:p>
            <a:r>
              <a:rPr lang="en-US" dirty="0"/>
              <a:t> Person 2</a:t>
            </a:r>
          </a:p>
          <a:p>
            <a:r>
              <a:rPr lang="en-US" dirty="0"/>
              <a:t> Car</a:t>
            </a:r>
          </a:p>
          <a:p>
            <a:r>
              <a:rPr lang="en-US" dirty="0"/>
              <a:t> Dog</a:t>
            </a:r>
          </a:p>
          <a:p>
            <a:r>
              <a:rPr lang="en-IN" dirty="0"/>
              <a:t>If you use MOG2, it may detect several moving objects.</a:t>
            </a:r>
          </a:p>
          <a:p>
            <a:r>
              <a:rPr lang="en-IN" dirty="0"/>
              <a:t>But maybe you only want to follow </a:t>
            </a:r>
            <a:r>
              <a:rPr lang="en-IN" b="1" dirty="0"/>
              <a:t>Person 1</a:t>
            </a:r>
            <a:r>
              <a:rPr lang="en-IN" dirty="0"/>
              <a:t>.</a:t>
            </a:r>
          </a:p>
          <a:p>
            <a:r>
              <a:rPr lang="en-IN" dirty="0"/>
              <a:t>CSRT allows you to say:</a:t>
            </a:r>
          </a:p>
          <a:p>
            <a:r>
              <a:rPr lang="en-IN" dirty="0"/>
              <a:t>"I want to track THIS object."</a:t>
            </a:r>
          </a:p>
          <a:p>
            <a:r>
              <a:rPr lang="en-IN" dirty="0"/>
              <a:t>Then CSRT follows it.</a:t>
            </a:r>
          </a:p>
          <a:p>
            <a:endParaRPr lang="en-IN" dirty="0"/>
          </a:p>
        </p:txBody>
      </p:sp>
    </p:spTree>
    <p:extLst>
      <p:ext uri="{BB962C8B-B14F-4D97-AF65-F5344CB8AC3E}">
        <p14:creationId xmlns:p14="http://schemas.microsoft.com/office/powerpoint/2010/main" val="13595136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7A911-D8A9-7AED-FF3C-E57A7A7D1F81}"/>
              </a:ext>
            </a:extLst>
          </p:cNvPr>
          <p:cNvSpPr>
            <a:spLocks noGrp="1"/>
          </p:cNvSpPr>
          <p:nvPr>
            <p:ph type="title"/>
          </p:nvPr>
        </p:nvSpPr>
        <p:spPr/>
        <p:txBody>
          <a:bodyPr/>
          <a:lstStyle/>
          <a:p>
            <a:r>
              <a:rPr lang="en-IN" dirty="0"/>
              <a:t>Detection vs Tracking</a:t>
            </a:r>
          </a:p>
        </p:txBody>
      </p:sp>
      <p:sp>
        <p:nvSpPr>
          <p:cNvPr id="3" name="Content Placeholder 2">
            <a:extLst>
              <a:ext uri="{FF2B5EF4-FFF2-40B4-BE49-F238E27FC236}">
                <a16:creationId xmlns:a16="http://schemas.microsoft.com/office/drawing/2014/main" id="{8D8B5588-FE7C-100D-6D66-0F103F88C24E}"/>
              </a:ext>
            </a:extLst>
          </p:cNvPr>
          <p:cNvSpPr>
            <a:spLocks noGrp="1"/>
          </p:cNvSpPr>
          <p:nvPr>
            <p:ph idx="1"/>
          </p:nvPr>
        </p:nvSpPr>
        <p:spPr/>
        <p:txBody>
          <a:bodyPr/>
          <a:lstStyle/>
          <a:p>
            <a:r>
              <a:rPr lang="en-IN" b="1" dirty="0"/>
              <a:t>Detection</a:t>
            </a:r>
          </a:p>
          <a:p>
            <a:r>
              <a:rPr lang="en-IN" dirty="0"/>
              <a:t>"Where are the objects?"</a:t>
            </a:r>
          </a:p>
          <a:p>
            <a:r>
              <a:rPr lang="en-IN" b="1" dirty="0"/>
              <a:t>Tracking</a:t>
            </a:r>
          </a:p>
          <a:p>
            <a:r>
              <a:rPr lang="en-IN" dirty="0"/>
              <a:t>"I already selected this person.</a:t>
            </a:r>
          </a:p>
          <a:p>
            <a:r>
              <a:rPr lang="en-IN" dirty="0"/>
              <a:t>Where is the SAME person in the next frame?"</a:t>
            </a:r>
          </a:p>
          <a:p>
            <a:endParaRPr lang="en-IN" dirty="0"/>
          </a:p>
        </p:txBody>
      </p:sp>
    </p:spTree>
    <p:extLst>
      <p:ext uri="{BB962C8B-B14F-4D97-AF65-F5344CB8AC3E}">
        <p14:creationId xmlns:p14="http://schemas.microsoft.com/office/powerpoint/2010/main" val="13027508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9BFB0-F9E3-6F71-5CAE-B6F63E68EFC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BC0640-9335-C6E3-1CD7-54B188CFBC54}"/>
              </a:ext>
            </a:extLst>
          </p:cNvPr>
          <p:cNvSpPr>
            <a:spLocks noGrp="1"/>
          </p:cNvSpPr>
          <p:nvPr>
            <p:ph idx="1"/>
          </p:nvPr>
        </p:nvSpPr>
        <p:spPr/>
        <p:txBody>
          <a:bodyPr/>
          <a:lstStyle/>
          <a:p>
            <a:r>
              <a:rPr lang="en-IN" b="1" dirty="0"/>
              <a:t>Select the object</a:t>
            </a:r>
          </a:p>
          <a:p>
            <a:r>
              <a:rPr lang="en-IN" dirty="0"/>
              <a:t>This is the most important part:</a:t>
            </a:r>
          </a:p>
          <a:p>
            <a:r>
              <a:rPr lang="en-IN" dirty="0" err="1"/>
              <a:t>bbox</a:t>
            </a:r>
            <a:r>
              <a:rPr lang="en-IN" dirty="0"/>
              <a:t> = cv2.selectROI(</a:t>
            </a:r>
          </a:p>
          <a:p>
            <a:r>
              <a:rPr lang="en-IN" dirty="0"/>
              <a:t>    "Select Object",</a:t>
            </a:r>
          </a:p>
          <a:p>
            <a:r>
              <a:rPr lang="en-IN" dirty="0"/>
              <a:t>    frame,</a:t>
            </a:r>
          </a:p>
          <a:p>
            <a:r>
              <a:rPr lang="en-IN" dirty="0"/>
              <a:t>    False</a:t>
            </a:r>
          </a:p>
          <a:p>
            <a:r>
              <a:rPr lang="en-IN" dirty="0"/>
              <a:t>)</a:t>
            </a:r>
          </a:p>
          <a:p>
            <a:endParaRPr lang="en-IN" dirty="0"/>
          </a:p>
        </p:txBody>
      </p:sp>
    </p:spTree>
    <p:extLst>
      <p:ext uri="{BB962C8B-B14F-4D97-AF65-F5344CB8AC3E}">
        <p14:creationId xmlns:p14="http://schemas.microsoft.com/office/powerpoint/2010/main" val="406722509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F0782-E825-6E92-DCB3-07C4A51DE4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CA3EA2-E7C3-19CA-73C4-C872CE2959A9}"/>
              </a:ext>
            </a:extLst>
          </p:cNvPr>
          <p:cNvSpPr>
            <a:spLocks noGrp="1"/>
          </p:cNvSpPr>
          <p:nvPr>
            <p:ph idx="1"/>
          </p:nvPr>
        </p:nvSpPr>
        <p:spPr/>
        <p:txBody>
          <a:bodyPr>
            <a:normAutofit lnSpcReduction="10000"/>
          </a:bodyPr>
          <a:lstStyle/>
          <a:p>
            <a:r>
              <a:rPr lang="en-IN" dirty="0"/>
              <a:t>ROI means:</a:t>
            </a:r>
          </a:p>
          <a:p>
            <a:r>
              <a:rPr lang="en-IN" b="1" dirty="0"/>
              <a:t>Region Of Interest</a:t>
            </a:r>
            <a:endParaRPr lang="en-IN" dirty="0"/>
          </a:p>
          <a:p>
            <a:r>
              <a:rPr lang="en-IN" dirty="0"/>
              <a:t>It means:</a:t>
            </a:r>
          </a:p>
          <a:p>
            <a:r>
              <a:rPr lang="en-IN" dirty="0"/>
              <a:t>"Select the part of the image that I am interested in."</a:t>
            </a:r>
          </a:p>
          <a:p>
            <a:r>
              <a:rPr lang="en-IN" dirty="0"/>
              <a:t>A window appears.</a:t>
            </a:r>
          </a:p>
          <a:p>
            <a:r>
              <a:rPr lang="en-IN" dirty="0"/>
              <a:t>You draw a rectangle around the person:</a:t>
            </a:r>
          </a:p>
          <a:p>
            <a:r>
              <a:rPr lang="en-IN" dirty="0"/>
              <a:t>That rectangle becomes our </a:t>
            </a:r>
            <a:r>
              <a:rPr lang="en-IN" dirty="0" err="1"/>
              <a:t>bbox</a:t>
            </a:r>
            <a:r>
              <a:rPr lang="en-IN" dirty="0"/>
              <a:t>.</a:t>
            </a:r>
          </a:p>
          <a:p>
            <a:pPr lvl="0"/>
            <a:r>
              <a:rPr lang="en-IN" dirty="0"/>
              <a:t>True → </a:t>
            </a:r>
            <a:r>
              <a:rPr lang="en-IN" b="1" dirty="0"/>
              <a:t>show crosshair (+)</a:t>
            </a:r>
            <a:r>
              <a:rPr lang="en-IN" dirty="0"/>
              <a:t> </a:t>
            </a:r>
          </a:p>
          <a:p>
            <a:pPr lvl="0"/>
            <a:r>
              <a:rPr lang="en-IN" dirty="0"/>
              <a:t>False → </a:t>
            </a:r>
            <a:r>
              <a:rPr lang="en-IN" b="1" dirty="0"/>
              <a:t>don't show crosshair</a:t>
            </a:r>
            <a:endParaRPr lang="en-IN" dirty="0"/>
          </a:p>
          <a:p>
            <a:endParaRPr lang="en-IN" dirty="0"/>
          </a:p>
        </p:txBody>
      </p:sp>
    </p:spTree>
    <p:extLst>
      <p:ext uri="{BB962C8B-B14F-4D97-AF65-F5344CB8AC3E}">
        <p14:creationId xmlns:p14="http://schemas.microsoft.com/office/powerpoint/2010/main" val="21573957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A92E9-320F-03B2-C8BB-7FBD15AF9A84}"/>
              </a:ext>
            </a:extLst>
          </p:cNvPr>
          <p:cNvSpPr>
            <a:spLocks noGrp="1"/>
          </p:cNvSpPr>
          <p:nvPr>
            <p:ph type="title"/>
          </p:nvPr>
        </p:nvSpPr>
        <p:spPr/>
        <p:txBody>
          <a:bodyPr/>
          <a:lstStyle/>
          <a:p>
            <a:r>
              <a:rPr lang="en-IN" dirty="0"/>
              <a:t>What is </a:t>
            </a:r>
            <a:r>
              <a:rPr lang="en-IN" dirty="0" err="1"/>
              <a:t>bbox</a:t>
            </a:r>
            <a:r>
              <a:rPr lang="en-IN" dirty="0"/>
              <a:t>?</a:t>
            </a:r>
          </a:p>
        </p:txBody>
      </p:sp>
      <p:sp>
        <p:nvSpPr>
          <p:cNvPr id="3" name="Content Placeholder 2">
            <a:extLst>
              <a:ext uri="{FF2B5EF4-FFF2-40B4-BE49-F238E27FC236}">
                <a16:creationId xmlns:a16="http://schemas.microsoft.com/office/drawing/2014/main" id="{85454FA3-86BF-CAD3-A0B0-51AE21F9AD92}"/>
              </a:ext>
            </a:extLst>
          </p:cNvPr>
          <p:cNvSpPr>
            <a:spLocks noGrp="1"/>
          </p:cNvSpPr>
          <p:nvPr>
            <p:ph idx="1"/>
          </p:nvPr>
        </p:nvSpPr>
        <p:spPr/>
        <p:txBody>
          <a:bodyPr/>
          <a:lstStyle/>
          <a:p>
            <a:r>
              <a:rPr lang="en-IN" dirty="0" err="1"/>
              <a:t>bbox</a:t>
            </a:r>
            <a:r>
              <a:rPr lang="en-IN" dirty="0"/>
              <a:t> means </a:t>
            </a:r>
            <a:r>
              <a:rPr lang="en-IN" b="1" dirty="0"/>
              <a:t>bounding box</a:t>
            </a:r>
            <a:r>
              <a:rPr lang="en-IN" dirty="0"/>
              <a:t>.</a:t>
            </a:r>
          </a:p>
          <a:p>
            <a:r>
              <a:rPr lang="en-IN" dirty="0"/>
              <a:t>It contains:</a:t>
            </a:r>
          </a:p>
          <a:p>
            <a:r>
              <a:rPr lang="en-IN" dirty="0"/>
              <a:t>x = horizontal position</a:t>
            </a:r>
          </a:p>
          <a:p>
            <a:r>
              <a:rPr lang="en-IN" dirty="0"/>
              <a:t>y = vertical position</a:t>
            </a:r>
          </a:p>
          <a:p>
            <a:r>
              <a:rPr lang="en-IN" dirty="0"/>
              <a:t>w = width</a:t>
            </a:r>
          </a:p>
          <a:p>
            <a:r>
              <a:rPr lang="en-IN" dirty="0"/>
              <a:t>h = height</a:t>
            </a:r>
          </a:p>
          <a:p>
            <a:endParaRPr lang="en-IN" dirty="0"/>
          </a:p>
        </p:txBody>
      </p:sp>
    </p:spTree>
    <p:extLst>
      <p:ext uri="{BB962C8B-B14F-4D97-AF65-F5344CB8AC3E}">
        <p14:creationId xmlns:p14="http://schemas.microsoft.com/office/powerpoint/2010/main" val="4769873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B420D-224F-7762-68C8-B66AA5DA4D1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C52A88B-727F-B674-335C-2F334D5C42DA}"/>
              </a:ext>
            </a:extLst>
          </p:cNvPr>
          <p:cNvSpPr>
            <a:spLocks noGrp="1"/>
          </p:cNvSpPr>
          <p:nvPr>
            <p:ph idx="1"/>
          </p:nvPr>
        </p:nvSpPr>
        <p:spPr/>
        <p:txBody>
          <a:bodyPr/>
          <a:lstStyle/>
          <a:p>
            <a:r>
              <a:rPr lang="en-IN" dirty="0"/>
              <a:t>For example:</a:t>
            </a:r>
          </a:p>
          <a:p>
            <a:r>
              <a:rPr lang="en-IN" dirty="0" err="1"/>
              <a:t>bbox</a:t>
            </a:r>
            <a:r>
              <a:rPr lang="en-IN" dirty="0"/>
              <a:t> = (100, 80, 60, 150)</a:t>
            </a:r>
          </a:p>
          <a:p>
            <a:r>
              <a:rPr lang="en-IN" dirty="0"/>
              <a:t>x = 100 y = 80 width = 60 height = 150</a:t>
            </a:r>
          </a:p>
          <a:p>
            <a:r>
              <a:rPr lang="en-IN" dirty="0"/>
              <a:t>Close the selection window	</a:t>
            </a:r>
          </a:p>
          <a:p>
            <a:r>
              <a:rPr lang="en-IN" b="1" dirty="0"/>
              <a:t>Create CSRT</a:t>
            </a:r>
          </a:p>
          <a:p>
            <a:r>
              <a:rPr lang="en-IN" dirty="0"/>
              <a:t>tracker = cv2.TrackerCSRT_create()</a:t>
            </a:r>
          </a:p>
          <a:p>
            <a:r>
              <a:rPr lang="en-IN" dirty="0"/>
              <a:t>This creates the CSRT tracker.</a:t>
            </a:r>
          </a:p>
          <a:p>
            <a:endParaRPr lang="en-IN" dirty="0"/>
          </a:p>
        </p:txBody>
      </p:sp>
    </p:spTree>
    <p:extLst>
      <p:ext uri="{BB962C8B-B14F-4D97-AF65-F5344CB8AC3E}">
        <p14:creationId xmlns:p14="http://schemas.microsoft.com/office/powerpoint/2010/main" val="31352327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0E639-7C0F-2890-28DB-C9C202BC5D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F941763-7176-E32F-DC96-A8F2201E5A65}"/>
              </a:ext>
            </a:extLst>
          </p:cNvPr>
          <p:cNvSpPr>
            <a:spLocks noGrp="1"/>
          </p:cNvSpPr>
          <p:nvPr>
            <p:ph idx="1"/>
          </p:nvPr>
        </p:nvSpPr>
        <p:spPr/>
        <p:txBody>
          <a:bodyPr>
            <a:normAutofit lnSpcReduction="10000"/>
          </a:bodyPr>
          <a:lstStyle/>
          <a:p>
            <a:r>
              <a:rPr lang="en-IN" dirty="0"/>
              <a:t>CSRT tracker ↓</a:t>
            </a:r>
          </a:p>
          <a:p>
            <a:r>
              <a:rPr lang="en-IN" dirty="0"/>
              <a:t> "Okay, I'm ready. Tell me what object to track.“</a:t>
            </a:r>
          </a:p>
          <a:p>
            <a:r>
              <a:rPr lang="en-IN" dirty="0"/>
              <a:t>At this point CSRT exists, but it doesn't know what object you want.</a:t>
            </a:r>
          </a:p>
          <a:p>
            <a:endParaRPr lang="en-IN" dirty="0"/>
          </a:p>
          <a:p>
            <a:r>
              <a:rPr lang="en-IN" dirty="0"/>
              <a:t>Give CSRT the object</a:t>
            </a:r>
          </a:p>
          <a:p>
            <a:r>
              <a:rPr lang="en-IN" dirty="0" err="1"/>
              <a:t>racker.init</a:t>
            </a:r>
            <a:r>
              <a:rPr lang="en-IN" dirty="0"/>
              <a:t>(frame, </a:t>
            </a:r>
            <a:r>
              <a:rPr lang="en-IN" dirty="0" err="1"/>
              <a:t>bbox</a:t>
            </a:r>
            <a:r>
              <a:rPr lang="en-IN" dirty="0"/>
              <a:t>)</a:t>
            </a:r>
          </a:p>
          <a:p>
            <a:r>
              <a:rPr lang="en-IN" dirty="0"/>
              <a:t>You're telling CSRT:</a:t>
            </a:r>
          </a:p>
          <a:p>
            <a:r>
              <a:rPr lang="en-IN" b="1" dirty="0"/>
              <a:t>"This is the object I want you to track."</a:t>
            </a:r>
            <a:endParaRPr lang="en-IN" dirty="0"/>
          </a:p>
          <a:p>
            <a:endParaRPr lang="en-IN" dirty="0"/>
          </a:p>
        </p:txBody>
      </p:sp>
    </p:spTree>
    <p:extLst>
      <p:ext uri="{BB962C8B-B14F-4D97-AF65-F5344CB8AC3E}">
        <p14:creationId xmlns:p14="http://schemas.microsoft.com/office/powerpoint/2010/main" val="407484258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85190-A69C-A62A-FBE2-0740A93210B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00010B70-79BC-7698-E21E-75A5ACB19AD7}"/>
              </a:ext>
            </a:extLst>
          </p:cNvPr>
          <p:cNvSpPr>
            <a:spLocks noGrp="1"/>
          </p:cNvSpPr>
          <p:nvPr>
            <p:ph idx="1"/>
          </p:nvPr>
        </p:nvSpPr>
        <p:spPr/>
        <p:txBody>
          <a:bodyPr>
            <a:normAutofit fontScale="92500"/>
          </a:bodyPr>
          <a:lstStyle/>
          <a:p>
            <a:r>
              <a:rPr lang="en-IN" dirty="0"/>
              <a:t>frame → which image?</a:t>
            </a:r>
          </a:p>
          <a:p>
            <a:r>
              <a:rPr lang="en-IN" dirty="0"/>
              <a:t> </a:t>
            </a:r>
            <a:r>
              <a:rPr lang="en-IN" dirty="0" err="1"/>
              <a:t>bbox</a:t>
            </a:r>
            <a:r>
              <a:rPr lang="en-IN" dirty="0"/>
              <a:t> → which object?</a:t>
            </a:r>
          </a:p>
          <a:p>
            <a:r>
              <a:rPr lang="en-IN" dirty="0"/>
              <a:t>Start reading the remaining frames</a:t>
            </a:r>
          </a:p>
          <a:p>
            <a:r>
              <a:rPr lang="en-IN" dirty="0"/>
              <a:t>Success, </a:t>
            </a:r>
            <a:r>
              <a:rPr lang="en-IN" dirty="0" err="1"/>
              <a:t>bbox</a:t>
            </a:r>
            <a:r>
              <a:rPr lang="en-IN" dirty="0"/>
              <a:t> = </a:t>
            </a:r>
            <a:r>
              <a:rPr lang="en-IN" dirty="0" err="1"/>
              <a:t>tracker.update</a:t>
            </a:r>
            <a:r>
              <a:rPr lang="en-IN" dirty="0"/>
              <a:t>(frame)</a:t>
            </a:r>
          </a:p>
          <a:p>
            <a:r>
              <a:rPr lang="en-IN" dirty="0"/>
              <a:t>"CSRT, look at this new frame and tell me where the object is now.“</a:t>
            </a:r>
          </a:p>
          <a:p>
            <a:r>
              <a:rPr lang="en-IN" dirty="0"/>
              <a:t>Suppose:</a:t>
            </a:r>
          </a:p>
          <a:p>
            <a:r>
              <a:rPr lang="en-IN" b="1" dirty="0"/>
              <a:t>Frame 1</a:t>
            </a:r>
          </a:p>
          <a:p>
            <a:r>
              <a:rPr lang="en-IN" dirty="0"/>
              <a:t>You selected:</a:t>
            </a:r>
          </a:p>
          <a:p>
            <a:r>
              <a:rPr lang="en-IN" dirty="0"/>
              <a:t>Person position = x=100</a:t>
            </a:r>
          </a:p>
          <a:p>
            <a:endParaRPr lang="en-IN" dirty="0"/>
          </a:p>
        </p:txBody>
      </p:sp>
    </p:spTree>
    <p:extLst>
      <p:ext uri="{BB962C8B-B14F-4D97-AF65-F5344CB8AC3E}">
        <p14:creationId xmlns:p14="http://schemas.microsoft.com/office/powerpoint/2010/main" val="36234825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19CE9-5093-DEEE-A409-5074473080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A827733-F2B8-8FEC-74CB-43F3084D4AF8}"/>
              </a:ext>
            </a:extLst>
          </p:cNvPr>
          <p:cNvSpPr>
            <a:spLocks noGrp="1"/>
          </p:cNvSpPr>
          <p:nvPr>
            <p:ph idx="1"/>
          </p:nvPr>
        </p:nvSpPr>
        <p:spPr/>
        <p:txBody>
          <a:bodyPr>
            <a:normAutofit lnSpcReduction="10000"/>
          </a:bodyPr>
          <a:lstStyle/>
          <a:p>
            <a:r>
              <a:rPr lang="en-IN" b="1" dirty="0"/>
              <a:t>Frame 2</a:t>
            </a:r>
          </a:p>
          <a:p>
            <a:r>
              <a:rPr lang="en-IN" dirty="0"/>
              <a:t>CSRT searches the new frame and finds:</a:t>
            </a:r>
          </a:p>
          <a:p>
            <a:r>
              <a:rPr lang="en-IN" dirty="0"/>
              <a:t>Person position = x=110</a:t>
            </a:r>
          </a:p>
          <a:p>
            <a:r>
              <a:rPr lang="en-IN" dirty="0"/>
              <a:t>Fr</a:t>
            </a:r>
            <a:r>
              <a:rPr lang="en-IN" b="1" dirty="0"/>
              <a:t>ame 3</a:t>
            </a:r>
          </a:p>
          <a:p>
            <a:r>
              <a:rPr lang="en-IN" dirty="0"/>
              <a:t>It finds:</a:t>
            </a:r>
          </a:p>
          <a:p>
            <a:r>
              <a:rPr lang="en-IN" dirty="0"/>
              <a:t>Person position = x=123</a:t>
            </a:r>
          </a:p>
          <a:p>
            <a:r>
              <a:rPr lang="en-IN" b="1" dirty="0"/>
              <a:t>Frame 4</a:t>
            </a:r>
          </a:p>
          <a:p>
            <a:r>
              <a:rPr lang="en-IN" dirty="0"/>
              <a:t>It finds:</a:t>
            </a:r>
          </a:p>
          <a:p>
            <a:r>
              <a:rPr lang="en-IN" dirty="0"/>
              <a:t>Person position = x=137</a:t>
            </a:r>
          </a:p>
          <a:p>
            <a:endParaRPr lang="en-IN" dirty="0"/>
          </a:p>
        </p:txBody>
      </p:sp>
    </p:spTree>
    <p:extLst>
      <p:ext uri="{BB962C8B-B14F-4D97-AF65-F5344CB8AC3E}">
        <p14:creationId xmlns:p14="http://schemas.microsoft.com/office/powerpoint/2010/main" val="30353048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B1DA82-CE38-BB11-97C0-5665E62ADFB4}"/>
              </a:ext>
            </a:extLst>
          </p:cNvPr>
          <p:cNvSpPr>
            <a:spLocks noGrp="1"/>
          </p:cNvSpPr>
          <p:nvPr>
            <p:ph idx="1"/>
          </p:nvPr>
        </p:nvSpPr>
        <p:spPr>
          <a:xfrm>
            <a:off x="838200" y="641838"/>
            <a:ext cx="10515600" cy="5535125"/>
          </a:xfrm>
        </p:spPr>
        <p:txBody>
          <a:bodyPr/>
          <a:lstStyle/>
          <a:p>
            <a:r>
              <a:rPr lang="en-IN" dirty="0"/>
              <a:t>So CSRT keeps updating the bounding box.</a:t>
            </a:r>
          </a:p>
          <a:p>
            <a:r>
              <a:rPr lang="en-IN" b="1" dirty="0"/>
              <a:t>You select the person</a:t>
            </a:r>
          </a:p>
          <a:p>
            <a:r>
              <a:rPr lang="en-IN" dirty="0"/>
              <a:t>First frame:</a:t>
            </a:r>
          </a:p>
          <a:p>
            <a:r>
              <a:rPr lang="en-IN" dirty="0"/>
              <a:t>You are basically telling CSRT:</a:t>
            </a:r>
          </a:p>
          <a:p>
            <a:r>
              <a:rPr lang="en-IN" b="1" dirty="0"/>
              <a:t>"This rectangle contains the object I want.“</a:t>
            </a:r>
          </a:p>
          <a:p>
            <a:r>
              <a:rPr lang="en-IN" b="1" dirty="0"/>
              <a:t>CSRT looks at what's inside</a:t>
            </a:r>
          </a:p>
          <a:p>
            <a:r>
              <a:rPr lang="en-IN" dirty="0"/>
              <a:t>It doesn't understand:</a:t>
            </a:r>
          </a:p>
          <a:p>
            <a:r>
              <a:rPr lang="en-IN" dirty="0"/>
              <a:t>"Oh, this is a human being." </a:t>
            </a:r>
          </a:p>
          <a:p>
            <a:r>
              <a:rPr lang="en-IN" dirty="0"/>
              <a:t>It doesn't necessarily know the concept of </a:t>
            </a:r>
            <a:r>
              <a:rPr lang="en-IN" b="1" dirty="0"/>
              <a:t>person</a:t>
            </a:r>
            <a:r>
              <a:rPr lang="en-IN" dirty="0"/>
              <a:t>.</a:t>
            </a:r>
          </a:p>
          <a:p>
            <a:r>
              <a:rPr lang="en-IN" dirty="0"/>
              <a:t>Instead, it looks at </a:t>
            </a:r>
            <a:r>
              <a:rPr lang="en-IN" b="1" dirty="0"/>
              <a:t>visual patterns</a:t>
            </a:r>
            <a:r>
              <a:rPr lang="en-IN" dirty="0"/>
              <a:t> inside the selected area.</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8523711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17BE3-3CB4-64B9-4BE7-D3C5E678542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C9EA754-3A3E-3AC8-1CDA-ABAF3BBA29ED}"/>
              </a:ext>
            </a:extLst>
          </p:cNvPr>
          <p:cNvSpPr>
            <a:spLocks noGrp="1"/>
          </p:cNvSpPr>
          <p:nvPr>
            <p:ph idx="1"/>
          </p:nvPr>
        </p:nvSpPr>
        <p:spPr/>
        <p:txBody>
          <a:bodyPr>
            <a:normAutofit lnSpcReduction="10000"/>
          </a:bodyPr>
          <a:lstStyle/>
          <a:p>
            <a:r>
              <a:rPr lang="en-IN" dirty="0"/>
              <a:t>For example:</a:t>
            </a:r>
          </a:p>
          <a:p>
            <a:r>
              <a:rPr lang="en-IN" dirty="0"/>
              <a:t>Person</a:t>
            </a:r>
          </a:p>
          <a:p>
            <a:r>
              <a:rPr lang="en-IN" dirty="0"/>
              <a:t> ├── edges</a:t>
            </a:r>
          </a:p>
          <a:p>
            <a:r>
              <a:rPr lang="en-IN" dirty="0"/>
              <a:t> ├── shapes</a:t>
            </a:r>
          </a:p>
          <a:p>
            <a:r>
              <a:rPr lang="en-IN" dirty="0"/>
              <a:t> ├── texture</a:t>
            </a:r>
          </a:p>
          <a:p>
            <a:r>
              <a:rPr lang="en-IN" dirty="0"/>
              <a:t> ├── </a:t>
            </a:r>
            <a:r>
              <a:rPr lang="en-IN" dirty="0" err="1"/>
              <a:t>color</a:t>
            </a:r>
            <a:r>
              <a:rPr lang="en-IN" dirty="0"/>
              <a:t> information</a:t>
            </a:r>
          </a:p>
          <a:p>
            <a:r>
              <a:rPr lang="en-IN" dirty="0"/>
              <a:t> └── other visual patterns</a:t>
            </a:r>
          </a:p>
          <a:p>
            <a:r>
              <a:rPr lang="en-IN" dirty="0"/>
              <a:t>Think of it as creating a kind of </a:t>
            </a:r>
            <a:r>
              <a:rPr lang="en-IN" b="1" dirty="0"/>
              <a:t>visual fingerprint</a:t>
            </a:r>
            <a:r>
              <a:rPr lang="en-IN" dirty="0"/>
              <a:t> of the selected region.</a:t>
            </a:r>
          </a:p>
          <a:p>
            <a:endParaRPr lang="en-IN" dirty="0"/>
          </a:p>
        </p:txBody>
      </p:sp>
    </p:spTree>
    <p:extLst>
      <p:ext uri="{BB962C8B-B14F-4D97-AF65-F5344CB8AC3E}">
        <p14:creationId xmlns:p14="http://schemas.microsoft.com/office/powerpoint/2010/main" val="217973120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AE71C-3562-4870-0F31-C8CC4C580A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86495B7-713F-9B40-0CE6-1676F747BF0B}"/>
              </a:ext>
            </a:extLst>
          </p:cNvPr>
          <p:cNvSpPr>
            <a:spLocks noGrp="1"/>
          </p:cNvSpPr>
          <p:nvPr>
            <p:ph idx="1"/>
          </p:nvPr>
        </p:nvSpPr>
        <p:spPr/>
        <p:txBody>
          <a:bodyPr>
            <a:normAutofit/>
          </a:bodyPr>
          <a:lstStyle/>
          <a:p>
            <a:r>
              <a:rPr lang="en-IN" b="1" dirty="0"/>
              <a:t>Next frame arrives</a:t>
            </a:r>
          </a:p>
          <a:p>
            <a:r>
              <a:rPr lang="en-IN" dirty="0"/>
              <a:t>The person moves:</a:t>
            </a:r>
          </a:p>
          <a:p>
            <a:r>
              <a:rPr lang="en-IN" dirty="0"/>
              <a:t>CSRT now asks:</a:t>
            </a:r>
          </a:p>
          <a:p>
            <a:r>
              <a:rPr lang="en-IN" b="1" dirty="0"/>
              <a:t>"Where in this new frame does the visual pattern I learned appear?"</a:t>
            </a:r>
            <a:endParaRPr lang="en-IN" dirty="0"/>
          </a:p>
          <a:p>
            <a:r>
              <a:rPr lang="en-IN" dirty="0"/>
              <a:t>It searches around the expected area.</a:t>
            </a:r>
          </a:p>
          <a:p>
            <a:r>
              <a:rPr lang="en-IN" b="1" dirty="0"/>
              <a:t>It finds the best match</a:t>
            </a:r>
          </a:p>
          <a:p>
            <a:r>
              <a:rPr lang="en-IN" dirty="0"/>
              <a:t>Suppose it finds:</a:t>
            </a:r>
          </a:p>
          <a:p>
            <a:endParaRPr lang="en-IN" dirty="0"/>
          </a:p>
        </p:txBody>
      </p:sp>
    </p:spTree>
    <p:extLst>
      <p:ext uri="{BB962C8B-B14F-4D97-AF65-F5344CB8AC3E}">
        <p14:creationId xmlns:p14="http://schemas.microsoft.com/office/powerpoint/2010/main" val="31143928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27B57-6C43-AE7F-6EA6-169EAE4036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C805D9B-CED4-BDF1-ED51-DB22003A1025}"/>
              </a:ext>
            </a:extLst>
          </p:cNvPr>
          <p:cNvSpPr>
            <a:spLocks noGrp="1"/>
          </p:cNvSpPr>
          <p:nvPr>
            <p:ph idx="1"/>
          </p:nvPr>
        </p:nvSpPr>
        <p:spPr/>
        <p:txBody>
          <a:bodyPr/>
          <a:lstStyle/>
          <a:p>
            <a:r>
              <a:rPr lang="en-IN" dirty="0"/>
              <a:t>Then it says:</a:t>
            </a:r>
          </a:p>
          <a:p>
            <a:r>
              <a:rPr lang="en-IN" dirty="0"/>
              <a:t>"I think this is the same object."</a:t>
            </a:r>
          </a:p>
          <a:p>
            <a:r>
              <a:rPr lang="en-IN" dirty="0"/>
              <a:t>And moves the tracking box there.</a:t>
            </a:r>
          </a:p>
          <a:p>
            <a:r>
              <a:rPr lang="en-IN" dirty="0"/>
              <a:t>SELECT ↓ Learn visual appearance ↓ New frame ↓ Search for similar appearance ↓ Find best match ↓ Move box ↓ New frame ↓ Search again</a:t>
            </a:r>
          </a:p>
        </p:txBody>
      </p:sp>
    </p:spTree>
    <p:extLst>
      <p:ext uri="{BB962C8B-B14F-4D97-AF65-F5344CB8AC3E}">
        <p14:creationId xmlns:p14="http://schemas.microsoft.com/office/powerpoint/2010/main" val="951809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469</TotalTime>
  <Words>4557</Words>
  <Application>Microsoft Office PowerPoint</Application>
  <PresentationFormat>Widescreen</PresentationFormat>
  <Paragraphs>660</Paragraphs>
  <Slides>100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100</vt:i4>
      </vt:variant>
    </vt:vector>
  </HeadingPairs>
  <TitlesOfParts>
    <vt:vector size="105" baseType="lpstr">
      <vt:lpstr>Aptos</vt:lpstr>
      <vt:lpstr>Aptos Display</vt:lpstr>
      <vt:lpstr>Arial</vt:lpstr>
      <vt:lpstr>Cambria Math</vt:lpstr>
      <vt:lpstr>Office Theme</vt:lpstr>
      <vt:lpstr>UNIT 5</vt:lpstr>
      <vt:lpstr>What is Motion in Computer Vision?</vt:lpstr>
      <vt:lpstr>PowerPoint Presentation</vt:lpstr>
      <vt:lpstr>PowerPoint Presentation</vt:lpstr>
      <vt:lpstr>Motion Estimation</vt:lpstr>
      <vt:lpstr>PowerPoint Presentation</vt:lpstr>
      <vt:lpstr>PowerPoint Presentation</vt:lpstr>
      <vt:lpstr>PowerPoint Presentation</vt:lpstr>
      <vt:lpstr>Why Do We Need Motion Estimation?</vt:lpstr>
      <vt:lpstr>PowerPoint Presentation</vt:lpstr>
      <vt:lpstr>Basic Idea Behind Motion Estimation</vt:lpstr>
      <vt:lpstr>Motion Vector</vt:lpstr>
      <vt:lpstr>PowerPoint Presentation</vt:lpstr>
      <vt:lpstr>How Does the Computer Find Motion?</vt:lpstr>
      <vt:lpstr>One Simple Method: Frame Difference </vt:lpstr>
      <vt:lpstr>PowerPoint Presentation</vt:lpstr>
      <vt:lpstr>Optical 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Background Subtraction</vt:lpstr>
      <vt:lpstr>PowerPoint Presentation</vt:lpstr>
      <vt:lpstr>PowerPoint Presentation</vt:lpstr>
      <vt:lpstr>PowerPoint Presentation</vt:lpstr>
      <vt:lpstr>PowerPoint Presentation</vt:lpstr>
      <vt:lpstr>PowerPoint Presentation</vt:lpstr>
      <vt:lpstr>What happens when the person stops?</vt:lpstr>
      <vt:lpstr>PowerPoint Presentation</vt:lpstr>
      <vt:lpstr>PowerPoint Presentation</vt:lpstr>
      <vt:lpstr>PowerPoint Presentation</vt:lpstr>
      <vt:lpstr>PowerPoint Presentation</vt:lpstr>
      <vt:lpstr>PowerPoint Presentation</vt:lpstr>
      <vt:lpstr>PowerPoint Presentation</vt:lpstr>
      <vt:lpstr>Contour Based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Centroid Tracking</vt:lpstr>
      <vt:lpstr>PowerPoint Presentation</vt:lpstr>
      <vt:lpstr>PowerPoint Presentation</vt:lpstr>
      <vt:lpstr>PowerPoint Presentation</vt:lpstr>
      <vt:lpstr>PowerPoint Presentation</vt:lpstr>
      <vt:lpstr>PowerPoint Presentation</vt:lpstr>
      <vt:lpstr>PowerPoint Presentation</vt:lpstr>
      <vt:lpstr>Motion History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Kalman Filter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CSRT?</vt:lpstr>
      <vt:lpstr>PowerPoint Presentation</vt:lpstr>
      <vt:lpstr>Detection vs Tracking</vt:lpstr>
      <vt:lpstr>PowerPoint Presentation</vt:lpstr>
      <vt:lpstr>PowerPoint Presentation</vt:lpstr>
      <vt:lpstr>What is bbox?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hiralpadhariya@outlook.com</dc:creator>
  <cp:lastModifiedBy>hiralpadhariya@outlook.com</cp:lastModifiedBy>
  <cp:revision>86</cp:revision>
  <dcterms:created xsi:type="dcterms:W3CDTF">2026-09-29T15:09:56Z</dcterms:created>
  <dcterms:modified xsi:type="dcterms:W3CDTF">2026-10-06T05:32:18Z</dcterms:modified>
</cp:coreProperties>
</file>